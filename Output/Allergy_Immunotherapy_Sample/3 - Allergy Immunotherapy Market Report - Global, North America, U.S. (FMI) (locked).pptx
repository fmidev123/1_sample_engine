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4.xml" ContentType="application/vnd.openxmlformats-officedocument.drawingml.chart+xml"/>
  <Override PartName="/ppt/charts/chart145.xml" ContentType="application/vnd.openxmlformats-officedocument.drawingml.chart+xml"/>
  <Override PartName="/ppt/charts/chart146.xml" ContentType="application/vnd.openxmlformats-officedocument.drawingml.chart+xml"/>
  <Override PartName="/ppt/charts/chart147.xml" ContentType="application/vnd.openxmlformats-officedocument.drawingml.chart+xml"/>
  <Override PartName="/ppt/charts/chart148.xml" ContentType="application/vnd.openxmlformats-officedocument.drawingml.chart+xml"/>
  <Override PartName="/ppt/charts/chart149.xml" ContentType="application/vnd.openxmlformats-officedocument.drawingml.chart+xml"/>
  <Override PartName="/ppt/charts/chart15.xml" ContentType="application/vnd.openxmlformats-officedocument.drawingml.chart+xml"/>
  <Override PartName="/ppt/charts/chart150.xml" ContentType="application/vnd.openxmlformats-officedocument.drawingml.chart+xml"/>
  <Override PartName="/ppt/charts/chart151.xml" ContentType="application/vnd.openxmlformats-officedocument.drawingml.chart+xml"/>
  <Override PartName="/ppt/charts/chart152.xml" ContentType="application/vnd.openxmlformats-officedocument.drawingml.chart+xml"/>
  <Override PartName="/ppt/charts/chart153.xml" ContentType="application/vnd.openxmlformats-officedocument.drawingml.chart+xml"/>
  <Override PartName="/ppt/charts/chart154.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8.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5.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2.xml" ContentType="application/vnd.openxmlformats-officedocument.presentationml.notesSlide+xml"/>
  <Override PartName="/ppt/notesSlides/notesSlide194.xml" ContentType="application/vnd.openxmlformats-officedocument.presentationml.notesSlide+xml"/>
  <Override PartName="/ppt/notesSlides/notesSlide197.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2.xml" ContentType="application/vnd.openxmlformats-officedocument.presentationml.notesSlide+xml"/>
  <Override PartName="/ppt/notesSlides/notesSlide204.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8.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6.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7.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1.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5.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1.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7.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6.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597" r:id="rId349"/>
    <p:sldId id="591" r:id="rId343"/>
    <p:sldId id="592" r:id="rId344"/>
    <p:sldId id="593" r:id="rId345"/>
    <p:sldId id="594" r:id="rId346"/>
    <p:sldId id="595" r:id="rId347"/>
    <p:sldId id="596" r:id="rId348"/>
    <p:sldId id="607" r:id="rId359"/>
    <p:sldId id="598" r:id="rId350"/>
    <p:sldId id="599" r:id="rId351"/>
    <p:sldId id="600" r:id="rId352"/>
    <p:sldId id="601" r:id="rId353"/>
    <p:sldId id="602" r:id="rId354"/>
    <p:sldId id="603" r:id="rId355"/>
    <p:sldId id="604" r:id="rId356"/>
    <p:sldId id="605" r:id="rId357"/>
    <p:sldId id="606" r:id="rId358"/>
    <p:sldId id="268" r:id="rId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4" r:id="rId46"/>
    <p:sldId id="295" r:id="rId47"/>
    <p:sldId id="298" r:id="rId50"/>
    <p:sldId id="299" r:id="rId51"/>
    <p:sldId id="300" r:id="rId52"/>
    <p:sldId id="301" r:id="rId53"/>
    <p:sldId id="304" r:id="rId56"/>
    <p:sldId id="306" r:id="rId58"/>
    <p:sldId id="311" r:id="rId63"/>
    <p:sldId id="312" r:id="rId64"/>
    <p:sldId id="313" r:id="rId65"/>
    <p:sldId id="314" r:id="rId66"/>
    <p:sldId id="317" r:id="rId69"/>
    <p:sldId id="318" r:id="rId70"/>
    <p:sldId id="321" r:id="rId73"/>
    <p:sldId id="322" r:id="rId74"/>
    <p:sldId id="323" r:id="rId75"/>
    <p:sldId id="324" r:id="rId76"/>
    <p:sldId id="327" r:id="rId79"/>
    <p:sldId id="328" r:id="rId80"/>
    <p:sldId id="331" r:id="rId83"/>
    <p:sldId id="332" r:id="rId84"/>
    <p:sldId id="333" r:id="rId85"/>
    <p:sldId id="334" r:id="rId86"/>
    <p:sldId id="336" r:id="rId88"/>
    <p:sldId id="337" r:id="rId89"/>
    <p:sldId id="340" r:id="rId92"/>
    <p:sldId id="341" r:id="rId93"/>
    <p:sldId id="342" r:id="rId94"/>
    <p:sldId id="343" r:id="rId95"/>
    <p:sldId id="344" r:id="rId96"/>
    <p:sldId id="346" r:id="rId98"/>
    <p:sldId id="347" r:id="rId99"/>
    <p:sldId id="370" r:id="rId122"/>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5" r:id="rId147"/>
    <p:sldId id="396" r:id="rId148"/>
    <p:sldId id="399" r:id="rId151"/>
    <p:sldId id="400" r:id="rId152"/>
    <p:sldId id="401" r:id="rId153"/>
    <p:sldId id="402" r:id="rId154"/>
    <p:sldId id="405" r:id="rId157"/>
    <p:sldId id="407" r:id="rId159"/>
    <p:sldId id="412" r:id="rId164"/>
    <p:sldId id="413" r:id="rId165"/>
    <p:sldId id="414" r:id="rId166"/>
    <p:sldId id="415" r:id="rId167"/>
    <p:sldId id="417" r:id="rId169"/>
    <p:sldId id="418" r:id="rId170"/>
    <p:sldId id="421" r:id="rId173"/>
    <p:sldId id="422" r:id="rId174"/>
    <p:sldId id="423" r:id="rId175"/>
    <p:sldId id="424" r:id="rId176"/>
    <p:sldId id="426" r:id="rId178"/>
    <p:sldId id="427" r:id="rId179"/>
    <p:sldId id="430" r:id="rId182"/>
    <p:sldId id="431" r:id="rId183"/>
    <p:sldId id="432" r:id="rId184"/>
    <p:sldId id="433" r:id="rId185"/>
    <p:sldId id="435" r:id="rId187"/>
    <p:sldId id="436" r:id="rId188"/>
    <p:sldId id="439" r:id="rId191"/>
    <p:sldId id="440" r:id="rId192"/>
    <p:sldId id="441" r:id="rId193"/>
    <p:sldId id="442" r:id="rId194"/>
    <p:sldId id="443" r:id="rId195"/>
    <p:sldId id="445" r:id="rId197"/>
    <p:sldId id="446" r:id="rId198"/>
    <p:sldId id="470" r:id="rId222"/>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471" r:id="rId223"/>
    <p:sldId id="472" r:id="rId224"/>
    <p:sldId id="473" r:id="rId225"/>
    <p:sldId id="474" r:id="rId226"/>
    <p:sldId id="475" r:id="rId227"/>
    <p:sldId id="476" r:id="rId228"/>
    <p:sldId id="477" r:id="rId229"/>
    <p:sldId id="478" r:id="rId230"/>
    <p:sldId id="480" r:id="rId232"/>
    <p:sldId id="481" r:id="rId233"/>
    <p:sldId id="483" r:id="rId235"/>
    <p:sldId id="486" r:id="rId238"/>
    <p:sldId id="487" r:id="rId239"/>
    <p:sldId id="489" r:id="rId241"/>
    <p:sldId id="492" r:id="rId244"/>
    <p:sldId id="493" r:id="rId245"/>
    <p:sldId id="495" r:id="rId247"/>
    <p:sldId id="497" r:id="rId249"/>
    <p:sldId id="498" r:id="rId250"/>
    <p:sldId id="499" r:id="rId251"/>
    <p:sldId id="501" r:id="rId253"/>
    <p:sldId id="502" r:id="rId254"/>
    <p:sldId id="503" r:id="rId255"/>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30.xml"/><Relationship Id="rId21" Type="http://schemas.openxmlformats.org/officeDocument/2006/relationships/slide" Target="slides/slide31.xml"/><Relationship Id="rId22" Type="http://schemas.openxmlformats.org/officeDocument/2006/relationships/slide" Target="slides/slide32.xml"/><Relationship Id="rId23" Type="http://schemas.openxmlformats.org/officeDocument/2006/relationships/slide" Target="slides/slide33.xml"/><Relationship Id="rId24" Type="http://schemas.openxmlformats.org/officeDocument/2006/relationships/slide" Target="slides/slide34.xml"/><Relationship Id="rId25" Type="http://schemas.openxmlformats.org/officeDocument/2006/relationships/slide" Target="slides/slide35.xml"/><Relationship Id="rId26" Type="http://schemas.openxmlformats.org/officeDocument/2006/relationships/slide" Target="slides/slide36.xml"/><Relationship Id="rId27" Type="http://schemas.openxmlformats.org/officeDocument/2006/relationships/slide" Target="slides/slide37.xml"/><Relationship Id="rId28" Type="http://schemas.openxmlformats.org/officeDocument/2006/relationships/slide" Target="slides/slide38.xml"/><Relationship Id="rId29" Type="http://schemas.openxmlformats.org/officeDocument/2006/relationships/slide" Target="slides/slide39.xml"/><Relationship Id="rId30" Type="http://schemas.openxmlformats.org/officeDocument/2006/relationships/slide" Target="slides/slide40.xml"/><Relationship Id="rId31" Type="http://schemas.openxmlformats.org/officeDocument/2006/relationships/slide" Target="slides/slide41.xml"/><Relationship Id="rId32" Type="http://schemas.openxmlformats.org/officeDocument/2006/relationships/slide" Target="slides/slide42.xml"/><Relationship Id="rId33" Type="http://schemas.openxmlformats.org/officeDocument/2006/relationships/slide" Target="slides/slide43.xml"/><Relationship Id="rId34" Type="http://schemas.openxmlformats.org/officeDocument/2006/relationships/slide" Target="slides/slide44.xml"/><Relationship Id="rId35" Type="http://schemas.openxmlformats.org/officeDocument/2006/relationships/slide" Target="slides/slide45.xml"/><Relationship Id="rId36" Type="http://schemas.openxmlformats.org/officeDocument/2006/relationships/slide" Target="slides/slide46.xml"/><Relationship Id="rId37" Type="http://schemas.openxmlformats.org/officeDocument/2006/relationships/slide" Target="slides/slide47.xml"/><Relationship Id="rId38" Type="http://schemas.openxmlformats.org/officeDocument/2006/relationships/slide" Target="slides/slide48.xml"/><Relationship Id="rId39" Type="http://schemas.openxmlformats.org/officeDocument/2006/relationships/slide" Target="slides/slide49.xml"/><Relationship Id="rId40" Type="http://schemas.openxmlformats.org/officeDocument/2006/relationships/slide" Target="slides/slide50.xml"/><Relationship Id="rId41" Type="http://schemas.openxmlformats.org/officeDocument/2006/relationships/slide" Target="slides/slide51.xml"/><Relationship Id="rId42" Type="http://schemas.openxmlformats.org/officeDocument/2006/relationships/slide" Target="slides/slide52.xml"/><Relationship Id="rId43" Type="http://schemas.openxmlformats.org/officeDocument/2006/relationships/slide" Target="slides/slide53.xml"/><Relationship Id="rId44" Type="http://schemas.openxmlformats.org/officeDocument/2006/relationships/slide" Target="slides/slide54.xml"/><Relationship Id="rId46" Type="http://schemas.openxmlformats.org/officeDocument/2006/relationships/slide" Target="slides/slide56.xml"/><Relationship Id="rId47" Type="http://schemas.openxmlformats.org/officeDocument/2006/relationships/slide" Target="slides/slide57.xml"/><Relationship Id="rId50" Type="http://schemas.openxmlformats.org/officeDocument/2006/relationships/slide" Target="slides/slide60.xml"/><Relationship Id="rId51" Type="http://schemas.openxmlformats.org/officeDocument/2006/relationships/slide" Target="slides/slide61.xml"/><Relationship Id="rId52" Type="http://schemas.openxmlformats.org/officeDocument/2006/relationships/slide" Target="slides/slide62.xml"/><Relationship Id="rId53" Type="http://schemas.openxmlformats.org/officeDocument/2006/relationships/slide" Target="slides/slide63.xml"/><Relationship Id="rId56" Type="http://schemas.openxmlformats.org/officeDocument/2006/relationships/slide" Target="slides/slide66.xml"/><Relationship Id="rId58" Type="http://schemas.openxmlformats.org/officeDocument/2006/relationships/slide" Target="slides/slide68.xml"/><Relationship Id="rId63" Type="http://schemas.openxmlformats.org/officeDocument/2006/relationships/slide" Target="slides/slide73.xml"/><Relationship Id="rId64" Type="http://schemas.openxmlformats.org/officeDocument/2006/relationships/slide" Target="slides/slide74.xml"/><Relationship Id="rId65" Type="http://schemas.openxmlformats.org/officeDocument/2006/relationships/slide" Target="slides/slide75.xml"/><Relationship Id="rId66" Type="http://schemas.openxmlformats.org/officeDocument/2006/relationships/slide" Target="slides/slide76.xml"/><Relationship Id="rId69" Type="http://schemas.openxmlformats.org/officeDocument/2006/relationships/slide" Target="slides/slide79.xml"/><Relationship Id="rId70" Type="http://schemas.openxmlformats.org/officeDocument/2006/relationships/slide" Target="slides/slide80.xml"/><Relationship Id="rId73" Type="http://schemas.openxmlformats.org/officeDocument/2006/relationships/slide" Target="slides/slide83.xml"/><Relationship Id="rId74" Type="http://schemas.openxmlformats.org/officeDocument/2006/relationships/slide" Target="slides/slide84.xml"/><Relationship Id="rId75" Type="http://schemas.openxmlformats.org/officeDocument/2006/relationships/slide" Target="slides/slide85.xml"/><Relationship Id="rId76" Type="http://schemas.openxmlformats.org/officeDocument/2006/relationships/slide" Target="slides/slide86.xml"/><Relationship Id="rId79" Type="http://schemas.openxmlformats.org/officeDocument/2006/relationships/slide" Target="slides/slide89.xml"/><Relationship Id="rId80" Type="http://schemas.openxmlformats.org/officeDocument/2006/relationships/slide" Target="slides/slide90.xml"/><Relationship Id="rId83" Type="http://schemas.openxmlformats.org/officeDocument/2006/relationships/slide" Target="slides/slide93.xml"/><Relationship Id="rId84" Type="http://schemas.openxmlformats.org/officeDocument/2006/relationships/slide" Target="slides/slide94.xml"/><Relationship Id="rId85" Type="http://schemas.openxmlformats.org/officeDocument/2006/relationships/slide" Target="slides/slide95.xml"/><Relationship Id="rId86" Type="http://schemas.openxmlformats.org/officeDocument/2006/relationships/slide" Target="slides/slide96.xml"/><Relationship Id="rId88" Type="http://schemas.openxmlformats.org/officeDocument/2006/relationships/slide" Target="slides/slide98.xml"/><Relationship Id="rId89" Type="http://schemas.openxmlformats.org/officeDocument/2006/relationships/slide" Target="slides/slide99.xml"/><Relationship Id="rId92" Type="http://schemas.openxmlformats.org/officeDocument/2006/relationships/slide" Target="slides/slide102.xml"/><Relationship Id="rId93" Type="http://schemas.openxmlformats.org/officeDocument/2006/relationships/slide" Target="slides/slide103.xml"/><Relationship Id="rId94" Type="http://schemas.openxmlformats.org/officeDocument/2006/relationships/slide" Target="slides/slide104.xml"/><Relationship Id="rId95" Type="http://schemas.openxmlformats.org/officeDocument/2006/relationships/slide" Target="slides/slide105.xml"/><Relationship Id="rId96" Type="http://schemas.openxmlformats.org/officeDocument/2006/relationships/slide" Target="slides/slide106.xml"/><Relationship Id="rId98" Type="http://schemas.openxmlformats.org/officeDocument/2006/relationships/slide" Target="slides/slide108.xml"/><Relationship Id="rId99" Type="http://schemas.openxmlformats.org/officeDocument/2006/relationships/slide" Target="slides/slide109.xml"/><Relationship Id="rId102" Type="http://schemas.openxmlformats.org/officeDocument/2006/relationships/slide" Target="slides/slide112.xml"/><Relationship Id="rId103" Type="http://schemas.openxmlformats.org/officeDocument/2006/relationships/slide" Target="slides/slide113.xml"/><Relationship Id="rId104" Type="http://schemas.openxmlformats.org/officeDocument/2006/relationships/slide" Target="slides/slide114.xml"/><Relationship Id="rId105" Type="http://schemas.openxmlformats.org/officeDocument/2006/relationships/slide" Target="slides/slide115.xml"/><Relationship Id="rId106" Type="http://schemas.openxmlformats.org/officeDocument/2006/relationships/slide" Target="slides/slide116.xml"/><Relationship Id="rId107" Type="http://schemas.openxmlformats.org/officeDocument/2006/relationships/slide" Target="slides/slide117.xml"/><Relationship Id="rId108" Type="http://schemas.openxmlformats.org/officeDocument/2006/relationships/slide" Target="slides/slide118.xml"/><Relationship Id="rId109" Type="http://schemas.openxmlformats.org/officeDocument/2006/relationships/slide" Target="slides/slide119.xml"/><Relationship Id="rId110" Type="http://schemas.openxmlformats.org/officeDocument/2006/relationships/slide" Target="slides/slide120.xml"/><Relationship Id="rId111" Type="http://schemas.openxmlformats.org/officeDocument/2006/relationships/slide" Target="slides/slide121.xml"/><Relationship Id="rId112" Type="http://schemas.openxmlformats.org/officeDocument/2006/relationships/slide" Target="slides/slide122.xml"/><Relationship Id="rId113" Type="http://schemas.openxmlformats.org/officeDocument/2006/relationships/slide" Target="slides/slide123.xml"/><Relationship Id="rId114" Type="http://schemas.openxmlformats.org/officeDocument/2006/relationships/slide" Target="slides/slide124.xml"/><Relationship Id="rId115" Type="http://schemas.openxmlformats.org/officeDocument/2006/relationships/slide" Target="slides/slide125.xml"/><Relationship Id="rId116" Type="http://schemas.openxmlformats.org/officeDocument/2006/relationships/slide" Target="slides/slide126.xml"/><Relationship Id="rId117" Type="http://schemas.openxmlformats.org/officeDocument/2006/relationships/slide" Target="slides/slide127.xml"/><Relationship Id="rId118" Type="http://schemas.openxmlformats.org/officeDocument/2006/relationships/slide" Target="slides/slide128.xml"/><Relationship Id="rId119" Type="http://schemas.openxmlformats.org/officeDocument/2006/relationships/slide" Target="slides/slide129.xml"/><Relationship Id="rId120" Type="http://schemas.openxmlformats.org/officeDocument/2006/relationships/slide" Target="slides/slide130.xml"/><Relationship Id="rId121" Type="http://schemas.openxmlformats.org/officeDocument/2006/relationships/slide" Target="slides/slide131.xml"/><Relationship Id="rId122" Type="http://schemas.openxmlformats.org/officeDocument/2006/relationships/slide" Target="slides/slide132.xml"/><Relationship Id="rId123" Type="http://schemas.openxmlformats.org/officeDocument/2006/relationships/slide" Target="slides/slide133.xml"/><Relationship Id="rId124" Type="http://schemas.openxmlformats.org/officeDocument/2006/relationships/slide" Target="slides/slide134.xml"/><Relationship Id="rId125" Type="http://schemas.openxmlformats.org/officeDocument/2006/relationships/slide" Target="slides/slide135.xml"/><Relationship Id="rId126" Type="http://schemas.openxmlformats.org/officeDocument/2006/relationships/slide" Target="slides/slide136.xml"/><Relationship Id="rId127" Type="http://schemas.openxmlformats.org/officeDocument/2006/relationships/slide" Target="slides/slide137.xml"/><Relationship Id="rId128" Type="http://schemas.openxmlformats.org/officeDocument/2006/relationships/slide" Target="slides/slide138.xml"/><Relationship Id="rId129" Type="http://schemas.openxmlformats.org/officeDocument/2006/relationships/slide" Target="slides/slide139.xml"/><Relationship Id="rId130" Type="http://schemas.openxmlformats.org/officeDocument/2006/relationships/slide" Target="slides/slide140.xml"/><Relationship Id="rId131" Type="http://schemas.openxmlformats.org/officeDocument/2006/relationships/slide" Target="slides/slide141.xml"/><Relationship Id="rId132" Type="http://schemas.openxmlformats.org/officeDocument/2006/relationships/slide" Target="slides/slide142.xml"/><Relationship Id="rId133" Type="http://schemas.openxmlformats.org/officeDocument/2006/relationships/slide" Target="slides/slide143.xml"/><Relationship Id="rId134" Type="http://schemas.openxmlformats.org/officeDocument/2006/relationships/slide" Target="slides/slide144.xml"/><Relationship Id="rId135" Type="http://schemas.openxmlformats.org/officeDocument/2006/relationships/slide" Target="slides/slide145.xml"/><Relationship Id="rId136" Type="http://schemas.openxmlformats.org/officeDocument/2006/relationships/slide" Target="slides/slide146.xml"/><Relationship Id="rId137" Type="http://schemas.openxmlformats.org/officeDocument/2006/relationships/slide" Target="slides/slide147.xml"/><Relationship Id="rId138" Type="http://schemas.openxmlformats.org/officeDocument/2006/relationships/slide" Target="slides/slide148.xml"/><Relationship Id="rId139" Type="http://schemas.openxmlformats.org/officeDocument/2006/relationships/slide" Target="slides/slide149.xml"/><Relationship Id="rId140" Type="http://schemas.openxmlformats.org/officeDocument/2006/relationships/slide" Target="slides/slide150.xml"/><Relationship Id="rId141" Type="http://schemas.openxmlformats.org/officeDocument/2006/relationships/slide" Target="slides/slide151.xml"/><Relationship Id="rId142" Type="http://schemas.openxmlformats.org/officeDocument/2006/relationships/slide" Target="slides/slide152.xml"/><Relationship Id="rId143" Type="http://schemas.openxmlformats.org/officeDocument/2006/relationships/slide" Target="slides/slide153.xml"/><Relationship Id="rId144" Type="http://schemas.openxmlformats.org/officeDocument/2006/relationships/slide" Target="slides/slide154.xml"/><Relationship Id="rId145" Type="http://schemas.openxmlformats.org/officeDocument/2006/relationships/slide" Target="slides/slide155.xml"/><Relationship Id="rId147" Type="http://schemas.openxmlformats.org/officeDocument/2006/relationships/slide" Target="slides/slide157.xml"/><Relationship Id="rId148" Type="http://schemas.openxmlformats.org/officeDocument/2006/relationships/slide" Target="slides/slide158.xml"/><Relationship Id="rId151" Type="http://schemas.openxmlformats.org/officeDocument/2006/relationships/slide" Target="slides/slide161.xml"/><Relationship Id="rId152" Type="http://schemas.openxmlformats.org/officeDocument/2006/relationships/slide" Target="slides/slide162.xml"/><Relationship Id="rId153" Type="http://schemas.openxmlformats.org/officeDocument/2006/relationships/slide" Target="slides/slide163.xml"/><Relationship Id="rId154" Type="http://schemas.openxmlformats.org/officeDocument/2006/relationships/slide" Target="slides/slide164.xml"/><Relationship Id="rId157" Type="http://schemas.openxmlformats.org/officeDocument/2006/relationships/slide" Target="slides/slide167.xml"/><Relationship Id="rId159" Type="http://schemas.openxmlformats.org/officeDocument/2006/relationships/slide" Target="slides/slide169.xml"/><Relationship Id="rId164" Type="http://schemas.openxmlformats.org/officeDocument/2006/relationships/slide" Target="slides/slide174.xml"/><Relationship Id="rId165" Type="http://schemas.openxmlformats.org/officeDocument/2006/relationships/slide" Target="slides/slide175.xml"/><Relationship Id="rId166" Type="http://schemas.openxmlformats.org/officeDocument/2006/relationships/slide" Target="slides/slide176.xml"/><Relationship Id="rId167" Type="http://schemas.openxmlformats.org/officeDocument/2006/relationships/slide" Target="slides/slide177.xml"/><Relationship Id="rId169" Type="http://schemas.openxmlformats.org/officeDocument/2006/relationships/slide" Target="slides/slide179.xml"/><Relationship Id="rId170" Type="http://schemas.openxmlformats.org/officeDocument/2006/relationships/slide" Target="slides/slide180.xml"/><Relationship Id="rId173" Type="http://schemas.openxmlformats.org/officeDocument/2006/relationships/slide" Target="slides/slide183.xml"/><Relationship Id="rId174" Type="http://schemas.openxmlformats.org/officeDocument/2006/relationships/slide" Target="slides/slide184.xml"/><Relationship Id="rId175" Type="http://schemas.openxmlformats.org/officeDocument/2006/relationships/slide" Target="slides/slide185.xml"/><Relationship Id="rId176" Type="http://schemas.openxmlformats.org/officeDocument/2006/relationships/slide" Target="slides/slide186.xml"/><Relationship Id="rId178" Type="http://schemas.openxmlformats.org/officeDocument/2006/relationships/slide" Target="slides/slide188.xml"/><Relationship Id="rId179" Type="http://schemas.openxmlformats.org/officeDocument/2006/relationships/slide" Target="slides/slide189.xml"/><Relationship Id="rId182" Type="http://schemas.openxmlformats.org/officeDocument/2006/relationships/slide" Target="slides/slide192.xml"/><Relationship Id="rId183" Type="http://schemas.openxmlformats.org/officeDocument/2006/relationships/slide" Target="slides/slide193.xml"/><Relationship Id="rId184" Type="http://schemas.openxmlformats.org/officeDocument/2006/relationships/slide" Target="slides/slide194.xml"/><Relationship Id="rId185" Type="http://schemas.openxmlformats.org/officeDocument/2006/relationships/slide" Target="slides/slide195.xml"/><Relationship Id="rId187" Type="http://schemas.openxmlformats.org/officeDocument/2006/relationships/slide" Target="slides/slide197.xml"/><Relationship Id="rId188" Type="http://schemas.openxmlformats.org/officeDocument/2006/relationships/slide" Target="slides/slide198.xml"/><Relationship Id="rId191" Type="http://schemas.openxmlformats.org/officeDocument/2006/relationships/slide" Target="slides/slide201.xml"/><Relationship Id="rId192" Type="http://schemas.openxmlformats.org/officeDocument/2006/relationships/slide" Target="slides/slide202.xml"/><Relationship Id="rId193" Type="http://schemas.openxmlformats.org/officeDocument/2006/relationships/slide" Target="slides/slide203.xml"/><Relationship Id="rId194" Type="http://schemas.openxmlformats.org/officeDocument/2006/relationships/slide" Target="slides/slide204.xml"/><Relationship Id="rId195" Type="http://schemas.openxmlformats.org/officeDocument/2006/relationships/slide" Target="slides/slide205.xml"/><Relationship Id="rId197" Type="http://schemas.openxmlformats.org/officeDocument/2006/relationships/slide" Target="slides/slide207.xml"/><Relationship Id="rId198" Type="http://schemas.openxmlformats.org/officeDocument/2006/relationships/slide" Target="slides/slide208.xml"/><Relationship Id="rId201" Type="http://schemas.openxmlformats.org/officeDocument/2006/relationships/slide" Target="slides/slide211.xml"/><Relationship Id="rId202" Type="http://schemas.openxmlformats.org/officeDocument/2006/relationships/slide" Target="slides/slide212.xml"/><Relationship Id="rId203" Type="http://schemas.openxmlformats.org/officeDocument/2006/relationships/slide" Target="slides/slide213.xml"/><Relationship Id="rId204" Type="http://schemas.openxmlformats.org/officeDocument/2006/relationships/slide" Target="slides/slide214.xml"/><Relationship Id="rId205" Type="http://schemas.openxmlformats.org/officeDocument/2006/relationships/slide" Target="slides/slide215.xml"/><Relationship Id="rId206" Type="http://schemas.openxmlformats.org/officeDocument/2006/relationships/slide" Target="slides/slide216.xml"/><Relationship Id="rId207" Type="http://schemas.openxmlformats.org/officeDocument/2006/relationships/slide" Target="slides/slide217.xml"/><Relationship Id="rId208" Type="http://schemas.openxmlformats.org/officeDocument/2006/relationships/slide" Target="slides/slide218.xml"/><Relationship Id="rId209" Type="http://schemas.openxmlformats.org/officeDocument/2006/relationships/slide" Target="slides/slide219.xml"/><Relationship Id="rId210" Type="http://schemas.openxmlformats.org/officeDocument/2006/relationships/slide" Target="slides/slide220.xml"/><Relationship Id="rId211" Type="http://schemas.openxmlformats.org/officeDocument/2006/relationships/slide" Target="slides/slide221.xml"/><Relationship Id="rId212" Type="http://schemas.openxmlformats.org/officeDocument/2006/relationships/slide" Target="slides/slide222.xml"/><Relationship Id="rId213" Type="http://schemas.openxmlformats.org/officeDocument/2006/relationships/slide" Target="slides/slide223.xml"/><Relationship Id="rId214" Type="http://schemas.openxmlformats.org/officeDocument/2006/relationships/slide" Target="slides/slide224.xml"/><Relationship Id="rId215" Type="http://schemas.openxmlformats.org/officeDocument/2006/relationships/slide" Target="slides/slide225.xml"/><Relationship Id="rId216" Type="http://schemas.openxmlformats.org/officeDocument/2006/relationships/slide" Target="slides/slide226.xml"/><Relationship Id="rId217" Type="http://schemas.openxmlformats.org/officeDocument/2006/relationships/slide" Target="slides/slide227.xml"/><Relationship Id="rId218" Type="http://schemas.openxmlformats.org/officeDocument/2006/relationships/slide" Target="slides/slide228.xml"/><Relationship Id="rId219" Type="http://schemas.openxmlformats.org/officeDocument/2006/relationships/slide" Target="slides/slide229.xml"/><Relationship Id="rId220" Type="http://schemas.openxmlformats.org/officeDocument/2006/relationships/slide" Target="slides/slide230.xml"/><Relationship Id="rId221" Type="http://schemas.openxmlformats.org/officeDocument/2006/relationships/slide" Target="slides/slide231.xml"/><Relationship Id="rId222" Type="http://schemas.openxmlformats.org/officeDocument/2006/relationships/slide" Target="slides/slide232.xml"/><Relationship Id="rId223" Type="http://schemas.openxmlformats.org/officeDocument/2006/relationships/slide" Target="slides/slide233.xml"/><Relationship Id="rId224" Type="http://schemas.openxmlformats.org/officeDocument/2006/relationships/slide" Target="slides/slide234.xml"/><Relationship Id="rId225" Type="http://schemas.openxmlformats.org/officeDocument/2006/relationships/slide" Target="slides/slide235.xml"/><Relationship Id="rId226" Type="http://schemas.openxmlformats.org/officeDocument/2006/relationships/slide" Target="slides/slide236.xml"/><Relationship Id="rId227" Type="http://schemas.openxmlformats.org/officeDocument/2006/relationships/slide" Target="slides/slide237.xml"/><Relationship Id="rId228" Type="http://schemas.openxmlformats.org/officeDocument/2006/relationships/slide" Target="slides/slide238.xml"/><Relationship Id="rId229" Type="http://schemas.openxmlformats.org/officeDocument/2006/relationships/slide" Target="slides/slide239.xml"/><Relationship Id="rId230" Type="http://schemas.openxmlformats.org/officeDocument/2006/relationships/slide" Target="slides/slide240.xml"/><Relationship Id="rId232" Type="http://schemas.openxmlformats.org/officeDocument/2006/relationships/slide" Target="slides/slide242.xml"/><Relationship Id="rId233" Type="http://schemas.openxmlformats.org/officeDocument/2006/relationships/slide" Target="slides/slide243.xml"/><Relationship Id="rId235" Type="http://schemas.openxmlformats.org/officeDocument/2006/relationships/slide" Target="slides/slide245.xml"/><Relationship Id="rId238" Type="http://schemas.openxmlformats.org/officeDocument/2006/relationships/slide" Target="slides/slide248.xml"/><Relationship Id="rId239" Type="http://schemas.openxmlformats.org/officeDocument/2006/relationships/slide" Target="slides/slide249.xml"/><Relationship Id="rId241" Type="http://schemas.openxmlformats.org/officeDocument/2006/relationships/slide" Target="slides/slide251.xml"/><Relationship Id="rId244" Type="http://schemas.openxmlformats.org/officeDocument/2006/relationships/slide" Target="slides/slide254.xml"/><Relationship Id="rId245" Type="http://schemas.openxmlformats.org/officeDocument/2006/relationships/slide" Target="slides/slide255.xml"/><Relationship Id="rId247" Type="http://schemas.openxmlformats.org/officeDocument/2006/relationships/slide" Target="slides/slide257.xml"/><Relationship Id="rId249" Type="http://schemas.openxmlformats.org/officeDocument/2006/relationships/slide" Target="slides/slide259.xml"/><Relationship Id="rId250" Type="http://schemas.openxmlformats.org/officeDocument/2006/relationships/slide" Target="slides/slide260.xml"/><Relationship Id="rId251" Type="http://schemas.openxmlformats.org/officeDocument/2006/relationships/slide" Target="slides/slide261.xml"/><Relationship Id="rId253" Type="http://schemas.openxmlformats.org/officeDocument/2006/relationships/slide" Target="slides/slide263.xml"/><Relationship Id="rId254" Type="http://schemas.openxmlformats.org/officeDocument/2006/relationships/slide" Target="slides/slide264.xml"/><Relationship Id="rId255" Type="http://schemas.openxmlformats.org/officeDocument/2006/relationships/slide" Target="slides/slide265.xml"/><Relationship Id="rId257" Type="http://schemas.openxmlformats.org/officeDocument/2006/relationships/slide" Target="slides/slide267.xml"/><Relationship Id="rId258" Type="http://schemas.openxmlformats.org/officeDocument/2006/relationships/slide" Target="slides/slide268.xml"/><Relationship Id="rId259" Type="http://schemas.openxmlformats.org/officeDocument/2006/relationships/slide" Target="slides/slide269.xml"/><Relationship Id="rId260" Type="http://schemas.openxmlformats.org/officeDocument/2006/relationships/slide" Target="slides/slide270.xml"/><Relationship Id="rId261" Type="http://schemas.openxmlformats.org/officeDocument/2006/relationships/slide" Target="slides/slide271.xml"/><Relationship Id="rId262" Type="http://schemas.openxmlformats.org/officeDocument/2006/relationships/slide" Target="slides/slide272.xml"/><Relationship Id="rId263" Type="http://schemas.openxmlformats.org/officeDocument/2006/relationships/slide" Target="slides/slide273.xml"/><Relationship Id="rId264" Type="http://schemas.openxmlformats.org/officeDocument/2006/relationships/slide" Target="slides/slide274.xml"/><Relationship Id="rId265" Type="http://schemas.openxmlformats.org/officeDocument/2006/relationships/slide" Target="slides/slide275.xml"/><Relationship Id="rId266" Type="http://schemas.openxmlformats.org/officeDocument/2006/relationships/slide" Target="slides/slide276.xml"/><Relationship Id="rId267" Type="http://schemas.openxmlformats.org/officeDocument/2006/relationships/slide" Target="slides/slide277.xml"/><Relationship Id="rId268" Type="http://schemas.openxmlformats.org/officeDocument/2006/relationships/slide" Target="slides/slide278.xml"/><Relationship Id="rId269" Type="http://schemas.openxmlformats.org/officeDocument/2006/relationships/slide" Target="slides/slide279.xml"/><Relationship Id="rId270" Type="http://schemas.openxmlformats.org/officeDocument/2006/relationships/slide" Target="slides/slide280.xml"/><Relationship Id="rId271" Type="http://schemas.openxmlformats.org/officeDocument/2006/relationships/slide" Target="slides/slide281.xml"/><Relationship Id="rId272" Type="http://schemas.openxmlformats.org/officeDocument/2006/relationships/slide" Target="slides/slide282.xml"/><Relationship Id="rId273" Type="http://schemas.openxmlformats.org/officeDocument/2006/relationships/slide" Target="slides/slide283.xml"/><Relationship Id="rId274" Type="http://schemas.openxmlformats.org/officeDocument/2006/relationships/slide" Target="slides/slide284.xml"/><Relationship Id="rId275" Type="http://schemas.openxmlformats.org/officeDocument/2006/relationships/slide" Target="slides/slide285.xml"/><Relationship Id="rId276" Type="http://schemas.openxmlformats.org/officeDocument/2006/relationships/slide" Target="slides/slide286.xml"/><Relationship Id="rId277" Type="http://schemas.openxmlformats.org/officeDocument/2006/relationships/slide" Target="slides/slide287.xml"/><Relationship Id="rId278" Type="http://schemas.openxmlformats.org/officeDocument/2006/relationships/slide" Target="slides/slide288.xml"/><Relationship Id="rId279" Type="http://schemas.openxmlformats.org/officeDocument/2006/relationships/slide" Target="slides/slide289.xml"/><Relationship Id="rId280" Type="http://schemas.openxmlformats.org/officeDocument/2006/relationships/slide" Target="slides/slide290.xml"/><Relationship Id="rId281" Type="http://schemas.openxmlformats.org/officeDocument/2006/relationships/slide" Target="slides/slide291.xml"/><Relationship Id="rId282" Type="http://schemas.openxmlformats.org/officeDocument/2006/relationships/slide" Target="slides/slide292.xml"/><Relationship Id="rId283" Type="http://schemas.openxmlformats.org/officeDocument/2006/relationships/slide" Target="slides/slide293.xml"/><Relationship Id="rId284" Type="http://schemas.openxmlformats.org/officeDocument/2006/relationships/slide" Target="slides/slide294.xml"/><Relationship Id="rId285" Type="http://schemas.openxmlformats.org/officeDocument/2006/relationships/slide" Target="slides/slide295.xml"/><Relationship Id="rId286" Type="http://schemas.openxmlformats.org/officeDocument/2006/relationships/slide" Target="slides/slide296.xml"/><Relationship Id="rId287" Type="http://schemas.openxmlformats.org/officeDocument/2006/relationships/slide" Target="slides/slide297.xml"/><Relationship Id="rId288" Type="http://schemas.openxmlformats.org/officeDocument/2006/relationships/slide" Target="slides/slide298.xml"/><Relationship Id="rId289" Type="http://schemas.openxmlformats.org/officeDocument/2006/relationships/slide" Target="slides/slide299.xml"/><Relationship Id="rId290" Type="http://schemas.openxmlformats.org/officeDocument/2006/relationships/slide" Target="slides/slide300.xml"/><Relationship Id="rId291" Type="http://schemas.openxmlformats.org/officeDocument/2006/relationships/slide" Target="slides/slide301.xml"/><Relationship Id="rId292" Type="http://schemas.openxmlformats.org/officeDocument/2006/relationships/slide" Target="slides/slide302.xml"/><Relationship Id="rId293" Type="http://schemas.openxmlformats.org/officeDocument/2006/relationships/slide" Target="slides/slide303.xml"/><Relationship Id="rId294" Type="http://schemas.openxmlformats.org/officeDocument/2006/relationships/slide" Target="slides/slide304.xml"/><Relationship Id="rId295" Type="http://schemas.openxmlformats.org/officeDocument/2006/relationships/slide" Target="slides/slide305.xml"/><Relationship Id="rId296" Type="http://schemas.openxmlformats.org/officeDocument/2006/relationships/slide" Target="slides/slide306.xml"/><Relationship Id="rId297" Type="http://schemas.openxmlformats.org/officeDocument/2006/relationships/slide" Target="slides/slide307.xml"/><Relationship Id="rId298" Type="http://schemas.openxmlformats.org/officeDocument/2006/relationships/slide" Target="slides/slide308.xml"/><Relationship Id="rId299" Type="http://schemas.openxmlformats.org/officeDocument/2006/relationships/slide" Target="slides/slide309.xml"/><Relationship Id="rId300" Type="http://schemas.openxmlformats.org/officeDocument/2006/relationships/slide" Target="slides/slide310.xml"/><Relationship Id="rId301" Type="http://schemas.openxmlformats.org/officeDocument/2006/relationships/slide" Target="slides/slide311.xml"/><Relationship Id="rId302" Type="http://schemas.openxmlformats.org/officeDocument/2006/relationships/slide" Target="slides/slide312.xml"/><Relationship Id="rId303" Type="http://schemas.openxmlformats.org/officeDocument/2006/relationships/slide" Target="slides/slide313.xml"/><Relationship Id="rId304" Type="http://schemas.openxmlformats.org/officeDocument/2006/relationships/slide" Target="slides/slide314.xml"/><Relationship Id="rId305" Type="http://schemas.openxmlformats.org/officeDocument/2006/relationships/slide" Target="slides/slide315.xml"/><Relationship Id="rId306" Type="http://schemas.openxmlformats.org/officeDocument/2006/relationships/slide" Target="slides/slide316.xml"/><Relationship Id="rId307" Type="http://schemas.openxmlformats.org/officeDocument/2006/relationships/slide" Target="slides/slide317.xml"/><Relationship Id="rId308" Type="http://schemas.openxmlformats.org/officeDocument/2006/relationships/slide" Target="slides/slide318.xml"/><Relationship Id="rId309" Type="http://schemas.openxmlformats.org/officeDocument/2006/relationships/slide" Target="slides/slide319.xml"/><Relationship Id="rId310" Type="http://schemas.openxmlformats.org/officeDocument/2006/relationships/slide" Target="slides/slide320.xml"/><Relationship Id="rId311" Type="http://schemas.openxmlformats.org/officeDocument/2006/relationships/slide" Target="slides/slide321.xml"/><Relationship Id="rId312" Type="http://schemas.openxmlformats.org/officeDocument/2006/relationships/slide" Target="slides/slide322.xml"/><Relationship Id="rId313" Type="http://schemas.openxmlformats.org/officeDocument/2006/relationships/slide" Target="slides/slide323.xml"/><Relationship Id="rId314" Type="http://schemas.openxmlformats.org/officeDocument/2006/relationships/slide" Target="slides/slide324.xml"/><Relationship Id="rId315" Type="http://schemas.openxmlformats.org/officeDocument/2006/relationships/slide" Target="slides/slide325.xml"/><Relationship Id="rId316" Type="http://schemas.openxmlformats.org/officeDocument/2006/relationships/slide" Target="slides/slide326.xml"/><Relationship Id="rId317" Type="http://schemas.openxmlformats.org/officeDocument/2006/relationships/slide" Target="slides/slide327.xml"/><Relationship Id="rId318" Type="http://schemas.openxmlformats.org/officeDocument/2006/relationships/slide" Target="slides/slide328.xml"/><Relationship Id="rId319" Type="http://schemas.openxmlformats.org/officeDocument/2006/relationships/slide" Target="slides/slide329.xml"/><Relationship Id="rId320" Type="http://schemas.openxmlformats.org/officeDocument/2006/relationships/slide" Target="slides/slide330.xml"/><Relationship Id="rId321" Type="http://schemas.openxmlformats.org/officeDocument/2006/relationships/slide" Target="slides/slide331.xml"/><Relationship Id="rId322" Type="http://schemas.openxmlformats.org/officeDocument/2006/relationships/slide" Target="slides/slide332.xml"/><Relationship Id="rId323" Type="http://schemas.openxmlformats.org/officeDocument/2006/relationships/slide" Target="slides/slide333.xml"/><Relationship Id="rId324" Type="http://schemas.openxmlformats.org/officeDocument/2006/relationships/slide" Target="slides/slide334.xml"/><Relationship Id="rId325" Type="http://schemas.openxmlformats.org/officeDocument/2006/relationships/slide" Target="slides/slide335.xml"/><Relationship Id="rId326" Type="http://schemas.openxmlformats.org/officeDocument/2006/relationships/slide" Target="slides/slide336.xml"/><Relationship Id="rId327" Type="http://schemas.openxmlformats.org/officeDocument/2006/relationships/slide" Target="slides/slide337.xml"/><Relationship Id="rId328" Type="http://schemas.openxmlformats.org/officeDocument/2006/relationships/slide" Target="slides/slide338.xml"/><Relationship Id="rId329" Type="http://schemas.openxmlformats.org/officeDocument/2006/relationships/slide" Target="slides/slide339.xml"/><Relationship Id="rId330" Type="http://schemas.openxmlformats.org/officeDocument/2006/relationships/slide" Target="slides/slide340.xml"/><Relationship Id="rId331" Type="http://schemas.openxmlformats.org/officeDocument/2006/relationships/slide" Target="slides/slide341.xml"/><Relationship Id="rId332" Type="http://schemas.openxmlformats.org/officeDocument/2006/relationships/slide" Target="slides/slide342.xml"/><Relationship Id="rId343" Type="http://schemas.openxmlformats.org/officeDocument/2006/relationships/slide" Target="slides/slide14.xml"/><Relationship Id="rId344" Type="http://schemas.openxmlformats.org/officeDocument/2006/relationships/slide" Target="slides/slide15.xml"/><Relationship Id="rId345" Type="http://schemas.openxmlformats.org/officeDocument/2006/relationships/slide" Target="slides/slide16.xml"/><Relationship Id="rId346" Type="http://schemas.openxmlformats.org/officeDocument/2006/relationships/slide" Target="slides/slide17.xml"/><Relationship Id="rId347" Type="http://schemas.openxmlformats.org/officeDocument/2006/relationships/slide" Target="slides/slide18.xml"/><Relationship Id="rId348" Type="http://schemas.openxmlformats.org/officeDocument/2006/relationships/slide" Target="slides/slide19.xml"/><Relationship Id="rId349" Type="http://schemas.openxmlformats.org/officeDocument/2006/relationships/slide" Target="slides/slide13.xml"/><Relationship Id="rId350" Type="http://schemas.openxmlformats.org/officeDocument/2006/relationships/slide" Target="slides/slide21.xml"/><Relationship Id="rId351" Type="http://schemas.openxmlformats.org/officeDocument/2006/relationships/slide" Target="slides/slide22.xml"/><Relationship Id="rId352" Type="http://schemas.openxmlformats.org/officeDocument/2006/relationships/slide" Target="slides/slide23.xml"/><Relationship Id="rId353" Type="http://schemas.openxmlformats.org/officeDocument/2006/relationships/slide" Target="slides/slide24.xml"/><Relationship Id="rId354" Type="http://schemas.openxmlformats.org/officeDocument/2006/relationships/slide" Target="slides/slide25.xml"/><Relationship Id="rId355" Type="http://schemas.openxmlformats.org/officeDocument/2006/relationships/slide" Target="slides/slide26.xml"/><Relationship Id="rId356" Type="http://schemas.openxmlformats.org/officeDocument/2006/relationships/slide" Target="slides/slide27.xml"/><Relationship Id="rId357" Type="http://schemas.openxmlformats.org/officeDocument/2006/relationships/slide" Target="slides/slide28.xml"/><Relationship Id="rId358" Type="http://schemas.openxmlformats.org/officeDocument/2006/relationships/slide" Target="slides/slide29.xml"/><Relationship Id="rId359" Type="http://schemas.openxmlformats.org/officeDocument/2006/relationships/slide" Target="slides/slide20.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 Id="rId22" Type="http://schemas.openxmlformats.org/officeDocument/2006/relationships/image" Target="../media/image35.png"/><Relationship Id="rId23" Type="http://schemas.openxmlformats.org/officeDocument/2006/relationships/image" Target="../media/image36.png"/></Relationships>
</file>

<file path=ppt/charts/_rels/chart7.xml.rels><?xml version='1.0' encoding='UTF-8' standalone='yes'?>
<Relationships xmlns="http://schemas.openxmlformats.org/package/2006/relationships"><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s>
</file>

<file path=ppt/charts/_rels/chart8.xml.rels><?xml version='1.0' encoding='UTF-8' standalone='yes'?>
<Relationships xmlns="http://schemas.openxmlformats.org/package/2006/relationships"><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png"/></Relationships>
</file>

<file path=ppt/charts/_rels/chart9.xml.rels><?xml version='1.0' encoding='UTF-8' standalone='yes'?>
<Relationships xmlns="http://schemas.openxmlformats.org/package/2006/relationships"><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s>
</file>

<file path=ppt/charts/_rels/chart11.xml.rels><?xml version='1.0' encoding='UTF-8' standalone='yes'?>
<Relationships xmlns="http://schemas.openxmlformats.org/package/2006/relationships"><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86.png"/><Relationship Id="rId11" Type="http://schemas.openxmlformats.org/officeDocument/2006/relationships/image" Target="../media/image87.png"/><Relationship Id="rId12" Type="http://schemas.openxmlformats.org/officeDocument/2006/relationships/image" Target="../media/image88.png"/></Relationships>
</file>

<file path=ppt/charts/_rels/chart12.xml.rels><?xml version='1.0' encoding='UTF-8' standalone='yes'?>
<Relationships xmlns="http://schemas.openxmlformats.org/package/2006/relationships"><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100.png"/><Relationship Id="rId11" Type="http://schemas.openxmlformats.org/officeDocument/2006/relationships/image" Target="../media/image101.png"/><Relationship Id="rId12" Type="http://schemas.openxmlformats.org/officeDocument/2006/relationships/image" Target="../media/image102.png"/><Relationship Id="rId13" Type="http://schemas.openxmlformats.org/officeDocument/2006/relationships/image" Target="../media/image103.png"/></Relationships>
</file>

<file path=ppt/charts/_rels/chart13.xml.rels><?xml version='1.0' encoding='UTF-8' standalone='yes'?>
<Relationships xmlns="http://schemas.openxmlformats.org/package/2006/relationships"><Relationship Id="rId2" Type="http://schemas.openxmlformats.org/officeDocument/2006/relationships/image" Target="../media/image104.png"/></Relationships>
</file>

<file path=ppt/charts/_rels/chart14.xml.rels><?xml version='1.0' encoding='UTF-8' standalone='yes'?>
<Relationships xmlns="http://schemas.openxmlformats.org/package/2006/relationships"><Relationship Id="rId2" Type="http://schemas.openxmlformats.org/officeDocument/2006/relationships/image" Target="../media/image105.png"/></Relationships>
</file>

<file path=ppt/charts/_rels/chart15.xml.rels><?xml version='1.0' encoding='UTF-8' standalone='yes'?>
<Relationships xmlns="http://schemas.openxmlformats.org/package/2006/relationships"><Relationship Id="rId2" Type="http://schemas.openxmlformats.org/officeDocument/2006/relationships/image" Target="../media/image114.png"/><Relationship Id="rId3" Type="http://schemas.openxmlformats.org/officeDocument/2006/relationships/image" Target="../media/image115.png"/><Relationship Id="rId4" Type="http://schemas.openxmlformats.org/officeDocument/2006/relationships/image" Target="../media/image116.png"/><Relationship Id="rId5" Type="http://schemas.openxmlformats.org/officeDocument/2006/relationships/image" Target="../media/image117.png"/><Relationship Id="rId6" Type="http://schemas.openxmlformats.org/officeDocument/2006/relationships/image" Target="../media/image118.png"/><Relationship Id="rId7" Type="http://schemas.openxmlformats.org/officeDocument/2006/relationships/image" Target="../media/image119.png"/><Relationship Id="rId8" Type="http://schemas.openxmlformats.org/officeDocument/2006/relationships/image" Target="../media/image120.png"/><Relationship Id="rId9" Type="http://schemas.openxmlformats.org/officeDocument/2006/relationships/image" Target="../media/image121.png"/><Relationship Id="rId10" Type="http://schemas.openxmlformats.org/officeDocument/2006/relationships/image" Target="../media/image122.png"/><Relationship Id="rId11" Type="http://schemas.openxmlformats.org/officeDocument/2006/relationships/image" Target="../media/image123.png"/><Relationship Id="rId12" Type="http://schemas.openxmlformats.org/officeDocument/2006/relationships/image" Target="../media/image124.png"/><Relationship Id="rId13" Type="http://schemas.openxmlformats.org/officeDocument/2006/relationships/image" Target="../media/image125.png"/><Relationship Id="rId14" Type="http://schemas.openxmlformats.org/officeDocument/2006/relationships/image" Target="../media/image126.png"/><Relationship Id="rId15" Type="http://schemas.openxmlformats.org/officeDocument/2006/relationships/image" Target="../media/image127.png"/><Relationship Id="rId16" Type="http://schemas.openxmlformats.org/officeDocument/2006/relationships/image" Target="../media/image128.png"/><Relationship Id="rId17" Type="http://schemas.openxmlformats.org/officeDocument/2006/relationships/image" Target="../media/image129.png"/><Relationship Id="rId18" Type="http://schemas.openxmlformats.org/officeDocument/2006/relationships/image" Target="../media/image130.png"/><Relationship Id="rId19" Type="http://schemas.openxmlformats.org/officeDocument/2006/relationships/image" Target="../media/image131.png"/></Relationships>
</file>

<file path=ppt/charts/_rels/chart20.xml.rels><?xml version='1.0' encoding='UTF-8' standalone='yes'?>
<Relationships xmlns="http://schemas.openxmlformats.org/package/2006/relationships"><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40.png"/></Relationships>
</file>

<file path=ppt/charts/_rels/chart21.xml.rels><?xml version='1.0' encoding='UTF-8' standalone='yes'?>
<Relationships xmlns="http://schemas.openxmlformats.org/package/2006/relationships"><Relationship Id="rId2" Type="http://schemas.openxmlformats.org/officeDocument/2006/relationships/image" Target="../media/image150.png"/><Relationship Id="rId3" Type="http://schemas.openxmlformats.org/officeDocument/2006/relationships/image" Target="../media/image151.png"/><Relationship Id="rId4" Type="http://schemas.openxmlformats.org/officeDocument/2006/relationships/image" Target="../media/image152.png"/><Relationship Id="rId5" Type="http://schemas.openxmlformats.org/officeDocument/2006/relationships/image" Target="../media/image153.png"/><Relationship Id="rId6" Type="http://schemas.openxmlformats.org/officeDocument/2006/relationships/image" Target="../media/image154.png"/><Relationship Id="rId7" Type="http://schemas.openxmlformats.org/officeDocument/2006/relationships/image" Target="../media/image155.png"/><Relationship Id="rId8" Type="http://schemas.openxmlformats.org/officeDocument/2006/relationships/image" Target="../media/image156.png"/><Relationship Id="rId9" Type="http://schemas.openxmlformats.org/officeDocument/2006/relationships/image" Target="../media/image157.png"/><Relationship Id="rId10" Type="http://schemas.openxmlformats.org/officeDocument/2006/relationships/image" Target="../media/image158.png"/><Relationship Id="rId11" Type="http://schemas.openxmlformats.org/officeDocument/2006/relationships/image" Target="../media/image159.png"/><Relationship Id="rId12" Type="http://schemas.openxmlformats.org/officeDocument/2006/relationships/image" Target="../media/image160.png"/><Relationship Id="rId13" Type="http://schemas.openxmlformats.org/officeDocument/2006/relationships/image" Target="../media/image161.png"/><Relationship Id="rId14" Type="http://schemas.openxmlformats.org/officeDocument/2006/relationships/image" Target="../media/image162.png"/><Relationship Id="rId15" Type="http://schemas.openxmlformats.org/officeDocument/2006/relationships/image" Target="../media/image163.png"/><Relationship Id="rId16" Type="http://schemas.openxmlformats.org/officeDocument/2006/relationships/image" Target="../media/image164.png"/><Relationship Id="rId17" Type="http://schemas.openxmlformats.org/officeDocument/2006/relationships/image" Target="../media/image165.png"/><Relationship Id="rId18" Type="http://schemas.openxmlformats.org/officeDocument/2006/relationships/image" Target="../media/image166.png"/></Relationships>
</file>

<file path=ppt/charts/_rels/chart26.xml.rels><?xml version='1.0' encoding='UTF-8' standalone='yes'?>
<Relationships xmlns="http://schemas.openxmlformats.org/package/2006/relationships"><Relationship Id="rId2" Type="http://schemas.openxmlformats.org/officeDocument/2006/relationships/image" Target="../media/image167.png"/><Relationship Id="rId3" Type="http://schemas.openxmlformats.org/officeDocument/2006/relationships/image" Target="../media/image168.png"/><Relationship Id="rId4" Type="http://schemas.openxmlformats.org/officeDocument/2006/relationships/image" Target="../media/image169.png"/><Relationship Id="rId5" Type="http://schemas.openxmlformats.org/officeDocument/2006/relationships/image" Target="../media/image170.png"/><Relationship Id="rId6" Type="http://schemas.openxmlformats.org/officeDocument/2006/relationships/image" Target="../media/image171.png"/><Relationship Id="rId7" Type="http://schemas.openxmlformats.org/officeDocument/2006/relationships/image" Target="../media/image172.png"/><Relationship Id="rId8" Type="http://schemas.openxmlformats.org/officeDocument/2006/relationships/image" Target="../media/image173.png"/><Relationship Id="rId9" Type="http://schemas.openxmlformats.org/officeDocument/2006/relationships/image" Target="../media/image174.png"/><Relationship Id="rId10" Type="http://schemas.openxmlformats.org/officeDocument/2006/relationships/image" Target="../media/image175.png"/></Relationships>
</file>

<file path=ppt/charts/_rels/chart27.xml.rels><?xml version='1.0' encoding='UTF-8' standalone='yes'?>
<Relationships xmlns="http://schemas.openxmlformats.org/package/2006/relationships"><Relationship Id="rId2" Type="http://schemas.openxmlformats.org/officeDocument/2006/relationships/image" Target="../media/image183.png"/><Relationship Id="rId3" Type="http://schemas.openxmlformats.org/officeDocument/2006/relationships/image" Target="../media/image184.png"/><Relationship Id="rId4" Type="http://schemas.openxmlformats.org/officeDocument/2006/relationships/image" Target="../media/image185.png"/><Relationship Id="rId5" Type="http://schemas.openxmlformats.org/officeDocument/2006/relationships/image" Target="../media/image186.png"/><Relationship Id="rId6" Type="http://schemas.openxmlformats.org/officeDocument/2006/relationships/image" Target="../media/image187.png"/><Relationship Id="rId7" Type="http://schemas.openxmlformats.org/officeDocument/2006/relationships/image" Target="../media/image188.png"/><Relationship Id="rId8" Type="http://schemas.openxmlformats.org/officeDocument/2006/relationships/image" Target="../media/image189.png"/><Relationship Id="rId9" Type="http://schemas.openxmlformats.org/officeDocument/2006/relationships/image" Target="../media/image190.png"/><Relationship Id="rId10" Type="http://schemas.openxmlformats.org/officeDocument/2006/relationships/image" Target="../media/image191.png"/><Relationship Id="rId11" Type="http://schemas.openxmlformats.org/officeDocument/2006/relationships/image" Target="../media/image192.png"/><Relationship Id="rId12" Type="http://schemas.openxmlformats.org/officeDocument/2006/relationships/image" Target="../media/image193.png"/><Relationship Id="rId13" Type="http://schemas.openxmlformats.org/officeDocument/2006/relationships/image" Target="../media/image194.png"/><Relationship Id="rId14" Type="http://schemas.openxmlformats.org/officeDocument/2006/relationships/image" Target="../media/image195.png"/><Relationship Id="rId15" Type="http://schemas.openxmlformats.org/officeDocument/2006/relationships/image" Target="../media/image196.png"/><Relationship Id="rId16" Type="http://schemas.openxmlformats.org/officeDocument/2006/relationships/image" Target="../media/image197.png"/></Relationships>
</file>

<file path=ppt/charts/_rels/chart32.xml.rels><?xml version='1.0' encoding='UTF-8' standalone='yes'?>
<Relationships xmlns="http://schemas.openxmlformats.org/package/2006/relationships"><Relationship Id="rId2" Type="http://schemas.openxmlformats.org/officeDocument/2006/relationships/image" Target="../media/image198.png"/><Relationship Id="rId3" Type="http://schemas.openxmlformats.org/officeDocument/2006/relationships/image" Target="../media/image199.png"/><Relationship Id="rId4" Type="http://schemas.openxmlformats.org/officeDocument/2006/relationships/image" Target="../media/image200.png"/><Relationship Id="rId5" Type="http://schemas.openxmlformats.org/officeDocument/2006/relationships/image" Target="../media/image201.png"/><Relationship Id="rId6" Type="http://schemas.openxmlformats.org/officeDocument/2006/relationships/image" Target="../media/image202.png"/><Relationship Id="rId7" Type="http://schemas.openxmlformats.org/officeDocument/2006/relationships/image" Target="../media/image203.png"/><Relationship Id="rId8" Type="http://schemas.openxmlformats.org/officeDocument/2006/relationships/image" Target="../media/image204.png"/><Relationship Id="rId9" Type="http://schemas.openxmlformats.org/officeDocument/2006/relationships/image" Target="../media/image205.png"/><Relationship Id="rId10" Type="http://schemas.openxmlformats.org/officeDocument/2006/relationships/image" Target="../media/image206.png"/></Relationships>
</file>

<file path=ppt/charts/_rels/chart33.xml.rels><?xml version='1.0' encoding='UTF-8' standalone='yes'?>
<Relationships xmlns="http://schemas.openxmlformats.org/package/2006/relationships"><Relationship Id="rId2" Type="http://schemas.openxmlformats.org/officeDocument/2006/relationships/image" Target="../media/image216.png"/><Relationship Id="rId3" Type="http://schemas.openxmlformats.org/officeDocument/2006/relationships/image" Target="../media/image217.png"/><Relationship Id="rId4" Type="http://schemas.openxmlformats.org/officeDocument/2006/relationships/image" Target="../media/image218.png"/><Relationship Id="rId5" Type="http://schemas.openxmlformats.org/officeDocument/2006/relationships/image" Target="../media/image219.png"/><Relationship Id="rId6" Type="http://schemas.openxmlformats.org/officeDocument/2006/relationships/image" Target="../media/image220.png"/><Relationship Id="rId7" Type="http://schemas.openxmlformats.org/officeDocument/2006/relationships/image" Target="../media/image221.png"/><Relationship Id="rId8" Type="http://schemas.openxmlformats.org/officeDocument/2006/relationships/image" Target="../media/image222.png"/><Relationship Id="rId9" Type="http://schemas.openxmlformats.org/officeDocument/2006/relationships/image" Target="../media/image223.png"/><Relationship Id="rId10" Type="http://schemas.openxmlformats.org/officeDocument/2006/relationships/image" Target="../media/image224.png"/><Relationship Id="rId11" Type="http://schemas.openxmlformats.org/officeDocument/2006/relationships/image" Target="../media/image225.png"/><Relationship Id="rId12" Type="http://schemas.openxmlformats.org/officeDocument/2006/relationships/image" Target="../media/image226.png"/><Relationship Id="rId13" Type="http://schemas.openxmlformats.org/officeDocument/2006/relationships/image" Target="../media/image227.png"/><Relationship Id="rId14" Type="http://schemas.openxmlformats.org/officeDocument/2006/relationships/image" Target="../media/image228.png"/><Relationship Id="rId15" Type="http://schemas.openxmlformats.org/officeDocument/2006/relationships/image" Target="../media/image229.png"/><Relationship Id="rId16" Type="http://schemas.openxmlformats.org/officeDocument/2006/relationships/image" Target="../media/image230.png"/><Relationship Id="rId17" Type="http://schemas.openxmlformats.org/officeDocument/2006/relationships/image" Target="../media/image231.png"/><Relationship Id="rId18" Type="http://schemas.openxmlformats.org/officeDocument/2006/relationships/image" Target="../media/image232.png"/><Relationship Id="rId19" Type="http://schemas.openxmlformats.org/officeDocument/2006/relationships/image" Target="../media/image233.png"/></Relationships>
</file>

<file path=ppt/charts/_rels/chart38.xml.rels><?xml version='1.0' encoding='UTF-8' standalone='yes'?>
<Relationships xmlns="http://schemas.openxmlformats.org/package/2006/relationships"><Relationship Id="rId2" Type="http://schemas.openxmlformats.org/officeDocument/2006/relationships/image" Target="../media/image234.png"/><Relationship Id="rId3" Type="http://schemas.openxmlformats.org/officeDocument/2006/relationships/image" Target="../media/image235.png"/><Relationship Id="rId4" Type="http://schemas.openxmlformats.org/officeDocument/2006/relationships/image" Target="../media/image236.png"/><Relationship Id="rId5" Type="http://schemas.openxmlformats.org/officeDocument/2006/relationships/image" Target="../media/image237.png"/><Relationship Id="rId6" Type="http://schemas.openxmlformats.org/officeDocument/2006/relationships/image" Target="../media/image238.png"/><Relationship Id="rId7" Type="http://schemas.openxmlformats.org/officeDocument/2006/relationships/image" Target="../media/image239.png"/><Relationship Id="rId8" Type="http://schemas.openxmlformats.org/officeDocument/2006/relationships/image" Target="../media/image240.png"/><Relationship Id="rId9" Type="http://schemas.openxmlformats.org/officeDocument/2006/relationships/image" Target="../media/image241.png"/><Relationship Id="rId10" Type="http://schemas.openxmlformats.org/officeDocument/2006/relationships/image" Target="../media/image242.png"/></Relationships>
</file>

<file path=ppt/charts/_rels/chart39.xml.rels><?xml version='1.0' encoding='UTF-8' standalone='yes'?>
<Relationships xmlns="http://schemas.openxmlformats.org/package/2006/relationships"><Relationship Id="rId2"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image" Target="../media/image253.png"/><Relationship Id="rId5" Type="http://schemas.openxmlformats.org/officeDocument/2006/relationships/image" Target="../media/image254.png"/><Relationship Id="rId6" Type="http://schemas.openxmlformats.org/officeDocument/2006/relationships/image" Target="../media/image255.png"/><Relationship Id="rId7" Type="http://schemas.openxmlformats.org/officeDocument/2006/relationships/image" Target="../media/image256.png"/><Relationship Id="rId8" Type="http://schemas.openxmlformats.org/officeDocument/2006/relationships/image" Target="../media/image257.png"/><Relationship Id="rId9" Type="http://schemas.openxmlformats.org/officeDocument/2006/relationships/image" Target="../media/image258.png"/><Relationship Id="rId10" Type="http://schemas.openxmlformats.org/officeDocument/2006/relationships/image" Target="../media/image259.png"/><Relationship Id="rId11" Type="http://schemas.openxmlformats.org/officeDocument/2006/relationships/image" Target="../media/image260.png"/><Relationship Id="rId12" Type="http://schemas.openxmlformats.org/officeDocument/2006/relationships/image" Target="../media/image261.png"/><Relationship Id="rId13" Type="http://schemas.openxmlformats.org/officeDocument/2006/relationships/image" Target="../media/image262.png"/><Relationship Id="rId14" Type="http://schemas.openxmlformats.org/officeDocument/2006/relationships/image" Target="../media/image263.png"/><Relationship Id="rId15" Type="http://schemas.openxmlformats.org/officeDocument/2006/relationships/image" Target="../media/image264.png"/><Relationship Id="rId16" Type="http://schemas.openxmlformats.org/officeDocument/2006/relationships/image" Target="../media/image265.png"/><Relationship Id="rId17" Type="http://schemas.openxmlformats.org/officeDocument/2006/relationships/image" Target="../media/image266.png"/><Relationship Id="rId18" Type="http://schemas.openxmlformats.org/officeDocument/2006/relationships/image" Target="../media/image267.png"/></Relationships>
</file>

<file path=ppt/charts/_rels/chart44.xml.rels><?xml version='1.0' encoding='UTF-8' standalone='yes'?>
<Relationships xmlns="http://schemas.openxmlformats.org/package/2006/relationships"><Relationship Id="rId2" Type="http://schemas.openxmlformats.org/officeDocument/2006/relationships/image" Target="../media/image268.png"/><Relationship Id="rId3" Type="http://schemas.openxmlformats.org/officeDocument/2006/relationships/image" Target="../media/image269.png"/><Relationship Id="rId4" Type="http://schemas.openxmlformats.org/officeDocument/2006/relationships/image" Target="../media/image270.png"/><Relationship Id="rId5" Type="http://schemas.openxmlformats.org/officeDocument/2006/relationships/image" Target="../media/image271.png"/><Relationship Id="rId6" Type="http://schemas.openxmlformats.org/officeDocument/2006/relationships/image" Target="../media/image272.png"/><Relationship Id="rId7" Type="http://schemas.openxmlformats.org/officeDocument/2006/relationships/image" Target="../media/image273.png"/><Relationship Id="rId8" Type="http://schemas.openxmlformats.org/officeDocument/2006/relationships/image" Target="../media/image274.png"/><Relationship Id="rId9" Type="http://schemas.openxmlformats.org/officeDocument/2006/relationships/image" Target="../media/image275.png"/><Relationship Id="rId10" Type="http://schemas.openxmlformats.org/officeDocument/2006/relationships/image" Target="../media/image276.png"/></Relationships>
</file>

<file path=ppt/charts/_rels/chart45.xml.rels><?xml version='1.0' encoding='UTF-8' standalone='yes'?>
<Relationships xmlns="http://schemas.openxmlformats.org/package/2006/relationships"><Relationship Id="rId2" Type="http://schemas.openxmlformats.org/officeDocument/2006/relationships/image" Target="../media/image291.png"/><Relationship Id="rId3" Type="http://schemas.openxmlformats.org/officeDocument/2006/relationships/image" Target="../media/image292.png"/><Relationship Id="rId4" Type="http://schemas.openxmlformats.org/officeDocument/2006/relationships/image" Target="../media/image293.png"/><Relationship Id="rId5" Type="http://schemas.openxmlformats.org/officeDocument/2006/relationships/image" Target="../media/image294.png"/><Relationship Id="rId6" Type="http://schemas.openxmlformats.org/officeDocument/2006/relationships/image" Target="../media/image295.png"/><Relationship Id="rId7" Type="http://schemas.openxmlformats.org/officeDocument/2006/relationships/image" Target="../media/image296.png"/><Relationship Id="rId8" Type="http://schemas.openxmlformats.org/officeDocument/2006/relationships/image" Target="../media/image297.png"/><Relationship Id="rId9" Type="http://schemas.openxmlformats.org/officeDocument/2006/relationships/image" Target="../media/image298.png"/><Relationship Id="rId10" Type="http://schemas.openxmlformats.org/officeDocument/2006/relationships/image" Target="../media/image299.png"/><Relationship Id="rId11" Type="http://schemas.openxmlformats.org/officeDocument/2006/relationships/image" Target="../media/image300.png"/><Relationship Id="rId12" Type="http://schemas.openxmlformats.org/officeDocument/2006/relationships/image" Target="../media/image301.png"/><Relationship Id="rId13" Type="http://schemas.openxmlformats.org/officeDocument/2006/relationships/image" Target="../media/image302.png"/><Relationship Id="rId14" Type="http://schemas.openxmlformats.org/officeDocument/2006/relationships/image" Target="../media/image303.png"/><Relationship Id="rId15" Type="http://schemas.openxmlformats.org/officeDocument/2006/relationships/image" Target="../media/image304.png"/><Relationship Id="rId16" Type="http://schemas.openxmlformats.org/officeDocument/2006/relationships/image" Target="../media/image305.png"/><Relationship Id="rId17" Type="http://schemas.openxmlformats.org/officeDocument/2006/relationships/image" Target="../media/image306.png"/><Relationship Id="rId18" Type="http://schemas.openxmlformats.org/officeDocument/2006/relationships/image" Target="../media/image307.png"/><Relationship Id="rId19" Type="http://schemas.openxmlformats.org/officeDocument/2006/relationships/image" Target="../media/image308.png"/><Relationship Id="rId20" Type="http://schemas.openxmlformats.org/officeDocument/2006/relationships/image" Target="../media/image309.png"/><Relationship Id="rId21" Type="http://schemas.openxmlformats.org/officeDocument/2006/relationships/image" Target="../media/image310.png"/><Relationship Id="rId22" Type="http://schemas.openxmlformats.org/officeDocument/2006/relationships/image" Target="../media/image311.png"/><Relationship Id="rId23" Type="http://schemas.openxmlformats.org/officeDocument/2006/relationships/image" Target="../media/image312.png"/><Relationship Id="rId24" Type="http://schemas.openxmlformats.org/officeDocument/2006/relationships/image" Target="../media/image313.png"/><Relationship Id="rId25" Type="http://schemas.openxmlformats.org/officeDocument/2006/relationships/image" Target="../media/image314.png"/><Relationship Id="rId26" Type="http://schemas.openxmlformats.org/officeDocument/2006/relationships/image" Target="../media/image315.png"/><Relationship Id="rId27" Type="http://schemas.openxmlformats.org/officeDocument/2006/relationships/image" Target="../media/image316.png"/><Relationship Id="rId28" Type="http://schemas.openxmlformats.org/officeDocument/2006/relationships/image" Target="../media/image317.png"/><Relationship Id="rId29" Type="http://schemas.openxmlformats.org/officeDocument/2006/relationships/image" Target="../media/image318.png"/><Relationship Id="rId30" Type="http://schemas.openxmlformats.org/officeDocument/2006/relationships/image" Target="../media/image319.png"/><Relationship Id="rId31" Type="http://schemas.openxmlformats.org/officeDocument/2006/relationships/image" Target="../media/image320.png"/></Relationships>
</file>

<file path=ppt/charts/_rels/chart52.xml.rels><?xml version='1.0' encoding='UTF-8' standalone='yes'?>
<Relationships xmlns="http://schemas.openxmlformats.org/package/2006/relationships"><Relationship Id="rId2" Type="http://schemas.openxmlformats.org/officeDocument/2006/relationships/image" Target="../media/image321.png"/><Relationship Id="rId3" Type="http://schemas.openxmlformats.org/officeDocument/2006/relationships/image" Target="../media/image322.png"/><Relationship Id="rId4" Type="http://schemas.openxmlformats.org/officeDocument/2006/relationships/image" Target="../media/image323.png"/><Relationship Id="rId5" Type="http://schemas.openxmlformats.org/officeDocument/2006/relationships/image" Target="../media/image324.png"/><Relationship Id="rId6" Type="http://schemas.openxmlformats.org/officeDocument/2006/relationships/image" Target="../media/image325.png"/><Relationship Id="rId7" Type="http://schemas.openxmlformats.org/officeDocument/2006/relationships/image" Target="../media/image326.png"/><Relationship Id="rId8" Type="http://schemas.openxmlformats.org/officeDocument/2006/relationships/image" Target="../media/image327.png"/><Relationship Id="rId9" Type="http://schemas.openxmlformats.org/officeDocument/2006/relationships/image" Target="../media/image328.png"/><Relationship Id="rId10" Type="http://schemas.openxmlformats.org/officeDocument/2006/relationships/image" Target="../media/image329.png"/><Relationship Id="rId11" Type="http://schemas.openxmlformats.org/officeDocument/2006/relationships/image" Target="../media/image330.png"/><Relationship Id="rId12" Type="http://schemas.openxmlformats.org/officeDocument/2006/relationships/image" Target="../media/image331.png"/><Relationship Id="rId13" Type="http://schemas.openxmlformats.org/officeDocument/2006/relationships/image" Target="../media/image332.png"/><Relationship Id="rId14" Type="http://schemas.openxmlformats.org/officeDocument/2006/relationships/image" Target="../media/image333.png"/><Relationship Id="rId15" Type="http://schemas.openxmlformats.org/officeDocument/2006/relationships/image" Target="../media/image334.png"/><Relationship Id="rId16" Type="http://schemas.openxmlformats.org/officeDocument/2006/relationships/image" Target="../media/image335.png"/></Relationships>
</file>

<file path=ppt/charts/_rels/chart56.xml.rels><?xml version='1.0' encoding='UTF-8' standalone='yes'?>
<Relationships xmlns="http://schemas.openxmlformats.org/package/2006/relationships"><Relationship Id="rId2" Type="http://schemas.openxmlformats.org/officeDocument/2006/relationships/image" Target="../media/image336.png"/></Relationships>
</file>

<file path=ppt/charts/_rels/chart58.xml.rels><?xml version='1.0' encoding='UTF-8' standalone='yes'?>
<Relationships xmlns="http://schemas.openxmlformats.org/package/2006/relationships"><Relationship Id="rId2" Type="http://schemas.openxmlformats.org/officeDocument/2006/relationships/image" Target="../media/image337.png"/></Relationships>
</file>

<file path=ppt/charts/_rels/chart60.xml.rels><?xml version='1.0' encoding='UTF-8' standalone='yes'?>
<Relationships xmlns="http://schemas.openxmlformats.org/package/2006/relationships"><Relationship Id="rId2" Type="http://schemas.openxmlformats.org/officeDocument/2006/relationships/image" Target="../media/image338.png"/><Relationship Id="rId3" Type="http://schemas.openxmlformats.org/officeDocument/2006/relationships/image" Target="../media/image339.png"/><Relationship Id="rId4" Type="http://schemas.openxmlformats.org/officeDocument/2006/relationships/image" Target="../media/image340.png"/><Relationship Id="rId5" Type="http://schemas.openxmlformats.org/officeDocument/2006/relationships/image" Target="../media/image341.png"/><Relationship Id="rId6" Type="http://schemas.openxmlformats.org/officeDocument/2006/relationships/image" Target="../media/image342.png"/><Relationship Id="rId7" Type="http://schemas.openxmlformats.org/officeDocument/2006/relationships/image" Target="../media/image343.png"/><Relationship Id="rId8" Type="http://schemas.openxmlformats.org/officeDocument/2006/relationships/image" Target="../media/image344.png"/><Relationship Id="rId9" Type="http://schemas.openxmlformats.org/officeDocument/2006/relationships/image" Target="../media/image345.png"/><Relationship Id="rId10" Type="http://schemas.openxmlformats.org/officeDocument/2006/relationships/image" Target="../media/image346.png"/><Relationship Id="rId11" Type="http://schemas.openxmlformats.org/officeDocument/2006/relationships/image" Target="../media/image347.png"/></Relationships>
</file>

<file path=ppt/charts/_rels/chart61.xml.rels><?xml version='1.0' encoding='UTF-8' standalone='yes'?>
<Relationships xmlns="http://schemas.openxmlformats.org/package/2006/relationships"><Relationship Id="rId2" Type="http://schemas.openxmlformats.org/officeDocument/2006/relationships/image" Target="../media/image348.png"/><Relationship Id="rId3" Type="http://schemas.openxmlformats.org/officeDocument/2006/relationships/image" Target="../media/image349.png"/><Relationship Id="rId4" Type="http://schemas.openxmlformats.org/officeDocument/2006/relationships/image" Target="../media/image350.png"/><Relationship Id="rId5" Type="http://schemas.openxmlformats.org/officeDocument/2006/relationships/image" Target="../media/image351.png"/><Relationship Id="rId6" Type="http://schemas.openxmlformats.org/officeDocument/2006/relationships/image" Target="../media/image352.png"/><Relationship Id="rId7" Type="http://schemas.openxmlformats.org/officeDocument/2006/relationships/image" Target="../media/image353.png"/><Relationship Id="rId8" Type="http://schemas.openxmlformats.org/officeDocument/2006/relationships/image" Target="../media/image354.png"/><Relationship Id="rId9" Type="http://schemas.openxmlformats.org/officeDocument/2006/relationships/image" Target="../media/image355.png"/><Relationship Id="rId10" Type="http://schemas.openxmlformats.org/officeDocument/2006/relationships/image" Target="../media/image356.png"/><Relationship Id="rId11" Type="http://schemas.openxmlformats.org/officeDocument/2006/relationships/image" Target="../media/image357.png"/><Relationship Id="rId12" Type="http://schemas.openxmlformats.org/officeDocument/2006/relationships/image" Target="../media/image358.png"/><Relationship Id="rId13" Type="http://schemas.openxmlformats.org/officeDocument/2006/relationships/image" Target="../media/image359.png"/><Relationship Id="rId14" Type="http://schemas.openxmlformats.org/officeDocument/2006/relationships/image" Target="../media/image360.png"/><Relationship Id="rId15" Type="http://schemas.openxmlformats.org/officeDocument/2006/relationships/image" Target="../media/image361.png"/><Relationship Id="rId16" Type="http://schemas.openxmlformats.org/officeDocument/2006/relationships/image" Target="../media/image362.png"/><Relationship Id="rId17" Type="http://schemas.openxmlformats.org/officeDocument/2006/relationships/image" Target="../media/image363.png"/><Relationship Id="rId18" Type="http://schemas.openxmlformats.org/officeDocument/2006/relationships/image" Target="../media/image364.png"/><Relationship Id="rId19" Type="http://schemas.openxmlformats.org/officeDocument/2006/relationships/image" Target="../media/image365.png"/><Relationship Id="rId20" Type="http://schemas.openxmlformats.org/officeDocument/2006/relationships/image" Target="../media/image366.png"/><Relationship Id="rId21" Type="http://schemas.openxmlformats.org/officeDocument/2006/relationships/image" Target="../media/image367.png"/><Relationship Id="rId22" Type="http://schemas.openxmlformats.org/officeDocument/2006/relationships/image" Target="../media/image368.png"/><Relationship Id="rId23" Type="http://schemas.openxmlformats.org/officeDocument/2006/relationships/image" Target="../media/image369.png"/></Relationships>
</file>

<file path=ppt/charts/_rels/chart62.xml.rels><?xml version='1.0' encoding='UTF-8' standalone='yes'?>
<Relationships xmlns="http://schemas.openxmlformats.org/package/2006/relationships"><Relationship Id="rId2" Type="http://schemas.openxmlformats.org/officeDocument/2006/relationships/image" Target="../media/image370.png"/><Relationship Id="rId3" Type="http://schemas.openxmlformats.org/officeDocument/2006/relationships/image" Target="../media/image371.png"/></Relationships>
</file>

<file path=ppt/charts/_rels/chart63.xml.rels><?xml version='1.0' encoding='UTF-8' standalone='yes'?>
<Relationships xmlns="http://schemas.openxmlformats.org/package/2006/relationships"><Relationship Id="rId2" Type="http://schemas.openxmlformats.org/officeDocument/2006/relationships/image" Target="../media/image372.png"/><Relationship Id="rId3" Type="http://schemas.openxmlformats.org/officeDocument/2006/relationships/image" Target="../media/image373.png"/></Relationships>
</file>

<file path=ppt/charts/_rels/chart64.xml.rels><?xml version='1.0' encoding='UTF-8' standalone='yes'?>
<Relationships xmlns="http://schemas.openxmlformats.org/package/2006/relationships"><Relationship Id="rId2" Type="http://schemas.openxmlformats.org/officeDocument/2006/relationships/image" Target="../media/image374.png"/><Relationship Id="rId3" Type="http://schemas.openxmlformats.org/officeDocument/2006/relationships/image" Target="../media/image375.png"/><Relationship Id="rId4" Type="http://schemas.openxmlformats.org/officeDocument/2006/relationships/image" Target="../media/image376.png"/></Relationships>
</file>

<file path=ppt/charts/_rels/chart66.xml.rels><?xml version='1.0' encoding='UTF-8' standalone='yes'?>
<Relationships xmlns="http://schemas.openxmlformats.org/package/2006/relationships"><Relationship Id="rId2" Type="http://schemas.openxmlformats.org/officeDocument/2006/relationships/image" Target="../media/image377.png"/><Relationship Id="rId3" Type="http://schemas.openxmlformats.org/officeDocument/2006/relationships/image" Target="../media/image378.png"/><Relationship Id="rId4" Type="http://schemas.openxmlformats.org/officeDocument/2006/relationships/image" Target="../media/image379.png"/><Relationship Id="rId5" Type="http://schemas.openxmlformats.org/officeDocument/2006/relationships/image" Target="../media/image380.png"/></Relationships>
</file>

<file path=ppt/charts/_rels/chart67.xml.rels><?xml version='1.0' encoding='UTF-8' standalone='yes'?>
<Relationships xmlns="http://schemas.openxmlformats.org/package/2006/relationships"><Relationship Id="rId2" Type="http://schemas.openxmlformats.org/officeDocument/2006/relationships/image" Target="../media/image381.png"/><Relationship Id="rId3" Type="http://schemas.openxmlformats.org/officeDocument/2006/relationships/image" Target="../media/image382.png"/><Relationship Id="rId4" Type="http://schemas.openxmlformats.org/officeDocument/2006/relationships/image" Target="../media/image383.png"/><Relationship Id="rId5" Type="http://schemas.openxmlformats.org/officeDocument/2006/relationships/image" Target="../media/image384.png"/></Relationships>
</file>

<file path=ppt/charts/_rels/chart68.xml.rels><?xml version='1.0' encoding='UTF-8' standalone='yes'?>
<Relationships xmlns="http://schemas.openxmlformats.org/package/2006/relationships"><Relationship Id="rId2" Type="http://schemas.openxmlformats.org/officeDocument/2006/relationships/image" Target="../media/image385.png"/><Relationship Id="rId3" Type="http://schemas.openxmlformats.org/officeDocument/2006/relationships/image" Target="../media/image386.png"/><Relationship Id="rId4" Type="http://schemas.openxmlformats.org/officeDocument/2006/relationships/image" Target="../media/image387.png"/><Relationship Id="rId5" Type="http://schemas.openxmlformats.org/officeDocument/2006/relationships/image" Target="../media/image388.png"/><Relationship Id="rId6" Type="http://schemas.openxmlformats.org/officeDocument/2006/relationships/image" Target="../media/image389.png"/><Relationship Id="rId7" Type="http://schemas.openxmlformats.org/officeDocument/2006/relationships/image" Target="../media/image390.png"/><Relationship Id="rId8" Type="http://schemas.openxmlformats.org/officeDocument/2006/relationships/image" Target="../media/image391.png"/><Relationship Id="rId9" Type="http://schemas.openxmlformats.org/officeDocument/2006/relationships/image" Target="../media/image392.png"/><Relationship Id="rId10" Type="http://schemas.openxmlformats.org/officeDocument/2006/relationships/image" Target="../media/image393.png"/><Relationship Id="rId11" Type="http://schemas.openxmlformats.org/officeDocument/2006/relationships/image" Target="../media/image394.png"/><Relationship Id="rId12" Type="http://schemas.openxmlformats.org/officeDocument/2006/relationships/image" Target="../media/image395.png"/><Relationship Id="rId13" Type="http://schemas.openxmlformats.org/officeDocument/2006/relationships/image" Target="../media/image396.png"/><Relationship Id="rId14" Type="http://schemas.openxmlformats.org/officeDocument/2006/relationships/image" Target="../media/image397.png"/><Relationship Id="rId15" Type="http://schemas.openxmlformats.org/officeDocument/2006/relationships/image" Target="../media/image398.png"/><Relationship Id="rId16" Type="http://schemas.openxmlformats.org/officeDocument/2006/relationships/image" Target="../media/image399.png"/><Relationship Id="rId17" Type="http://schemas.openxmlformats.org/officeDocument/2006/relationships/image" Target="../media/image400.png"/><Relationship Id="rId18" Type="http://schemas.openxmlformats.org/officeDocument/2006/relationships/image" Target="../media/image401.png"/><Relationship Id="rId19" Type="http://schemas.openxmlformats.org/officeDocument/2006/relationships/image" Target="../media/image402.png"/><Relationship Id="rId20" Type="http://schemas.openxmlformats.org/officeDocument/2006/relationships/image" Target="../media/image403.png"/><Relationship Id="rId21" Type="http://schemas.openxmlformats.org/officeDocument/2006/relationships/image" Target="../media/image404.png"/><Relationship Id="rId22" Type="http://schemas.openxmlformats.org/officeDocument/2006/relationships/image" Target="../media/image405.png"/><Relationship Id="rId23" Type="http://schemas.openxmlformats.org/officeDocument/2006/relationships/image" Target="../media/image406.png"/><Relationship Id="rId24" Type="http://schemas.openxmlformats.org/officeDocument/2006/relationships/image" Target="../media/image407.png"/><Relationship Id="rId25" Type="http://schemas.openxmlformats.org/officeDocument/2006/relationships/image" Target="../media/image408.png"/><Relationship Id="rId26" Type="http://schemas.openxmlformats.org/officeDocument/2006/relationships/image" Target="../media/image409.png"/><Relationship Id="rId27" Type="http://schemas.openxmlformats.org/officeDocument/2006/relationships/image" Target="../media/image410.png"/><Relationship Id="rId28" Type="http://schemas.openxmlformats.org/officeDocument/2006/relationships/image" Target="../media/image411.png"/><Relationship Id="rId29" Type="http://schemas.openxmlformats.org/officeDocument/2006/relationships/image" Target="../media/image412.png"/><Relationship Id="rId30" Type="http://schemas.openxmlformats.org/officeDocument/2006/relationships/image" Target="../media/image413.png"/><Relationship Id="rId31" Type="http://schemas.openxmlformats.org/officeDocument/2006/relationships/image" Target="../media/image414.png"/><Relationship Id="rId32" Type="http://schemas.openxmlformats.org/officeDocument/2006/relationships/image" Target="../media/image415.png"/><Relationship Id="rId33" Type="http://schemas.openxmlformats.org/officeDocument/2006/relationships/image" Target="../media/image416.png"/></Relationships>
</file>

<file path=ppt/charts/_rels/chart69.xml.rels><?xml version='1.0' encoding='UTF-8' standalone='yes'?>
<Relationships xmlns="http://schemas.openxmlformats.org/package/2006/relationships"><Relationship Id="rId2" Type="http://schemas.openxmlformats.org/officeDocument/2006/relationships/image" Target="../media/image417.png"/><Relationship Id="rId3" Type="http://schemas.openxmlformats.org/officeDocument/2006/relationships/image" Target="../media/image418.png"/><Relationship Id="rId4" Type="http://schemas.openxmlformats.org/officeDocument/2006/relationships/image" Target="../media/image419.png"/><Relationship Id="rId5" Type="http://schemas.openxmlformats.org/officeDocument/2006/relationships/image" Target="../media/image420.png"/><Relationship Id="rId6" Type="http://schemas.openxmlformats.org/officeDocument/2006/relationships/image" Target="../media/image421.png"/><Relationship Id="rId7" Type="http://schemas.openxmlformats.org/officeDocument/2006/relationships/image" Target="../media/image422.png"/><Relationship Id="rId8" Type="http://schemas.openxmlformats.org/officeDocument/2006/relationships/image" Target="../media/image423.png"/><Relationship Id="rId9" Type="http://schemas.openxmlformats.org/officeDocument/2006/relationships/image" Target="../media/image424.png"/><Relationship Id="rId10" Type="http://schemas.openxmlformats.org/officeDocument/2006/relationships/image" Target="../media/image425.png"/><Relationship Id="rId11" Type="http://schemas.openxmlformats.org/officeDocument/2006/relationships/image" Target="../media/image426.png"/><Relationship Id="rId12" Type="http://schemas.openxmlformats.org/officeDocument/2006/relationships/image" Target="../media/image427.png"/><Relationship Id="rId13" Type="http://schemas.openxmlformats.org/officeDocument/2006/relationships/image" Target="../media/image428.png"/><Relationship Id="rId14" Type="http://schemas.openxmlformats.org/officeDocument/2006/relationships/image" Target="../media/image429.png"/><Relationship Id="rId15" Type="http://schemas.openxmlformats.org/officeDocument/2006/relationships/image" Target="../media/image430.png"/><Relationship Id="rId16" Type="http://schemas.openxmlformats.org/officeDocument/2006/relationships/image" Target="../media/image431.png"/><Relationship Id="rId17" Type="http://schemas.openxmlformats.org/officeDocument/2006/relationships/image" Target="../media/image432.png"/><Relationship Id="rId18" Type="http://schemas.openxmlformats.org/officeDocument/2006/relationships/image" Target="../media/image433.png"/><Relationship Id="rId19" Type="http://schemas.openxmlformats.org/officeDocument/2006/relationships/image" Target="../media/image434.png"/><Relationship Id="rId20" Type="http://schemas.openxmlformats.org/officeDocument/2006/relationships/image" Target="../media/image435.png"/><Relationship Id="rId21" Type="http://schemas.openxmlformats.org/officeDocument/2006/relationships/image" Target="../media/image436.png"/><Relationship Id="rId22" Type="http://schemas.openxmlformats.org/officeDocument/2006/relationships/image" Target="../media/image437.png"/><Relationship Id="rId23" Type="http://schemas.openxmlformats.org/officeDocument/2006/relationships/image" Target="../media/image438.png"/><Relationship Id="rId24" Type="http://schemas.openxmlformats.org/officeDocument/2006/relationships/image" Target="../media/image439.png"/><Relationship Id="rId25" Type="http://schemas.openxmlformats.org/officeDocument/2006/relationships/image" Target="../media/image440.png"/><Relationship Id="rId26" Type="http://schemas.openxmlformats.org/officeDocument/2006/relationships/image" Target="../media/image441.png"/><Relationship Id="rId27" Type="http://schemas.openxmlformats.org/officeDocument/2006/relationships/image" Target="../media/image442.png"/><Relationship Id="rId28" Type="http://schemas.openxmlformats.org/officeDocument/2006/relationships/image" Target="../media/image443.png"/><Relationship Id="rId29" Type="http://schemas.openxmlformats.org/officeDocument/2006/relationships/image" Target="../media/image444.png"/><Relationship Id="rId30" Type="http://schemas.openxmlformats.org/officeDocument/2006/relationships/image" Target="../media/image445.png"/><Relationship Id="rId31" Type="http://schemas.openxmlformats.org/officeDocument/2006/relationships/image" Target="../media/image446.png"/><Relationship Id="rId32" Type="http://schemas.openxmlformats.org/officeDocument/2006/relationships/image" Target="../media/image447.png"/><Relationship Id="rId33" Type="http://schemas.openxmlformats.org/officeDocument/2006/relationships/image" Target="../media/image448.png"/></Relationships>
</file>

<file path=ppt/charts/_rels/chart70.xml.rels><?xml version='1.0' encoding='UTF-8' standalone='yes'?>
<Relationships xmlns="http://schemas.openxmlformats.org/package/2006/relationships"><Relationship Id="rId2" Type="http://schemas.openxmlformats.org/officeDocument/2006/relationships/image" Target="../media/image455.png"/><Relationship Id="rId3" Type="http://schemas.openxmlformats.org/officeDocument/2006/relationships/image" Target="../media/image456.png"/><Relationship Id="rId4" Type="http://schemas.openxmlformats.org/officeDocument/2006/relationships/image" Target="../media/image457.png"/><Relationship Id="rId5" Type="http://schemas.openxmlformats.org/officeDocument/2006/relationships/image" Target="../media/image458.png"/><Relationship Id="rId6" Type="http://schemas.openxmlformats.org/officeDocument/2006/relationships/image" Target="../media/image459.png"/><Relationship Id="rId7" Type="http://schemas.openxmlformats.org/officeDocument/2006/relationships/image" Target="../media/image460.png"/></Relationships>
</file>

<file path=ppt/charts/_rels/chart75.xml.rels><?xml version='1.0' encoding='UTF-8' standalone='yes'?>
<Relationships xmlns="http://schemas.openxmlformats.org/package/2006/relationships"><Relationship Id="rId2" Type="http://schemas.openxmlformats.org/officeDocument/2006/relationships/image" Target="../media/image461.png"/><Relationship Id="rId3" Type="http://schemas.openxmlformats.org/officeDocument/2006/relationships/image" Target="../media/image462.png"/><Relationship Id="rId4" Type="http://schemas.openxmlformats.org/officeDocument/2006/relationships/image" Target="../media/image463.png"/><Relationship Id="rId5" Type="http://schemas.openxmlformats.org/officeDocument/2006/relationships/image" Target="../media/image464.png"/><Relationship Id="rId6" Type="http://schemas.openxmlformats.org/officeDocument/2006/relationships/image" Target="../media/image465.png"/><Relationship Id="rId7" Type="http://schemas.openxmlformats.org/officeDocument/2006/relationships/image" Target="../media/image466.png"/><Relationship Id="rId8" Type="http://schemas.openxmlformats.org/officeDocument/2006/relationships/image" Target="../media/image467.png"/><Relationship Id="rId9" Type="http://schemas.openxmlformats.org/officeDocument/2006/relationships/image" Target="../media/image468.png"/></Relationships>
</file>

<file path=ppt/charts/_rels/chart76.xml.rels><?xml version='1.0' encoding='UTF-8' standalone='yes'?>
<Relationships xmlns="http://schemas.openxmlformats.org/package/2006/relationships"><Relationship Id="rId2" Type="http://schemas.openxmlformats.org/officeDocument/2006/relationships/image" Target="../media/image476.png"/><Relationship Id="rId3" Type="http://schemas.openxmlformats.org/officeDocument/2006/relationships/image" Target="../media/image477.png"/><Relationship Id="rId4" Type="http://schemas.openxmlformats.org/officeDocument/2006/relationships/image" Target="../media/image478.png"/><Relationship Id="rId5" Type="http://schemas.openxmlformats.org/officeDocument/2006/relationships/image" Target="../media/image479.png"/><Relationship Id="rId6" Type="http://schemas.openxmlformats.org/officeDocument/2006/relationships/image" Target="../media/image480.png"/><Relationship Id="rId7" Type="http://schemas.openxmlformats.org/officeDocument/2006/relationships/image" Target="../media/image481.png"/></Relationships>
</file>

<file path=ppt/charts/_rels/chart81.xml.rels><?xml version='1.0' encoding='UTF-8' standalone='yes'?>
<Relationships xmlns="http://schemas.openxmlformats.org/package/2006/relationships"><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image" Target="../media/image487.png"/><Relationship Id="rId8" Type="http://schemas.openxmlformats.org/officeDocument/2006/relationships/image" Target="../media/image488.png"/><Relationship Id="rId9" Type="http://schemas.openxmlformats.org/officeDocument/2006/relationships/image" Target="../media/image489.png"/><Relationship Id="rId10" Type="http://schemas.openxmlformats.org/officeDocument/2006/relationships/image" Target="../media/image490.png"/></Relationships>
</file>

<file path=ppt/charts/_rels/chart82.xml.rels><?xml version='1.0' encoding='UTF-8' standalone='yes'?>
<Relationships xmlns="http://schemas.openxmlformats.org/package/2006/relationships"><Relationship Id="rId2" Type="http://schemas.openxmlformats.org/officeDocument/2006/relationships/image" Target="../media/image496.png"/><Relationship Id="rId3" Type="http://schemas.openxmlformats.org/officeDocument/2006/relationships/image" Target="../media/image497.png"/><Relationship Id="rId4" Type="http://schemas.openxmlformats.org/officeDocument/2006/relationships/image" Target="../media/image498.png"/><Relationship Id="rId5" Type="http://schemas.openxmlformats.org/officeDocument/2006/relationships/image" Target="../media/image499.png"/><Relationship Id="rId6" Type="http://schemas.openxmlformats.org/officeDocument/2006/relationships/image" Target="../media/image500.png"/><Relationship Id="rId7" Type="http://schemas.openxmlformats.org/officeDocument/2006/relationships/image" Target="../media/image501.png"/></Relationships>
</file>

<file path=ppt/charts/_rels/chart87.xml.rels><?xml version='1.0' encoding='UTF-8' standalone='yes'?>
<Relationships xmlns="http://schemas.openxmlformats.org/package/2006/relationships"><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image" Target="../media/image507.png"/><Relationship Id="rId8" Type="http://schemas.openxmlformats.org/officeDocument/2006/relationships/image" Target="../media/image508.png"/><Relationship Id="rId9" Type="http://schemas.openxmlformats.org/officeDocument/2006/relationships/image" Target="../media/image509.png"/><Relationship Id="rId10" Type="http://schemas.openxmlformats.org/officeDocument/2006/relationships/image" Target="../media/image510.png"/></Relationships>
</file>

<file path=ppt/charts/_rels/chart88.xml.rels><?xml version='1.0' encoding='UTF-8' standalone='yes'?>
<Relationships xmlns="http://schemas.openxmlformats.org/package/2006/relationships"><Relationship Id="rId2" Type="http://schemas.openxmlformats.org/officeDocument/2006/relationships/image" Target="../media/image519.png"/><Relationship Id="rId3" Type="http://schemas.openxmlformats.org/officeDocument/2006/relationships/image" Target="../media/image520.png"/><Relationship Id="rId4" Type="http://schemas.openxmlformats.org/officeDocument/2006/relationships/image" Target="../media/image521.png"/><Relationship Id="rId5" Type="http://schemas.openxmlformats.org/officeDocument/2006/relationships/image" Target="../media/image522.png"/><Relationship Id="rId6" Type="http://schemas.openxmlformats.org/officeDocument/2006/relationships/image" Target="../media/image523.png"/><Relationship Id="rId7" Type="http://schemas.openxmlformats.org/officeDocument/2006/relationships/image" Target="../media/image524.png"/></Relationships>
</file>

<file path=ppt/charts/_rels/chart93.xml.rels><?xml version='1.0' encoding='UTF-8' standalone='yes'?>
<Relationships xmlns="http://schemas.openxmlformats.org/package/2006/relationships"><Relationship Id="rId2" Type="http://schemas.openxmlformats.org/officeDocument/2006/relationships/image" Target="../media/image525.png"/><Relationship Id="rId3" Type="http://schemas.openxmlformats.org/officeDocument/2006/relationships/image" Target="../media/image526.png"/><Relationship Id="rId4" Type="http://schemas.openxmlformats.org/officeDocument/2006/relationships/image" Target="../media/image527.png"/><Relationship Id="rId5" Type="http://schemas.openxmlformats.org/officeDocument/2006/relationships/image" Target="../media/image528.png"/><Relationship Id="rId6" Type="http://schemas.openxmlformats.org/officeDocument/2006/relationships/image" Target="../media/image529.png"/><Relationship Id="rId7" Type="http://schemas.openxmlformats.org/officeDocument/2006/relationships/image" Target="../media/image530.png"/><Relationship Id="rId8" Type="http://schemas.openxmlformats.org/officeDocument/2006/relationships/image" Target="../media/image531.png"/><Relationship Id="rId9" Type="http://schemas.openxmlformats.org/officeDocument/2006/relationships/image" Target="../media/image532.png"/><Relationship Id="rId10" Type="http://schemas.openxmlformats.org/officeDocument/2006/relationships/image" Target="../media/image533.png"/></Relationships>
</file>

<file path=ppt/charts/_rels/chart94.xml.rels><?xml version='1.0' encoding='UTF-8' standalone='yes'?>
<Relationships xmlns="http://schemas.openxmlformats.org/package/2006/relationships"><Relationship Id="rId2" Type="http://schemas.openxmlformats.org/officeDocument/2006/relationships/image" Target="../media/image540.png"/><Relationship Id="rId3" Type="http://schemas.openxmlformats.org/officeDocument/2006/relationships/image" Target="../media/image541.png"/><Relationship Id="rId4" Type="http://schemas.openxmlformats.org/officeDocument/2006/relationships/image" Target="../media/image542.png"/><Relationship Id="rId5" Type="http://schemas.openxmlformats.org/officeDocument/2006/relationships/image" Target="../media/image543.png"/><Relationship Id="rId6" Type="http://schemas.openxmlformats.org/officeDocument/2006/relationships/image" Target="../media/image544.png"/><Relationship Id="rId7" Type="http://schemas.openxmlformats.org/officeDocument/2006/relationships/image" Target="../media/image545.png"/></Relationships>
</file>

<file path=ppt/charts/_rels/chart99.xml.rels><?xml version='1.0' encoding='UTF-8' standalone='yes'?>
<Relationships xmlns="http://schemas.openxmlformats.org/package/2006/relationships"><Relationship Id="rId2" Type="http://schemas.openxmlformats.org/officeDocument/2006/relationships/image" Target="../media/image546.png"/><Relationship Id="rId3" Type="http://schemas.openxmlformats.org/officeDocument/2006/relationships/image" Target="../media/image547.png"/><Relationship Id="rId4" Type="http://schemas.openxmlformats.org/officeDocument/2006/relationships/image" Target="../media/image548.png"/><Relationship Id="rId5" Type="http://schemas.openxmlformats.org/officeDocument/2006/relationships/image" Target="../media/image549.png"/><Relationship Id="rId6" Type="http://schemas.openxmlformats.org/officeDocument/2006/relationships/image" Target="../media/image550.png"/><Relationship Id="rId7" Type="http://schemas.openxmlformats.org/officeDocument/2006/relationships/image" Target="../media/image551.png"/><Relationship Id="rId8" Type="http://schemas.openxmlformats.org/officeDocument/2006/relationships/image" Target="../media/image552.png"/><Relationship Id="rId9" Type="http://schemas.openxmlformats.org/officeDocument/2006/relationships/image" Target="../media/image553.png"/><Relationship Id="rId10" Type="http://schemas.openxmlformats.org/officeDocument/2006/relationships/image" Target="../media/image554.png"/></Relationships>
</file>

<file path=ppt/charts/_rels/chart100.xml.rels><?xml version='1.0' encoding='UTF-8' standalone='yes'?>
<Relationships xmlns="http://schemas.openxmlformats.org/package/2006/relationships"><Relationship Id="rId2" Type="http://schemas.openxmlformats.org/officeDocument/2006/relationships/image" Target="../media/image568.png"/><Relationship Id="rId3" Type="http://schemas.openxmlformats.org/officeDocument/2006/relationships/image" Target="../media/image569.png"/><Relationship Id="rId4" Type="http://schemas.openxmlformats.org/officeDocument/2006/relationships/image" Target="../media/image570.png"/><Relationship Id="rId5" Type="http://schemas.openxmlformats.org/officeDocument/2006/relationships/image" Target="../media/image571.png"/><Relationship Id="rId6" Type="http://schemas.openxmlformats.org/officeDocument/2006/relationships/image" Target="../media/image572.png"/><Relationship Id="rId7" Type="http://schemas.openxmlformats.org/officeDocument/2006/relationships/image" Target="../media/image573.png"/><Relationship Id="rId8" Type="http://schemas.openxmlformats.org/officeDocument/2006/relationships/image" Target="../media/image574.png"/><Relationship Id="rId9" Type="http://schemas.openxmlformats.org/officeDocument/2006/relationships/image" Target="../media/image575.png"/><Relationship Id="rId10" Type="http://schemas.openxmlformats.org/officeDocument/2006/relationships/image" Target="../media/image576.png"/><Relationship Id="rId11" Type="http://schemas.openxmlformats.org/officeDocument/2006/relationships/image" Target="../media/image577.png"/></Relationships>
</file>

<file path=ppt/charts/_rels/chart107.xml.rels><?xml version='1.0' encoding='UTF-8' standalone='yes'?>
<Relationships xmlns="http://schemas.openxmlformats.org/package/2006/relationships"><Relationship Id="rId2" Type="http://schemas.openxmlformats.org/officeDocument/2006/relationships/image" Target="../media/image578.png"/><Relationship Id="rId3" Type="http://schemas.openxmlformats.org/officeDocument/2006/relationships/image" Target="../media/image579.png"/><Relationship Id="rId4" Type="http://schemas.openxmlformats.org/officeDocument/2006/relationships/image" Target="../media/image580.png"/><Relationship Id="rId5" Type="http://schemas.openxmlformats.org/officeDocument/2006/relationships/image" Target="../media/image581.png"/><Relationship Id="rId6" Type="http://schemas.openxmlformats.org/officeDocument/2006/relationships/image" Target="../media/image582.png"/><Relationship Id="rId7" Type="http://schemas.openxmlformats.org/officeDocument/2006/relationships/image" Target="../media/image583.png"/><Relationship Id="rId8" Type="http://schemas.openxmlformats.org/officeDocument/2006/relationships/image" Target="../media/image584.png"/><Relationship Id="rId9" Type="http://schemas.openxmlformats.org/officeDocument/2006/relationships/image" Target="../media/image585.png"/><Relationship Id="rId10" Type="http://schemas.openxmlformats.org/officeDocument/2006/relationships/image" Target="../media/image586.png"/><Relationship Id="rId11" Type="http://schemas.openxmlformats.org/officeDocument/2006/relationships/image" Target="../media/image587.png"/><Relationship Id="rId12" Type="http://schemas.openxmlformats.org/officeDocument/2006/relationships/image" Target="../media/image588.png"/><Relationship Id="rId13" Type="http://schemas.openxmlformats.org/officeDocument/2006/relationships/image" Target="../media/image589.png"/><Relationship Id="rId14" Type="http://schemas.openxmlformats.org/officeDocument/2006/relationships/image" Target="../media/image590.png"/><Relationship Id="rId15" Type="http://schemas.openxmlformats.org/officeDocument/2006/relationships/image" Target="../media/image591.png"/><Relationship Id="rId16" Type="http://schemas.openxmlformats.org/officeDocument/2006/relationships/image" Target="../media/image592.png"/></Relationships>
</file>

<file path=ppt/charts/_rels/chart144.xml.rels><?xml version='1.0' encoding='UTF-8' standalone='yes'?>
<Relationships xmlns="http://schemas.openxmlformats.org/package/2006/relationships"><Relationship Id="rId2" Type="http://schemas.openxmlformats.org/officeDocument/2006/relationships/image" Target="../media/image593.png"/><Relationship Id="rId3" Type="http://schemas.openxmlformats.org/officeDocument/2006/relationships/image" Target="../media/image594.png"/><Relationship Id="rId4" Type="http://schemas.openxmlformats.org/officeDocument/2006/relationships/image" Target="../media/image595.png"/><Relationship Id="rId5" Type="http://schemas.openxmlformats.org/officeDocument/2006/relationships/image" Target="../media/image596.png"/><Relationship Id="rId6" Type="http://schemas.openxmlformats.org/officeDocument/2006/relationships/image" Target="../media/image597.png"/><Relationship Id="rId7" Type="http://schemas.openxmlformats.org/officeDocument/2006/relationships/image" Target="../media/image598.png"/><Relationship Id="rId8" Type="http://schemas.openxmlformats.org/officeDocument/2006/relationships/image" Target="../media/image599.png"/><Relationship Id="rId9" Type="http://schemas.openxmlformats.org/officeDocument/2006/relationships/image" Target="../media/image600.png"/><Relationship Id="rId10" Type="http://schemas.openxmlformats.org/officeDocument/2006/relationships/image" Target="../media/image601.png"/><Relationship Id="rId11" Type="http://schemas.openxmlformats.org/officeDocument/2006/relationships/image" Target="../media/image602.png"/></Relationships>
</file>

<file path=ppt/charts/_rels/chart145.xml.rels><?xml version='1.0' encoding='UTF-8' standalone='yes'?>
<Relationships xmlns="http://schemas.openxmlformats.org/package/2006/relationships"><Relationship Id="rId2" Type="http://schemas.openxmlformats.org/officeDocument/2006/relationships/image" Target="../media/image603.png"/><Relationship Id="rId3" Type="http://schemas.openxmlformats.org/officeDocument/2006/relationships/image" Target="../media/image604.png"/><Relationship Id="rId4" Type="http://schemas.openxmlformats.org/officeDocument/2006/relationships/image" Target="../media/image605.png"/><Relationship Id="rId5" Type="http://schemas.openxmlformats.org/officeDocument/2006/relationships/image" Target="../media/image606.png"/><Relationship Id="rId6" Type="http://schemas.openxmlformats.org/officeDocument/2006/relationships/image" Target="../media/image607.png"/><Relationship Id="rId7" Type="http://schemas.openxmlformats.org/officeDocument/2006/relationships/image" Target="../media/image608.png"/><Relationship Id="rId8" Type="http://schemas.openxmlformats.org/officeDocument/2006/relationships/image" Target="../media/image609.png"/><Relationship Id="rId9" Type="http://schemas.openxmlformats.org/officeDocument/2006/relationships/image" Target="../media/image610.png"/><Relationship Id="rId10" Type="http://schemas.openxmlformats.org/officeDocument/2006/relationships/image" Target="../media/image611.png"/><Relationship Id="rId11" Type="http://schemas.openxmlformats.org/officeDocument/2006/relationships/image" Target="../media/image612.png"/><Relationship Id="rId12" Type="http://schemas.openxmlformats.org/officeDocument/2006/relationships/image" Target="../media/image613.png"/></Relationships>
</file>

<file path=ppt/charts/_rels/chart146.xml.rels><?xml version='1.0' encoding='UTF-8' standalone='yes'?>
<Relationships xmlns="http://schemas.openxmlformats.org/package/2006/relationships"><Relationship Id="rId2" Type="http://schemas.openxmlformats.org/officeDocument/2006/relationships/image" Target="../media/image614.png"/><Relationship Id="rId3" Type="http://schemas.openxmlformats.org/officeDocument/2006/relationships/image" Target="../media/image615.png"/><Relationship Id="rId4" Type="http://schemas.openxmlformats.org/officeDocument/2006/relationships/image" Target="../media/image616.png"/><Relationship Id="rId5" Type="http://schemas.openxmlformats.org/officeDocument/2006/relationships/image" Target="../media/image617.png"/><Relationship Id="rId6" Type="http://schemas.openxmlformats.org/officeDocument/2006/relationships/image" Target="../media/image618.png"/><Relationship Id="rId7" Type="http://schemas.openxmlformats.org/officeDocument/2006/relationships/image" Target="../media/image619.png"/><Relationship Id="rId8" Type="http://schemas.openxmlformats.org/officeDocument/2006/relationships/image" Target="../media/image620.png"/><Relationship Id="rId9" Type="http://schemas.openxmlformats.org/officeDocument/2006/relationships/image" Target="../media/image621.png"/><Relationship Id="rId10" Type="http://schemas.openxmlformats.org/officeDocument/2006/relationships/image" Target="../media/image622.png"/><Relationship Id="rId11" Type="http://schemas.openxmlformats.org/officeDocument/2006/relationships/image" Target="../media/image623.png"/></Relationships>
</file>

<file path=ppt/charts/_rels/chart147.xml.rels><?xml version='1.0' encoding='UTF-8' standalone='yes'?>
<Relationships xmlns="http://schemas.openxmlformats.org/package/2006/relationships"><Relationship Id="rId2" Type="http://schemas.openxmlformats.org/officeDocument/2006/relationships/image" Target="../media/image624.png"/><Relationship Id="rId3" Type="http://schemas.openxmlformats.org/officeDocument/2006/relationships/image" Target="../media/image625.png"/><Relationship Id="rId4" Type="http://schemas.openxmlformats.org/officeDocument/2006/relationships/image" Target="../media/image626.png"/><Relationship Id="rId5" Type="http://schemas.openxmlformats.org/officeDocument/2006/relationships/image" Target="../media/image627.png"/><Relationship Id="rId6" Type="http://schemas.openxmlformats.org/officeDocument/2006/relationships/image" Target="../media/image628.png"/><Relationship Id="rId7" Type="http://schemas.openxmlformats.org/officeDocument/2006/relationships/image" Target="../media/image629.png"/><Relationship Id="rId8" Type="http://schemas.openxmlformats.org/officeDocument/2006/relationships/image" Target="../media/image630.png"/><Relationship Id="rId9" Type="http://schemas.openxmlformats.org/officeDocument/2006/relationships/image" Target="../media/image631.png"/><Relationship Id="rId10" Type="http://schemas.openxmlformats.org/officeDocument/2006/relationships/image" Target="../media/image632.png"/><Relationship Id="rId11" Type="http://schemas.openxmlformats.org/officeDocument/2006/relationships/image" Target="../media/image633.png"/><Relationship Id="rId12" Type="http://schemas.openxmlformats.org/officeDocument/2006/relationships/image" Target="../media/image634.png"/></Relationships>
</file>

<file path=ppt/charts/_rels/chart148.xml.rels><?xml version='1.0' encoding='UTF-8' standalone='yes'?>
<Relationships xmlns="http://schemas.openxmlformats.org/package/2006/relationships"><Relationship Id="rId2" Type="http://schemas.openxmlformats.org/officeDocument/2006/relationships/image" Target="../media/image635.png"/><Relationship Id="rId3" Type="http://schemas.openxmlformats.org/officeDocument/2006/relationships/image" Target="../media/image636.png"/><Relationship Id="rId4" Type="http://schemas.openxmlformats.org/officeDocument/2006/relationships/image" Target="../media/image637.png"/><Relationship Id="rId5" Type="http://schemas.openxmlformats.org/officeDocument/2006/relationships/image" Target="../media/image638.png"/><Relationship Id="rId6" Type="http://schemas.openxmlformats.org/officeDocument/2006/relationships/image" Target="../media/image639.png"/><Relationship Id="rId7" Type="http://schemas.openxmlformats.org/officeDocument/2006/relationships/image" Target="../media/image640.png"/><Relationship Id="rId8" Type="http://schemas.openxmlformats.org/officeDocument/2006/relationships/image" Target="../media/image641.png"/><Relationship Id="rId9" Type="http://schemas.openxmlformats.org/officeDocument/2006/relationships/image" Target="../media/image642.png"/><Relationship Id="rId10" Type="http://schemas.openxmlformats.org/officeDocument/2006/relationships/image" Target="../media/image643.png"/><Relationship Id="rId11" Type="http://schemas.openxmlformats.org/officeDocument/2006/relationships/image" Target="../media/image644.png"/></Relationships>
</file>

<file path=ppt/charts/_rels/chart149.xml.rels><?xml version='1.0' encoding='UTF-8' standalone='yes'?>
<Relationships xmlns="http://schemas.openxmlformats.org/package/2006/relationships"><Relationship Id="rId2" Type="http://schemas.openxmlformats.org/officeDocument/2006/relationships/image" Target="../media/image645.png"/><Relationship Id="rId3" Type="http://schemas.openxmlformats.org/officeDocument/2006/relationships/image" Target="../media/image646.png"/><Relationship Id="rId4" Type="http://schemas.openxmlformats.org/officeDocument/2006/relationships/image" Target="../media/image647.png"/><Relationship Id="rId5" Type="http://schemas.openxmlformats.org/officeDocument/2006/relationships/image" Target="../media/image648.png"/><Relationship Id="rId6" Type="http://schemas.openxmlformats.org/officeDocument/2006/relationships/image" Target="../media/image649.png"/><Relationship Id="rId7" Type="http://schemas.openxmlformats.org/officeDocument/2006/relationships/image" Target="../media/image650.png"/><Relationship Id="rId8" Type="http://schemas.openxmlformats.org/officeDocument/2006/relationships/image" Target="../media/image651.png"/><Relationship Id="rId9" Type="http://schemas.openxmlformats.org/officeDocument/2006/relationships/image" Target="../media/image652.png"/><Relationship Id="rId10" Type="http://schemas.openxmlformats.org/officeDocument/2006/relationships/image" Target="../media/image653.png"/></Relationships>
</file>

<file path=ppt/charts/_rels/chart150.xml.rels><?xml version='1.0' encoding='UTF-8' standalone='yes'?>
<Relationships xmlns="http://schemas.openxmlformats.org/package/2006/relationships"><Relationship Id="rId2" Type="http://schemas.openxmlformats.org/officeDocument/2006/relationships/image" Target="../media/image654.png"/><Relationship Id="rId3" Type="http://schemas.openxmlformats.org/officeDocument/2006/relationships/image" Target="../media/image655.png"/><Relationship Id="rId4" Type="http://schemas.openxmlformats.org/officeDocument/2006/relationships/image" Target="../media/image656.png"/><Relationship Id="rId5" Type="http://schemas.openxmlformats.org/officeDocument/2006/relationships/image" Target="../media/image657.png"/><Relationship Id="rId6" Type="http://schemas.openxmlformats.org/officeDocument/2006/relationships/image" Target="../media/image658.png"/><Relationship Id="rId7" Type="http://schemas.openxmlformats.org/officeDocument/2006/relationships/image" Target="../media/image659.png"/><Relationship Id="rId8" Type="http://schemas.openxmlformats.org/officeDocument/2006/relationships/image" Target="../media/image660.png"/><Relationship Id="rId9" Type="http://schemas.openxmlformats.org/officeDocument/2006/relationships/image" Target="../media/image661.png"/><Relationship Id="rId10" Type="http://schemas.openxmlformats.org/officeDocument/2006/relationships/image" Target="../media/image662.png"/><Relationship Id="rId11" Type="http://schemas.openxmlformats.org/officeDocument/2006/relationships/image" Target="../media/image663.png"/><Relationship Id="rId12" Type="http://schemas.openxmlformats.org/officeDocument/2006/relationships/image" Target="../media/image664.png"/></Relationships>
</file>

<file path=ppt/charts/_rels/chart151.xml.rels><?xml version='1.0' encoding='UTF-8' standalone='yes'?>
<Relationships xmlns="http://schemas.openxmlformats.org/package/2006/relationships"><Relationship Id="rId2" Type="http://schemas.openxmlformats.org/officeDocument/2006/relationships/image" Target="../media/image665.png"/><Relationship Id="rId3" Type="http://schemas.openxmlformats.org/officeDocument/2006/relationships/image" Target="../media/image666.png"/><Relationship Id="rId4" Type="http://schemas.openxmlformats.org/officeDocument/2006/relationships/image" Target="../media/image667.png"/><Relationship Id="rId5" Type="http://schemas.openxmlformats.org/officeDocument/2006/relationships/image" Target="../media/image668.png"/></Relationships>
</file>

<file path=ppt/charts/_rels/chart152.xml.rels><?xml version='1.0' encoding='UTF-8' standalone='yes'?>
<Relationships xmlns="http://schemas.openxmlformats.org/package/2006/relationships"><Relationship Id="rId2" Type="http://schemas.openxmlformats.org/officeDocument/2006/relationships/image" Target="../media/image669.png"/><Relationship Id="rId3" Type="http://schemas.openxmlformats.org/officeDocument/2006/relationships/image" Target="../media/image670.png"/><Relationship Id="rId4" Type="http://schemas.openxmlformats.org/officeDocument/2006/relationships/image" Target="../media/image671.png"/><Relationship Id="rId5" Type="http://schemas.openxmlformats.org/officeDocument/2006/relationships/image" Target="../media/image672.png"/><Relationship Id="rId6" Type="http://schemas.openxmlformats.org/officeDocument/2006/relationships/image" Target="../media/image673.png"/></Relationships>
</file>

<file path=ppt/charts/_rels/chart153.xml.rels><?xml version='1.0' encoding='UTF-8' standalone='yes'?>
<Relationships xmlns="http://schemas.openxmlformats.org/package/2006/relationships"><Relationship Id="rId2" Type="http://schemas.openxmlformats.org/officeDocument/2006/relationships/image" Target="../media/image674.png"/><Relationship Id="rId3" Type="http://schemas.openxmlformats.org/officeDocument/2006/relationships/image" Target="../media/image675.png"/><Relationship Id="rId4" Type="http://schemas.openxmlformats.org/officeDocument/2006/relationships/image" Target="../media/image676.png"/></Relationships>
</file>

<file path=ppt/charts/_rels/chart154.xml.rels><?xml version='1.0' encoding='UTF-8' standalone='yes'?>
<Relationships xmlns="http://schemas.openxmlformats.org/package/2006/relationships"><Relationship Id="rId2" Type="http://schemas.openxmlformats.org/officeDocument/2006/relationships/image" Target="../media/image677.png"/><Relationship Id="rId3" Type="http://schemas.openxmlformats.org/officeDocument/2006/relationships/image" Target="../media/image678.png"/><Relationship Id="rId4" Type="http://schemas.openxmlformats.org/officeDocument/2006/relationships/image" Target="../media/image679.png"/><Relationship Id="rId5" Type="http://schemas.openxmlformats.org/officeDocument/2006/relationships/image" Target="../media/image680.png"/><Relationship Id="rId6" Type="http://schemas.openxmlformats.org/officeDocument/2006/relationships/image" Target="../media/image681.png"/><Relationship Id="rId7" Type="http://schemas.openxmlformats.org/officeDocument/2006/relationships/image" Target="../media/image682.png"/><Relationship Id="rId8" Type="http://schemas.openxmlformats.org/officeDocument/2006/relationships/image" Target="../media/image683.png"/><Relationship Id="rId9" Type="http://schemas.openxmlformats.org/officeDocument/2006/relationships/image" Target="../media/image684.png"/><Relationship Id="rId10" Type="http://schemas.openxmlformats.org/officeDocument/2006/relationships/image" Target="../media/image685.png"/><Relationship Id="rId11" Type="http://schemas.openxmlformats.org/officeDocument/2006/relationships/image" Target="../media/image686.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7.139426361343548</c:v>
                </c:pt>
                <c:pt idx="1">
                  <c:v>7.790594275732832</c:v>
                </c:pt>
                <c:pt idx="2">
                  <c:v>7.573099749743228</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283584443967339"/>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1563348.3150000002</c:v>
                </c:pt>
                <c:pt idx="2">
                  <c:v>0.0</c:v>
                </c:pt>
                <c:pt idx="3">
                  <c:v>2207000.003</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1563348.3150000002</c:v>
                </c:pt>
                <c:pt idx="1">
                  <c:v>643651.6879999998</c:v>
                </c:pt>
                <c:pt idx="2">
                  <c:v>2207000.003</c:v>
                </c:pt>
                <c:pt idx="3">
                  <c:v>2466163.7209999994</c:v>
                </c:pt>
                <c:pt idx="4">
                  <c:v>4673163.723999999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7.7996227051403855</c:v>
                </c:pt>
                <c:pt idx="1">
                  <c:v>8.399981979067949</c:v>
                </c:pt>
                <c:pt idx="2">
                  <c:v>8.199491634345124</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1.087976212369693"/>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1667.6649999999997</c:v>
                </c:pt>
                <c:pt idx="2">
                  <c:v>0.0</c:v>
                </c:pt>
                <c:pt idx="3">
                  <c:v>2427.7</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1667.6649999999997</c:v>
                </c:pt>
                <c:pt idx="1">
                  <c:v>760.0350000000001</c:v>
                </c:pt>
                <c:pt idx="2">
                  <c:v>2427.7</c:v>
                </c:pt>
                <c:pt idx="3">
                  <c:v>3010.9000000000005</c:v>
                </c:pt>
                <c:pt idx="4">
                  <c:v>5438.6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1667.6649999999997</c:v>
                </c:pt>
                <c:pt idx="1">
                  <c:v>1791.072</c:v>
                </c:pt>
                <c:pt idx="2">
                  <c:v>1927.193</c:v>
                </c:pt>
                <c:pt idx="3">
                  <c:v>2077.514</c:v>
                </c:pt>
                <c:pt idx="4">
                  <c:v>2243.7149999999997</c:v>
                </c:pt>
              </c:numCache>
            </c:numRef>
          </c:val>
        </c:ser>
        <c:gapWidth val="50"/>
        <c:axId val="-2068027336"/>
        <c:axId val="-2113994440"/>
      </c:barChart>
      <c:barChart>
        <c:barDir val="col"/>
        <c:grouping val="clustered"/>
        <c:varyColors val="0"/>
        <c:ser>
          <c:idx val="1"/>
          <c:order val="1"/>
          <c:tx>
            <c:strRef>
              <c:strCache>
                <c:ptCount val="1"/>
                <c:pt idx="0">
                  <c:v>Volume (Patient Treatment Courses)</c:v>
                </c:pt>
              </c:strCache>
            </c:strRef>
          </c:tx>
          <c:spPr>
            <a:solidFill>
              <a:srgbClr val="C55A11"/>
            </a:solidFill>
            <a:ln>
              <a:noFill/>
            </a:ln>
          </c:spPr>
          <c:dLbls>
            <c:dLbl>
              <c:idx val="0"/>
              <c:numFmt formatCode="&quot;MMMMMMMMMMM&quot;;&quot;MMMMMMMMMMM&quot;;&quot;MM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1563348.3150000002</c:v>
                </c:pt>
                <c:pt idx="1">
                  <c:v>1668517.3779999998</c:v>
                </c:pt>
                <c:pt idx="2">
                  <c:v>1784203.84</c:v>
                </c:pt>
                <c:pt idx="3">
                  <c:v>1911590.4500000002</c:v>
                </c:pt>
                <c:pt idx="4">
                  <c:v>2052019.239</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2648"/>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2820421"/>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2427.7</c:v>
                </c:pt>
                <c:pt idx="1">
                  <c:v>2631.626</c:v>
                </c:pt>
                <c:pt idx="2">
                  <c:v>2852.683</c:v>
                </c:pt>
                <c:pt idx="3">
                  <c:v>3092.307</c:v>
                </c:pt>
                <c:pt idx="4">
                  <c:v>3352.061</c:v>
                </c:pt>
                <c:pt idx="5">
                  <c:v>3633.633</c:v>
                </c:pt>
                <c:pt idx="6">
                  <c:v>3938.8579999999997</c:v>
                </c:pt>
                <c:pt idx="7">
                  <c:v>4269.7210000000005</c:v>
                </c:pt>
                <c:pt idx="8">
                  <c:v>4628.3769999999995</c:v>
                </c:pt>
                <c:pt idx="9">
                  <c:v>5017.16</c:v>
                </c:pt>
                <c:pt idx="10">
                  <c:v>5438.6</c:v>
                </c:pt>
              </c:numCache>
            </c:numRef>
          </c:val>
        </c:ser>
        <c:gapWidth val="50"/>
        <c:axId val="-2068027336"/>
        <c:axId val="-2113994440"/>
      </c:barChart>
      <c:barChart>
        <c:barDir val="col"/>
        <c:grouping val="clustered"/>
        <c:varyColors val="0"/>
        <c:ser>
          <c:idx val="1"/>
          <c:order val="1"/>
          <c:tx>
            <c:strRef>
              <c:strCache>
                <c:ptCount val="1"/>
                <c:pt idx="0">
                  <c:v>Volume (Patient Treatment Courses)</c:v>
                </c:pt>
              </c:strCache>
            </c:strRef>
          </c:tx>
          <c:spPr>
            <a:solidFill>
              <a:srgbClr val="C55A11"/>
            </a:solidFill>
            <a:ln>
              <a:noFill/>
            </a:ln>
          </c:spPr>
          <c:dLbls>
            <c:dLbl>
              <c:idx val="0"/>
              <c:numFmt formatCode="&quot;MMMMMMMMMMM&quot;;&quot;MMMMMMMMMMM&quot;;&quot;MM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quot;;&quot;MMMMMMMMMMM&quot;;&quot;MM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quot;;&quot;MMMMMMMMMMM&quot;;&quot;MM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quot;;&quot;MMMMMMMMMMM&quot;;&quot;MM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quot;;&quot;MMMMMMMMMMM&quot;;&quot;MM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quot;;&quot;MMMMMMMMMMM&quot;;&quot;MM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quot;;&quot;MMMMMMMMMMM&quot;;&quot;MM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2207000.003</c:v>
                </c:pt>
                <c:pt idx="1">
                  <c:v>2378214.232</c:v>
                </c:pt>
                <c:pt idx="2">
                  <c:v>2562889.657</c:v>
                </c:pt>
                <c:pt idx="3">
                  <c:v>2762093.9570000004</c:v>
                </c:pt>
                <c:pt idx="4">
                  <c:v>2976982.478</c:v>
                </c:pt>
                <c:pt idx="5">
                  <c:v>3208808.354</c:v>
                </c:pt>
                <c:pt idx="6">
                  <c:v>3458914.7539999997</c:v>
                </c:pt>
                <c:pt idx="7">
                  <c:v>3728762.7620000006</c:v>
                </c:pt>
                <c:pt idx="8">
                  <c:v>4019930.522</c:v>
                </c:pt>
                <c:pt idx="9">
                  <c:v>4334117.093</c:v>
                </c:pt>
                <c:pt idx="10">
                  <c:v>4673163.723999999</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6418"/>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6629698"/>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Mexico</c:v>
                </c:pt>
                <c:pt idx="1">
                  <c:v>China</c:v>
                </c:pt>
                <c:pt idx="2">
                  <c:v>Malaysia</c:v>
                </c:pt>
                <c:pt idx="3">
                  <c:v>Spain</c:v>
                </c:pt>
                <c:pt idx="4">
                  <c:v>Thailand</c:v>
                </c:pt>
                <c:pt idx="5">
                  <c:v>Brazil</c:v>
                </c:pt>
                <c:pt idx="6">
                  <c:v>France</c:v>
                </c:pt>
                <c:pt idx="7">
                  <c:v>Netherlands</c:v>
                </c:pt>
                <c:pt idx="8">
                  <c:v>Germany</c:v>
                </c:pt>
                <c:pt idx="9">
                  <c:v>India</c:v>
                </c:pt>
              </c:strCache>
            </c:strRef>
          </c:cat>
          <c:val>
            <c:numRef>
              <c:numCache>
                <c:formatCode>General</c:formatCode>
                <c:ptCount val="10"/>
                <c:pt idx="0">
                  <c:v>101.15213679571453</c:v>
                </c:pt>
                <c:pt idx="1">
                  <c:v>101.42124399831482</c:v>
                </c:pt>
                <c:pt idx="2">
                  <c:v>104.09271529821768</c:v>
                </c:pt>
                <c:pt idx="3">
                  <c:v>109.28115565910387</c:v>
                </c:pt>
                <c:pt idx="4">
                  <c:v>111.51324406073775</c:v>
                </c:pt>
                <c:pt idx="5">
                  <c:v>111.83774012429714</c:v>
                </c:pt>
                <c:pt idx="6">
                  <c:v>114.54774213487488</c:v>
                </c:pt>
                <c:pt idx="7">
                  <c:v>117.44390056135178</c:v>
                </c:pt>
                <c:pt idx="8">
                  <c:v>119.50180697265618</c:v>
                </c:pt>
                <c:pt idx="9">
                  <c:v>122.18817311503065</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Turkey</c:v>
                </c:pt>
                <c:pt idx="1">
                  <c:v>Japan</c:v>
                </c:pt>
                <c:pt idx="2">
                  <c:v>France</c:v>
                </c:pt>
                <c:pt idx="3">
                  <c:v>U.K.</c:v>
                </c:pt>
                <c:pt idx="4">
                  <c:v>Brazil</c:v>
                </c:pt>
                <c:pt idx="5">
                  <c:v>India</c:v>
                </c:pt>
                <c:pt idx="6">
                  <c:v>China</c:v>
                </c:pt>
                <c:pt idx="7">
                  <c:v>Canada</c:v>
                </c:pt>
                <c:pt idx="8">
                  <c:v>Germany</c:v>
                </c:pt>
                <c:pt idx="9">
                  <c:v>U.S.</c:v>
                </c:pt>
              </c:strCache>
            </c:strRef>
          </c:cat>
          <c:val>
            <c:numRef>
              <c:numCache>
                <c:formatCode>General</c:formatCode>
                <c:ptCount val="10"/>
                <c:pt idx="0">
                  <c:v>2.823507921219568</c:v>
                </c:pt>
                <c:pt idx="1">
                  <c:v>3.1649672855292432</c:v>
                </c:pt>
                <c:pt idx="2">
                  <c:v>3.4779633996479458</c:v>
                </c:pt>
                <c:pt idx="3">
                  <c:v>3.753661695838453</c:v>
                </c:pt>
                <c:pt idx="4">
                  <c:v>5.084891560662923</c:v>
                </c:pt>
                <c:pt idx="5">
                  <c:v>6.507788368926233</c:v>
                </c:pt>
                <c:pt idx="6">
                  <c:v>7.650004981899099</c:v>
                </c:pt>
                <c:pt idx="7">
                  <c:v>9.544953336211758</c:v>
                </c:pt>
                <c:pt idx="8">
                  <c:v>13.09372612840014</c:v>
                </c:pt>
                <c:pt idx="9">
                  <c:v>18.52309940549337</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Licensed Finished AIT Products</c:v>
                </c:pt>
                <c:pt idx="1">
                  <c:v>Individual-Prescription Products</c:v>
                </c:pt>
                <c:pt idx="2">
                  <c:v>Bulk Allergen Extracts</c:v>
                </c:pt>
              </c:strCache>
            </c:strRef>
          </c:cat>
          <c:val>
            <c:numRef>
              <c:numCache>
                <c:formatCode>General</c:formatCode>
                <c:ptCount val="3"/>
                <c:pt idx="0">
                  <c:v>1913.7799999999997</c:v>
                </c:pt>
                <c:pt idx="1">
                  <c:v>1727.973</c:v>
                </c:pt>
                <c:pt idx="2">
                  <c:v>1796.8469999999998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0.0964130543880106</c:v>
                </c:pt>
                <c:pt idx="1">
                  <c:v>0.0984130543880106</c:v>
                </c:pt>
                <c:pt idx="2">
                  <c:v>0.1002430543880106</c:v>
                </c:pt>
                <c:pt idx="3">
                  <c:v>0.1016330543880106</c:v>
                </c:pt>
                <c:pt idx="4">
                  <c:v>0.10397305438801059</c:v>
                </c:pt>
                <c:pt idx="5">
                  <c:v>0.10658305438801059</c:v>
                </c:pt>
                <c:pt idx="6">
                  <c:v>0.10891305438801059</c:v>
                </c:pt>
                <c:pt idx="7">
                  <c:v>0.10978305438801059</c:v>
                </c:pt>
                <c:pt idx="8">
                  <c:v>0.10967305438801059</c:v>
                </c:pt>
                <c:pt idx="9">
                  <c:v>0.10887305438801059</c:v>
                </c:pt>
                <c:pt idx="10">
                  <c:v>0.1081030543880106</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0.07440447776997204</c:v>
                </c:pt>
                <c:pt idx="1">
                  <c:v>0.07700322219474619</c:v>
                </c:pt>
                <c:pt idx="2">
                  <c:v>0.07886360469381849</c:v>
                </c:pt>
                <c:pt idx="3">
                  <c:v>0.07976122115251486</c:v>
                </c:pt>
                <c:pt idx="4">
                  <c:v>0.08231653252283594</c:v>
                </c:pt>
                <c:pt idx="5">
                  <c:v>0.08314176055744389</c:v>
                </c:pt>
                <c:pt idx="6">
                  <c:v>0.08549438434031742</c:v>
                </c:pt>
                <c:pt idx="7">
                  <c:v>0.0873185726273455</c:v>
                </c:pt>
                <c:pt idx="8">
                  <c:v>0.08908485017510287</c:v>
                </c:pt>
                <c:pt idx="9">
                  <c:v>0.09149538469724713</c:v>
                </c:pt>
                <c:pt idx="10">
                  <c:v>0.09328337877223102</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0.069477554735624</c:v>
                </c:pt>
                <c:pt idx="1">
                  <c:v>0.06889260874552244</c:v>
                </c:pt>
                <c:pt idx="2">
                  <c:v>0.06821992085690563</c:v>
                </c:pt>
                <c:pt idx="3">
                  <c:v>0.06661131938412633</c:v>
                </c:pt>
                <c:pt idx="4">
                  <c:v>0.065183076258295</c:v>
                </c:pt>
                <c:pt idx="5">
                  <c:v>0.06345261103757786</c:v>
                </c:pt>
                <c:pt idx="6">
                  <c:v>0.061341930923294714</c:v>
                </c:pt>
                <c:pt idx="7">
                  <c:v>0.05899727241297093</c:v>
                </c:pt>
                <c:pt idx="8">
                  <c:v>0.05927512175826918</c:v>
                </c:pt>
                <c:pt idx="9">
                  <c:v>0.05675497945091493</c:v>
                </c:pt>
                <c:pt idx="10">
                  <c:v>0.05342566185725351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19.421104142155272</c:v>
                </c:pt>
                <c:pt idx="1">
                  <c:v>22.361277364054104</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22.19425071745231</c:v>
                </c:pt>
                <c:pt idx="1">
                  <c:v>22.04092066601859</c:v>
                </c:pt>
              </c:numCache>
            </c:numRef>
          </c:val>
        </c:ser>
        <c:ser>
          <c:idx val="2"/>
          <c:order val="2"/>
          <c:tx>
            <c:strRef>
              <c:strCache>
                <c:ptCount val="1"/>
                <c:pt idx="0">
                  <c:v>North America</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24.12254332923986</c:v>
                </c:pt>
                <c:pt idx="1">
                  <c:v>20.304690827048795</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18.292995444096515</c:v>
                </c:pt>
                <c:pt idx="1">
                  <c:v>19.042259282076028</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8.382278284935735</c:v>
                </c:pt>
                <c:pt idx="1">
                  <c:v>8.657752732311504</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7.586828082120306</c:v>
                </c:pt>
                <c:pt idx="1">
                  <c:v>7.593099128490967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33.0</c:v>
                </c:pt>
                <c:pt idx="1">
                  <c:v>30.26959143897327</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26.99995880874902</c:v>
                </c:pt>
                <c:pt idx="1">
                  <c:v>28.62859927187144</c:v>
                </c:pt>
              </c:numCache>
            </c:numRef>
          </c:val>
        </c:ser>
        <c:ser>
          <c:idx val="2"/>
          <c:order val="2"/>
          <c:tx>
            <c:strRef>
              <c:strCache>
                <c:ptCount val="1"/>
                <c:pt idx="0">
                  <c:v>South Asia &amp; Pacific</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12.000000000000002</c:v>
                </c:pt>
                <c:pt idx="1">
                  <c:v>13.060144154745707</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13.0</c:v>
                </c:pt>
                <c:pt idx="1">
                  <c:v>12.79899238774685</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8.000041191250979</c:v>
                </c:pt>
                <c:pt idx="1">
                  <c:v>8.314492700327293</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7.000000000000001</c:v>
                </c:pt>
                <c:pt idx="1">
                  <c:v>6.928180046335454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408704.063</c:v>
                </c:pt>
                <c:pt idx="1">
                  <c:v>429377.572</c:v>
                </c:pt>
                <c:pt idx="2">
                  <c:v>451895.326</c:v>
                </c:pt>
                <c:pt idx="3">
                  <c:v>476433.473</c:v>
                </c:pt>
                <c:pt idx="4">
                  <c:v>503190.107</c:v>
                </c:pt>
                <c:pt idx="5">
                  <c:v>532384.532</c:v>
                </c:pt>
                <c:pt idx="6">
                  <c:v>564295.879</c:v>
                </c:pt>
                <c:pt idx="7">
                  <c:v>598065.101</c:v>
                </c:pt>
                <c:pt idx="8">
                  <c:v>633795.989</c:v>
                </c:pt>
                <c:pt idx="9">
                  <c:v>671598.397</c:v>
                </c:pt>
                <c:pt idx="10">
                  <c:v>711589.22</c:v>
                </c:pt>
                <c:pt idx="11">
                  <c:v>753889.255</c:v>
                </c:pt>
                <c:pt idx="12">
                  <c:v>798627.976</c:v>
                </c:pt>
                <c:pt idx="13">
                  <c:v>845941.637</c:v>
                </c:pt>
                <c:pt idx="14">
                  <c:v>895972.482</c:v>
                </c:pt>
                <c:pt idx="15">
                  <c:v>948871.446</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347350.589</c:v>
                </c:pt>
                <c:pt idx="1">
                  <c:v>370677.395</c:v>
                </c:pt>
                <c:pt idx="2">
                  <c:v>396314.168</c:v>
                </c:pt>
                <c:pt idx="3">
                  <c:v>424517.91</c:v>
                </c:pt>
                <c:pt idx="4">
                  <c:v>455579.853</c:v>
                </c:pt>
                <c:pt idx="5">
                  <c:v>489827.114</c:v>
                </c:pt>
                <c:pt idx="6">
                  <c:v>527604.31</c:v>
                </c:pt>
                <c:pt idx="7">
                  <c:v>568301.593</c:v>
                </c:pt>
                <c:pt idx="8">
                  <c:v>612143.694</c:v>
                </c:pt>
                <c:pt idx="9">
                  <c:v>659373.036</c:v>
                </c:pt>
                <c:pt idx="10">
                  <c:v>710251.752</c:v>
                </c:pt>
                <c:pt idx="11">
                  <c:v>765059.721</c:v>
                </c:pt>
                <c:pt idx="12">
                  <c:v>824100.442</c:v>
                </c:pt>
                <c:pt idx="13">
                  <c:v>887700.582</c:v>
                </c:pt>
                <c:pt idx="14">
                  <c:v>956210.442</c:v>
                </c:pt>
                <c:pt idx="15">
                  <c:v>1030008.309</c:v>
                </c:pt>
              </c:numCache>
            </c:numRef>
          </c:val>
        </c:ser>
        <c:ser>
          <c:idx val="2"/>
          <c:order val="2"/>
          <c:tx>
            <c:strRef>
              <c:strCache>
                <c:ptCount val="1"/>
                <c:pt idx="0">
                  <c:v>South Asia &amp; Pacific</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282103.607</c:v>
                </c:pt>
                <c:pt idx="1">
                  <c:v>305582.279</c:v>
                </c:pt>
                <c:pt idx="2">
                  <c:v>331632.166</c:v>
                </c:pt>
                <c:pt idx="3">
                  <c:v>360571.674</c:v>
                </c:pt>
                <c:pt idx="4">
                  <c:v>392764.488</c:v>
                </c:pt>
                <c:pt idx="5">
                  <c:v>428623.769</c:v>
                </c:pt>
                <c:pt idx="6">
                  <c:v>468589.37</c:v>
                </c:pt>
                <c:pt idx="7">
                  <c:v>512280.034</c:v>
                </c:pt>
                <c:pt idx="8">
                  <c:v>560041.53</c:v>
                </c:pt>
                <c:pt idx="9">
                  <c:v>612252.008</c:v>
                </c:pt>
                <c:pt idx="10">
                  <c:v>669325.648</c:v>
                </c:pt>
                <c:pt idx="11">
                  <c:v>731712.707</c:v>
                </c:pt>
                <c:pt idx="12">
                  <c:v>799907.138</c:v>
                </c:pt>
                <c:pt idx="13">
                  <c:v>874448.439</c:v>
                </c:pt>
                <c:pt idx="14">
                  <c:v>955924.611</c:v>
                </c:pt>
                <c:pt idx="15">
                  <c:v>1044979.102</c:v>
                </c:pt>
              </c:numCache>
            </c:numRef>
          </c:val>
        </c:ser>
        <c:ser>
          <c:idx val="3"/>
          <c:order val="3"/>
          <c:tx>
            <c:strRef>
              <c:strCache>
                <c:ptCount val="1"/>
                <c:pt idx="0">
                  <c:v>East Asia</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278769.861</c:v>
                </c:pt>
                <c:pt idx="1">
                  <c:v>299135.878</c:v>
                </c:pt>
                <c:pt idx="2">
                  <c:v>321562.706</c:v>
                </c:pt>
                <c:pt idx="3">
                  <c:v>346286.14</c:v>
                </c:pt>
                <c:pt idx="4">
                  <c:v>373573.666</c:v>
                </c:pt>
                <c:pt idx="5">
                  <c:v>403726.41</c:v>
                </c:pt>
                <c:pt idx="6">
                  <c:v>437086.774</c:v>
                </c:pt>
                <c:pt idx="7">
                  <c:v>473166.969</c:v>
                </c:pt>
                <c:pt idx="8">
                  <c:v>512184.799</c:v>
                </c:pt>
                <c:pt idx="9">
                  <c:v>554375.613</c:v>
                </c:pt>
                <c:pt idx="10">
                  <c:v>599994.228</c:v>
                </c:pt>
                <c:pt idx="11">
                  <c:v>649313.524</c:v>
                </c:pt>
                <c:pt idx="12">
                  <c:v>702629.674</c:v>
                </c:pt>
                <c:pt idx="13">
                  <c:v>760262.012</c:v>
                </c:pt>
                <c:pt idx="14">
                  <c:v>822553.746</c:v>
                </c:pt>
                <c:pt idx="15">
                  <c:v>889875.953</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128302.105</c:v>
                </c:pt>
                <c:pt idx="1">
                  <c:v>137549.213</c:v>
                </c:pt>
                <c:pt idx="2">
                  <c:v>147728.755</c:v>
                </c:pt>
                <c:pt idx="3">
                  <c:v>158947.003</c:v>
                </c:pt>
                <c:pt idx="4">
                  <c:v>171324.493</c:v>
                </c:pt>
                <c:pt idx="5">
                  <c:v>184996.882</c:v>
                </c:pt>
                <c:pt idx="6">
                  <c:v>200110.842</c:v>
                </c:pt>
                <c:pt idx="7">
                  <c:v>216446.692</c:v>
                </c:pt>
                <c:pt idx="8">
                  <c:v>234101.752</c:v>
                </c:pt>
                <c:pt idx="9">
                  <c:v>253181.162</c:v>
                </c:pt>
                <c:pt idx="10">
                  <c:v>273798.75</c:v>
                </c:pt>
                <c:pt idx="11">
                  <c:v>296076.381</c:v>
                </c:pt>
                <c:pt idx="12">
                  <c:v>320146.324</c:v>
                </c:pt>
                <c:pt idx="13">
                  <c:v>346151.171</c:v>
                </c:pt>
                <c:pt idx="14">
                  <c:v>374244.159</c:v>
                </c:pt>
                <c:pt idx="15">
                  <c:v>404590.96</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118118.09</c:v>
                </c:pt>
                <c:pt idx="1">
                  <c:v>126195.041</c:v>
                </c:pt>
                <c:pt idx="2">
                  <c:v>135070.719</c:v>
                </c:pt>
                <c:pt idx="3">
                  <c:v>144834.25</c:v>
                </c:pt>
                <c:pt idx="4">
                  <c:v>155586.632</c:v>
                </c:pt>
                <c:pt idx="5">
                  <c:v>167441.296</c:v>
                </c:pt>
                <c:pt idx="6">
                  <c:v>180527.057</c:v>
                </c:pt>
                <c:pt idx="7">
                  <c:v>194629.268</c:v>
                </c:pt>
                <c:pt idx="8">
                  <c:v>209826.193</c:v>
                </c:pt>
                <c:pt idx="9">
                  <c:v>226202.262</c:v>
                </c:pt>
                <c:pt idx="10">
                  <c:v>243848.756</c:v>
                </c:pt>
                <c:pt idx="11">
                  <c:v>262863.166</c:v>
                </c:pt>
                <c:pt idx="12">
                  <c:v>283351.208</c:v>
                </c:pt>
                <c:pt idx="13">
                  <c:v>305426.681</c:v>
                </c:pt>
                <c:pt idx="14">
                  <c:v>329211.653</c:v>
                </c:pt>
                <c:pt idx="15">
                  <c:v>354837.954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572.877</c:v>
                </c:pt>
                <c:pt idx="1">
                  <c:v>610.457</c:v>
                </c:pt>
                <c:pt idx="2">
                  <c:v>651.656</c:v>
                </c:pt>
                <c:pt idx="3">
                  <c:v>696.867</c:v>
                </c:pt>
                <c:pt idx="4">
                  <c:v>746.528</c:v>
                </c:pt>
                <c:pt idx="5">
                  <c:v>801.141</c:v>
                </c:pt>
                <c:pt idx="6">
                  <c:v>861.315</c:v>
                </c:pt>
                <c:pt idx="7">
                  <c:v>925.926</c:v>
                </c:pt>
                <c:pt idx="8">
                  <c:v>995.297</c:v>
                </c:pt>
                <c:pt idx="9">
                  <c:v>1069.772</c:v>
                </c:pt>
                <c:pt idx="10">
                  <c:v>1149.717</c:v>
                </c:pt>
                <c:pt idx="11">
                  <c:v>1235.517</c:v>
                </c:pt>
                <c:pt idx="12">
                  <c:v>1327.606</c:v>
                </c:pt>
                <c:pt idx="13">
                  <c:v>1426.429</c:v>
                </c:pt>
                <c:pt idx="14">
                  <c:v>1532.468</c:v>
                </c:pt>
                <c:pt idx="15">
                  <c:v>1646.242</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437.494</c:v>
                </c:pt>
                <c:pt idx="1">
                  <c:v>472.557</c:v>
                </c:pt>
                <c:pt idx="2">
                  <c:v>511.394</c:v>
                </c:pt>
                <c:pt idx="3">
                  <c:v>554.466</c:v>
                </c:pt>
                <c:pt idx="4">
                  <c:v>602.297</c:v>
                </c:pt>
                <c:pt idx="5">
                  <c:v>655.478</c:v>
                </c:pt>
                <c:pt idx="6">
                  <c:v>714.659</c:v>
                </c:pt>
                <c:pt idx="7">
                  <c:v>779.199</c:v>
                </c:pt>
                <c:pt idx="8">
                  <c:v>849.582</c:v>
                </c:pt>
                <c:pt idx="9">
                  <c:v>926.339</c:v>
                </c:pt>
                <c:pt idx="10">
                  <c:v>1010.046</c:v>
                </c:pt>
                <c:pt idx="11">
                  <c:v>1101.34</c:v>
                </c:pt>
                <c:pt idx="12">
                  <c:v>1200.893</c:v>
                </c:pt>
                <c:pt idx="13">
                  <c:v>1309.469</c:v>
                </c:pt>
                <c:pt idx="14">
                  <c:v>1427.869</c:v>
                </c:pt>
                <c:pt idx="15">
                  <c:v>1556.995</c:v>
                </c:pt>
              </c:numCache>
            </c:numRef>
          </c:val>
        </c:ser>
        <c:ser>
          <c:idx val="2"/>
          <c:order val="2"/>
          <c:tx>
            <c:strRef>
              <c:strCache>
                <c:ptCount val="1"/>
                <c:pt idx="0">
                  <c:v>East Asia</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217.785</c:v>
                </c:pt>
                <c:pt idx="1">
                  <c:v>233.73</c:v>
                </c:pt>
                <c:pt idx="2">
                  <c:v>251.285</c:v>
                </c:pt>
                <c:pt idx="3">
                  <c:v>270.638</c:v>
                </c:pt>
                <c:pt idx="4">
                  <c:v>291.999</c:v>
                </c:pt>
                <c:pt idx="5">
                  <c:v>315.601</c:v>
                </c:pt>
                <c:pt idx="6">
                  <c:v>341.714</c:v>
                </c:pt>
                <c:pt idx="7">
                  <c:v>369.955</c:v>
                </c:pt>
                <c:pt idx="8">
                  <c:v>400.496</c:v>
                </c:pt>
                <c:pt idx="9">
                  <c:v>433.52</c:v>
                </c:pt>
                <c:pt idx="10">
                  <c:v>469.225</c:v>
                </c:pt>
                <c:pt idx="11">
                  <c:v>507.826</c:v>
                </c:pt>
                <c:pt idx="12">
                  <c:v>549.554</c:v>
                </c:pt>
                <c:pt idx="13">
                  <c:v>594.656</c:v>
                </c:pt>
                <c:pt idx="14">
                  <c:v>643.404</c:v>
                </c:pt>
                <c:pt idx="15">
                  <c:v>696.086</c:v>
                </c:pt>
              </c:numCache>
            </c:numRef>
          </c:val>
        </c:ser>
        <c:ser>
          <c:idx val="3"/>
          <c:order val="3"/>
          <c:tx>
            <c:strRef>
              <c:strCache>
                <c:ptCount val="1"/>
                <c:pt idx="0">
                  <c:v>South Asia &amp; Pacific</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191.75</c:v>
                </c:pt>
                <c:pt idx="1">
                  <c:v>207.705</c:v>
                </c:pt>
                <c:pt idx="2">
                  <c:v>225.407</c:v>
                </c:pt>
                <c:pt idx="3">
                  <c:v>245.074</c:v>
                </c:pt>
                <c:pt idx="4">
                  <c:v>266.954</c:v>
                </c:pt>
                <c:pt idx="5">
                  <c:v>291.324</c:v>
                </c:pt>
                <c:pt idx="6">
                  <c:v>318.487</c:v>
                </c:pt>
                <c:pt idx="7">
                  <c:v>348.182</c:v>
                </c:pt>
                <c:pt idx="8">
                  <c:v>380.645</c:v>
                </c:pt>
                <c:pt idx="9">
                  <c:v>416.133</c:v>
                </c:pt>
                <c:pt idx="10">
                  <c:v>454.926</c:v>
                </c:pt>
                <c:pt idx="11">
                  <c:v>497.332</c:v>
                </c:pt>
                <c:pt idx="12">
                  <c:v>543.69</c:v>
                </c:pt>
                <c:pt idx="13">
                  <c:v>594.362</c:v>
                </c:pt>
                <c:pt idx="14">
                  <c:v>649.747</c:v>
                </c:pt>
                <c:pt idx="15">
                  <c:v>710.289</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130.567</c:v>
                </c:pt>
                <c:pt idx="1">
                  <c:v>140.849</c:v>
                </c:pt>
                <c:pt idx="2">
                  <c:v>152.218</c:v>
                </c:pt>
                <c:pt idx="3">
                  <c:v>164.801</c:v>
                </c:pt>
                <c:pt idx="4">
                  <c:v>178.744</c:v>
                </c:pt>
                <c:pt idx="5">
                  <c:v>194.217</c:v>
                </c:pt>
                <c:pt idx="6">
                  <c:v>211.397</c:v>
                </c:pt>
                <c:pt idx="7">
                  <c:v>230.089</c:v>
                </c:pt>
                <c:pt idx="8">
                  <c:v>250.416</c:v>
                </c:pt>
                <c:pt idx="9">
                  <c:v>272.525</c:v>
                </c:pt>
                <c:pt idx="10">
                  <c:v>296.568</c:v>
                </c:pt>
                <c:pt idx="11">
                  <c:v>322.71</c:v>
                </c:pt>
                <c:pt idx="12">
                  <c:v>351.141</c:v>
                </c:pt>
                <c:pt idx="13">
                  <c:v>382.05</c:v>
                </c:pt>
                <c:pt idx="14">
                  <c:v>415.66</c:v>
                </c:pt>
                <c:pt idx="15">
                  <c:v>452.192</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117.192</c:v>
                </c:pt>
                <c:pt idx="1">
                  <c:v>125.774</c:v>
                </c:pt>
                <c:pt idx="2">
                  <c:v>135.233</c:v>
                </c:pt>
                <c:pt idx="3">
                  <c:v>145.668</c:v>
                </c:pt>
                <c:pt idx="4">
                  <c:v>157.193</c:v>
                </c:pt>
                <c:pt idx="5">
                  <c:v>169.939</c:v>
                </c:pt>
                <c:pt idx="6">
                  <c:v>184.054</c:v>
                </c:pt>
                <c:pt idx="7">
                  <c:v>199.332</c:v>
                </c:pt>
                <c:pt idx="8">
                  <c:v>215.871</c:v>
                </c:pt>
                <c:pt idx="9">
                  <c:v>233.772</c:v>
                </c:pt>
                <c:pt idx="10">
                  <c:v>253.151</c:v>
                </c:pt>
                <c:pt idx="11">
                  <c:v>274.133</c:v>
                </c:pt>
                <c:pt idx="12">
                  <c:v>296.837</c:v>
                </c:pt>
                <c:pt idx="13">
                  <c:v>321.411</c:v>
                </c:pt>
                <c:pt idx="14">
                  <c:v>348.012</c:v>
                </c:pt>
                <c:pt idx="15">
                  <c:v>376.796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Subcutaneous Immunotherapy (SCIT)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47.30358071741738</c:v>
                </c:pt>
                <c:pt idx="1">
                  <c:v>45.50721817281155</c:v>
                </c:pt>
                <c:pt idx="2">
                  <c:v>44.61862471016512</c:v>
                </c:pt>
                <c:pt idx="3">
                  <c:v>40.98979429499823</c:v>
                </c:pt>
                <c:pt idx="4">
                  <c:v>48.021605721277204</c:v>
                </c:pt>
                <c:pt idx="5">
                  <c:v>41.64466706595993</c:v>
                </c:pt>
              </c:numCache>
            </c:numRef>
          </c:val>
        </c:ser>
        <c:ser>
          <c:idx val="1"/>
          <c:order val="1"/>
          <c:tx>
            <c:strRef>
              <c:strCache>
                <c:ptCount val="1"/>
                <c:pt idx="0">
                  <c:v>Sublingual Immunotherapy (SLIT)</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45.385832121360096</c:v>
                </c:pt>
                <c:pt idx="1">
                  <c:v>47.46988005095181</c:v>
                </c:pt>
                <c:pt idx="2">
                  <c:v>48.815519921389026</c:v>
                </c:pt>
                <c:pt idx="3">
                  <c:v>51.893243454424876</c:v>
                </c:pt>
                <c:pt idx="4">
                  <c:v>45.635792022453515</c:v>
                </c:pt>
                <c:pt idx="5">
                  <c:v>52.19542448801574</c:v>
                </c:pt>
              </c:numCache>
            </c:numRef>
          </c:val>
        </c:ser>
        <c:ser>
          <c:idx val="2"/>
          <c:order val="2"/>
          <c:tx>
            <c:strRef>
              <c:strCache>
                <c:ptCount val="1"/>
                <c:pt idx="0">
                  <c:v>Oral Immunotherapy (OIT)</c:v>
                </c:pt>
              </c:strCache>
            </c:strRef>
          </c:tx>
          <c:spPr>
            <a:solidFill>
              <a:srgbClr val="008189"/>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7.310587161222518</c:v>
                </c:pt>
                <c:pt idx="1">
                  <c:v>7.022901776236642</c:v>
                </c:pt>
                <c:pt idx="2">
                  <c:v>6.5658553684458525</c:v>
                </c:pt>
                <c:pt idx="3">
                  <c:v>7.1169622505768775</c:v>
                </c:pt>
                <c:pt idx="4">
                  <c:v>6.342602256269289</c:v>
                </c:pt>
                <c:pt idx="5">
                  <c:v>6.159908446024339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Subcutaneous Immunotherapy (SCIT)</c:v>
                </c:pt>
              </c:strCache>
            </c:strRef>
          </c:tx>
          <c:spPr>
            <a:solidFill>
              <a:srgbClr val="3D85C6"/>
            </a:solidFill>
          </c:spPr>
          <c:invertIfNegative val="0"/>
          <c:xVal>
            <c:numRef>
              <c:numCache>
                <c:formatCode>General</c:formatCode>
                <c:ptCount val="1"/>
                <c:pt idx="0">
                  <c:v>100.76271978339584</c:v>
                </c:pt>
              </c:numCache>
            </c:numRef>
          </c:xVal>
          <c:yVal>
            <c:numRef>
              <c:numCache>
                <c:formatCode>General</c:formatCode>
                <c:ptCount val="1"/>
                <c:pt idx="0">
                  <c:v>132.6497507929316</c:v>
                </c:pt>
              </c:numCache>
            </c:numRef>
          </c:yVal>
          <c:bubbleSize>
            <c:numRef>
              <c:numCache>
                <c:formatCode>General</c:formatCode>
                <c:ptCount val="1"/>
                <c:pt idx="0">
                  <c:v>2419.014</c:v>
                </c:pt>
              </c:numCache>
            </c:numRef>
          </c:bubbleSize>
          <c:bubble3D val="0"/>
        </c:ser>
        <c:ser>
          <c:idx val="1"/>
          <c:order val="1"/>
          <c:tx>
            <c:strRef>
              <c:strCache>
                <c:ptCount val="1"/>
                <c:pt idx="0">
                  <c:v>Sublingual Immunotherapy (SLIT)</c:v>
                </c:pt>
              </c:strCache>
            </c:strRef>
          </c:tx>
          <c:spPr>
            <a:solidFill>
              <a:srgbClr val="9E7E0A"/>
            </a:solidFill>
          </c:spPr>
          <c:invertIfNegative val="0"/>
          <c:xVal>
            <c:numRef>
              <c:numCache>
                <c:formatCode>General</c:formatCode>
                <c:ptCount val="1"/>
                <c:pt idx="0">
                  <c:v>104.70392298295181</c:v>
                </c:pt>
              </c:numCache>
            </c:numRef>
          </c:xVal>
          <c:yVal>
            <c:numRef>
              <c:numCache>
                <c:formatCode>General</c:formatCode>
                <c:ptCount val="1"/>
                <c:pt idx="0">
                  <c:v>141.6918894426824</c:v>
                </c:pt>
              </c:numCache>
            </c:numRef>
          </c:yVal>
          <c:bubbleSize>
            <c:numRef>
              <c:numCache>
                <c:formatCode>General</c:formatCode>
                <c:ptCount val="1"/>
                <c:pt idx="0">
                  <c:v>2663.867</c:v>
                </c:pt>
              </c:numCache>
            </c:numRef>
          </c:bubbleSize>
          <c:bubble3D val="0"/>
        </c:ser>
        <c:ser>
          <c:idx val="2"/>
          <c:order val="2"/>
          <c:tx>
            <c:strRef>
              <c:strCache>
                <c:ptCount val="1"/>
                <c:pt idx="0">
                  <c:v>Oral Immunotherapy (OIT)</c:v>
                </c:pt>
              </c:strCache>
            </c:strRef>
          </c:tx>
          <c:spPr>
            <a:solidFill>
              <a:srgbClr val="008189"/>
            </a:solidFill>
          </c:spPr>
          <c:invertIfNegative val="0"/>
          <c:xVal>
            <c:numRef>
              <c:numCache>
                <c:formatCode>General</c:formatCode>
                <c:ptCount val="1"/>
                <c:pt idx="0">
                  <c:v>65.84650004605747</c:v>
                </c:pt>
              </c:numCache>
            </c:numRef>
          </c:xVal>
          <c:yVal>
            <c:numRef>
              <c:numCache>
                <c:formatCode>General</c:formatCode>
                <c:ptCount val="1"/>
                <c:pt idx="0">
                  <c:v>25.658359764386045</c:v>
                </c:pt>
              </c:numCache>
            </c:numRef>
          </c:yVal>
          <c:bubbleSize>
            <c:numRef>
              <c:numCache>
                <c:formatCode>General</c:formatCode>
                <c:ptCount val="1"/>
                <c:pt idx="0">
                  <c:v>355.719</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5.0"/>
          <c:min val="5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1073.446</c:v>
                </c:pt>
                <c:pt idx="2">
                  <c:v>1262.872</c:v>
                </c:pt>
                <c:pt idx="3">
                  <c:v>1485.713</c:v>
                </c:pt>
                <c:pt idx="4">
                  <c:v>1747.855</c:v>
                </c:pt>
                <c:pt idx="5">
                  <c:v>2056.243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1073.446</c:v>
                </c:pt>
                <c:pt idx="1">
                  <c:v>189.42600000000016</c:v>
                </c:pt>
                <c:pt idx="2">
                  <c:v>222.8409999999999</c:v>
                </c:pt>
                <c:pt idx="3">
                  <c:v>262.14200000000005</c:v>
                </c:pt>
                <c:pt idx="4">
                  <c:v>308.3879999999999</c:v>
                </c:pt>
                <c:pt idx="5">
                  <c:v>362.7710000000002</c:v>
                </c:pt>
                <c:pt idx="6">
                  <c:v>2419.014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1146.618</c:v>
                </c:pt>
                <c:pt idx="2">
                  <c:v>1357.753</c:v>
                </c:pt>
                <c:pt idx="3">
                  <c:v>1607.413</c:v>
                </c:pt>
                <c:pt idx="4">
                  <c:v>1902.577</c:v>
                </c:pt>
                <c:pt idx="5">
                  <c:v>2251.486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1146.618</c:v>
                </c:pt>
                <c:pt idx="1">
                  <c:v>211.135</c:v>
                </c:pt>
                <c:pt idx="2">
                  <c:v>249.66000000000008</c:v>
                </c:pt>
                <c:pt idx="3">
                  <c:v>295.164</c:v>
                </c:pt>
                <c:pt idx="4">
                  <c:v>348.9089999999999</c:v>
                </c:pt>
                <c:pt idx="5">
                  <c:v>412.3810000000003</c:v>
                </c:pt>
                <c:pt idx="6">
                  <c:v>2663.867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207.636</c:v>
                </c:pt>
                <c:pt idx="2">
                  <c:v>232.058</c:v>
                </c:pt>
                <c:pt idx="3">
                  <c:v>258.935</c:v>
                </c:pt>
                <c:pt idx="4">
                  <c:v>288.426</c:v>
                </c:pt>
                <c:pt idx="5">
                  <c:v>320.648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207.636</c:v>
                </c:pt>
                <c:pt idx="1">
                  <c:v>24.421999999999997</c:v>
                </c:pt>
                <c:pt idx="2">
                  <c:v>26.87700000000001</c:v>
                </c:pt>
                <c:pt idx="3">
                  <c:v>29.490999999999985</c:v>
                </c:pt>
                <c:pt idx="4">
                  <c:v>32.22200000000004</c:v>
                </c:pt>
                <c:pt idx="5">
                  <c:v>35.07099999999997</c:v>
                </c:pt>
                <c:pt idx="6">
                  <c:v>355.719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Sublingual Immunotherapy</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46.28327631748582</c:v>
                </c:pt>
                <c:pt idx="1">
                  <c:v>47.23062981422746</c:v>
                </c:pt>
                <c:pt idx="2">
                  <c:v>48.9807487220976</c:v>
                </c:pt>
              </c:numCache>
            </c:numRef>
          </c:val>
        </c:ser>
        <c:ser>
          <c:idx val="1"/>
          <c:order val="1"/>
          <c:tx>
            <c:strRef>
              <c:strCache>
                <c:ptCount val="1"/>
                <c:pt idx="0">
                  <c:v>Subcutaneous Immunotherapy</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44.08199488506385</c:v>
                </c:pt>
                <c:pt idx="1">
                  <c:v>44.21658359764386</c:v>
                </c:pt>
                <c:pt idx="2">
                  <c:v>44.47861582024786</c:v>
                </c:pt>
              </c:numCache>
            </c:numRef>
          </c:val>
        </c:ser>
        <c:ser>
          <c:idx val="2"/>
          <c:order val="2"/>
          <c:tx>
            <c:strRef>
              <c:strCache>
                <c:ptCount val="1"/>
                <c:pt idx="0">
                  <c:v>Oral Immunotherapy</c:v>
                </c:pt>
              </c:strCache>
            </c:strRef>
          </c:tx>
          <c:spPr>
            <a:solidFill>
              <a:srgbClr val="008189"/>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9.634728797450329</c:v>
                </c:pt>
                <c:pt idx="1">
                  <c:v>8.552786588128681</c:v>
                </c:pt>
                <c:pt idx="2">
                  <c:v>6.540635457654542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Inhalant Allergens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65.27033195681481</c:v>
                </c:pt>
                <c:pt idx="1">
                  <c:v>63.213856061142174</c:v>
                </c:pt>
                <c:pt idx="2">
                  <c:v>64.98334975850685</c:v>
                </c:pt>
                <c:pt idx="3">
                  <c:v>64.1350210970464</c:v>
                </c:pt>
                <c:pt idx="4">
                  <c:v>64.1517153234275</c:v>
                </c:pt>
                <c:pt idx="5">
                  <c:v>62.99930386905449</c:v>
                </c:pt>
              </c:numCache>
            </c:numRef>
          </c:val>
        </c:ser>
        <c:ser>
          <c:idx val="1"/>
          <c:order val="1"/>
          <c:tx>
            <c:strRef>
              <c:strCache>
                <c:ptCount val="1"/>
                <c:pt idx="0">
                  <c:v>Venom Allergens</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16.388178218452428</c:v>
                </c:pt>
                <c:pt idx="1">
                  <c:v>16.88840138702144</c:v>
                </c:pt>
                <c:pt idx="2">
                  <c:v>15.499952592064773</c:v>
                </c:pt>
                <c:pt idx="3">
                  <c:v>15.573238498695602</c:v>
                </c:pt>
                <c:pt idx="4">
                  <c:v>15.95008333360094</c:v>
                </c:pt>
                <c:pt idx="5">
                  <c:v>16.594401066185892</c:v>
                </c:pt>
              </c:numCache>
            </c:numRef>
          </c:val>
        </c:ser>
        <c:ser>
          <c:idx val="2"/>
          <c:order val="2"/>
          <c:tx>
            <c:strRef>
              <c:strCache>
                <c:ptCount val="1"/>
                <c:pt idx="0">
                  <c:v>Food Allergens</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18.341489824732747</c:v>
                </c:pt>
                <c:pt idx="1">
                  <c:v>19.897742551836387</c:v>
                </c:pt>
                <c:pt idx="2">
                  <c:v>19.516697649428377</c:v>
                </c:pt>
                <c:pt idx="3">
                  <c:v>20.291740404257986</c:v>
                </c:pt>
                <c:pt idx="4">
                  <c:v>19.898201342971557</c:v>
                </c:pt>
                <c:pt idx="5">
                  <c:v>20.406295064759615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Inhalant Allergens</c:v>
                </c:pt>
              </c:strCache>
            </c:strRef>
          </c:tx>
          <c:spPr>
            <a:solidFill>
              <a:srgbClr val="3D85C6"/>
            </a:solidFill>
          </c:spPr>
          <c:invertIfNegative val="0"/>
          <c:xVal>
            <c:numRef>
              <c:numCache>
                <c:formatCode>General</c:formatCode>
                <c:ptCount val="1"/>
                <c:pt idx="0">
                  <c:v>109.262102182911</c:v>
                </c:pt>
              </c:numCache>
            </c:numRef>
          </c:xVal>
          <c:yVal>
            <c:numRef>
              <c:numCache>
                <c:formatCode>General</c:formatCode>
                <c:ptCount val="1"/>
                <c:pt idx="0">
                  <c:v>178.48770441158302</c:v>
                </c:pt>
              </c:numCache>
            </c:numRef>
          </c:yVal>
          <c:bubbleSize>
            <c:numRef>
              <c:numCache>
                <c:formatCode>General</c:formatCode>
                <c:ptCount val="1"/>
                <c:pt idx="0">
                  <c:v>3475.6279999999997</c:v>
                </c:pt>
              </c:numCache>
            </c:numRef>
          </c:bubbleSize>
          <c:bubble3D val="0"/>
        </c:ser>
        <c:ser>
          <c:idx val="1"/>
          <c:order val="1"/>
          <c:tx>
            <c:strRef>
              <c:strCache>
                <c:ptCount val="1"/>
                <c:pt idx="0">
                  <c:v>Venom Allergens</c:v>
                </c:pt>
              </c:strCache>
            </c:strRef>
          </c:tx>
          <c:spPr>
            <a:solidFill>
              <a:srgbClr val="9E7E0A"/>
            </a:solidFill>
          </c:spPr>
          <c:invertIfNegative val="0"/>
          <c:xVal>
            <c:numRef>
              <c:numCache>
                <c:formatCode>General</c:formatCode>
                <c:ptCount val="1"/>
                <c:pt idx="0">
                  <c:v>87.36246938310086</c:v>
                </c:pt>
              </c:numCache>
            </c:numRef>
          </c:xVal>
          <c:yVal>
            <c:numRef>
              <c:numCache>
                <c:formatCode>General</c:formatCode>
                <c:ptCount val="1"/>
                <c:pt idx="0">
                  <c:v>53.449478930675134</c:v>
                </c:pt>
              </c:numCache>
            </c:numRef>
          </c:yVal>
          <c:bubbleSize>
            <c:numRef>
              <c:numCache>
                <c:formatCode>General</c:formatCode>
                <c:ptCount val="1"/>
                <c:pt idx="0">
                  <c:v>878.152</c:v>
                </c:pt>
              </c:numCache>
            </c:numRef>
          </c:bubbleSize>
          <c:bubble3D val="0"/>
        </c:ser>
        <c:ser>
          <c:idx val="2"/>
          <c:order val="2"/>
          <c:tx>
            <c:strRef>
              <c:strCache>
                <c:ptCount val="1"/>
                <c:pt idx="0">
                  <c:v>Food Allergens</c:v>
                </c:pt>
              </c:strCache>
            </c:strRef>
          </c:tx>
          <c:spPr>
            <a:solidFill>
              <a:srgbClr val="008189"/>
            </a:solidFill>
          </c:spPr>
          <c:invertIfNegative val="0"/>
          <c:xVal>
            <c:numRef>
              <c:numCache>
                <c:formatCode>General</c:formatCode>
                <c:ptCount val="1"/>
                <c:pt idx="0">
                  <c:v>83.49079997160183</c:v>
                </c:pt>
              </c:numCache>
            </c:numRef>
          </c:xVal>
          <c:yVal>
            <c:numRef>
              <c:numCache>
                <c:formatCode>General</c:formatCode>
                <c:ptCount val="1"/>
                <c:pt idx="0">
                  <c:v>68.0628166577419</c:v>
                </c:pt>
              </c:numCache>
            </c:numRef>
          </c:yVal>
          <c:bubbleSize>
            <c:numRef>
              <c:numCache>
                <c:formatCode>General</c:formatCode>
                <c:ptCount val="1"/>
                <c:pt idx="0">
                  <c:v>1084.8200000000002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7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1444.382</c:v>
                </c:pt>
                <c:pt idx="2">
                  <c:v>1722.312</c:v>
                </c:pt>
                <c:pt idx="3">
                  <c:v>2053.325</c:v>
                </c:pt>
                <c:pt idx="4">
                  <c:v>2447.523</c:v>
                </c:pt>
                <c:pt idx="5">
                  <c:v>2916.878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1444.382</c:v>
                </c:pt>
                <c:pt idx="1">
                  <c:v>277.92999999999984</c:v>
                </c:pt>
                <c:pt idx="2">
                  <c:v>331.0129999999999</c:v>
                </c:pt>
                <c:pt idx="3">
                  <c:v>394.1980000000003</c:v>
                </c:pt>
                <c:pt idx="4">
                  <c:v>469.355</c:v>
                </c:pt>
                <c:pt idx="5">
                  <c:v>558.7499999999995</c:v>
                </c:pt>
                <c:pt idx="6">
                  <c:v>3475.6279999999997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432.531</c:v>
                </c:pt>
                <c:pt idx="2">
                  <c:v>498.751</c:v>
                </c:pt>
                <c:pt idx="3">
                  <c:v>574.884</c:v>
                </c:pt>
                <c:pt idx="4">
                  <c:v>662.362</c:v>
                </c:pt>
                <c:pt idx="5">
                  <c:v>762.825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432.531</c:v>
                </c:pt>
                <c:pt idx="1">
                  <c:v>66.21999999999997</c:v>
                </c:pt>
                <c:pt idx="2">
                  <c:v>76.13300000000004</c:v>
                </c:pt>
                <c:pt idx="3">
                  <c:v>87.47799999999995</c:v>
                </c:pt>
                <c:pt idx="4">
                  <c:v>100.46300000000008</c:v>
                </c:pt>
                <c:pt idx="5">
                  <c:v>115.327</c:v>
                </c:pt>
                <c:pt idx="6">
                  <c:v>878.152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550.787</c:v>
                </c:pt>
                <c:pt idx="2">
                  <c:v>631.62</c:v>
                </c:pt>
                <c:pt idx="3">
                  <c:v>723.852</c:v>
                </c:pt>
                <c:pt idx="4">
                  <c:v>828.973</c:v>
                </c:pt>
                <c:pt idx="5">
                  <c:v>948.674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550.787</c:v>
                </c:pt>
                <c:pt idx="1">
                  <c:v>80.83299999999997</c:v>
                </c:pt>
                <c:pt idx="2">
                  <c:v>92.23199999999997</c:v>
                </c:pt>
                <c:pt idx="3">
                  <c:v>105.12099999999998</c:v>
                </c:pt>
                <c:pt idx="4">
                  <c:v>119.70100000000002</c:v>
                </c:pt>
                <c:pt idx="5">
                  <c:v>136.14600000000019</c:v>
                </c:pt>
                <c:pt idx="6">
                  <c:v>1084.8200000000002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Inhalant Allergens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57.30347521834421</c:v>
                </c:pt>
                <c:pt idx="1">
                  <c:v>59.495901470527656</c:v>
                </c:pt>
                <c:pt idx="2">
                  <c:v>63.90666715698892</c:v>
                </c:pt>
              </c:numCache>
            </c:numRef>
          </c:val>
        </c:ser>
        <c:ser>
          <c:idx val="1"/>
          <c:order val="1"/>
          <c:tx>
            <c:strRef>
              <c:strCache>
                <c:ptCount val="1"/>
                <c:pt idx="0">
                  <c:v>Food Allergens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24.048714819822926</c:v>
                </c:pt>
                <c:pt idx="1">
                  <c:v>22.68760555258063</c:v>
                </c:pt>
                <c:pt idx="2">
                  <c:v>19.946677453756482</c:v>
                </c:pt>
              </c:numCache>
            </c:numRef>
          </c:val>
        </c:ser>
        <c:ser>
          <c:idx val="2"/>
          <c:order val="2"/>
          <c:tx>
            <c:strRef>
              <c:strCache>
                <c:ptCount val="1"/>
                <c:pt idx="0">
                  <c:v>Venom Allergens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18.64780996183286</c:v>
                </c:pt>
                <c:pt idx="1">
                  <c:v>17.816492976891706</c:v>
                </c:pt>
                <c:pt idx="2">
                  <c:v>16.146655389254587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Licensed Finished AIT Products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33.82838459006996</c:v>
                </c:pt>
                <c:pt idx="1">
                  <c:v>35.469888896751826</c:v>
                </c:pt>
                <c:pt idx="2">
                  <c:v>34.04148337992719</c:v>
                </c:pt>
                <c:pt idx="3">
                  <c:v>33.807647309757016</c:v>
                </c:pt>
                <c:pt idx="4">
                  <c:v>35.163311378649254</c:v>
                </c:pt>
                <c:pt idx="5">
                  <c:v>36.52822610527492</c:v>
                </c:pt>
              </c:numCache>
            </c:numRef>
          </c:val>
        </c:ser>
        <c:ser>
          <c:idx val="1"/>
          <c:order val="1"/>
          <c:tx>
            <c:strRef>
              <c:strCache>
                <c:ptCount val="1"/>
                <c:pt idx="0">
                  <c:v>Individual-Prescription Products</c:v>
                </c:pt>
              </c:strCache>
            </c:strRef>
          </c:tx>
          <c:spPr>
            <a:solidFill>
              <a:srgbClr val="9E7E0A"/>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32.897642225501336</c:v>
                </c:pt>
                <c:pt idx="1">
                  <c:v>29.814990092703987</c:v>
                </c:pt>
                <c:pt idx="2">
                  <c:v>29.919866223426418</c:v>
                </c:pt>
                <c:pt idx="3">
                  <c:v>29.865026770793296</c:v>
                </c:pt>
                <c:pt idx="4">
                  <c:v>31.53677436343726</c:v>
                </c:pt>
                <c:pt idx="5">
                  <c:v>33.88159213529967</c:v>
                </c:pt>
              </c:numCache>
            </c:numRef>
          </c:val>
        </c:ser>
        <c:ser>
          <c:idx val="2"/>
          <c:order val="2"/>
          <c:tx>
            <c:strRef>
              <c:strCache>
                <c:ptCount val="1"/>
                <c:pt idx="0">
                  <c:v>Bulk Allergen Extracts</c:v>
                </c:pt>
              </c:strCache>
            </c:strRef>
          </c:tx>
          <c:spPr>
            <a:solidFill>
              <a:srgbClr val="008189"/>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33.27397318442871</c:v>
                </c:pt>
                <c:pt idx="1">
                  <c:v>34.715121010544195</c:v>
                </c:pt>
                <c:pt idx="2">
                  <c:v>36.038650396646396</c:v>
                </c:pt>
                <c:pt idx="3">
                  <c:v>36.327325919449684</c:v>
                </c:pt>
                <c:pt idx="4">
                  <c:v>33.299914257913485</c:v>
                </c:pt>
                <c:pt idx="5">
                  <c:v>29.590181759425406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Licensed Finished AIT Products</c:v>
                </c:pt>
              </c:strCache>
            </c:strRef>
          </c:tx>
          <c:spPr>
            <a:solidFill>
              <a:srgbClr val="3D85C6"/>
            </a:solidFill>
          </c:spPr>
          <c:invertIfNegative val="0"/>
          <c:xVal>
            <c:numRef>
              <c:numCache>
                <c:formatCode>General</c:formatCode>
                <c:ptCount val="1"/>
                <c:pt idx="0">
                  <c:v>110.58338319158221</c:v>
                </c:pt>
              </c:numCache>
            </c:numRef>
          </c:xVal>
          <c:yVal>
            <c:numRef>
              <c:numCache>
                <c:formatCode>General</c:formatCode>
                <c:ptCount val="1"/>
                <c:pt idx="0">
                  <c:v>97.28689706306382</c:v>
                </c:pt>
              </c:numCache>
            </c:numRef>
          </c:yVal>
          <c:bubbleSize>
            <c:numRef>
              <c:numCache>
                <c:formatCode>General</c:formatCode>
                <c:ptCount val="1"/>
                <c:pt idx="0">
                  <c:v>1913.7799999999997</c:v>
                </c:pt>
              </c:numCache>
            </c:numRef>
          </c:bubbleSize>
          <c:bubble3D val="0"/>
        </c:ser>
        <c:ser>
          <c:idx val="1"/>
          <c:order val="1"/>
          <c:tx>
            <c:strRef>
              <c:strCache>
                <c:ptCount val="1"/>
                <c:pt idx="0">
                  <c:v>Individual-Prescription Products</c:v>
                </c:pt>
              </c:strCache>
            </c:strRef>
          </c:tx>
          <c:spPr>
            <a:solidFill>
              <a:srgbClr val="9E7E0A"/>
            </a:solidFill>
          </c:spPr>
          <c:invertIfNegative val="0"/>
          <c:xVal>
            <c:numRef>
              <c:numCache>
                <c:formatCode>General</c:formatCode>
                <c:ptCount val="1"/>
                <c:pt idx="0">
                  <c:v>90.20569770593838</c:v>
                </c:pt>
              </c:numCache>
            </c:numRef>
          </c:xVal>
          <c:yVal>
            <c:numRef>
              <c:numCache>
                <c:formatCode>General</c:formatCode>
                <c:ptCount val="1"/>
                <c:pt idx="0">
                  <c:v>102.86279194299132</c:v>
                </c:pt>
              </c:numCache>
            </c:numRef>
          </c:yVal>
          <c:bubbleSize>
            <c:numRef>
              <c:numCache>
                <c:formatCode>General</c:formatCode>
                <c:ptCount val="1"/>
                <c:pt idx="0">
                  <c:v>1727.973</c:v>
                </c:pt>
              </c:numCache>
            </c:numRef>
          </c:bubbleSize>
          <c:bubble3D val="0"/>
        </c:ser>
        <c:ser>
          <c:idx val="2"/>
          <c:order val="2"/>
          <c:tx>
            <c:strRef>
              <c:strCache>
                <c:ptCount val="1"/>
                <c:pt idx="0">
                  <c:v>Bulk Allergen Extracts</c:v>
                </c:pt>
              </c:strCache>
            </c:strRef>
          </c:tx>
          <c:spPr>
            <a:solidFill>
              <a:srgbClr val="008189"/>
            </a:solidFill>
          </c:spPr>
          <c:invertIfNegative val="0"/>
          <c:xVal>
            <c:numRef>
              <c:numCache>
                <c:formatCode>General</c:formatCode>
                <c:ptCount val="1"/>
                <c:pt idx="0">
                  <c:v>99.04824723469763</c:v>
                </c:pt>
              </c:numCache>
            </c:numRef>
          </c:xVal>
          <c:yVal>
            <c:numRef>
              <c:numCache>
                <c:formatCode>General</c:formatCode>
                <c:ptCount val="1"/>
                <c:pt idx="0">
                  <c:v>99.85031099394492</c:v>
                </c:pt>
              </c:numCache>
            </c:numRef>
          </c:yVal>
          <c:bubbleSize>
            <c:numRef>
              <c:numCache>
                <c:formatCode>General</c:formatCode>
                <c:ptCount val="1"/>
                <c:pt idx="0">
                  <c:v>1796.8469999999998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20.0"/>
          <c:min val="8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787.278</c:v>
                </c:pt>
                <c:pt idx="2">
                  <c:v>941.6679999999999</c:v>
                </c:pt>
                <c:pt idx="3">
                  <c:v>1125.477</c:v>
                </c:pt>
                <c:pt idx="4">
                  <c:v>1344.226</c:v>
                </c:pt>
                <c:pt idx="5">
                  <c:v>1604.431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787.278</c:v>
                </c:pt>
                <c:pt idx="1">
                  <c:v>154.38999999999987</c:v>
                </c:pt>
                <c:pt idx="2">
                  <c:v>183.8090000000002</c:v>
                </c:pt>
                <c:pt idx="3">
                  <c:v>218.74900000000002</c:v>
                </c:pt>
                <c:pt idx="4">
                  <c:v>260.2049999999999</c:v>
                </c:pt>
                <c:pt idx="5">
                  <c:v>309.3489999999997</c:v>
                </c:pt>
                <c:pt idx="6">
                  <c:v>1913.7799999999997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832.4</c:v>
                </c:pt>
                <c:pt idx="2">
                  <c:v>962.986</c:v>
                </c:pt>
                <c:pt idx="3">
                  <c:v>1114.26</c:v>
                </c:pt>
                <c:pt idx="4">
                  <c:v>1289.522</c:v>
                </c:pt>
                <c:pt idx="5">
                  <c:v>1492.598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832.4</c:v>
                </c:pt>
                <c:pt idx="1">
                  <c:v>130.586</c:v>
                </c:pt>
                <c:pt idx="2">
                  <c:v>151.274</c:v>
                </c:pt>
                <c:pt idx="3">
                  <c:v>175.26199999999994</c:v>
                </c:pt>
                <c:pt idx="4">
                  <c:v>203.07600000000002</c:v>
                </c:pt>
                <c:pt idx="5">
                  <c:v>235.375</c:v>
                </c:pt>
                <c:pt idx="6">
                  <c:v>1727.973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808.022</c:v>
                </c:pt>
                <c:pt idx="2">
                  <c:v>948.029</c:v>
                </c:pt>
                <c:pt idx="3">
                  <c:v>1112.324</c:v>
                </c:pt>
                <c:pt idx="4">
                  <c:v>1305.11</c:v>
                </c:pt>
                <c:pt idx="5">
                  <c:v>1531.348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808.022</c:v>
                </c:pt>
                <c:pt idx="1">
                  <c:v>140.00699999999995</c:v>
                </c:pt>
                <c:pt idx="2">
                  <c:v>164.29500000000007</c:v>
                </c:pt>
                <c:pt idx="3">
                  <c:v>192.78599999999983</c:v>
                </c:pt>
                <c:pt idx="4">
                  <c:v>226.23800000000006</c:v>
                </c:pt>
                <c:pt idx="5">
                  <c:v>265.4989999999998</c:v>
                </c:pt>
                <c:pt idx="6">
                  <c:v>1796.8469999999998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Licensed Finished AIT Products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30.908485816995622</c:v>
                </c:pt>
                <c:pt idx="1">
                  <c:v>32.428965687687935</c:v>
                </c:pt>
                <c:pt idx="2">
                  <c:v>35.1888353620417</c:v>
                </c:pt>
              </c:numCache>
            </c:numRef>
          </c:val>
        </c:ser>
        <c:ser>
          <c:idx val="1"/>
          <c:order val="1"/>
          <c:tx>
            <c:strRef>
              <c:strCache>
                <c:ptCount val="1"/>
                <c:pt idx="0">
                  <c:v>Bulk Allergen Extracts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33.414024999025585</c:v>
                </c:pt>
                <c:pt idx="1">
                  <c:v>33.28343699798164</c:v>
                </c:pt>
                <c:pt idx="2">
                  <c:v>33.038778362078475</c:v>
                </c:pt>
              </c:numCache>
            </c:numRef>
          </c:val>
        </c:ser>
        <c:ser>
          <c:idx val="2"/>
          <c:order val="2"/>
          <c:tx>
            <c:strRef>
              <c:strCache>
                <c:ptCount val="1"/>
                <c:pt idx="0">
                  <c:v>Individual-Prescription Products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35.67748918397879</c:v>
                </c:pt>
                <c:pt idx="1">
                  <c:v>34.287597314330434</c:v>
                </c:pt>
                <c:pt idx="2">
                  <c:v>31.77238627587983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Native Allergen Extracts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35.5831802885381</c:v>
                </c:pt>
                <c:pt idx="1">
                  <c:v>37.07805533932489</c:v>
                </c:pt>
                <c:pt idx="2">
                  <c:v>34.17365095692199</c:v>
                </c:pt>
                <c:pt idx="3">
                  <c:v>35.546235405588426</c:v>
                </c:pt>
                <c:pt idx="4">
                  <c:v>35.20467310428101</c:v>
                </c:pt>
                <c:pt idx="5">
                  <c:v>36.8634745073932</c:v>
                </c:pt>
              </c:numCache>
            </c:numRef>
          </c:val>
        </c:ser>
        <c:ser>
          <c:idx val="1"/>
          <c:order val="1"/>
          <c:tx>
            <c:strRef>
              <c:strCache>
                <c:ptCount val="1"/>
                <c:pt idx="0">
                  <c:v>Modified Allergen</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40.90675060244801</c:v>
                </c:pt>
                <c:pt idx="1">
                  <c:v>41.22784127096455</c:v>
                </c:pt>
                <c:pt idx="2">
                  <c:v>42.39016443370503</c:v>
                </c:pt>
                <c:pt idx="3">
                  <c:v>40.72131202932891</c:v>
                </c:pt>
                <c:pt idx="4">
                  <c:v>40.630316731909865</c:v>
                </c:pt>
                <c:pt idx="5">
                  <c:v>40.00869859959836</c:v>
                </c:pt>
              </c:numCache>
            </c:numRef>
          </c:val>
        </c:ser>
        <c:ser>
          <c:idx val="2"/>
          <c:order val="2"/>
          <c:tx>
            <c:strRef>
              <c:strCache>
                <c:ptCount val="1"/>
                <c:pt idx="0">
                  <c:v>Molecular Allergen Preparations</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23.510069109013894</c:v>
                </c:pt>
                <c:pt idx="1">
                  <c:v>21.694103389710566</c:v>
                </c:pt>
                <c:pt idx="2">
                  <c:v>23.43618460937298</c:v>
                </c:pt>
                <c:pt idx="3">
                  <c:v>23.732452565082664</c:v>
                </c:pt>
                <c:pt idx="4">
                  <c:v>24.165010163809132</c:v>
                </c:pt>
                <c:pt idx="5">
                  <c:v>23.12782689300844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Native Allergen Extracts</c:v>
                </c:pt>
              </c:strCache>
            </c:strRef>
          </c:tx>
          <c:spPr>
            <a:solidFill>
              <a:srgbClr val="3D85C6"/>
            </a:solidFill>
          </c:spPr>
          <c:invertIfNegative val="0"/>
          <c:xVal>
            <c:numRef>
              <c:numCache>
                <c:formatCode>General</c:formatCode>
                <c:ptCount val="1"/>
                <c:pt idx="0">
                  <c:v>121.7223693577803</c:v>
                </c:pt>
              </c:numCache>
            </c:numRef>
          </c:xVal>
          <c:yVal>
            <c:numRef>
              <c:numCache>
                <c:formatCode>General</c:formatCode>
                <c:ptCount val="1"/>
                <c:pt idx="0">
                  <c:v>90.89207892243688</c:v>
                </c:pt>
              </c:numCache>
            </c:numRef>
          </c:yVal>
          <c:bubbleSize>
            <c:numRef>
              <c:numCache>
                <c:formatCode>General</c:formatCode>
                <c:ptCount val="1"/>
                <c:pt idx="0">
                  <c:v>1947.096</c:v>
                </c:pt>
              </c:numCache>
            </c:numRef>
          </c:bubbleSize>
          <c:bubble3D val="0"/>
        </c:ser>
        <c:ser>
          <c:idx val="1"/>
          <c:order val="1"/>
          <c:tx>
            <c:strRef>
              <c:strCache>
                <c:ptCount val="1"/>
                <c:pt idx="0">
                  <c:v>Modified Allergen</c:v>
                </c:pt>
              </c:strCache>
            </c:strRef>
          </c:tx>
          <c:spPr>
            <a:solidFill>
              <a:srgbClr val="9E7E0A"/>
            </a:solidFill>
          </c:spPr>
          <c:invertIfNegative val="0"/>
          <c:xVal>
            <c:numRef>
              <c:numCache>
                <c:formatCode>General</c:formatCode>
                <c:ptCount val="1"/>
                <c:pt idx="0">
                  <c:v>95.86153812086687</c:v>
                </c:pt>
              </c:numCache>
            </c:numRef>
          </c:xVal>
          <c:yVal>
            <c:numRef>
              <c:numCache>
                <c:formatCode>General</c:formatCode>
                <c:ptCount val="1"/>
                <c:pt idx="0">
                  <c:v>126.23466655682336</c:v>
                </c:pt>
              </c:numCache>
            </c:numRef>
          </c:yVal>
          <c:bubbleSize>
            <c:numRef>
              <c:numCache>
                <c:formatCode>General</c:formatCode>
                <c:ptCount val="1"/>
                <c:pt idx="0">
                  <c:v>2216.127</c:v>
                </c:pt>
              </c:numCache>
            </c:numRef>
          </c:bubbleSize>
          <c:bubble3D val="0"/>
        </c:ser>
        <c:ser>
          <c:idx val="2"/>
          <c:order val="2"/>
          <c:tx>
            <c:strRef>
              <c:strCache>
                <c:ptCount val="1"/>
                <c:pt idx="0">
                  <c:v>Molecular Allergen Preparations</c:v>
                </c:pt>
              </c:strCache>
            </c:strRef>
          </c:tx>
          <c:spPr>
            <a:solidFill>
              <a:srgbClr val="008189"/>
            </a:solidFill>
          </c:spPr>
          <c:invertIfNegative val="0"/>
          <c:xVal>
            <c:numRef>
              <c:numCache>
                <c:formatCode>General</c:formatCode>
                <c:ptCount val="1"/>
                <c:pt idx="0">
                  <c:v>79.0328975848431</c:v>
                </c:pt>
              </c:numCache>
            </c:numRef>
          </c:xVal>
          <c:yVal>
            <c:numRef>
              <c:numCache>
                <c:formatCode>General</c:formatCode>
                <c:ptCount val="1"/>
                <c:pt idx="0">
                  <c:v>82.8732545207398</c:v>
                </c:pt>
              </c:numCache>
            </c:numRef>
          </c:yVal>
          <c:bubbleSize>
            <c:numRef>
              <c:numCache>
                <c:formatCode>General</c:formatCode>
                <c:ptCount val="1"/>
                <c:pt idx="0">
                  <c:v>1275.377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6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40.0"/>
          <c:min val="7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735.529</c:v>
                </c:pt>
                <c:pt idx="2">
                  <c:v>893.081</c:v>
                </c:pt>
                <c:pt idx="3">
                  <c:v>1084.68</c:v>
                </c:pt>
                <c:pt idx="4">
                  <c:v>1317.787</c:v>
                </c:pt>
                <c:pt idx="5">
                  <c:v>1601.5320000000002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735.529</c:v>
                </c:pt>
                <c:pt idx="1">
                  <c:v>157.55200000000002</c:v>
                </c:pt>
                <c:pt idx="2">
                  <c:v>191.59900000000005</c:v>
                </c:pt>
                <c:pt idx="3">
                  <c:v>233.10699999999997</c:v>
                </c:pt>
                <c:pt idx="4">
                  <c:v>283.7450000000001</c:v>
                </c:pt>
                <c:pt idx="5">
                  <c:v>345.56399999999985</c:v>
                </c:pt>
                <c:pt idx="6">
                  <c:v>1947.096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1021.533</c:v>
                </c:pt>
                <c:pt idx="2">
                  <c:v>1193.4</c:v>
                </c:pt>
                <c:pt idx="3">
                  <c:v>1393.79</c:v>
                </c:pt>
                <c:pt idx="4">
                  <c:v>1627.34</c:v>
                </c:pt>
                <c:pt idx="5">
                  <c:v>1899.385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1021.533</c:v>
                </c:pt>
                <c:pt idx="1">
                  <c:v>171.86700000000008</c:v>
                </c:pt>
                <c:pt idx="2">
                  <c:v>200.38999999999987</c:v>
                </c:pt>
                <c:pt idx="3">
                  <c:v>233.54999999999995</c:v>
                </c:pt>
                <c:pt idx="4">
                  <c:v>272.0450000000001</c:v>
                </c:pt>
                <c:pt idx="5">
                  <c:v>316.74199999999996</c:v>
                </c:pt>
                <c:pt idx="6">
                  <c:v>2216.127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670.638</c:v>
                </c:pt>
                <c:pt idx="2">
                  <c:v>766.202</c:v>
                </c:pt>
                <c:pt idx="3">
                  <c:v>873.591</c:v>
                </c:pt>
                <c:pt idx="4">
                  <c:v>993.731</c:v>
                </c:pt>
                <c:pt idx="5">
                  <c:v>1127.46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670.638</c:v>
                </c:pt>
                <c:pt idx="1">
                  <c:v>95.56399999999996</c:v>
                </c:pt>
                <c:pt idx="2">
                  <c:v>107.38900000000001</c:v>
                </c:pt>
                <c:pt idx="3">
                  <c:v>120.13999999999999</c:v>
                </c:pt>
                <c:pt idx="4">
                  <c:v>133.72900000000004</c:v>
                </c:pt>
                <c:pt idx="5">
                  <c:v>147.91699999999992</c:v>
                </c:pt>
                <c:pt idx="6">
                  <c:v>1275.377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Modified Allergen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42.64615495318304</c:v>
                </c:pt>
                <c:pt idx="1">
                  <c:v>42.078222185607785</c:v>
                </c:pt>
                <c:pt idx="2">
                  <c:v>40.74811532379656</c:v>
                </c:pt>
              </c:numCache>
            </c:numRef>
          </c:val>
        </c:ser>
        <c:ser>
          <c:idx val="1"/>
          <c:order val="1"/>
          <c:tx>
            <c:strRef>
              <c:strCache>
                <c:ptCount val="1"/>
                <c:pt idx="0">
                  <c:v>Native Allergen Extracts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27.944521231782165</c:v>
                </c:pt>
                <c:pt idx="1">
                  <c:v>30.297359640812292</c:v>
                </c:pt>
                <c:pt idx="2">
                  <c:v>35.80141948295517</c:v>
                </c:pt>
              </c:numCache>
            </c:numRef>
          </c:val>
        </c:ser>
        <c:ser>
          <c:idx val="2"/>
          <c:order val="2"/>
          <c:tx>
            <c:strRef>
              <c:strCache>
                <c:ptCount val="1"/>
                <c:pt idx="0">
                  <c:v>Molecular Allergen Preparations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29.409323815034792</c:v>
                </c:pt>
                <c:pt idx="1">
                  <c:v>27.624418173579933</c:v>
                </c:pt>
                <c:pt idx="2">
                  <c:v>23.45046519324826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Single-Allergen Preparations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21.697682565632334</c:v>
                </c:pt>
                <c:pt idx="1">
                  <c:v>23.6784374778855</c:v>
                </c:pt>
                <c:pt idx="2">
                  <c:v>20.646730432733882</c:v>
                </c:pt>
                <c:pt idx="3">
                  <c:v>21.760156781253826</c:v>
                </c:pt>
                <c:pt idx="4">
                  <c:v>21.601739247717557</c:v>
                </c:pt>
                <c:pt idx="5">
                  <c:v>18.860896514607205</c:v>
                </c:pt>
              </c:numCache>
            </c:numRef>
          </c:val>
        </c:ser>
        <c:ser>
          <c:idx val="1"/>
          <c:order val="1"/>
          <c:tx>
            <c:strRef>
              <c:strCache>
                <c:ptCount val="1"/>
                <c:pt idx="0">
                  <c:v>Fixed Allergen Mixtures</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73.6310895020117</c:v>
                </c:pt>
                <c:pt idx="1">
                  <c:v>70.31836034250938</c:v>
                </c:pt>
                <c:pt idx="2">
                  <c:v>73.64133167453446</c:v>
                </c:pt>
                <c:pt idx="3">
                  <c:v>72.85020604289238</c:v>
                </c:pt>
                <c:pt idx="4">
                  <c:v>72.12271073445964</c:v>
                </c:pt>
                <c:pt idx="5">
                  <c:v>74.96091097177693</c:v>
                </c:pt>
              </c:numCache>
            </c:numRef>
          </c:val>
        </c:ser>
        <c:ser>
          <c:idx val="2"/>
          <c:order val="2"/>
          <c:tx>
            <c:strRef>
              <c:strCache>
                <c:ptCount val="1"/>
                <c:pt idx="0">
                  <c:v>Customized Multi-Allergen Preparations</c:v>
                </c:pt>
              </c:strCache>
            </c:strRef>
          </c:tx>
          <c:spPr>
            <a:solidFill>
              <a:srgbClr val="008189"/>
            </a:solidFill>
            <a:ln>
              <a:noFill/>
            </a:ln>
          </c:spPr>
          <c:dLbls>
            <c:dLbl>
              <c:idx val="0"/>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4.67122793235597</c:v>
                </c:pt>
                <c:pt idx="1">
                  <c:v>6.003202179605123</c:v>
                </c:pt>
                <c:pt idx="2">
                  <c:v>5.711937892731645</c:v>
                </c:pt>
                <c:pt idx="3">
                  <c:v>5.389637175853771</c:v>
                </c:pt>
                <c:pt idx="4">
                  <c:v>6.275550017822792</c:v>
                </c:pt>
                <c:pt idx="5">
                  <c:v>6.178192513615858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Single-Allergen Preparations</c:v>
                </c:pt>
              </c:strCache>
            </c:strRef>
          </c:tx>
          <c:spPr>
            <a:solidFill>
              <a:srgbClr val="3D85C6"/>
            </a:solidFill>
          </c:spPr>
          <c:invertIfNegative val="0"/>
          <c:xVal>
            <c:numRef>
              <c:numCache>
                <c:formatCode>General</c:formatCode>
                <c:ptCount val="1"/>
                <c:pt idx="0">
                  <c:v>119.4329053383364</c:v>
                </c:pt>
              </c:numCache>
            </c:numRef>
          </c:xVal>
          <c:yVal>
            <c:numRef>
              <c:numCache>
                <c:formatCode>General</c:formatCode>
                <c:ptCount val="1"/>
                <c:pt idx="0">
                  <c:v>53.865798904312726</c:v>
                </c:pt>
              </c:numCache>
            </c:numRef>
          </c:yVal>
          <c:bubbleSize>
            <c:numRef>
              <c:numCache>
                <c:formatCode>General</c:formatCode>
                <c:ptCount val="1"/>
                <c:pt idx="0">
                  <c:v>1133.941</c:v>
                </c:pt>
              </c:numCache>
            </c:numRef>
          </c:bubbleSize>
          <c:bubble3D val="0"/>
        </c:ser>
        <c:ser>
          <c:idx val="1"/>
          <c:order val="1"/>
          <c:tx>
            <c:strRef>
              <c:strCache>
                <c:ptCount val="1"/>
                <c:pt idx="0">
                  <c:v>Fixed Allergen Mixtures</c:v>
                </c:pt>
              </c:strCache>
            </c:strRef>
          </c:tx>
          <c:spPr>
            <a:solidFill>
              <a:srgbClr val="9E7E0A"/>
            </a:solidFill>
          </c:spPr>
          <c:invertIfNegative val="0"/>
          <c:xVal>
            <c:numRef>
              <c:numCache>
                <c:formatCode>General</c:formatCode>
                <c:ptCount val="1"/>
                <c:pt idx="0">
                  <c:v>94.27677115997102</c:v>
                </c:pt>
              </c:numCache>
            </c:numRef>
          </c:xVal>
          <c:yVal>
            <c:numRef>
              <c:numCache>
                <c:formatCode>General</c:formatCode>
                <c:ptCount val="1"/>
                <c:pt idx="0">
                  <c:v>229.66157268196235</c:v>
                </c:pt>
              </c:numCache>
            </c:numRef>
          </c:yVal>
          <c:bubbleSize>
            <c:numRef>
              <c:numCache>
                <c:formatCode>General</c:formatCode>
                <c:ptCount val="1"/>
                <c:pt idx="0">
                  <c:v>3982.4519999999998</c:v>
                </c:pt>
              </c:numCache>
            </c:numRef>
          </c:bubbleSize>
          <c:bubble3D val="0"/>
        </c:ser>
        <c:ser>
          <c:idx val="2"/>
          <c:order val="2"/>
          <c:tx>
            <c:strRef>
              <c:strCache>
                <c:ptCount val="1"/>
                <c:pt idx="0">
                  <c:v>Customized Multi-Allergen Preparations</c:v>
                </c:pt>
              </c:strCache>
            </c:strRef>
          </c:tx>
          <c:spPr>
            <a:solidFill>
              <a:srgbClr val="008189"/>
            </a:solidFill>
          </c:spPr>
          <c:invertIfNegative val="0"/>
          <c:xVal>
            <c:numRef>
              <c:numCache>
                <c:formatCode>General</c:formatCode>
                <c:ptCount val="1"/>
                <c:pt idx="0">
                  <c:v>109.84494975272912</c:v>
                </c:pt>
              </c:numCache>
            </c:numRef>
          </c:xVal>
          <c:yVal>
            <c:numRef>
              <c:numCache>
                <c:formatCode>General</c:formatCode>
                <c:ptCount val="1"/>
                <c:pt idx="0">
                  <c:v>16.47262841372492</c:v>
                </c:pt>
              </c:numCache>
            </c:numRef>
          </c:yVal>
          <c:bubbleSize>
            <c:numRef>
              <c:numCache>
                <c:formatCode>General</c:formatCode>
                <c:ptCount val="1"/>
                <c:pt idx="0">
                  <c:v>322.207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0.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3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435.9</c:v>
                </c:pt>
                <c:pt idx="2">
                  <c:v>529.993</c:v>
                </c:pt>
                <c:pt idx="3">
                  <c:v>642.867</c:v>
                </c:pt>
                <c:pt idx="4">
                  <c:v>778.155</c:v>
                </c:pt>
                <c:pt idx="5">
                  <c:v>940.142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435.9</c:v>
                </c:pt>
                <c:pt idx="1">
                  <c:v>94.09300000000007</c:v>
                </c:pt>
                <c:pt idx="2">
                  <c:v>112.87399999999991</c:v>
                </c:pt>
                <c:pt idx="3">
                  <c:v>135.288</c:v>
                </c:pt>
                <c:pt idx="4">
                  <c:v>161.98700000000008</c:v>
                </c:pt>
                <c:pt idx="5">
                  <c:v>193.79899999999998</c:v>
                </c:pt>
                <c:pt idx="6">
                  <c:v>1133.941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1858.498</c:v>
                </c:pt>
                <c:pt idx="2">
                  <c:v>2163.378</c:v>
                </c:pt>
                <c:pt idx="3">
                  <c:v>2518.978</c:v>
                </c:pt>
                <c:pt idx="4">
                  <c:v>2933.781</c:v>
                </c:pt>
                <c:pt idx="5">
                  <c:v>3417.74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1858.498</c:v>
                </c:pt>
                <c:pt idx="1">
                  <c:v>304.8800000000001</c:v>
                </c:pt>
                <c:pt idx="2">
                  <c:v>355.5999999999999</c:v>
                </c:pt>
                <c:pt idx="3">
                  <c:v>414.8029999999999</c:v>
                </c:pt>
                <c:pt idx="4">
                  <c:v>483.95899999999983</c:v>
                </c:pt>
                <c:pt idx="5">
                  <c:v>564.712</c:v>
                </c:pt>
                <c:pt idx="6">
                  <c:v>3982.4519999999998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133.302</c:v>
                </c:pt>
                <c:pt idx="2">
                  <c:v>159.312</c:v>
                </c:pt>
                <c:pt idx="3">
                  <c:v>190.216</c:v>
                </c:pt>
                <c:pt idx="4">
                  <c:v>226.922</c:v>
                </c:pt>
                <c:pt idx="5">
                  <c:v>270.495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133.302</c:v>
                </c:pt>
                <c:pt idx="1">
                  <c:v>26.01000000000002</c:v>
                </c:pt>
                <c:pt idx="2">
                  <c:v>30.903999999999996</c:v>
                </c:pt>
                <c:pt idx="3">
                  <c:v>36.70599999999999</c:v>
                </c:pt>
                <c:pt idx="4">
                  <c:v>43.57300000000001</c:v>
                </c:pt>
                <c:pt idx="5">
                  <c:v>51.71199999999999</c:v>
                </c:pt>
                <c:pt idx="6">
                  <c:v>322.207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Fixed Allergen Mixtures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78.48134967154675</c:v>
                </c:pt>
                <c:pt idx="1">
                  <c:v>76.55385756065412</c:v>
                </c:pt>
                <c:pt idx="2">
                  <c:v>73.22568308020446</c:v>
                </c:pt>
              </c:numCache>
            </c:numRef>
          </c:val>
        </c:ser>
        <c:ser>
          <c:idx val="1"/>
          <c:order val="1"/>
          <c:tx>
            <c:strRef>
              <c:strCache>
                <c:ptCount val="1"/>
                <c:pt idx="0">
                  <c:v>Single-Allergen Preparations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16.280487987695373</c:v>
                </c:pt>
                <c:pt idx="1">
                  <c:v>17.955266301437575</c:v>
                </c:pt>
                <c:pt idx="2">
                  <c:v>20.84986945169713</c:v>
                </c:pt>
              </c:numCache>
            </c:numRef>
          </c:val>
        </c:ser>
        <c:ser>
          <c:idx val="2"/>
          <c:order val="2"/>
          <c:tx>
            <c:strRef>
              <c:strCache>
                <c:ptCount val="1"/>
                <c:pt idx="0">
                  <c:v>Customized Multi-Allergen Preparations</c:v>
                </c:pt>
              </c:strCache>
            </c:strRef>
          </c:tx>
          <c:spPr>
            <a:solidFill>
              <a:srgbClr val="008189"/>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5.238162340757886</c:v>
                </c:pt>
                <c:pt idx="1">
                  <c:v>5.490876137908309</c:v>
                </c:pt>
                <c:pt idx="2">
                  <c:v>5.924447468098408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Direct-to-Allergy Clinics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39.31331542797694</c:v>
                </c:pt>
                <c:pt idx="1">
                  <c:v>42.10578692236926</c:v>
                </c:pt>
                <c:pt idx="2">
                  <c:v>41.34417299011904</c:v>
                </c:pt>
                <c:pt idx="3">
                  <c:v>40.49605160716271</c:v>
                </c:pt>
                <c:pt idx="4">
                  <c:v>40.64084984216391</c:v>
                </c:pt>
                <c:pt idx="5">
                  <c:v>42.72561385264135</c:v>
                </c:pt>
              </c:numCache>
            </c:numRef>
          </c:val>
        </c:ser>
        <c:ser>
          <c:idx val="1"/>
          <c:order val="1"/>
          <c:tx>
            <c:strRef>
              <c:strCache>
                <c:ptCount val="1"/>
                <c:pt idx="0">
                  <c:v>Hospital Procurement</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16.83961613180607</c:v>
                </c:pt>
                <c:pt idx="1">
                  <c:v>16.202409595923857</c:v>
                </c:pt>
                <c:pt idx="2">
                  <c:v>14.736397514100268</c:v>
                </c:pt>
                <c:pt idx="3">
                  <c:v>18.391387167758474</c:v>
                </c:pt>
                <c:pt idx="4">
                  <c:v>16.27314153224641</c:v>
                </c:pt>
                <c:pt idx="5">
                  <c:v>17.228937179345444</c:v>
                </c:pt>
              </c:numCache>
            </c:numRef>
          </c:val>
        </c:ser>
        <c:ser>
          <c:idx val="2"/>
          <c:order val="2"/>
          <c:tx>
            <c:strRef>
              <c:strCache>
                <c:ptCount val="1"/>
                <c:pt idx="0">
                  <c:v>Retail Pharmacy</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10.113164683276892</c:v>
                </c:pt>
                <c:pt idx="1">
                  <c:v>11.0457504776732</c:v>
                </c:pt>
                <c:pt idx="2">
                  <c:v>11.101645486333585</c:v>
                </c:pt>
                <c:pt idx="3">
                  <c:v>11.338905713026667</c:v>
                </c:pt>
                <c:pt idx="4">
                  <c:v>9.138372313334338</c:v>
                </c:pt>
                <c:pt idx="5">
                  <c:v>10.650074533391809</c:v>
                </c:pt>
              </c:numCache>
            </c:numRef>
          </c:val>
        </c:ser>
        <c:ser>
          <c:idx val="3"/>
          <c:order val="3"/>
          <c:tx>
            <c:strRef>
              <c:strCache>
                <c:ptCount val="1"/>
                <c:pt idx="0">
                  <c:v>Pharmaceutical Distributor</c:v>
                </c:pt>
              </c:strCache>
            </c:strRef>
          </c:tx>
          <c:spPr>
            <a:solidFill>
              <a:srgbClr val="40315E"/>
            </a:solidFill>
            <a:ln>
              <a:noFill/>
            </a:ln>
          </c:spPr>
          <c:dLbls>
            <c:dLbl>
              <c:idx val="0"/>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14.003598764318092</c:v>
                </c:pt>
                <c:pt idx="1">
                  <c:v>13.124734625999574</c:v>
                </c:pt>
                <c:pt idx="2">
                  <c:v>12.720554644110068</c:v>
                </c:pt>
                <c:pt idx="3">
                  <c:v>12.216717420655534</c:v>
                </c:pt>
                <c:pt idx="4">
                  <c:v>13.484051008513193</c:v>
                </c:pt>
                <c:pt idx="5">
                  <c:v>13.441766155887166</c:v>
                </c:pt>
              </c:numCache>
            </c:numRef>
          </c:val>
        </c:ser>
        <c:ser>
          <c:idx val="4"/>
          <c:order val="4"/>
          <c:tx>
            <c:strRef>
              <c:strCache>
                <c:ptCount val="1"/>
                <c:pt idx="0">
                  <c:v>Mail-order Pharmacy</c:v>
                </c:pt>
              </c:strCache>
            </c:strRef>
          </c:tx>
          <c:spPr>
            <a:solidFill>
              <a:srgbClr val="A35313"/>
            </a:solidFill>
            <a:ln>
              <a:noFill/>
            </a:ln>
          </c:spPr>
          <c:dLbls>
            <c:dLbl>
              <c:idx val="0"/>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19.730304992622003</c:v>
                </c:pt>
                <c:pt idx="1">
                  <c:v>17.52131837803411</c:v>
                </c:pt>
                <c:pt idx="2">
                  <c:v>20.09722936533704</c:v>
                </c:pt>
                <c:pt idx="3">
                  <c:v>17.5569380913966</c:v>
                </c:pt>
                <c:pt idx="4">
                  <c:v>20.463585303742143</c:v>
                </c:pt>
                <c:pt idx="5">
                  <c:v>15.953608278734233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Direct-to-Allergy Clinics</c:v>
                </c:pt>
              </c:strCache>
            </c:strRef>
          </c:tx>
          <c:spPr>
            <a:solidFill>
              <a:srgbClr val="3D85C6"/>
            </a:solidFill>
          </c:spPr>
          <c:invertIfNegative val="0"/>
          <c:xVal>
            <c:numRef>
              <c:numCache>
                <c:formatCode>General</c:formatCode>
                <c:ptCount val="1"/>
                <c:pt idx="0">
                  <c:v>95.13324960696636</c:v>
                </c:pt>
              </c:numCache>
            </c:numRef>
          </c:xVal>
          <c:yVal>
            <c:numRef>
              <c:numCache>
                <c:formatCode>General</c:formatCode>
                <c:ptCount val="1"/>
                <c:pt idx="0">
                  <c:v>214.82988013345968</c:v>
                </c:pt>
              </c:numCache>
            </c:numRef>
          </c:yVal>
          <c:bubbleSize>
            <c:numRef>
              <c:numCache>
                <c:formatCode>General</c:formatCode>
                <c:ptCount val="1"/>
                <c:pt idx="0">
                  <c:v>2250.103</c:v>
                </c:pt>
              </c:numCache>
            </c:numRef>
          </c:bubbleSize>
          <c:bubble3D val="0"/>
        </c:ser>
        <c:ser>
          <c:idx val="1"/>
          <c:order val="1"/>
          <c:tx>
            <c:strRef>
              <c:strCache>
                <c:ptCount val="1"/>
                <c:pt idx="0">
                  <c:v>Hospital Procurement</c:v>
                </c:pt>
              </c:strCache>
            </c:strRef>
          </c:tx>
          <c:spPr>
            <a:solidFill>
              <a:srgbClr val="9E7E0A"/>
            </a:solidFill>
          </c:spPr>
          <c:invertIfNegative val="0"/>
          <c:xVal>
            <c:numRef>
              <c:numCache>
                <c:formatCode>General</c:formatCode>
                <c:ptCount val="1"/>
                <c:pt idx="0">
                  <c:v>74.8558551968663</c:v>
                </c:pt>
              </c:numCache>
            </c:numRef>
          </c:xVal>
          <c:yVal>
            <c:numRef>
              <c:numCache>
                <c:formatCode>General</c:formatCode>
                <c:ptCount val="1"/>
                <c:pt idx="0">
                  <c:v>101.51048317337398</c:v>
                </c:pt>
              </c:numCache>
            </c:numRef>
          </c:yVal>
          <c:bubbleSize>
            <c:numRef>
              <c:numCache>
                <c:formatCode>General</c:formatCode>
                <c:ptCount val="1"/>
                <c:pt idx="0">
                  <c:v>906.929</c:v>
                </c:pt>
              </c:numCache>
            </c:numRef>
          </c:bubbleSize>
          <c:bubble3D val="0"/>
        </c:ser>
        <c:ser>
          <c:idx val="2"/>
          <c:order val="2"/>
          <c:tx>
            <c:strRef>
              <c:strCache>
                <c:ptCount val="1"/>
                <c:pt idx="0">
                  <c:v>Retail Pharmacy</c:v>
                </c:pt>
              </c:strCache>
            </c:strRef>
          </c:tx>
          <c:spPr>
            <a:solidFill>
              <a:srgbClr val="008189"/>
            </a:solidFill>
          </c:spPr>
          <c:invertIfNegative val="0"/>
          <c:xVal>
            <c:numRef>
              <c:numCache>
                <c:formatCode>General</c:formatCode>
                <c:ptCount val="1"/>
                <c:pt idx="0">
                  <c:v>141.28139934783738</c:v>
                </c:pt>
              </c:numCache>
            </c:numRef>
          </c:xVal>
          <c:yVal>
            <c:numRef>
              <c:numCache>
                <c:formatCode>General</c:formatCode>
                <c:ptCount val="1"/>
                <c:pt idx="0">
                  <c:v>37.810273097993985</c:v>
                </c:pt>
              </c:numCache>
            </c:numRef>
          </c:yVal>
          <c:bubbleSize>
            <c:numRef>
              <c:numCache>
                <c:formatCode>General</c:formatCode>
                <c:ptCount val="1"/>
                <c:pt idx="0">
                  <c:v>563.48</c:v>
                </c:pt>
              </c:numCache>
            </c:numRef>
          </c:bubbleSize>
          <c:bubble3D val="0"/>
        </c:ser>
        <c:ser>
          <c:idx val="3"/>
          <c:order val="3"/>
          <c:tx>
            <c:strRef>
              <c:strCache>
                <c:ptCount val="1"/>
                <c:pt idx="0">
                  <c:v>Pharmaceutical Distributor</c:v>
                </c:pt>
              </c:strCache>
            </c:strRef>
          </c:tx>
          <c:spPr>
            <a:solidFill>
              <a:srgbClr val="40315E"/>
            </a:solidFill>
          </c:spPr>
          <c:invertIfNegative val="0"/>
          <c:xVal>
            <c:numRef>
              <c:numCache>
                <c:formatCode>General</c:formatCode>
                <c:ptCount val="1"/>
                <c:pt idx="0">
                  <c:v>132.186050270605</c:v>
                </c:pt>
              </c:numCache>
            </c:numRef>
          </c:xVal>
          <c:yVal>
            <c:numRef>
              <c:numCache>
                <c:formatCode>General</c:formatCode>
                <c:ptCount val="1"/>
                <c:pt idx="0">
                  <c:v>51.64394282654364</c:v>
                </c:pt>
              </c:numCache>
            </c:numRef>
          </c:yVal>
          <c:bubbleSize>
            <c:numRef>
              <c:numCache>
                <c:formatCode>General</c:formatCode>
                <c:ptCount val="1"/>
                <c:pt idx="0">
                  <c:v>718.664</c:v>
                </c:pt>
              </c:numCache>
            </c:numRef>
          </c:bubbleSize>
          <c:bubble3D val="0"/>
        </c:ser>
        <c:ser>
          <c:idx val="4"/>
          <c:order val="4"/>
          <c:tx>
            <c:strRef>
              <c:strCache>
                <c:ptCount val="1"/>
                <c:pt idx="0">
                  <c:v>Mail-order Pharmacy</c:v>
                </c:pt>
              </c:strCache>
            </c:strRef>
          </c:tx>
          <c:spPr>
            <a:solidFill>
              <a:srgbClr val="A35313"/>
            </a:solidFill>
          </c:spPr>
          <c:invertIfNegative val="0"/>
          <c:xVal>
            <c:numRef>
              <c:numCache>
                <c:formatCode>General</c:formatCode>
                <c:ptCount val="1"/>
                <c:pt idx="0">
                  <c:v>96.78202029081373</c:v>
                </c:pt>
              </c:numCache>
            </c:numRef>
          </c:xVal>
          <c:yVal>
            <c:numRef>
              <c:numCache>
                <c:formatCode>General</c:formatCode>
                <c:ptCount val="1"/>
                <c:pt idx="0">
                  <c:v>94.20542076862873</c:v>
                </c:pt>
              </c:numCache>
            </c:numRef>
          </c:yVal>
          <c:bubbleSize>
            <c:numRef>
              <c:numCache>
                <c:formatCode>General</c:formatCode>
                <c:ptCount val="1"/>
                <c:pt idx="0">
                  <c:v>999.424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5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1043.085</c:v>
                </c:pt>
                <c:pt idx="2">
                  <c:v>1216.995</c:v>
                </c:pt>
                <c:pt idx="3">
                  <c:v>1419.6019999999999</c:v>
                </c:pt>
                <c:pt idx="4">
                  <c:v>1655.578</c:v>
                </c:pt>
                <c:pt idx="5">
                  <c:v>1930.3159999999998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1043.085</c:v>
                </c:pt>
                <c:pt idx="1">
                  <c:v>173.90999999999985</c:v>
                </c:pt>
                <c:pt idx="2">
                  <c:v>202.60699999999997</c:v>
                </c:pt>
                <c:pt idx="3">
                  <c:v>235.9760000000001</c:v>
                </c:pt>
                <c:pt idx="4">
                  <c:v>274.73799999999983</c:v>
                </c:pt>
                <c:pt idx="5">
                  <c:v>319.78700000000026</c:v>
                </c:pt>
                <c:pt idx="6">
                  <c:v>2250.103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492.874</c:v>
                </c:pt>
                <c:pt idx="2">
                  <c:v>559.504</c:v>
                </c:pt>
                <c:pt idx="3">
                  <c:v>633.772</c:v>
                </c:pt>
                <c:pt idx="4">
                  <c:v>716.173</c:v>
                </c:pt>
                <c:pt idx="5">
                  <c:v>807.137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492.874</c:v>
                </c:pt>
                <c:pt idx="1">
                  <c:v>66.63</c:v>
                </c:pt>
                <c:pt idx="2">
                  <c:v>74.26800000000003</c:v>
                </c:pt>
                <c:pt idx="3">
                  <c:v>82.40099999999995</c:v>
                </c:pt>
                <c:pt idx="4">
                  <c:v>90.96399999999994</c:v>
                </c:pt>
                <c:pt idx="5">
                  <c:v>99.79200000000003</c:v>
                </c:pt>
                <c:pt idx="6">
                  <c:v>906.929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183.584</c:v>
                </c:pt>
                <c:pt idx="2">
                  <c:v>230.896</c:v>
                </c:pt>
                <c:pt idx="3">
                  <c:v>289.602</c:v>
                </c:pt>
                <c:pt idx="4">
                  <c:v>362.326</c:v>
                </c:pt>
                <c:pt idx="5">
                  <c:v>452.298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183.584</c:v>
                </c:pt>
                <c:pt idx="1">
                  <c:v>47.31199999999998</c:v>
                </c:pt>
                <c:pt idx="2">
                  <c:v>58.70599999999999</c:v>
                </c:pt>
                <c:pt idx="3">
                  <c:v>72.72400000000005</c:v>
                </c:pt>
                <c:pt idx="4">
                  <c:v>89.97199999999998</c:v>
                </c:pt>
                <c:pt idx="5">
                  <c:v>111.18200000000002</c:v>
                </c:pt>
                <c:pt idx="6">
                  <c:v>563.48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250.752</c:v>
                </c:pt>
                <c:pt idx="2">
                  <c:v>310.28</c:v>
                </c:pt>
                <c:pt idx="3">
                  <c:v>383.429</c:v>
                </c:pt>
                <c:pt idx="4">
                  <c:v>473.256</c:v>
                </c:pt>
                <c:pt idx="5">
                  <c:v>583.489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250.752</c:v>
                </c:pt>
                <c:pt idx="1">
                  <c:v>59.52799999999996</c:v>
                </c:pt>
                <c:pt idx="2">
                  <c:v>73.149</c:v>
                </c:pt>
                <c:pt idx="3">
                  <c:v>89.827</c:v>
                </c:pt>
                <c:pt idx="4">
                  <c:v>110.23300000000006</c:v>
                </c:pt>
                <c:pt idx="5">
                  <c:v>135.17499999999995</c:v>
                </c:pt>
                <c:pt idx="6">
                  <c:v>718.664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457.405</c:v>
                </c:pt>
                <c:pt idx="2">
                  <c:v>535.008</c:v>
                </c:pt>
                <c:pt idx="3">
                  <c:v>625.656</c:v>
                </c:pt>
                <c:pt idx="4">
                  <c:v>731.525</c:v>
                </c:pt>
                <c:pt idx="5">
                  <c:v>855.137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457.405</c:v>
                </c:pt>
                <c:pt idx="1">
                  <c:v>77.60300000000007</c:v>
                </c:pt>
                <c:pt idx="2">
                  <c:v>90.64799999999991</c:v>
                </c:pt>
                <c:pt idx="3">
                  <c:v>105.86900000000003</c:v>
                </c:pt>
                <c:pt idx="4">
                  <c:v>123.61199999999997</c:v>
                </c:pt>
                <c:pt idx="5">
                  <c:v>144.28700000000003</c:v>
                </c:pt>
                <c:pt idx="6">
                  <c:v>999.424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Direct-to-Allergy Clinics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43.69930411683402</c:v>
                </c:pt>
                <c:pt idx="1">
                  <c:v>42.96597602669194</c:v>
                </c:pt>
                <c:pt idx="2">
                  <c:v>41.372834920751664</c:v>
                </c:pt>
              </c:numCache>
            </c:numRef>
          </c:val>
        </c:ser>
        <c:ser>
          <c:idx val="1"/>
          <c:order val="1"/>
          <c:tx>
            <c:strRef>
              <c:strCache>
                <c:ptCount val="1"/>
                <c:pt idx="0">
                  <c:v>Mail-order Pharmacy</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19.044832145544817</c:v>
                </c:pt>
                <c:pt idx="1">
                  <c:v>18.84108415372575</c:v>
                </c:pt>
                <c:pt idx="2">
                  <c:v>18.37649395064906</c:v>
                </c:pt>
              </c:numCache>
            </c:numRef>
          </c:val>
        </c:ser>
        <c:ser>
          <c:idx val="2"/>
          <c:order val="2"/>
          <c:tx>
            <c:strRef>
              <c:strCache>
                <c:ptCount val="1"/>
                <c:pt idx="0">
                  <c:v>Hospital Procurement</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21.952190637807952</c:v>
                </c:pt>
                <c:pt idx="1">
                  <c:v>20.3020966346748</c:v>
                </c:pt>
                <c:pt idx="2">
                  <c:v>16.675780531754494</c:v>
                </c:pt>
              </c:numCache>
            </c:numRef>
          </c:val>
        </c:ser>
        <c:ser>
          <c:idx val="3"/>
          <c:order val="3"/>
          <c:tx>
            <c:strRef>
              <c:strCache>
                <c:ptCount val="1"/>
                <c:pt idx="0">
                  <c:v>Pharmaceutical Distributor</c:v>
                </c:pt>
              </c:strCache>
            </c:strRef>
          </c:tx>
          <c:spPr>
            <a:solidFill>
              <a:srgbClr val="40315E"/>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9.01697882968102</c:v>
                </c:pt>
                <c:pt idx="1">
                  <c:v>10.32878856530873</c:v>
                </c:pt>
                <c:pt idx="2">
                  <c:v>13.214135990880004</c:v>
                </c:pt>
              </c:numCache>
            </c:numRef>
          </c:val>
        </c:ser>
        <c:ser>
          <c:idx val="4"/>
          <c:order val="4"/>
          <c:tx>
            <c:strRef>
              <c:strCache>
                <c:ptCount val="1"/>
                <c:pt idx="0">
                  <c:v>Retail Pharmacy</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6.286694270132191</c:v>
                </c:pt>
                <c:pt idx="1">
                  <c:v>7.562054619598797</c:v>
                </c:pt>
                <c:pt idx="2">
                  <c:v>10.36075460596477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Inhalant Allergens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59.6657796963431</c:v>
                </c:pt>
                <c:pt idx="1">
                  <c:v>59.433565915100786</c:v>
                </c:pt>
                <c:pt idx="2">
                  <c:v>59.73596951910205</c:v>
                </c:pt>
                <c:pt idx="3">
                  <c:v>58.70250231696015</c:v>
                </c:pt>
                <c:pt idx="4">
                  <c:v>58.83244632647345</c:v>
                </c:pt>
                <c:pt idx="5">
                  <c:v>59.783092233169675</c:v>
                </c:pt>
                <c:pt idx="6">
                  <c:v>59.508891607657034</c:v>
                </c:pt>
                <c:pt idx="7">
                  <c:v>60.26997190710396</c:v>
                </c:pt>
                <c:pt idx="8">
                  <c:v>58.81744746934253</c:v>
                </c:pt>
                <c:pt idx="9">
                  <c:v>60.200273512159754</c:v>
                </c:pt>
              </c:numCache>
            </c:numRef>
          </c:val>
        </c:ser>
        <c:ser>
          <c:idx val="1"/>
          <c:order val="1"/>
          <c:tx>
            <c:strRef>
              <c:strCache>
                <c:ptCount val="1"/>
                <c:pt idx="0">
                  <c:v>Food Allergens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22.769736462718413</c:v>
                </c:pt>
                <c:pt idx="1">
                  <c:v>22.814706197329294</c:v>
                </c:pt>
                <c:pt idx="2">
                  <c:v>23.054680259499534</c:v>
                </c:pt>
                <c:pt idx="3">
                  <c:v>23.138708680877357</c:v>
                </c:pt>
                <c:pt idx="4">
                  <c:v>22.8419370252591</c:v>
                </c:pt>
                <c:pt idx="5">
                  <c:v>22.245609121165188</c:v>
                </c:pt>
                <c:pt idx="6">
                  <c:v>22.811700589478367</c:v>
                </c:pt>
                <c:pt idx="7">
                  <c:v>22.14354563653889</c:v>
                </c:pt>
                <c:pt idx="8">
                  <c:v>22.760470088110623</c:v>
                </c:pt>
                <c:pt idx="9">
                  <c:v>22.30112700191129</c:v>
                </c:pt>
              </c:numCache>
            </c:numRef>
          </c:val>
        </c:ser>
        <c:ser>
          <c:idx val="2"/>
          <c:order val="2"/>
          <c:tx>
            <c:strRef>
              <c:strCache>
                <c:ptCount val="1"/>
                <c:pt idx="0">
                  <c:v>Venom Allergens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17.564483840938482</c:v>
                </c:pt>
                <c:pt idx="1">
                  <c:v>17.75172788756992</c:v>
                </c:pt>
                <c:pt idx="2">
                  <c:v>17.209350221398413</c:v>
                </c:pt>
                <c:pt idx="3">
                  <c:v>18.158789002162496</c:v>
                </c:pt>
                <c:pt idx="4">
                  <c:v>18.325616648267452</c:v>
                </c:pt>
                <c:pt idx="5">
                  <c:v>17.971298645665136</c:v>
                </c:pt>
                <c:pt idx="6">
                  <c:v>17.679407802864592</c:v>
                </c:pt>
                <c:pt idx="7">
                  <c:v>17.58648245635715</c:v>
                </c:pt>
                <c:pt idx="8">
                  <c:v>18.42208244254685</c:v>
                </c:pt>
                <c:pt idx="9">
                  <c:v>17.498599485928956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Sublingual Immunotherapy</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47.84109539384253</c:v>
                </c:pt>
                <c:pt idx="1">
                  <c:v>48.80009885900235</c:v>
                </c:pt>
                <c:pt idx="2">
                  <c:v>44.99353286704069</c:v>
                </c:pt>
                <c:pt idx="3">
                  <c:v>46.69399019648227</c:v>
                </c:pt>
                <c:pt idx="4">
                  <c:v>47.407096194877624</c:v>
                </c:pt>
                <c:pt idx="5">
                  <c:v>47.19778228131745</c:v>
                </c:pt>
                <c:pt idx="6">
                  <c:v>47.26787435434842</c:v>
                </c:pt>
                <c:pt idx="7">
                  <c:v>48.28910024838631</c:v>
                </c:pt>
                <c:pt idx="8">
                  <c:v>44.8179987066107</c:v>
                </c:pt>
                <c:pt idx="9">
                  <c:v>48.99943978514113</c:v>
                </c:pt>
              </c:numCache>
            </c:numRef>
          </c:val>
        </c:ser>
        <c:ser>
          <c:idx val="1"/>
          <c:order val="1"/>
          <c:tx>
            <c:strRef>
              <c:strCache>
                <c:ptCount val="1"/>
                <c:pt idx="0">
                  <c:v>Subcutaneous Immunotherapy</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43.75355286247436</c:v>
                </c:pt>
                <c:pt idx="1">
                  <c:v>43.349672529554724</c:v>
                </c:pt>
                <c:pt idx="2">
                  <c:v>46.189746504864765</c:v>
                </c:pt>
                <c:pt idx="3">
                  <c:v>44.35762244099353</c:v>
                </c:pt>
                <c:pt idx="4">
                  <c:v>44.37181293197901</c:v>
                </c:pt>
                <c:pt idx="5">
                  <c:v>44.46064620302177</c:v>
                </c:pt>
                <c:pt idx="6">
                  <c:v>43.96979956997751</c:v>
                </c:pt>
                <c:pt idx="7">
                  <c:v>43.025617155544204</c:v>
                </c:pt>
                <c:pt idx="8">
                  <c:v>46.658812965197946</c:v>
                </c:pt>
                <c:pt idx="9">
                  <c:v>42.026824405595555</c:v>
                </c:pt>
              </c:numCache>
            </c:numRef>
          </c:val>
        </c:ser>
        <c:ser>
          <c:idx val="2"/>
          <c:order val="2"/>
          <c:tx>
            <c:strRef>
              <c:strCache>
                <c:ptCount val="1"/>
                <c:pt idx="0">
                  <c:v>Oral Immunotherapy</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8.405351743683113</c:v>
                </c:pt>
                <c:pt idx="1">
                  <c:v>7.8502286114429305</c:v>
                </c:pt>
                <c:pt idx="2">
                  <c:v>8.816720628094545</c:v>
                </c:pt>
                <c:pt idx="3">
                  <c:v>8.9483873625242</c:v>
                </c:pt>
                <c:pt idx="4">
                  <c:v>8.221090873143366</c:v>
                </c:pt>
                <c:pt idx="5">
                  <c:v>8.341571515660785</c:v>
                </c:pt>
                <c:pt idx="6">
                  <c:v>8.762326075674073</c:v>
                </c:pt>
                <c:pt idx="7">
                  <c:v>8.685282596069483</c:v>
                </c:pt>
                <c:pt idx="8">
                  <c:v>8.523188328191356</c:v>
                </c:pt>
                <c:pt idx="9">
                  <c:v>8.973735809263317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Modified Allergen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40.03171661002986</c:v>
                </c:pt>
                <c:pt idx="1">
                  <c:v>41.47997116671816</c:v>
                </c:pt>
                <c:pt idx="2">
                  <c:v>41.609991802569624</c:v>
                </c:pt>
                <c:pt idx="3">
                  <c:v>42.780585659618815</c:v>
                </c:pt>
                <c:pt idx="4">
                  <c:v>42.84749225598102</c:v>
                </c:pt>
                <c:pt idx="5">
                  <c:v>42.08067818113665</c:v>
                </c:pt>
                <c:pt idx="6">
                  <c:v>43.422960326874914</c:v>
                </c:pt>
                <c:pt idx="7">
                  <c:v>43.07281647381581</c:v>
                </c:pt>
                <c:pt idx="8">
                  <c:v>41.84138334418018</c:v>
                </c:pt>
                <c:pt idx="9">
                  <c:v>41.62121861200817</c:v>
                </c:pt>
              </c:numCache>
            </c:numRef>
          </c:val>
        </c:ser>
        <c:ser>
          <c:idx val="1"/>
          <c:order val="1"/>
          <c:tx>
            <c:strRef>
              <c:strCache>
                <c:ptCount val="1"/>
                <c:pt idx="0">
                  <c:v>Native Allergen Extracts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31.82494078879621</c:v>
                </c:pt>
                <c:pt idx="1">
                  <c:v>30.72309751827824</c:v>
                </c:pt>
                <c:pt idx="2">
                  <c:v>30.36633039351785</c:v>
                </c:pt>
                <c:pt idx="3">
                  <c:v>29.895085451602142</c:v>
                </c:pt>
                <c:pt idx="4">
                  <c:v>29.57597376919528</c:v>
                </c:pt>
                <c:pt idx="5">
                  <c:v>30.086873421840693</c:v>
                </c:pt>
                <c:pt idx="6">
                  <c:v>29.860287333596947</c:v>
                </c:pt>
                <c:pt idx="7">
                  <c:v>30.269689118103816</c:v>
                </c:pt>
                <c:pt idx="8">
                  <c:v>30.162620379447553</c:v>
                </c:pt>
                <c:pt idx="9">
                  <c:v>30.208676596586038</c:v>
                </c:pt>
              </c:numCache>
            </c:numRef>
          </c:val>
        </c:ser>
        <c:ser>
          <c:idx val="2"/>
          <c:order val="2"/>
          <c:tx>
            <c:strRef>
              <c:strCache>
                <c:ptCount val="1"/>
                <c:pt idx="0">
                  <c:v>Molecular Allergen Preparations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28.143342601173927</c:v>
                </c:pt>
                <c:pt idx="1">
                  <c:v>27.796931315003604</c:v>
                </c:pt>
                <c:pt idx="2">
                  <c:v>28.023677803912523</c:v>
                </c:pt>
                <c:pt idx="3">
                  <c:v>27.324328888779043</c:v>
                </c:pt>
                <c:pt idx="4">
                  <c:v>27.576533974823704</c:v>
                </c:pt>
                <c:pt idx="5">
                  <c:v>27.83244839702266</c:v>
                </c:pt>
                <c:pt idx="6">
                  <c:v>26.716752339528142</c:v>
                </c:pt>
                <c:pt idx="7">
                  <c:v>26.657494408080375</c:v>
                </c:pt>
                <c:pt idx="8">
                  <c:v>27.995996276372264</c:v>
                </c:pt>
                <c:pt idx="9">
                  <c:v>28.170104791405787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5.429778659513573</c:v>
                </c:pt>
                <c:pt idx="1">
                  <c:v>5.949325172950681</c:v>
                </c:pt>
                <c:pt idx="2">
                  <c:v>5.775859148749873</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853109228294899"/>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408704.063</c:v>
                </c:pt>
                <c:pt idx="2">
                  <c:v>0.0</c:v>
                </c:pt>
                <c:pt idx="3">
                  <c:v>532384.5319999999</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408704.063</c:v>
                </c:pt>
                <c:pt idx="1">
                  <c:v>123680.46899999987</c:v>
                </c:pt>
                <c:pt idx="2">
                  <c:v>532384.5319999999</c:v>
                </c:pt>
                <c:pt idx="3">
                  <c:v>416486.914</c:v>
                </c:pt>
                <c:pt idx="4">
                  <c:v>948871.4459999999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6.937373797391544</c:v>
                </c:pt>
                <c:pt idx="1">
                  <c:v>7.467828089005302</c:v>
                </c:pt>
                <c:pt idx="2">
                  <c:v>7.290718270485885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9.857533077486998"/>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572.8770000000001</c:v>
                </c:pt>
                <c:pt idx="2">
                  <c:v>0.0</c:v>
                </c:pt>
                <c:pt idx="3">
                  <c:v>801.141</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572.8770000000001</c:v>
                </c:pt>
                <c:pt idx="1">
                  <c:v>228.2639999999999</c:v>
                </c:pt>
                <c:pt idx="2">
                  <c:v>801.141</c:v>
                </c:pt>
                <c:pt idx="3">
                  <c:v>845.101</c:v>
                </c:pt>
                <c:pt idx="4">
                  <c:v>1646.242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572.8770000000001</c:v>
                </c:pt>
                <c:pt idx="1">
                  <c:v>610.457</c:v>
                </c:pt>
                <c:pt idx="2">
                  <c:v>651.6560000000001</c:v>
                </c:pt>
                <c:pt idx="3">
                  <c:v>696.867</c:v>
                </c:pt>
                <c:pt idx="4">
                  <c:v>746.528</c:v>
                </c:pt>
              </c:numCache>
            </c:numRef>
          </c:val>
        </c:ser>
        <c:gapWidth val="50"/>
        <c:axId val="-2068027336"/>
        <c:axId val="-2113994440"/>
      </c:barChart>
      <c:barChart>
        <c:barDir val="col"/>
        <c:grouping val="clustered"/>
        <c:varyColors val="0"/>
        <c:ser>
          <c:idx val="1"/>
          <c:order val="1"/>
          <c:tx>
            <c:strRef>
              <c:strCache>
                <c:ptCount val="1"/>
                <c:pt idx="0">
                  <c:v>Volume (Patient Treatment Courses)</c:v>
                </c:pt>
              </c:strCache>
            </c:strRef>
          </c:tx>
          <c:spPr>
            <a:solidFill>
              <a:srgbClr val="C55A11"/>
            </a:solidFill>
            <a:ln>
              <a:noFill/>
            </a:ln>
          </c:spPr>
          <c:dLbls>
            <c:dLbl>
              <c:idx val="0"/>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408704.063</c:v>
                </c:pt>
                <c:pt idx="1">
                  <c:v>429377.572</c:v>
                </c:pt>
                <c:pt idx="2">
                  <c:v>451895.326</c:v>
                </c:pt>
                <c:pt idx="3">
                  <c:v>476433.47300000006</c:v>
                </c:pt>
                <c:pt idx="4">
                  <c:v>503190.10699999996</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881"/>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714156"/>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801.141</c:v>
                </c:pt>
                <c:pt idx="1">
                  <c:v>861.315</c:v>
                </c:pt>
                <c:pt idx="2">
                  <c:v>925.9259999999999</c:v>
                </c:pt>
                <c:pt idx="3">
                  <c:v>995.297</c:v>
                </c:pt>
                <c:pt idx="4">
                  <c:v>1069.772</c:v>
                </c:pt>
                <c:pt idx="5">
                  <c:v>1149.7169999999999</c:v>
                </c:pt>
                <c:pt idx="6">
                  <c:v>1235.5170000000003</c:v>
                </c:pt>
                <c:pt idx="7">
                  <c:v>1327.6060000000002</c:v>
                </c:pt>
                <c:pt idx="8">
                  <c:v>1426.429</c:v>
                </c:pt>
                <c:pt idx="9">
                  <c:v>1532.4679999999998</c:v>
                </c:pt>
                <c:pt idx="10">
                  <c:v>1646.242</c:v>
                </c:pt>
              </c:numCache>
            </c:numRef>
          </c:val>
        </c:ser>
        <c:gapWidth val="50"/>
        <c:axId val="-2068027336"/>
        <c:axId val="-2113994440"/>
      </c:barChart>
      <c:barChart>
        <c:barDir val="col"/>
        <c:grouping val="clustered"/>
        <c:varyColors val="0"/>
        <c:ser>
          <c:idx val="1"/>
          <c:order val="1"/>
          <c:tx>
            <c:strRef>
              <c:strCache>
                <c:ptCount val="1"/>
                <c:pt idx="0">
                  <c:v>Volume (Patient Treatment Courses)</c:v>
                </c:pt>
              </c:strCache>
            </c:strRef>
          </c:tx>
          <c:spPr>
            <a:solidFill>
              <a:srgbClr val="C55A11"/>
            </a:solidFill>
            <a:ln>
              <a:noFill/>
            </a:ln>
          </c:spPr>
          <c:dLbls>
            <c:dLbl>
              <c:idx val="0"/>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532384.5319999999</c:v>
                </c:pt>
                <c:pt idx="1">
                  <c:v>564295.879</c:v>
                </c:pt>
                <c:pt idx="2">
                  <c:v>598065.101</c:v>
                </c:pt>
                <c:pt idx="3">
                  <c:v>633795.9890000001</c:v>
                </c:pt>
                <c:pt idx="4">
                  <c:v>671598.397</c:v>
                </c:pt>
                <c:pt idx="5">
                  <c:v>711589.22</c:v>
                </c:pt>
                <c:pt idx="6">
                  <c:v>753889.255</c:v>
                </c:pt>
                <c:pt idx="7">
                  <c:v>798627.976</c:v>
                </c:pt>
                <c:pt idx="8">
                  <c:v>845941.637</c:v>
                </c:pt>
                <c:pt idx="9">
                  <c:v>895972.4819999998</c:v>
                </c:pt>
                <c:pt idx="10">
                  <c:v>948871.4459999999</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1943"/>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466930"/>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U.S.</c:v>
                </c:pt>
                <c:pt idx="1">
                  <c:v>Canada</c:v>
                </c:pt>
              </c:strCache>
            </c:strRef>
          </c:cat>
          <c:val>
            <c:numRef>
              <c:numCache>
                <c:formatCode>General</c:formatCode>
                <c:ptCount val="2"/>
                <c:pt idx="0">
                  <c:v>96.8153765863272</c:v>
                </c:pt>
                <c:pt idx="1">
                  <c:v>106.84861844603348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34.00646786597103</c:v>
                </c:pt>
                <c:pt idx="1">
                  <c:v>65.99353213402892</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Licensed Finished AIT Products</c:v>
                </c:pt>
                <c:pt idx="1">
                  <c:v>Individual-Prescription Products</c:v>
                </c:pt>
                <c:pt idx="2">
                  <c:v>Bulk Allergen Extracts</c:v>
                </c:pt>
              </c:strCache>
            </c:strRef>
          </c:cat>
          <c:val>
            <c:numRef>
              <c:numCache>
                <c:formatCode>General</c:formatCode>
                <c:ptCount val="3"/>
                <c:pt idx="0">
                  <c:v>601.343</c:v>
                </c:pt>
                <c:pt idx="1">
                  <c:v>557.773</c:v>
                </c:pt>
                <c:pt idx="2">
                  <c:v>487.126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0.08478471515134864</c:v>
                </c:pt>
                <c:pt idx="1">
                  <c:v>0.08588912175365973</c:v>
                </c:pt>
                <c:pt idx="2">
                  <c:v>0.08839441995219093</c:v>
                </c:pt>
                <c:pt idx="3">
                  <c:v>0.09101090002343801</c:v>
                </c:pt>
                <c:pt idx="4">
                  <c:v>0.09279722211173984</c:v>
                </c:pt>
                <c:pt idx="5">
                  <c:v>0.09375338621709642</c:v>
                </c:pt>
                <c:pt idx="6">
                  <c:v>0.09477625944608252</c:v>
                </c:pt>
                <c:pt idx="7">
                  <c:v>0.0963476299138003</c:v>
                </c:pt>
                <c:pt idx="8">
                  <c:v>0.0980079458796908</c:v>
                </c:pt>
                <c:pt idx="9">
                  <c:v>0.09915682523108825</c:v>
                </c:pt>
                <c:pt idx="10">
                  <c:v>0.10012781358614027</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0.07671626085209111</c:v>
                </c:pt>
                <c:pt idx="1">
                  <c:v>0.07800626085209111</c:v>
                </c:pt>
                <c:pt idx="2">
                  <c:v>0.07880626085209112</c:v>
                </c:pt>
                <c:pt idx="3">
                  <c:v>0.07831626085209112</c:v>
                </c:pt>
                <c:pt idx="4">
                  <c:v>0.07668626085209113</c:v>
                </c:pt>
                <c:pt idx="5">
                  <c:v>0.07460626085209113</c:v>
                </c:pt>
                <c:pt idx="6">
                  <c:v>0.07309626085209112</c:v>
                </c:pt>
                <c:pt idx="7">
                  <c:v>0.07184626085209112</c:v>
                </c:pt>
                <c:pt idx="8">
                  <c:v>0.07126626085209112</c:v>
                </c:pt>
                <c:pt idx="9">
                  <c:v>0.07064626085209112</c:v>
                </c:pt>
                <c:pt idx="10">
                  <c:v>0.06999626085209112</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0.056916578562732474</c:v>
                </c:pt>
                <c:pt idx="1">
                  <c:v>0.057526578562732474</c:v>
                </c:pt>
                <c:pt idx="2">
                  <c:v>0.05958657856273247</c:v>
                </c:pt>
                <c:pt idx="3">
                  <c:v>0.061066578562732475</c:v>
                </c:pt>
                <c:pt idx="4">
                  <c:v>0.05989657856273248</c:v>
                </c:pt>
                <c:pt idx="5">
                  <c:v>0.05803657856273248</c:v>
                </c:pt>
                <c:pt idx="6">
                  <c:v>0.05538657856273248</c:v>
                </c:pt>
                <c:pt idx="7">
                  <c:v>0.053566578562732475</c:v>
                </c:pt>
                <c:pt idx="8">
                  <c:v>0.05232657856273248</c:v>
                </c:pt>
                <c:pt idx="9">
                  <c:v>0.050936578562732475</c:v>
                </c:pt>
                <c:pt idx="10">
                  <c:v>0.049776578562732474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70.02305544068662</c:v>
                </c:pt>
                <c:pt idx="1">
                  <c:v>68.88583345567339</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29.976944559313377</c:v>
                </c:pt>
                <c:pt idx="1">
                  <c:v>31.114166544326594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68.93580530767991</c:v>
                </c:pt>
                <c:pt idx="1">
                  <c:v>67.42538460323574</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31.064194692320076</c:v>
                </c:pt>
                <c:pt idx="1">
                  <c:v>32.574615396764266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MMMM&quot;;&quot;MMMMMMMMM&quot;;&quot;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288497.069</c:v>
                </c:pt>
                <c:pt idx="1">
                  <c:v>302606.908</c:v>
                </c:pt>
                <c:pt idx="2">
                  <c:v>317966.755</c:v>
                </c:pt>
                <c:pt idx="3">
                  <c:v>334693.947</c:v>
                </c:pt>
                <c:pt idx="4">
                  <c:v>352920.391</c:v>
                </c:pt>
                <c:pt idx="5">
                  <c:v>372791.916</c:v>
                </c:pt>
                <c:pt idx="6">
                  <c:v>394501.541</c:v>
                </c:pt>
                <c:pt idx="7">
                  <c:v>417434.584</c:v>
                </c:pt>
                <c:pt idx="8">
                  <c:v>441656.843</c:v>
                </c:pt>
                <c:pt idx="9">
                  <c:v>467237.835</c:v>
                </c:pt>
                <c:pt idx="10">
                  <c:v>494251.441</c:v>
                </c:pt>
                <c:pt idx="11">
                  <c:v>522773.689</c:v>
                </c:pt>
                <c:pt idx="12">
                  <c:v>552886.033</c:v>
                </c:pt>
                <c:pt idx="13">
                  <c:v>584673.988</c:v>
                </c:pt>
                <c:pt idx="14">
                  <c:v>618226.547</c:v>
                </c:pt>
                <c:pt idx="15">
                  <c:v>653638.004</c:v>
                </c:pt>
              </c:numCache>
            </c:numRef>
          </c:val>
        </c:ser>
        <c:ser>
          <c:idx val="1"/>
          <c:order val="1"/>
          <c:tx>
            <c:strRef>
              <c:strCache>
                <c:ptCount val="1"/>
                <c:pt idx="0">
                  <c:v>Canada</c:v>
                </c:pt>
              </c:strCache>
            </c:strRef>
          </c:tx>
          <c:spPr>
            <a:solidFill>
              <a:srgbClr val="9E7E0A"/>
            </a:solidFill>
            <a:ln>
              <a:noFill/>
            </a:ln>
          </c:spPr>
          <c:dLbls>
            <c:dLbl>
              <c:idx val="0"/>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120206.994</c:v>
                </c:pt>
                <c:pt idx="1">
                  <c:v>126770.664</c:v>
                </c:pt>
                <c:pt idx="2">
                  <c:v>133928.571</c:v>
                </c:pt>
                <c:pt idx="3">
                  <c:v>141739.526</c:v>
                </c:pt>
                <c:pt idx="4">
                  <c:v>150269.716</c:v>
                </c:pt>
                <c:pt idx="5">
                  <c:v>159592.616</c:v>
                </c:pt>
                <c:pt idx="6">
                  <c:v>169794.338</c:v>
                </c:pt>
                <c:pt idx="7">
                  <c:v>180630.517</c:v>
                </c:pt>
                <c:pt idx="8">
                  <c:v>192139.146</c:v>
                </c:pt>
                <c:pt idx="9">
                  <c:v>204360.562</c:v>
                </c:pt>
                <c:pt idx="10">
                  <c:v>217337.779</c:v>
                </c:pt>
                <c:pt idx="11">
                  <c:v>231115.566</c:v>
                </c:pt>
                <c:pt idx="12">
                  <c:v>245741.943</c:v>
                </c:pt>
                <c:pt idx="13">
                  <c:v>261267.649</c:v>
                </c:pt>
                <c:pt idx="14">
                  <c:v>277745.935</c:v>
                </c:pt>
                <c:pt idx="15">
                  <c:v>295233.442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quot;;&quot;MMMMM&quot;;&quot;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quot;;&quot;MMMMM&quot;;&quot;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quot;;&quot;MMMMM&quot;;&quot;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399.192</c:v>
                </c:pt>
                <c:pt idx="1">
                  <c:v>424.474</c:v>
                </c:pt>
                <c:pt idx="2">
                  <c:v>452.15</c:v>
                </c:pt>
                <c:pt idx="3">
                  <c:v>482.48</c:v>
                </c:pt>
                <c:pt idx="4">
                  <c:v>515.745</c:v>
                </c:pt>
                <c:pt idx="5">
                  <c:v>552.273</c:v>
                </c:pt>
                <c:pt idx="6">
                  <c:v>592.468</c:v>
                </c:pt>
                <c:pt idx="7">
                  <c:v>635.525</c:v>
                </c:pt>
                <c:pt idx="8">
                  <c:v>681.646</c:v>
                </c:pt>
                <c:pt idx="9">
                  <c:v>731.042</c:v>
                </c:pt>
                <c:pt idx="10">
                  <c:v>783.94</c:v>
                </c:pt>
                <c:pt idx="11">
                  <c:v>840.573</c:v>
                </c:pt>
                <c:pt idx="12">
                  <c:v>901.212</c:v>
                </c:pt>
                <c:pt idx="13">
                  <c:v>966.128</c:v>
                </c:pt>
                <c:pt idx="14">
                  <c:v>1035.612</c:v>
                </c:pt>
                <c:pt idx="15">
                  <c:v>1109.985</c:v>
                </c:pt>
              </c:numCache>
            </c:numRef>
          </c:val>
        </c:ser>
        <c:ser>
          <c:idx val="1"/>
          <c:order val="1"/>
          <c:tx>
            <c:strRef>
              <c:strCache>
                <c:ptCount val="1"/>
                <c:pt idx="0">
                  <c:v>Canada</c:v>
                </c:pt>
              </c:strCache>
            </c:strRef>
          </c:tx>
          <c:spPr>
            <a:solidFill>
              <a:srgbClr val="9E7E0A"/>
            </a:solidFill>
            <a:ln>
              <a:noFill/>
            </a:ln>
          </c:spPr>
          <c:dLbls>
            <c:dLbl>
              <c:idx val="0"/>
              <c:numFmt formatCode="&quot;MMMMM&quot;;&quot;MMMMM&quot;;&quot;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quot;;&quot;MMMMM&quot;;&quot;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quot;;&quot;MMMMM&quot;;&quot;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quot;;&quot;MMMMM&quot;;&quot;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quot;;&quot;MMMMM&quot;;&quot;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quot;;&quot;MMMMM&quot;;&quot;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173.685</c:v>
                </c:pt>
                <c:pt idx="1">
                  <c:v>185.983</c:v>
                </c:pt>
                <c:pt idx="2">
                  <c:v>199.506</c:v>
                </c:pt>
                <c:pt idx="3">
                  <c:v>214.387</c:v>
                </c:pt>
                <c:pt idx="4">
                  <c:v>230.783</c:v>
                </c:pt>
                <c:pt idx="5">
                  <c:v>248.868</c:v>
                </c:pt>
                <c:pt idx="6">
                  <c:v>268.847</c:v>
                </c:pt>
                <c:pt idx="7">
                  <c:v>290.401</c:v>
                </c:pt>
                <c:pt idx="8">
                  <c:v>313.651</c:v>
                </c:pt>
                <c:pt idx="9">
                  <c:v>338.73</c:v>
                </c:pt>
                <c:pt idx="10">
                  <c:v>365.777</c:v>
                </c:pt>
                <c:pt idx="11">
                  <c:v>394.944</c:v>
                </c:pt>
                <c:pt idx="12">
                  <c:v>426.394</c:v>
                </c:pt>
                <c:pt idx="13">
                  <c:v>460.301</c:v>
                </c:pt>
                <c:pt idx="14">
                  <c:v>496.856</c:v>
                </c:pt>
                <c:pt idx="15">
                  <c:v>536.257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Subcutaneous Immunotherapy (SCIT)</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43.67346253755196</c:v>
                </c:pt>
                <c:pt idx="1">
                  <c:v>40.66451348441646</c:v>
                </c:pt>
              </c:numCache>
            </c:numRef>
          </c:val>
        </c:ser>
        <c:ser>
          <c:idx val="1"/>
          <c:order val="1"/>
          <c:tx>
            <c:strRef>
              <c:strCache>
                <c:ptCount val="1"/>
                <c:pt idx="0">
                  <c:v>Sublingual Immunotherapy (SLIT)</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49.404110342615574</c:v>
                </c:pt>
                <c:pt idx="1">
                  <c:v>53.5439668103623</c:v>
                </c:pt>
              </c:numCache>
            </c:numRef>
          </c:val>
        </c:ser>
        <c:ser>
          <c:idx val="2"/>
          <c:order val="2"/>
          <c:tx>
            <c:strRef>
              <c:strCache>
                <c:ptCount val="1"/>
                <c:pt idx="0">
                  <c:v>Oral Immunotherapy (OIT)</c:v>
                </c:pt>
              </c:strCache>
            </c:strRef>
          </c:tx>
          <c:spPr>
            <a:solidFill>
              <a:srgbClr val="008189"/>
            </a:solidFill>
            <a:ln>
              <a:noFill/>
            </a:ln>
          </c:spPr>
          <c:dLbls>
            <c:dLbl>
              <c:idx val="0"/>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6.922427119832469</c:v>
                </c:pt>
                <c:pt idx="1">
                  <c:v>5.7915197052212415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Subcutaneous Immunotherapy (SCIT)</c:v>
                </c:pt>
              </c:strCache>
            </c:strRef>
          </c:tx>
          <c:spPr>
            <a:solidFill>
              <a:srgbClr val="3D85C6"/>
            </a:solidFill>
          </c:spPr>
          <c:invertIfNegative val="0"/>
          <c:xVal>
            <c:numRef>
              <c:numCache>
                <c:formatCode>General</c:formatCode>
                <c:ptCount val="1"/>
                <c:pt idx="0">
                  <c:v>100.2579784353974</c:v>
                </c:pt>
              </c:numCache>
            </c:numRef>
          </c:xVal>
          <c:yVal>
            <c:numRef>
              <c:numCache>
                <c:formatCode>General</c:formatCode>
                <c:ptCount val="1"/>
                <c:pt idx="0">
                  <c:v>124.71025699595954</c:v>
                </c:pt>
              </c:numCache>
            </c:numRef>
          </c:yVal>
          <c:bubbleSize>
            <c:numRef>
              <c:numCache>
                <c:formatCode>General</c:formatCode>
                <c:ptCount val="1"/>
                <c:pt idx="0">
                  <c:v>685.572</c:v>
                </c:pt>
              </c:numCache>
            </c:numRef>
          </c:bubbleSize>
          <c:bubble3D val="0"/>
        </c:ser>
        <c:ser>
          <c:idx val="1"/>
          <c:order val="1"/>
          <c:tx>
            <c:strRef>
              <c:strCache>
                <c:ptCount val="1"/>
                <c:pt idx="0">
                  <c:v>Sublingual Immunotherapy (SLIT)</c:v>
                </c:pt>
              </c:strCache>
            </c:strRef>
          </c:tx>
          <c:spPr>
            <a:solidFill>
              <a:srgbClr val="9E7E0A"/>
            </a:solidFill>
          </c:spPr>
          <c:invertIfNegative val="0"/>
          <c:xVal>
            <c:numRef>
              <c:numCache>
                <c:formatCode>General</c:formatCode>
                <c:ptCount val="1"/>
                <c:pt idx="0">
                  <c:v>105.13559176475586</c:v>
                </c:pt>
              </c:numCache>
            </c:numRef>
          </c:xVal>
          <c:yVal>
            <c:numRef>
              <c:numCache>
                <c:formatCode>General</c:formatCode>
                <c:ptCount val="1"/>
                <c:pt idx="0">
                  <c:v>151.10635955468516</c:v>
                </c:pt>
              </c:numCache>
            </c:numRef>
          </c:yVal>
          <c:bubbleSize>
            <c:numRef>
              <c:numCache>
                <c:formatCode>General</c:formatCode>
                <c:ptCount val="1"/>
                <c:pt idx="0">
                  <c:v>859.263</c:v>
                </c:pt>
              </c:numCache>
            </c:numRef>
          </c:bubbleSize>
          <c:bubble3D val="0"/>
        </c:ser>
        <c:ser>
          <c:idx val="2"/>
          <c:order val="2"/>
          <c:tx>
            <c:strRef>
              <c:strCache>
                <c:ptCount val="1"/>
                <c:pt idx="0">
                  <c:v>Oral Immunotherapy (OIT)</c:v>
                </c:pt>
              </c:strCache>
            </c:strRef>
          </c:tx>
          <c:spPr>
            <a:solidFill>
              <a:srgbClr val="008189"/>
            </a:solidFill>
          </c:spPr>
          <c:invertIfNegative val="0"/>
          <c:xVal>
            <c:numRef>
              <c:numCache>
                <c:formatCode>General</c:formatCode>
                <c:ptCount val="1"/>
                <c:pt idx="0">
                  <c:v>61.80602770593089</c:v>
                </c:pt>
              </c:numCache>
            </c:numRef>
          </c:xVal>
          <c:yVal>
            <c:numRef>
              <c:numCache>
                <c:formatCode>General</c:formatCode>
                <c:ptCount val="1"/>
                <c:pt idx="0">
                  <c:v>24.18338344935536</c:v>
                </c:pt>
              </c:numCache>
            </c:numRef>
          </c:yVal>
          <c:bubbleSize>
            <c:numRef>
              <c:numCache>
                <c:formatCode>General</c:formatCode>
                <c:ptCount val="1"/>
                <c:pt idx="0">
                  <c:v>101.407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5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333.035</c:v>
                </c:pt>
                <c:pt idx="2">
                  <c:v>385.053</c:v>
                </c:pt>
                <c:pt idx="3">
                  <c:v>445.033</c:v>
                </c:pt>
                <c:pt idx="4">
                  <c:v>514.167</c:v>
                </c:pt>
                <c:pt idx="5">
                  <c:v>593.826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333.035</c:v>
                </c:pt>
                <c:pt idx="1">
                  <c:v>52.01799999999997</c:v>
                </c:pt>
                <c:pt idx="2">
                  <c:v>59.98000000000002</c:v>
                </c:pt>
                <c:pt idx="3">
                  <c:v>69.13400000000001</c:v>
                </c:pt>
                <c:pt idx="4">
                  <c:v>79.65899999999999</c:v>
                </c:pt>
                <c:pt idx="5">
                  <c:v>91.74599999999998</c:v>
                </c:pt>
                <c:pt idx="6">
                  <c:v>685.572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403.525</c:v>
                </c:pt>
                <c:pt idx="2">
                  <c:v>469.895</c:v>
                </c:pt>
                <c:pt idx="3">
                  <c:v>546.882</c:v>
                </c:pt>
                <c:pt idx="4">
                  <c:v>636.124</c:v>
                </c:pt>
                <c:pt idx="5">
                  <c:v>739.523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403.525</c:v>
                </c:pt>
                <c:pt idx="1">
                  <c:v>66.37</c:v>
                </c:pt>
                <c:pt idx="2">
                  <c:v>76.98699999999997</c:v>
                </c:pt>
                <c:pt idx="3">
                  <c:v>89.24200000000008</c:v>
                </c:pt>
                <c:pt idx="4">
                  <c:v>103.399</c:v>
                </c:pt>
                <c:pt idx="5">
                  <c:v>119.74000000000001</c:v>
                </c:pt>
                <c:pt idx="6">
                  <c:v>859.263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64.581</c:v>
                </c:pt>
                <c:pt idx="2">
                  <c:v>70.978</c:v>
                </c:pt>
                <c:pt idx="3">
                  <c:v>77.857</c:v>
                </c:pt>
                <c:pt idx="4">
                  <c:v>85.226</c:v>
                </c:pt>
                <c:pt idx="5">
                  <c:v>93.08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64.581</c:v>
                </c:pt>
                <c:pt idx="1">
                  <c:v>6.396999999999991</c:v>
                </c:pt>
                <c:pt idx="2">
                  <c:v>6.879000000000005</c:v>
                </c:pt>
                <c:pt idx="3">
                  <c:v>7.369</c:v>
                </c:pt>
                <c:pt idx="4">
                  <c:v>7.853999999999999</c:v>
                </c:pt>
                <c:pt idx="5">
                  <c:v>8.326999999999998</c:v>
                </c:pt>
                <c:pt idx="6">
                  <c:v>101.407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Sublingual Immunotherapy</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49.383899161600134</c:v>
                </c:pt>
                <c:pt idx="1">
                  <c:v>50.36878651822838</c:v>
                </c:pt>
                <c:pt idx="2">
                  <c:v>52.19542448801574</c:v>
                </c:pt>
              </c:numCache>
            </c:numRef>
          </c:val>
        </c:ser>
        <c:ser>
          <c:idx val="1"/>
          <c:order val="1"/>
          <c:tx>
            <c:strRef>
              <c:strCache>
                <c:ptCount val="1"/>
                <c:pt idx="0">
                  <c:v>Subcutaneous Immunotherapy</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41.53020630955685</c:v>
                </c:pt>
                <c:pt idx="1">
                  <c:v>41.570085665319844</c:v>
                </c:pt>
                <c:pt idx="2">
                  <c:v>41.64466706595993</c:v>
                </c:pt>
              </c:numCache>
            </c:numRef>
          </c:val>
        </c:ser>
        <c:ser>
          <c:idx val="2"/>
          <c:order val="2"/>
          <c:tx>
            <c:strRef>
              <c:strCache>
                <c:ptCount val="1"/>
                <c:pt idx="0">
                  <c:v>Oral Immunotherapy</c:v>
                </c:pt>
              </c:strCache>
            </c:strRef>
          </c:tx>
          <c:spPr>
            <a:solidFill>
              <a:srgbClr val="008189"/>
            </a:solidFill>
            <a:ln>
              <a:noFill/>
            </a:ln>
          </c:spPr>
          <c:dLbls>
            <c:dLbl>
              <c:idx val="0"/>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9.085894528843017</c:v>
                </c:pt>
                <c:pt idx="1">
                  <c:v>8.061127816451787</c:v>
                </c:pt>
                <c:pt idx="2">
                  <c:v>6.159908446024339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Inhalant Allergens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63.43562881230456</c:v>
                </c:pt>
                <c:pt idx="1">
                  <c:v>62.78850615098403</c:v>
                </c:pt>
              </c:numCache>
            </c:numRef>
          </c:val>
        </c:ser>
        <c:ser>
          <c:idx val="1"/>
          <c:order val="1"/>
          <c:tx>
            <c:strRef>
              <c:strCache>
                <c:ptCount val="1"/>
                <c:pt idx="0">
                  <c:v>Venom Allergens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17.243224797065583</c:v>
                </c:pt>
                <c:pt idx="1">
                  <c:v>16.280940733433336</c:v>
                </c:pt>
              </c:numCache>
            </c:numRef>
          </c:val>
        </c:ser>
        <c:ser>
          <c:idx val="2"/>
          <c:order val="2"/>
          <c:tx>
            <c:strRef>
              <c:strCache>
                <c:ptCount val="1"/>
                <c:pt idx="0">
                  <c:v>Food Allergens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19.321146390629867</c:v>
                </c:pt>
                <c:pt idx="1">
                  <c:v>20.930553115582644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Inhalant Allergens</c:v>
                </c:pt>
              </c:strCache>
            </c:strRef>
          </c:tx>
          <c:spPr>
            <a:solidFill>
              <a:srgbClr val="3D85C6"/>
            </a:solidFill>
          </c:spPr>
          <c:invertIfNegative val="0"/>
          <c:xVal>
            <c:numRef>
              <c:numCache>
                <c:formatCode>General</c:formatCode>
                <c:ptCount val="1"/>
                <c:pt idx="0">
                  <c:v>111.5519601011352</c:v>
                </c:pt>
              </c:numCache>
            </c:numRef>
          </c:xVal>
          <c:yVal>
            <c:numRef>
              <c:numCache>
                <c:formatCode>General</c:formatCode>
                <c:ptCount val="1"/>
                <c:pt idx="0">
                  <c:v>174.47527963242422</c:v>
                </c:pt>
              </c:numCache>
            </c:numRef>
          </c:yVal>
          <c:bubbleSize>
            <c:numRef>
              <c:numCache>
                <c:formatCode>General</c:formatCode>
                <c:ptCount val="1"/>
                <c:pt idx="0">
                  <c:v>1037.121</c:v>
                </c:pt>
              </c:numCache>
            </c:numRef>
          </c:bubbleSize>
          <c:bubble3D val="0"/>
        </c:ser>
        <c:ser>
          <c:idx val="1"/>
          <c:order val="1"/>
          <c:tx>
            <c:strRef>
              <c:strCache>
                <c:ptCount val="1"/>
                <c:pt idx="0">
                  <c:v>Venom Allergens</c:v>
                </c:pt>
              </c:strCache>
            </c:strRef>
          </c:tx>
          <c:spPr>
            <a:solidFill>
              <a:srgbClr val="9E7E0A"/>
            </a:solidFill>
          </c:spPr>
          <c:invertIfNegative val="0"/>
          <c:xVal>
            <c:numRef>
              <c:numCache>
                <c:formatCode>General</c:formatCode>
                <c:ptCount val="1"/>
                <c:pt idx="0">
                  <c:v>84.4402951457104</c:v>
                </c:pt>
              </c:numCache>
            </c:numRef>
          </c:xVal>
          <c:yVal>
            <c:numRef>
              <c:numCache>
                <c:formatCode>General</c:formatCode>
                <c:ptCount val="1"/>
                <c:pt idx="0">
                  <c:v>55.50034263631495</c:v>
                </c:pt>
              </c:numCache>
            </c:numRef>
          </c:yVal>
          <c:bubbleSize>
            <c:numRef>
              <c:numCache>
                <c:formatCode>General</c:formatCode>
                <c:ptCount val="1"/>
                <c:pt idx="0">
                  <c:v>273.18399999999997</c:v>
                </c:pt>
              </c:numCache>
            </c:numRef>
          </c:bubbleSize>
          <c:bubble3D val="0"/>
        </c:ser>
        <c:ser>
          <c:idx val="2"/>
          <c:order val="2"/>
          <c:tx>
            <c:strRef>
              <c:strCache>
                <c:ptCount val="1"/>
                <c:pt idx="0">
                  <c:v>Food Allergens</c:v>
                </c:pt>
              </c:strCache>
            </c:strRef>
          </c:tx>
          <c:spPr>
            <a:solidFill>
              <a:srgbClr val="008189"/>
            </a:solidFill>
          </c:spPr>
          <c:invertIfNegative val="0"/>
          <c:xVal>
            <c:numRef>
              <c:numCache>
                <c:formatCode>General</c:formatCode>
                <c:ptCount val="1"/>
                <c:pt idx="0">
                  <c:v>80.78993680753794</c:v>
                </c:pt>
              </c:numCache>
            </c:numRef>
          </c:xVal>
          <c:yVal>
            <c:numRef>
              <c:numCache>
                <c:formatCode>General</c:formatCode>
                <c:ptCount val="1"/>
                <c:pt idx="0">
                  <c:v>70.02437773126078</c:v>
                </c:pt>
              </c:numCache>
            </c:numRef>
          </c:yVal>
          <c:bubbleSize>
            <c:numRef>
              <c:numCache>
                <c:formatCode>General</c:formatCode>
                <c:ptCount val="1"/>
                <c:pt idx="0">
                  <c:v>335.937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7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465.931</c:v>
                </c:pt>
                <c:pt idx="2">
                  <c:v>547.425</c:v>
                </c:pt>
                <c:pt idx="3">
                  <c:v>642.801</c:v>
                </c:pt>
                <c:pt idx="4">
                  <c:v>754.357</c:v>
                </c:pt>
                <c:pt idx="5">
                  <c:v>884.765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465.931</c:v>
                </c:pt>
                <c:pt idx="1">
                  <c:v>81.49399999999997</c:v>
                </c:pt>
                <c:pt idx="2">
                  <c:v>95.37600000000009</c:v>
                </c:pt>
                <c:pt idx="3">
                  <c:v>111.55599999999993</c:v>
                </c:pt>
                <c:pt idx="4">
                  <c:v>130.40800000000002</c:v>
                </c:pt>
                <c:pt idx="5">
                  <c:v>152.3560000000001</c:v>
                </c:pt>
                <c:pt idx="6">
                  <c:v>1037.121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148.212</c:v>
                </c:pt>
                <c:pt idx="2">
                  <c:v>167.791</c:v>
                </c:pt>
                <c:pt idx="3">
                  <c:v>189.79399999999998</c:v>
                </c:pt>
                <c:pt idx="4">
                  <c:v>214.49</c:v>
                </c:pt>
                <c:pt idx="5">
                  <c:v>242.17700000000002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148.212</c:v>
                </c:pt>
                <c:pt idx="1">
                  <c:v>19.579000000000008</c:v>
                </c:pt>
                <c:pt idx="2">
                  <c:v>22.002999999999986</c:v>
                </c:pt>
                <c:pt idx="3">
                  <c:v>24.696000000000026</c:v>
                </c:pt>
                <c:pt idx="4">
                  <c:v>27.687000000000012</c:v>
                </c:pt>
                <c:pt idx="5">
                  <c:v>31.006999999999948</c:v>
                </c:pt>
                <c:pt idx="6">
                  <c:v>273.18399999999997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186.998</c:v>
                </c:pt>
                <c:pt idx="2">
                  <c:v>210.70999999999998</c:v>
                </c:pt>
                <c:pt idx="3">
                  <c:v>237.17700000000002</c:v>
                </c:pt>
                <c:pt idx="4">
                  <c:v>266.67</c:v>
                </c:pt>
                <c:pt idx="5">
                  <c:v>299.487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186.998</c:v>
                </c:pt>
                <c:pt idx="1">
                  <c:v>23.71199999999999</c:v>
                </c:pt>
                <c:pt idx="2">
                  <c:v>26.46700000000004</c:v>
                </c:pt>
                <c:pt idx="3">
                  <c:v>29.492999999999995</c:v>
                </c:pt>
                <c:pt idx="4">
                  <c:v>32.81700000000001</c:v>
                </c:pt>
                <c:pt idx="5">
                  <c:v>36.44999999999999</c:v>
                </c:pt>
                <c:pt idx="6">
                  <c:v>335.937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Inhalant Allergens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55.75926420505623</c:v>
                </c:pt>
                <c:pt idx="1">
                  <c:v>58.15842654414142</c:v>
                </c:pt>
                <c:pt idx="2">
                  <c:v>62.99930386905449</c:v>
                </c:pt>
              </c:numCache>
            </c:numRef>
          </c:val>
        </c:ser>
        <c:ser>
          <c:idx val="1"/>
          <c:order val="1"/>
          <c:tx>
            <c:strRef>
              <c:strCache>
                <c:ptCount val="1"/>
                <c:pt idx="0">
                  <c:v>Food Allergens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24.798516959137825</c:v>
                </c:pt>
                <c:pt idx="1">
                  <c:v>23.341459243753597</c:v>
                </c:pt>
                <c:pt idx="2">
                  <c:v>20.406295064759615</c:v>
                </c:pt>
              </c:numCache>
            </c:numRef>
          </c:val>
        </c:ser>
        <c:ser>
          <c:idx val="2"/>
          <c:order val="2"/>
          <c:tx>
            <c:strRef>
              <c:strCache>
                <c:ptCount val="1"/>
                <c:pt idx="0">
                  <c:v>Venom Allergens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19.442218835805942</c:v>
                </c:pt>
                <c:pt idx="1">
                  <c:v>18.500114212104986</c:v>
                </c:pt>
                <c:pt idx="2">
                  <c:v>16.594401066185892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Licensed Finished AIT Products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33.94212103524988</c:v>
                </c:pt>
                <c:pt idx="1">
                  <c:v>37.77762762559854</c:v>
                </c:pt>
              </c:numCache>
            </c:numRef>
          </c:val>
        </c:ser>
        <c:ser>
          <c:idx val="1"/>
          <c:order val="1"/>
          <c:tx>
            <c:strRef>
              <c:strCache>
                <c:ptCount val="1"/>
                <c:pt idx="0">
                  <c:v>Individual-Prescription Products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31.547560218328147</c:v>
                </c:pt>
                <c:pt idx="1">
                  <c:v>35.00921183619598</c:v>
                </c:pt>
              </c:numCache>
            </c:numRef>
          </c:val>
        </c:ser>
        <c:ser>
          <c:idx val="2"/>
          <c:order val="2"/>
          <c:tx>
            <c:strRef>
              <c:strCache>
                <c:ptCount val="1"/>
                <c:pt idx="0">
                  <c:v>Bulk Allergen Extracts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34.51031874642196</c:v>
                </c:pt>
                <c:pt idx="1">
                  <c:v>27.213160538205468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Licensed Finished AIT Products</c:v>
                </c:pt>
              </c:strCache>
            </c:strRef>
          </c:tx>
          <c:spPr>
            <a:solidFill>
              <a:srgbClr val="3D85C6"/>
            </a:solidFill>
          </c:spPr>
          <c:invertIfNegative val="0"/>
          <c:xVal>
            <c:numRef>
              <c:numCache>
                <c:formatCode>General</c:formatCode>
                <c:ptCount val="1"/>
                <c:pt idx="0">
                  <c:v>112.81983006147173</c:v>
                </c:pt>
              </c:numCache>
            </c:numRef>
          </c:xVal>
          <c:yVal>
            <c:numRef>
              <c:numCache>
                <c:formatCode>General</c:formatCode>
                <c:ptCount val="1"/>
                <c:pt idx="0">
                  <c:v>100.28421963175023</c:v>
                </c:pt>
              </c:numCache>
            </c:numRef>
          </c:yVal>
          <c:bubbleSize>
            <c:numRef>
              <c:numCache>
                <c:formatCode>General</c:formatCode>
                <c:ptCount val="1"/>
                <c:pt idx="0">
                  <c:v>601.343</c:v>
                </c:pt>
              </c:numCache>
            </c:numRef>
          </c:bubbleSize>
          <c:bubble3D val="0"/>
        </c:ser>
        <c:ser>
          <c:idx val="1"/>
          <c:order val="1"/>
          <c:tx>
            <c:strRef>
              <c:strCache>
                <c:ptCount val="1"/>
                <c:pt idx="0">
                  <c:v>Individual-Prescription Products</c:v>
                </c:pt>
              </c:strCache>
            </c:strRef>
          </c:tx>
          <c:spPr>
            <a:solidFill>
              <a:srgbClr val="9E7E0A"/>
            </a:solidFill>
          </c:spPr>
          <c:invertIfNegative val="0"/>
          <c:xVal>
            <c:numRef>
              <c:numCache>
                <c:formatCode>General</c:formatCode>
                <c:ptCount val="1"/>
                <c:pt idx="0">
                  <c:v>87.99972628474045</c:v>
                </c:pt>
              </c:numCache>
            </c:numRef>
          </c:xVal>
          <c:yVal>
            <c:numRef>
              <c:numCache>
                <c:formatCode>General</c:formatCode>
                <c:ptCount val="1"/>
                <c:pt idx="0">
                  <c:v>110.52286676128173</c:v>
                </c:pt>
              </c:numCache>
            </c:numRef>
          </c:yVal>
          <c:bubbleSize>
            <c:numRef>
              <c:numCache>
                <c:formatCode>General</c:formatCode>
                <c:ptCount val="1"/>
                <c:pt idx="0">
                  <c:v>557.773</c:v>
                </c:pt>
              </c:numCache>
            </c:numRef>
          </c:bubbleSize>
          <c:bubble3D val="0"/>
        </c:ser>
        <c:ser>
          <c:idx val="2"/>
          <c:order val="2"/>
          <c:tx>
            <c:strRef>
              <c:strCache>
                <c:ptCount val="1"/>
                <c:pt idx="0">
                  <c:v>Bulk Allergen Extracts</c:v>
                </c:pt>
              </c:strCache>
            </c:strRef>
          </c:tx>
          <c:spPr>
            <a:solidFill>
              <a:srgbClr val="008189"/>
            </a:solidFill>
          </c:spPr>
          <c:invertIfNegative val="0"/>
          <c:xVal>
            <c:numRef>
              <c:numCache>
                <c:formatCode>General</c:formatCode>
                <c:ptCount val="1"/>
                <c:pt idx="0">
                  <c:v>99.31707594689847</c:v>
                </c:pt>
              </c:numCache>
            </c:numRef>
          </c:xVal>
          <c:yVal>
            <c:numRef>
              <c:numCache>
                <c:formatCode>General</c:formatCode>
                <c:ptCount val="1"/>
                <c:pt idx="0">
                  <c:v>89.19291360696806</c:v>
                </c:pt>
              </c:numCache>
            </c:numRef>
          </c:yVal>
          <c:bubbleSize>
            <c:numRef>
              <c:numCache>
                <c:formatCode>General</c:formatCode>
                <c:ptCount val="1"/>
                <c:pt idx="0">
                  <c:v>487.126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8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30.0"/>
          <c:min val="7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267.806</c:v>
                </c:pt>
                <c:pt idx="2">
                  <c:v>315.528</c:v>
                </c:pt>
                <c:pt idx="3">
                  <c:v>371.32899999999995</c:v>
                </c:pt>
                <c:pt idx="4">
                  <c:v>436.515</c:v>
                </c:pt>
                <c:pt idx="5">
                  <c:v>512.604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267.806</c:v>
                </c:pt>
                <c:pt idx="1">
                  <c:v>47.72200000000004</c:v>
                </c:pt>
                <c:pt idx="2">
                  <c:v>55.80099999999993</c:v>
                </c:pt>
                <c:pt idx="3">
                  <c:v>65.18600000000004</c:v>
                </c:pt>
                <c:pt idx="4">
                  <c:v>76.08900000000006</c:v>
                </c:pt>
                <c:pt idx="5">
                  <c:v>88.73899999999992</c:v>
                </c:pt>
                <c:pt idx="6">
                  <c:v>601.343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295.148</c:v>
                </c:pt>
                <c:pt idx="2">
                  <c:v>335.399</c:v>
                </c:pt>
                <c:pt idx="3">
                  <c:v>381.04</c:v>
                </c:pt>
                <c:pt idx="4">
                  <c:v>432.77</c:v>
                </c:pt>
                <c:pt idx="5">
                  <c:v>491.38199999999995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295.148</c:v>
                </c:pt>
                <c:pt idx="1">
                  <c:v>40.250999999999976</c:v>
                </c:pt>
                <c:pt idx="2">
                  <c:v>45.64100000000002</c:v>
                </c:pt>
                <c:pt idx="3">
                  <c:v>51.72999999999996</c:v>
                </c:pt>
                <c:pt idx="4">
                  <c:v>58.611999999999966</c:v>
                </c:pt>
                <c:pt idx="5">
                  <c:v>66.39100000000008</c:v>
                </c:pt>
                <c:pt idx="6">
                  <c:v>557.773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238.18699999999998</c:v>
                </c:pt>
                <c:pt idx="2">
                  <c:v>274.999</c:v>
                </c:pt>
                <c:pt idx="3">
                  <c:v>317.403</c:v>
                </c:pt>
                <c:pt idx="4">
                  <c:v>366.23199999999997</c:v>
                </c:pt>
                <c:pt idx="5">
                  <c:v>422.443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238.18699999999998</c:v>
                </c:pt>
                <c:pt idx="1">
                  <c:v>36.81200000000004</c:v>
                </c:pt>
                <c:pt idx="2">
                  <c:v>42.403999999999996</c:v>
                </c:pt>
                <c:pt idx="3">
                  <c:v>48.82899999999995</c:v>
                </c:pt>
                <c:pt idx="4">
                  <c:v>56.21100000000001</c:v>
                </c:pt>
                <c:pt idx="5">
                  <c:v>64.68299999999999</c:v>
                </c:pt>
                <c:pt idx="6">
                  <c:v>487.126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Licensed Finished AIT Products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31.73752830014122</c:v>
                </c:pt>
                <c:pt idx="1">
                  <c:v>33.428073210583406</c:v>
                </c:pt>
                <c:pt idx="2">
                  <c:v>36.52822610527492</c:v>
                </c:pt>
              </c:numCache>
            </c:numRef>
          </c:val>
        </c:ser>
        <c:ser>
          <c:idx val="1"/>
          <c:order val="1"/>
          <c:tx>
            <c:strRef>
              <c:strCache>
                <c:ptCount val="1"/>
                <c:pt idx="0">
                  <c:v>Individual-Prescription Products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38.44717103322354</c:v>
                </c:pt>
                <c:pt idx="1">
                  <c:v>36.84095558709391</c:v>
                </c:pt>
                <c:pt idx="2">
                  <c:v>33.88159213529967</c:v>
                </c:pt>
              </c:numCache>
            </c:numRef>
          </c:val>
        </c:ser>
        <c:ser>
          <c:idx val="2"/>
          <c:order val="2"/>
          <c:tx>
            <c:strRef>
              <c:strCache>
                <c:ptCount val="1"/>
                <c:pt idx="0">
                  <c:v>Bulk Allergen Extracts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29.815300666635252</c:v>
                </c:pt>
                <c:pt idx="1">
                  <c:v>29.730971202322685</c:v>
                </c:pt>
                <c:pt idx="2">
                  <c:v>29.590181759425406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Native Allergen Extracts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35.21613703877059</c:v>
                </c:pt>
                <c:pt idx="1">
                  <c:v>37.659337738798264</c:v>
                </c:pt>
              </c:numCache>
            </c:numRef>
          </c:val>
        </c:ser>
        <c:ser>
          <c:idx val="1"/>
          <c:order val="1"/>
          <c:tx>
            <c:strRef>
              <c:strCache>
                <c:ptCount val="1"/>
                <c:pt idx="0">
                  <c:v>Modified Allergen</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39.27165519517694</c:v>
                </c:pt>
                <c:pt idx="1">
                  <c:v>40.36477970423024</c:v>
                </c:pt>
              </c:numCache>
            </c:numRef>
          </c:val>
        </c:ser>
        <c:ser>
          <c:idx val="2"/>
          <c:order val="2"/>
          <c:tx>
            <c:strRef>
              <c:strCache>
                <c:ptCount val="1"/>
                <c:pt idx="0">
                  <c:v>Molecular Allergen Preparations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25.512207766052477</c:v>
                </c:pt>
                <c:pt idx="1">
                  <c:v>21.975882556971488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Native Allergen Extracts</c:v>
                </c:pt>
              </c:strCache>
            </c:strRef>
          </c:tx>
          <c:spPr>
            <a:solidFill>
              <a:srgbClr val="3D85C6"/>
            </a:solidFill>
          </c:spPr>
          <c:invertIfNegative val="0"/>
          <c:xVal>
            <c:numRef>
              <c:numCache>
                <c:formatCode>General</c:formatCode>
                <c:ptCount val="1"/>
                <c:pt idx="0">
                  <c:v>123.9757022637759</c:v>
                </c:pt>
              </c:numCache>
            </c:numRef>
          </c:xVal>
          <c:yVal>
            <c:numRef>
              <c:numCache>
                <c:formatCode>General</c:formatCode>
                <c:ptCount val="1"/>
                <c:pt idx="0">
                  <c:v>93.74716810149523</c:v>
                </c:pt>
              </c:numCache>
            </c:numRef>
          </c:yVal>
          <c:bubbleSize>
            <c:numRef>
              <c:numCache>
                <c:formatCode>General</c:formatCode>
                <c:ptCount val="1"/>
                <c:pt idx="0">
                  <c:v>606.862</c:v>
                </c:pt>
              </c:numCache>
            </c:numRef>
          </c:bubbleSize>
          <c:bubble3D val="0"/>
        </c:ser>
        <c:ser>
          <c:idx val="1"/>
          <c:order val="1"/>
          <c:tx>
            <c:strRef>
              <c:strCache>
                <c:ptCount val="1"/>
                <c:pt idx="0">
                  <c:v>Modified Allergen</c:v>
                </c:pt>
              </c:strCache>
            </c:strRef>
          </c:tx>
          <c:spPr>
            <a:solidFill>
              <a:srgbClr val="9E7E0A"/>
            </a:solidFill>
          </c:spPr>
          <c:invertIfNegative val="0"/>
          <c:xVal>
            <c:numRef>
              <c:numCache>
                <c:formatCode>General</c:formatCode>
                <c:ptCount val="1"/>
                <c:pt idx="0">
                  <c:v>95.55922571038276</c:v>
                </c:pt>
              </c:numCache>
            </c:numRef>
          </c:xVal>
          <c:yVal>
            <c:numRef>
              <c:numCache>
                <c:formatCode>General</c:formatCode>
                <c:ptCount val="1"/>
                <c:pt idx="0">
                  <c:v>123.79356442873353</c:v>
                </c:pt>
              </c:numCache>
            </c:numRef>
          </c:yVal>
          <c:bubbleSize>
            <c:numRef>
              <c:numCache>
                <c:formatCode>General</c:formatCode>
                <c:ptCount val="1"/>
                <c:pt idx="0">
                  <c:v>658.6400000000001</c:v>
                </c:pt>
              </c:numCache>
            </c:numRef>
          </c:bubbleSize>
          <c:bubble3D val="0"/>
        </c:ser>
        <c:ser>
          <c:idx val="2"/>
          <c:order val="2"/>
          <c:tx>
            <c:strRef>
              <c:strCache>
                <c:ptCount val="1"/>
                <c:pt idx="0">
                  <c:v>Molecular Allergen Preparations</c:v>
                </c:pt>
              </c:strCache>
            </c:strRef>
          </c:tx>
          <c:spPr>
            <a:solidFill>
              <a:srgbClr val="008189"/>
            </a:solidFill>
          </c:spPr>
          <c:invertIfNegative val="0"/>
          <c:xVal>
            <c:numRef>
              <c:numCache>
                <c:formatCode>General</c:formatCode>
                <c:ptCount val="1"/>
                <c:pt idx="0">
                  <c:v>75.36678244970983</c:v>
                </c:pt>
              </c:numCache>
            </c:numRef>
          </c:xVal>
          <c:yVal>
            <c:numRef>
              <c:numCache>
                <c:formatCode>General</c:formatCode>
                <c:ptCount val="1"/>
                <c:pt idx="0">
                  <c:v>82.45926746977126</c:v>
                </c:pt>
              </c:numCache>
            </c:numRef>
          </c:yVal>
          <c:bubbleSize>
            <c:numRef>
              <c:numCache>
                <c:formatCode>General</c:formatCode>
                <c:ptCount val="1"/>
                <c:pt idx="0">
                  <c:v>380.74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0.0"/>
          <c:min val="6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40.0"/>
          <c:min val="7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250.349</c:v>
                </c:pt>
                <c:pt idx="2">
                  <c:v>298.945</c:v>
                </c:pt>
                <c:pt idx="3">
                  <c:v>356.912</c:v>
                </c:pt>
                <c:pt idx="4">
                  <c:v>426.049</c:v>
                </c:pt>
                <c:pt idx="5">
                  <c:v>508.51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250.349</c:v>
                </c:pt>
                <c:pt idx="1">
                  <c:v>48.596000000000004</c:v>
                </c:pt>
                <c:pt idx="2">
                  <c:v>57.966999999999985</c:v>
                </c:pt>
                <c:pt idx="3">
                  <c:v>69.137</c:v>
                </c:pt>
                <c:pt idx="4">
                  <c:v>82.46100000000001</c:v>
                </c:pt>
                <c:pt idx="5">
                  <c:v>98.35199999999998</c:v>
                </c:pt>
                <c:pt idx="6">
                  <c:v>606.862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330.587</c:v>
                </c:pt>
                <c:pt idx="2">
                  <c:v>379.927</c:v>
                </c:pt>
                <c:pt idx="3">
                  <c:v>436.369</c:v>
                </c:pt>
                <c:pt idx="4">
                  <c:v>500.88199999999995</c:v>
                </c:pt>
                <c:pt idx="5">
                  <c:v>574.562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330.587</c:v>
                </c:pt>
                <c:pt idx="1">
                  <c:v>49.34000000000003</c:v>
                </c:pt>
                <c:pt idx="2">
                  <c:v>56.44200000000001</c:v>
                </c:pt>
                <c:pt idx="3">
                  <c:v>64.51299999999992</c:v>
                </c:pt>
                <c:pt idx="4">
                  <c:v>73.68000000000006</c:v>
                </c:pt>
                <c:pt idx="5">
                  <c:v>84.07800000000009</c:v>
                </c:pt>
                <c:pt idx="6">
                  <c:v>658.6400000000001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220.205</c:v>
                </c:pt>
                <c:pt idx="2">
                  <c:v>247.054</c:v>
                </c:pt>
                <c:pt idx="3">
                  <c:v>276.491</c:v>
                </c:pt>
                <c:pt idx="4">
                  <c:v>308.586</c:v>
                </c:pt>
                <c:pt idx="5">
                  <c:v>343.357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220.205</c:v>
                </c:pt>
                <c:pt idx="1">
                  <c:v>26.84899999999999</c:v>
                </c:pt>
                <c:pt idx="2">
                  <c:v>29.436999999999983</c:v>
                </c:pt>
                <c:pt idx="3">
                  <c:v>32.09500000000003</c:v>
                </c:pt>
                <c:pt idx="4">
                  <c:v>34.771000000000015</c:v>
                </c:pt>
                <c:pt idx="5">
                  <c:v>37.38299999999998</c:v>
                </c:pt>
                <c:pt idx="6">
                  <c:v>380.74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Modified Allergen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41.81054571923816</c:v>
                </c:pt>
                <c:pt idx="1">
                  <c:v>41.26452147624451</c:v>
                </c:pt>
                <c:pt idx="2">
                  <c:v>40.00869859959836</c:v>
                </c:pt>
              </c:numCache>
            </c:numRef>
          </c:val>
        </c:ser>
        <c:ser>
          <c:idx val="1"/>
          <c:order val="1"/>
          <c:tx>
            <c:strRef>
              <c:strCache>
                <c:ptCount val="1"/>
                <c:pt idx="0">
                  <c:v>Native Allergen Extracts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28.817878881505106</c:v>
                </c:pt>
                <c:pt idx="1">
                  <c:v>31.249056033831746</c:v>
                </c:pt>
                <c:pt idx="2">
                  <c:v>36.86347450739319</c:v>
                </c:pt>
              </c:numCache>
            </c:numRef>
          </c:val>
        </c:ser>
        <c:ser>
          <c:idx val="2"/>
          <c:order val="2"/>
          <c:tx>
            <c:strRef>
              <c:strCache>
                <c:ptCount val="1"/>
                <c:pt idx="0">
                  <c:v>Molecular Allergen Preparations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29.371575399256734</c:v>
                </c:pt>
                <c:pt idx="1">
                  <c:v>27.48642248992375</c:v>
                </c:pt>
                <c:pt idx="2">
                  <c:v>23.12782689300844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Single-Allergen Preparations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20.685417626250103</c:v>
                </c:pt>
                <c:pt idx="1">
                  <c:v>17.979432154488574</c:v>
                </c:pt>
              </c:numCache>
            </c:numRef>
          </c:val>
        </c:ser>
        <c:ser>
          <c:idx val="1"/>
          <c:order val="1"/>
          <c:tx>
            <c:strRef>
              <c:strCache>
                <c:ptCount val="1"/>
                <c:pt idx="0">
                  <c:v>Fixed Allergen Mixtures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73.61768704184747</c:v>
                </c:pt>
                <c:pt idx="1">
                  <c:v>75.60985058356646</c:v>
                </c:pt>
              </c:numCache>
            </c:numRef>
          </c:val>
        </c:ser>
        <c:ser>
          <c:idx val="2"/>
          <c:order val="2"/>
          <c:tx>
            <c:strRef>
              <c:strCache>
                <c:ptCount val="1"/>
                <c:pt idx="0">
                  <c:v>Customized Multi-Allergen Preparations</c:v>
                </c:pt>
              </c:strCache>
            </c:strRef>
          </c:tx>
          <c:spPr>
            <a:solidFill>
              <a:srgbClr val="008189"/>
            </a:solidFill>
            <a:ln>
              <a:noFill/>
            </a:ln>
          </c:spPr>
          <c:dLbls>
            <c:dLbl>
              <c:idx val="0"/>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5.696895331902428</c:v>
                </c:pt>
                <c:pt idx="1">
                  <c:v>6.410717261944981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Single-Allergen Preparations</c:v>
                </c:pt>
              </c:strCache>
            </c:strRef>
          </c:tx>
          <c:spPr>
            <a:solidFill>
              <a:srgbClr val="3D85C6"/>
            </a:solidFill>
          </c:spPr>
          <c:invertIfNegative val="0"/>
          <c:xVal>
            <c:numRef>
              <c:numCache>
                <c:formatCode>General</c:formatCode>
                <c:ptCount val="1"/>
                <c:pt idx="0">
                  <c:v>121.02413885688696</c:v>
                </c:pt>
              </c:numCache>
            </c:numRef>
          </c:xVal>
          <c:yVal>
            <c:numRef>
              <c:numCache>
                <c:formatCode>General</c:formatCode>
                <c:ptCount val="1"/>
                <c:pt idx="0">
                  <c:v>48.9434444124068</c:v>
                </c:pt>
              </c:numCache>
            </c:numRef>
          </c:yVal>
          <c:bubbleSize>
            <c:numRef>
              <c:numCache>
                <c:formatCode>General</c:formatCode>
                <c:ptCount val="1"/>
                <c:pt idx="0">
                  <c:v>310.496</c:v>
                </c:pt>
              </c:numCache>
            </c:numRef>
          </c:bubbleSize>
          <c:bubble3D val="0"/>
        </c:ser>
        <c:ser>
          <c:idx val="1"/>
          <c:order val="1"/>
          <c:tx>
            <c:strRef>
              <c:strCache>
                <c:ptCount val="1"/>
                <c:pt idx="0">
                  <c:v>Fixed Allergen Mixtures</c:v>
                </c:pt>
              </c:strCache>
            </c:strRef>
          </c:tx>
          <c:spPr>
            <a:solidFill>
              <a:srgbClr val="9E7E0A"/>
            </a:solidFill>
          </c:spPr>
          <c:invertIfNegative val="0"/>
          <c:xVal>
            <c:numRef>
              <c:numCache>
                <c:formatCode>General</c:formatCode>
                <c:ptCount val="1"/>
                <c:pt idx="0">
                  <c:v>94.39197659601383</c:v>
                </c:pt>
              </c:numCache>
            </c:numRef>
          </c:xVal>
          <c:yVal>
            <c:numRef>
              <c:numCache>
                <c:formatCode>General</c:formatCode>
                <c:ptCount val="1"/>
                <c:pt idx="0">
                  <c:v>233.83711481499515</c:v>
                </c:pt>
              </c:numCache>
            </c:numRef>
          </c:yVal>
          <c:bubbleSize>
            <c:numRef>
              <c:numCache>
                <c:formatCode>General</c:formatCode>
                <c:ptCount val="1"/>
                <c:pt idx="0">
                  <c:v>1234.038</c:v>
                </c:pt>
              </c:numCache>
            </c:numRef>
          </c:bubbleSize>
          <c:bubble3D val="0"/>
        </c:ser>
        <c:ser>
          <c:idx val="2"/>
          <c:order val="2"/>
          <c:tx>
            <c:strRef>
              <c:strCache>
                <c:ptCount val="1"/>
                <c:pt idx="0">
                  <c:v>Customized Multi-Allergen Preparations</c:v>
                </c:pt>
              </c:strCache>
            </c:strRef>
          </c:tx>
          <c:spPr>
            <a:solidFill>
              <a:srgbClr val="008189"/>
            </a:solidFill>
          </c:spPr>
          <c:invertIfNegative val="0"/>
          <c:xVal>
            <c:numRef>
              <c:numCache>
                <c:formatCode>General</c:formatCode>
                <c:ptCount val="1"/>
                <c:pt idx="0">
                  <c:v>110.63054081222927</c:v>
                </c:pt>
              </c:numCache>
            </c:numRef>
          </c:xVal>
          <c:yVal>
            <c:numRef>
              <c:numCache>
                <c:formatCode>General</c:formatCode>
                <c:ptCount val="1"/>
                <c:pt idx="0">
                  <c:v>17.219440772598084</c:v>
                </c:pt>
              </c:numCache>
            </c:numRef>
          </c:yVal>
          <c:bubbleSize>
            <c:numRef>
              <c:numCache>
                <c:formatCode>General</c:formatCode>
                <c:ptCount val="1"/>
                <c:pt idx="0">
                  <c:v>101.708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0.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3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130.702</c:v>
                </c:pt>
                <c:pt idx="2">
                  <c:v>156.18</c:v>
                </c:pt>
                <c:pt idx="3">
                  <c:v>186.109</c:v>
                </c:pt>
                <c:pt idx="4">
                  <c:v>221.22</c:v>
                </c:pt>
                <c:pt idx="5">
                  <c:v>262.356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130.702</c:v>
                </c:pt>
                <c:pt idx="1">
                  <c:v>25.47800000000001</c:v>
                </c:pt>
                <c:pt idx="2">
                  <c:v>29.929000000000002</c:v>
                </c:pt>
                <c:pt idx="3">
                  <c:v>35.11099999999999</c:v>
                </c:pt>
                <c:pt idx="4">
                  <c:v>41.135999999999996</c:v>
                </c:pt>
                <c:pt idx="5">
                  <c:v>48.139999999999986</c:v>
                </c:pt>
                <c:pt idx="6">
                  <c:v>310.496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624.455</c:v>
                </c:pt>
                <c:pt idx="2">
                  <c:v>715.713</c:v>
                </c:pt>
                <c:pt idx="3">
                  <c:v>820.257</c:v>
                </c:pt>
                <c:pt idx="4">
                  <c:v>939.986</c:v>
                </c:pt>
                <c:pt idx="5">
                  <c:v>1077.088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624.455</c:v>
                </c:pt>
                <c:pt idx="1">
                  <c:v>91.25799999999992</c:v>
                </c:pt>
                <c:pt idx="2">
                  <c:v>104.54399999999998</c:v>
                </c:pt>
                <c:pt idx="3">
                  <c:v>119.72900000000004</c:v>
                </c:pt>
                <c:pt idx="4">
                  <c:v>137.10199999999998</c:v>
                </c:pt>
                <c:pt idx="5">
                  <c:v>156.95000000000005</c:v>
                </c:pt>
                <c:pt idx="6">
                  <c:v>1234.038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45.984</c:v>
                </c:pt>
                <c:pt idx="2">
                  <c:v>54.033</c:v>
                </c:pt>
                <c:pt idx="3">
                  <c:v>63.406</c:v>
                </c:pt>
                <c:pt idx="4">
                  <c:v>74.311</c:v>
                </c:pt>
                <c:pt idx="5">
                  <c:v>86.985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45.984</c:v>
                </c:pt>
                <c:pt idx="1">
                  <c:v>8.049</c:v>
                </c:pt>
                <c:pt idx="2">
                  <c:v>9.372999999999998</c:v>
                </c:pt>
                <c:pt idx="3">
                  <c:v>10.905000000000008</c:v>
                </c:pt>
                <c:pt idx="4">
                  <c:v>12.673999999999992</c:v>
                </c:pt>
                <c:pt idx="5">
                  <c:v>14.722999999999999</c:v>
                </c:pt>
                <c:pt idx="6">
                  <c:v>101.708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Fixed Allergen Mixtures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79.7010527565254</c:v>
                </c:pt>
                <c:pt idx="1">
                  <c:v>77.9457049383317</c:v>
                </c:pt>
                <c:pt idx="2">
                  <c:v>74.96091097177694</c:v>
                </c:pt>
              </c:numCache>
            </c:numRef>
          </c:val>
        </c:ser>
        <c:ser>
          <c:idx val="1"/>
          <c:order val="1"/>
          <c:tx>
            <c:strRef>
              <c:strCache>
                <c:ptCount val="1"/>
                <c:pt idx="0">
                  <c:v>Single-Allergen Preparations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14.819586054248992</c:v>
                </c:pt>
                <c:pt idx="1">
                  <c:v>16.314481470802267</c:v>
                </c:pt>
                <c:pt idx="2">
                  <c:v>18.86089651460721</c:v>
                </c:pt>
              </c:numCache>
            </c:numRef>
          </c:val>
        </c:ser>
        <c:ser>
          <c:idx val="2"/>
          <c:order val="2"/>
          <c:tx>
            <c:strRef>
              <c:strCache>
                <c:ptCount val="1"/>
                <c:pt idx="0">
                  <c:v>Customized Multi-Allergen Preparations</c:v>
                </c:pt>
              </c:strCache>
            </c:strRef>
          </c:tx>
          <c:spPr>
            <a:solidFill>
              <a:srgbClr val="008189"/>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5.479361189225611</c:v>
                </c:pt>
                <c:pt idx="1">
                  <c:v>5.739813590866027</c:v>
                </c:pt>
                <c:pt idx="2">
                  <c:v>6.17819251361586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Direct-to-Allergy Clinics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40.64021541909943</c:v>
                </c:pt>
                <c:pt idx="1">
                  <c:v>43.73311351054293</c:v>
                </c:pt>
              </c:numCache>
            </c:numRef>
          </c:val>
        </c:ser>
        <c:ser>
          <c:idx val="1"/>
          <c:order val="1"/>
          <c:tx>
            <c:strRef>
              <c:strCache>
                <c:ptCount val="1"/>
                <c:pt idx="0">
                  <c:v>Hospital Procurement</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17.280147392015397</c:v>
                </c:pt>
                <c:pt idx="1">
                  <c:v>17.20419645310522</c:v>
                </c:pt>
              </c:numCache>
            </c:numRef>
          </c:val>
        </c:ser>
        <c:ser>
          <c:idx val="2"/>
          <c:order val="2"/>
          <c:tx>
            <c:strRef>
              <c:strCache>
                <c:ptCount val="1"/>
                <c:pt idx="0">
                  <c:v>Retail Pharmacy</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12.664450067784664</c:v>
                </c:pt>
                <c:pt idx="1">
                  <c:v>9.676887525507102</c:v>
                </c:pt>
              </c:numCache>
            </c:numRef>
          </c:val>
        </c:ser>
        <c:ser>
          <c:idx val="3"/>
          <c:order val="3"/>
          <c:tx>
            <c:strRef>
              <c:strCache>
                <c:ptCount val="1"/>
                <c:pt idx="0">
                  <c:v>Pharmaceutical Distributor</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13.034981361548661</c:v>
                </c:pt>
                <c:pt idx="1">
                  <c:v>13.638292409356884</c:v>
                </c:pt>
              </c:numCache>
            </c:numRef>
          </c:val>
        </c:ser>
        <c:ser>
          <c:idx val="4"/>
          <c:order val="4"/>
          <c:tx>
            <c:strRef>
              <c:strCache>
                <c:ptCount val="1"/>
                <c:pt idx="0">
                  <c:v>Mail-order Pharmacy</c:v>
                </c:pt>
              </c:strCache>
            </c:strRef>
          </c:tx>
          <c:spPr>
            <a:solidFill>
              <a:srgbClr val="A35313"/>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16.380205759551856</c:v>
                </c:pt>
                <c:pt idx="1">
                  <c:v>15.747510101487855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Direct-to-Allergy Clinics</c:v>
                </c:pt>
              </c:strCache>
            </c:strRef>
          </c:tx>
          <c:spPr>
            <a:solidFill>
              <a:srgbClr val="3D85C6"/>
            </a:solidFill>
          </c:spPr>
          <c:invertIfNegative val="0"/>
          <c:xVal>
            <c:numRef>
              <c:numCache>
                <c:formatCode>General</c:formatCode>
                <c:ptCount val="1"/>
                <c:pt idx="0">
                  <c:v>94.77911342647147</c:v>
                </c:pt>
              </c:numCache>
            </c:numRef>
          </c:xVal>
          <c:yVal>
            <c:numRef>
              <c:numCache>
                <c:formatCode>General</c:formatCode>
                <c:ptCount val="1"/>
                <c:pt idx="0">
                  <c:v>221.53528529934178</c:v>
                </c:pt>
              </c:numCache>
            </c:numRef>
          </c:yVal>
          <c:bubbleSize>
            <c:numRef>
              <c:numCache>
                <c:formatCode>General</c:formatCode>
                <c:ptCount val="1"/>
                <c:pt idx="0">
                  <c:v>703.3670000000001</c:v>
                </c:pt>
              </c:numCache>
            </c:numRef>
          </c:bubbleSize>
          <c:bubble3D val="0"/>
        </c:ser>
        <c:ser>
          <c:idx val="1"/>
          <c:order val="1"/>
          <c:tx>
            <c:strRef>
              <c:strCache>
                <c:ptCount val="1"/>
                <c:pt idx="0">
                  <c:v>Hospital Procurement</c:v>
                </c:pt>
              </c:strCache>
            </c:strRef>
          </c:tx>
          <c:spPr>
            <a:solidFill>
              <a:srgbClr val="9E7E0A"/>
            </a:solidFill>
          </c:spPr>
          <c:invertIfNegative val="0"/>
          <c:xVal>
            <c:numRef>
              <c:numCache>
                <c:formatCode>General</c:formatCode>
                <c:ptCount val="1"/>
                <c:pt idx="0">
                  <c:v>71.91573581687116</c:v>
                </c:pt>
              </c:numCache>
            </c:numRef>
          </c:xVal>
          <c:yVal>
            <c:numRef>
              <c:numCache>
                <c:formatCode>General</c:formatCode>
                <c:ptCount val="1"/>
                <c:pt idx="0">
                  <c:v>104.9109956923937</c:v>
                </c:pt>
              </c:numCache>
            </c:numRef>
          </c:yVal>
          <c:bubbleSize>
            <c:numRef>
              <c:numCache>
                <c:formatCode>General</c:formatCode>
                <c:ptCount val="1"/>
                <c:pt idx="0">
                  <c:v>283.63</c:v>
                </c:pt>
              </c:numCache>
            </c:numRef>
          </c:bubbleSize>
          <c:bubble3D val="0"/>
        </c:ser>
        <c:ser>
          <c:idx val="2"/>
          <c:order val="2"/>
          <c:tx>
            <c:strRef>
              <c:strCache>
                <c:ptCount val="1"/>
                <c:pt idx="0">
                  <c:v>Retail Pharmacy</c:v>
                </c:pt>
              </c:strCache>
            </c:strRef>
          </c:tx>
          <c:spPr>
            <a:solidFill>
              <a:srgbClr val="008189"/>
            </a:solidFill>
          </c:spPr>
          <c:invertIfNegative val="0"/>
          <c:xVal>
            <c:numRef>
              <c:numCache>
                <c:formatCode>General</c:formatCode>
                <c:ptCount val="1"/>
                <c:pt idx="0">
                  <c:v>146.78458548977738</c:v>
                </c:pt>
              </c:numCache>
            </c:numRef>
          </c:xVal>
          <c:yVal>
            <c:numRef>
              <c:numCache>
                <c:formatCode>General</c:formatCode>
                <c:ptCount val="1"/>
                <c:pt idx="0">
                  <c:v>38.670471240393375</c:v>
                </c:pt>
              </c:numCache>
            </c:numRef>
          </c:yVal>
          <c:bubbleSize>
            <c:numRef>
              <c:numCache>
                <c:formatCode>General</c:formatCode>
                <c:ptCount val="1"/>
                <c:pt idx="0">
                  <c:v>175.326</c:v>
                </c:pt>
              </c:numCache>
            </c:numRef>
          </c:bubbleSize>
          <c:bubble3D val="0"/>
        </c:ser>
        <c:ser>
          <c:idx val="3"/>
          <c:order val="3"/>
          <c:tx>
            <c:strRef>
              <c:strCache>
                <c:ptCount val="1"/>
                <c:pt idx="0">
                  <c:v>Pharmaceutical Distributor</c:v>
                </c:pt>
              </c:strCache>
            </c:strRef>
          </c:tx>
          <c:spPr>
            <a:solidFill>
              <a:srgbClr val="40315E"/>
            </a:solidFill>
          </c:spPr>
          <c:invertIfNegative val="0"/>
          <c:xVal>
            <c:numRef>
              <c:numCache>
                <c:formatCode>General</c:formatCode>
                <c:ptCount val="1"/>
                <c:pt idx="0">
                  <c:v>135.90559592086296</c:v>
                </c:pt>
              </c:numCache>
            </c:numRef>
          </c:xVal>
          <c:yVal>
            <c:numRef>
              <c:numCache>
                <c:formatCode>General</c:formatCode>
                <c:ptCount val="1"/>
                <c:pt idx="0">
                  <c:v>52.528830755135466</c:v>
                </c:pt>
              </c:numCache>
            </c:numRef>
          </c:yVal>
          <c:bubbleSize>
            <c:numRef>
              <c:numCache>
                <c:formatCode>General</c:formatCode>
                <c:ptCount val="1"/>
                <c:pt idx="0">
                  <c:v>221.284</c:v>
                </c:pt>
              </c:numCache>
            </c:numRef>
          </c:bubbleSize>
          <c:bubble3D val="0"/>
        </c:ser>
        <c:ser>
          <c:idx val="4"/>
          <c:order val="4"/>
          <c:tx>
            <c:strRef>
              <c:strCache>
                <c:ptCount val="1"/>
                <c:pt idx="0">
                  <c:v>Mail-order Pharmacy</c:v>
                </c:pt>
              </c:strCache>
            </c:strRef>
          </c:tx>
          <c:spPr>
            <a:solidFill>
              <a:srgbClr val="A35313"/>
            </a:solidFill>
          </c:spPr>
          <c:invertIfNegative val="0"/>
          <c:xVal>
            <c:numRef>
              <c:numCache>
                <c:formatCode>General</c:formatCode>
                <c:ptCount val="1"/>
                <c:pt idx="0">
                  <c:v>95.4153445156553</c:v>
                </c:pt>
              </c:numCache>
            </c:numRef>
          </c:xVal>
          <c:yVal>
            <c:numRef>
              <c:numCache>
                <c:formatCode>General</c:formatCode>
                <c:ptCount val="1"/>
                <c:pt idx="0">
                  <c:v>82.35441701273557</c:v>
                </c:pt>
              </c:numCache>
            </c:numRef>
          </c:yVal>
          <c:bubbleSize>
            <c:numRef>
              <c:numCache>
                <c:formatCode>General</c:formatCode>
                <c:ptCount val="1"/>
                <c:pt idx="0">
                  <c:v>262.635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70.0"/>
          <c:min val="5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354.96200000000005</c:v>
                </c:pt>
                <c:pt idx="2">
                  <c:v>407.471</c:v>
                </c:pt>
                <c:pt idx="3">
                  <c:v>467.47700000000003</c:v>
                </c:pt>
                <c:pt idx="4">
                  <c:v>536.002</c:v>
                </c:pt>
                <c:pt idx="5">
                  <c:v>614.1999999999999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354.96200000000005</c:v>
                </c:pt>
                <c:pt idx="1">
                  <c:v>52.50899999999996</c:v>
                </c:pt>
                <c:pt idx="2">
                  <c:v>60.00600000000003</c:v>
                </c:pt>
                <c:pt idx="3">
                  <c:v>68.52499999999992</c:v>
                </c:pt>
                <c:pt idx="4">
                  <c:v>78.19799999999998</c:v>
                </c:pt>
                <c:pt idx="5">
                  <c:v>89.16700000000014</c:v>
                </c:pt>
                <c:pt idx="6">
                  <c:v>703.3670000000001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168.097</c:v>
                </c:pt>
                <c:pt idx="2">
                  <c:v>187.684</c:v>
                </c:pt>
                <c:pt idx="3">
                  <c:v>209.024</c:v>
                </c:pt>
                <c:pt idx="4">
                  <c:v>232.144</c:v>
                </c:pt>
                <c:pt idx="5">
                  <c:v>257.033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168.097</c:v>
                </c:pt>
                <c:pt idx="1">
                  <c:v>19.58699999999999</c:v>
                </c:pt>
                <c:pt idx="2">
                  <c:v>21.340000000000003</c:v>
                </c:pt>
                <c:pt idx="3">
                  <c:v>23.120000000000005</c:v>
                </c:pt>
                <c:pt idx="4">
                  <c:v>24.88900000000001</c:v>
                </c:pt>
                <c:pt idx="5">
                  <c:v>26.59699999999998</c:v>
                </c:pt>
                <c:pt idx="6">
                  <c:v>283.63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61.961</c:v>
                </c:pt>
                <c:pt idx="2">
                  <c:v>76.727</c:v>
                </c:pt>
                <c:pt idx="3">
                  <c:v>94.716</c:v>
                </c:pt>
                <c:pt idx="4">
                  <c:v>116.589</c:v>
                </c:pt>
                <c:pt idx="5">
                  <c:v>143.142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61.961</c:v>
                </c:pt>
                <c:pt idx="1">
                  <c:v>14.766000000000005</c:v>
                </c:pt>
                <c:pt idx="2">
                  <c:v>17.98899999999999</c:v>
                </c:pt>
                <c:pt idx="3">
                  <c:v>21.873000000000005</c:v>
                </c:pt>
                <c:pt idx="4">
                  <c:v>26.552999999999997</c:v>
                </c:pt>
                <c:pt idx="5">
                  <c:v>32.184</c:v>
                </c:pt>
                <c:pt idx="6">
                  <c:v>175.326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84.166</c:v>
                </c:pt>
                <c:pt idx="2">
                  <c:v>102.442</c:v>
                </c:pt>
                <c:pt idx="3">
                  <c:v>124.476</c:v>
                </c:pt>
                <c:pt idx="4">
                  <c:v>151.009</c:v>
                </c:pt>
                <c:pt idx="5">
                  <c:v>182.928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84.166</c:v>
                </c:pt>
                <c:pt idx="1">
                  <c:v>18.275999999999996</c:v>
                </c:pt>
                <c:pt idx="2">
                  <c:v>22.034000000000006</c:v>
                </c:pt>
                <c:pt idx="3">
                  <c:v>26.532999999999987</c:v>
                </c:pt>
                <c:pt idx="4">
                  <c:v>31.91900000000001</c:v>
                </c:pt>
                <c:pt idx="5">
                  <c:v>38.355999999999995</c:v>
                </c:pt>
                <c:pt idx="6">
                  <c:v>221.284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131.955</c:v>
                </c:pt>
                <c:pt idx="2">
                  <c:v>151.602</c:v>
                </c:pt>
                <c:pt idx="3">
                  <c:v>174.079</c:v>
                </c:pt>
                <c:pt idx="4">
                  <c:v>199.773</c:v>
                </c:pt>
                <c:pt idx="5">
                  <c:v>229.126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131.955</c:v>
                </c:pt>
                <c:pt idx="1">
                  <c:v>19.64699999999999</c:v>
                </c:pt>
                <c:pt idx="2">
                  <c:v>22.477000000000004</c:v>
                </c:pt>
                <c:pt idx="3">
                  <c:v>25.69399999999999</c:v>
                </c:pt>
                <c:pt idx="4">
                  <c:v>29.35300000000001</c:v>
                </c:pt>
                <c:pt idx="5">
                  <c:v>33.508999999999986</c:v>
                </c:pt>
                <c:pt idx="6">
                  <c:v>262.635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Direct-to-Allergy Clinics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45.02607016864004</c:v>
                </c:pt>
                <c:pt idx="1">
                  <c:v>44.30705705986836</c:v>
                </c:pt>
                <c:pt idx="2">
                  <c:v>42.72561385264135</c:v>
                </c:pt>
              </c:numCache>
            </c:numRef>
          </c:val>
        </c:ser>
        <c:ser>
          <c:idx val="1"/>
          <c:order val="1"/>
          <c:tx>
            <c:strRef>
              <c:strCache>
                <c:ptCount val="1"/>
                <c:pt idx="0">
                  <c:v>Hospital Procurement</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22.686545279353158</c:v>
                </c:pt>
                <c:pt idx="1">
                  <c:v>20.982199138478745</c:v>
                </c:pt>
                <c:pt idx="2">
                  <c:v>17.228937179345444</c:v>
                </c:pt>
              </c:numCache>
            </c:numRef>
          </c:val>
        </c:ser>
        <c:ser>
          <c:idx val="2"/>
          <c:order val="2"/>
          <c:tx>
            <c:strRef>
              <c:strCache>
                <c:ptCount val="1"/>
                <c:pt idx="0">
                  <c:v>Mail-order Pharmacy</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16.704109259055606</c:v>
                </c:pt>
                <c:pt idx="1">
                  <c:v>16.470883402547116</c:v>
                </c:pt>
                <c:pt idx="2">
                  <c:v>15.953608278734233</c:v>
                </c:pt>
              </c:numCache>
            </c:numRef>
          </c:val>
        </c:ser>
        <c:ser>
          <c:idx val="3"/>
          <c:order val="3"/>
          <c:tx>
            <c:strRef>
              <c:strCache>
                <c:ptCount val="1"/>
                <c:pt idx="0">
                  <c:v>Pharmaceutical Distributor</c:v>
                </c:pt>
              </c:strCache>
            </c:strRef>
          </c:tx>
          <c:spPr>
            <a:solidFill>
              <a:srgbClr val="40315E"/>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9.169333033094365</c:v>
                </c:pt>
                <c:pt idx="1">
                  <c:v>10.505766151027096</c:v>
                </c:pt>
                <c:pt idx="2">
                  <c:v>13.441766155887166</c:v>
                </c:pt>
              </c:numCache>
            </c:numRef>
          </c:val>
        </c:ser>
        <c:ser>
          <c:idx val="4"/>
          <c:order val="4"/>
          <c:tx>
            <c:strRef>
              <c:strCache>
                <c:ptCount val="1"/>
                <c:pt idx="0">
                  <c:v>Retail Pharmacy</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6.413942259856826</c:v>
                </c:pt>
                <c:pt idx="1">
                  <c:v>7.7340942480786765</c:v>
                </c:pt>
                <c:pt idx="2">
                  <c:v>10.650074533391809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Inhalant Allergens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59.58084206058941</c:v>
                </c:pt>
                <c:pt idx="1">
                  <c:v>58.18957984871558</c:v>
                </c:pt>
                <c:pt idx="2">
                  <c:v>59.5686254930351</c:v>
                </c:pt>
                <c:pt idx="3">
                  <c:v>55.803125624126224</c:v>
                </c:pt>
                <c:pt idx="4">
                  <c:v>57.482025164769325</c:v>
                </c:pt>
                <c:pt idx="5">
                  <c:v>60.35225244342366</c:v>
                </c:pt>
                <c:pt idx="6">
                  <c:v>56.6915472564781</c:v>
                </c:pt>
                <c:pt idx="7">
                  <c:v>58.4644956750752</c:v>
                </c:pt>
                <c:pt idx="8">
                  <c:v>55.50645946451975</c:v>
                </c:pt>
                <c:pt idx="9">
                  <c:v>59.94158251469799</c:v>
                </c:pt>
              </c:numCache>
            </c:numRef>
          </c:val>
        </c:ser>
        <c:ser>
          <c:idx val="1"/>
          <c:order val="1"/>
          <c:tx>
            <c:strRef>
              <c:strCache>
                <c:ptCount val="1"/>
                <c:pt idx="0">
                  <c:v>Food Allergens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22.458277682773083</c:v>
                </c:pt>
                <c:pt idx="1">
                  <c:v>23.32925581047008</c:v>
                </c:pt>
                <c:pt idx="2">
                  <c:v>24.179939088321934</c:v>
                </c:pt>
                <c:pt idx="3">
                  <c:v>25.16227281805472</c:v>
                </c:pt>
                <c:pt idx="4">
                  <c:v>23.289894148192534</c:v>
                </c:pt>
                <c:pt idx="5">
                  <c:v>21.031542945589354</c:v>
                </c:pt>
                <c:pt idx="6">
                  <c:v>24.350941135353736</c:v>
                </c:pt>
                <c:pt idx="7">
                  <c:v>23.3820537463959</c:v>
                </c:pt>
                <c:pt idx="8">
                  <c:v>24.954128440366972</c:v>
                </c:pt>
                <c:pt idx="9">
                  <c:v>21.278693844944016</c:v>
                </c:pt>
              </c:numCache>
            </c:numRef>
          </c:val>
        </c:ser>
        <c:ser>
          <c:idx val="2"/>
          <c:order val="2"/>
          <c:tx>
            <c:strRef>
              <c:strCache>
                <c:ptCount val="1"/>
                <c:pt idx="0">
                  <c:v>Venom Allergens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17.960880256637502</c:v>
                </c:pt>
                <c:pt idx="1">
                  <c:v>18.481164340814342</c:v>
                </c:pt>
                <c:pt idx="2">
                  <c:v>16.251435418642966</c:v>
                </c:pt>
                <c:pt idx="3">
                  <c:v>19.03460155781905</c:v>
                </c:pt>
                <c:pt idx="4">
                  <c:v>19.228080687038148</c:v>
                </c:pt>
                <c:pt idx="5">
                  <c:v>18.61620461098698</c:v>
                </c:pt>
                <c:pt idx="6">
                  <c:v>18.957511608168154</c:v>
                </c:pt>
                <c:pt idx="7">
                  <c:v>18.153450578528904</c:v>
                </c:pt>
                <c:pt idx="8">
                  <c:v>19.539412095113278</c:v>
                </c:pt>
                <c:pt idx="9">
                  <c:v>18.779723640357993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Sublingual Immunotherapy</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51.7387722495444</c:v>
                </c:pt>
                <c:pt idx="1">
                  <c:v>54.51107172279501</c:v>
                </c:pt>
                <c:pt idx="2">
                  <c:v>45.36671825852513</c:v>
                </c:pt>
                <c:pt idx="3">
                  <c:v>49.52317946925631</c:v>
                </c:pt>
                <c:pt idx="4">
                  <c:v>49.992510672291985</c:v>
                </c:pt>
                <c:pt idx="5">
                  <c:v>48.53084354794418</c:v>
                </c:pt>
                <c:pt idx="6">
                  <c:v>50.80759917118106</c:v>
                </c:pt>
                <c:pt idx="7">
                  <c:v>50.32829039344918</c:v>
                </c:pt>
                <c:pt idx="8">
                  <c:v>48.02970729576234</c:v>
                </c:pt>
                <c:pt idx="9">
                  <c:v>54.863070125071765</c:v>
                </c:pt>
              </c:numCache>
            </c:numRef>
          </c:val>
        </c:ser>
        <c:ser>
          <c:idx val="1"/>
          <c:order val="1"/>
          <c:tx>
            <c:strRef>
              <c:strCache>
                <c:ptCount val="1"/>
                <c:pt idx="0">
                  <c:v>Subcutaneous Immunotherapy</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41.31113163741668</c:v>
                </c:pt>
                <c:pt idx="1">
                  <c:v>38.73230646328981</c:v>
                </c:pt>
                <c:pt idx="2">
                  <c:v>46.69479255080133</c:v>
                </c:pt>
                <c:pt idx="3">
                  <c:v>40.92667948173852</c:v>
                </c:pt>
                <c:pt idx="4">
                  <c:v>42.01263199940085</c:v>
                </c:pt>
                <c:pt idx="5">
                  <c:v>43.39815762538383</c:v>
                </c:pt>
                <c:pt idx="6">
                  <c:v>41.18256484509574</c:v>
                </c:pt>
                <c:pt idx="7">
                  <c:v>41.422009187138</c:v>
                </c:pt>
                <c:pt idx="8">
                  <c:v>44.282593771453534</c:v>
                </c:pt>
                <c:pt idx="9">
                  <c:v>35.73532715879871</c:v>
                </c:pt>
              </c:numCache>
            </c:numRef>
          </c:val>
        </c:ser>
        <c:ser>
          <c:idx val="2"/>
          <c:order val="2"/>
          <c:tx>
            <c:strRef>
              <c:strCache>
                <c:ptCount val="1"/>
                <c:pt idx="0">
                  <c:v>Oral Immunotherapy</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6.95009611303892</c:v>
                </c:pt>
                <c:pt idx="1">
                  <c:v>6.756621813915172</c:v>
                </c:pt>
                <c:pt idx="2">
                  <c:v>7.938489190673524</c:v>
                </c:pt>
                <c:pt idx="3">
                  <c:v>9.550141049005168</c:v>
                </c:pt>
                <c:pt idx="4">
                  <c:v>7.994857328307162</c:v>
                </c:pt>
                <c:pt idx="5">
                  <c:v>8.070998826671993</c:v>
                </c:pt>
                <c:pt idx="6">
                  <c:v>8.009835983723194</c:v>
                </c:pt>
                <c:pt idx="7">
                  <c:v>8.249700419412823</c:v>
                </c:pt>
                <c:pt idx="8">
                  <c:v>7.687698932784123</c:v>
                </c:pt>
                <c:pt idx="9">
                  <c:v>9.401602716129515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Modified Allergen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35.84641885313428</c:v>
                </c:pt>
                <c:pt idx="1">
                  <c:v>39.406345957011254</c:v>
                </c:pt>
                <c:pt idx="2">
                  <c:v>40.16102858569467</c:v>
                </c:pt>
                <c:pt idx="3">
                  <c:v>43.82575048367971</c:v>
                </c:pt>
                <c:pt idx="4">
                  <c:v>43.20717976882942</c:v>
                </c:pt>
                <c:pt idx="5">
                  <c:v>41.73770860117079</c:v>
                </c:pt>
                <c:pt idx="6">
                  <c:v>43.30970093364621</c:v>
                </c:pt>
                <c:pt idx="7">
                  <c:v>43.49052600044935</c:v>
                </c:pt>
                <c:pt idx="8">
                  <c:v>40.29258306912649</c:v>
                </c:pt>
                <c:pt idx="9">
                  <c:v>41.36656972027012</c:v>
                </c:pt>
              </c:numCache>
            </c:numRef>
          </c:val>
        </c:ser>
        <c:ser>
          <c:idx val="1"/>
          <c:order val="1"/>
          <c:tx>
            <c:strRef>
              <c:strCache>
                <c:ptCount val="1"/>
                <c:pt idx="0">
                  <c:v>Native Allergen Extracts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34.950195970741696</c:v>
                </c:pt>
                <c:pt idx="1">
                  <c:v>33.854257682802</c:v>
                </c:pt>
                <c:pt idx="2">
                  <c:v>30.763949569342152</c:v>
                </c:pt>
                <c:pt idx="3">
                  <c:v>31.237595955813518</c:v>
                </c:pt>
                <c:pt idx="4">
                  <c:v>29.611553536210895</c:v>
                </c:pt>
                <c:pt idx="5">
                  <c:v>30.263240011483205</c:v>
                </c:pt>
                <c:pt idx="6">
                  <c:v>29.635778121723504</c:v>
                </c:pt>
                <c:pt idx="7">
                  <c:v>30.02471478143645</c:v>
                </c:pt>
                <c:pt idx="8">
                  <c:v>31.847117857053703</c:v>
                </c:pt>
                <c:pt idx="9">
                  <c:v>30.30344638198545</c:v>
                </c:pt>
              </c:numCache>
            </c:numRef>
          </c:val>
        </c:ser>
        <c:ser>
          <c:idx val="2"/>
          <c:order val="2"/>
          <c:tx>
            <c:strRef>
              <c:strCache>
                <c:ptCount val="1"/>
                <c:pt idx="0">
                  <c:v>Molecular Allergen Preparations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29.203385176124026</c:v>
                </c:pt>
                <c:pt idx="1">
                  <c:v>26.739396360186735</c:v>
                </c:pt>
                <c:pt idx="2">
                  <c:v>29.075021844963178</c:v>
                </c:pt>
                <c:pt idx="3">
                  <c:v>24.936653560506773</c:v>
                </c:pt>
                <c:pt idx="4">
                  <c:v>27.18126669495968</c:v>
                </c:pt>
                <c:pt idx="5">
                  <c:v>27.999051387346004</c:v>
                </c:pt>
                <c:pt idx="6">
                  <c:v>27.05452094463029</c:v>
                </c:pt>
                <c:pt idx="7">
                  <c:v>26.484759218114185</c:v>
                </c:pt>
                <c:pt idx="8">
                  <c:v>27.860299073819807</c:v>
                </c:pt>
                <c:pt idx="9">
                  <c:v>28.329983897744437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(Patient Treatment Courses)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288497.069</c:v>
                </c:pt>
                <c:pt idx="1">
                  <c:v>302606.90799999994</c:v>
                </c:pt>
                <c:pt idx="2">
                  <c:v>317966.755</c:v>
                </c:pt>
                <c:pt idx="3">
                  <c:v>334693.947</c:v>
                </c:pt>
                <c:pt idx="4">
                  <c:v>352920.391</c:v>
                </c:pt>
                <c:pt idx="5">
                  <c:v>372791.91599999997</c:v>
                </c:pt>
                <c:pt idx="6">
                  <c:v>394501.541</c:v>
                </c:pt>
                <c:pt idx="7">
                  <c:v>417434.58400000003</c:v>
                </c:pt>
                <c:pt idx="8">
                  <c:v>441656.843</c:v>
                </c:pt>
                <c:pt idx="9">
                  <c:v>467237.83499999996</c:v>
                </c:pt>
                <c:pt idx="10">
                  <c:v>494251.44100000005</c:v>
                </c:pt>
                <c:pt idx="11">
                  <c:v>522773.689</c:v>
                </c:pt>
                <c:pt idx="12">
                  <c:v>552886.033</c:v>
                </c:pt>
                <c:pt idx="13">
                  <c:v>584673.988</c:v>
                </c:pt>
                <c:pt idx="14">
                  <c:v>618226.547</c:v>
                </c:pt>
                <c:pt idx="15">
                  <c:v>653638.004</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0.07790594275732832</c:v>
                </c:pt>
                <c:pt idx="1">
                  <c:v>0.05949325172950681</c:v>
                </c:pt>
                <c:pt idx="2">
                  <c:v>0.0577598565097841</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517302272239323"/>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372791.91599999997</c:v>
                </c:pt>
                <c:pt idx="2">
                  <c:v>394501.541</c:v>
                </c:pt>
                <c:pt idx="3">
                  <c:v>417434.58400000003</c:v>
                </c:pt>
                <c:pt idx="4">
                  <c:v>441656.843</c:v>
                </c:pt>
                <c:pt idx="5">
                  <c:v>467237.83499999996</c:v>
                </c:pt>
                <c:pt idx="6">
                  <c:v>494251.44100000005</c:v>
                </c:pt>
                <c:pt idx="7">
                  <c:v>522773.689</c:v>
                </c:pt>
                <c:pt idx="8">
                  <c:v>552886.033</c:v>
                </c:pt>
                <c:pt idx="9">
                  <c:v>584673.988</c:v>
                </c:pt>
                <c:pt idx="10">
                  <c:v>618226.547</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372791.91599999997</c:v>
                </c:pt>
                <c:pt idx="1">
                  <c:v>21709.62500000006</c:v>
                </c:pt>
                <c:pt idx="2">
                  <c:v>22933.043000000005</c:v>
                </c:pt>
                <c:pt idx="3">
                  <c:v>24222.25899999996</c:v>
                </c:pt>
                <c:pt idx="4">
                  <c:v>25580.99199999997</c:v>
                </c:pt>
                <c:pt idx="5">
                  <c:v>27013.606000000087</c:v>
                </c:pt>
                <c:pt idx="6">
                  <c:v>28522.247999999963</c:v>
                </c:pt>
                <c:pt idx="7">
                  <c:v>30112.34400000004</c:v>
                </c:pt>
                <c:pt idx="8">
                  <c:v>31787.954999999958</c:v>
                </c:pt>
                <c:pt idx="9">
                  <c:v>33552.55900000001</c:v>
                </c:pt>
                <c:pt idx="10">
                  <c:v>35411.45699999994</c:v>
                </c:pt>
                <c:pt idx="11">
                  <c:v>653638.004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70.0230554406866</c:v>
                </c:pt>
                <c:pt idx="1">
                  <c:v>16.891341889137276</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29.976944559313395</c:v>
                </c:pt>
                <c:pt idx="1">
                  <c:v>83.10865811086272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399.192</c:v>
                </c:pt>
                <c:pt idx="1">
                  <c:v>424.47399999999993</c:v>
                </c:pt>
                <c:pt idx="2">
                  <c:v>452.15</c:v>
                </c:pt>
                <c:pt idx="3">
                  <c:v>482.47999999999996</c:v>
                </c:pt>
                <c:pt idx="4">
                  <c:v>515.745</c:v>
                </c:pt>
                <c:pt idx="5">
                  <c:v>552.273</c:v>
                </c:pt>
                <c:pt idx="6">
                  <c:v>592.468</c:v>
                </c:pt>
                <c:pt idx="7">
                  <c:v>635.525</c:v>
                </c:pt>
                <c:pt idx="8">
                  <c:v>681.6460000000001</c:v>
                </c:pt>
                <c:pt idx="9">
                  <c:v>731.0419999999999</c:v>
                </c:pt>
                <c:pt idx="10">
                  <c:v>783.9399999999999</c:v>
                </c:pt>
                <c:pt idx="11">
                  <c:v>840.573</c:v>
                </c:pt>
                <c:pt idx="12">
                  <c:v>901.212</c:v>
                </c:pt>
                <c:pt idx="13">
                  <c:v>966.128</c:v>
                </c:pt>
                <c:pt idx="14">
                  <c:v>1035.612</c:v>
                </c:pt>
                <c:pt idx="15">
                  <c:v>1109.985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0.08399981979067948</c:v>
                </c:pt>
                <c:pt idx="1">
                  <c:v>0.07467828089005302</c:v>
                </c:pt>
                <c:pt idx="2">
                  <c:v>0.07230005887190005</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1339975671741731"/>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552.273</c:v>
                </c:pt>
                <c:pt idx="2">
                  <c:v>592.468</c:v>
                </c:pt>
                <c:pt idx="3">
                  <c:v>635.525</c:v>
                </c:pt>
                <c:pt idx="4">
                  <c:v>681.6460000000001</c:v>
                </c:pt>
                <c:pt idx="5">
                  <c:v>731.0419999999999</c:v>
                </c:pt>
                <c:pt idx="6">
                  <c:v>783.9399999999999</c:v>
                </c:pt>
                <c:pt idx="7">
                  <c:v>840.573</c:v>
                </c:pt>
                <c:pt idx="8">
                  <c:v>901.212</c:v>
                </c:pt>
                <c:pt idx="9">
                  <c:v>966.128</c:v>
                </c:pt>
                <c:pt idx="10">
                  <c:v>1035.612</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552.273</c:v>
                </c:pt>
                <c:pt idx="1">
                  <c:v>40.194999999999936</c:v>
                </c:pt>
                <c:pt idx="2">
                  <c:v>43.057000000000016</c:v>
                </c:pt>
                <c:pt idx="3">
                  <c:v>46.121000000000095</c:v>
                </c:pt>
                <c:pt idx="4">
                  <c:v>49.395999999999844</c:v>
                </c:pt>
                <c:pt idx="5">
                  <c:v>52.898000000000025</c:v>
                </c:pt>
                <c:pt idx="6">
                  <c:v>56.63300000000004</c:v>
                </c:pt>
                <c:pt idx="7">
                  <c:v>60.63900000000001</c:v>
                </c:pt>
                <c:pt idx="8">
                  <c:v>64.91600000000005</c:v>
                </c:pt>
                <c:pt idx="9">
                  <c:v>69.48400000000004</c:v>
                </c:pt>
                <c:pt idx="10">
                  <c:v>74.37299999999982</c:v>
                </c:pt>
                <c:pt idx="11">
                  <c:v>1109.985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68.93580530767991</c:v>
                </c:pt>
                <c:pt idx="1">
                  <c:v>22.748815751534377</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31.064194692320086</c:v>
                </c:pt>
                <c:pt idx="1">
                  <c:v>77.25118424846562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9EC6DE"/>
              </a:solidFill>
            </c:spPr>
          </c:dPt>
          <c:dPt>
            <c:idx val="3"/>
            <c:spPr>
              <a:solidFill>
                <a:srgbClr val="569CC6"/>
              </a:solidFill>
            </c:spPr>
          </c:dPt>
          <c:dPt>
            <c:idx val="4"/>
            <c:spPr>
              <a:solidFill>
                <a:srgbClr val="0E72AE"/>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  </c:v>
                </c:pt>
                <c:pt idx="2">
                  <c:v>Oral Immunotherapy</c:v>
                </c:pt>
                <c:pt idx="3">
                  <c:v>Subcutaneous Immunoth…</c:v>
                </c:pt>
                <c:pt idx="4">
                  <c:v>Sublingual Immunother…</c:v>
                </c:pt>
              </c:strCache>
            </c:strRef>
          </c:cat>
          <c:val>
            <c:numRef>
              <c:numCache>
                <c:formatCode>General</c:formatCode>
                <c:ptCount val="5"/>
                <c:pt idx="2">
                  <c:v>41.921</c:v>
                </c:pt>
                <c:pt idx="3">
                  <c:v>224.159</c:v>
                </c:pt>
                <c:pt idx="4">
                  <c:v>286.193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383.4986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9DABB6"/>
              </a:solidFill>
            </c:spPr>
          </c:dPt>
          <c:dPt>
            <c:idx val="3"/>
            <c:spPr>
              <a:solidFill>
                <a:srgbClr val="546C80"/>
              </a:solidFill>
            </c:spPr>
          </c:dPt>
          <c:dPt>
            <c:idx val="4"/>
            <c:spPr>
              <a:solidFill>
                <a:srgbClr val="0B2E4A"/>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  </c:v>
                </c:pt>
                <c:pt idx="2">
                  <c:v>Venom Allergens</c:v>
                </c:pt>
                <c:pt idx="3">
                  <c:v>Food Allergens</c:v>
                </c:pt>
                <c:pt idx="4">
                  <c:v>Inhalant Allergens</c:v>
                </c:pt>
              </c:strCache>
            </c:strRef>
          </c:cat>
          <c:val>
            <c:numRef>
              <c:numCache>
                <c:formatCode>General</c:formatCode>
                <c:ptCount val="5"/>
                <c:pt idx="2">
                  <c:v>100.022</c:v>
                </c:pt>
                <c:pt idx="3">
                  <c:v>132.043</c:v>
                </c:pt>
                <c:pt idx="4">
                  <c:v>320.20799999999997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429.0787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C5B1E6"/>
              </a:solidFill>
            </c:spPr>
          </c:dPt>
          <c:dPt>
            <c:idx val="3"/>
            <c:spPr>
              <a:solidFill>
                <a:srgbClr val="9A76D4"/>
              </a:solidFill>
            </c:spPr>
          </c:dPt>
          <c:dPt>
            <c:idx val="4"/>
            <c:spPr>
              <a:solidFill>
                <a:srgbClr val="6F3CC2"/>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  </c:v>
                </c:pt>
                <c:pt idx="2">
                  <c:v>Bulk Allergen Extracts</c:v>
                </c:pt>
                <c:pt idx="3">
                  <c:v>Licensed Finished AIT…</c:v>
                </c:pt>
                <c:pt idx="4">
                  <c:v>Individual-Prescripti…</c:v>
                </c:pt>
              </c:strCache>
            </c:strRef>
          </c:cat>
          <c:val>
            <c:numRef>
              <c:numCache>
                <c:formatCode>General</c:formatCode>
                <c:ptCount val="5"/>
                <c:pt idx="2">
                  <c:v>152.023</c:v>
                </c:pt>
                <c:pt idx="3">
                  <c:v>190.401</c:v>
                </c:pt>
                <c:pt idx="4">
                  <c:v>209.849</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81.19766"/>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DABAA0"/>
              </a:solidFill>
            </c:spPr>
          </c:dPt>
          <c:dPt>
            <c:idx val="3"/>
            <c:spPr>
              <a:solidFill>
                <a:srgbClr val="BE8659"/>
              </a:solidFill>
            </c:spPr>
          </c:dPt>
          <c:dPt>
            <c:idx val="4"/>
            <c:spPr>
              <a:solidFill>
                <a:srgbClr val="A35313"/>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  </c:v>
                </c:pt>
                <c:pt idx="2">
                  <c:v>Molecular Allergen Pr…</c:v>
                </c:pt>
                <c:pt idx="3">
                  <c:v>Native Allergen Extra…</c:v>
                </c:pt>
                <c:pt idx="4">
                  <c:v>Modified Allergen</c:v>
                </c:pt>
              </c:strCache>
            </c:strRef>
          </c:cat>
          <c:val>
            <c:numRef>
              <c:numCache>
                <c:formatCode>General</c:formatCode>
                <c:ptCount val="5"/>
                <c:pt idx="2">
                  <c:v>145.973</c:v>
                </c:pt>
                <c:pt idx="3">
                  <c:v>176.343</c:v>
                </c:pt>
                <c:pt idx="4">
                  <c:v>229.957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308.14238"/>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DCC599"/>
              </a:solidFill>
            </c:spPr>
          </c:dPt>
          <c:dPt>
            <c:idx val="3"/>
            <c:spPr>
              <a:solidFill>
                <a:srgbClr val="C29A4C"/>
              </a:solidFill>
            </c:spPr>
          </c:dPt>
          <c:dPt>
            <c:idx val="4"/>
            <c:spPr>
              <a:solidFill>
                <a:srgbClr val="A86F00"/>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  </c:v>
                </c:pt>
                <c:pt idx="2">
                  <c:v>Customized Multi-Alle…</c:v>
                </c:pt>
                <c:pt idx="3">
                  <c:v>Single-Allergen Prepa…</c:v>
                </c:pt>
                <c:pt idx="4">
                  <c:v>Fixed Allergen Mixtur…</c:v>
                </c:pt>
              </c:strCache>
            </c:strRef>
          </c:cat>
          <c:val>
            <c:numRef>
              <c:numCache>
                <c:formatCode>General</c:formatCode>
                <c:ptCount val="5"/>
                <c:pt idx="2">
                  <c:v>32.753</c:v>
                </c:pt>
                <c:pt idx="3">
                  <c:v>85.821</c:v>
                </c:pt>
                <c:pt idx="4">
                  <c:v>433.699</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581.15666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E59999"/>
              </a:solidFill>
            </c:spPr>
          </c:dPt>
          <c:dPt>
            <c:idx val="1"/>
            <c:spPr>
              <a:solidFill>
                <a:srgbClr val="DC7272"/>
              </a:solidFill>
            </c:spPr>
          </c:dPt>
          <c:dPt>
            <c:idx val="2"/>
            <c:spPr>
              <a:solidFill>
                <a:srgbClr val="D24C4C"/>
              </a:solidFill>
            </c:spPr>
          </c:dPt>
          <c:dPt>
            <c:idx val="3"/>
            <c:spPr>
              <a:solidFill>
                <a:srgbClr val="C92626"/>
              </a:solidFill>
            </c:spPr>
          </c:dPt>
          <c:dPt>
            <c:idx val="4"/>
            <c:spPr>
              <a:solidFill>
                <a:srgbClr val="C00000"/>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Retail Pharmacy</c:v>
                </c:pt>
                <c:pt idx="1">
                  <c:v>Pharmaceutical Distri…</c:v>
                </c:pt>
                <c:pt idx="2">
                  <c:v>Mail-order Pharmacy</c:v>
                </c:pt>
                <c:pt idx="3">
                  <c:v>Hospital Procurement</c:v>
                </c:pt>
                <c:pt idx="4">
                  <c:v>Direct-to-Allergy Cli…</c:v>
                </c:pt>
              </c:strCache>
            </c:strRef>
          </c:cat>
          <c:val>
            <c:numRef>
              <c:numCache>
                <c:formatCode>General</c:formatCode>
                <c:ptCount val="5"/>
                <c:pt idx="0">
                  <c:v>38.866</c:v>
                </c:pt>
                <c:pt idx="1">
                  <c:v>58.695</c:v>
                </c:pt>
                <c:pt idx="2">
                  <c:v>89.626</c:v>
                </c:pt>
                <c:pt idx="3">
                  <c:v>115.448</c:v>
                </c:pt>
                <c:pt idx="4">
                  <c:v>249.638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334.5149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Subcutaneous Immunotherapy (SCIT)</c:v>
                </c:pt>
                <c:pt idx="2">
                  <c:v>Sublingual Immunotherapy (SLIT)</c:v>
                </c:pt>
                <c:pt idx="3">
                  <c:v>Oral Immunotherapy (OIT)</c:v>
                </c:pt>
                <c:pt idx="4">
                  <c:v>2036 Total</c:v>
                </c:pt>
              </c:strCache>
            </c:strRef>
          </c:cat>
          <c:val>
            <c:numRef>
              <c:numCache>
                <c:formatCode>General</c:formatCode>
                <c:ptCount val="5"/>
                <c:pt idx="0">
                  <c:v>0.0</c:v>
                </c:pt>
                <c:pt idx="1">
                  <c:v>552.273</c:v>
                </c:pt>
                <c:pt idx="2">
                  <c:v>779.484</c:v>
                </c:pt>
                <c:pt idx="3">
                  <c:v>1087.621</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Subcutaneous Immunotherapy (SCIT)</c:v>
                </c:pt>
                <c:pt idx="2">
                  <c:v>Sublingual Immunotherapy (SLIT)</c:v>
                </c:pt>
                <c:pt idx="3">
                  <c:v>Oral Immunotherapy (OIT)</c:v>
                </c:pt>
                <c:pt idx="4">
                  <c:v>2036 Total</c:v>
                </c:pt>
              </c:strCache>
            </c:strRef>
          </c:cat>
          <c:val>
            <c:numRef>
              <c:numCache>
                <c:formatCode>General</c:formatCode>
                <c:ptCount val="5"/>
                <c:pt idx="0">
                  <c:v>552.273</c:v>
                </c:pt>
                <c:pt idx="1">
                  <c:v>227.211</c:v>
                </c:pt>
                <c:pt idx="2">
                  <c:v>308.13699999999994</c:v>
                </c:pt>
                <c:pt idx="3">
                  <c:v>22.363999999999997</c:v>
                </c:pt>
                <c:pt idx="4">
                  <c:v>1109.985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Subcutaneous Immunotherapy (SCIT)</c:v>
                </c:pt>
                <c:pt idx="1">
                  <c:v>Sublingual Immunotherapy (SLIT)</c:v>
                </c:pt>
                <c:pt idx="2">
                  <c:v>Oral Immunotherapy (OIT)</c:v>
                </c:pt>
                <c:pt idx="3">
                  <c:v>Total Absolute $ Opportunity</c:v>
                </c:pt>
              </c:strCache>
            </c:strRef>
          </c:cat>
          <c:val>
            <c:numRef>
              <c:numCache>
                <c:formatCode>General</c:formatCode>
                <c:ptCount val="4"/>
                <c:pt idx="0">
                  <c:v>0.0</c:v>
                </c:pt>
                <c:pt idx="1">
                  <c:v>227.211</c:v>
                </c:pt>
                <c:pt idx="2">
                  <c:v>535.348</c:v>
                </c:pt>
                <c:pt idx="3">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Subcutaneous Immunotherapy (SCIT)</c:v>
                </c:pt>
                <c:pt idx="1">
                  <c:v>Sublingual Immunotherapy (SLIT)</c:v>
                </c:pt>
                <c:pt idx="2">
                  <c:v>Oral Immunotherapy (OIT)</c:v>
                </c:pt>
                <c:pt idx="3">
                  <c:v>Total Absolute $ Opportunity</c:v>
                </c:pt>
              </c:strCache>
            </c:strRef>
          </c:cat>
          <c:val>
            <c:numRef>
              <c:numCache>
                <c:formatCode>General</c:formatCode>
                <c:ptCount val="4"/>
                <c:pt idx="0">
                  <c:v>227.211</c:v>
                </c:pt>
                <c:pt idx="1">
                  <c:v>308.13699999999994</c:v>
                </c:pt>
                <c:pt idx="2">
                  <c:v>22.363999999999997</c:v>
                </c:pt>
                <c:pt idx="3">
                  <c:v>557.712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Inhalant Allergens</c:v>
                </c:pt>
                <c:pt idx="2">
                  <c:v>Venom Allergens</c:v>
                </c:pt>
                <c:pt idx="3">
                  <c:v>Food Allergens</c:v>
                </c:pt>
                <c:pt idx="4">
                  <c:v>2036 Total</c:v>
                </c:pt>
              </c:strCache>
            </c:strRef>
          </c:cat>
          <c:val>
            <c:numRef>
              <c:numCache>
                <c:formatCode>General</c:formatCode>
                <c:ptCount val="5"/>
                <c:pt idx="0">
                  <c:v>0.0</c:v>
                </c:pt>
                <c:pt idx="1">
                  <c:v>552.2729999999999</c:v>
                </c:pt>
                <c:pt idx="2">
                  <c:v>929.0079999999999</c:v>
                </c:pt>
                <c:pt idx="3">
                  <c:v>1009.7019999999999</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Inhalant Allergens</c:v>
                </c:pt>
                <c:pt idx="2">
                  <c:v>Venom Allergens</c:v>
                </c:pt>
                <c:pt idx="3">
                  <c:v>Food Allergens</c:v>
                </c:pt>
                <c:pt idx="4">
                  <c:v>2036 Total</c:v>
                </c:pt>
              </c:strCache>
            </c:strRef>
          </c:cat>
          <c:val>
            <c:numRef>
              <c:numCache>
                <c:formatCode>General</c:formatCode>
                <c:ptCount val="5"/>
                <c:pt idx="0">
                  <c:v>552.2729999999999</c:v>
                </c:pt>
                <c:pt idx="1">
                  <c:v>376.735</c:v>
                </c:pt>
                <c:pt idx="2">
                  <c:v>80.694</c:v>
                </c:pt>
                <c:pt idx="3">
                  <c:v>100.28299999999999</c:v>
                </c:pt>
                <c:pt idx="4">
                  <c:v>1109.985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Inhalant Allergens</c:v>
                </c:pt>
                <c:pt idx="1">
                  <c:v>Venom Allergens</c:v>
                </c:pt>
                <c:pt idx="2">
                  <c:v>Food Allergens</c:v>
                </c:pt>
                <c:pt idx="3">
                  <c:v>Total Absolute $ Opportunity</c:v>
                </c:pt>
              </c:strCache>
            </c:strRef>
          </c:cat>
          <c:val>
            <c:numRef>
              <c:numCache>
                <c:formatCode>General</c:formatCode>
                <c:ptCount val="4"/>
                <c:pt idx="0">
                  <c:v>0.0</c:v>
                </c:pt>
                <c:pt idx="1">
                  <c:v>376.735</c:v>
                </c:pt>
                <c:pt idx="2">
                  <c:v>457.42900000000003</c:v>
                </c:pt>
                <c:pt idx="3">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Inhalant Allergens</c:v>
                </c:pt>
                <c:pt idx="1">
                  <c:v>Venom Allergens</c:v>
                </c:pt>
                <c:pt idx="2">
                  <c:v>Food Allergens</c:v>
                </c:pt>
                <c:pt idx="3">
                  <c:v>Total Absolute $ Opportunity</c:v>
                </c:pt>
              </c:strCache>
            </c:strRef>
          </c:cat>
          <c:val>
            <c:numRef>
              <c:numCache>
                <c:formatCode>General</c:formatCode>
                <c:ptCount val="4"/>
                <c:pt idx="0">
                  <c:v>376.735</c:v>
                </c:pt>
                <c:pt idx="1">
                  <c:v>80.694</c:v>
                </c:pt>
                <c:pt idx="2">
                  <c:v>100.28299999999999</c:v>
                </c:pt>
                <c:pt idx="3">
                  <c:v>557.712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Licensed Finished AIT Products</c:v>
                </c:pt>
                <c:pt idx="2">
                  <c:v>Individual-Prescription Products</c:v>
                </c:pt>
                <c:pt idx="3">
                  <c:v>Bulk Allergen Extracts</c:v>
                </c:pt>
                <c:pt idx="4">
                  <c:v>2036 Total</c:v>
                </c:pt>
              </c:strCache>
            </c:strRef>
          </c:cat>
          <c:val>
            <c:numRef>
              <c:numCache>
                <c:formatCode>General</c:formatCode>
                <c:ptCount val="5"/>
                <c:pt idx="0">
                  <c:v>0.0</c:v>
                </c:pt>
                <c:pt idx="1">
                  <c:v>552.273</c:v>
                </c:pt>
                <c:pt idx="2">
                  <c:v>781.1980000000001</c:v>
                </c:pt>
                <c:pt idx="3">
                  <c:v>959.9460000000001</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Licensed Finished AIT Products</c:v>
                </c:pt>
                <c:pt idx="2">
                  <c:v>Individual-Prescription Products</c:v>
                </c:pt>
                <c:pt idx="3">
                  <c:v>Bulk Allergen Extracts</c:v>
                </c:pt>
                <c:pt idx="4">
                  <c:v>2036 Total</c:v>
                </c:pt>
              </c:strCache>
            </c:strRef>
          </c:cat>
          <c:val>
            <c:numRef>
              <c:numCache>
                <c:formatCode>General</c:formatCode>
                <c:ptCount val="5"/>
                <c:pt idx="0">
                  <c:v>552.273</c:v>
                </c:pt>
                <c:pt idx="1">
                  <c:v>228.925</c:v>
                </c:pt>
                <c:pt idx="2">
                  <c:v>178.748</c:v>
                </c:pt>
                <c:pt idx="3">
                  <c:v>150.03900000000002</c:v>
                </c:pt>
                <c:pt idx="4">
                  <c:v>1109.9850000000001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Licensed Finished AIT Products</c:v>
                </c:pt>
                <c:pt idx="1">
                  <c:v>Individual-Prescription Products</c:v>
                </c:pt>
                <c:pt idx="2">
                  <c:v>Bulk Allergen Extracts</c:v>
                </c:pt>
                <c:pt idx="3">
                  <c:v>Total Absolute $ Opportunity</c:v>
                </c:pt>
              </c:strCache>
            </c:strRef>
          </c:cat>
          <c:val>
            <c:numRef>
              <c:numCache>
                <c:formatCode>General</c:formatCode>
                <c:ptCount val="4"/>
                <c:pt idx="0">
                  <c:v>0.0</c:v>
                </c:pt>
                <c:pt idx="1">
                  <c:v>228.925</c:v>
                </c:pt>
                <c:pt idx="2">
                  <c:v>407.673</c:v>
                </c:pt>
                <c:pt idx="3">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Licensed Finished AIT Products</c:v>
                </c:pt>
                <c:pt idx="1">
                  <c:v>Individual-Prescription Products</c:v>
                </c:pt>
                <c:pt idx="2">
                  <c:v>Bulk Allergen Extracts</c:v>
                </c:pt>
                <c:pt idx="3">
                  <c:v>Total Absolute $ Opportunity</c:v>
                </c:pt>
              </c:strCache>
            </c:strRef>
          </c:cat>
          <c:val>
            <c:numRef>
              <c:numCache>
                <c:formatCode>General</c:formatCode>
                <c:ptCount val="4"/>
                <c:pt idx="0">
                  <c:v>228.925</c:v>
                </c:pt>
                <c:pt idx="1">
                  <c:v>178.748</c:v>
                </c:pt>
                <c:pt idx="2">
                  <c:v>150.03900000000002</c:v>
                </c:pt>
                <c:pt idx="3">
                  <c:v>557.712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Native Allergen Extracts</c:v>
                </c:pt>
                <c:pt idx="2">
                  <c:v>Modified Allergen</c:v>
                </c:pt>
                <c:pt idx="3">
                  <c:v>Molecular Allergen Preparations</c:v>
                </c:pt>
                <c:pt idx="4">
                  <c:v>2036 Total</c:v>
                </c:pt>
              </c:strCache>
            </c:strRef>
          </c:cat>
          <c:val>
            <c:numRef>
              <c:numCache>
                <c:formatCode>General</c:formatCode>
                <c:ptCount val="5"/>
                <c:pt idx="0">
                  <c:v>0.0</c:v>
                </c:pt>
                <c:pt idx="1">
                  <c:v>552.2729999999999</c:v>
                </c:pt>
                <c:pt idx="2">
                  <c:v>793.9429999999999</c:v>
                </c:pt>
                <c:pt idx="3">
                  <c:v>1012.0289999999999</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Native Allergen Extracts</c:v>
                </c:pt>
                <c:pt idx="2">
                  <c:v>Modified Allergen</c:v>
                </c:pt>
                <c:pt idx="3">
                  <c:v>Molecular Allergen Preparations</c:v>
                </c:pt>
                <c:pt idx="4">
                  <c:v>2036 Total</c:v>
                </c:pt>
              </c:strCache>
            </c:strRef>
          </c:cat>
          <c:val>
            <c:numRef>
              <c:numCache>
                <c:formatCode>General</c:formatCode>
                <c:ptCount val="5"/>
                <c:pt idx="0">
                  <c:v>552.2729999999999</c:v>
                </c:pt>
                <c:pt idx="1">
                  <c:v>241.67</c:v>
                </c:pt>
                <c:pt idx="2">
                  <c:v>218.086</c:v>
                </c:pt>
                <c:pt idx="3">
                  <c:v>97.95599999999999</c:v>
                </c:pt>
                <c:pt idx="4">
                  <c:v>1109.9850000000001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Native Allergen Extracts</c:v>
                </c:pt>
                <c:pt idx="1">
                  <c:v>Modified Allergen</c:v>
                </c:pt>
                <c:pt idx="2">
                  <c:v>Molecular Allergen Preparations</c:v>
                </c:pt>
                <c:pt idx="3">
                  <c:v>Total Absolute $ Opportunity</c:v>
                </c:pt>
              </c:strCache>
            </c:strRef>
          </c:cat>
          <c:val>
            <c:numRef>
              <c:numCache>
                <c:formatCode>General</c:formatCode>
                <c:ptCount val="4"/>
                <c:pt idx="0">
                  <c:v>0.0</c:v>
                </c:pt>
                <c:pt idx="1">
                  <c:v>241.67</c:v>
                </c:pt>
                <c:pt idx="2">
                  <c:v>459.756</c:v>
                </c:pt>
                <c:pt idx="3">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Native Allergen Extracts</c:v>
                </c:pt>
                <c:pt idx="1">
                  <c:v>Modified Allergen</c:v>
                </c:pt>
                <c:pt idx="2">
                  <c:v>Molecular Allergen Preparations</c:v>
                </c:pt>
                <c:pt idx="3">
                  <c:v>Total Absolute $ Opportunity</c:v>
                </c:pt>
              </c:strCache>
            </c:strRef>
          </c:cat>
          <c:val>
            <c:numRef>
              <c:numCache>
                <c:formatCode>General</c:formatCode>
                <c:ptCount val="4"/>
                <c:pt idx="0">
                  <c:v>241.67</c:v>
                </c:pt>
                <c:pt idx="1">
                  <c:v>218.086</c:v>
                </c:pt>
                <c:pt idx="2">
                  <c:v>97.95599999999999</c:v>
                </c:pt>
                <c:pt idx="3">
                  <c:v>557.712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Single-Allergen Preparations</c:v>
                </c:pt>
                <c:pt idx="2">
                  <c:v>Fixed Allergen Mixtures</c:v>
                </c:pt>
                <c:pt idx="3">
                  <c:v>Customized Multi-Allergen Preparations</c:v>
                </c:pt>
                <c:pt idx="4">
                  <c:v>2036 Total</c:v>
                </c:pt>
              </c:strCache>
            </c:strRef>
          </c:cat>
          <c:val>
            <c:numRef>
              <c:numCache>
                <c:formatCode>General</c:formatCode>
                <c:ptCount val="5"/>
                <c:pt idx="0">
                  <c:v>0.0</c:v>
                </c:pt>
                <c:pt idx="1">
                  <c:v>552.273</c:v>
                </c:pt>
                <c:pt idx="2">
                  <c:v>666.021</c:v>
                </c:pt>
                <c:pt idx="3">
                  <c:v>1071.58</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Single-Allergen Preparations</c:v>
                </c:pt>
                <c:pt idx="2">
                  <c:v>Fixed Allergen Mixtures</c:v>
                </c:pt>
                <c:pt idx="3">
                  <c:v>Customized Multi-Allergen Preparations</c:v>
                </c:pt>
                <c:pt idx="4">
                  <c:v>2036 Total</c:v>
                </c:pt>
              </c:strCache>
            </c:strRef>
          </c:cat>
          <c:val>
            <c:numRef>
              <c:numCache>
                <c:formatCode>General</c:formatCode>
                <c:ptCount val="5"/>
                <c:pt idx="0">
                  <c:v>552.273</c:v>
                </c:pt>
                <c:pt idx="1">
                  <c:v>113.74799999999999</c:v>
                </c:pt>
                <c:pt idx="2">
                  <c:v>405.559</c:v>
                </c:pt>
                <c:pt idx="3">
                  <c:v>38.405</c:v>
                </c:pt>
                <c:pt idx="4">
                  <c:v>1109.985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Single-Allergen Preparations</c:v>
                </c:pt>
                <c:pt idx="1">
                  <c:v>Fixed Allergen Mixtures</c:v>
                </c:pt>
                <c:pt idx="2">
                  <c:v>Customized Multi-Allergen Preparations</c:v>
                </c:pt>
                <c:pt idx="3">
                  <c:v>Total Absolute $ Opportunity</c:v>
                </c:pt>
              </c:strCache>
            </c:strRef>
          </c:cat>
          <c:val>
            <c:numRef>
              <c:numCache>
                <c:formatCode>General</c:formatCode>
                <c:ptCount val="4"/>
                <c:pt idx="0">
                  <c:v>0.0</c:v>
                </c:pt>
                <c:pt idx="1">
                  <c:v>113.74799999999999</c:v>
                </c:pt>
                <c:pt idx="2">
                  <c:v>519.307</c:v>
                </c:pt>
                <c:pt idx="3">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Single-Allergen Preparations</c:v>
                </c:pt>
                <c:pt idx="1">
                  <c:v>Fixed Allergen Mixtures</c:v>
                </c:pt>
                <c:pt idx="2">
                  <c:v>Customized Multi-Allergen Preparations</c:v>
                </c:pt>
                <c:pt idx="3">
                  <c:v>Total Absolute $ Opportunity</c:v>
                </c:pt>
              </c:strCache>
            </c:strRef>
          </c:cat>
          <c:val>
            <c:numRef>
              <c:numCache>
                <c:formatCode>General</c:formatCode>
                <c:ptCount val="4"/>
                <c:pt idx="0">
                  <c:v>113.74799999999999</c:v>
                </c:pt>
                <c:pt idx="1">
                  <c:v>405.559</c:v>
                </c:pt>
                <c:pt idx="2">
                  <c:v>38.405</c:v>
                </c:pt>
                <c:pt idx="3">
                  <c:v>557.712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Direct-to-Allergy Clinics</c:v>
                </c:pt>
                <c:pt idx="2">
                  <c:v>Hospital Procurement</c:v>
                </c:pt>
                <c:pt idx="3">
                  <c:v>Retail Pharmacy</c:v>
                </c:pt>
                <c:pt idx="4">
                  <c:v>Pharmaceutical Distributor</c:v>
                </c:pt>
                <c:pt idx="5">
                  <c:v>Mail-order Pharmacy</c:v>
                </c:pt>
                <c:pt idx="6">
                  <c:v>2036 Total</c:v>
                </c:pt>
              </c:strCache>
            </c:strRef>
          </c:cat>
          <c:val>
            <c:numRef>
              <c:numCache>
                <c:formatCode>General</c:formatCode>
                <c:ptCount val="7"/>
                <c:pt idx="0">
                  <c:v>0.0</c:v>
                </c:pt>
                <c:pt idx="1">
                  <c:v>552.273</c:v>
                </c:pt>
                <c:pt idx="2">
                  <c:v>788.066</c:v>
                </c:pt>
                <c:pt idx="3">
                  <c:v>863.582</c:v>
                </c:pt>
                <c:pt idx="4">
                  <c:v>932.128</c:v>
                </c:pt>
                <c:pt idx="5">
                  <c:v>1024.816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Direct-to-Allergy Clinics</c:v>
                </c:pt>
                <c:pt idx="2">
                  <c:v>Hospital Procurement</c:v>
                </c:pt>
                <c:pt idx="3">
                  <c:v>Retail Pharmacy</c:v>
                </c:pt>
                <c:pt idx="4">
                  <c:v>Pharmaceutical Distributor</c:v>
                </c:pt>
                <c:pt idx="5">
                  <c:v>Mail-order Pharmacy</c:v>
                </c:pt>
                <c:pt idx="6">
                  <c:v>2036 Total</c:v>
                </c:pt>
              </c:strCache>
            </c:strRef>
          </c:cat>
          <c:val>
            <c:numRef>
              <c:numCache>
                <c:formatCode>General</c:formatCode>
                <c:ptCount val="7"/>
                <c:pt idx="0">
                  <c:v>552.273</c:v>
                </c:pt>
                <c:pt idx="1">
                  <c:v>235.79299999999998</c:v>
                </c:pt>
                <c:pt idx="2">
                  <c:v>75.516</c:v>
                </c:pt>
                <c:pt idx="3">
                  <c:v>68.546</c:v>
                </c:pt>
                <c:pt idx="4">
                  <c:v>92.68800000000002</c:v>
                </c:pt>
                <c:pt idx="5">
                  <c:v>85.16899999999998</c:v>
                </c:pt>
                <c:pt idx="6">
                  <c:v>1109.9850000000001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Direct-to-Allergy Clinics</c:v>
                </c:pt>
                <c:pt idx="1">
                  <c:v>Hospital Procurement</c:v>
                </c:pt>
                <c:pt idx="2">
                  <c:v>Retail Pharmacy</c:v>
                </c:pt>
                <c:pt idx="3">
                  <c:v>Pharmaceutical Distributor</c:v>
                </c:pt>
                <c:pt idx="4">
                  <c:v>Mail-order Pharmacy</c:v>
                </c:pt>
                <c:pt idx="5">
                  <c:v>Total Absolute $ Opportunity</c:v>
                </c:pt>
              </c:strCache>
            </c:strRef>
          </c:cat>
          <c:val>
            <c:numRef>
              <c:numCache>
                <c:formatCode>General</c:formatCode>
                <c:ptCount val="6"/>
                <c:pt idx="0">
                  <c:v>0.0</c:v>
                </c:pt>
                <c:pt idx="1">
                  <c:v>235.79299999999998</c:v>
                </c:pt>
                <c:pt idx="2">
                  <c:v>311.30899999999997</c:v>
                </c:pt>
                <c:pt idx="3">
                  <c:v>379.85499999999996</c:v>
                </c:pt>
                <c:pt idx="4">
                  <c:v>472.543</c:v>
                </c:pt>
                <c:pt idx="5">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Direct-to-Allergy Clinics</c:v>
                </c:pt>
                <c:pt idx="1">
                  <c:v>Hospital Procurement</c:v>
                </c:pt>
                <c:pt idx="2">
                  <c:v>Retail Pharmacy</c:v>
                </c:pt>
                <c:pt idx="3">
                  <c:v>Pharmaceutical Distributor</c:v>
                </c:pt>
                <c:pt idx="4">
                  <c:v>Mail-order Pharmacy</c:v>
                </c:pt>
                <c:pt idx="5">
                  <c:v>Total Absolute $ Opportunity</c:v>
                </c:pt>
              </c:strCache>
            </c:strRef>
          </c:cat>
          <c:val>
            <c:numRef>
              <c:numCache>
                <c:formatCode>General</c:formatCode>
                <c:ptCount val="6"/>
                <c:pt idx="0">
                  <c:v>235.79299999999998</c:v>
                </c:pt>
                <c:pt idx="1">
                  <c:v>75.516</c:v>
                </c:pt>
                <c:pt idx="2">
                  <c:v>68.546</c:v>
                </c:pt>
                <c:pt idx="3">
                  <c:v>92.68800000000002</c:v>
                </c:pt>
                <c:pt idx="4">
                  <c:v>85.16899999999998</c:v>
                </c:pt>
                <c:pt idx="5">
                  <c:v>557.712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Inhalant Allergens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59.853697399869645</c:v>
                </c:pt>
                <c:pt idx="1">
                  <c:v>57.142339797562784</c:v>
                </c:pt>
                <c:pt idx="2">
                  <c:v>60.090530508781455</c:v>
                </c:pt>
                <c:pt idx="3">
                  <c:v>54.885380074602544</c:v>
                </c:pt>
                <c:pt idx="4">
                  <c:v>56.809416025350835</c:v>
                </c:pt>
                <c:pt idx="5">
                  <c:v>59.47815380158256</c:v>
                </c:pt>
                <c:pt idx="6">
                  <c:v>57.128630404867096</c:v>
                </c:pt>
                <c:pt idx="7">
                  <c:v>58.0148110594072</c:v>
                </c:pt>
                <c:pt idx="8">
                  <c:v>55.41854527676679</c:v>
                </c:pt>
                <c:pt idx="9">
                  <c:v>60.97852460797451</c:v>
                </c:pt>
              </c:numCache>
            </c:numRef>
          </c:val>
        </c:ser>
        <c:ser>
          <c:idx val="1"/>
          <c:order val="1"/>
          <c:tx>
            <c:strRef>
              <c:strCache>
                <c:ptCount val="1"/>
                <c:pt idx="0">
                  <c:v>Food Allergens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22.385384225392915</c:v>
                </c:pt>
                <c:pt idx="1">
                  <c:v>23.959295272240027</c:v>
                </c:pt>
                <c:pt idx="2">
                  <c:v>25.74506608727141</c:v>
                </c:pt>
                <c:pt idx="3">
                  <c:v>26.141672400680843</c:v>
                </c:pt>
                <c:pt idx="4">
                  <c:v>23.13626075147126</c:v>
                </c:pt>
                <c:pt idx="5">
                  <c:v>21.255907436579935</c:v>
                </c:pt>
                <c:pt idx="6">
                  <c:v>24.902223509813865</c:v>
                </c:pt>
                <c:pt idx="7">
                  <c:v>25.079215629470024</c:v>
                </c:pt>
                <c:pt idx="8">
                  <c:v>25.84424285222807</c:v>
                </c:pt>
                <c:pt idx="9">
                  <c:v>20.64064027812987</c:v>
                </c:pt>
              </c:numCache>
            </c:numRef>
          </c:val>
        </c:ser>
        <c:ser>
          <c:idx val="2"/>
          <c:order val="2"/>
          <c:tx>
            <c:strRef>
              <c:strCache>
                <c:ptCount val="1"/>
                <c:pt idx="0">
                  <c:v>Venom Allergens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17.76091837473745</c:v>
                </c:pt>
                <c:pt idx="1">
                  <c:v>18.898364930197186</c:v>
                </c:pt>
                <c:pt idx="2">
                  <c:v>14.164403403947132</c:v>
                </c:pt>
                <c:pt idx="3">
                  <c:v>18.97294752471662</c:v>
                </c:pt>
                <c:pt idx="4">
                  <c:v>20.05432322317791</c:v>
                </c:pt>
                <c:pt idx="5">
                  <c:v>19.265938761837507</c:v>
                </c:pt>
                <c:pt idx="6">
                  <c:v>17.969146085319043</c:v>
                </c:pt>
                <c:pt idx="7">
                  <c:v>16.90597331112278</c:v>
                </c:pt>
                <c:pt idx="8">
                  <c:v>18.737211871005123</c:v>
                </c:pt>
                <c:pt idx="9">
                  <c:v>18.38083511389563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Sublingual Immunotherapy</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55.43665236206928</c:v>
                </c:pt>
                <c:pt idx="1">
                  <c:v>54.00619262317344</c:v>
                </c:pt>
                <c:pt idx="2">
                  <c:v>44.726502380995484</c:v>
                </c:pt>
                <c:pt idx="3">
                  <c:v>52.13667475464455</c:v>
                </c:pt>
                <c:pt idx="4">
                  <c:v>48.760570011045324</c:v>
                </c:pt>
                <c:pt idx="5">
                  <c:v>47.78640882177196</c:v>
                </c:pt>
                <c:pt idx="6">
                  <c:v>51.51827910261285</c:v>
                </c:pt>
                <c:pt idx="7">
                  <c:v>55.68552183674947</c:v>
                </c:pt>
                <c:pt idx="8">
                  <c:v>51.988121967118126</c:v>
                </c:pt>
                <c:pt idx="9">
                  <c:v>56.16636789975917</c:v>
                </c:pt>
              </c:numCache>
            </c:numRef>
          </c:val>
        </c:ser>
        <c:ser>
          <c:idx val="1"/>
          <c:order val="1"/>
          <c:tx>
            <c:strRef>
              <c:strCache>
                <c:ptCount val="1"/>
                <c:pt idx="0">
                  <c:v>Subcutaneous Immunotherapy</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38.38339942419469</c:v>
                </c:pt>
                <c:pt idx="1">
                  <c:v>39.824723414272</c:v>
                </c:pt>
                <c:pt idx="2">
                  <c:v>47.838997628057726</c:v>
                </c:pt>
                <c:pt idx="3">
                  <c:v>38.30804331293231</c:v>
                </c:pt>
                <c:pt idx="4">
                  <c:v>43.50046173067521</c:v>
                </c:pt>
                <c:pt idx="5">
                  <c:v>44.31165915222627</c:v>
                </c:pt>
                <c:pt idx="6">
                  <c:v>42.066380574718885</c:v>
                </c:pt>
                <c:pt idx="7">
                  <c:v>36.36017961903382</c:v>
                </c:pt>
                <c:pt idx="8">
                  <c:v>40.97016006373578</c:v>
                </c:pt>
                <c:pt idx="9">
                  <c:v>34.32198019084867</c:v>
                </c:pt>
              </c:numCache>
            </c:numRef>
          </c:val>
        </c:ser>
        <c:ser>
          <c:idx val="2"/>
          <c:order val="2"/>
          <c:tx>
            <c:strRef>
              <c:strCache>
                <c:ptCount val="1"/>
                <c:pt idx="0">
                  <c:v>Oral Immunotherapy</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6.179948213736035</c:v>
                </c:pt>
                <c:pt idx="1">
                  <c:v>6.169083962554548</c:v>
                </c:pt>
                <c:pt idx="2">
                  <c:v>7.434499990946786</c:v>
                </c:pt>
                <c:pt idx="3">
                  <c:v>9.555281932423135</c:v>
                </c:pt>
                <c:pt idx="4">
                  <c:v>7.738968258279464</c:v>
                </c:pt>
                <c:pt idx="5">
                  <c:v>7.901932026001774</c:v>
                </c:pt>
                <c:pt idx="6">
                  <c:v>6.41534032266826</c:v>
                </c:pt>
                <c:pt idx="7">
                  <c:v>7.954298544216701</c:v>
                </c:pt>
                <c:pt idx="8">
                  <c:v>7.0417179691460845</c:v>
                </c:pt>
                <c:pt idx="9">
                  <c:v>9.511651909392144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Modified Allergen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36.58108205982473</c:v>
                </c:pt>
                <c:pt idx="1">
                  <c:v>38.05678279133773</c:v>
                </c:pt>
                <c:pt idx="2">
                  <c:v>40.8670300418304</c:v>
                </c:pt>
                <c:pt idx="3">
                  <c:v>46.072644310856816</c:v>
                </c:pt>
                <c:pt idx="4">
                  <c:v>44.13703194032012</c:v>
                </c:pt>
                <c:pt idx="5">
                  <c:v>43.27333961034258</c:v>
                </c:pt>
                <c:pt idx="6">
                  <c:v>43.67530962555225</c:v>
                </c:pt>
                <c:pt idx="7">
                  <c:v>43.504083147735706</c:v>
                </c:pt>
                <c:pt idx="8">
                  <c:v>38.701383356268565</c:v>
                </c:pt>
                <c:pt idx="9">
                  <c:v>41.51592518152353</c:v>
                </c:pt>
              </c:numCache>
            </c:numRef>
          </c:val>
        </c:ser>
        <c:ser>
          <c:idx val="1"/>
          <c:order val="1"/>
          <c:tx>
            <c:strRef>
              <c:strCache>
                <c:ptCount val="1"/>
                <c:pt idx="0">
                  <c:v>Native Allergen Extracts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35.24118200912581</c:v>
                </c:pt>
                <c:pt idx="1">
                  <c:v>34.5042369812414</c:v>
                </c:pt>
                <c:pt idx="2">
                  <c:v>29.585498795791608</c:v>
                </c:pt>
                <c:pt idx="3">
                  <c:v>31.710364307959733</c:v>
                </c:pt>
                <c:pt idx="4">
                  <c:v>31.589049033099155</c:v>
                </c:pt>
                <c:pt idx="5">
                  <c:v>32.05801405084377</c:v>
                </c:pt>
                <c:pt idx="6">
                  <c:v>30.39943506916781</c:v>
                </c:pt>
                <c:pt idx="7">
                  <c:v>30.814637767758523</c:v>
                </c:pt>
                <c:pt idx="8">
                  <c:v>32.86195408126313</c:v>
                </c:pt>
                <c:pt idx="9">
                  <c:v>30.5412207796911</c:v>
                </c:pt>
              </c:numCache>
            </c:numRef>
          </c:val>
        </c:ser>
        <c:ser>
          <c:idx val="2"/>
          <c:order val="2"/>
          <c:tx>
            <c:strRef>
              <c:strCache>
                <c:ptCount val="1"/>
                <c:pt idx="0">
                  <c:v>Molecular Allergen Preparations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0"/>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strCache>
            </c:strRef>
          </c:cat>
          <c:val>
            <c:numRef>
              <c:numCache>
                <c:formatCode>General</c:formatCode>
                <c:ptCount val="10"/>
                <c:pt idx="0">
                  <c:v>28.17773593104946</c:v>
                </c:pt>
                <c:pt idx="1">
                  <c:v>27.438980227420874</c:v>
                </c:pt>
                <c:pt idx="2">
                  <c:v>29.547471162378</c:v>
                </c:pt>
                <c:pt idx="3">
                  <c:v>22.21699138118346</c:v>
                </c:pt>
                <c:pt idx="4">
                  <c:v>24.27391902658072</c:v>
                </c:pt>
                <c:pt idx="5">
                  <c:v>24.668646338813645</c:v>
                </c:pt>
                <c:pt idx="6">
                  <c:v>25.925255305279933</c:v>
                </c:pt>
                <c:pt idx="7">
                  <c:v>25.681279084505764</c:v>
                </c:pt>
                <c:pt idx="8">
                  <c:v>28.436662562468314</c:v>
                </c:pt>
                <c:pt idx="9">
                  <c:v>27.94285403878538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40.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Subcutaneous Immunotherapy (SCIT)</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1266.0</c:v>
                </c:pt>
                <c:pt idx="1">
                  <c:v>1275.0</c:v>
                </c:pt>
                <c:pt idx="2">
                  <c:v>1284.0</c:v>
                </c:pt>
                <c:pt idx="3">
                  <c:v>1292.0</c:v>
                </c:pt>
                <c:pt idx="4">
                  <c:v>1298.0</c:v>
                </c:pt>
                <c:pt idx="5">
                  <c:v>1305.0</c:v>
                </c:pt>
                <c:pt idx="6">
                  <c:v>1313.0</c:v>
                </c:pt>
                <c:pt idx="7">
                  <c:v>1322.0</c:v>
                </c:pt>
                <c:pt idx="8">
                  <c:v>1332.0</c:v>
                </c:pt>
                <c:pt idx="9">
                  <c:v>1341.0</c:v>
                </c:pt>
                <c:pt idx="10">
                  <c:v>1350.0</c:v>
                </c:pt>
                <c:pt idx="11">
                  <c:v>1357.0</c:v>
                </c:pt>
                <c:pt idx="12">
                  <c:v>1364.0</c:v>
                </c:pt>
                <c:pt idx="13">
                  <c:v>1370.0</c:v>
                </c:pt>
                <c:pt idx="14">
                  <c:v>1376.0</c:v>
                </c:pt>
                <c:pt idx="15">
                  <c:v>1381.0</c:v>
                </c:pt>
              </c:numCache>
            </c:numRef>
          </c:val>
          <c:smooth val="0"/>
        </c:ser>
        <c:ser>
          <c:idx val="1"/>
          <c:order val="1"/>
          <c:tx>
            <c:strRef>
              <c:strCache>
                <c:ptCount val="1"/>
                <c:pt idx="0">
                  <c:v>Oral Immunotherapy (OIT)</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1060.0</c:v>
                </c:pt>
                <c:pt idx="1">
                  <c:v>1063.0</c:v>
                </c:pt>
                <c:pt idx="2">
                  <c:v>1067.0</c:v>
                </c:pt>
                <c:pt idx="3">
                  <c:v>1074.0</c:v>
                </c:pt>
                <c:pt idx="4">
                  <c:v>1082.0</c:v>
                </c:pt>
                <c:pt idx="5">
                  <c:v>1091.0</c:v>
                </c:pt>
                <c:pt idx="6">
                  <c:v>1092.0</c:v>
                </c:pt>
                <c:pt idx="7">
                  <c:v>1094.0</c:v>
                </c:pt>
                <c:pt idx="8">
                  <c:v>1097.0</c:v>
                </c:pt>
                <c:pt idx="9">
                  <c:v>1102.0</c:v>
                </c:pt>
                <c:pt idx="10">
                  <c:v>1108.0</c:v>
                </c:pt>
                <c:pt idx="11">
                  <c:v>1114.0</c:v>
                </c:pt>
                <c:pt idx="12">
                  <c:v>1121.0</c:v>
                </c:pt>
                <c:pt idx="13">
                  <c:v>1129.0</c:v>
                </c:pt>
                <c:pt idx="14">
                  <c:v>1139.0</c:v>
                </c:pt>
                <c:pt idx="15">
                  <c:v>1149.0</c:v>
                </c:pt>
              </c:numCache>
            </c:numRef>
          </c:val>
          <c:smooth val="0"/>
        </c:ser>
        <c:ser>
          <c:idx val="2"/>
          <c:order val="2"/>
          <c:tx>
            <c:strRef>
              <c:strCache>
                <c:ptCount val="1"/>
                <c:pt idx="0">
                  <c:v>Sublingual Immunotherapy (SLIT)</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929.0</c:v>
                </c:pt>
                <c:pt idx="1">
                  <c:v>931.0</c:v>
                </c:pt>
                <c:pt idx="2">
                  <c:v>936.0</c:v>
                </c:pt>
                <c:pt idx="3">
                  <c:v>943.0</c:v>
                </c:pt>
                <c:pt idx="4">
                  <c:v>950.0</c:v>
                </c:pt>
                <c:pt idx="5">
                  <c:v>960.0</c:v>
                </c:pt>
                <c:pt idx="6">
                  <c:v>960.0</c:v>
                </c:pt>
                <c:pt idx="7">
                  <c:v>962.0</c:v>
                </c:pt>
                <c:pt idx="8">
                  <c:v>965.0</c:v>
                </c:pt>
                <c:pt idx="9">
                  <c:v>970.0</c:v>
                </c:pt>
                <c:pt idx="10">
                  <c:v>976.0</c:v>
                </c:pt>
                <c:pt idx="11">
                  <c:v>982.0</c:v>
                </c:pt>
                <c:pt idx="12">
                  <c:v>989.0</c:v>
                </c:pt>
                <c:pt idx="13">
                  <c:v>998.0</c:v>
                </c:pt>
                <c:pt idx="14">
                  <c:v>1008.0</c:v>
                </c:pt>
                <c:pt idx="15">
                  <c:v>1020.0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1500.0"/>
          <c:min val="50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5B7DB1"/>
              </a:solidFill>
            </c:spPr>
          </c:dPt>
          <c:dPt>
            <c:idx val="2"/>
            <c:spPr>
              <a:solidFill>
                <a:srgbClr val="C55A11"/>
              </a:solidFill>
            </c:spPr>
          </c:dPt>
          <c:cat>
            <c:strRef>
              <c:strCache>
                <c:ptCount val="3"/>
                <c:pt idx="0">
                  <c:v>Sublingual Immunotherapy (SLIT)</c:v>
                </c:pt>
                <c:pt idx="1">
                  <c:v>Oral Immunotherapy (OIT)</c:v>
                </c:pt>
                <c:pt idx="2">
                  <c:v>Subcutaneous Immunotherapy (SCIT)</c:v>
                </c:pt>
              </c:strCache>
            </c:strRef>
          </c:cat>
          <c:val>
            <c:numRef>
              <c:numCache>
                <c:formatCode>General</c:formatCode>
                <c:ptCount val="3"/>
                <c:pt idx="0">
                  <c:v>87.3</c:v>
                </c:pt>
                <c:pt idx="1">
                  <c:v>99.2</c:v>
                </c:pt>
                <c:pt idx="2">
                  <c:v>118.6</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21.0"/>
          <c:min val="84.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4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strCache>
                <c:ptCount val="1"/>
                <c:pt idx="0">
                  <c:v>Base</c:v>
                </c:pt>
              </c:strCache>
            </c:strRef>
          </c:tx>
          <c:spPr>
            <a:noFill/>
          </c:spPr>
          <c:cat>
            <c:strRef>
              <c:strCache>
                <c:ptCount val="10"/>
                <c:pt idx="0">
                  <c:v>Inmunotek S.L.</c:v>
                </c:pt>
                <c:pt idx="1">
                  <c:v>Torii Pharmaceutical Co., Ltd.</c:v>
                </c:pt>
                <c:pt idx="2">
                  <c:v>LETI Pharma / Laboratorios LETI, S.L.U.</c:v>
                </c:pt>
                <c:pt idx="3">
                  <c:v>DIATER Laboratories</c:v>
                </c:pt>
                <c:pt idx="4">
                  <c:v>Allergopharma GmbH &amp; Co. KG</c:v>
                </c:pt>
                <c:pt idx="5">
                  <c:v>ALK-Abelló A/S</c:v>
                </c:pt>
                <c:pt idx="6">
                  <c:v>HAL Allergy Group</c:v>
                </c:pt>
                <c:pt idx="7">
                  <c:v>Allergy Therapeutics plc</c:v>
                </c:pt>
                <c:pt idx="8">
                  <c:v>Jubilant HollisterStier LLC</c:v>
                </c:pt>
                <c:pt idx="9">
                  <c:v>Stallergenes Greer International AG</c:v>
                </c:pt>
              </c:strCache>
            </c:strRef>
          </c:cat>
          <c:val>
            <c:numRef>
              <c:numCache>
                <c:formatCode>General</c:formatCode>
                <c:ptCount val="10"/>
                <c:pt idx="0">
                  <c:v>971</c:v>
                </c:pt>
                <c:pt idx="1">
                  <c:v>958</c:v>
                </c:pt>
                <c:pt idx="2">
                  <c:v>961</c:v>
                </c:pt>
                <c:pt idx="3">
                  <c:v>963</c:v>
                </c:pt>
                <c:pt idx="4">
                  <c:v>966</c:v>
                </c:pt>
                <c:pt idx="5">
                  <c:v>953</c:v>
                </c:pt>
                <c:pt idx="6">
                  <c:v>959</c:v>
                </c:pt>
                <c:pt idx="7">
                  <c:v>962</c:v>
                </c:pt>
                <c:pt idx="8">
                  <c:v>971</c:v>
                </c:pt>
                <c:pt idx="9">
                  <c:v>958</c:v>
                </c:pt>
              </c:numCache>
            </c:numRef>
          </c:val>
        </c:ser>
        <c:ser>
          <c:idx val="1"/>
          <c:order val="1"/>
          <c:tx>
            <c:strRef>
              <c:strCache>
                <c:ptCount val="1"/>
                <c:pt idx="0">
                  <c:v>Range</c:v>
                </c:pt>
              </c:strCache>
            </c:strRef>
          </c:tx>
          <c:spPr>
            <a:solidFill>
              <a:srgbClr val="008189"/>
            </a:solidFill>
          </c:spPr>
          <c:cat>
            <c:strRef>
              <c:strCache>
                <c:ptCount val="10"/>
                <c:pt idx="0">
                  <c:v>Inmunotek S.L.</c:v>
                </c:pt>
                <c:pt idx="1">
                  <c:v>Torii Pharmaceutical Co., Ltd.</c:v>
                </c:pt>
                <c:pt idx="2">
                  <c:v>LETI Pharma / Laboratorios LETI, S.L.U.</c:v>
                </c:pt>
                <c:pt idx="3">
                  <c:v>DIATER Laboratories</c:v>
                </c:pt>
                <c:pt idx="4">
                  <c:v>Allergopharma GmbH &amp; Co. KG</c:v>
                </c:pt>
                <c:pt idx="5">
                  <c:v>ALK-Abelló A/S</c:v>
                </c:pt>
                <c:pt idx="6">
                  <c:v>HAL Allergy Group</c:v>
                </c:pt>
                <c:pt idx="7">
                  <c:v>Allergy Therapeutics plc</c:v>
                </c:pt>
                <c:pt idx="8">
                  <c:v>Jubilant HollisterStier LLC</c:v>
                </c:pt>
                <c:pt idx="9">
                  <c:v>Stallergenes Greer International AG</c:v>
                </c:pt>
              </c:strCache>
            </c:strRef>
          </c:cat>
          <c:val>
            <c:numRef>
              <c:numCache>
                <c:formatCode>General</c:formatCode>
                <c:ptCount val="10"/>
                <c:pt idx="0">
                  <c:v>431</c:v>
                </c:pt>
                <c:pt idx="1">
                  <c:v>440</c:v>
                </c:pt>
                <c:pt idx="2">
                  <c:v>374</c:v>
                </c:pt>
                <c:pt idx="3">
                  <c:v>431</c:v>
                </c:pt>
                <c:pt idx="4">
                  <c:v>373</c:v>
                </c:pt>
                <c:pt idx="5">
                  <c:v>385</c:v>
                </c:pt>
                <c:pt idx="6">
                  <c:v>429</c:v>
                </c:pt>
                <c:pt idx="7">
                  <c:v>395</c:v>
                </c:pt>
                <c:pt idx="8">
                  <c:v>387</c:v>
                </c:pt>
                <c:pt idx="9">
                  <c:v>411</c:v>
                </c:pt>
              </c:numCache>
            </c:numRef>
          </c:val>
        </c:ser>
        <c:gapWidth val="55"/>
        <c:overlap val="100"/>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2000.0"/>
          <c:min val="0.0"/>
        </c:scaling>
        <c:delete val="0"/>
        <c:axPos val="b"/>
        <c:majorGridlines>
          <c:spPr>
            <a:ln>
              <a:solidFill>
                <a:srgbClr val="D9DEE4"/>
              </a:solidFill>
            </a:ln>
          </c:spPr>
        </c:majorGridlines>
        <c:numFmt formatCode="#,##0" sourceLinked="0"/>
        <c:majorTickMark val="out"/>
        <c:minorTickMark val="none"/>
        <c:tickLblPos val="none"/>
        <c:spPr>
          <a:ln>
            <a:noFill/>
          </a:ln>
        </c:spPr>
        <c:txPr>
          <a:bodyPr/>
          <a:lstStyle/>
          <a:p>
            <a:pPr>
              <a:defRPr sz="800">
                <a:solidFill>
                  <a:srgbClr val="59636E"/>
                </a:solidFill>
                <a:latin typeface="Calibri"/>
              </a:defRPr>
            </a:pPr>
          </a:p>
        </c:txPr>
        <c:crossAx val="-2068027336"/>
        <c:crosses val="autoZero"/>
        <c:majorUnit val="2000.0"/>
      </c:valAx>
    </c:plotArea>
    <c:dispBlanksAs val="gap"/>
  </c:chart>
  <c:txPr>
    <a:bodyPr/>
    <a:lstStyle/>
    <a:p>
      <a:pPr>
        <a:defRPr sz="1800"/>
      </a:pPr>
      <a:endParaRPr lang="en-US"/>
    </a:p>
  </c:txPr>
</c:chartSpace>
</file>

<file path=ppt/charts/chart14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6"/>
                <c:pt idx="0">
                  <c:v>North America</c:v>
                </c:pt>
                <c:pt idx="1">
                  <c:v>Europe</c:v>
                </c:pt>
                <c:pt idx="2">
                  <c:v>Latin America</c:v>
                </c:pt>
                <c:pt idx="3">
                  <c:v>Middle East &amp; Africa</c:v>
                </c:pt>
                <c:pt idx="4">
                  <c:v>East Asia</c:v>
                </c:pt>
                <c:pt idx="5">
                  <c:v>South Asia &amp; Pacific</c:v>
                </c:pt>
              </c:strCache>
            </c:strRef>
          </c:cat>
          <c:val>
            <c:numRef>
              <c:numCache>
                <c:formatCode>General</c:formatCode>
                <c:ptCount val="6"/>
                <c:pt idx="0">
                  <c:v>120.3</c:v>
                </c:pt>
                <c:pt idx="1">
                  <c:v>105.2</c:v>
                </c:pt>
                <c:pt idx="2">
                  <c:v>83.0</c:v>
                </c:pt>
                <c:pt idx="3">
                  <c:v>79.9</c:v>
                </c:pt>
                <c:pt idx="4">
                  <c:v>61.9</c:v>
                </c:pt>
                <c:pt idx="5">
                  <c:v>54.5</c:v>
                </c:pt>
              </c:numCache>
            </c:numRef>
          </c:val>
        </c:ser>
        <c:ser>
          <c:idx val="1"/>
          <c:order val="1"/>
          <c:tx>
            <c:strRef>
              <c:strCache>
                <c:ptCount val="1"/>
                <c:pt idx="0">
                  <c:v>Range</c:v>
                </c:pt>
              </c:strCache>
            </c:strRef>
          </c:tx>
          <c:spPr>
            <a:solidFill>
              <a:srgbClr val="008189"/>
            </a:solidFill>
          </c:spPr>
          <c:dPt>
            <c:idx val="2"/>
            <c:spPr>
              <a:solidFill>
                <a:srgbClr val="5B7DB1"/>
              </a:solidFill>
            </c:spPr>
          </c:dPt>
          <c:dPt>
            <c:idx val="3"/>
            <c:spPr>
              <a:solidFill>
                <a:srgbClr val="5B7DB1"/>
              </a:solidFill>
            </c:spPr>
          </c:dPt>
          <c:dPt>
            <c:idx val="4"/>
            <c:spPr>
              <a:solidFill>
                <a:srgbClr val="5B7DB1"/>
              </a:solidFill>
            </c:spPr>
          </c:dPt>
          <c:dPt>
            <c:idx val="5"/>
            <c:spPr>
              <a:solidFill>
                <a:srgbClr val="5B7DB1"/>
              </a:solidFill>
            </c:spPr>
          </c:dPt>
          <c:cat>
            <c:strRef>
              <c:strCache>
                <c:ptCount val="6"/>
                <c:pt idx="0">
                  <c:v>North America</c:v>
                </c:pt>
                <c:pt idx="1">
                  <c:v>Europe</c:v>
                </c:pt>
                <c:pt idx="2">
                  <c:v>Latin America</c:v>
                </c:pt>
                <c:pt idx="3">
                  <c:v>Middle East &amp; Africa</c:v>
                </c:pt>
                <c:pt idx="4">
                  <c:v>East Asia</c:v>
                </c:pt>
                <c:pt idx="5">
                  <c:v>South Asia &amp; Pacific</c:v>
                </c:pt>
              </c:strCache>
            </c:strRef>
          </c:cat>
          <c:val>
            <c:numRef>
              <c:numCache>
                <c:formatCode>General</c:formatCode>
                <c:ptCount val="6"/>
                <c:pt idx="0">
                  <c:v>43.2</c:v>
                </c:pt>
                <c:pt idx="1">
                  <c:v>37.1</c:v>
                </c:pt>
                <c:pt idx="2">
                  <c:v>29.5</c:v>
                </c:pt>
                <c:pt idx="3">
                  <c:v>27.9</c:v>
                </c:pt>
                <c:pt idx="4">
                  <c:v>22.2</c:v>
                </c:pt>
                <c:pt idx="5">
                  <c:v>19.1</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65.0"/>
          <c:min val="5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4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pt idx="10">
                  <c:v>Others</c:v>
                </c:pt>
              </c:strCache>
            </c:strRef>
          </c:cat>
          <c:val>
            <c:numRef>
              <c:numCache>
                <c:formatCode>General</c:formatCode>
                <c:ptCount val="11"/>
                <c:pt idx="0">
                  <c:v>15.401240790072531</c:v>
                </c:pt>
                <c:pt idx="1">
                  <c:v>13.483170759180721</c:v>
                </c:pt>
                <c:pt idx="2">
                  <c:v>9.299352883645389</c:v>
                </c:pt>
                <c:pt idx="3">
                  <c:v>6.532876475193234</c:v>
                </c:pt>
                <c:pt idx="4">
                  <c:v>6.473319829711895</c:v>
                </c:pt>
                <c:pt idx="5">
                  <c:v>6.433244680872182</c:v>
                </c:pt>
                <c:pt idx="6">
                  <c:v>5.1503700280767655</c:v>
                </c:pt>
                <c:pt idx="7">
                  <c:v>3.1015192989370006</c:v>
                </c:pt>
                <c:pt idx="8">
                  <c:v>2.164598136819089</c:v>
                </c:pt>
                <c:pt idx="9">
                  <c:v>2.136096181068746</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pt idx="10">
                  <c:v>Others</c:v>
                </c:pt>
              </c:strCache>
            </c:strRef>
          </c:cat>
          <c:val>
            <c:numRef>
              <c:numCache>
                <c:formatCode>General</c:formatCode>
                <c:ptCount val="11"/>
                <c:pt idx="0">
                  <c:v>16.616982878130067</c:v>
                </c:pt>
                <c:pt idx="1">
                  <c:v>15.838373751146182</c:v>
                </c:pt>
                <c:pt idx="2">
                  <c:v>12.226323321243273</c:v>
                </c:pt>
                <c:pt idx="3">
                  <c:v>7.956018792951128</c:v>
                </c:pt>
                <c:pt idx="4">
                  <c:v>5.814138033935409</c:v>
                </c:pt>
                <c:pt idx="5">
                  <c:v>5.618762435113717</c:v>
                </c:pt>
                <c:pt idx="6">
                  <c:v>5.851259038190952</c:v>
                </c:pt>
                <c:pt idx="7">
                  <c:v>4.767350351372047</c:v>
                </c:pt>
                <c:pt idx="8">
                  <c:v>3.1905899020099833</c:v>
                </c:pt>
                <c:pt idx="9">
                  <c:v>1.9266097914653117</c:v>
                </c:pt>
                <c:pt idx="10">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pt idx="10">
                  <c:v>Others</c:v>
                </c:pt>
              </c:strCache>
            </c:strRef>
          </c:cat>
          <c:val>
            <c:numRef>
              <c:numCache>
                <c:formatCode>General</c:formatCode>
                <c:ptCount val="11"/>
                <c:pt idx="0">
                  <c:v>17.074931814674855</c:v>
                </c:pt>
                <c:pt idx="1">
                  <c:v>12.550885260107192</c:v>
                </c:pt>
                <c:pt idx="2">
                  <c:v>8.380043562697718</c:v>
                </c:pt>
                <c:pt idx="3">
                  <c:v>7.444952014860334</c:v>
                </c:pt>
                <c:pt idx="4">
                  <c:v>8.04660708305492</c:v>
                </c:pt>
                <c:pt idx="5">
                  <c:v>6.919214229256515</c:v>
                </c:pt>
                <c:pt idx="6">
                  <c:v>4.691071174682332</c:v>
                </c:pt>
                <c:pt idx="7">
                  <c:v>2.86510879859984</c:v>
                </c:pt>
                <c:pt idx="8">
                  <c:v>2.560369933335589</c:v>
                </c:pt>
                <c:pt idx="9">
                  <c:v>2.6169804142295043</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pt idx="10">
                  <c:v>Others</c:v>
                </c:pt>
              </c:strCache>
            </c:strRef>
          </c:cat>
          <c:val>
            <c:numRef>
              <c:numCache>
                <c:formatCode>General</c:formatCode>
                <c:ptCount val="11"/>
                <c:pt idx="0">
                  <c:v>15.570454803610694</c:v>
                </c:pt>
                <c:pt idx="1">
                  <c:v>10.546713911504883</c:v>
                </c:pt>
                <c:pt idx="2">
                  <c:v>10.489494550876001</c:v>
                </c:pt>
                <c:pt idx="3">
                  <c:v>11.523850319189417</c:v>
                </c:pt>
                <c:pt idx="4">
                  <c:v>9.716274527037694</c:v>
                </c:pt>
                <c:pt idx="5">
                  <c:v>6.041847824962319</c:v>
                </c:pt>
                <c:pt idx="6">
                  <c:v>4.100995695833606</c:v>
                </c:pt>
                <c:pt idx="7">
                  <c:v>3.8524851858046234</c:v>
                </c:pt>
                <c:pt idx="8">
                  <c:v>3.889793811996375</c:v>
                </c:pt>
                <c:pt idx="9">
                  <c:v>2.9792010725276863</c:v>
                </c:pt>
                <c:pt idx="10">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ALK-Abelló A/S</c:v>
                </c:pt>
                <c:pt idx="1">
                  <c:v>Stallergenes Greer International AG</c:v>
                </c:pt>
                <c:pt idx="2">
                  <c:v>Allergy Therapeutics plc</c:v>
                </c:pt>
                <c:pt idx="3">
                  <c:v>HAL Allergy Group</c:v>
                </c:pt>
                <c:pt idx="4">
                  <c:v>LETI Pharma / Laboratorios LETI, S.L.U.</c:v>
                </c:pt>
                <c:pt idx="5">
                  <c:v>Jubilant HollisterStier LLC</c:v>
                </c:pt>
                <c:pt idx="6">
                  <c:v>Inmunotek S.L.</c:v>
                </c:pt>
                <c:pt idx="7">
                  <c:v>DIATER Laboratories</c:v>
                </c:pt>
                <c:pt idx="8">
                  <c:v>Torii Pharmaceutical Co., Ltd.</c:v>
                </c:pt>
                <c:pt idx="9">
                  <c:v>Allergopharma GmbH &amp; Co. KG</c:v>
                </c:pt>
                <c:pt idx="10">
                  <c:v>Others</c:v>
                </c:pt>
              </c:strCache>
            </c:strRef>
          </c:cat>
          <c:val>
            <c:numRef>
              <c:numCache>
                <c:formatCode>General</c:formatCode>
                <c:ptCount val="11"/>
                <c:pt idx="0">
                  <c:v>11.931858870012501</c:v>
                </c:pt>
                <c:pt idx="1">
                  <c:v>12.495250983383206</c:v>
                </c:pt>
                <c:pt idx="2">
                  <c:v>13.557011133261542</c:v>
                </c:pt>
                <c:pt idx="3">
                  <c:v>11.024479649083794</c:v>
                </c:pt>
                <c:pt idx="4">
                  <c:v>6.975036720459171</c:v>
                </c:pt>
                <c:pt idx="5">
                  <c:v>4.918850211127804</c:v>
                </c:pt>
                <c:pt idx="6">
                  <c:v>5.131252406943278</c:v>
                </c:pt>
                <c:pt idx="7">
                  <c:v>4.808839258461541</c:v>
                </c:pt>
                <c:pt idx="8">
                  <c:v>3.5084788144252483</c:v>
                </c:pt>
                <c:pt idx="9">
                  <c:v>2.100246059545411</c:v>
                </c:pt>
                <c:pt idx="10">
                  <c:v>23.5486958932965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Direct-to-Allergy Clinics</c:v>
                </c:pt>
                <c:pt idx="1">
                  <c:v>Hospital Procurement</c:v>
                </c:pt>
                <c:pt idx="2">
                  <c:v>Retail Pharmacy</c:v>
                </c:pt>
                <c:pt idx="3">
                  <c:v>Pharmaceutical Distributor</c:v>
                </c:pt>
              </c:strCache>
            </c:strRef>
          </c:cat>
          <c:val>
            <c:numRef>
              <c:numCache>
                <c:formatCode>General</c:formatCode>
                <c:ptCount val="4"/>
                <c:pt idx="0">
                  <c:v>234.00407267535414</c:v>
                </c:pt>
                <c:pt idx="1">
                  <c:v>130.18475903281228</c:v>
                </c:pt>
                <c:pt idx="2">
                  <c:v>163.86555168020905</c:v>
                </c:pt>
                <c:pt idx="3">
                  <c:v>309.5574982205093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408.61589765107226"/>
          <c:min val="0.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278.07148869529914</c:v>
                </c:pt>
                <c:pt idx="1">
                  <c:v>169.26149604740203</c:v>
                </c:pt>
                <c:pt idx="2">
                  <c:v>91.27781800020381</c:v>
                </c:pt>
                <c:pt idx="3">
                  <c:v>103.13694737500371</c:v>
                </c:pt>
                <c:pt idx="4">
                  <c:v>195.864131490976</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67.0543650777949"/>
          <c:min val="0.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Sublingual Immunotherapy (SLIT)</c:v>
                </c:pt>
                <c:pt idx="1">
                  <c:v>Subcutaneous Immunotherapy (SCIT)</c:v>
                </c:pt>
                <c:pt idx="2">
                  <c:v>Oral Immunotherapy (OIT)</c:v>
                </c:pt>
              </c:strCache>
            </c:strRef>
          </c:cat>
          <c:val>
            <c:numRef>
              <c:numCache>
                <c:formatCode>General</c:formatCode>
                <c:ptCount val="3"/>
                <c:pt idx="0">
                  <c:v>168.10851374525686</c:v>
                </c:pt>
                <c:pt idx="1">
                  <c:v>233.70990426287872</c:v>
                </c:pt>
                <c:pt idx="2">
                  <c:v>435.7934636007491</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848.4216</c:v>
                </c:pt>
                <c:pt idx="1">
                  <c:v>762.6480736916857</c:v>
                </c:pt>
                <c:pt idx="2">
                  <c:v>557.3565648566349</c:v>
                </c:pt>
                <c:pt idx="3">
                  <c:v>357.0741480101838</c:v>
                </c:pt>
                <c:pt idx="4">
                  <c:v>283.2894496828581</c:v>
                </c:pt>
              </c:numCache>
            </c:numRef>
          </c:val>
        </c:ser>
        <c:ser>
          <c:idx val="1"/>
          <c:order val="1"/>
          <c:tx>
            <c:strRef>
              <c:strCache>
                <c:ptCount val="1"/>
                <c:pt idx="0">
                  <c:v>SOM</c:v>
                </c:pt>
              </c:strCache>
            </c:strRef>
          </c:tx>
          <c:spPr>
            <a:solidFill>
              <a:srgbClr val="0E72AE"/>
            </a:solidFill>
            <a:ln>
              <a:noFill/>
            </a:ln>
          </c:spPr>
          <c:dLbls>
            <c:dLbl>
              <c:idx val="0"/>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278.07148869529914</c:v>
                </c:pt>
                <c:pt idx="1">
                  <c:v>169.26149604740203</c:v>
                </c:pt>
                <c:pt idx="2">
                  <c:v>91.27781800020381</c:v>
                </c:pt>
                <c:pt idx="3">
                  <c:v>103.13694737500371</c:v>
                </c:pt>
                <c:pt idx="4">
                  <c:v>195.864131490976</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85.979648"/>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Taxonomy Market Segments  (1/4)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Taxonomy Market Segments  (2/4)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Taxonomy Market Segments  (3/4)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Taxonomy Market Segments  (4/4)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Region Global Allergy Immunotherapy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Therapy Format By Therapy Format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Therapy Format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Therapy Format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Therapy Format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Therapy Format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Class By Allergen Class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Class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Class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Class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Class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Commercial Product Model By Commercial Product Model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Commercial Product Model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Commercial Product Model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Commercial Product Model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Commercial Product Model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Preparation Technology By Allergen Preparation Technology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Preparation Technology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Preparation Technology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Preparation Technology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Preparation Technology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Composition By Allergen Composition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Composition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Composition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Composition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Composition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Sales / Procurement Channel By Sales / Procurement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Sales / Procurement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Sales / Procurement Channel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Sales / Procurement Channel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Sales / Procurement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Sales / Procurement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Absolute $ Opportunity &amp; Attractiveness  (1/2)</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Absolute $ Opportunity &amp; Attractiveness  (2/2)</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America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Country North America Allergy Immunotherapy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Therapy Format By Therapy Format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Therapy Format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Therapy Format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Therapy Format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Therapy Format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Class By Allergen Class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Class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Class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Class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Class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Commercial Product Model By Commercial Product Model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Commercial Product Model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Commercial Product Model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Commercial Product Model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Commercial Product Model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Preparation Technology By Allergen Preparation Technology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Preparation Technology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Preparation Technology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Preparation Technology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Preparation Technology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Composition By Allergen Composition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Composition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Composition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Composition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Allergen Composition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Sales / Procurement Channel By Sales / Procurement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Sales / Procurement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Sales / Procurement Channel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Sales / Procurement Channel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Sales / Procurement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Sales / Procurement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Absolute $ Opportunity &amp; Attractiveness  (1/2)</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Absolute $ Opportunity &amp; Attractiveness  (2/2)</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Absolute $ Opportunity &amp; Attractiveness  (1/2)</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Absolute $ Opportunity &amp; Attractiveness  (2/2)</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Overview Key Segments (Value)</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Therapy Format Segmental</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Therapy Format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Allergen Class Segmental</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Allergen Class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Commercial Product Model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Commercial Product Model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Allergen Preparation Technology Segmental</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Allergen Preparation Technology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Allergen Composition Segmental</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Allergen Composition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Sales / Procurement Channel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Country Sales / Procurement Channel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Class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Absolute $ Opportunity &amp; Attractiveness  (1/2)</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Therapy Format Absolute $ Opportunity &amp; Attractiveness  (2/2)</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Absolute $ Opportunity &amp; Attractiveness  (1/2)</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Company × Allergen Preparation Technology Absolute $ Opportunity &amp; Attractiveness  (2/2)</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Pricing Price Forecast &amp; Dynamics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Dynamics Market Dynamics &amp; Forces Market Dynamics by Geography  (1/2)</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Dynamics Market Dynamics &amp; Forces Market Dynamics by Geography  (2/2)</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Company Profiles &amp; Strategic Benchmarking ALK-Abelló A/S Snapshot</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Company Profiles &amp; Strategic Benchmarking ALK-Abelló A/S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Company Profiles &amp; Strategic Benchmarking ALK-Abelló A/S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Company Profiles &amp; Strategic Benchmarking ALK-Abelló A/S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Competitor Company Profiles &amp; Strategic Benchmarking ALK-Abelló A/S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Table of Contents  (1/6)</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Table of Contents  (2/6)</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Table of Contents  (3/6)</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Table of Contents  (4/6)</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Table of Contents  (5/6)</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Table of Contents  (6/6)</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List of Figures  (1/4)</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List of Figures  (2/4)</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List of Figures  (3/4)</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List of Figures  (4/4)</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List of Tables  (1/5)</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List of Tables  (2/5)</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List of Tables  (3/5)</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List of Tables  (4/5)</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Allergy Immunotherapy Market List of Tables  (5/5)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3.xml"/><Relationship Id="rId7" Type="http://schemas.openxmlformats.org/officeDocument/2006/relationships/slide" Target="slide20.xml"/><Relationship Id="rId8" Type="http://schemas.openxmlformats.org/officeDocument/2006/relationships/slide" Target="slide30.xml"/><Relationship Id="rId9" Type="http://schemas.openxmlformats.org/officeDocument/2006/relationships/slide" Target="slide31.xml"/><Relationship Id="rId10" Type="http://schemas.openxmlformats.org/officeDocument/2006/relationships/slide" Target="slide42.xml"/><Relationship Id="rId11" Type="http://schemas.openxmlformats.org/officeDocument/2006/relationships/slide" Target="slide50.xml"/><Relationship Id="rId12" Type="http://schemas.openxmlformats.org/officeDocument/2006/relationships/slide" Target="slide112.xml"/><Relationship Id="rId13" Type="http://schemas.openxmlformats.org/officeDocument/2006/relationships/slide" Target="slide132.xml"/><Relationship Id="rId14" Type="http://schemas.openxmlformats.org/officeDocument/2006/relationships/slide" Target="slide133.xml"/><Relationship Id="rId15" Type="http://schemas.openxmlformats.org/officeDocument/2006/relationships/slide" Target="slide143.xml"/><Relationship Id="rId16" Type="http://schemas.openxmlformats.org/officeDocument/2006/relationships/slide" Target="slide151.xml"/><Relationship Id="rId17" Type="http://schemas.openxmlformats.org/officeDocument/2006/relationships/slide" Target="slide211.xml"/><Relationship Id="rId18" Type="http://schemas.openxmlformats.org/officeDocument/2006/relationships/slide" Target="slide232.xml"/><Relationship Id="rId19" Type="http://schemas.openxmlformats.org/officeDocument/2006/relationships/slide" Target="slide233.xml"/><Relationship Id="rId20" Type="http://schemas.openxmlformats.org/officeDocument/2006/relationships/slide" Target="slide237.xml"/><Relationship Id="rId21" Type="http://schemas.openxmlformats.org/officeDocument/2006/relationships/slide" Target="slide267.xml"/><Relationship Id="rId22" Type="http://schemas.openxmlformats.org/officeDocument/2006/relationships/slide" Target="slide288.xml"/><Relationship Id="rId23" Type="http://schemas.openxmlformats.org/officeDocument/2006/relationships/slide" Target="slide289.xml"/><Relationship Id="rId24" Type="http://schemas.openxmlformats.org/officeDocument/2006/relationships/slide" Target="slide302.xml"/><Relationship Id="rId25" Type="http://schemas.openxmlformats.org/officeDocument/2006/relationships/slide" Target="slide306.xml"/><Relationship Id="rId26" Type="http://schemas.openxmlformats.org/officeDocument/2006/relationships/slide" Target="slide307.xml"/><Relationship Id="rId27" Type="http://schemas.openxmlformats.org/officeDocument/2006/relationships/slide" Target="slide316.xml"/><Relationship Id="rId28" Type="http://schemas.openxmlformats.org/officeDocument/2006/relationships/slide" Target="slide317.xml"/><Relationship Id="rId29" Type="http://schemas.openxmlformats.org/officeDocument/2006/relationships/slide" Target="slide331.xml"/><Relationship Id="rId30" Type="http://schemas.openxmlformats.org/officeDocument/2006/relationships/slide" Target="slide33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12.xml"/><Relationship Id="rId6"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3.xml"/><Relationship Id="rId6"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4.xml"/><Relationship Id="rId6"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7.xml"/><Relationship Id="rId5"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9.xml"/><Relationship Id="rId5"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 Id="rId11" Type="http://schemas.openxmlformats.org/officeDocument/2006/relationships/image" Target="../media/image67.png"/><Relationship Id="rId12" Type="http://schemas.openxmlformats.org/officeDocument/2006/relationships/image" Target="../media/image68.png"/><Relationship Id="rId13" Type="http://schemas.openxmlformats.org/officeDocument/2006/relationships/image" Target="../media/image69.png"/><Relationship Id="rId14" Type="http://schemas.openxmlformats.org/officeDocument/2006/relationships/image" Target="../media/image70.png"/><Relationship Id="rId15" Type="http://schemas.openxmlformats.org/officeDocument/2006/relationships/image" Target="../media/image71.png"/><Relationship Id="rId16" Type="http://schemas.openxmlformats.org/officeDocument/2006/relationships/image" Target="../media/image72.png"/><Relationship Id="rId17" Type="http://schemas.openxmlformats.org/officeDocument/2006/relationships/image" Target="../media/image73.png"/><Relationship Id="rId18" Type="http://schemas.openxmlformats.org/officeDocument/2006/relationships/image" Target="../media/image74.png"/><Relationship Id="rId19" Type="http://schemas.openxmlformats.org/officeDocument/2006/relationships/image" Target="../media/image75.png"/><Relationship Id="rId20" Type="http://schemas.openxmlformats.org/officeDocument/2006/relationships/image" Target="../media/image76.png"/><Relationship Id="rId21" Type="http://schemas.openxmlformats.org/officeDocument/2006/relationships/image" Target="../media/image77.png"/><Relationship Id="rId22"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21.xml"/><Relationship Id="rId5" Type="http://schemas.openxmlformats.org/officeDocument/2006/relationships/image" Target="../media/image2.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22.xml"/><Relationship Id="rId5"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74.png"/><Relationship Id="rId7" Type="http://schemas.openxmlformats.org/officeDocument/2006/relationships/image" Target="../media/image108.png"/><Relationship Id="rId8" Type="http://schemas.openxmlformats.org/officeDocument/2006/relationships/image" Target="../media/image109.png"/><Relationship Id="rId9" Type="http://schemas.openxmlformats.org/officeDocument/2006/relationships/image" Target="../media/image110.png"/><Relationship Id="rId10" Type="http://schemas.openxmlformats.org/officeDocument/2006/relationships/image" Target="../media/image111.png"/><Relationship Id="rId11" Type="http://schemas.openxmlformats.org/officeDocument/2006/relationships/image" Target="../media/image112.png"/><Relationship Id="rId12" Type="http://schemas.openxmlformats.org/officeDocument/2006/relationships/image" Target="../media/image113.png"/><Relationship Id="rId13"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8.xml"/><Relationship Id="rId6"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notesSlide" Target="../notesSlides/notesSlide29.xml"/><Relationship Id="rId7"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0.xml"/><Relationship Id="rId4" Type="http://schemas.openxmlformats.org/officeDocument/2006/relationships/notesSlide" Target="../notesSlides/notesSlide32.xml"/><Relationship Id="rId5"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 Id="rId4" Type="http://schemas.openxmlformats.org/officeDocument/2006/relationships/image" Target="../media/image141.png"/><Relationship Id="rId5" Type="http://schemas.openxmlformats.org/officeDocument/2006/relationships/image" Target="../media/image142.png"/><Relationship Id="rId6" Type="http://schemas.openxmlformats.org/officeDocument/2006/relationships/image" Target="../media/image143.png"/><Relationship Id="rId7" Type="http://schemas.openxmlformats.org/officeDocument/2006/relationships/image" Target="../media/image144.png"/><Relationship Id="rId8" Type="http://schemas.openxmlformats.org/officeDocument/2006/relationships/image" Target="../media/image145.png"/><Relationship Id="rId9" Type="http://schemas.openxmlformats.org/officeDocument/2006/relationships/image" Target="../media/image146.png"/><Relationship Id="rId10" Type="http://schemas.openxmlformats.org/officeDocument/2006/relationships/image" Target="../media/image147.png"/><Relationship Id="rId11" Type="http://schemas.openxmlformats.org/officeDocument/2006/relationships/image" Target="../media/image148.png"/><Relationship Id="rId12" Type="http://schemas.openxmlformats.org/officeDocument/2006/relationships/image" Target="../media/image149.png"/><Relationship Id="rId13"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notesSlide" Target="../notesSlides/notesSlide36.xml"/><Relationship Id="rId6"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3.xml"/><Relationship Id="rId4" Type="http://schemas.openxmlformats.org/officeDocument/2006/relationships/chart" Target="../charts/chart24.xml"/><Relationship Id="rId5" Type="http://schemas.openxmlformats.org/officeDocument/2006/relationships/chart" Target="../charts/chart25.xml"/><Relationship Id="rId6" Type="http://schemas.openxmlformats.org/officeDocument/2006/relationships/notesSlide" Target="../notesSlides/notesSlide37.xml"/><Relationship Id="rId7"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6.xml"/><Relationship Id="rId4" Type="http://schemas.openxmlformats.org/officeDocument/2006/relationships/notesSlide" Target="../notesSlides/notesSlide42.xml"/><Relationship Id="rId5"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 Id="rId4" Type="http://schemas.openxmlformats.org/officeDocument/2006/relationships/image" Target="../media/image176.png"/><Relationship Id="rId5" Type="http://schemas.openxmlformats.org/officeDocument/2006/relationships/image" Target="../media/image177.png"/><Relationship Id="rId6" Type="http://schemas.openxmlformats.org/officeDocument/2006/relationships/image" Target="../media/image178.png"/><Relationship Id="rId7" Type="http://schemas.openxmlformats.org/officeDocument/2006/relationships/image" Target="../media/image179.png"/><Relationship Id="rId8" Type="http://schemas.openxmlformats.org/officeDocument/2006/relationships/image" Target="../media/image180.png"/><Relationship Id="rId9" Type="http://schemas.openxmlformats.org/officeDocument/2006/relationships/image" Target="../media/image77.png"/><Relationship Id="rId10" Type="http://schemas.openxmlformats.org/officeDocument/2006/relationships/image" Target="../media/image181.png"/><Relationship Id="rId11" Type="http://schemas.openxmlformats.org/officeDocument/2006/relationships/image" Target="../media/image182.png"/><Relationship Id="rId12" Type="http://schemas.openxmlformats.org/officeDocument/2006/relationships/image" Target="../media/image71.png"/><Relationship Id="rId13"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xml"/><Relationship Id="rId4" Type="http://schemas.openxmlformats.org/officeDocument/2006/relationships/chart" Target="../charts/chart28.xml"/><Relationship Id="rId5" Type="http://schemas.openxmlformats.org/officeDocument/2006/relationships/notesSlide" Target="../notesSlides/notesSlide48.xml"/><Relationship Id="rId6"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9.xml"/><Relationship Id="rId4" Type="http://schemas.openxmlformats.org/officeDocument/2006/relationships/chart" Target="../charts/chart30.xml"/><Relationship Id="rId5" Type="http://schemas.openxmlformats.org/officeDocument/2006/relationships/chart" Target="../charts/chart31.xml"/><Relationship Id="rId6" Type="http://schemas.openxmlformats.org/officeDocument/2006/relationships/notesSlide" Target="../notesSlides/notesSlide49.xml"/><Relationship Id="rId7"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 Id="rId4"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xml"/><Relationship Id="rId4" Type="http://schemas.openxmlformats.org/officeDocument/2006/relationships/notesSlide" Target="../notesSlides/notesSlide53.xml"/><Relationship Id="rId5"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 Id="rId4" Type="http://schemas.openxmlformats.org/officeDocument/2006/relationships/image" Target="../media/image207.png"/><Relationship Id="rId5" Type="http://schemas.openxmlformats.org/officeDocument/2006/relationships/image" Target="../media/image208.png"/><Relationship Id="rId6" Type="http://schemas.openxmlformats.org/officeDocument/2006/relationships/image" Target="../media/image209.png"/><Relationship Id="rId7" Type="http://schemas.openxmlformats.org/officeDocument/2006/relationships/image" Target="../media/image210.png"/><Relationship Id="rId8" Type="http://schemas.openxmlformats.org/officeDocument/2006/relationships/image" Target="../media/image211.png"/><Relationship Id="rId9" Type="http://schemas.openxmlformats.org/officeDocument/2006/relationships/image" Target="../media/image212.png"/><Relationship Id="rId10" Type="http://schemas.openxmlformats.org/officeDocument/2006/relationships/image" Target="../media/image213.png"/><Relationship Id="rId11" Type="http://schemas.openxmlformats.org/officeDocument/2006/relationships/image" Target="../media/image214.png"/><Relationship Id="rId12" Type="http://schemas.openxmlformats.org/officeDocument/2006/relationships/image" Target="../media/image215.png"/><Relationship Id="rId13"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3.xml"/><Relationship Id="rId4" Type="http://schemas.openxmlformats.org/officeDocument/2006/relationships/chart" Target="../charts/chart34.xml"/><Relationship Id="rId5" Type="http://schemas.openxmlformats.org/officeDocument/2006/relationships/notesSlide" Target="../notesSlides/notesSlide57.xml"/><Relationship Id="rId6"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5.xml"/><Relationship Id="rId4" Type="http://schemas.openxmlformats.org/officeDocument/2006/relationships/chart" Target="../charts/chart36.xml"/><Relationship Id="rId5" Type="http://schemas.openxmlformats.org/officeDocument/2006/relationships/chart" Target="../charts/chart37.xml"/><Relationship Id="rId6" Type="http://schemas.openxmlformats.org/officeDocument/2006/relationships/notesSlide" Target="../notesSlides/notesSlide58.xml"/><Relationship Id="rId7"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 Id="rId4"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8.xml"/><Relationship Id="rId4" Type="http://schemas.openxmlformats.org/officeDocument/2006/relationships/notesSlide" Target="../notesSlides/notesSlide62.xml"/><Relationship Id="rId5"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 Id="rId4" Type="http://schemas.openxmlformats.org/officeDocument/2006/relationships/image" Target="../media/image243.png"/><Relationship Id="rId5" Type="http://schemas.openxmlformats.org/officeDocument/2006/relationships/image" Target="../media/image244.png"/><Relationship Id="rId6" Type="http://schemas.openxmlformats.org/officeDocument/2006/relationships/image" Target="../media/image245.png"/><Relationship Id="rId7" Type="http://schemas.openxmlformats.org/officeDocument/2006/relationships/image" Target="../media/image246.png"/><Relationship Id="rId8" Type="http://schemas.openxmlformats.org/officeDocument/2006/relationships/image" Target="../media/image247.png"/><Relationship Id="rId9" Type="http://schemas.openxmlformats.org/officeDocument/2006/relationships/image" Target="../media/image248.png"/><Relationship Id="rId10" Type="http://schemas.openxmlformats.org/officeDocument/2006/relationships/image" Target="../media/image249.png"/><Relationship Id="rId11" Type="http://schemas.openxmlformats.org/officeDocument/2006/relationships/image" Target="../media/image250.png"/><Relationship Id="rId12" Type="http://schemas.openxmlformats.org/officeDocument/2006/relationships/image" Target="../media/image143.png"/><Relationship Id="rId13"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9.xml"/><Relationship Id="rId4" Type="http://schemas.openxmlformats.org/officeDocument/2006/relationships/chart" Target="../charts/chart40.xml"/><Relationship Id="rId5" Type="http://schemas.openxmlformats.org/officeDocument/2006/relationships/notesSlide" Target="../notesSlides/notesSlide66.xml"/><Relationship Id="rId6"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1.xml"/><Relationship Id="rId4" Type="http://schemas.openxmlformats.org/officeDocument/2006/relationships/chart" Target="../charts/chart42.xml"/><Relationship Id="rId5" Type="http://schemas.openxmlformats.org/officeDocument/2006/relationships/chart" Target="../charts/chart43.xml"/><Relationship Id="rId6" Type="http://schemas.openxmlformats.org/officeDocument/2006/relationships/notesSlide" Target="../notesSlides/notesSlide67.xml"/><Relationship Id="rId7"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 Id="rId4"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4.xml"/><Relationship Id="rId4" Type="http://schemas.openxmlformats.org/officeDocument/2006/relationships/notesSlide" Target="../notesSlides/notesSlide70.xml"/><Relationship Id="rId5"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 Id="rId4" Type="http://schemas.openxmlformats.org/officeDocument/2006/relationships/image" Target="../media/image277.png"/><Relationship Id="rId5" Type="http://schemas.openxmlformats.org/officeDocument/2006/relationships/image" Target="../media/image278.png"/><Relationship Id="rId6" Type="http://schemas.openxmlformats.org/officeDocument/2006/relationships/image" Target="../media/image279.png"/><Relationship Id="rId7" Type="http://schemas.openxmlformats.org/officeDocument/2006/relationships/image" Target="../media/image280.png"/><Relationship Id="rId8" Type="http://schemas.openxmlformats.org/officeDocument/2006/relationships/image" Target="../media/image281.png"/><Relationship Id="rId9" Type="http://schemas.openxmlformats.org/officeDocument/2006/relationships/image" Target="../media/image282.png"/><Relationship Id="rId10" Type="http://schemas.openxmlformats.org/officeDocument/2006/relationships/image" Target="../media/image283.png"/><Relationship Id="rId11" Type="http://schemas.openxmlformats.org/officeDocument/2006/relationships/image" Target="../media/image284.png"/><Relationship Id="rId12" Type="http://schemas.openxmlformats.org/officeDocument/2006/relationships/image" Target="../media/image209.png"/><Relationship Id="rId13" Type="http://schemas.openxmlformats.org/officeDocument/2006/relationships/image" Target="../media/image285.png"/><Relationship Id="rId14" Type="http://schemas.openxmlformats.org/officeDocument/2006/relationships/image" Target="../media/image286.png"/><Relationship Id="rId15" Type="http://schemas.openxmlformats.org/officeDocument/2006/relationships/image" Target="../media/image287.png"/><Relationship Id="rId16" Type="http://schemas.openxmlformats.org/officeDocument/2006/relationships/image" Target="../media/image288.png"/><Relationship Id="rId17" Type="http://schemas.openxmlformats.org/officeDocument/2006/relationships/image" Target="../media/image289.png"/><Relationship Id="rId18" Type="http://schemas.openxmlformats.org/officeDocument/2006/relationships/image" Target="../media/image290.png"/><Relationship Id="rId19"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5.xml"/><Relationship Id="rId4" Type="http://schemas.openxmlformats.org/officeDocument/2006/relationships/chart" Target="../charts/chart46.xml"/><Relationship Id="rId5" Type="http://schemas.openxmlformats.org/officeDocument/2006/relationships/notesSlide" Target="../notesSlides/notesSlide74.xml"/><Relationship Id="rId6"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7.xml"/><Relationship Id="rId4" Type="http://schemas.openxmlformats.org/officeDocument/2006/relationships/chart" Target="../charts/chart48.xml"/><Relationship Id="rId5" Type="http://schemas.openxmlformats.org/officeDocument/2006/relationships/chart" Target="../charts/chart49.xml"/><Relationship Id="rId6" Type="http://schemas.openxmlformats.org/officeDocument/2006/relationships/chart" Target="../charts/chart50.xml"/><Relationship Id="rId7" Type="http://schemas.openxmlformats.org/officeDocument/2006/relationships/notesSlide" Target="../notesSlides/notesSlide75.xml"/><Relationship Id="rId8"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notesSlide" Target="../notesSlides/notesSlide76.xml"/><Relationship Id="rId5"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 Id="rId4"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xml"/><Relationship Id="rId4" Type="http://schemas.openxmlformats.org/officeDocument/2006/relationships/notesSlide" Target="../notesSlides/notesSlide79.xml"/><Relationship Id="rId5"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 Id="rId4"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 Id="rId4" Type="http://schemas.openxmlformats.org/officeDocument/2006/relationships/image" Target="../media/image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 Id="rId4"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3.xml"/><Relationship Id="rId4" Type="http://schemas.openxmlformats.org/officeDocument/2006/relationships/notesSlide" Target="../notesSlides/notesSlide85.xml"/><Relationship Id="rId5"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 Id="rId4" Type="http://schemas.openxmlformats.org/officeDocument/2006/relationships/image" Target="../media/image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 Id="rId4"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 Id="rId4"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 Id="rId4"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4.xml"/><Relationship Id="rId4" Type="http://schemas.openxmlformats.org/officeDocument/2006/relationships/notesSlide" Target="../notesSlides/notesSlide90.xml"/><Relationship Id="rId5"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 Id="rId4"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 Id="rId4"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 Id="rId4"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 Id="rId4"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 Id="rId4"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5.xml"/><Relationship Id="rId4" Type="http://schemas.openxmlformats.org/officeDocument/2006/relationships/notesSlide" Target="../notesSlides/notesSlide96.xml"/><Relationship Id="rId5" Type="http://schemas.openxmlformats.org/officeDocument/2006/relationships/image" Target="../media/image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 Id="rId4"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xml"/><Relationship Id="rId4" Type="http://schemas.openxmlformats.org/officeDocument/2006/relationships/chart" Target="../charts/chart57.xml"/><Relationship Id="rId5" Type="http://schemas.openxmlformats.org/officeDocument/2006/relationships/notesSlide" Target="../notesSlides/notesSlide99.xml"/><Relationship Id="rId6" Type="http://schemas.openxmlformats.org/officeDocument/2006/relationships/image" Target="../media/image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 Id="rId4"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8.xml"/><Relationship Id="rId4" Type="http://schemas.openxmlformats.org/officeDocument/2006/relationships/chart" Target="../charts/chart59.xml"/><Relationship Id="rId5" Type="http://schemas.openxmlformats.org/officeDocument/2006/relationships/notesSlide" Target="../notesSlides/notesSlide101.xml"/><Relationship Id="rId6"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0.xml"/><Relationship Id="rId4" Type="http://schemas.openxmlformats.org/officeDocument/2006/relationships/chart" Target="../charts/chart61.xml"/><Relationship Id="rId5" Type="http://schemas.openxmlformats.org/officeDocument/2006/relationships/notesSlide" Target="../notesSlides/notesSlide102.xml"/><Relationship Id="rId6" Type="http://schemas.openxmlformats.org/officeDocument/2006/relationships/image" Target="../media/image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2.xml"/><Relationship Id="rId4" Type="http://schemas.openxmlformats.org/officeDocument/2006/relationships/chart" Target="../charts/chart63.xml"/><Relationship Id="rId5" Type="http://schemas.openxmlformats.org/officeDocument/2006/relationships/notesSlide" Target="../notesSlides/notesSlide103.xml"/><Relationship Id="rId6"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 Id="rId4"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4.xml"/><Relationship Id="rId4" Type="http://schemas.openxmlformats.org/officeDocument/2006/relationships/notesSlide" Target="../notesSlides/notesSlide105.xml"/><Relationship Id="rId5"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 Id="rId4"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notesSlide" Target="../notesSlides/notesSlide107.xml"/><Relationship Id="rId5" Type="http://schemas.openxmlformats.org/officeDocument/2006/relationships/image" Target="../media/image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 Id="rId4"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6.xml"/><Relationship Id="rId4" Type="http://schemas.openxmlformats.org/officeDocument/2006/relationships/notesSlide" Target="../notesSlides/notesSlide109.xml"/><Relationship Id="rId5"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xml"/><Relationship Id="rId4" Type="http://schemas.openxmlformats.org/officeDocument/2006/relationships/notesSlide" Target="../notesSlides/notesSlide110.xml"/><Relationship Id="rId5" Type="http://schemas.openxmlformats.org/officeDocument/2006/relationships/image" Target="../media/image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 Id="rId4"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 Id="rId4"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8.xml"/><Relationship Id="rId4" Type="http://schemas.openxmlformats.org/officeDocument/2006/relationships/chart" Target="../charts/chart69.xml"/><Relationship Id="rId5" Type="http://schemas.openxmlformats.org/officeDocument/2006/relationships/notesSlide" Target="../notesSlides/notesSlide113.xml"/><Relationship Id="rId6" Type="http://schemas.openxmlformats.org/officeDocument/2006/relationships/image" Target="../media/image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 Id="rId4" Type="http://schemas.openxmlformats.org/officeDocument/2006/relationships/image" Target="../media/image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 Id="rId4" Type="http://schemas.openxmlformats.org/officeDocument/2006/relationships/image" Target="../media/image449.png"/><Relationship Id="rId5" Type="http://schemas.openxmlformats.org/officeDocument/2006/relationships/image" Target="../media/image450.png"/><Relationship Id="rId6" Type="http://schemas.openxmlformats.org/officeDocument/2006/relationships/image" Target="../media/image245.png"/><Relationship Id="rId7" Type="http://schemas.openxmlformats.org/officeDocument/2006/relationships/image" Target="../media/image451.png"/><Relationship Id="rId8" Type="http://schemas.openxmlformats.org/officeDocument/2006/relationships/image" Target="../media/image452.png"/><Relationship Id="rId9" Type="http://schemas.openxmlformats.org/officeDocument/2006/relationships/image" Target="../media/image62.png"/><Relationship Id="rId10" Type="http://schemas.openxmlformats.org/officeDocument/2006/relationships/image" Target="../media/image453.png"/><Relationship Id="rId11" Type="http://schemas.openxmlformats.org/officeDocument/2006/relationships/image" Target="../media/image38.png"/><Relationship Id="rId12" Type="http://schemas.openxmlformats.org/officeDocument/2006/relationships/image" Target="../media/image454.png"/><Relationship Id="rId13" Type="http://schemas.openxmlformats.org/officeDocument/2006/relationships/image" Target="../media/image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0.xml"/><Relationship Id="rId4" Type="http://schemas.openxmlformats.org/officeDocument/2006/relationships/chart" Target="../charts/chart71.xml"/><Relationship Id="rId5" Type="http://schemas.openxmlformats.org/officeDocument/2006/relationships/notesSlide" Target="../notesSlides/notesSlide116.xml"/><Relationship Id="rId6"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2.xml"/><Relationship Id="rId4" Type="http://schemas.openxmlformats.org/officeDocument/2006/relationships/chart" Target="../charts/chart73.xml"/><Relationship Id="rId5" Type="http://schemas.openxmlformats.org/officeDocument/2006/relationships/chart" Target="../charts/chart74.xml"/><Relationship Id="rId6" Type="http://schemas.openxmlformats.org/officeDocument/2006/relationships/notesSlide" Target="../notesSlides/notesSlide117.xml"/><Relationship Id="rId7" Type="http://schemas.openxmlformats.org/officeDocument/2006/relationships/image" Target="../media/image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 Id="rId4"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5.xml"/><Relationship Id="rId4" Type="http://schemas.openxmlformats.org/officeDocument/2006/relationships/notesSlide" Target="../notesSlides/notesSlide120.xml"/><Relationship Id="rId5" Type="http://schemas.openxmlformats.org/officeDocument/2006/relationships/image" Target="../media/image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 Id="rId4" Type="http://schemas.openxmlformats.org/officeDocument/2006/relationships/image" Target="../media/image469.png"/><Relationship Id="rId5" Type="http://schemas.openxmlformats.org/officeDocument/2006/relationships/image" Target="../media/image470.png"/><Relationship Id="rId6" Type="http://schemas.openxmlformats.org/officeDocument/2006/relationships/image" Target="../media/image77.png"/><Relationship Id="rId7" Type="http://schemas.openxmlformats.org/officeDocument/2006/relationships/image" Target="../media/image471.png"/><Relationship Id="rId8" Type="http://schemas.openxmlformats.org/officeDocument/2006/relationships/image" Target="../media/image472.png"/><Relationship Id="rId9" Type="http://schemas.openxmlformats.org/officeDocument/2006/relationships/image" Target="../media/image473.png"/><Relationship Id="rId10" Type="http://schemas.openxmlformats.org/officeDocument/2006/relationships/image" Target="../media/image474.png"/><Relationship Id="rId11" Type="http://schemas.openxmlformats.org/officeDocument/2006/relationships/image" Target="../media/image475.png"/><Relationship Id="rId12" Type="http://schemas.openxmlformats.org/officeDocument/2006/relationships/image" Target="../media/image282.png"/><Relationship Id="rId13" Type="http://schemas.openxmlformats.org/officeDocument/2006/relationships/image" Target="../media/image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6.xml"/><Relationship Id="rId4" Type="http://schemas.openxmlformats.org/officeDocument/2006/relationships/chart" Target="../charts/chart77.xml"/><Relationship Id="rId5" Type="http://schemas.openxmlformats.org/officeDocument/2006/relationships/notesSlide" Target="../notesSlides/notesSlide124.xml"/><Relationship Id="rId6" Type="http://schemas.openxmlformats.org/officeDocument/2006/relationships/image" Target="../media/image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8.xml"/><Relationship Id="rId4" Type="http://schemas.openxmlformats.org/officeDocument/2006/relationships/chart" Target="../charts/chart79.xml"/><Relationship Id="rId5" Type="http://schemas.openxmlformats.org/officeDocument/2006/relationships/chart" Target="../charts/chart80.xml"/><Relationship Id="rId6" Type="http://schemas.openxmlformats.org/officeDocument/2006/relationships/notesSlide" Target="../notesSlides/notesSlide125.xml"/><Relationship Id="rId7" Type="http://schemas.openxmlformats.org/officeDocument/2006/relationships/image" Target="../media/image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 Id="rId4" Type="http://schemas.openxmlformats.org/officeDocument/2006/relationships/image" Target="../media/image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1.xml"/><Relationship Id="rId4" Type="http://schemas.openxmlformats.org/officeDocument/2006/relationships/notesSlide" Target="../notesSlides/notesSlide130.xml"/><Relationship Id="rId5" Type="http://schemas.openxmlformats.org/officeDocument/2006/relationships/image" Target="../media/image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 Id="rId4" Type="http://schemas.openxmlformats.org/officeDocument/2006/relationships/image" Target="../media/image491.png"/><Relationship Id="rId5" Type="http://schemas.openxmlformats.org/officeDocument/2006/relationships/image" Target="../media/image375.png"/><Relationship Id="rId6" Type="http://schemas.openxmlformats.org/officeDocument/2006/relationships/image" Target="../media/image215.png"/><Relationship Id="rId7" Type="http://schemas.openxmlformats.org/officeDocument/2006/relationships/image" Target="../media/image492.png"/><Relationship Id="rId8" Type="http://schemas.openxmlformats.org/officeDocument/2006/relationships/image" Target="../media/image374.png"/><Relationship Id="rId9" Type="http://schemas.openxmlformats.org/officeDocument/2006/relationships/image" Target="../media/image493.png"/><Relationship Id="rId10" Type="http://schemas.openxmlformats.org/officeDocument/2006/relationships/image" Target="../media/image494.png"/><Relationship Id="rId11" Type="http://schemas.openxmlformats.org/officeDocument/2006/relationships/image" Target="../media/image376.png"/><Relationship Id="rId12" Type="http://schemas.openxmlformats.org/officeDocument/2006/relationships/image" Target="../media/image495.png"/><Relationship Id="rId13"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2.xml"/><Relationship Id="rId4" Type="http://schemas.openxmlformats.org/officeDocument/2006/relationships/chart" Target="../charts/chart83.xml"/><Relationship Id="rId5" Type="http://schemas.openxmlformats.org/officeDocument/2006/relationships/notesSlide" Target="../notesSlides/notesSlide136.xml"/><Relationship Id="rId6" Type="http://schemas.openxmlformats.org/officeDocument/2006/relationships/image" Target="../media/image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4.xml"/><Relationship Id="rId4" Type="http://schemas.openxmlformats.org/officeDocument/2006/relationships/chart" Target="../charts/chart85.xml"/><Relationship Id="rId5" Type="http://schemas.openxmlformats.org/officeDocument/2006/relationships/chart" Target="../charts/chart86.xml"/><Relationship Id="rId6" Type="http://schemas.openxmlformats.org/officeDocument/2006/relationships/notesSlide" Target="../notesSlides/notesSlide137.xml"/><Relationship Id="rId7" Type="http://schemas.openxmlformats.org/officeDocument/2006/relationships/image" Target="../media/image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 Id="rId4"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7.xml"/><Relationship Id="rId4" Type="http://schemas.openxmlformats.org/officeDocument/2006/relationships/notesSlide" Target="../notesSlides/notesSlide140.xml"/><Relationship Id="rId5"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 Id="rId4" Type="http://schemas.openxmlformats.org/officeDocument/2006/relationships/image" Target="../media/image511.png"/><Relationship Id="rId5" Type="http://schemas.openxmlformats.org/officeDocument/2006/relationships/image" Target="../media/image512.png"/><Relationship Id="rId6" Type="http://schemas.openxmlformats.org/officeDocument/2006/relationships/image" Target="../media/image513.png"/><Relationship Id="rId7" Type="http://schemas.openxmlformats.org/officeDocument/2006/relationships/image" Target="../media/image514.png"/><Relationship Id="rId8" Type="http://schemas.openxmlformats.org/officeDocument/2006/relationships/image" Target="../media/image515.png"/><Relationship Id="rId9" Type="http://schemas.openxmlformats.org/officeDocument/2006/relationships/image" Target="../media/image71.png"/><Relationship Id="rId10" Type="http://schemas.openxmlformats.org/officeDocument/2006/relationships/image" Target="../media/image516.png"/><Relationship Id="rId11" Type="http://schemas.openxmlformats.org/officeDocument/2006/relationships/image" Target="../media/image517.png"/><Relationship Id="rId12" Type="http://schemas.openxmlformats.org/officeDocument/2006/relationships/image" Target="../media/image518.png"/><Relationship Id="rId13" Type="http://schemas.openxmlformats.org/officeDocument/2006/relationships/image" Target="../media/image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8.xml"/><Relationship Id="rId4" Type="http://schemas.openxmlformats.org/officeDocument/2006/relationships/chart" Target="../charts/chart89.xml"/><Relationship Id="rId5" Type="http://schemas.openxmlformats.org/officeDocument/2006/relationships/notesSlide" Target="../notesSlides/notesSlide144.xml"/><Relationship Id="rId6" Type="http://schemas.openxmlformats.org/officeDocument/2006/relationships/image" Target="../media/image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0.xml"/><Relationship Id="rId4" Type="http://schemas.openxmlformats.org/officeDocument/2006/relationships/chart" Target="../charts/chart91.xml"/><Relationship Id="rId5" Type="http://schemas.openxmlformats.org/officeDocument/2006/relationships/chart" Target="../charts/chart92.xml"/><Relationship Id="rId6" Type="http://schemas.openxmlformats.org/officeDocument/2006/relationships/notesSlide" Target="../notesSlides/notesSlide145.xml"/><Relationship Id="rId7" Type="http://schemas.openxmlformats.org/officeDocument/2006/relationships/image" Target="../media/image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 Id="rId4"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3.xml"/><Relationship Id="rId4" Type="http://schemas.openxmlformats.org/officeDocument/2006/relationships/notesSlide" Target="../notesSlides/notesSlide148.xml"/><Relationship Id="rId5" Type="http://schemas.openxmlformats.org/officeDocument/2006/relationships/image" Target="../media/image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146.png"/><Relationship Id="rId7" Type="http://schemas.openxmlformats.org/officeDocument/2006/relationships/image" Target="../media/image536.png"/><Relationship Id="rId8" Type="http://schemas.openxmlformats.org/officeDocument/2006/relationships/image" Target="../media/image537.png"/><Relationship Id="rId9" Type="http://schemas.openxmlformats.org/officeDocument/2006/relationships/image" Target="../media/image65.png"/><Relationship Id="rId10" Type="http://schemas.openxmlformats.org/officeDocument/2006/relationships/image" Target="../media/image538.png"/><Relationship Id="rId11" Type="http://schemas.openxmlformats.org/officeDocument/2006/relationships/image" Target="../media/image539.png"/><Relationship Id="rId12" Type="http://schemas.openxmlformats.org/officeDocument/2006/relationships/image" Target="../media/image77.png"/><Relationship Id="rId13" Type="http://schemas.openxmlformats.org/officeDocument/2006/relationships/image" Target="../media/image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4.xml"/><Relationship Id="rId4" Type="http://schemas.openxmlformats.org/officeDocument/2006/relationships/chart" Target="../charts/chart95.xml"/><Relationship Id="rId5" Type="http://schemas.openxmlformats.org/officeDocument/2006/relationships/notesSlide" Target="../notesSlides/notesSlide152.xml"/><Relationship Id="rId6" Type="http://schemas.openxmlformats.org/officeDocument/2006/relationships/image" Target="../media/image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6.xml"/><Relationship Id="rId4" Type="http://schemas.openxmlformats.org/officeDocument/2006/relationships/chart" Target="../charts/chart97.xml"/><Relationship Id="rId5" Type="http://schemas.openxmlformats.org/officeDocument/2006/relationships/chart" Target="../charts/chart98.xml"/><Relationship Id="rId6" Type="http://schemas.openxmlformats.org/officeDocument/2006/relationships/notesSlide" Target="../notesSlides/notesSlide153.xml"/><Relationship Id="rId7"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 Id="rId4" Type="http://schemas.openxmlformats.org/officeDocument/2006/relationships/image" Target="../media/image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9.xml"/><Relationship Id="rId4" Type="http://schemas.openxmlformats.org/officeDocument/2006/relationships/notesSlide" Target="../notesSlides/notesSlide156.xml"/><Relationship Id="rId5" Type="http://schemas.openxmlformats.org/officeDocument/2006/relationships/image" Target="../media/image2.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 Id="rId4" Type="http://schemas.openxmlformats.org/officeDocument/2006/relationships/image" Target="../media/image555.png"/><Relationship Id="rId5" Type="http://schemas.openxmlformats.org/officeDocument/2006/relationships/image" Target="../media/image556.png"/><Relationship Id="rId6" Type="http://schemas.openxmlformats.org/officeDocument/2006/relationships/image" Target="../media/image513.png"/><Relationship Id="rId7" Type="http://schemas.openxmlformats.org/officeDocument/2006/relationships/image" Target="../media/image557.png"/><Relationship Id="rId8" Type="http://schemas.openxmlformats.org/officeDocument/2006/relationships/image" Target="../media/image558.png"/><Relationship Id="rId9" Type="http://schemas.openxmlformats.org/officeDocument/2006/relationships/image" Target="../media/image559.png"/><Relationship Id="rId10" Type="http://schemas.openxmlformats.org/officeDocument/2006/relationships/image" Target="../media/image560.png"/><Relationship Id="rId11" Type="http://schemas.openxmlformats.org/officeDocument/2006/relationships/image" Target="../media/image561.png"/><Relationship Id="rId12" Type="http://schemas.openxmlformats.org/officeDocument/2006/relationships/image" Target="../media/image562.png"/><Relationship Id="rId13" Type="http://schemas.openxmlformats.org/officeDocument/2006/relationships/image" Target="../media/image563.png"/><Relationship Id="rId14" Type="http://schemas.openxmlformats.org/officeDocument/2006/relationships/image" Target="../media/image564.png"/><Relationship Id="rId15" Type="http://schemas.openxmlformats.org/officeDocument/2006/relationships/image" Target="../media/image565.png"/><Relationship Id="rId16" Type="http://schemas.openxmlformats.org/officeDocument/2006/relationships/image" Target="../media/image566.png"/><Relationship Id="rId17" Type="http://schemas.openxmlformats.org/officeDocument/2006/relationships/image" Target="../media/image567.png"/><Relationship Id="rId18" Type="http://schemas.openxmlformats.org/officeDocument/2006/relationships/image" Target="../media/image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0.xml"/><Relationship Id="rId4" Type="http://schemas.openxmlformats.org/officeDocument/2006/relationships/chart" Target="../charts/chart101.xml"/><Relationship Id="rId5" Type="http://schemas.openxmlformats.org/officeDocument/2006/relationships/notesSlide" Target="../notesSlides/notesSlide160.xml"/><Relationship Id="rId6" Type="http://schemas.openxmlformats.org/officeDocument/2006/relationships/image" Target="../media/image2.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2.xml"/><Relationship Id="rId4" Type="http://schemas.openxmlformats.org/officeDocument/2006/relationships/chart" Target="../charts/chart103.xml"/><Relationship Id="rId5" Type="http://schemas.openxmlformats.org/officeDocument/2006/relationships/chart" Target="../charts/chart104.xml"/><Relationship Id="rId6" Type="http://schemas.openxmlformats.org/officeDocument/2006/relationships/chart" Target="../charts/chart105.xml"/><Relationship Id="rId7" Type="http://schemas.openxmlformats.org/officeDocument/2006/relationships/notesSlide" Target="../notesSlides/notesSlide161.xml"/><Relationship Id="rId8" Type="http://schemas.openxmlformats.org/officeDocument/2006/relationships/image" Target="../media/image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6.xml"/><Relationship Id="rId4" Type="http://schemas.openxmlformats.org/officeDocument/2006/relationships/notesSlide" Target="../notesSlides/notesSlide162.xml"/><Relationship Id="rId5" Type="http://schemas.openxmlformats.org/officeDocument/2006/relationships/image" Target="../media/image2.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 Id="rId4" Type="http://schemas.openxmlformats.org/officeDocument/2006/relationships/image" Target="../media/image2.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7.xml"/><Relationship Id="rId4" Type="http://schemas.openxmlformats.org/officeDocument/2006/relationships/notesSlide" Target="../notesSlides/notesSlide165.xml"/><Relationship Id="rId5" Type="http://schemas.openxmlformats.org/officeDocument/2006/relationships/image" Target="../media/image2.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 Id="rId4" Type="http://schemas.openxmlformats.org/officeDocument/2006/relationships/image" Target="../media/image2.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 Id="rId4" Type="http://schemas.openxmlformats.org/officeDocument/2006/relationships/image" Target="../media/image2.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 Id="rId4" Type="http://schemas.openxmlformats.org/officeDocument/2006/relationships/image" Target="../media/image2.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8.xml"/><Relationship Id="rId4" Type="http://schemas.openxmlformats.org/officeDocument/2006/relationships/notesSlide" Target="../notesSlides/notesSlide171.xml"/><Relationship Id="rId5" Type="http://schemas.openxmlformats.org/officeDocument/2006/relationships/image" Target="../media/image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2.xml"/><Relationship Id="rId4" Type="http://schemas.openxmlformats.org/officeDocument/2006/relationships/image" Target="../media/image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3.xml"/><Relationship Id="rId4" Type="http://schemas.openxmlformats.org/officeDocument/2006/relationships/image" Target="../media/image2.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 Id="rId4" Type="http://schemas.openxmlformats.org/officeDocument/2006/relationships/image" Target="../media/image2.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 Id="rId4" Type="http://schemas.openxmlformats.org/officeDocument/2006/relationships/image" Target="../media/image2.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9.xml"/><Relationship Id="rId4" Type="http://schemas.openxmlformats.org/officeDocument/2006/relationships/notesSlide" Target="../notesSlides/notesSlide176.xml"/><Relationship Id="rId5" Type="http://schemas.openxmlformats.org/officeDocument/2006/relationships/image" Target="../media/image2.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7.xml"/><Relationship Id="rId4" Type="http://schemas.openxmlformats.org/officeDocument/2006/relationships/image" Target="../media/image2.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8.xml"/><Relationship Id="rId4" Type="http://schemas.openxmlformats.org/officeDocument/2006/relationships/image" Target="../media/image2.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9.xml"/><Relationship Id="rId4" Type="http://schemas.openxmlformats.org/officeDocument/2006/relationships/image" Target="../media/image2.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0.xml"/><Relationship Id="rId4" Type="http://schemas.openxmlformats.org/officeDocument/2006/relationships/image" Target="../media/image2.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1.xml"/><Relationship Id="rId4" Type="http://schemas.openxmlformats.org/officeDocument/2006/relationships/image" Target="../media/image2.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0.xml"/><Relationship Id="rId4" Type="http://schemas.openxmlformats.org/officeDocument/2006/relationships/notesSlide" Target="../notesSlides/notesSlide182.xml"/><Relationship Id="rId5" Type="http://schemas.openxmlformats.org/officeDocument/2006/relationships/image" Target="../media/image2.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 Id="rId4" Type="http://schemas.openxmlformats.org/officeDocument/2006/relationships/image" Target="../media/image2.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 Id="rId4" Type="http://schemas.openxmlformats.org/officeDocument/2006/relationships/image" Target="../media/image2.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1.xml"/><Relationship Id="rId4" Type="http://schemas.openxmlformats.org/officeDocument/2006/relationships/chart" Target="../charts/chart112.xml"/><Relationship Id="rId5" Type="http://schemas.openxmlformats.org/officeDocument/2006/relationships/chart" Target="../charts/chart113.xml"/><Relationship Id="rId6" Type="http://schemas.openxmlformats.org/officeDocument/2006/relationships/chart" Target="../charts/chart114.xml"/><Relationship Id="rId7" Type="http://schemas.openxmlformats.org/officeDocument/2006/relationships/notesSlide" Target="../notesSlides/notesSlide186.xml"/><Relationship Id="rId8" Type="http://schemas.openxmlformats.org/officeDocument/2006/relationships/image" Target="../media/image2.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5.xml"/><Relationship Id="rId4" Type="http://schemas.openxmlformats.org/officeDocument/2006/relationships/chart" Target="../charts/chart116.xml"/><Relationship Id="rId5" Type="http://schemas.openxmlformats.org/officeDocument/2006/relationships/chart" Target="../charts/chart117.xml"/><Relationship Id="rId6" Type="http://schemas.openxmlformats.org/officeDocument/2006/relationships/chart" Target="../charts/chart118.xml"/><Relationship Id="rId7" Type="http://schemas.openxmlformats.org/officeDocument/2006/relationships/notesSlide" Target="../notesSlides/notesSlide187.xml"/><Relationship Id="rId8" Type="http://schemas.openxmlformats.org/officeDocument/2006/relationships/image" Target="../media/image2.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9.xml"/><Relationship Id="rId4" Type="http://schemas.openxmlformats.org/officeDocument/2006/relationships/chart" Target="../charts/chart120.xml"/><Relationship Id="rId5" Type="http://schemas.openxmlformats.org/officeDocument/2006/relationships/chart" Target="../charts/chart121.xml"/><Relationship Id="rId6" Type="http://schemas.openxmlformats.org/officeDocument/2006/relationships/chart" Target="../charts/chart122.xml"/><Relationship Id="rId7" Type="http://schemas.openxmlformats.org/officeDocument/2006/relationships/chart" Target="../charts/chart123.xml"/><Relationship Id="rId8" Type="http://schemas.openxmlformats.org/officeDocument/2006/relationships/chart" Target="../charts/chart124.xml"/><Relationship Id="rId9" Type="http://schemas.openxmlformats.org/officeDocument/2006/relationships/notesSlide" Target="../notesSlides/notesSlide188.xml"/><Relationship Id="rId10" Type="http://schemas.openxmlformats.org/officeDocument/2006/relationships/image" Target="../media/image2.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5.xml"/><Relationship Id="rId4" Type="http://schemas.openxmlformats.org/officeDocument/2006/relationships/chart" Target="../charts/chart126.xml"/><Relationship Id="rId5" Type="http://schemas.openxmlformats.org/officeDocument/2006/relationships/notesSlide" Target="../notesSlides/notesSlide189.xml"/><Relationship Id="rId6" Type="http://schemas.openxmlformats.org/officeDocument/2006/relationships/image" Target="../media/image2.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 Id="rId4" Type="http://schemas.openxmlformats.org/officeDocument/2006/relationships/image" Target="../media/image2.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7.xml"/><Relationship Id="rId4" Type="http://schemas.openxmlformats.org/officeDocument/2006/relationships/chart" Target="../charts/chart128.xml"/><Relationship Id="rId5" Type="http://schemas.openxmlformats.org/officeDocument/2006/relationships/notesSlide" Target="../notesSlides/notesSlide192.xml"/><Relationship Id="rId6" Type="http://schemas.openxmlformats.org/officeDocument/2006/relationships/image" Target="../media/image2.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 Id="rId4" Type="http://schemas.openxmlformats.org/officeDocument/2006/relationships/image" Target="../media/image2.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9.xml"/><Relationship Id="rId4" Type="http://schemas.openxmlformats.org/officeDocument/2006/relationships/chart" Target="../charts/chart130.xml"/><Relationship Id="rId5" Type="http://schemas.openxmlformats.org/officeDocument/2006/relationships/notesSlide" Target="../notesSlides/notesSlide197.xml"/><Relationship Id="rId6" Type="http://schemas.openxmlformats.org/officeDocument/2006/relationships/image" Target="../media/image2.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 Id="rId4" Type="http://schemas.openxmlformats.org/officeDocument/2006/relationships/image" Target="../media/image2.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1.xml"/><Relationship Id="rId4" Type="http://schemas.openxmlformats.org/officeDocument/2006/relationships/chart" Target="../charts/chart132.xml"/><Relationship Id="rId5" Type="http://schemas.openxmlformats.org/officeDocument/2006/relationships/notesSlide" Target="../notesSlides/notesSlide202.xml"/><Relationship Id="rId6" Type="http://schemas.openxmlformats.org/officeDocument/2006/relationships/image" Target="../media/image2.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 Id="rId4" Type="http://schemas.openxmlformats.org/officeDocument/2006/relationships/image" Target="../media/image2.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3.xml"/><Relationship Id="rId4" Type="http://schemas.openxmlformats.org/officeDocument/2006/relationships/chart" Target="../charts/chart134.xml"/><Relationship Id="rId5" Type="http://schemas.openxmlformats.org/officeDocument/2006/relationships/notesSlide" Target="../notesSlides/notesSlide206.xml"/><Relationship Id="rId6" Type="http://schemas.openxmlformats.org/officeDocument/2006/relationships/image" Target="../media/image2.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 Id="rId4" Type="http://schemas.openxmlformats.org/officeDocument/2006/relationships/image" Target="../media/image2.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5.xml"/><Relationship Id="rId4" Type="http://schemas.openxmlformats.org/officeDocument/2006/relationships/chart" Target="../charts/chart136.xml"/><Relationship Id="rId5" Type="http://schemas.openxmlformats.org/officeDocument/2006/relationships/notesSlide" Target="../notesSlides/notesSlide209.xml"/><Relationship Id="rId6" Type="http://schemas.openxmlformats.org/officeDocument/2006/relationships/image" Target="../media/image2.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 Id="rId4" Type="http://schemas.openxmlformats.org/officeDocument/2006/relationships/image" Target="../media/image2.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 Id="rId4" Type="http://schemas.openxmlformats.org/officeDocument/2006/relationships/image" Target="../media/image2.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 Id="rId4" Type="http://schemas.openxmlformats.org/officeDocument/2006/relationships/image" Target="../media/image2.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 Id="rId4" Type="http://schemas.openxmlformats.org/officeDocument/2006/relationships/image" Target="../media/image2.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7.xml"/><Relationship Id="rId4" Type="http://schemas.openxmlformats.org/officeDocument/2006/relationships/notesSlide" Target="../notesSlides/notesSlide215.xml"/><Relationship Id="rId5" Type="http://schemas.openxmlformats.org/officeDocument/2006/relationships/image" Target="../media/image2.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6.xml"/><Relationship Id="rId4" Type="http://schemas.openxmlformats.org/officeDocument/2006/relationships/image" Target="../media/image2.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 Id="rId4" Type="http://schemas.openxmlformats.org/officeDocument/2006/relationships/image" Target="../media/image2.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 Id="rId4" Type="http://schemas.openxmlformats.org/officeDocument/2006/relationships/image" Target="../media/image2.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 Id="rId4" Type="http://schemas.openxmlformats.org/officeDocument/2006/relationships/image" Target="../media/image2.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8.xml"/><Relationship Id="rId4" Type="http://schemas.openxmlformats.org/officeDocument/2006/relationships/notesSlide" Target="../notesSlides/notesSlide220.xml"/><Relationship Id="rId5" Type="http://schemas.openxmlformats.org/officeDocument/2006/relationships/image" Target="../media/image2.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1.xml"/><Relationship Id="rId4" Type="http://schemas.openxmlformats.org/officeDocument/2006/relationships/image" Target="../media/image2.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 Id="rId4" Type="http://schemas.openxmlformats.org/officeDocument/2006/relationships/image" Target="../media/image2.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 Id="rId4" Type="http://schemas.openxmlformats.org/officeDocument/2006/relationships/image" Target="../media/image2.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 Id="rId4" Type="http://schemas.openxmlformats.org/officeDocument/2006/relationships/image" Target="../media/image2.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5.xml"/><Relationship Id="rId4" Type="http://schemas.openxmlformats.org/officeDocument/2006/relationships/image" Target="../media/image2.pn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9.xml"/><Relationship Id="rId4" Type="http://schemas.openxmlformats.org/officeDocument/2006/relationships/notesSlide" Target="../notesSlides/notesSlide226.xml"/><Relationship Id="rId5" Type="http://schemas.openxmlformats.org/officeDocument/2006/relationships/image" Target="../media/image2.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7.xml"/><Relationship Id="rId4" Type="http://schemas.openxmlformats.org/officeDocument/2006/relationships/image" Target="../media/image2.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8.xml"/><Relationship Id="rId4" Type="http://schemas.openxmlformats.org/officeDocument/2006/relationships/image" Target="../media/image2.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9.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0.xml"/><Relationship Id="rId4" Type="http://schemas.openxmlformats.org/officeDocument/2006/relationships/image" Target="../media/image2.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0.xml"/><Relationship Id="rId4" Type="http://schemas.openxmlformats.org/officeDocument/2006/relationships/chart" Target="../charts/chart141.xml"/><Relationship Id="rId5" Type="http://schemas.openxmlformats.org/officeDocument/2006/relationships/notesSlide" Target="../notesSlides/notesSlide231.xml"/><Relationship Id="rId6" Type="http://schemas.openxmlformats.org/officeDocument/2006/relationships/image" Target="../media/image2.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2.xml"/><Relationship Id="rId4" Type="http://schemas.openxmlformats.org/officeDocument/2006/relationships/notesSlide" Target="../notesSlides/notesSlide232.xml"/><Relationship Id="rId5" Type="http://schemas.openxmlformats.org/officeDocument/2006/relationships/image" Target="../media/image2.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3.xml"/><Relationship Id="rId4" Type="http://schemas.openxmlformats.org/officeDocument/2006/relationships/notesSlide" Target="../notesSlides/notesSlide233.xml"/><Relationship Id="rId5" Type="http://schemas.openxmlformats.org/officeDocument/2006/relationships/image" Target="../media/image2.png"/></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4.xml"/><Relationship Id="rId4" Type="http://schemas.openxmlformats.org/officeDocument/2006/relationships/image" Target="../media/image2.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5.xml"/><Relationship Id="rId4" Type="http://schemas.openxmlformats.org/officeDocument/2006/relationships/image" Target="../media/image2.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6.xml"/><Relationship Id="rId4" Type="http://schemas.openxmlformats.org/officeDocument/2006/relationships/image" Target="../media/image2.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7.xml"/><Relationship Id="rId4" Type="http://schemas.openxmlformats.org/officeDocument/2006/relationships/image" Target="../media/image2.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8.xml"/><Relationship Id="rId4" Type="http://schemas.openxmlformats.org/officeDocument/2006/relationships/image" Target="../media/image2.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9.xml"/><Relationship Id="rId4" Type="http://schemas.openxmlformats.org/officeDocument/2006/relationships/image" Target="../media/image2.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0.xml"/><Relationship Id="rId4" Type="http://schemas.openxmlformats.org/officeDocument/2006/relationships/image" Target="../media/image2.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2.xml"/><Relationship Id="rId4" Type="http://schemas.openxmlformats.org/officeDocument/2006/relationships/image" Target="../media/image2.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3.xml"/><Relationship Id="rId4" Type="http://schemas.openxmlformats.org/officeDocument/2006/relationships/image" Target="../media/image2.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4.xml"/><Relationship Id="rId4" Type="http://schemas.openxmlformats.org/officeDocument/2006/relationships/image" Target="../media/image2.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5.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6.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8.xml"/><Relationship Id="rId4" Type="http://schemas.openxmlformats.org/officeDocument/2006/relationships/image" Target="../media/image2.png"/></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9.xml"/><Relationship Id="rId4" Type="http://schemas.openxmlformats.org/officeDocument/2006/relationships/image" Target="../media/image2.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0.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1.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3.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4.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5.xml"/><Relationship Id="rId4" Type="http://schemas.openxmlformats.org/officeDocument/2006/relationships/image" Target="../media/image2.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6.xml"/><Relationship Id="rId4" Type="http://schemas.openxmlformats.org/officeDocument/2006/relationships/image" Target="../media/image2.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7.xml"/><Relationship Id="rId4" Type="http://schemas.openxmlformats.org/officeDocument/2006/relationships/image" Target="../media/image2.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8.xml"/><Relationship Id="rId4" Type="http://schemas.openxmlformats.org/officeDocument/2006/relationships/image" Target="../media/image2.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9.xml"/><Relationship Id="rId4" Type="http://schemas.openxmlformats.org/officeDocument/2006/relationships/image" Target="../media/image2.png"/></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0.xml"/><Relationship Id="rId4" Type="http://schemas.openxmlformats.org/officeDocument/2006/relationships/image" Target="../media/image2.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1.xml"/><Relationship Id="rId4" Type="http://schemas.openxmlformats.org/officeDocument/2006/relationships/image" Target="../media/image2.png"/></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2.xml"/><Relationship Id="rId4" Type="http://schemas.openxmlformats.org/officeDocument/2006/relationships/image" Target="../media/image2.png"/></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3.xml"/><Relationship Id="rId4" Type="http://schemas.openxmlformats.org/officeDocument/2006/relationships/image" Target="../media/image2.png"/></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4.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5.xml"/><Relationship Id="rId4" Type="http://schemas.openxmlformats.org/officeDocument/2006/relationships/image" Target="../media/image2.png"/></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6.xml"/><Relationship Id="rId4" Type="http://schemas.openxmlformats.org/officeDocument/2006/relationships/image" Target="../media/image2.pn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7.xml"/><Relationship Id="rId4" Type="http://schemas.openxmlformats.org/officeDocument/2006/relationships/image" Target="../media/image2.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8.xml"/><Relationship Id="rId4" Type="http://schemas.openxmlformats.org/officeDocument/2006/relationships/image" Target="../media/image2.pn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4.xml"/><Relationship Id="rId4" Type="http://schemas.openxmlformats.org/officeDocument/2006/relationships/notesSlide" Target="../notesSlides/notesSlide269.xml"/><Relationship Id="rId5" Type="http://schemas.openxmlformats.org/officeDocument/2006/relationships/image" Target="../media/image2.pn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5.xml"/><Relationship Id="rId4" Type="http://schemas.openxmlformats.org/officeDocument/2006/relationships/chart" Target="../charts/chart146.xml"/><Relationship Id="rId5" Type="http://schemas.openxmlformats.org/officeDocument/2006/relationships/chart" Target="../charts/chart147.xml"/><Relationship Id="rId6" Type="http://schemas.openxmlformats.org/officeDocument/2006/relationships/notesSlide" Target="../notesSlides/notesSlide270.xml"/><Relationship Id="rId7" Type="http://schemas.openxmlformats.org/officeDocument/2006/relationships/image" Target="../media/image2.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8.xml"/><Relationship Id="rId4" Type="http://schemas.openxmlformats.org/officeDocument/2006/relationships/chart" Target="../charts/chart149.xml"/><Relationship Id="rId5" Type="http://schemas.openxmlformats.org/officeDocument/2006/relationships/chart" Target="../charts/chart150.xml"/><Relationship Id="rId6" Type="http://schemas.openxmlformats.org/officeDocument/2006/relationships/notesSlide" Target="../notesSlides/notesSlide271.xml"/><Relationship Id="rId7" Type="http://schemas.openxmlformats.org/officeDocument/2006/relationships/image" Target="../media/image2.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2.xml"/><Relationship Id="rId4" Type="http://schemas.openxmlformats.org/officeDocument/2006/relationships/image" Target="../media/image2.png"/></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1.xml"/><Relationship Id="rId4" Type="http://schemas.openxmlformats.org/officeDocument/2006/relationships/chart" Target="../charts/chart152.xml"/><Relationship Id="rId5" Type="http://schemas.openxmlformats.org/officeDocument/2006/relationships/chart" Target="../charts/chart153.xml"/><Relationship Id="rId6" Type="http://schemas.openxmlformats.org/officeDocument/2006/relationships/notesSlide" Target="../notesSlides/notesSlide273.xml"/><Relationship Id="rId7" Type="http://schemas.openxmlformats.org/officeDocument/2006/relationships/image" Target="../media/image2.png"/></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4.xml"/><Relationship Id="rId4" Type="http://schemas.openxmlformats.org/officeDocument/2006/relationships/notesSlide" Target="../notesSlides/notesSlide274.xml"/><Relationship Id="rId5" Type="http://schemas.openxmlformats.org/officeDocument/2006/relationships/image" Target="../media/image2.png"/></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5.xml"/><Relationship Id="rId4" Type="http://schemas.openxmlformats.org/officeDocument/2006/relationships/image" Target="../media/image2.png"/></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6.xml"/><Relationship Id="rId4" Type="http://schemas.openxmlformats.org/officeDocument/2006/relationships/image" Target="../media/image2.png"/></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7.xml"/><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905000" y="4476750"/>
            <a:ext cx="5334000" cy="5334000"/>
          </a:xfrm>
          <a:prstGeom prst="ellipse">
            <a:avLst/>
          </a:prstGeom>
          <a:solidFill>
            <a:srgbClr val="EA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01000" y="-2000250"/>
            <a:ext cx="5334000" cy="533400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15375" y="-1285875"/>
            <a:ext cx="3905250" cy="390525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82125" y="-619125"/>
            <a:ext cx="2571750" cy="257175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96500" y="95250"/>
            <a:ext cx="1143000" cy="1143000"/>
          </a:xfrm>
          <a:prstGeom prst="ellipse">
            <a:avLst/>
          </a:prstGeom>
          <a:solidFill>
            <a:srgbClr val="EAF6F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010650" y="5848350"/>
            <a:ext cx="228600" cy="2476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91650" y="5676900"/>
            <a:ext cx="228600" cy="4191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72650" y="5772150"/>
            <a:ext cx="228600" cy="3238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153650" y="5524500"/>
            <a:ext cx="228600" cy="5715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34650" y="5314950"/>
            <a:ext cx="228600" cy="7810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15650" y="5600700"/>
            <a:ext cx="228600" cy="4953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296650" y="5181600"/>
            <a:ext cx="228600" cy="9144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mi_logo_template.png"/>
          <p:cNvPicPr>
            <a:picLocks noChangeAspect="1"/>
          </p:cNvPicPr>
          <p:nvPr/>
        </p:nvPicPr>
        <p:blipFill>
          <a:blip r:embed="rId2"/>
          <a:stretch>
            <a:fillRect/>
          </a:stretch>
        </p:blipFill>
        <p:spPr>
          <a:xfrm>
            <a:off x="914400" y="381000"/>
            <a:ext cx="1307592" cy="1325880"/>
          </a:xfrm>
          <a:prstGeom prst="rect">
            <a:avLst/>
          </a:prstGeom>
        </p:spPr>
      </p:pic>
      <p:sp>
        <p:nvSpPr>
          <p:cNvPr id="16" name="TextBox 15"/>
          <p:cNvSpPr txBox="1"/>
          <p:nvPr/>
        </p:nvSpPr>
        <p:spPr>
          <a:xfrm>
            <a:off x="1143000" y="2667000"/>
            <a:ext cx="9334500" cy="1809750"/>
          </a:xfrm>
          <a:prstGeom prst="rect">
            <a:avLst/>
          </a:prstGeom>
          <a:noFill/>
        </p:spPr>
        <p:txBody>
          <a:bodyPr wrap="square" lIns="28575" rIns="28575" tIns="9525" bIns="9525" anchor="ctr">
            <a:spAutoFit/>
          </a:bodyPr>
          <a:lstStyle/>
          <a:p>
            <a:pPr algn="l"/>
            <a:r>
              <a:rPr sz="3400" b="1">
                <a:solidFill>
                  <a:srgbClr val="0B2E4A"/>
                </a:solidFill>
                <a:latin typeface="Calibri"/>
              </a:rPr>
              <a:t>Global Allergy Immunotherapy Market</a:t>
            </a:r>
          </a:p>
        </p:txBody>
      </p:sp>
      <p:sp>
        <p:nvSpPr>
          <p:cNvPr id="17" name="TextBox 16"/>
          <p:cNvSpPr txBox="1"/>
          <p:nvPr/>
        </p:nvSpPr>
        <p:spPr>
          <a:xfrm>
            <a:off x="1162050" y="4686300"/>
            <a:ext cx="9334500" cy="857250"/>
          </a:xfrm>
          <a:prstGeom prst="rect">
            <a:avLst/>
          </a:prstGeom>
          <a:noFill/>
        </p:spPr>
        <p:txBody>
          <a:bodyPr wrap="square" lIns="28575" rIns="28575" tIns="9525" bIns="9525">
            <a:spAutoFit/>
          </a:bodyPr>
          <a:lstStyle/>
          <a:p>
            <a:pPr algn="l"/>
            <a:r>
              <a:rPr sz="1600" b="0">
                <a:solidFill>
                  <a:srgbClr val="6C7A89"/>
                </a:solidFill>
                <a:latin typeface="Calibri"/>
              </a:rPr>
              <a:t>Value (US$ Mn) and Volume (Patient Treatment Courses) Analysis and Forecast, 2021–2036</a:t>
            </a:r>
          </a:p>
          <a:p>
            <a:pPr algn="l"/>
            <a:r>
              <a:rPr sz="1100" b="0">
                <a:solidFill>
                  <a:srgbClr val="8FCBE6"/>
                </a:solidFill>
                <a:latin typeface="Calibri"/>
              </a:rPr>
              <a:t>Region focus: Global   ·   Country focus: U.S.   ·   Generated 13 Oct 2026   ·   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10" name="Rounded Rectangle 9">
            <a:hlinkClick action="ppaction://hlinksldjump" r:id="rId3"/>
          </p:cNvPr>
          <p:cNvSpPr/>
          <p:nvPr/>
        </p:nvSpPr>
        <p:spPr>
          <a:xfrm>
            <a:off x="314325" y="11334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 Market Signals</a:t>
            </a:r>
          </a:p>
        </p:txBody>
      </p:sp>
      <p:sp>
        <p:nvSpPr>
          <p:cNvPr id="11" name="Rounded Rectangle 10">
            <a:hlinkClick action="ppaction://hlinksldjump" r:id="rId4"/>
          </p:cNvPr>
          <p:cNvSpPr/>
          <p:nvPr/>
        </p:nvSpPr>
        <p:spPr>
          <a:xfrm>
            <a:off x="142875" y="145732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Overview</a:t>
            </a:r>
          </a:p>
        </p:txBody>
      </p:sp>
      <p:sp>
        <p:nvSpPr>
          <p:cNvPr id="12" name="Rounded Rectangle 11">
            <a:hlinkClick action="ppaction://hlinksldjump" r:id="rId5"/>
          </p:cNvPr>
          <p:cNvSpPr/>
          <p:nvPr/>
        </p:nvSpPr>
        <p:spPr>
          <a:xfrm>
            <a:off x="314325" y="18192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 Market Taxonomy</a:t>
            </a:r>
          </a:p>
        </p:txBody>
      </p:sp>
      <p:sp>
        <p:nvSpPr>
          <p:cNvPr id="13" name="Rounded Rectangle 12">
            <a:hlinkClick action="ppaction://hlinksldjump" r:id="rId6"/>
          </p:cNvPr>
          <p:cNvSpPr/>
          <p:nvPr/>
        </p:nvSpPr>
        <p:spPr>
          <a:xfrm>
            <a:off x="314325" y="214312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3. Table of Contents</a:t>
            </a:r>
          </a:p>
        </p:txBody>
      </p:sp>
      <p:sp>
        <p:nvSpPr>
          <p:cNvPr id="14" name="Rounded Rectangle 13">
            <a:hlinkClick action="ppaction://hlinksldjump" r:id="rId7"/>
          </p:cNvPr>
          <p:cNvSpPr/>
          <p:nvPr/>
        </p:nvSpPr>
        <p:spPr>
          <a:xfrm>
            <a:off x="314325" y="24669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4. List of Figures, List of Tables</a:t>
            </a:r>
          </a:p>
        </p:txBody>
      </p:sp>
      <p:sp>
        <p:nvSpPr>
          <p:cNvPr id="15" name="Rounded Rectangle 14">
            <a:hlinkClick action="ppaction://hlinksldjump" r:id="rId8"/>
          </p:cNvPr>
          <p:cNvSpPr/>
          <p:nvPr/>
        </p:nvSpPr>
        <p:spPr>
          <a:xfrm>
            <a:off x="142875" y="279082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Global Market Outlook</a:t>
            </a:r>
          </a:p>
        </p:txBody>
      </p:sp>
      <p:sp>
        <p:nvSpPr>
          <p:cNvPr id="16" name="Rounded Rectangle 15">
            <a:hlinkClick action="ppaction://hlinksldjump" r:id="rId9"/>
          </p:cNvPr>
          <p:cNvSpPr/>
          <p:nvPr/>
        </p:nvSpPr>
        <p:spPr>
          <a:xfrm>
            <a:off x="314325" y="412432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8. Allergy Immunotherapy Market Global Overview</a:t>
            </a:r>
          </a:p>
        </p:txBody>
      </p:sp>
      <p:sp>
        <p:nvSpPr>
          <p:cNvPr id="17" name="Rounded Rectangle 16">
            <a:hlinkClick action="ppaction://hlinksldjump" r:id="rId10"/>
          </p:cNvPr>
          <p:cNvSpPr/>
          <p:nvPr/>
        </p:nvSpPr>
        <p:spPr>
          <a:xfrm>
            <a:off x="314325" y="44481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9. Global Market Analysis By Region</a:t>
            </a:r>
          </a:p>
        </p:txBody>
      </p:sp>
      <p:sp>
        <p:nvSpPr>
          <p:cNvPr id="18" name="Rounded Rectangle 17">
            <a:hlinkClick action="ppaction://hlinksldjump" r:id="rId11"/>
          </p:cNvPr>
          <p:cNvSpPr/>
          <p:nvPr/>
        </p:nvSpPr>
        <p:spPr>
          <a:xfrm>
            <a:off x="314325" y="477202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10. Global Market Analysis By Segments</a:t>
            </a:r>
          </a:p>
        </p:txBody>
      </p:sp>
      <p:sp>
        <p:nvSpPr>
          <p:cNvPr id="19" name="Rounded Rectangle 18">
            <a:hlinkClick action="ppaction://hlinksldjump" r:id="rId12"/>
          </p:cNvPr>
          <p:cNvSpPr/>
          <p:nvPr/>
        </p:nvSpPr>
        <p:spPr>
          <a:xfrm>
            <a:off x="314325" y="38004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7. Cross-sectional Assessment</a:t>
            </a:r>
          </a:p>
        </p:txBody>
      </p:sp>
      <p:sp>
        <p:nvSpPr>
          <p:cNvPr id="20" name="Rounded Rectangle 19">
            <a:hlinkClick action="ppaction://hlinksldjump" r:id="rId13"/>
          </p:cNvPr>
          <p:cNvSpPr/>
          <p:nvPr/>
        </p:nvSpPr>
        <p:spPr>
          <a:xfrm>
            <a:off x="6219825" y="113347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North America Market Outlook</a:t>
            </a:r>
          </a:p>
        </p:txBody>
      </p:sp>
      <p:sp>
        <p:nvSpPr>
          <p:cNvPr id="21" name="Rounded Rectangle 20">
            <a:hlinkClick action="ppaction://hlinksldjump" r:id="rId14"/>
          </p:cNvPr>
          <p:cNvSpPr/>
          <p:nvPr/>
        </p:nvSpPr>
        <p:spPr>
          <a:xfrm>
            <a:off x="6391275" y="18192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12. North America Overview</a:t>
            </a:r>
          </a:p>
        </p:txBody>
      </p:sp>
      <p:sp>
        <p:nvSpPr>
          <p:cNvPr id="22" name="Rounded Rectangle 21">
            <a:hlinkClick action="ppaction://hlinksldjump" r:id="rId15"/>
          </p:cNvPr>
          <p:cNvSpPr/>
          <p:nvPr/>
        </p:nvSpPr>
        <p:spPr>
          <a:xfrm>
            <a:off x="6391275" y="214312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13. North America Market Analysis By Country</a:t>
            </a:r>
          </a:p>
        </p:txBody>
      </p:sp>
      <p:sp>
        <p:nvSpPr>
          <p:cNvPr id="23" name="Rounded Rectangle 22">
            <a:hlinkClick action="ppaction://hlinksldjump" r:id="rId16"/>
          </p:cNvPr>
          <p:cNvSpPr/>
          <p:nvPr/>
        </p:nvSpPr>
        <p:spPr>
          <a:xfrm>
            <a:off x="6391275" y="24669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14. North America Market Analysis By Segments</a:t>
            </a:r>
          </a:p>
        </p:txBody>
      </p:sp>
      <p:sp>
        <p:nvSpPr>
          <p:cNvPr id="24" name="Rounded Rectangle 23">
            <a:hlinkClick action="ppaction://hlinksldjump" r:id="rId17"/>
          </p:cNvPr>
          <p:cNvSpPr/>
          <p:nvPr/>
        </p:nvSpPr>
        <p:spPr>
          <a:xfrm>
            <a:off x="6391275" y="149542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11. Cross-sectional Assessment</a:t>
            </a:r>
          </a:p>
        </p:txBody>
      </p:sp>
      <p:sp>
        <p:nvSpPr>
          <p:cNvPr id="25" name="Rounded Rectangle 24">
            <a:hlinkClick action="ppaction://hlinksldjump" r:id="rId18"/>
          </p:cNvPr>
          <p:cNvSpPr/>
          <p:nvPr/>
        </p:nvSpPr>
        <p:spPr>
          <a:xfrm>
            <a:off x="6219825" y="279082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Country Market Outlook</a:t>
            </a:r>
          </a:p>
        </p:txBody>
      </p:sp>
      <p:sp>
        <p:nvSpPr>
          <p:cNvPr id="26" name="Rounded Rectangle 25">
            <a:hlinkClick action="ppaction://hlinksldjump" r:id="rId19"/>
          </p:cNvPr>
          <p:cNvSpPr/>
          <p:nvPr/>
        </p:nvSpPr>
        <p:spPr>
          <a:xfrm>
            <a:off x="6391275" y="347662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16. Allergy Immunotherapy Market Overview (Volume &amp; Value)</a:t>
            </a:r>
          </a:p>
        </p:txBody>
      </p:sp>
      <p:sp>
        <p:nvSpPr>
          <p:cNvPr id="27" name="Rounded Rectangle 26">
            <a:hlinkClick action="ppaction://hlinksldjump" r:id="rId20"/>
          </p:cNvPr>
          <p:cNvSpPr/>
          <p:nvPr/>
        </p:nvSpPr>
        <p:spPr>
          <a:xfrm>
            <a:off x="6391275" y="38004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17. Segment Overview (Volume &amp; Value)</a:t>
            </a:r>
          </a:p>
        </p:txBody>
      </p:sp>
      <p:sp>
        <p:nvSpPr>
          <p:cNvPr id="28" name="Rounded Rectangle 27">
            <a:hlinkClick action="ppaction://hlinksldjump" r:id="rId21"/>
          </p:cNvPr>
          <p:cNvSpPr/>
          <p:nvPr/>
        </p:nvSpPr>
        <p:spPr>
          <a:xfrm>
            <a:off x="6391275" y="31527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15. Cross-sectional Assessment</a:t>
            </a:r>
          </a:p>
        </p:txBody>
      </p:sp>
      <p:sp>
        <p:nvSpPr>
          <p:cNvPr id="29" name="Rounded Rectangle 28">
            <a:hlinkClick action="ppaction://hlinksldjump" r:id="rId22"/>
          </p:cNvPr>
          <p:cNvSpPr/>
          <p:nvPr/>
        </p:nvSpPr>
        <p:spPr>
          <a:xfrm>
            <a:off x="6219825" y="412432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Pricing Assessment</a:t>
            </a:r>
          </a:p>
        </p:txBody>
      </p:sp>
      <p:sp>
        <p:nvSpPr>
          <p:cNvPr id="30" name="Rounded Rectangle 29">
            <a:hlinkClick action="ppaction://hlinksldjump" r:id="rId23"/>
          </p:cNvPr>
          <p:cNvSpPr/>
          <p:nvPr/>
        </p:nvSpPr>
        <p:spPr>
          <a:xfrm>
            <a:off x="6391275" y="44862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18. Allergy Immunotherapy Market Pricing Analysis</a:t>
            </a:r>
          </a:p>
        </p:txBody>
      </p:sp>
      <p:sp>
        <p:nvSpPr>
          <p:cNvPr id="31" name="Rounded Rectangle 30">
            <a:hlinkClick action="ppaction://hlinksldjump" r:id="rId24"/>
          </p:cNvPr>
          <p:cNvSpPr/>
          <p:nvPr/>
        </p:nvSpPr>
        <p:spPr>
          <a:xfrm>
            <a:off x="6391275" y="481012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19. Supply Chain Analysis</a:t>
            </a:r>
          </a:p>
        </p:txBody>
      </p:sp>
      <p:sp>
        <p:nvSpPr>
          <p:cNvPr id="32" name="Rounded Rectangle 31">
            <a:hlinkClick action="ppaction://hlinksldjump" r:id="rId25"/>
          </p:cNvPr>
          <p:cNvSpPr/>
          <p:nvPr/>
        </p:nvSpPr>
        <p:spPr>
          <a:xfrm>
            <a:off x="6219825" y="513397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Dynamics</a:t>
            </a:r>
          </a:p>
        </p:txBody>
      </p:sp>
      <p:sp>
        <p:nvSpPr>
          <p:cNvPr id="33" name="Rounded Rectangle 32">
            <a:hlinkClick action="ppaction://hlinksldjump" r:id="rId26"/>
          </p:cNvPr>
          <p:cNvSpPr/>
          <p:nvPr/>
        </p:nvSpPr>
        <p:spPr>
          <a:xfrm>
            <a:off x="6391275" y="549592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20. Market Dynamics &amp; Forces</a:t>
            </a:r>
          </a:p>
        </p:txBody>
      </p:sp>
      <p:sp>
        <p:nvSpPr>
          <p:cNvPr id="34" name="Rounded Rectangle 33">
            <a:hlinkClick action="ppaction://hlinksldjump" r:id="rId27"/>
          </p:cNvPr>
          <p:cNvSpPr/>
          <p:nvPr/>
        </p:nvSpPr>
        <p:spPr>
          <a:xfrm>
            <a:off x="6219825" y="581977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Competition Assessment</a:t>
            </a:r>
          </a:p>
        </p:txBody>
      </p:sp>
      <p:sp>
        <p:nvSpPr>
          <p:cNvPr id="35" name="Rounded Rectangle 34">
            <a:hlinkClick action="ppaction://hlinksldjump" r:id="rId28"/>
          </p:cNvPr>
          <p:cNvSpPr/>
          <p:nvPr/>
        </p:nvSpPr>
        <p:spPr>
          <a:xfrm>
            <a:off x="6391275" y="618172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21. Competitive Landscape</a:t>
            </a:r>
          </a:p>
        </p:txBody>
      </p:sp>
      <p:sp>
        <p:nvSpPr>
          <p:cNvPr id="36" name="Rounded Rectangle 35">
            <a:hlinkClick action="ppaction://hlinksldjump" r:id="rId29"/>
          </p:cNvPr>
          <p:cNvSpPr/>
          <p:nvPr/>
        </p:nvSpPr>
        <p:spPr>
          <a:xfrm>
            <a:off x="314325" y="31527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5. Market Share by Leading Players</a:t>
            </a:r>
          </a:p>
        </p:txBody>
      </p:sp>
      <p:sp>
        <p:nvSpPr>
          <p:cNvPr id="37" name="Rounded Rectangle 36">
            <a:hlinkClick action="ppaction://hlinksldjump" r:id="rId30"/>
          </p:cNvPr>
          <p:cNvSpPr/>
          <p:nvPr/>
        </p:nvSpPr>
        <p:spPr>
          <a:xfrm>
            <a:off x="314325" y="347662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6. Company Profiles &amp; Strategic Benchmarking</a:t>
            </a:r>
          </a:p>
        </p:txBody>
      </p:sp>
      <p:sp>
        <p:nvSpPr>
          <p:cNvPr id="38" name="TextBox 3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Allergy Immunotherapy Demand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Allergy Immunotherapy demand, the evidence behind each and what it implies for the global market</a:t>
            </a:r>
          </a:p>
        </p:txBody>
      </p:sp>
      <p:graphicFrame>
        <p:nvGraphicFramePr>
          <p:cNvPr id="10" name="Table 9"/>
          <p:cNvGraphicFramePr>
            <a:graphicFrameLocks noGrp="1"/>
          </p:cNvGraphicFramePr>
          <p:nvPr/>
        </p:nvGraphicFramePr>
        <p:xfrm>
          <a:off x="142875" y="1062022"/>
          <a:ext cx="12310292" cy="5549125"/>
        </p:xfrm>
        <a:graphic>
          <a:graphicData uri="http://schemas.openxmlformats.org/drawingml/2006/table">
            <a:tbl>
              <a:tblPr>
                <a:tableStyleId>{5C22544A-7EE6-4342-B048-85BDC9FD1C3A}</a:tableStyleId>
              </a:tblPr>
              <a:tblGrid>
                <a:gridCol w="4581979"/>
                <a:gridCol w="4394563"/>
                <a:gridCol w="3333750"/>
              </a:tblGrid>
              <a:tr h="346820">
                <a:tc>
                  <a:txBody>
                    <a:bodyPr wrap="square"/>
                    <a:lstStyle/>
                    <a:p>
                      <a:pPr algn="l"/>
                      <a:r>
                        <a:rPr sz="1100" b="1">
                          <a:solidFill>
                            <a:srgbClr val="0B2E4A"/>
                          </a:solidFill>
                          <a:latin typeface="Calibri"/>
                        </a:rPr>
                        <a:t>QUESTIONS WE'RE HEARING</a:t>
                      </a:r>
                    </a:p>
                  </a:txBody>
                  <a:tcPr marL="70000" marR="70000" marT="45000" marB="45000" anchor="ctr">
                    <a:solidFill>
                      <a:srgbClr val="EAF1F8"/>
                    </a:solidFill>
                  </a:tcPr>
                </a:tc>
                <a:tc>
                  <a:txBody>
                    <a:bodyPr wrap="square"/>
                    <a:lstStyle/>
                    <a:p>
                      <a:pPr algn="l"/>
                      <a:r>
                        <a:rPr sz="1100" b="1">
                          <a:solidFill>
                            <a:srgbClr val="0B2E4A"/>
                          </a:solidFill>
                          <a:latin typeface="Calibri"/>
                        </a:rPr>
                        <a:t>WHAT WE'RE OBSERVING</a:t>
                      </a:r>
                    </a:p>
                  </a:txBody>
                  <a:tcPr marL="70000" marR="70000" marT="45000" marB="45000" anchor="ctr">
                    <a:solidFill>
                      <a:srgbClr val="EAF1F8"/>
                    </a:solidFill>
                  </a:tcPr>
                </a:tc>
                <a:tc>
                  <a:txBody>
                    <a:bodyPr wrap="square"/>
                    <a:lstStyle/>
                    <a:p>
                      <a:pPr algn="l"/>
                      <a:r>
                        <a:rPr sz="1100" b="1">
                          <a:solidFill>
                            <a:srgbClr val="0B2E4A"/>
                          </a:solidFill>
                          <a:latin typeface="Calibri"/>
                        </a:rPr>
                        <a:t>SELECT DATA POINTS</a:t>
                      </a:r>
                    </a:p>
                  </a:txBody>
                  <a:tcPr marL="70000" marR="70000" marT="45000" marB="45000" anchor="ctr">
                    <a:solidFill>
                      <a:srgbClr val="EAF1F8"/>
                    </a:solidFill>
                  </a:tcPr>
                </a:tc>
              </a:tr>
              <a:tr h="1040461">
                <a:tc>
                  <a:txBody>
                    <a:bodyPr wrap="square"/>
                    <a:lstStyle/>
                    <a:p>
                      <a:pPr algn="l"/>
                      <a:r>
                        <a:rPr sz="1100" b="1">
                          <a:solidFill>
                            <a:srgbClr val="0B2E4A"/>
                          </a:solidFill>
                          <a:latin typeface="Calibri"/>
                        </a:rPr>
                        <a:t>How fast is Allergy Immunotherapy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commercial product model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regions will drive the next wave of Allergy Immunotherapy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2" name="TextBox 11"/>
          <p:cNvSpPr txBox="1"/>
          <p:nvPr/>
        </p:nvSpPr>
        <p:spPr>
          <a:xfrm>
            <a:off x="3784750" y="1761432"/>
            <a:ext cx="1689844" cy="186689"/>
          </a:xfrm>
          <a:prstGeom prst="rect">
            <a:avLst/>
          </a:prstGeom>
          <a:noFill/>
        </p:spPr>
        <p:txBody>
          <a:bodyPr wrap="none" lIns="0" rIns="0" tIns="0" bIns="0">
            <a:spAutoFit/>
          </a:bodyPr>
          <a:lstStyle/>
          <a:p>
            <a:r>
              <a:rPr sz="1100" b="0">
                <a:solidFill>
                  <a:srgbClr val="2E2E2E"/>
                </a:solidFill>
                <a:latin typeface="Calibri"/>
              </a:rPr>
              <a:t>Global demand expands at a</a:t>
            </a:r>
          </a:p>
        </p:txBody>
      </p:sp>
      <p:pic>
        <p:nvPicPr>
          <p:cNvPr id="13" name="Picture 12" descr="lock.png"/>
          <p:cNvPicPr>
            <a:picLocks noChangeAspect="1"/>
          </p:cNvPicPr>
          <p:nvPr/>
        </p:nvPicPr>
        <p:blipFill>
          <a:blip r:embed="rId4"/>
          <a:stretch>
            <a:fillRect/>
          </a:stretch>
        </p:blipFill>
        <p:spPr>
          <a:xfrm>
            <a:off x="5422645" y="1751653"/>
            <a:ext cx="128699" cy="187198"/>
          </a:xfrm>
          <a:prstGeom prst="rect">
            <a:avLst/>
          </a:prstGeom>
        </p:spPr>
      </p:pic>
      <p:sp>
        <p:nvSpPr>
          <p:cNvPr id="14" name="TextBox 13"/>
          <p:cNvSpPr txBox="1"/>
          <p:nvPr/>
        </p:nvSpPr>
        <p:spPr>
          <a:xfrm>
            <a:off x="5590141" y="1761432"/>
            <a:ext cx="2708109" cy="186689"/>
          </a:xfrm>
          <a:prstGeom prst="rect">
            <a:avLst/>
          </a:prstGeom>
          <a:noFill/>
        </p:spPr>
        <p:txBody>
          <a:bodyPr wrap="none" lIns="0" rIns="0" tIns="0" bIns="0">
            <a:spAutoFit/>
          </a:bodyPr>
          <a:lstStyle/>
          <a:p>
            <a:r>
              <a:rPr sz="1100" b="0">
                <a:solidFill>
                  <a:srgbClr val="2E2E2E"/>
                </a:solidFill>
                <a:latin typeface="Calibri"/>
              </a:rPr>
              <a:t>forecast CAGR (2026–2036), accelerating from</a:t>
            </a:r>
          </a:p>
        </p:txBody>
      </p:sp>
      <p:pic>
        <p:nvPicPr>
          <p:cNvPr id="15" name="Picture 14" descr="lock.png"/>
          <p:cNvPicPr>
            <a:picLocks noChangeAspect="1"/>
          </p:cNvPicPr>
          <p:nvPr/>
        </p:nvPicPr>
        <p:blipFill>
          <a:blip r:embed="rId4"/>
          <a:stretch>
            <a:fillRect/>
          </a:stretch>
        </p:blipFill>
        <p:spPr>
          <a:xfrm>
            <a:off x="8246302" y="1751653"/>
            <a:ext cx="128699" cy="187198"/>
          </a:xfrm>
          <a:prstGeom prst="rect">
            <a:avLst/>
          </a:prstGeom>
        </p:spPr>
      </p:pic>
      <p:sp>
        <p:nvSpPr>
          <p:cNvPr id="16" name="TextBox 15"/>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7" name="Picture 16" descr="lock.png"/>
          <p:cNvPicPr>
            <a:picLocks noChangeAspect="1"/>
          </p:cNvPicPr>
          <p:nvPr/>
        </p:nvPicPr>
        <p:blipFill>
          <a:blip r:embed="rId4"/>
          <a:stretch>
            <a:fillRect/>
          </a:stretch>
        </p:blipFill>
        <p:spPr>
          <a:xfrm>
            <a:off x="10214228" y="1689042"/>
            <a:ext cx="330041" cy="480060"/>
          </a:xfrm>
          <a:prstGeom prst="rect">
            <a:avLst/>
          </a:prstGeom>
        </p:spPr>
      </p:pic>
      <p:sp>
        <p:nvSpPr>
          <p:cNvPr id="18" name="TextBox 17"/>
          <p:cNvSpPr txBox="1"/>
          <p:nvPr/>
        </p:nvSpPr>
        <p:spPr>
          <a:xfrm>
            <a:off x="3784750" y="2801893"/>
            <a:ext cx="3920951" cy="186689"/>
          </a:xfrm>
          <a:prstGeom prst="rect">
            <a:avLst/>
          </a:prstGeom>
          <a:noFill/>
        </p:spPr>
        <p:txBody>
          <a:bodyPr wrap="none" lIns="0" rIns="0" tIns="0" bIns="0">
            <a:spAutoFit/>
          </a:bodyPr>
          <a:lstStyle/>
          <a:p>
            <a:r>
              <a:rPr sz="1100" b="0">
                <a:solidFill>
                  <a:srgbClr val="2E2E2E"/>
                </a:solidFill>
                <a:latin typeface="Calibri"/>
              </a:rPr>
              <a:t>Licensed Finished AIT Products leads Commercial Product Model, at</a:t>
            </a:r>
          </a:p>
        </p:txBody>
      </p:sp>
      <p:pic>
        <p:nvPicPr>
          <p:cNvPr id="19" name="Picture 18" descr="lock.png"/>
          <p:cNvPicPr>
            <a:picLocks noChangeAspect="1"/>
          </p:cNvPicPr>
          <p:nvPr/>
        </p:nvPicPr>
        <p:blipFill>
          <a:blip r:embed="rId4"/>
          <a:stretch>
            <a:fillRect/>
          </a:stretch>
        </p:blipFill>
        <p:spPr>
          <a:xfrm>
            <a:off x="7653752" y="2792114"/>
            <a:ext cx="128699" cy="187198"/>
          </a:xfrm>
          <a:prstGeom prst="rect">
            <a:avLst/>
          </a:prstGeom>
        </p:spPr>
      </p:pic>
      <p:sp>
        <p:nvSpPr>
          <p:cNvPr id="20" name="TextBox 19"/>
          <p:cNvSpPr txBox="1"/>
          <p:nvPr/>
        </p:nvSpPr>
        <p:spPr>
          <a:xfrm>
            <a:off x="7821248" y="2801893"/>
            <a:ext cx="507851"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21" name="TextBox 20"/>
          <p:cNvSpPr txBox="1"/>
          <p:nvPr/>
        </p:nvSpPr>
        <p:spPr>
          <a:xfrm>
            <a:off x="3784750" y="2969533"/>
            <a:ext cx="2504851" cy="186689"/>
          </a:xfrm>
          <a:prstGeom prst="rect">
            <a:avLst/>
          </a:prstGeom>
          <a:noFill/>
        </p:spPr>
        <p:txBody>
          <a:bodyPr wrap="none" lIns="0" rIns="0" tIns="0" bIns="0">
            <a:spAutoFit/>
          </a:bodyPr>
          <a:lstStyle/>
          <a:p>
            <a:r>
              <a:rPr sz="1100" b="0">
                <a:solidFill>
                  <a:srgbClr val="2E2E2E"/>
                </a:solidFill>
                <a:latin typeface="Calibri"/>
              </a:rPr>
              <a:t>value, within a mix of 3 tracked categories.</a:t>
            </a:r>
          </a:p>
        </p:txBody>
      </p:sp>
      <p:sp>
        <p:nvSpPr>
          <p:cNvPr id="22" name="TextBox 21"/>
          <p:cNvSpPr txBox="1"/>
          <p:nvPr/>
        </p:nvSpPr>
        <p:spPr>
          <a:xfrm>
            <a:off x="8785375" y="2885713"/>
            <a:ext cx="2225451" cy="186689"/>
          </a:xfrm>
          <a:prstGeom prst="rect">
            <a:avLst/>
          </a:prstGeom>
          <a:noFill/>
        </p:spPr>
        <p:txBody>
          <a:bodyPr wrap="none" lIns="0" rIns="0" tIns="0" bIns="0">
            <a:spAutoFit/>
          </a:bodyPr>
          <a:lstStyle/>
          <a:p>
            <a:r>
              <a:rPr sz="1100" b="0">
                <a:solidFill>
                  <a:srgbClr val="2E2E2E"/>
                </a:solidFill>
                <a:latin typeface="Calibri"/>
              </a:rPr>
              <a:t>Lead: Licensed Finished AIT Products ·</a:t>
            </a:r>
          </a:p>
        </p:txBody>
      </p:sp>
      <p:pic>
        <p:nvPicPr>
          <p:cNvPr id="23" name="Picture 22" descr="lock.png"/>
          <p:cNvPicPr>
            <a:picLocks noChangeAspect="1"/>
          </p:cNvPicPr>
          <p:nvPr/>
        </p:nvPicPr>
        <p:blipFill>
          <a:blip r:embed="rId4"/>
          <a:stretch>
            <a:fillRect/>
          </a:stretch>
        </p:blipFill>
        <p:spPr>
          <a:xfrm>
            <a:off x="10958878" y="2875934"/>
            <a:ext cx="128699" cy="187198"/>
          </a:xfrm>
          <a:prstGeom prst="rect">
            <a:avLst/>
          </a:prstGeom>
        </p:spPr>
      </p:pic>
      <p:sp>
        <p:nvSpPr>
          <p:cNvPr id="24" name="TextBox 23"/>
          <p:cNvSpPr txBox="1"/>
          <p:nvPr/>
        </p:nvSpPr>
        <p:spPr>
          <a:xfrm>
            <a:off x="11126374" y="2885713"/>
            <a:ext cx="789433" cy="186689"/>
          </a:xfrm>
          <a:prstGeom prst="rect">
            <a:avLst/>
          </a:prstGeom>
          <a:noFill/>
        </p:spPr>
        <p:txBody>
          <a:bodyPr wrap="none" lIns="0" rIns="0" tIns="0" bIns="0">
            <a:spAutoFit/>
          </a:bodyPr>
          <a:lstStyle/>
          <a:p>
            <a:r>
              <a:rPr sz="1100" b="0">
                <a:solidFill>
                  <a:srgbClr val="2E2E2E"/>
                </a:solidFill>
                <a:latin typeface="Calibri"/>
              </a:rPr>
              <a:t>share (2036)</a:t>
            </a:r>
          </a:p>
        </p:txBody>
      </p:sp>
      <p:sp>
        <p:nvSpPr>
          <p:cNvPr id="25" name="TextBox 24"/>
          <p:cNvSpPr txBox="1"/>
          <p:nvPr/>
        </p:nvSpPr>
        <p:spPr>
          <a:xfrm>
            <a:off x="3784750" y="3842354"/>
            <a:ext cx="4622725" cy="186689"/>
          </a:xfrm>
          <a:prstGeom prst="rect">
            <a:avLst/>
          </a:prstGeom>
          <a:noFill/>
        </p:spPr>
        <p:txBody>
          <a:bodyPr wrap="none" lIns="0" rIns="0" tIns="0" bIns="0">
            <a:spAutoFit/>
          </a:bodyPr>
          <a:lstStyle/>
          <a:p>
            <a:r>
              <a:rPr sz="1100" b="0">
                <a:solidFill>
                  <a:srgbClr val="2E2E2E"/>
                </a:solidFill>
                <a:latin typeface="Calibri"/>
              </a:rPr>
              <a:t>Retail Pharmacy is the fastest-growing part of Sales / Procurement Channel, at a</a:t>
            </a:r>
          </a:p>
        </p:txBody>
      </p:sp>
      <p:pic>
        <p:nvPicPr>
          <p:cNvPr id="26" name="Picture 25" descr="lock.png"/>
          <p:cNvPicPr>
            <a:picLocks noChangeAspect="1"/>
          </p:cNvPicPr>
          <p:nvPr/>
        </p:nvPicPr>
        <p:blipFill>
          <a:blip r:embed="rId4"/>
          <a:stretch>
            <a:fillRect/>
          </a:stretch>
        </p:blipFill>
        <p:spPr>
          <a:xfrm>
            <a:off x="8355527" y="3832575"/>
            <a:ext cx="128699" cy="187198"/>
          </a:xfrm>
          <a:prstGeom prst="rect">
            <a:avLst/>
          </a:prstGeom>
        </p:spPr>
      </p:pic>
      <p:sp>
        <p:nvSpPr>
          <p:cNvPr id="27" name="TextBox 26"/>
          <p:cNvSpPr txBox="1"/>
          <p:nvPr/>
        </p:nvSpPr>
        <p:spPr>
          <a:xfrm>
            <a:off x="3784750" y="4009994"/>
            <a:ext cx="2537031" cy="186689"/>
          </a:xfrm>
          <a:prstGeom prst="rect">
            <a:avLst/>
          </a:prstGeom>
          <a:noFill/>
        </p:spPr>
        <p:txBody>
          <a:bodyPr wrap="none" lIns="0" rIns="0" tIns="0" bIns="0">
            <a:spAutoFit/>
          </a:bodyPr>
          <a:lstStyle/>
          <a:p>
            <a:r>
              <a:rPr sz="1100" b="0">
                <a:solidFill>
                  <a:srgbClr val="2E2E2E"/>
                </a:solidFill>
                <a:latin typeface="Calibri"/>
              </a:rPr>
              <a:t>forecast CAGR outpacing the wider market.</a:t>
            </a:r>
          </a:p>
        </p:txBody>
      </p:sp>
      <p:sp>
        <p:nvSpPr>
          <p:cNvPr id="28" name="TextBox 27"/>
          <p:cNvSpPr txBox="1"/>
          <p:nvPr/>
        </p:nvSpPr>
        <p:spPr>
          <a:xfrm>
            <a:off x="8785375" y="3926174"/>
            <a:ext cx="1533167" cy="186689"/>
          </a:xfrm>
          <a:prstGeom prst="rect">
            <a:avLst/>
          </a:prstGeom>
          <a:noFill/>
        </p:spPr>
        <p:txBody>
          <a:bodyPr wrap="none" lIns="0" rIns="0" tIns="0" bIns="0">
            <a:spAutoFit/>
          </a:bodyPr>
          <a:lstStyle/>
          <a:p>
            <a:r>
              <a:rPr sz="1100" b="0">
                <a:solidFill>
                  <a:srgbClr val="2E2E2E"/>
                </a:solidFill>
                <a:latin typeface="Calibri"/>
              </a:rPr>
              <a:t>Fastest: Retail Pharmacy ·</a:t>
            </a:r>
          </a:p>
        </p:txBody>
      </p:sp>
      <p:pic>
        <p:nvPicPr>
          <p:cNvPr id="29" name="Picture 28" descr="lock.png"/>
          <p:cNvPicPr>
            <a:picLocks noChangeAspect="1"/>
          </p:cNvPicPr>
          <p:nvPr/>
        </p:nvPicPr>
        <p:blipFill>
          <a:blip r:embed="rId4"/>
          <a:stretch>
            <a:fillRect/>
          </a:stretch>
        </p:blipFill>
        <p:spPr>
          <a:xfrm>
            <a:off x="10266594" y="3916395"/>
            <a:ext cx="128699" cy="187198"/>
          </a:xfrm>
          <a:prstGeom prst="rect">
            <a:avLst/>
          </a:prstGeom>
        </p:spPr>
      </p:pic>
      <p:sp>
        <p:nvSpPr>
          <p:cNvPr id="30" name="TextBox 29"/>
          <p:cNvSpPr txBox="1"/>
          <p:nvPr/>
        </p:nvSpPr>
        <p:spPr>
          <a:xfrm>
            <a:off x="10434090" y="392617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31" name="TextBox 30"/>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32" name="Picture 31" descr="lock.png"/>
          <p:cNvPicPr>
            <a:picLocks noChangeAspect="1"/>
          </p:cNvPicPr>
          <p:nvPr/>
        </p:nvPicPr>
        <p:blipFill>
          <a:blip r:embed="rId4"/>
          <a:stretch>
            <a:fillRect/>
          </a:stretch>
        </p:blipFill>
        <p:spPr>
          <a:xfrm>
            <a:off x="6406275" y="4873036"/>
            <a:ext cx="128699" cy="187198"/>
          </a:xfrm>
          <a:prstGeom prst="rect">
            <a:avLst/>
          </a:prstGeom>
        </p:spPr>
      </p:pic>
      <p:sp>
        <p:nvSpPr>
          <p:cNvPr id="33" name="TextBox 32"/>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4" name="TextBox 33"/>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5" name="Picture 34" descr="lock.png"/>
          <p:cNvPicPr>
            <a:picLocks noChangeAspect="1"/>
          </p:cNvPicPr>
          <p:nvPr/>
        </p:nvPicPr>
        <p:blipFill>
          <a:blip r:embed="rId4"/>
          <a:stretch>
            <a:fillRect/>
          </a:stretch>
        </p:blipFill>
        <p:spPr>
          <a:xfrm>
            <a:off x="5106956" y="5040676"/>
            <a:ext cx="128699" cy="187198"/>
          </a:xfrm>
          <a:prstGeom prst="rect">
            <a:avLst/>
          </a:prstGeom>
        </p:spPr>
      </p:pic>
      <p:sp>
        <p:nvSpPr>
          <p:cNvPr id="36" name="TextBox 35"/>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7" name="TextBox 36"/>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38" name="Picture 37" descr="lock.png"/>
          <p:cNvPicPr>
            <a:picLocks noChangeAspect="1"/>
          </p:cNvPicPr>
          <p:nvPr/>
        </p:nvPicPr>
        <p:blipFill>
          <a:blip r:embed="rId4"/>
          <a:stretch>
            <a:fillRect/>
          </a:stretch>
        </p:blipFill>
        <p:spPr>
          <a:xfrm>
            <a:off x="10197622" y="4873036"/>
            <a:ext cx="128699" cy="187198"/>
          </a:xfrm>
          <a:prstGeom prst="rect">
            <a:avLst/>
          </a:prstGeom>
        </p:spPr>
      </p:pic>
      <p:sp>
        <p:nvSpPr>
          <p:cNvPr id="39" name="TextBox 38"/>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40" name="TextBox 39"/>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41" name="Picture 40" descr="lock.png"/>
          <p:cNvPicPr>
            <a:picLocks noChangeAspect="1"/>
          </p:cNvPicPr>
          <p:nvPr/>
        </p:nvPicPr>
        <p:blipFill>
          <a:blip r:embed="rId4"/>
          <a:stretch>
            <a:fillRect/>
          </a:stretch>
        </p:blipFill>
        <p:spPr>
          <a:xfrm>
            <a:off x="9248099" y="5040676"/>
            <a:ext cx="128699" cy="187198"/>
          </a:xfrm>
          <a:prstGeom prst="rect">
            <a:avLst/>
          </a:prstGeom>
        </p:spPr>
      </p:pic>
      <p:sp>
        <p:nvSpPr>
          <p:cNvPr id="42" name="TextBox 41"/>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3" name="TextBox 42"/>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4" name="Picture 43" descr="lock.png"/>
          <p:cNvPicPr>
            <a:picLocks noChangeAspect="1"/>
          </p:cNvPicPr>
          <p:nvPr/>
        </p:nvPicPr>
        <p:blipFill>
          <a:blip r:embed="rId4"/>
          <a:stretch>
            <a:fillRect/>
          </a:stretch>
        </p:blipFill>
        <p:spPr>
          <a:xfrm>
            <a:off x="4678579" y="5913497"/>
            <a:ext cx="128699" cy="187198"/>
          </a:xfrm>
          <a:prstGeom prst="rect">
            <a:avLst/>
          </a:prstGeom>
        </p:spPr>
      </p:pic>
      <p:sp>
        <p:nvSpPr>
          <p:cNvPr id="45" name="TextBox 44"/>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6" name="TextBox 45"/>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7" name="TextBox 46"/>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48" name="Picture 47" descr="lock.png"/>
          <p:cNvPicPr>
            <a:picLocks noChangeAspect="1"/>
          </p:cNvPicPr>
          <p:nvPr/>
        </p:nvPicPr>
        <p:blipFill>
          <a:blip r:embed="rId4"/>
          <a:stretch>
            <a:fillRect/>
          </a:stretch>
        </p:blipFill>
        <p:spPr>
          <a:xfrm>
            <a:off x="9591346" y="5997317"/>
            <a:ext cx="128699" cy="187198"/>
          </a:xfrm>
          <a:prstGeom prst="rect">
            <a:avLst/>
          </a:prstGeom>
        </p:spPr>
      </p:pic>
      <p:sp>
        <p:nvSpPr>
          <p:cNvPr id="49" name="TextBox 48"/>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50" name="Picture 49" descr="lock.png"/>
          <p:cNvPicPr>
            <a:picLocks noChangeAspect="1"/>
          </p:cNvPicPr>
          <p:nvPr/>
        </p:nvPicPr>
        <p:blipFill>
          <a:blip r:embed="rId4"/>
          <a:stretch>
            <a:fillRect/>
          </a:stretch>
        </p:blipFill>
        <p:spPr>
          <a:xfrm>
            <a:off x="11052672" y="5997317"/>
            <a:ext cx="128699" cy="187198"/>
          </a:xfrm>
          <a:prstGeom prst="rect">
            <a:avLst/>
          </a:prstGeom>
        </p:spPr>
      </p:pic>
      <p:sp>
        <p:nvSpPr>
          <p:cNvPr id="51" name="TextBox 50"/>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Allergy Immunotherapy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Table of Contents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6 regions and the countries assessed under each</a:t>
            </a:r>
          </a:p>
        </p:txBody>
      </p:sp>
      <p:cxnSp>
        <p:nvCxnSpPr>
          <p:cNvPr id="10" name="Connector 9"/>
          <p:cNvCxnSpPr/>
          <p:nvPr/>
        </p:nvCxnSpPr>
        <p:spPr>
          <a:xfrm>
            <a:off x="6096000" y="1445350"/>
            <a:ext cx="0" cy="282932"/>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85850" y="1728282"/>
            <a:ext cx="1001077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5850" y="1728282"/>
            <a:ext cx="0" cy="282932"/>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086100" y="1728282"/>
            <a:ext cx="0" cy="282932"/>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86350" y="1728282"/>
            <a:ext cx="0" cy="282932"/>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096125" y="1728282"/>
            <a:ext cx="0" cy="282932"/>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96375" y="1728282"/>
            <a:ext cx="0" cy="282932"/>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096625" y="1728282"/>
            <a:ext cx="0" cy="282932"/>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252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2525"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277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152775"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52775"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152775"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5302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53025" y="2750489"/>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53025" y="309730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53025" y="345325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53025" y="380007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3025" y="414689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53025" y="4493717"/>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4849664"/>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519648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53025" y="554330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53025" y="58901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153025" y="6246072"/>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16280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6280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16280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6305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305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3818331"/>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417427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163050" y="45302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63050" y="488617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163050" y="524211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6330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16330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63300"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163300" y="3818331"/>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163300" y="417427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163300" y="45302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1163300" y="488617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4667250" y="1080276"/>
            <a:ext cx="2857500" cy="365074"/>
          </a:xfrm>
          <a:prstGeom prst="roundRect">
            <a:avLst>
              <a:gd name="adj" fmla="val 17500"/>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Allergy Immunotherapy Market</a:t>
            </a:r>
          </a:p>
        </p:txBody>
      </p:sp>
      <p:sp>
        <p:nvSpPr>
          <p:cNvPr id="57" name="Rounded Rectangle 56"/>
          <p:cNvSpPr/>
          <p:nvPr/>
        </p:nvSpPr>
        <p:spPr>
          <a:xfrm>
            <a:off x="14287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8" name="Rounded Rectangle 57"/>
          <p:cNvSpPr/>
          <p:nvPr/>
        </p:nvSpPr>
        <p:spPr>
          <a:xfrm>
            <a:off x="27622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U.S.</a:t>
            </a:r>
          </a:p>
        </p:txBody>
      </p:sp>
      <p:sp>
        <p:nvSpPr>
          <p:cNvPr id="59" name="Rounded Rectangle 58"/>
          <p:cNvSpPr/>
          <p:nvPr/>
        </p:nvSpPr>
        <p:spPr>
          <a:xfrm>
            <a:off x="276225"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Canada</a:t>
            </a:r>
          </a:p>
        </p:txBody>
      </p:sp>
      <p:sp>
        <p:nvSpPr>
          <p:cNvPr id="60" name="Rounded Rectangle 59"/>
          <p:cNvSpPr/>
          <p:nvPr/>
        </p:nvSpPr>
        <p:spPr>
          <a:xfrm>
            <a:off x="214312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61" name="Rounded Rectangle 60"/>
          <p:cNvSpPr/>
          <p:nvPr/>
        </p:nvSpPr>
        <p:spPr>
          <a:xfrm>
            <a:off x="227647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Brazil</a:t>
            </a:r>
          </a:p>
        </p:txBody>
      </p:sp>
      <p:sp>
        <p:nvSpPr>
          <p:cNvPr id="62" name="Rounded Rectangle 61"/>
          <p:cNvSpPr/>
          <p:nvPr/>
        </p:nvSpPr>
        <p:spPr>
          <a:xfrm>
            <a:off x="2276475"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Mexico</a:t>
            </a:r>
          </a:p>
        </p:txBody>
      </p:sp>
      <p:sp>
        <p:nvSpPr>
          <p:cNvPr id="63" name="Rounded Rectangle 62"/>
          <p:cNvSpPr/>
          <p:nvPr/>
        </p:nvSpPr>
        <p:spPr>
          <a:xfrm>
            <a:off x="2276475"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Colombia</a:t>
            </a:r>
          </a:p>
        </p:txBody>
      </p:sp>
      <p:sp>
        <p:nvSpPr>
          <p:cNvPr id="64" name="Rounded Rectangle 63"/>
          <p:cNvSpPr/>
          <p:nvPr/>
        </p:nvSpPr>
        <p:spPr>
          <a:xfrm>
            <a:off x="2276475"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Latin America</a:t>
            </a:r>
          </a:p>
        </p:txBody>
      </p:sp>
      <p:sp>
        <p:nvSpPr>
          <p:cNvPr id="65" name="Rounded Rectangle 64"/>
          <p:cNvSpPr/>
          <p:nvPr/>
        </p:nvSpPr>
        <p:spPr>
          <a:xfrm>
            <a:off x="414337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Europe</a:t>
            </a:r>
          </a:p>
        </p:txBody>
      </p:sp>
      <p:sp>
        <p:nvSpPr>
          <p:cNvPr id="66" name="Rounded Rectangle 65"/>
          <p:cNvSpPr/>
          <p:nvPr/>
        </p:nvSpPr>
        <p:spPr>
          <a:xfrm>
            <a:off x="427672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Germany</a:t>
            </a:r>
          </a:p>
        </p:txBody>
      </p:sp>
      <p:sp>
        <p:nvSpPr>
          <p:cNvPr id="67" name="Rounded Rectangle 66"/>
          <p:cNvSpPr/>
          <p:nvPr/>
        </p:nvSpPr>
        <p:spPr>
          <a:xfrm>
            <a:off x="4276725" y="281437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U.K.</a:t>
            </a:r>
          </a:p>
        </p:txBody>
      </p:sp>
      <p:sp>
        <p:nvSpPr>
          <p:cNvPr id="68" name="Rounded Rectangle 67"/>
          <p:cNvSpPr/>
          <p:nvPr/>
        </p:nvSpPr>
        <p:spPr>
          <a:xfrm>
            <a:off x="4276725" y="317032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France</a:t>
            </a:r>
          </a:p>
        </p:txBody>
      </p:sp>
      <p:sp>
        <p:nvSpPr>
          <p:cNvPr id="69" name="Rounded Rectangle 68"/>
          <p:cNvSpPr/>
          <p:nvPr/>
        </p:nvSpPr>
        <p:spPr>
          <a:xfrm>
            <a:off x="4276725" y="35171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Italy</a:t>
            </a:r>
          </a:p>
        </p:txBody>
      </p:sp>
      <p:sp>
        <p:nvSpPr>
          <p:cNvPr id="70" name="Rounded Rectangle 69"/>
          <p:cNvSpPr/>
          <p:nvPr/>
        </p:nvSpPr>
        <p:spPr>
          <a:xfrm>
            <a:off x="4276725" y="386396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Spain</a:t>
            </a:r>
          </a:p>
        </p:txBody>
      </p:sp>
      <p:sp>
        <p:nvSpPr>
          <p:cNvPr id="71" name="Rounded Rectangle 70"/>
          <p:cNvSpPr/>
          <p:nvPr/>
        </p:nvSpPr>
        <p:spPr>
          <a:xfrm>
            <a:off x="4276725" y="421078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Belgium</a:t>
            </a:r>
          </a:p>
        </p:txBody>
      </p:sp>
      <p:sp>
        <p:nvSpPr>
          <p:cNvPr id="72" name="Rounded Rectangle 71"/>
          <p:cNvSpPr/>
          <p:nvPr/>
        </p:nvSpPr>
        <p:spPr>
          <a:xfrm>
            <a:off x="4276725" y="456673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Netherlands</a:t>
            </a:r>
          </a:p>
        </p:txBody>
      </p:sp>
      <p:sp>
        <p:nvSpPr>
          <p:cNvPr id="73" name="Rounded Rectangle 72"/>
          <p:cNvSpPr/>
          <p:nvPr/>
        </p:nvSpPr>
        <p:spPr>
          <a:xfrm>
            <a:off x="4276725" y="491355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Nordic Countries</a:t>
            </a:r>
          </a:p>
        </p:txBody>
      </p:sp>
      <p:sp>
        <p:nvSpPr>
          <p:cNvPr id="74" name="Rounded Rectangle 73"/>
          <p:cNvSpPr/>
          <p:nvPr/>
        </p:nvSpPr>
        <p:spPr>
          <a:xfrm>
            <a:off x="4276725" y="5260373"/>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Switzerland</a:t>
            </a:r>
          </a:p>
        </p:txBody>
      </p:sp>
      <p:sp>
        <p:nvSpPr>
          <p:cNvPr id="75" name="Rounded Rectangle 74"/>
          <p:cNvSpPr/>
          <p:nvPr/>
        </p:nvSpPr>
        <p:spPr>
          <a:xfrm>
            <a:off x="4276725" y="5607193"/>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Russia</a:t>
            </a:r>
          </a:p>
        </p:txBody>
      </p:sp>
      <p:sp>
        <p:nvSpPr>
          <p:cNvPr id="76" name="Rounded Rectangle 75"/>
          <p:cNvSpPr/>
          <p:nvPr/>
        </p:nvSpPr>
        <p:spPr>
          <a:xfrm>
            <a:off x="4276725" y="59631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Poland</a:t>
            </a:r>
          </a:p>
        </p:txBody>
      </p:sp>
      <p:sp>
        <p:nvSpPr>
          <p:cNvPr id="77" name="Rounded Rectangle 76"/>
          <p:cNvSpPr/>
          <p:nvPr/>
        </p:nvSpPr>
        <p:spPr>
          <a:xfrm>
            <a:off x="4276725" y="630996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Europe</a:t>
            </a:r>
          </a:p>
        </p:txBody>
      </p:sp>
      <p:sp>
        <p:nvSpPr>
          <p:cNvPr id="78" name="Rounded Rectangle 77"/>
          <p:cNvSpPr/>
          <p:nvPr/>
        </p:nvSpPr>
        <p:spPr>
          <a:xfrm>
            <a:off x="615315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79" name="Rounded Rectangle 78"/>
          <p:cNvSpPr/>
          <p:nvPr/>
        </p:nvSpPr>
        <p:spPr>
          <a:xfrm>
            <a:off x="628650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China</a:t>
            </a:r>
          </a:p>
        </p:txBody>
      </p:sp>
      <p:sp>
        <p:nvSpPr>
          <p:cNvPr id="80" name="Rounded Rectangle 79"/>
          <p:cNvSpPr/>
          <p:nvPr/>
        </p:nvSpPr>
        <p:spPr>
          <a:xfrm>
            <a:off x="628650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Japan</a:t>
            </a:r>
          </a:p>
        </p:txBody>
      </p:sp>
      <p:sp>
        <p:nvSpPr>
          <p:cNvPr id="81" name="Rounded Rectangle 80"/>
          <p:cNvSpPr/>
          <p:nvPr/>
        </p:nvSpPr>
        <p:spPr>
          <a:xfrm>
            <a:off x="628650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Korea</a:t>
            </a:r>
          </a:p>
        </p:txBody>
      </p:sp>
      <p:sp>
        <p:nvSpPr>
          <p:cNvPr id="82" name="Rounded Rectangle 81"/>
          <p:cNvSpPr/>
          <p:nvPr/>
        </p:nvSpPr>
        <p:spPr>
          <a:xfrm>
            <a:off x="815340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83" name="Rounded Rectangle 82"/>
          <p:cNvSpPr/>
          <p:nvPr/>
        </p:nvSpPr>
        <p:spPr>
          <a:xfrm>
            <a:off x="828675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India</a:t>
            </a:r>
          </a:p>
        </p:txBody>
      </p:sp>
      <p:sp>
        <p:nvSpPr>
          <p:cNvPr id="84" name="Rounded Rectangle 83"/>
          <p:cNvSpPr/>
          <p:nvPr/>
        </p:nvSpPr>
        <p:spPr>
          <a:xfrm>
            <a:off x="828675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Thailand</a:t>
            </a:r>
          </a:p>
        </p:txBody>
      </p:sp>
      <p:sp>
        <p:nvSpPr>
          <p:cNvPr id="85" name="Rounded Rectangle 84"/>
          <p:cNvSpPr/>
          <p:nvPr/>
        </p:nvSpPr>
        <p:spPr>
          <a:xfrm>
            <a:off x="828675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Malaysia</a:t>
            </a:r>
          </a:p>
        </p:txBody>
      </p:sp>
      <p:sp>
        <p:nvSpPr>
          <p:cNvPr id="86" name="Rounded Rectangle 85"/>
          <p:cNvSpPr/>
          <p:nvPr/>
        </p:nvSpPr>
        <p:spPr>
          <a:xfrm>
            <a:off x="8286750"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Indonesia</a:t>
            </a:r>
          </a:p>
        </p:txBody>
      </p:sp>
      <p:sp>
        <p:nvSpPr>
          <p:cNvPr id="87" name="Rounded Rectangle 86"/>
          <p:cNvSpPr/>
          <p:nvPr/>
        </p:nvSpPr>
        <p:spPr>
          <a:xfrm>
            <a:off x="8286750" y="38913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Singapore</a:t>
            </a:r>
          </a:p>
        </p:txBody>
      </p:sp>
      <p:sp>
        <p:nvSpPr>
          <p:cNvPr id="88" name="Rounded Rectangle 87"/>
          <p:cNvSpPr/>
          <p:nvPr/>
        </p:nvSpPr>
        <p:spPr>
          <a:xfrm>
            <a:off x="8286750" y="424729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Philippines</a:t>
            </a:r>
          </a:p>
        </p:txBody>
      </p:sp>
      <p:sp>
        <p:nvSpPr>
          <p:cNvPr id="89" name="Rounded Rectangle 88"/>
          <p:cNvSpPr/>
          <p:nvPr/>
        </p:nvSpPr>
        <p:spPr>
          <a:xfrm>
            <a:off x="8286750" y="46032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Australia</a:t>
            </a:r>
          </a:p>
        </p:txBody>
      </p:sp>
      <p:sp>
        <p:nvSpPr>
          <p:cNvPr id="90" name="Rounded Rectangle 89"/>
          <p:cNvSpPr/>
          <p:nvPr/>
        </p:nvSpPr>
        <p:spPr>
          <a:xfrm>
            <a:off x="8286750" y="495918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New Zealand</a:t>
            </a:r>
          </a:p>
        </p:txBody>
      </p:sp>
      <p:sp>
        <p:nvSpPr>
          <p:cNvPr id="91" name="Rounded Rectangle 90"/>
          <p:cNvSpPr/>
          <p:nvPr/>
        </p:nvSpPr>
        <p:spPr>
          <a:xfrm>
            <a:off x="8286750" y="531513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South Asia &amp; Pacific</a:t>
            </a:r>
          </a:p>
        </p:txBody>
      </p:sp>
      <p:sp>
        <p:nvSpPr>
          <p:cNvPr id="92" name="Rounded Rectangle 91"/>
          <p:cNvSpPr/>
          <p:nvPr/>
        </p:nvSpPr>
        <p:spPr>
          <a:xfrm>
            <a:off x="1015365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&amp; Africa</a:t>
            </a:r>
          </a:p>
        </p:txBody>
      </p:sp>
      <p:sp>
        <p:nvSpPr>
          <p:cNvPr id="93" name="Rounded Rectangle 92"/>
          <p:cNvSpPr/>
          <p:nvPr/>
        </p:nvSpPr>
        <p:spPr>
          <a:xfrm>
            <a:off x="1028700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Turkey</a:t>
            </a:r>
          </a:p>
        </p:txBody>
      </p:sp>
      <p:sp>
        <p:nvSpPr>
          <p:cNvPr id="94" name="Rounded Rectangle 93"/>
          <p:cNvSpPr/>
          <p:nvPr/>
        </p:nvSpPr>
        <p:spPr>
          <a:xfrm>
            <a:off x="1028700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UAE</a:t>
            </a:r>
          </a:p>
        </p:txBody>
      </p:sp>
      <p:sp>
        <p:nvSpPr>
          <p:cNvPr id="95" name="Rounded Rectangle 94"/>
          <p:cNvSpPr/>
          <p:nvPr/>
        </p:nvSpPr>
        <p:spPr>
          <a:xfrm>
            <a:off x="1028700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Saudi Arabia</a:t>
            </a:r>
          </a:p>
        </p:txBody>
      </p:sp>
      <p:sp>
        <p:nvSpPr>
          <p:cNvPr id="96" name="Rounded Rectangle 95"/>
          <p:cNvSpPr/>
          <p:nvPr/>
        </p:nvSpPr>
        <p:spPr>
          <a:xfrm>
            <a:off x="10287000"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Israel</a:t>
            </a:r>
          </a:p>
        </p:txBody>
      </p:sp>
      <p:sp>
        <p:nvSpPr>
          <p:cNvPr id="97" name="Rounded Rectangle 96"/>
          <p:cNvSpPr/>
          <p:nvPr/>
        </p:nvSpPr>
        <p:spPr>
          <a:xfrm>
            <a:off x="10287000" y="38913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Other GCC Countries</a:t>
            </a:r>
          </a:p>
        </p:txBody>
      </p:sp>
      <p:sp>
        <p:nvSpPr>
          <p:cNvPr id="98" name="Rounded Rectangle 97"/>
          <p:cNvSpPr/>
          <p:nvPr/>
        </p:nvSpPr>
        <p:spPr>
          <a:xfrm>
            <a:off x="10287000" y="424729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North Africa</a:t>
            </a:r>
          </a:p>
        </p:txBody>
      </p:sp>
      <p:sp>
        <p:nvSpPr>
          <p:cNvPr id="99" name="Rounded Rectangle 98"/>
          <p:cNvSpPr/>
          <p:nvPr/>
        </p:nvSpPr>
        <p:spPr>
          <a:xfrm>
            <a:off x="10287000" y="46032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Africa</a:t>
            </a:r>
          </a:p>
        </p:txBody>
      </p:sp>
      <p:sp>
        <p:nvSpPr>
          <p:cNvPr id="100" name="Rounded Rectangle 99"/>
          <p:cNvSpPr/>
          <p:nvPr/>
        </p:nvSpPr>
        <p:spPr>
          <a:xfrm>
            <a:off x="10287000" y="495918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Middle East &amp; Africa</a:t>
            </a:r>
          </a:p>
        </p:txBody>
      </p:sp>
      <p:sp>
        <p:nvSpPr>
          <p:cNvPr id="101" name="TextBox 10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9 axes and the sub-segments sized under each</a:t>
            </a:r>
          </a:p>
        </p:txBody>
      </p:sp>
      <p:sp>
        <p:nvSpPr>
          <p:cNvPr id="10" name="Rectangle 9"/>
          <p:cNvSpPr/>
          <p:nvPr/>
        </p:nvSpPr>
        <p:spPr>
          <a:xfrm>
            <a:off x="142875" y="102870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Therapy Format</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Subcutaneous Immunotherapy (SCIT)</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000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390525" y="143446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Sublingual Immunotherapy (SLIT)</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14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5619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Tablets</a:t>
            </a:r>
          </a:p>
        </p:txBody>
      </p:sp>
      <p:cxnSp>
        <p:nvCxnSpPr>
          <p:cNvPr id="21" name="Connector 20"/>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714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5619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Solutions</a:t>
            </a:r>
          </a:p>
        </p:txBody>
      </p:sp>
      <p:cxnSp>
        <p:nvCxnSpPr>
          <p:cNvPr id="24" name="Connector 23"/>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000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390525" y="196596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Oral Immunotherapy (OIT)</a:t>
            </a:r>
          </a:p>
        </p:txBody>
      </p:sp>
      <p:cxnSp>
        <p:nvCxnSpPr>
          <p:cNvPr id="27" name="Connector 26"/>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714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5619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Allergen Oral Powder</a:t>
            </a:r>
          </a:p>
        </p:txBody>
      </p:sp>
      <p:sp>
        <p:nvSpPr>
          <p:cNvPr id="30" name="Rectangle 29"/>
          <p:cNvSpPr/>
          <p:nvPr/>
        </p:nvSpPr>
        <p:spPr>
          <a:xfrm>
            <a:off x="142875" y="2434590"/>
            <a:ext cx="28765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42875" y="243459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075" y="243459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Allergen Composition</a:t>
            </a:r>
          </a:p>
        </p:txBody>
      </p:sp>
      <p:sp>
        <p:nvSpPr>
          <p:cNvPr id="33" name="TextBox 32"/>
          <p:cNvSpPr txBox="1"/>
          <p:nvPr/>
        </p:nvSpPr>
        <p:spPr>
          <a:xfrm>
            <a:off x="2000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4" name="TextBox 33"/>
          <p:cNvSpPr txBox="1"/>
          <p:nvPr/>
        </p:nvSpPr>
        <p:spPr>
          <a:xfrm>
            <a:off x="390525" y="266319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Single-Allergen Preparations</a:t>
            </a:r>
          </a:p>
        </p:txBody>
      </p:sp>
      <p:cxnSp>
        <p:nvCxnSpPr>
          <p:cNvPr id="35" name="Connector 34"/>
          <p:cNvCxnSpPr/>
          <p:nvPr/>
        </p:nvCxnSpPr>
        <p:spPr>
          <a:xfrm>
            <a:off x="1524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0002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390525" y="284035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Fixed Allergen Mixtures</a:t>
            </a:r>
          </a:p>
        </p:txBody>
      </p:sp>
      <p:cxnSp>
        <p:nvCxnSpPr>
          <p:cNvPr id="38" name="Connector 37"/>
          <p:cNvCxnSpPr/>
          <p:nvPr/>
        </p:nvCxnSpPr>
        <p:spPr>
          <a:xfrm>
            <a:off x="1524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71475" y="30175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0" name="TextBox 39"/>
          <p:cNvSpPr txBox="1"/>
          <p:nvPr/>
        </p:nvSpPr>
        <p:spPr>
          <a:xfrm>
            <a:off x="561975" y="30175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Homologous Pollen Mixtures</a:t>
            </a:r>
          </a:p>
        </p:txBody>
      </p:sp>
      <p:cxnSp>
        <p:nvCxnSpPr>
          <p:cNvPr id="41" name="Connector 40"/>
          <p:cNvCxnSpPr/>
          <p:nvPr/>
        </p:nvCxnSpPr>
        <p:spPr>
          <a:xfrm>
            <a:off x="152400" y="31946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71475" y="31946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3" name="TextBox 42"/>
          <p:cNvSpPr txBox="1"/>
          <p:nvPr/>
        </p:nvSpPr>
        <p:spPr>
          <a:xfrm>
            <a:off x="561975" y="31946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House Dust Mite Mixtures</a:t>
            </a:r>
          </a:p>
        </p:txBody>
      </p:sp>
      <p:cxnSp>
        <p:nvCxnSpPr>
          <p:cNvPr id="44" name="Connector 43"/>
          <p:cNvCxnSpPr/>
          <p:nvPr/>
        </p:nvCxnSpPr>
        <p:spPr>
          <a:xfrm>
            <a:off x="152400" y="33718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71475" y="33718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6" name="TextBox 45"/>
          <p:cNvSpPr txBox="1"/>
          <p:nvPr/>
        </p:nvSpPr>
        <p:spPr>
          <a:xfrm>
            <a:off x="561975" y="33718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Mixed Vespid Preparations</a:t>
            </a:r>
          </a:p>
        </p:txBody>
      </p:sp>
      <p:cxnSp>
        <p:nvCxnSpPr>
          <p:cNvPr id="47" name="Connector 46"/>
          <p:cNvCxnSpPr/>
          <p:nvPr/>
        </p:nvCxnSpPr>
        <p:spPr>
          <a:xfrm>
            <a:off x="152400" y="35490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00025" y="35490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9" name="TextBox 48"/>
          <p:cNvSpPr txBox="1"/>
          <p:nvPr/>
        </p:nvSpPr>
        <p:spPr>
          <a:xfrm>
            <a:off x="390525" y="3549015"/>
            <a:ext cx="2590800" cy="354330"/>
          </a:xfrm>
          <a:prstGeom prst="rect">
            <a:avLst/>
          </a:prstGeom>
          <a:noFill/>
        </p:spPr>
        <p:txBody>
          <a:bodyPr wrap="square" lIns="28575" rIns="28575" tIns="9525" bIns="9525" anchor="t">
            <a:spAutoFit/>
          </a:bodyPr>
          <a:lstStyle/>
          <a:p>
            <a:pPr algn="l">
              <a:lnSpc>
                <a:spcPct val="100000"/>
              </a:lnSpc>
            </a:pPr>
            <a:r>
              <a:rPr sz="1100" b="1">
                <a:solidFill>
                  <a:srgbClr val="2E2E2E"/>
                </a:solidFill>
                <a:latin typeface="Calibri"/>
              </a:rPr>
              <a:t>Customized Multi-Allergen Preparations</a:t>
            </a:r>
          </a:p>
        </p:txBody>
      </p:sp>
      <p:sp>
        <p:nvSpPr>
          <p:cNvPr id="50" name="Rectangle 49"/>
          <p:cNvSpPr/>
          <p:nvPr/>
        </p:nvSpPr>
        <p:spPr>
          <a:xfrm>
            <a:off x="3152775" y="1028700"/>
            <a:ext cx="2876550" cy="270891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527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Allergen Class</a:t>
            </a:r>
          </a:p>
        </p:txBody>
      </p:sp>
      <p:sp>
        <p:nvSpPr>
          <p:cNvPr id="53" name="TextBox 52"/>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Inhalant Allergens</a:t>
            </a:r>
          </a:p>
        </p:txBody>
      </p:sp>
      <p:cxnSp>
        <p:nvCxnSpPr>
          <p:cNvPr id="55" name="Connector 54"/>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3813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7" name="TextBox 56"/>
          <p:cNvSpPr txBox="1"/>
          <p:nvPr/>
        </p:nvSpPr>
        <p:spPr>
          <a:xfrm>
            <a:off x="35718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Grass Pollen</a:t>
            </a:r>
          </a:p>
        </p:txBody>
      </p:sp>
      <p:cxnSp>
        <p:nvCxnSpPr>
          <p:cNvPr id="58" name="Connector 57"/>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3813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0" name="TextBox 59"/>
          <p:cNvSpPr txBox="1"/>
          <p:nvPr/>
        </p:nvSpPr>
        <p:spPr>
          <a:xfrm>
            <a:off x="35718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Tree Pollen</a:t>
            </a:r>
          </a:p>
        </p:txBody>
      </p:sp>
      <p:cxnSp>
        <p:nvCxnSpPr>
          <p:cNvPr id="61" name="Connector 60"/>
          <p:cNvCxnSpPr/>
          <p:nvPr/>
        </p:nvCxnSpPr>
        <p:spPr>
          <a:xfrm>
            <a:off x="31623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33813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3" name="TextBox 62"/>
          <p:cNvSpPr txBox="1"/>
          <p:nvPr/>
        </p:nvSpPr>
        <p:spPr>
          <a:xfrm>
            <a:off x="35718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Weed &amp; Ragweed Pollen</a:t>
            </a:r>
          </a:p>
        </p:txBody>
      </p:sp>
      <p:cxnSp>
        <p:nvCxnSpPr>
          <p:cNvPr id="64" name="Connector 63"/>
          <p:cNvCxnSpPr/>
          <p:nvPr/>
        </p:nvCxnSpPr>
        <p:spPr>
          <a:xfrm>
            <a:off x="31623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33813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6" name="TextBox 65"/>
          <p:cNvSpPr txBox="1"/>
          <p:nvPr/>
        </p:nvSpPr>
        <p:spPr>
          <a:xfrm>
            <a:off x="35718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House Dust Mite</a:t>
            </a:r>
          </a:p>
        </p:txBody>
      </p:sp>
      <p:cxnSp>
        <p:nvCxnSpPr>
          <p:cNvPr id="67" name="Connector 66"/>
          <p:cNvCxnSpPr/>
          <p:nvPr/>
        </p:nvCxnSpPr>
        <p:spPr>
          <a:xfrm>
            <a:off x="31623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3813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9" name="TextBox 68"/>
          <p:cNvSpPr txBox="1"/>
          <p:nvPr/>
        </p:nvSpPr>
        <p:spPr>
          <a:xfrm>
            <a:off x="35718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Animal Dander / Epithelia</a:t>
            </a:r>
          </a:p>
        </p:txBody>
      </p:sp>
      <p:cxnSp>
        <p:nvCxnSpPr>
          <p:cNvPr id="70" name="Connector 69"/>
          <p:cNvCxnSpPr/>
          <p:nvPr/>
        </p:nvCxnSpPr>
        <p:spPr>
          <a:xfrm>
            <a:off x="31623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33813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2" name="TextBox 71"/>
          <p:cNvSpPr txBox="1"/>
          <p:nvPr/>
        </p:nvSpPr>
        <p:spPr>
          <a:xfrm>
            <a:off x="3571875" y="23202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Mold &amp; Fungal Allergens</a:t>
            </a:r>
          </a:p>
        </p:txBody>
      </p:sp>
      <p:cxnSp>
        <p:nvCxnSpPr>
          <p:cNvPr id="73" name="Connector 72"/>
          <p:cNvCxnSpPr/>
          <p:nvPr/>
        </p:nvCxnSpPr>
        <p:spPr>
          <a:xfrm>
            <a:off x="31623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320992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3400425" y="249745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Venom Allergens</a:t>
            </a:r>
          </a:p>
        </p:txBody>
      </p:sp>
      <p:cxnSp>
        <p:nvCxnSpPr>
          <p:cNvPr id="76" name="Connector 75"/>
          <p:cNvCxnSpPr/>
          <p:nvPr/>
        </p:nvCxnSpPr>
        <p:spPr>
          <a:xfrm>
            <a:off x="31623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33813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8" name="TextBox 77"/>
          <p:cNvSpPr txBox="1"/>
          <p:nvPr/>
        </p:nvSpPr>
        <p:spPr>
          <a:xfrm>
            <a:off x="3571875" y="26746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Honeybee Venom</a:t>
            </a:r>
          </a:p>
        </p:txBody>
      </p:sp>
      <p:cxnSp>
        <p:nvCxnSpPr>
          <p:cNvPr id="79" name="Connector 78"/>
          <p:cNvCxnSpPr/>
          <p:nvPr/>
        </p:nvCxnSpPr>
        <p:spPr>
          <a:xfrm>
            <a:off x="31623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33813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1" name="TextBox 80"/>
          <p:cNvSpPr txBox="1"/>
          <p:nvPr/>
        </p:nvSpPr>
        <p:spPr>
          <a:xfrm>
            <a:off x="3571875" y="28517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Wasp / Yellow Jacket / Hornet Venom</a:t>
            </a:r>
          </a:p>
        </p:txBody>
      </p:sp>
      <p:cxnSp>
        <p:nvCxnSpPr>
          <p:cNvPr id="82" name="Connector 81"/>
          <p:cNvCxnSpPr/>
          <p:nvPr/>
        </p:nvCxnSpPr>
        <p:spPr>
          <a:xfrm>
            <a:off x="31623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33813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4" name="TextBox 83"/>
          <p:cNvSpPr txBox="1"/>
          <p:nvPr/>
        </p:nvSpPr>
        <p:spPr>
          <a:xfrm>
            <a:off x="3571875" y="30289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Mixed Vespid Venom</a:t>
            </a:r>
          </a:p>
        </p:txBody>
      </p:sp>
      <p:cxnSp>
        <p:nvCxnSpPr>
          <p:cNvPr id="85" name="Connector 84"/>
          <p:cNvCxnSpPr/>
          <p:nvPr/>
        </p:nvCxnSpPr>
        <p:spPr>
          <a:xfrm>
            <a:off x="31623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320992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7" name="TextBox 86"/>
          <p:cNvSpPr txBox="1"/>
          <p:nvPr/>
        </p:nvSpPr>
        <p:spPr>
          <a:xfrm>
            <a:off x="3400425" y="320611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Food Allergens</a:t>
            </a:r>
          </a:p>
        </p:txBody>
      </p:sp>
      <p:cxnSp>
        <p:nvCxnSpPr>
          <p:cNvPr id="88" name="Connector 87"/>
          <p:cNvCxnSpPr/>
          <p:nvPr/>
        </p:nvCxnSpPr>
        <p:spPr>
          <a:xfrm>
            <a:off x="31623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33813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0" name="TextBox 89"/>
          <p:cNvSpPr txBox="1"/>
          <p:nvPr/>
        </p:nvSpPr>
        <p:spPr>
          <a:xfrm>
            <a:off x="3571875" y="33832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Peanut</a:t>
            </a:r>
          </a:p>
        </p:txBody>
      </p:sp>
      <p:cxnSp>
        <p:nvCxnSpPr>
          <p:cNvPr id="91" name="Connector 90"/>
          <p:cNvCxnSpPr/>
          <p:nvPr/>
        </p:nvCxnSpPr>
        <p:spPr>
          <a:xfrm>
            <a:off x="31623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33813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3" name="TextBox 92"/>
          <p:cNvSpPr txBox="1"/>
          <p:nvPr/>
        </p:nvSpPr>
        <p:spPr>
          <a:xfrm>
            <a:off x="3571875" y="35604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Food Allergens</a:t>
            </a:r>
          </a:p>
        </p:txBody>
      </p:sp>
      <p:sp>
        <p:nvSpPr>
          <p:cNvPr id="94" name="Rectangle 93"/>
          <p:cNvSpPr/>
          <p:nvPr/>
        </p:nvSpPr>
        <p:spPr>
          <a:xfrm>
            <a:off x="6162675" y="1028700"/>
            <a:ext cx="2876550" cy="217741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Commercial Product Model</a:t>
            </a:r>
          </a:p>
        </p:txBody>
      </p:sp>
      <p:sp>
        <p:nvSpPr>
          <p:cNvPr id="97" name="TextBox 96"/>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8" name="TextBox 97"/>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Licensed Finished AIT Products</a:t>
            </a:r>
          </a:p>
        </p:txBody>
      </p:sp>
      <p:cxnSp>
        <p:nvCxnSpPr>
          <p:cNvPr id="99" name="Connector 98"/>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63912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1" name="TextBox 100"/>
          <p:cNvSpPr txBox="1"/>
          <p:nvPr/>
        </p:nvSpPr>
        <p:spPr>
          <a:xfrm>
            <a:off x="65817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Fixed-dose Branded Tablets</a:t>
            </a:r>
          </a:p>
        </p:txBody>
      </p:sp>
      <p:cxnSp>
        <p:nvCxnSpPr>
          <p:cNvPr id="102" name="Connector 101"/>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63912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4" name="TextBox 103"/>
          <p:cNvSpPr txBox="1"/>
          <p:nvPr/>
        </p:nvSpPr>
        <p:spPr>
          <a:xfrm>
            <a:off x="65817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Liquid Products</a:t>
            </a:r>
          </a:p>
        </p:txBody>
      </p:sp>
      <p:cxnSp>
        <p:nvCxnSpPr>
          <p:cNvPr id="105" name="Connector 104"/>
          <p:cNvCxnSpPr/>
          <p:nvPr/>
        </p:nvCxnSpPr>
        <p:spPr>
          <a:xfrm>
            <a:off x="61722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62198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7" name="TextBox 106"/>
          <p:cNvSpPr txBox="1"/>
          <p:nvPr/>
        </p:nvSpPr>
        <p:spPr>
          <a:xfrm>
            <a:off x="6410325" y="178879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Individual-Prescription Products</a:t>
            </a:r>
          </a:p>
        </p:txBody>
      </p:sp>
      <p:cxnSp>
        <p:nvCxnSpPr>
          <p:cNvPr id="108" name="Connector 107"/>
          <p:cNvCxnSpPr/>
          <p:nvPr/>
        </p:nvCxnSpPr>
        <p:spPr>
          <a:xfrm>
            <a:off x="61722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63912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6581775" y="196596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Single-Allergen Personalized Preparations</a:t>
            </a:r>
          </a:p>
        </p:txBody>
      </p:sp>
      <p:cxnSp>
        <p:nvCxnSpPr>
          <p:cNvPr id="111" name="Connector 110"/>
          <p:cNvCxnSpPr/>
          <p:nvPr/>
        </p:nvCxnSpPr>
        <p:spPr>
          <a:xfrm>
            <a:off x="61722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63912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3" name="TextBox 112"/>
          <p:cNvSpPr txBox="1"/>
          <p:nvPr/>
        </p:nvSpPr>
        <p:spPr>
          <a:xfrm>
            <a:off x="6581775" y="232029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Multi-Allergen Personalized Preparations</a:t>
            </a:r>
          </a:p>
        </p:txBody>
      </p:sp>
      <p:cxnSp>
        <p:nvCxnSpPr>
          <p:cNvPr id="114" name="Connector 113"/>
          <p:cNvCxnSpPr/>
          <p:nvPr/>
        </p:nvCxnSpPr>
        <p:spPr>
          <a:xfrm>
            <a:off x="61722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621982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6" name="TextBox 115"/>
          <p:cNvSpPr txBox="1"/>
          <p:nvPr/>
        </p:nvSpPr>
        <p:spPr>
          <a:xfrm>
            <a:off x="6410325" y="267462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Bulk Allergen Extracts</a:t>
            </a:r>
          </a:p>
        </p:txBody>
      </p:sp>
      <p:cxnSp>
        <p:nvCxnSpPr>
          <p:cNvPr id="117" name="Connector 116"/>
          <p:cNvCxnSpPr/>
          <p:nvPr/>
        </p:nvCxnSpPr>
        <p:spPr>
          <a:xfrm>
            <a:off x="61722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63912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9" name="TextBox 118"/>
          <p:cNvSpPr txBox="1"/>
          <p:nvPr/>
        </p:nvSpPr>
        <p:spPr>
          <a:xfrm>
            <a:off x="6581775" y="28517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Allergen Stock Concentrates</a:t>
            </a:r>
          </a:p>
        </p:txBody>
      </p:sp>
      <p:cxnSp>
        <p:nvCxnSpPr>
          <p:cNvPr id="120" name="Connector 119"/>
          <p:cNvCxnSpPr/>
          <p:nvPr/>
        </p:nvCxnSpPr>
        <p:spPr>
          <a:xfrm>
            <a:off x="61722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63912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2" name="TextBox 121"/>
          <p:cNvSpPr txBox="1"/>
          <p:nvPr/>
        </p:nvSpPr>
        <p:spPr>
          <a:xfrm>
            <a:off x="6581775" y="30289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Venom Extracts</a:t>
            </a:r>
          </a:p>
        </p:txBody>
      </p:sp>
      <p:sp>
        <p:nvSpPr>
          <p:cNvPr id="123" name="Rectangle 122"/>
          <p:cNvSpPr/>
          <p:nvPr/>
        </p:nvSpPr>
        <p:spPr>
          <a:xfrm>
            <a:off x="9172575" y="1028700"/>
            <a:ext cx="2876550" cy="164592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91725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Allergen Preparation Technology</a:t>
            </a:r>
          </a:p>
        </p:txBody>
      </p:sp>
      <p:sp>
        <p:nvSpPr>
          <p:cNvPr id="126" name="TextBox 125"/>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7" name="TextBox 126"/>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Native Allergen Extracts</a:t>
            </a:r>
          </a:p>
        </p:txBody>
      </p:sp>
      <p:cxnSp>
        <p:nvCxnSpPr>
          <p:cNvPr id="128" name="Connector 127"/>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94011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0" name="TextBox 129"/>
          <p:cNvSpPr txBox="1"/>
          <p:nvPr/>
        </p:nvSpPr>
        <p:spPr>
          <a:xfrm>
            <a:off x="95916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Standardized Allergen Extracts</a:t>
            </a:r>
          </a:p>
        </p:txBody>
      </p:sp>
      <p:cxnSp>
        <p:nvCxnSpPr>
          <p:cNvPr id="131" name="Connector 130"/>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94011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3" name="TextBox 132"/>
          <p:cNvSpPr txBox="1"/>
          <p:nvPr/>
        </p:nvSpPr>
        <p:spPr>
          <a:xfrm>
            <a:off x="95916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Non-standardized Allergen Extracts</a:t>
            </a:r>
          </a:p>
        </p:txBody>
      </p:sp>
      <p:cxnSp>
        <p:nvCxnSpPr>
          <p:cNvPr id="134" name="Connector 133"/>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92297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6" name="TextBox 135"/>
          <p:cNvSpPr txBox="1"/>
          <p:nvPr/>
        </p:nvSpPr>
        <p:spPr>
          <a:xfrm>
            <a:off x="9420225" y="178879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Modified Allergen</a:t>
            </a:r>
          </a:p>
        </p:txBody>
      </p:sp>
      <p:cxnSp>
        <p:nvCxnSpPr>
          <p:cNvPr id="137" name="Connector 136"/>
          <p:cNvCxnSpPr/>
          <p:nvPr/>
        </p:nvCxnSpPr>
        <p:spPr>
          <a:xfrm>
            <a:off x="91821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94011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9" name="TextBox 138"/>
          <p:cNvSpPr txBox="1"/>
          <p:nvPr/>
        </p:nvSpPr>
        <p:spPr>
          <a:xfrm>
            <a:off x="95916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Polymerized Allergoids</a:t>
            </a:r>
          </a:p>
        </p:txBody>
      </p:sp>
      <p:cxnSp>
        <p:nvCxnSpPr>
          <p:cNvPr id="140" name="Connector 139"/>
          <p:cNvCxnSpPr/>
          <p:nvPr/>
        </p:nvCxnSpPr>
        <p:spPr>
          <a:xfrm>
            <a:off x="91821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94011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2" name="TextBox 141"/>
          <p:cNvSpPr txBox="1"/>
          <p:nvPr/>
        </p:nvSpPr>
        <p:spPr>
          <a:xfrm>
            <a:off x="95916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Depigmented-Polymerized Allergoids</a:t>
            </a:r>
          </a:p>
        </p:txBody>
      </p:sp>
      <p:cxnSp>
        <p:nvCxnSpPr>
          <p:cNvPr id="143" name="Connector 142"/>
          <p:cNvCxnSpPr/>
          <p:nvPr/>
        </p:nvCxnSpPr>
        <p:spPr>
          <a:xfrm>
            <a:off x="91821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4011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5" name="TextBox 144"/>
          <p:cNvSpPr txBox="1"/>
          <p:nvPr/>
        </p:nvSpPr>
        <p:spPr>
          <a:xfrm>
            <a:off x="9591675" y="23202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Carbamylated Allergoids</a:t>
            </a:r>
          </a:p>
        </p:txBody>
      </p:sp>
      <p:cxnSp>
        <p:nvCxnSpPr>
          <p:cNvPr id="146" name="Connector 145"/>
          <p:cNvCxnSpPr/>
          <p:nvPr/>
        </p:nvCxnSpPr>
        <p:spPr>
          <a:xfrm>
            <a:off x="91821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922972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8" name="TextBox 147"/>
          <p:cNvSpPr txBox="1"/>
          <p:nvPr/>
        </p:nvSpPr>
        <p:spPr>
          <a:xfrm>
            <a:off x="9420225" y="249745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Molecular Allergen Preparations</a:t>
            </a:r>
          </a:p>
        </p:txBody>
      </p:sp>
      <p:sp>
        <p:nvSpPr>
          <p:cNvPr id="149" name="Rectangle 148"/>
          <p:cNvSpPr/>
          <p:nvPr/>
        </p:nvSpPr>
        <p:spPr>
          <a:xfrm>
            <a:off x="9172575" y="2788920"/>
            <a:ext cx="28765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9172575" y="278892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9248775" y="278892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Sales / Procurement Channel</a:t>
            </a:r>
          </a:p>
        </p:txBody>
      </p:sp>
      <p:sp>
        <p:nvSpPr>
          <p:cNvPr id="152" name="TextBox 151"/>
          <p:cNvSpPr txBox="1"/>
          <p:nvPr/>
        </p:nvSpPr>
        <p:spPr>
          <a:xfrm>
            <a:off x="9229725" y="30175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3" name="TextBox 152"/>
          <p:cNvSpPr txBox="1"/>
          <p:nvPr/>
        </p:nvSpPr>
        <p:spPr>
          <a:xfrm>
            <a:off x="9420225" y="301752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Direct-to-Allergy Clinics</a:t>
            </a:r>
          </a:p>
        </p:txBody>
      </p:sp>
      <p:cxnSp>
        <p:nvCxnSpPr>
          <p:cNvPr id="154" name="Connector 153"/>
          <p:cNvCxnSpPr/>
          <p:nvPr/>
        </p:nvCxnSpPr>
        <p:spPr>
          <a:xfrm>
            <a:off x="9182100" y="31946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9401175" y="31946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6" name="TextBox 155"/>
          <p:cNvSpPr txBox="1"/>
          <p:nvPr/>
        </p:nvSpPr>
        <p:spPr>
          <a:xfrm>
            <a:off x="9591675" y="31946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Customized Allergen Vaccines</a:t>
            </a:r>
          </a:p>
        </p:txBody>
      </p:sp>
      <p:cxnSp>
        <p:nvCxnSpPr>
          <p:cNvPr id="157" name="Connector 156"/>
          <p:cNvCxnSpPr/>
          <p:nvPr/>
        </p:nvCxnSpPr>
        <p:spPr>
          <a:xfrm>
            <a:off x="9182100" y="33718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9401175" y="33718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9" name="TextBox 158"/>
          <p:cNvSpPr txBox="1"/>
          <p:nvPr/>
        </p:nvSpPr>
        <p:spPr>
          <a:xfrm>
            <a:off x="9591675" y="33718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Bulk Extract Supply</a:t>
            </a:r>
          </a:p>
        </p:txBody>
      </p:sp>
      <p:cxnSp>
        <p:nvCxnSpPr>
          <p:cNvPr id="160" name="Connector 159"/>
          <p:cNvCxnSpPr/>
          <p:nvPr/>
        </p:nvCxnSpPr>
        <p:spPr>
          <a:xfrm>
            <a:off x="9182100" y="35490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9229725" y="35490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2" name="TextBox 161"/>
          <p:cNvSpPr txBox="1"/>
          <p:nvPr/>
        </p:nvSpPr>
        <p:spPr>
          <a:xfrm>
            <a:off x="9420225" y="354901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Hospital Procurement</a:t>
            </a:r>
          </a:p>
        </p:txBody>
      </p:sp>
      <p:cxnSp>
        <p:nvCxnSpPr>
          <p:cNvPr id="163" name="Connector 162"/>
          <p:cNvCxnSpPr/>
          <p:nvPr/>
        </p:nvCxnSpPr>
        <p:spPr>
          <a:xfrm>
            <a:off x="9182100" y="37261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4" name="TextBox 163"/>
          <p:cNvSpPr txBox="1"/>
          <p:nvPr/>
        </p:nvSpPr>
        <p:spPr>
          <a:xfrm>
            <a:off x="9229725" y="37261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5" name="TextBox 164"/>
          <p:cNvSpPr txBox="1"/>
          <p:nvPr/>
        </p:nvSpPr>
        <p:spPr>
          <a:xfrm>
            <a:off x="9420225" y="372618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Retail Pharmacy</a:t>
            </a:r>
          </a:p>
        </p:txBody>
      </p:sp>
      <p:cxnSp>
        <p:nvCxnSpPr>
          <p:cNvPr id="166" name="Connector 165"/>
          <p:cNvCxnSpPr/>
          <p:nvPr/>
        </p:nvCxnSpPr>
        <p:spPr>
          <a:xfrm>
            <a:off x="9182100" y="39033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7" name="TextBox 166"/>
          <p:cNvSpPr txBox="1"/>
          <p:nvPr/>
        </p:nvSpPr>
        <p:spPr>
          <a:xfrm>
            <a:off x="9229725" y="39033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8" name="TextBox 167"/>
          <p:cNvSpPr txBox="1"/>
          <p:nvPr/>
        </p:nvSpPr>
        <p:spPr>
          <a:xfrm>
            <a:off x="9420225" y="390334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Pharmaceutical Distributor</a:t>
            </a:r>
          </a:p>
        </p:txBody>
      </p:sp>
      <p:cxnSp>
        <p:nvCxnSpPr>
          <p:cNvPr id="169" name="Connector 168"/>
          <p:cNvCxnSpPr/>
          <p:nvPr/>
        </p:nvCxnSpPr>
        <p:spPr>
          <a:xfrm>
            <a:off x="9182100" y="40805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0" name="TextBox 169"/>
          <p:cNvSpPr txBox="1"/>
          <p:nvPr/>
        </p:nvSpPr>
        <p:spPr>
          <a:xfrm>
            <a:off x="9229725" y="40805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1" name="TextBox 170"/>
          <p:cNvSpPr txBox="1"/>
          <p:nvPr/>
        </p:nvSpPr>
        <p:spPr>
          <a:xfrm>
            <a:off x="9420225" y="408051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Mail-order Pharmacy</a:t>
            </a:r>
          </a:p>
        </p:txBody>
      </p:sp>
      <p:sp>
        <p:nvSpPr>
          <p:cNvPr id="172" name="TextBox 17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 (2/4)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9 axes and the sub-segments sized under each</a:t>
            </a:r>
          </a:p>
        </p:txBody>
      </p:sp>
      <p:sp>
        <p:nvSpPr>
          <p:cNvPr id="10" name="Rectangle 9"/>
          <p:cNvSpPr/>
          <p:nvPr/>
        </p:nvSpPr>
        <p:spPr>
          <a:xfrm>
            <a:off x="142875" y="1028700"/>
            <a:ext cx="2876550" cy="554355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Company × Allergen Class (1/5)</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ALK-Abelló A/S</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14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5619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Grass Pollen</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14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5619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Tree Pollen</a:t>
            </a:r>
          </a:p>
        </p:txBody>
      </p:sp>
      <p:cxnSp>
        <p:nvCxnSpPr>
          <p:cNvPr id="21" name="Connector 20"/>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714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5619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Weed &amp; Ragweed Pollen</a:t>
            </a:r>
          </a:p>
        </p:txBody>
      </p:sp>
      <p:cxnSp>
        <p:nvCxnSpPr>
          <p:cNvPr id="24" name="Connector 23"/>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714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5619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House Dust Mite</a:t>
            </a:r>
          </a:p>
        </p:txBody>
      </p:sp>
      <p:cxnSp>
        <p:nvCxnSpPr>
          <p:cNvPr id="27" name="Connector 26"/>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714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5619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Animal Dander / Epithelia</a:t>
            </a:r>
          </a:p>
        </p:txBody>
      </p:sp>
      <p:cxnSp>
        <p:nvCxnSpPr>
          <p:cNvPr id="30" name="Connector 29"/>
          <p:cNvCxnSpPr/>
          <p:nvPr/>
        </p:nvCxnSpPr>
        <p:spPr>
          <a:xfrm>
            <a:off x="1524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14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 name="TextBox 31"/>
          <p:cNvSpPr txBox="1"/>
          <p:nvPr/>
        </p:nvSpPr>
        <p:spPr>
          <a:xfrm>
            <a:off x="561975" y="23202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Mold &amp; Fungal Allergens</a:t>
            </a:r>
          </a:p>
        </p:txBody>
      </p:sp>
      <p:cxnSp>
        <p:nvCxnSpPr>
          <p:cNvPr id="33" name="Connector 32"/>
          <p:cNvCxnSpPr/>
          <p:nvPr/>
        </p:nvCxnSpPr>
        <p:spPr>
          <a:xfrm>
            <a:off x="1524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7147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5" name="TextBox 34"/>
          <p:cNvSpPr txBox="1"/>
          <p:nvPr/>
        </p:nvSpPr>
        <p:spPr>
          <a:xfrm>
            <a:off x="561975" y="24974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Honeybee Venom</a:t>
            </a:r>
          </a:p>
        </p:txBody>
      </p:sp>
      <p:cxnSp>
        <p:nvCxnSpPr>
          <p:cNvPr id="36" name="Connector 35"/>
          <p:cNvCxnSpPr/>
          <p:nvPr/>
        </p:nvCxnSpPr>
        <p:spPr>
          <a:xfrm>
            <a:off x="1524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714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8" name="TextBox 37"/>
          <p:cNvSpPr txBox="1"/>
          <p:nvPr/>
        </p:nvSpPr>
        <p:spPr>
          <a:xfrm>
            <a:off x="561975" y="26746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Wasp / Yellow Jacket / Hornet Venom</a:t>
            </a:r>
          </a:p>
        </p:txBody>
      </p:sp>
      <p:cxnSp>
        <p:nvCxnSpPr>
          <p:cNvPr id="39" name="Connector 38"/>
          <p:cNvCxnSpPr/>
          <p:nvPr/>
        </p:nvCxnSpPr>
        <p:spPr>
          <a:xfrm>
            <a:off x="1524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714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1" name="TextBox 40"/>
          <p:cNvSpPr txBox="1"/>
          <p:nvPr/>
        </p:nvSpPr>
        <p:spPr>
          <a:xfrm>
            <a:off x="561975" y="28517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Mixed Vespid Venom</a:t>
            </a:r>
          </a:p>
        </p:txBody>
      </p:sp>
      <p:cxnSp>
        <p:nvCxnSpPr>
          <p:cNvPr id="42" name="Connector 41"/>
          <p:cNvCxnSpPr/>
          <p:nvPr/>
        </p:nvCxnSpPr>
        <p:spPr>
          <a:xfrm>
            <a:off x="1524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714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4" name="TextBox 43"/>
          <p:cNvSpPr txBox="1"/>
          <p:nvPr/>
        </p:nvSpPr>
        <p:spPr>
          <a:xfrm>
            <a:off x="561975" y="30289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Peanut</a:t>
            </a:r>
          </a:p>
        </p:txBody>
      </p:sp>
      <p:cxnSp>
        <p:nvCxnSpPr>
          <p:cNvPr id="45" name="Connector 44"/>
          <p:cNvCxnSpPr/>
          <p:nvPr/>
        </p:nvCxnSpPr>
        <p:spPr>
          <a:xfrm>
            <a:off x="1524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714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561975" y="32061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Food Allergens</a:t>
            </a:r>
          </a:p>
        </p:txBody>
      </p:sp>
      <p:cxnSp>
        <p:nvCxnSpPr>
          <p:cNvPr id="48" name="Connector 47"/>
          <p:cNvCxnSpPr/>
          <p:nvPr/>
        </p:nvCxnSpPr>
        <p:spPr>
          <a:xfrm>
            <a:off x="1524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0002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390525" y="338328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Stallergenes Greer International AG</a:t>
            </a:r>
          </a:p>
        </p:txBody>
      </p:sp>
      <p:cxnSp>
        <p:nvCxnSpPr>
          <p:cNvPr id="51" name="Connector 50"/>
          <p:cNvCxnSpPr/>
          <p:nvPr/>
        </p:nvCxnSpPr>
        <p:spPr>
          <a:xfrm>
            <a:off x="1524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14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3" name="TextBox 52"/>
          <p:cNvSpPr txBox="1"/>
          <p:nvPr/>
        </p:nvSpPr>
        <p:spPr>
          <a:xfrm>
            <a:off x="561975" y="35604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Grass Pollen</a:t>
            </a:r>
          </a:p>
        </p:txBody>
      </p:sp>
      <p:cxnSp>
        <p:nvCxnSpPr>
          <p:cNvPr id="54" name="Connector 53"/>
          <p:cNvCxnSpPr/>
          <p:nvPr/>
        </p:nvCxnSpPr>
        <p:spPr>
          <a:xfrm>
            <a:off x="1524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37147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6" name="TextBox 55"/>
          <p:cNvSpPr txBox="1"/>
          <p:nvPr/>
        </p:nvSpPr>
        <p:spPr>
          <a:xfrm>
            <a:off x="561975" y="37376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Tree Pollen</a:t>
            </a:r>
          </a:p>
        </p:txBody>
      </p:sp>
      <p:cxnSp>
        <p:nvCxnSpPr>
          <p:cNvPr id="57" name="Connector 56"/>
          <p:cNvCxnSpPr/>
          <p:nvPr/>
        </p:nvCxnSpPr>
        <p:spPr>
          <a:xfrm>
            <a:off x="1524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7147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9" name="TextBox 58"/>
          <p:cNvSpPr txBox="1"/>
          <p:nvPr/>
        </p:nvSpPr>
        <p:spPr>
          <a:xfrm>
            <a:off x="561975" y="39147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Weed &amp; Ragweed Pollen</a:t>
            </a:r>
          </a:p>
        </p:txBody>
      </p:sp>
      <p:cxnSp>
        <p:nvCxnSpPr>
          <p:cNvPr id="60" name="Connector 59"/>
          <p:cNvCxnSpPr/>
          <p:nvPr/>
        </p:nvCxnSpPr>
        <p:spPr>
          <a:xfrm>
            <a:off x="1524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714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2" name="TextBox 61"/>
          <p:cNvSpPr txBox="1"/>
          <p:nvPr/>
        </p:nvSpPr>
        <p:spPr>
          <a:xfrm>
            <a:off x="561975" y="40919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House Dust Mite</a:t>
            </a:r>
          </a:p>
        </p:txBody>
      </p:sp>
      <p:cxnSp>
        <p:nvCxnSpPr>
          <p:cNvPr id="63" name="Connector 62"/>
          <p:cNvCxnSpPr/>
          <p:nvPr/>
        </p:nvCxnSpPr>
        <p:spPr>
          <a:xfrm>
            <a:off x="152400" y="42691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371475" y="42691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5" name="TextBox 64"/>
          <p:cNvSpPr txBox="1"/>
          <p:nvPr/>
        </p:nvSpPr>
        <p:spPr>
          <a:xfrm>
            <a:off x="561975" y="42691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Animal Dander / Epithelia</a:t>
            </a:r>
          </a:p>
        </p:txBody>
      </p:sp>
      <p:cxnSp>
        <p:nvCxnSpPr>
          <p:cNvPr id="66" name="Connector 65"/>
          <p:cNvCxnSpPr/>
          <p:nvPr/>
        </p:nvCxnSpPr>
        <p:spPr>
          <a:xfrm>
            <a:off x="1524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37147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61975" y="44462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Mold &amp; Fungal Allergens</a:t>
            </a:r>
          </a:p>
        </p:txBody>
      </p:sp>
      <p:cxnSp>
        <p:nvCxnSpPr>
          <p:cNvPr id="69" name="Connector 68"/>
          <p:cNvCxnSpPr/>
          <p:nvPr/>
        </p:nvCxnSpPr>
        <p:spPr>
          <a:xfrm>
            <a:off x="1524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37147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61975" y="46234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Honeybee Venom</a:t>
            </a:r>
          </a:p>
        </p:txBody>
      </p:sp>
      <p:cxnSp>
        <p:nvCxnSpPr>
          <p:cNvPr id="72" name="Connector 71"/>
          <p:cNvCxnSpPr/>
          <p:nvPr/>
        </p:nvCxnSpPr>
        <p:spPr>
          <a:xfrm>
            <a:off x="152400" y="48006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371475" y="48006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4" name="TextBox 73"/>
          <p:cNvSpPr txBox="1"/>
          <p:nvPr/>
        </p:nvSpPr>
        <p:spPr>
          <a:xfrm>
            <a:off x="561975" y="480060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Wasp / Yellow Jacket / Hornet Venom</a:t>
            </a:r>
          </a:p>
        </p:txBody>
      </p:sp>
      <p:cxnSp>
        <p:nvCxnSpPr>
          <p:cNvPr id="75" name="Connector 74"/>
          <p:cNvCxnSpPr/>
          <p:nvPr/>
        </p:nvCxnSpPr>
        <p:spPr>
          <a:xfrm>
            <a:off x="152400" y="49777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371475" y="49777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7" name="TextBox 76"/>
          <p:cNvSpPr txBox="1"/>
          <p:nvPr/>
        </p:nvSpPr>
        <p:spPr>
          <a:xfrm>
            <a:off x="561975" y="49777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Mixed Vespid Venom</a:t>
            </a:r>
          </a:p>
        </p:txBody>
      </p:sp>
      <p:cxnSp>
        <p:nvCxnSpPr>
          <p:cNvPr id="78" name="Connector 77"/>
          <p:cNvCxnSpPr/>
          <p:nvPr/>
        </p:nvCxnSpPr>
        <p:spPr>
          <a:xfrm>
            <a:off x="152400" y="51549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371475" y="51549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0" name="TextBox 79"/>
          <p:cNvSpPr txBox="1"/>
          <p:nvPr/>
        </p:nvSpPr>
        <p:spPr>
          <a:xfrm>
            <a:off x="561975" y="51549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Peanut</a:t>
            </a:r>
          </a:p>
        </p:txBody>
      </p:sp>
      <p:cxnSp>
        <p:nvCxnSpPr>
          <p:cNvPr id="81" name="Connector 80"/>
          <p:cNvCxnSpPr/>
          <p:nvPr/>
        </p:nvCxnSpPr>
        <p:spPr>
          <a:xfrm>
            <a:off x="152400" y="53320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371475" y="53320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3" name="TextBox 82"/>
          <p:cNvSpPr txBox="1"/>
          <p:nvPr/>
        </p:nvSpPr>
        <p:spPr>
          <a:xfrm>
            <a:off x="561975" y="53320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Food Allergens</a:t>
            </a:r>
          </a:p>
        </p:txBody>
      </p:sp>
      <p:cxnSp>
        <p:nvCxnSpPr>
          <p:cNvPr id="84" name="Connector 83"/>
          <p:cNvCxnSpPr/>
          <p:nvPr/>
        </p:nvCxnSpPr>
        <p:spPr>
          <a:xfrm>
            <a:off x="152400" y="55092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200025" y="55092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6" name="TextBox 85"/>
          <p:cNvSpPr txBox="1"/>
          <p:nvPr/>
        </p:nvSpPr>
        <p:spPr>
          <a:xfrm>
            <a:off x="390525" y="550926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Allergy Therapeutics plc</a:t>
            </a:r>
          </a:p>
        </p:txBody>
      </p:sp>
      <p:cxnSp>
        <p:nvCxnSpPr>
          <p:cNvPr id="87" name="Connector 86"/>
          <p:cNvCxnSpPr/>
          <p:nvPr/>
        </p:nvCxnSpPr>
        <p:spPr>
          <a:xfrm>
            <a:off x="152400" y="56864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371475" y="56864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561975" y="56864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Grass Pollen</a:t>
            </a:r>
          </a:p>
        </p:txBody>
      </p:sp>
      <p:cxnSp>
        <p:nvCxnSpPr>
          <p:cNvPr id="90" name="Connector 89"/>
          <p:cNvCxnSpPr/>
          <p:nvPr/>
        </p:nvCxnSpPr>
        <p:spPr>
          <a:xfrm>
            <a:off x="152400" y="58635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371475" y="58635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561975" y="58635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Tree Pollen</a:t>
            </a:r>
          </a:p>
        </p:txBody>
      </p:sp>
      <p:cxnSp>
        <p:nvCxnSpPr>
          <p:cNvPr id="93" name="Connector 92"/>
          <p:cNvCxnSpPr/>
          <p:nvPr/>
        </p:nvCxnSpPr>
        <p:spPr>
          <a:xfrm>
            <a:off x="152400" y="60407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371475" y="60407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5" name="TextBox 94"/>
          <p:cNvSpPr txBox="1"/>
          <p:nvPr/>
        </p:nvSpPr>
        <p:spPr>
          <a:xfrm>
            <a:off x="561975" y="60407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Weed &amp; Ragweed Pollen</a:t>
            </a:r>
          </a:p>
        </p:txBody>
      </p:sp>
      <p:cxnSp>
        <p:nvCxnSpPr>
          <p:cNvPr id="96" name="Connector 95"/>
          <p:cNvCxnSpPr/>
          <p:nvPr/>
        </p:nvCxnSpPr>
        <p:spPr>
          <a:xfrm>
            <a:off x="152400" y="62179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371475" y="62179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8" name="TextBox 97"/>
          <p:cNvSpPr txBox="1"/>
          <p:nvPr/>
        </p:nvSpPr>
        <p:spPr>
          <a:xfrm>
            <a:off x="561975" y="62179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House Dust Mite</a:t>
            </a:r>
          </a:p>
        </p:txBody>
      </p:sp>
      <p:cxnSp>
        <p:nvCxnSpPr>
          <p:cNvPr id="99" name="Connector 98"/>
          <p:cNvCxnSpPr/>
          <p:nvPr/>
        </p:nvCxnSpPr>
        <p:spPr>
          <a:xfrm>
            <a:off x="152400" y="63950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371475" y="63950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1" name="TextBox 100"/>
          <p:cNvSpPr txBox="1"/>
          <p:nvPr/>
        </p:nvSpPr>
        <p:spPr>
          <a:xfrm>
            <a:off x="561975" y="63950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Animal Dander / Epithelia</a:t>
            </a:r>
          </a:p>
        </p:txBody>
      </p:sp>
      <p:sp>
        <p:nvSpPr>
          <p:cNvPr id="102" name="Rectangle 101"/>
          <p:cNvSpPr/>
          <p:nvPr/>
        </p:nvSpPr>
        <p:spPr>
          <a:xfrm>
            <a:off x="3152775" y="1028700"/>
            <a:ext cx="2876550" cy="554355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31527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Company × Allergen Class (2/5)</a:t>
            </a:r>
          </a:p>
        </p:txBody>
      </p:sp>
      <p:sp>
        <p:nvSpPr>
          <p:cNvPr id="105" name="TextBox 104"/>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6" name="TextBox 105"/>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Allergy Therapeutics plc</a:t>
            </a:r>
          </a:p>
        </p:txBody>
      </p:sp>
      <p:cxnSp>
        <p:nvCxnSpPr>
          <p:cNvPr id="107" name="Connector 106"/>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33813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9" name="TextBox 108"/>
          <p:cNvSpPr txBox="1"/>
          <p:nvPr/>
        </p:nvSpPr>
        <p:spPr>
          <a:xfrm>
            <a:off x="35718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Mold &amp; Fungal Allergens</a:t>
            </a:r>
          </a:p>
        </p:txBody>
      </p:sp>
      <p:cxnSp>
        <p:nvCxnSpPr>
          <p:cNvPr id="110" name="Connector 109"/>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33813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2" name="TextBox 111"/>
          <p:cNvSpPr txBox="1"/>
          <p:nvPr/>
        </p:nvSpPr>
        <p:spPr>
          <a:xfrm>
            <a:off x="35718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Honeybee Venom</a:t>
            </a:r>
          </a:p>
        </p:txBody>
      </p:sp>
      <p:cxnSp>
        <p:nvCxnSpPr>
          <p:cNvPr id="113" name="Connector 112"/>
          <p:cNvCxnSpPr/>
          <p:nvPr/>
        </p:nvCxnSpPr>
        <p:spPr>
          <a:xfrm>
            <a:off x="31623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33813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5" name="TextBox 114"/>
          <p:cNvSpPr txBox="1"/>
          <p:nvPr/>
        </p:nvSpPr>
        <p:spPr>
          <a:xfrm>
            <a:off x="35718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Wasp / Yellow Jacket / Hornet Venom</a:t>
            </a:r>
          </a:p>
        </p:txBody>
      </p:sp>
      <p:cxnSp>
        <p:nvCxnSpPr>
          <p:cNvPr id="116" name="Connector 115"/>
          <p:cNvCxnSpPr/>
          <p:nvPr/>
        </p:nvCxnSpPr>
        <p:spPr>
          <a:xfrm>
            <a:off x="31623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33813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8" name="TextBox 117"/>
          <p:cNvSpPr txBox="1"/>
          <p:nvPr/>
        </p:nvSpPr>
        <p:spPr>
          <a:xfrm>
            <a:off x="35718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Mixed Vespid Venom</a:t>
            </a:r>
          </a:p>
        </p:txBody>
      </p:sp>
      <p:cxnSp>
        <p:nvCxnSpPr>
          <p:cNvPr id="119" name="Connector 118"/>
          <p:cNvCxnSpPr/>
          <p:nvPr/>
        </p:nvCxnSpPr>
        <p:spPr>
          <a:xfrm>
            <a:off x="31623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33813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35718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Peanut</a:t>
            </a:r>
          </a:p>
        </p:txBody>
      </p:sp>
      <p:cxnSp>
        <p:nvCxnSpPr>
          <p:cNvPr id="122" name="Connector 121"/>
          <p:cNvCxnSpPr/>
          <p:nvPr/>
        </p:nvCxnSpPr>
        <p:spPr>
          <a:xfrm>
            <a:off x="31623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33813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4" name="TextBox 123"/>
          <p:cNvSpPr txBox="1"/>
          <p:nvPr/>
        </p:nvSpPr>
        <p:spPr>
          <a:xfrm>
            <a:off x="3571875" y="23202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Food Allergens</a:t>
            </a:r>
          </a:p>
        </p:txBody>
      </p:sp>
      <p:cxnSp>
        <p:nvCxnSpPr>
          <p:cNvPr id="125" name="Connector 124"/>
          <p:cNvCxnSpPr/>
          <p:nvPr/>
        </p:nvCxnSpPr>
        <p:spPr>
          <a:xfrm>
            <a:off x="31623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320992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7" name="TextBox 126"/>
          <p:cNvSpPr txBox="1"/>
          <p:nvPr/>
        </p:nvSpPr>
        <p:spPr>
          <a:xfrm>
            <a:off x="3400425" y="249745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HAL Allergy Group</a:t>
            </a:r>
          </a:p>
        </p:txBody>
      </p:sp>
      <p:cxnSp>
        <p:nvCxnSpPr>
          <p:cNvPr id="128" name="Connector 127"/>
          <p:cNvCxnSpPr/>
          <p:nvPr/>
        </p:nvCxnSpPr>
        <p:spPr>
          <a:xfrm>
            <a:off x="31623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33813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0" name="TextBox 129"/>
          <p:cNvSpPr txBox="1"/>
          <p:nvPr/>
        </p:nvSpPr>
        <p:spPr>
          <a:xfrm>
            <a:off x="3571875" y="26746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Grass Pollen</a:t>
            </a:r>
          </a:p>
        </p:txBody>
      </p:sp>
      <p:cxnSp>
        <p:nvCxnSpPr>
          <p:cNvPr id="131" name="Connector 130"/>
          <p:cNvCxnSpPr/>
          <p:nvPr/>
        </p:nvCxnSpPr>
        <p:spPr>
          <a:xfrm>
            <a:off x="31623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33813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3" name="TextBox 132"/>
          <p:cNvSpPr txBox="1"/>
          <p:nvPr/>
        </p:nvSpPr>
        <p:spPr>
          <a:xfrm>
            <a:off x="3571875" y="28517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Tree Pollen</a:t>
            </a:r>
          </a:p>
        </p:txBody>
      </p:sp>
      <p:cxnSp>
        <p:nvCxnSpPr>
          <p:cNvPr id="134" name="Connector 133"/>
          <p:cNvCxnSpPr/>
          <p:nvPr/>
        </p:nvCxnSpPr>
        <p:spPr>
          <a:xfrm>
            <a:off x="31623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33813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6" name="TextBox 135"/>
          <p:cNvSpPr txBox="1"/>
          <p:nvPr/>
        </p:nvSpPr>
        <p:spPr>
          <a:xfrm>
            <a:off x="3571875" y="30289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Weed &amp; Ragweed Pollen</a:t>
            </a:r>
          </a:p>
        </p:txBody>
      </p:sp>
      <p:cxnSp>
        <p:nvCxnSpPr>
          <p:cNvPr id="137" name="Connector 136"/>
          <p:cNvCxnSpPr/>
          <p:nvPr/>
        </p:nvCxnSpPr>
        <p:spPr>
          <a:xfrm>
            <a:off x="31623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33813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9" name="TextBox 138"/>
          <p:cNvSpPr txBox="1"/>
          <p:nvPr/>
        </p:nvSpPr>
        <p:spPr>
          <a:xfrm>
            <a:off x="3571875" y="32061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House Dust Mite</a:t>
            </a:r>
          </a:p>
        </p:txBody>
      </p:sp>
      <p:cxnSp>
        <p:nvCxnSpPr>
          <p:cNvPr id="140" name="Connector 139"/>
          <p:cNvCxnSpPr/>
          <p:nvPr/>
        </p:nvCxnSpPr>
        <p:spPr>
          <a:xfrm>
            <a:off x="31623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33813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2" name="TextBox 141"/>
          <p:cNvSpPr txBox="1"/>
          <p:nvPr/>
        </p:nvSpPr>
        <p:spPr>
          <a:xfrm>
            <a:off x="3571875" y="33832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Animal Dander / Epithelia</a:t>
            </a:r>
          </a:p>
        </p:txBody>
      </p:sp>
      <p:cxnSp>
        <p:nvCxnSpPr>
          <p:cNvPr id="143" name="Connector 142"/>
          <p:cNvCxnSpPr/>
          <p:nvPr/>
        </p:nvCxnSpPr>
        <p:spPr>
          <a:xfrm>
            <a:off x="31623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33813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5" name="TextBox 144"/>
          <p:cNvSpPr txBox="1"/>
          <p:nvPr/>
        </p:nvSpPr>
        <p:spPr>
          <a:xfrm>
            <a:off x="3571875" y="35604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Mold &amp; Fungal Allergens</a:t>
            </a:r>
          </a:p>
        </p:txBody>
      </p:sp>
      <p:cxnSp>
        <p:nvCxnSpPr>
          <p:cNvPr id="146" name="Connector 145"/>
          <p:cNvCxnSpPr/>
          <p:nvPr/>
        </p:nvCxnSpPr>
        <p:spPr>
          <a:xfrm>
            <a:off x="31623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338137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8" name="TextBox 147"/>
          <p:cNvSpPr txBox="1"/>
          <p:nvPr/>
        </p:nvSpPr>
        <p:spPr>
          <a:xfrm>
            <a:off x="3571875" y="37376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Honeybee Venom</a:t>
            </a:r>
          </a:p>
        </p:txBody>
      </p:sp>
      <p:cxnSp>
        <p:nvCxnSpPr>
          <p:cNvPr id="149" name="Connector 148"/>
          <p:cNvCxnSpPr/>
          <p:nvPr/>
        </p:nvCxnSpPr>
        <p:spPr>
          <a:xfrm>
            <a:off x="31623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0" name="TextBox 149"/>
          <p:cNvSpPr txBox="1"/>
          <p:nvPr/>
        </p:nvSpPr>
        <p:spPr>
          <a:xfrm>
            <a:off x="338137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1" name="TextBox 150"/>
          <p:cNvSpPr txBox="1"/>
          <p:nvPr/>
        </p:nvSpPr>
        <p:spPr>
          <a:xfrm>
            <a:off x="3571875" y="39147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Wasp / Yellow Jacket / Hornet Venom</a:t>
            </a:r>
          </a:p>
        </p:txBody>
      </p:sp>
      <p:cxnSp>
        <p:nvCxnSpPr>
          <p:cNvPr id="152" name="Connector 151"/>
          <p:cNvCxnSpPr/>
          <p:nvPr/>
        </p:nvCxnSpPr>
        <p:spPr>
          <a:xfrm>
            <a:off x="31623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33813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4" name="TextBox 153"/>
          <p:cNvSpPr txBox="1"/>
          <p:nvPr/>
        </p:nvSpPr>
        <p:spPr>
          <a:xfrm>
            <a:off x="3571875" y="40919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Mixed Vespid Venom</a:t>
            </a:r>
          </a:p>
        </p:txBody>
      </p:sp>
      <p:cxnSp>
        <p:nvCxnSpPr>
          <p:cNvPr id="155" name="Connector 154"/>
          <p:cNvCxnSpPr/>
          <p:nvPr/>
        </p:nvCxnSpPr>
        <p:spPr>
          <a:xfrm>
            <a:off x="3162300" y="42691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6" name="TextBox 155"/>
          <p:cNvSpPr txBox="1"/>
          <p:nvPr/>
        </p:nvSpPr>
        <p:spPr>
          <a:xfrm>
            <a:off x="3381375" y="42691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7" name="TextBox 156"/>
          <p:cNvSpPr txBox="1"/>
          <p:nvPr/>
        </p:nvSpPr>
        <p:spPr>
          <a:xfrm>
            <a:off x="3571875" y="42691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Peanut</a:t>
            </a:r>
          </a:p>
        </p:txBody>
      </p:sp>
      <p:cxnSp>
        <p:nvCxnSpPr>
          <p:cNvPr id="158" name="Connector 157"/>
          <p:cNvCxnSpPr/>
          <p:nvPr/>
        </p:nvCxnSpPr>
        <p:spPr>
          <a:xfrm>
            <a:off x="31623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338137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0" name="TextBox 159"/>
          <p:cNvSpPr txBox="1"/>
          <p:nvPr/>
        </p:nvSpPr>
        <p:spPr>
          <a:xfrm>
            <a:off x="3571875" y="44462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Food Allergens</a:t>
            </a:r>
          </a:p>
        </p:txBody>
      </p:sp>
      <p:cxnSp>
        <p:nvCxnSpPr>
          <p:cNvPr id="161" name="Connector 160"/>
          <p:cNvCxnSpPr/>
          <p:nvPr/>
        </p:nvCxnSpPr>
        <p:spPr>
          <a:xfrm>
            <a:off x="31623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2" name="TextBox 161"/>
          <p:cNvSpPr txBox="1"/>
          <p:nvPr/>
        </p:nvSpPr>
        <p:spPr>
          <a:xfrm>
            <a:off x="320992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3" name="TextBox 162"/>
          <p:cNvSpPr txBox="1"/>
          <p:nvPr/>
        </p:nvSpPr>
        <p:spPr>
          <a:xfrm>
            <a:off x="3400425" y="462343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LETI Pharma / Laboratorios LETI, S.L.U.</a:t>
            </a:r>
          </a:p>
        </p:txBody>
      </p:sp>
      <p:cxnSp>
        <p:nvCxnSpPr>
          <p:cNvPr id="164" name="Connector 163"/>
          <p:cNvCxnSpPr/>
          <p:nvPr/>
        </p:nvCxnSpPr>
        <p:spPr>
          <a:xfrm>
            <a:off x="3162300" y="48006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5" name="TextBox 164"/>
          <p:cNvSpPr txBox="1"/>
          <p:nvPr/>
        </p:nvSpPr>
        <p:spPr>
          <a:xfrm>
            <a:off x="3381375" y="48006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6" name="TextBox 165"/>
          <p:cNvSpPr txBox="1"/>
          <p:nvPr/>
        </p:nvSpPr>
        <p:spPr>
          <a:xfrm>
            <a:off x="3571875" y="480060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Grass Pollen</a:t>
            </a:r>
          </a:p>
        </p:txBody>
      </p:sp>
      <p:cxnSp>
        <p:nvCxnSpPr>
          <p:cNvPr id="167" name="Connector 166"/>
          <p:cNvCxnSpPr/>
          <p:nvPr/>
        </p:nvCxnSpPr>
        <p:spPr>
          <a:xfrm>
            <a:off x="3162300" y="49777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8" name="TextBox 167"/>
          <p:cNvSpPr txBox="1"/>
          <p:nvPr/>
        </p:nvSpPr>
        <p:spPr>
          <a:xfrm>
            <a:off x="3381375" y="49777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9" name="TextBox 168"/>
          <p:cNvSpPr txBox="1"/>
          <p:nvPr/>
        </p:nvSpPr>
        <p:spPr>
          <a:xfrm>
            <a:off x="3571875" y="49777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Tree Pollen</a:t>
            </a:r>
          </a:p>
        </p:txBody>
      </p:sp>
      <p:cxnSp>
        <p:nvCxnSpPr>
          <p:cNvPr id="170" name="Connector 169"/>
          <p:cNvCxnSpPr/>
          <p:nvPr/>
        </p:nvCxnSpPr>
        <p:spPr>
          <a:xfrm>
            <a:off x="3162300" y="51549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1" name="TextBox 170"/>
          <p:cNvSpPr txBox="1"/>
          <p:nvPr/>
        </p:nvSpPr>
        <p:spPr>
          <a:xfrm>
            <a:off x="3381375" y="51549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2" name="TextBox 171"/>
          <p:cNvSpPr txBox="1"/>
          <p:nvPr/>
        </p:nvSpPr>
        <p:spPr>
          <a:xfrm>
            <a:off x="3571875" y="51549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Weed &amp; Ragweed Pollen</a:t>
            </a:r>
          </a:p>
        </p:txBody>
      </p:sp>
      <p:cxnSp>
        <p:nvCxnSpPr>
          <p:cNvPr id="173" name="Connector 172"/>
          <p:cNvCxnSpPr/>
          <p:nvPr/>
        </p:nvCxnSpPr>
        <p:spPr>
          <a:xfrm>
            <a:off x="3162300" y="53320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3381375" y="53320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5" name="TextBox 174"/>
          <p:cNvSpPr txBox="1"/>
          <p:nvPr/>
        </p:nvSpPr>
        <p:spPr>
          <a:xfrm>
            <a:off x="3571875" y="53320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House Dust Mite</a:t>
            </a:r>
          </a:p>
        </p:txBody>
      </p:sp>
      <p:cxnSp>
        <p:nvCxnSpPr>
          <p:cNvPr id="176" name="Connector 175"/>
          <p:cNvCxnSpPr/>
          <p:nvPr/>
        </p:nvCxnSpPr>
        <p:spPr>
          <a:xfrm>
            <a:off x="3162300" y="55092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3381375" y="55092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8" name="TextBox 177"/>
          <p:cNvSpPr txBox="1"/>
          <p:nvPr/>
        </p:nvSpPr>
        <p:spPr>
          <a:xfrm>
            <a:off x="3571875" y="55092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Animal Dander / Epithelia</a:t>
            </a:r>
          </a:p>
        </p:txBody>
      </p:sp>
      <p:cxnSp>
        <p:nvCxnSpPr>
          <p:cNvPr id="179" name="Connector 178"/>
          <p:cNvCxnSpPr/>
          <p:nvPr/>
        </p:nvCxnSpPr>
        <p:spPr>
          <a:xfrm>
            <a:off x="3162300" y="56864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0" name="TextBox 179"/>
          <p:cNvSpPr txBox="1"/>
          <p:nvPr/>
        </p:nvSpPr>
        <p:spPr>
          <a:xfrm>
            <a:off x="3381375" y="56864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1" name="TextBox 180"/>
          <p:cNvSpPr txBox="1"/>
          <p:nvPr/>
        </p:nvSpPr>
        <p:spPr>
          <a:xfrm>
            <a:off x="3571875" y="56864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Mold &amp; Fungal Allergens</a:t>
            </a:r>
          </a:p>
        </p:txBody>
      </p:sp>
      <p:cxnSp>
        <p:nvCxnSpPr>
          <p:cNvPr id="182" name="Connector 181"/>
          <p:cNvCxnSpPr/>
          <p:nvPr/>
        </p:nvCxnSpPr>
        <p:spPr>
          <a:xfrm>
            <a:off x="3162300" y="58635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3" name="TextBox 182"/>
          <p:cNvSpPr txBox="1"/>
          <p:nvPr/>
        </p:nvSpPr>
        <p:spPr>
          <a:xfrm>
            <a:off x="3381375" y="58635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4" name="TextBox 183"/>
          <p:cNvSpPr txBox="1"/>
          <p:nvPr/>
        </p:nvSpPr>
        <p:spPr>
          <a:xfrm>
            <a:off x="3571875" y="58635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Honeybee Venom</a:t>
            </a:r>
          </a:p>
        </p:txBody>
      </p:sp>
      <p:cxnSp>
        <p:nvCxnSpPr>
          <p:cNvPr id="185" name="Connector 184"/>
          <p:cNvCxnSpPr/>
          <p:nvPr/>
        </p:nvCxnSpPr>
        <p:spPr>
          <a:xfrm>
            <a:off x="3162300" y="60407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6" name="TextBox 185"/>
          <p:cNvSpPr txBox="1"/>
          <p:nvPr/>
        </p:nvSpPr>
        <p:spPr>
          <a:xfrm>
            <a:off x="3381375" y="60407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7" name="TextBox 186"/>
          <p:cNvSpPr txBox="1"/>
          <p:nvPr/>
        </p:nvSpPr>
        <p:spPr>
          <a:xfrm>
            <a:off x="3571875" y="60407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Wasp / Yellow Jacket / Hornet Venom</a:t>
            </a:r>
          </a:p>
        </p:txBody>
      </p:sp>
      <p:cxnSp>
        <p:nvCxnSpPr>
          <p:cNvPr id="188" name="Connector 187"/>
          <p:cNvCxnSpPr/>
          <p:nvPr/>
        </p:nvCxnSpPr>
        <p:spPr>
          <a:xfrm>
            <a:off x="3162300" y="62179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3381375" y="62179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90" name="TextBox 189"/>
          <p:cNvSpPr txBox="1"/>
          <p:nvPr/>
        </p:nvSpPr>
        <p:spPr>
          <a:xfrm>
            <a:off x="3571875" y="62179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Mixed Vespid Venom</a:t>
            </a:r>
          </a:p>
        </p:txBody>
      </p:sp>
      <p:cxnSp>
        <p:nvCxnSpPr>
          <p:cNvPr id="191" name="Connector 190"/>
          <p:cNvCxnSpPr/>
          <p:nvPr/>
        </p:nvCxnSpPr>
        <p:spPr>
          <a:xfrm>
            <a:off x="3162300" y="63950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2" name="TextBox 191"/>
          <p:cNvSpPr txBox="1"/>
          <p:nvPr/>
        </p:nvSpPr>
        <p:spPr>
          <a:xfrm>
            <a:off x="3381375" y="63950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93" name="TextBox 192"/>
          <p:cNvSpPr txBox="1"/>
          <p:nvPr/>
        </p:nvSpPr>
        <p:spPr>
          <a:xfrm>
            <a:off x="3571875" y="63950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Peanut</a:t>
            </a:r>
          </a:p>
        </p:txBody>
      </p:sp>
      <p:sp>
        <p:nvSpPr>
          <p:cNvPr id="194" name="Rectangle 193"/>
          <p:cNvSpPr/>
          <p:nvPr/>
        </p:nvSpPr>
        <p:spPr>
          <a:xfrm>
            <a:off x="6162675" y="1028700"/>
            <a:ext cx="2876550" cy="554355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Company × Allergen Class (3/5)</a:t>
            </a:r>
          </a:p>
        </p:txBody>
      </p:sp>
      <p:sp>
        <p:nvSpPr>
          <p:cNvPr id="197" name="TextBox 196"/>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98" name="TextBox 197"/>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LETI Pharma / Laboratorios LETI, S.L.U.</a:t>
            </a:r>
          </a:p>
        </p:txBody>
      </p:sp>
      <p:cxnSp>
        <p:nvCxnSpPr>
          <p:cNvPr id="199" name="Connector 198"/>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63912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1" name="TextBox 200"/>
          <p:cNvSpPr txBox="1"/>
          <p:nvPr/>
        </p:nvSpPr>
        <p:spPr>
          <a:xfrm>
            <a:off x="65817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Food Allergens</a:t>
            </a:r>
          </a:p>
        </p:txBody>
      </p:sp>
      <p:cxnSp>
        <p:nvCxnSpPr>
          <p:cNvPr id="202" name="Connector 201"/>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3" name="TextBox 202"/>
          <p:cNvSpPr txBox="1"/>
          <p:nvPr/>
        </p:nvSpPr>
        <p:spPr>
          <a:xfrm>
            <a:off x="62198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4" name="TextBox 203"/>
          <p:cNvSpPr txBox="1"/>
          <p:nvPr/>
        </p:nvSpPr>
        <p:spPr>
          <a:xfrm>
            <a:off x="6410325" y="161163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Jubilant HollisterStier LLC</a:t>
            </a:r>
          </a:p>
        </p:txBody>
      </p:sp>
      <p:cxnSp>
        <p:nvCxnSpPr>
          <p:cNvPr id="205" name="Connector 204"/>
          <p:cNvCxnSpPr/>
          <p:nvPr/>
        </p:nvCxnSpPr>
        <p:spPr>
          <a:xfrm>
            <a:off x="61722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6" name="TextBox 205"/>
          <p:cNvSpPr txBox="1"/>
          <p:nvPr/>
        </p:nvSpPr>
        <p:spPr>
          <a:xfrm>
            <a:off x="63912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7" name="TextBox 206"/>
          <p:cNvSpPr txBox="1"/>
          <p:nvPr/>
        </p:nvSpPr>
        <p:spPr>
          <a:xfrm>
            <a:off x="65817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Grass Pollen</a:t>
            </a:r>
          </a:p>
        </p:txBody>
      </p:sp>
      <p:cxnSp>
        <p:nvCxnSpPr>
          <p:cNvPr id="208" name="Connector 207"/>
          <p:cNvCxnSpPr/>
          <p:nvPr/>
        </p:nvCxnSpPr>
        <p:spPr>
          <a:xfrm>
            <a:off x="61722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9" name="TextBox 208"/>
          <p:cNvSpPr txBox="1"/>
          <p:nvPr/>
        </p:nvSpPr>
        <p:spPr>
          <a:xfrm>
            <a:off x="63912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10" name="TextBox 209"/>
          <p:cNvSpPr txBox="1"/>
          <p:nvPr/>
        </p:nvSpPr>
        <p:spPr>
          <a:xfrm>
            <a:off x="65817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Tree Pollen</a:t>
            </a:r>
          </a:p>
        </p:txBody>
      </p:sp>
      <p:cxnSp>
        <p:nvCxnSpPr>
          <p:cNvPr id="211" name="Connector 210"/>
          <p:cNvCxnSpPr/>
          <p:nvPr/>
        </p:nvCxnSpPr>
        <p:spPr>
          <a:xfrm>
            <a:off x="61722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2" name="TextBox 211"/>
          <p:cNvSpPr txBox="1"/>
          <p:nvPr/>
        </p:nvSpPr>
        <p:spPr>
          <a:xfrm>
            <a:off x="63912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13" name="TextBox 212"/>
          <p:cNvSpPr txBox="1"/>
          <p:nvPr/>
        </p:nvSpPr>
        <p:spPr>
          <a:xfrm>
            <a:off x="65817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Weed &amp; Ragweed Pollen</a:t>
            </a:r>
          </a:p>
        </p:txBody>
      </p:sp>
      <p:cxnSp>
        <p:nvCxnSpPr>
          <p:cNvPr id="214" name="Connector 213"/>
          <p:cNvCxnSpPr/>
          <p:nvPr/>
        </p:nvCxnSpPr>
        <p:spPr>
          <a:xfrm>
            <a:off x="61722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63912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16" name="TextBox 215"/>
          <p:cNvSpPr txBox="1"/>
          <p:nvPr/>
        </p:nvSpPr>
        <p:spPr>
          <a:xfrm>
            <a:off x="6581775" y="23202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House Dust Mite</a:t>
            </a:r>
          </a:p>
        </p:txBody>
      </p:sp>
      <p:cxnSp>
        <p:nvCxnSpPr>
          <p:cNvPr id="217" name="Connector 216"/>
          <p:cNvCxnSpPr/>
          <p:nvPr/>
        </p:nvCxnSpPr>
        <p:spPr>
          <a:xfrm>
            <a:off x="61722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8" name="TextBox 217"/>
          <p:cNvSpPr txBox="1"/>
          <p:nvPr/>
        </p:nvSpPr>
        <p:spPr>
          <a:xfrm>
            <a:off x="639127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19" name="TextBox 218"/>
          <p:cNvSpPr txBox="1"/>
          <p:nvPr/>
        </p:nvSpPr>
        <p:spPr>
          <a:xfrm>
            <a:off x="6581775" y="24974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Animal Dander / Epithelia</a:t>
            </a:r>
          </a:p>
        </p:txBody>
      </p:sp>
      <p:cxnSp>
        <p:nvCxnSpPr>
          <p:cNvPr id="220" name="Connector 219"/>
          <p:cNvCxnSpPr/>
          <p:nvPr/>
        </p:nvCxnSpPr>
        <p:spPr>
          <a:xfrm>
            <a:off x="61722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1" name="TextBox 220"/>
          <p:cNvSpPr txBox="1"/>
          <p:nvPr/>
        </p:nvSpPr>
        <p:spPr>
          <a:xfrm>
            <a:off x="63912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22" name="TextBox 221"/>
          <p:cNvSpPr txBox="1"/>
          <p:nvPr/>
        </p:nvSpPr>
        <p:spPr>
          <a:xfrm>
            <a:off x="6581775" y="26746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Mold &amp; Fungal Allergens</a:t>
            </a:r>
          </a:p>
        </p:txBody>
      </p:sp>
      <p:cxnSp>
        <p:nvCxnSpPr>
          <p:cNvPr id="223" name="Connector 222"/>
          <p:cNvCxnSpPr/>
          <p:nvPr/>
        </p:nvCxnSpPr>
        <p:spPr>
          <a:xfrm>
            <a:off x="61722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4" name="TextBox 223"/>
          <p:cNvSpPr txBox="1"/>
          <p:nvPr/>
        </p:nvSpPr>
        <p:spPr>
          <a:xfrm>
            <a:off x="63912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25" name="TextBox 224"/>
          <p:cNvSpPr txBox="1"/>
          <p:nvPr/>
        </p:nvSpPr>
        <p:spPr>
          <a:xfrm>
            <a:off x="6581775" y="28517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Honeybee Venom</a:t>
            </a:r>
          </a:p>
        </p:txBody>
      </p:sp>
      <p:cxnSp>
        <p:nvCxnSpPr>
          <p:cNvPr id="226" name="Connector 225"/>
          <p:cNvCxnSpPr/>
          <p:nvPr/>
        </p:nvCxnSpPr>
        <p:spPr>
          <a:xfrm>
            <a:off x="61722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7" name="TextBox 226"/>
          <p:cNvSpPr txBox="1"/>
          <p:nvPr/>
        </p:nvSpPr>
        <p:spPr>
          <a:xfrm>
            <a:off x="63912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28" name="TextBox 227"/>
          <p:cNvSpPr txBox="1"/>
          <p:nvPr/>
        </p:nvSpPr>
        <p:spPr>
          <a:xfrm>
            <a:off x="6581775" y="30289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Wasp / Yellow Jacket / Hornet Venom</a:t>
            </a:r>
          </a:p>
        </p:txBody>
      </p:sp>
      <p:cxnSp>
        <p:nvCxnSpPr>
          <p:cNvPr id="229" name="Connector 228"/>
          <p:cNvCxnSpPr/>
          <p:nvPr/>
        </p:nvCxnSpPr>
        <p:spPr>
          <a:xfrm>
            <a:off x="61722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30" name="TextBox 229"/>
          <p:cNvSpPr txBox="1"/>
          <p:nvPr/>
        </p:nvSpPr>
        <p:spPr>
          <a:xfrm>
            <a:off x="63912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1" name="TextBox 230"/>
          <p:cNvSpPr txBox="1"/>
          <p:nvPr/>
        </p:nvSpPr>
        <p:spPr>
          <a:xfrm>
            <a:off x="6581775" y="32061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Mixed Vespid Venom</a:t>
            </a:r>
          </a:p>
        </p:txBody>
      </p:sp>
      <p:cxnSp>
        <p:nvCxnSpPr>
          <p:cNvPr id="232" name="Connector 231"/>
          <p:cNvCxnSpPr/>
          <p:nvPr/>
        </p:nvCxnSpPr>
        <p:spPr>
          <a:xfrm>
            <a:off x="61722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33" name="TextBox 232"/>
          <p:cNvSpPr txBox="1"/>
          <p:nvPr/>
        </p:nvSpPr>
        <p:spPr>
          <a:xfrm>
            <a:off x="63912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4" name="TextBox 233"/>
          <p:cNvSpPr txBox="1"/>
          <p:nvPr/>
        </p:nvSpPr>
        <p:spPr>
          <a:xfrm>
            <a:off x="6581775" y="33832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Peanut</a:t>
            </a:r>
          </a:p>
        </p:txBody>
      </p:sp>
      <p:cxnSp>
        <p:nvCxnSpPr>
          <p:cNvPr id="235" name="Connector 234"/>
          <p:cNvCxnSpPr/>
          <p:nvPr/>
        </p:nvCxnSpPr>
        <p:spPr>
          <a:xfrm>
            <a:off x="61722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36" name="TextBox 235"/>
          <p:cNvSpPr txBox="1"/>
          <p:nvPr/>
        </p:nvSpPr>
        <p:spPr>
          <a:xfrm>
            <a:off x="63912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7" name="TextBox 236"/>
          <p:cNvSpPr txBox="1"/>
          <p:nvPr/>
        </p:nvSpPr>
        <p:spPr>
          <a:xfrm>
            <a:off x="6581775" y="35604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Food Allergens</a:t>
            </a:r>
          </a:p>
        </p:txBody>
      </p:sp>
      <p:cxnSp>
        <p:nvCxnSpPr>
          <p:cNvPr id="238" name="Connector 237"/>
          <p:cNvCxnSpPr/>
          <p:nvPr/>
        </p:nvCxnSpPr>
        <p:spPr>
          <a:xfrm>
            <a:off x="61722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39" name="TextBox 238"/>
          <p:cNvSpPr txBox="1"/>
          <p:nvPr/>
        </p:nvSpPr>
        <p:spPr>
          <a:xfrm>
            <a:off x="621982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40" name="TextBox 239"/>
          <p:cNvSpPr txBox="1"/>
          <p:nvPr/>
        </p:nvSpPr>
        <p:spPr>
          <a:xfrm>
            <a:off x="6410325" y="373761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Inmunotek S.L.</a:t>
            </a:r>
          </a:p>
        </p:txBody>
      </p:sp>
      <p:cxnSp>
        <p:nvCxnSpPr>
          <p:cNvPr id="241" name="Connector 240"/>
          <p:cNvCxnSpPr/>
          <p:nvPr/>
        </p:nvCxnSpPr>
        <p:spPr>
          <a:xfrm>
            <a:off x="61722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42" name="TextBox 241"/>
          <p:cNvSpPr txBox="1"/>
          <p:nvPr/>
        </p:nvSpPr>
        <p:spPr>
          <a:xfrm>
            <a:off x="639127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43" name="TextBox 242"/>
          <p:cNvSpPr txBox="1"/>
          <p:nvPr/>
        </p:nvSpPr>
        <p:spPr>
          <a:xfrm>
            <a:off x="6581775" y="39147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Grass Pollen</a:t>
            </a:r>
          </a:p>
        </p:txBody>
      </p:sp>
      <p:cxnSp>
        <p:nvCxnSpPr>
          <p:cNvPr id="244" name="Connector 243"/>
          <p:cNvCxnSpPr/>
          <p:nvPr/>
        </p:nvCxnSpPr>
        <p:spPr>
          <a:xfrm>
            <a:off x="61722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45" name="TextBox 244"/>
          <p:cNvSpPr txBox="1"/>
          <p:nvPr/>
        </p:nvSpPr>
        <p:spPr>
          <a:xfrm>
            <a:off x="63912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46" name="TextBox 245"/>
          <p:cNvSpPr txBox="1"/>
          <p:nvPr/>
        </p:nvSpPr>
        <p:spPr>
          <a:xfrm>
            <a:off x="6581775" y="40919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Tree Pollen</a:t>
            </a:r>
          </a:p>
        </p:txBody>
      </p:sp>
      <p:cxnSp>
        <p:nvCxnSpPr>
          <p:cNvPr id="247" name="Connector 246"/>
          <p:cNvCxnSpPr/>
          <p:nvPr/>
        </p:nvCxnSpPr>
        <p:spPr>
          <a:xfrm>
            <a:off x="6172200" y="42691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48" name="TextBox 247"/>
          <p:cNvSpPr txBox="1"/>
          <p:nvPr/>
        </p:nvSpPr>
        <p:spPr>
          <a:xfrm>
            <a:off x="6391275" y="42691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49" name="TextBox 248"/>
          <p:cNvSpPr txBox="1"/>
          <p:nvPr/>
        </p:nvSpPr>
        <p:spPr>
          <a:xfrm>
            <a:off x="6581775" y="42691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Weed &amp; Ragweed Pollen</a:t>
            </a:r>
          </a:p>
        </p:txBody>
      </p:sp>
      <p:cxnSp>
        <p:nvCxnSpPr>
          <p:cNvPr id="250" name="Connector 249"/>
          <p:cNvCxnSpPr/>
          <p:nvPr/>
        </p:nvCxnSpPr>
        <p:spPr>
          <a:xfrm>
            <a:off x="61722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1" name="TextBox 250"/>
          <p:cNvSpPr txBox="1"/>
          <p:nvPr/>
        </p:nvSpPr>
        <p:spPr>
          <a:xfrm>
            <a:off x="639127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52" name="TextBox 251"/>
          <p:cNvSpPr txBox="1"/>
          <p:nvPr/>
        </p:nvSpPr>
        <p:spPr>
          <a:xfrm>
            <a:off x="6581775" y="44462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House Dust Mite</a:t>
            </a:r>
          </a:p>
        </p:txBody>
      </p:sp>
      <p:cxnSp>
        <p:nvCxnSpPr>
          <p:cNvPr id="253" name="Connector 252"/>
          <p:cNvCxnSpPr/>
          <p:nvPr/>
        </p:nvCxnSpPr>
        <p:spPr>
          <a:xfrm>
            <a:off x="61722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4" name="TextBox 253"/>
          <p:cNvSpPr txBox="1"/>
          <p:nvPr/>
        </p:nvSpPr>
        <p:spPr>
          <a:xfrm>
            <a:off x="639127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55" name="TextBox 254"/>
          <p:cNvSpPr txBox="1"/>
          <p:nvPr/>
        </p:nvSpPr>
        <p:spPr>
          <a:xfrm>
            <a:off x="6581775" y="46234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Animal Dander / Epithelia</a:t>
            </a:r>
          </a:p>
        </p:txBody>
      </p:sp>
      <p:cxnSp>
        <p:nvCxnSpPr>
          <p:cNvPr id="256" name="Connector 255"/>
          <p:cNvCxnSpPr/>
          <p:nvPr/>
        </p:nvCxnSpPr>
        <p:spPr>
          <a:xfrm>
            <a:off x="6172200" y="48006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7" name="TextBox 256"/>
          <p:cNvSpPr txBox="1"/>
          <p:nvPr/>
        </p:nvSpPr>
        <p:spPr>
          <a:xfrm>
            <a:off x="6391275" y="48006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58" name="TextBox 257"/>
          <p:cNvSpPr txBox="1"/>
          <p:nvPr/>
        </p:nvSpPr>
        <p:spPr>
          <a:xfrm>
            <a:off x="6581775" y="480060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Mold &amp; Fungal Allergens</a:t>
            </a:r>
          </a:p>
        </p:txBody>
      </p:sp>
      <p:cxnSp>
        <p:nvCxnSpPr>
          <p:cNvPr id="259" name="Connector 258"/>
          <p:cNvCxnSpPr/>
          <p:nvPr/>
        </p:nvCxnSpPr>
        <p:spPr>
          <a:xfrm>
            <a:off x="6172200" y="49777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0" name="TextBox 259"/>
          <p:cNvSpPr txBox="1"/>
          <p:nvPr/>
        </p:nvSpPr>
        <p:spPr>
          <a:xfrm>
            <a:off x="6391275" y="49777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1" name="TextBox 260"/>
          <p:cNvSpPr txBox="1"/>
          <p:nvPr/>
        </p:nvSpPr>
        <p:spPr>
          <a:xfrm>
            <a:off x="6581775" y="49777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Honeybee Venom</a:t>
            </a:r>
          </a:p>
        </p:txBody>
      </p:sp>
      <p:cxnSp>
        <p:nvCxnSpPr>
          <p:cNvPr id="262" name="Connector 261"/>
          <p:cNvCxnSpPr/>
          <p:nvPr/>
        </p:nvCxnSpPr>
        <p:spPr>
          <a:xfrm>
            <a:off x="6172200" y="51549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3" name="TextBox 262"/>
          <p:cNvSpPr txBox="1"/>
          <p:nvPr/>
        </p:nvSpPr>
        <p:spPr>
          <a:xfrm>
            <a:off x="6391275" y="51549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4" name="TextBox 263"/>
          <p:cNvSpPr txBox="1"/>
          <p:nvPr/>
        </p:nvSpPr>
        <p:spPr>
          <a:xfrm>
            <a:off x="6581775" y="51549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Wasp / Yellow Jacket / Hornet Venom</a:t>
            </a:r>
          </a:p>
        </p:txBody>
      </p:sp>
      <p:cxnSp>
        <p:nvCxnSpPr>
          <p:cNvPr id="265" name="Connector 264"/>
          <p:cNvCxnSpPr/>
          <p:nvPr/>
        </p:nvCxnSpPr>
        <p:spPr>
          <a:xfrm>
            <a:off x="6172200" y="53320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6" name="TextBox 265"/>
          <p:cNvSpPr txBox="1"/>
          <p:nvPr/>
        </p:nvSpPr>
        <p:spPr>
          <a:xfrm>
            <a:off x="6391275" y="53320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7" name="TextBox 266"/>
          <p:cNvSpPr txBox="1"/>
          <p:nvPr/>
        </p:nvSpPr>
        <p:spPr>
          <a:xfrm>
            <a:off x="6581775" y="53320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Mixed Vespid Venom</a:t>
            </a:r>
          </a:p>
        </p:txBody>
      </p:sp>
      <p:cxnSp>
        <p:nvCxnSpPr>
          <p:cNvPr id="268" name="Connector 267"/>
          <p:cNvCxnSpPr/>
          <p:nvPr/>
        </p:nvCxnSpPr>
        <p:spPr>
          <a:xfrm>
            <a:off x="6172200" y="55092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9" name="TextBox 268"/>
          <p:cNvSpPr txBox="1"/>
          <p:nvPr/>
        </p:nvSpPr>
        <p:spPr>
          <a:xfrm>
            <a:off x="6391275" y="55092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70" name="TextBox 269"/>
          <p:cNvSpPr txBox="1"/>
          <p:nvPr/>
        </p:nvSpPr>
        <p:spPr>
          <a:xfrm>
            <a:off x="6581775" y="55092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Peanut</a:t>
            </a:r>
          </a:p>
        </p:txBody>
      </p:sp>
      <p:cxnSp>
        <p:nvCxnSpPr>
          <p:cNvPr id="271" name="Connector 270"/>
          <p:cNvCxnSpPr/>
          <p:nvPr/>
        </p:nvCxnSpPr>
        <p:spPr>
          <a:xfrm>
            <a:off x="6172200" y="56864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72" name="TextBox 271"/>
          <p:cNvSpPr txBox="1"/>
          <p:nvPr/>
        </p:nvSpPr>
        <p:spPr>
          <a:xfrm>
            <a:off x="6391275" y="56864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73" name="TextBox 272"/>
          <p:cNvSpPr txBox="1"/>
          <p:nvPr/>
        </p:nvSpPr>
        <p:spPr>
          <a:xfrm>
            <a:off x="6581775" y="56864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Food Allergens</a:t>
            </a:r>
          </a:p>
        </p:txBody>
      </p:sp>
      <p:cxnSp>
        <p:nvCxnSpPr>
          <p:cNvPr id="274" name="Connector 273"/>
          <p:cNvCxnSpPr/>
          <p:nvPr/>
        </p:nvCxnSpPr>
        <p:spPr>
          <a:xfrm>
            <a:off x="6172200" y="58635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75" name="TextBox 274"/>
          <p:cNvSpPr txBox="1"/>
          <p:nvPr/>
        </p:nvSpPr>
        <p:spPr>
          <a:xfrm>
            <a:off x="6219825" y="58635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76" name="TextBox 275"/>
          <p:cNvSpPr txBox="1"/>
          <p:nvPr/>
        </p:nvSpPr>
        <p:spPr>
          <a:xfrm>
            <a:off x="6410325" y="586359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DIATER Laboratories</a:t>
            </a:r>
          </a:p>
        </p:txBody>
      </p:sp>
      <p:cxnSp>
        <p:nvCxnSpPr>
          <p:cNvPr id="277" name="Connector 276"/>
          <p:cNvCxnSpPr/>
          <p:nvPr/>
        </p:nvCxnSpPr>
        <p:spPr>
          <a:xfrm>
            <a:off x="6172200" y="60407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78" name="TextBox 277"/>
          <p:cNvSpPr txBox="1"/>
          <p:nvPr/>
        </p:nvSpPr>
        <p:spPr>
          <a:xfrm>
            <a:off x="6391275" y="60407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79" name="TextBox 278"/>
          <p:cNvSpPr txBox="1"/>
          <p:nvPr/>
        </p:nvSpPr>
        <p:spPr>
          <a:xfrm>
            <a:off x="6581775" y="60407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Grass Pollen</a:t>
            </a:r>
          </a:p>
        </p:txBody>
      </p:sp>
      <p:cxnSp>
        <p:nvCxnSpPr>
          <p:cNvPr id="280" name="Connector 279"/>
          <p:cNvCxnSpPr/>
          <p:nvPr/>
        </p:nvCxnSpPr>
        <p:spPr>
          <a:xfrm>
            <a:off x="6172200" y="62179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1" name="TextBox 280"/>
          <p:cNvSpPr txBox="1"/>
          <p:nvPr/>
        </p:nvSpPr>
        <p:spPr>
          <a:xfrm>
            <a:off x="6391275" y="62179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82" name="TextBox 281"/>
          <p:cNvSpPr txBox="1"/>
          <p:nvPr/>
        </p:nvSpPr>
        <p:spPr>
          <a:xfrm>
            <a:off x="6581775" y="62179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Tree Pollen</a:t>
            </a:r>
          </a:p>
        </p:txBody>
      </p:sp>
      <p:cxnSp>
        <p:nvCxnSpPr>
          <p:cNvPr id="283" name="Connector 282"/>
          <p:cNvCxnSpPr/>
          <p:nvPr/>
        </p:nvCxnSpPr>
        <p:spPr>
          <a:xfrm>
            <a:off x="6172200" y="63950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4" name="TextBox 283"/>
          <p:cNvSpPr txBox="1"/>
          <p:nvPr/>
        </p:nvSpPr>
        <p:spPr>
          <a:xfrm>
            <a:off x="6391275" y="63950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85" name="TextBox 284"/>
          <p:cNvSpPr txBox="1"/>
          <p:nvPr/>
        </p:nvSpPr>
        <p:spPr>
          <a:xfrm>
            <a:off x="6581775" y="63950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Weed &amp; Ragweed Pollen</a:t>
            </a:r>
          </a:p>
        </p:txBody>
      </p:sp>
      <p:sp>
        <p:nvSpPr>
          <p:cNvPr id="286" name="Rectangle 285"/>
          <p:cNvSpPr/>
          <p:nvPr/>
        </p:nvSpPr>
        <p:spPr>
          <a:xfrm>
            <a:off x="9172575" y="1028700"/>
            <a:ext cx="2876550" cy="554355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91725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Company × Allergen Class (4/5)</a:t>
            </a:r>
          </a:p>
        </p:txBody>
      </p:sp>
      <p:sp>
        <p:nvSpPr>
          <p:cNvPr id="289" name="TextBox 288"/>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0" name="TextBox 289"/>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DIATER Laboratories</a:t>
            </a:r>
          </a:p>
        </p:txBody>
      </p:sp>
      <p:cxnSp>
        <p:nvCxnSpPr>
          <p:cNvPr id="291" name="Connector 290"/>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2" name="TextBox 291"/>
          <p:cNvSpPr txBox="1"/>
          <p:nvPr/>
        </p:nvSpPr>
        <p:spPr>
          <a:xfrm>
            <a:off x="94011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3" name="TextBox 292"/>
          <p:cNvSpPr txBox="1"/>
          <p:nvPr/>
        </p:nvSpPr>
        <p:spPr>
          <a:xfrm>
            <a:off x="95916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House Dust Mite</a:t>
            </a:r>
          </a:p>
        </p:txBody>
      </p:sp>
      <p:cxnSp>
        <p:nvCxnSpPr>
          <p:cNvPr id="294" name="Connector 293"/>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5" name="TextBox 294"/>
          <p:cNvSpPr txBox="1"/>
          <p:nvPr/>
        </p:nvSpPr>
        <p:spPr>
          <a:xfrm>
            <a:off x="94011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6" name="TextBox 295"/>
          <p:cNvSpPr txBox="1"/>
          <p:nvPr/>
        </p:nvSpPr>
        <p:spPr>
          <a:xfrm>
            <a:off x="95916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Animal Dander / Epithelia</a:t>
            </a:r>
          </a:p>
        </p:txBody>
      </p:sp>
      <p:cxnSp>
        <p:nvCxnSpPr>
          <p:cNvPr id="297" name="Connector 296"/>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8" name="TextBox 297"/>
          <p:cNvSpPr txBox="1"/>
          <p:nvPr/>
        </p:nvSpPr>
        <p:spPr>
          <a:xfrm>
            <a:off x="94011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9" name="TextBox 298"/>
          <p:cNvSpPr txBox="1"/>
          <p:nvPr/>
        </p:nvSpPr>
        <p:spPr>
          <a:xfrm>
            <a:off x="95916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Mold &amp; Fungal Allergens</a:t>
            </a:r>
          </a:p>
        </p:txBody>
      </p:sp>
      <p:cxnSp>
        <p:nvCxnSpPr>
          <p:cNvPr id="300" name="Connector 299"/>
          <p:cNvCxnSpPr/>
          <p:nvPr/>
        </p:nvCxnSpPr>
        <p:spPr>
          <a:xfrm>
            <a:off x="91821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1" name="TextBox 300"/>
          <p:cNvSpPr txBox="1"/>
          <p:nvPr/>
        </p:nvSpPr>
        <p:spPr>
          <a:xfrm>
            <a:off x="94011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02" name="TextBox 301"/>
          <p:cNvSpPr txBox="1"/>
          <p:nvPr/>
        </p:nvSpPr>
        <p:spPr>
          <a:xfrm>
            <a:off x="95916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Honeybee Venom</a:t>
            </a:r>
          </a:p>
        </p:txBody>
      </p:sp>
      <p:cxnSp>
        <p:nvCxnSpPr>
          <p:cNvPr id="303" name="Connector 302"/>
          <p:cNvCxnSpPr/>
          <p:nvPr/>
        </p:nvCxnSpPr>
        <p:spPr>
          <a:xfrm>
            <a:off x="91821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4" name="TextBox 303"/>
          <p:cNvSpPr txBox="1"/>
          <p:nvPr/>
        </p:nvSpPr>
        <p:spPr>
          <a:xfrm>
            <a:off x="94011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05" name="TextBox 304"/>
          <p:cNvSpPr txBox="1"/>
          <p:nvPr/>
        </p:nvSpPr>
        <p:spPr>
          <a:xfrm>
            <a:off x="95916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Wasp / Yellow Jacket / Hornet Venom</a:t>
            </a:r>
          </a:p>
        </p:txBody>
      </p:sp>
      <p:cxnSp>
        <p:nvCxnSpPr>
          <p:cNvPr id="306" name="Connector 305"/>
          <p:cNvCxnSpPr/>
          <p:nvPr/>
        </p:nvCxnSpPr>
        <p:spPr>
          <a:xfrm>
            <a:off x="91821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7" name="TextBox 306"/>
          <p:cNvSpPr txBox="1"/>
          <p:nvPr/>
        </p:nvSpPr>
        <p:spPr>
          <a:xfrm>
            <a:off x="94011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08" name="TextBox 307"/>
          <p:cNvSpPr txBox="1"/>
          <p:nvPr/>
        </p:nvSpPr>
        <p:spPr>
          <a:xfrm>
            <a:off x="9591675" y="23202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Mixed Vespid Venom</a:t>
            </a:r>
          </a:p>
        </p:txBody>
      </p:sp>
      <p:cxnSp>
        <p:nvCxnSpPr>
          <p:cNvPr id="309" name="Connector 308"/>
          <p:cNvCxnSpPr/>
          <p:nvPr/>
        </p:nvCxnSpPr>
        <p:spPr>
          <a:xfrm>
            <a:off x="91821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0" name="TextBox 309"/>
          <p:cNvSpPr txBox="1"/>
          <p:nvPr/>
        </p:nvSpPr>
        <p:spPr>
          <a:xfrm>
            <a:off x="940117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11" name="TextBox 310"/>
          <p:cNvSpPr txBox="1"/>
          <p:nvPr/>
        </p:nvSpPr>
        <p:spPr>
          <a:xfrm>
            <a:off x="9591675" y="24974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Peanut</a:t>
            </a:r>
          </a:p>
        </p:txBody>
      </p:sp>
      <p:cxnSp>
        <p:nvCxnSpPr>
          <p:cNvPr id="312" name="Connector 311"/>
          <p:cNvCxnSpPr/>
          <p:nvPr/>
        </p:nvCxnSpPr>
        <p:spPr>
          <a:xfrm>
            <a:off x="91821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3" name="TextBox 312"/>
          <p:cNvSpPr txBox="1"/>
          <p:nvPr/>
        </p:nvSpPr>
        <p:spPr>
          <a:xfrm>
            <a:off x="94011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14" name="TextBox 313"/>
          <p:cNvSpPr txBox="1"/>
          <p:nvPr/>
        </p:nvSpPr>
        <p:spPr>
          <a:xfrm>
            <a:off x="9591675" y="26746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Food Allergens</a:t>
            </a:r>
          </a:p>
        </p:txBody>
      </p:sp>
      <p:cxnSp>
        <p:nvCxnSpPr>
          <p:cNvPr id="315" name="Connector 314"/>
          <p:cNvCxnSpPr/>
          <p:nvPr/>
        </p:nvCxnSpPr>
        <p:spPr>
          <a:xfrm>
            <a:off x="91821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6" name="TextBox 315"/>
          <p:cNvSpPr txBox="1"/>
          <p:nvPr/>
        </p:nvSpPr>
        <p:spPr>
          <a:xfrm>
            <a:off x="922972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17" name="TextBox 316"/>
          <p:cNvSpPr txBox="1"/>
          <p:nvPr/>
        </p:nvSpPr>
        <p:spPr>
          <a:xfrm>
            <a:off x="9420225" y="285178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Torii Pharmaceutical Co., Ltd.</a:t>
            </a:r>
          </a:p>
        </p:txBody>
      </p:sp>
      <p:cxnSp>
        <p:nvCxnSpPr>
          <p:cNvPr id="318" name="Connector 317"/>
          <p:cNvCxnSpPr/>
          <p:nvPr/>
        </p:nvCxnSpPr>
        <p:spPr>
          <a:xfrm>
            <a:off x="91821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9" name="TextBox 318"/>
          <p:cNvSpPr txBox="1"/>
          <p:nvPr/>
        </p:nvSpPr>
        <p:spPr>
          <a:xfrm>
            <a:off x="94011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0" name="TextBox 319"/>
          <p:cNvSpPr txBox="1"/>
          <p:nvPr/>
        </p:nvSpPr>
        <p:spPr>
          <a:xfrm>
            <a:off x="9591675" y="30289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Grass Pollen</a:t>
            </a:r>
          </a:p>
        </p:txBody>
      </p:sp>
      <p:cxnSp>
        <p:nvCxnSpPr>
          <p:cNvPr id="321" name="Connector 320"/>
          <p:cNvCxnSpPr/>
          <p:nvPr/>
        </p:nvCxnSpPr>
        <p:spPr>
          <a:xfrm>
            <a:off x="91821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2" name="TextBox 321"/>
          <p:cNvSpPr txBox="1"/>
          <p:nvPr/>
        </p:nvSpPr>
        <p:spPr>
          <a:xfrm>
            <a:off x="94011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3" name="TextBox 322"/>
          <p:cNvSpPr txBox="1"/>
          <p:nvPr/>
        </p:nvSpPr>
        <p:spPr>
          <a:xfrm>
            <a:off x="9591675" y="32061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Tree Pollen</a:t>
            </a:r>
          </a:p>
        </p:txBody>
      </p:sp>
      <p:cxnSp>
        <p:nvCxnSpPr>
          <p:cNvPr id="324" name="Connector 323"/>
          <p:cNvCxnSpPr/>
          <p:nvPr/>
        </p:nvCxnSpPr>
        <p:spPr>
          <a:xfrm>
            <a:off x="91821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5" name="TextBox 324"/>
          <p:cNvSpPr txBox="1"/>
          <p:nvPr/>
        </p:nvSpPr>
        <p:spPr>
          <a:xfrm>
            <a:off x="94011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6" name="TextBox 325"/>
          <p:cNvSpPr txBox="1"/>
          <p:nvPr/>
        </p:nvSpPr>
        <p:spPr>
          <a:xfrm>
            <a:off x="9591675" y="33832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Weed &amp; Ragweed Pollen</a:t>
            </a:r>
          </a:p>
        </p:txBody>
      </p:sp>
      <p:cxnSp>
        <p:nvCxnSpPr>
          <p:cNvPr id="327" name="Connector 326"/>
          <p:cNvCxnSpPr/>
          <p:nvPr/>
        </p:nvCxnSpPr>
        <p:spPr>
          <a:xfrm>
            <a:off x="91821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8" name="TextBox 327"/>
          <p:cNvSpPr txBox="1"/>
          <p:nvPr/>
        </p:nvSpPr>
        <p:spPr>
          <a:xfrm>
            <a:off x="94011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9" name="TextBox 328"/>
          <p:cNvSpPr txBox="1"/>
          <p:nvPr/>
        </p:nvSpPr>
        <p:spPr>
          <a:xfrm>
            <a:off x="9591675" y="35604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House Dust Mite</a:t>
            </a:r>
          </a:p>
        </p:txBody>
      </p:sp>
      <p:cxnSp>
        <p:nvCxnSpPr>
          <p:cNvPr id="330" name="Connector 329"/>
          <p:cNvCxnSpPr/>
          <p:nvPr/>
        </p:nvCxnSpPr>
        <p:spPr>
          <a:xfrm>
            <a:off x="91821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31" name="TextBox 330"/>
          <p:cNvSpPr txBox="1"/>
          <p:nvPr/>
        </p:nvSpPr>
        <p:spPr>
          <a:xfrm>
            <a:off x="940117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32" name="TextBox 331"/>
          <p:cNvSpPr txBox="1"/>
          <p:nvPr/>
        </p:nvSpPr>
        <p:spPr>
          <a:xfrm>
            <a:off x="9591675" y="37376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Animal Dander / Epithelia</a:t>
            </a:r>
          </a:p>
        </p:txBody>
      </p:sp>
      <p:cxnSp>
        <p:nvCxnSpPr>
          <p:cNvPr id="333" name="Connector 332"/>
          <p:cNvCxnSpPr/>
          <p:nvPr/>
        </p:nvCxnSpPr>
        <p:spPr>
          <a:xfrm>
            <a:off x="91821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34" name="TextBox 333"/>
          <p:cNvSpPr txBox="1"/>
          <p:nvPr/>
        </p:nvSpPr>
        <p:spPr>
          <a:xfrm>
            <a:off x="940117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35" name="TextBox 334"/>
          <p:cNvSpPr txBox="1"/>
          <p:nvPr/>
        </p:nvSpPr>
        <p:spPr>
          <a:xfrm>
            <a:off x="9591675" y="39147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Mold &amp; Fungal Allergens</a:t>
            </a:r>
          </a:p>
        </p:txBody>
      </p:sp>
      <p:cxnSp>
        <p:nvCxnSpPr>
          <p:cNvPr id="336" name="Connector 335"/>
          <p:cNvCxnSpPr/>
          <p:nvPr/>
        </p:nvCxnSpPr>
        <p:spPr>
          <a:xfrm>
            <a:off x="91821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37" name="TextBox 336"/>
          <p:cNvSpPr txBox="1"/>
          <p:nvPr/>
        </p:nvSpPr>
        <p:spPr>
          <a:xfrm>
            <a:off x="94011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38" name="TextBox 337"/>
          <p:cNvSpPr txBox="1"/>
          <p:nvPr/>
        </p:nvSpPr>
        <p:spPr>
          <a:xfrm>
            <a:off x="9591675" y="40919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Honeybee Venom</a:t>
            </a:r>
          </a:p>
        </p:txBody>
      </p:sp>
      <p:cxnSp>
        <p:nvCxnSpPr>
          <p:cNvPr id="339" name="Connector 338"/>
          <p:cNvCxnSpPr/>
          <p:nvPr/>
        </p:nvCxnSpPr>
        <p:spPr>
          <a:xfrm>
            <a:off x="9182100" y="42691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0" name="TextBox 339"/>
          <p:cNvSpPr txBox="1"/>
          <p:nvPr/>
        </p:nvSpPr>
        <p:spPr>
          <a:xfrm>
            <a:off x="9401175" y="42691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41" name="TextBox 340"/>
          <p:cNvSpPr txBox="1"/>
          <p:nvPr/>
        </p:nvSpPr>
        <p:spPr>
          <a:xfrm>
            <a:off x="9591675" y="42691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Wasp / Yellow Jacket / Hornet Venom</a:t>
            </a:r>
          </a:p>
        </p:txBody>
      </p:sp>
      <p:cxnSp>
        <p:nvCxnSpPr>
          <p:cNvPr id="342" name="Connector 341"/>
          <p:cNvCxnSpPr/>
          <p:nvPr/>
        </p:nvCxnSpPr>
        <p:spPr>
          <a:xfrm>
            <a:off x="91821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3" name="TextBox 342"/>
          <p:cNvSpPr txBox="1"/>
          <p:nvPr/>
        </p:nvSpPr>
        <p:spPr>
          <a:xfrm>
            <a:off x="940117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44" name="TextBox 343"/>
          <p:cNvSpPr txBox="1"/>
          <p:nvPr/>
        </p:nvSpPr>
        <p:spPr>
          <a:xfrm>
            <a:off x="9591675" y="44462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Mixed Vespid Venom</a:t>
            </a:r>
          </a:p>
        </p:txBody>
      </p:sp>
      <p:cxnSp>
        <p:nvCxnSpPr>
          <p:cNvPr id="345" name="Connector 344"/>
          <p:cNvCxnSpPr/>
          <p:nvPr/>
        </p:nvCxnSpPr>
        <p:spPr>
          <a:xfrm>
            <a:off x="91821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6" name="TextBox 345"/>
          <p:cNvSpPr txBox="1"/>
          <p:nvPr/>
        </p:nvSpPr>
        <p:spPr>
          <a:xfrm>
            <a:off x="940117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47" name="TextBox 346"/>
          <p:cNvSpPr txBox="1"/>
          <p:nvPr/>
        </p:nvSpPr>
        <p:spPr>
          <a:xfrm>
            <a:off x="9591675" y="46234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Peanut</a:t>
            </a:r>
          </a:p>
        </p:txBody>
      </p:sp>
      <p:cxnSp>
        <p:nvCxnSpPr>
          <p:cNvPr id="348" name="Connector 347"/>
          <p:cNvCxnSpPr/>
          <p:nvPr/>
        </p:nvCxnSpPr>
        <p:spPr>
          <a:xfrm>
            <a:off x="9182100" y="48006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9" name="TextBox 348"/>
          <p:cNvSpPr txBox="1"/>
          <p:nvPr/>
        </p:nvSpPr>
        <p:spPr>
          <a:xfrm>
            <a:off x="9401175" y="48006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50" name="TextBox 349"/>
          <p:cNvSpPr txBox="1"/>
          <p:nvPr/>
        </p:nvSpPr>
        <p:spPr>
          <a:xfrm>
            <a:off x="9591675" y="480060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Food Allergens</a:t>
            </a:r>
          </a:p>
        </p:txBody>
      </p:sp>
      <p:cxnSp>
        <p:nvCxnSpPr>
          <p:cNvPr id="351" name="Connector 350"/>
          <p:cNvCxnSpPr/>
          <p:nvPr/>
        </p:nvCxnSpPr>
        <p:spPr>
          <a:xfrm>
            <a:off x="9182100" y="49777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2" name="TextBox 351"/>
          <p:cNvSpPr txBox="1"/>
          <p:nvPr/>
        </p:nvSpPr>
        <p:spPr>
          <a:xfrm>
            <a:off x="9229725" y="49777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53" name="TextBox 352"/>
          <p:cNvSpPr txBox="1"/>
          <p:nvPr/>
        </p:nvSpPr>
        <p:spPr>
          <a:xfrm>
            <a:off x="9420225" y="497776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Allergopharma GmbH &amp; Co. KG</a:t>
            </a:r>
          </a:p>
        </p:txBody>
      </p:sp>
      <p:cxnSp>
        <p:nvCxnSpPr>
          <p:cNvPr id="354" name="Connector 353"/>
          <p:cNvCxnSpPr/>
          <p:nvPr/>
        </p:nvCxnSpPr>
        <p:spPr>
          <a:xfrm>
            <a:off x="9182100" y="51549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5" name="TextBox 354"/>
          <p:cNvSpPr txBox="1"/>
          <p:nvPr/>
        </p:nvSpPr>
        <p:spPr>
          <a:xfrm>
            <a:off x="9401175" y="51549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56" name="TextBox 355"/>
          <p:cNvSpPr txBox="1"/>
          <p:nvPr/>
        </p:nvSpPr>
        <p:spPr>
          <a:xfrm>
            <a:off x="9591675" y="51549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Grass Pollen</a:t>
            </a:r>
          </a:p>
        </p:txBody>
      </p:sp>
      <p:cxnSp>
        <p:nvCxnSpPr>
          <p:cNvPr id="357" name="Connector 356"/>
          <p:cNvCxnSpPr/>
          <p:nvPr/>
        </p:nvCxnSpPr>
        <p:spPr>
          <a:xfrm>
            <a:off x="9182100" y="53320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8" name="TextBox 357"/>
          <p:cNvSpPr txBox="1"/>
          <p:nvPr/>
        </p:nvSpPr>
        <p:spPr>
          <a:xfrm>
            <a:off x="9401175" y="53320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59" name="TextBox 358"/>
          <p:cNvSpPr txBox="1"/>
          <p:nvPr/>
        </p:nvSpPr>
        <p:spPr>
          <a:xfrm>
            <a:off x="9591675" y="53320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Tree Pollen</a:t>
            </a:r>
          </a:p>
        </p:txBody>
      </p:sp>
      <p:cxnSp>
        <p:nvCxnSpPr>
          <p:cNvPr id="360" name="Connector 359"/>
          <p:cNvCxnSpPr/>
          <p:nvPr/>
        </p:nvCxnSpPr>
        <p:spPr>
          <a:xfrm>
            <a:off x="9182100" y="55092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1" name="TextBox 360"/>
          <p:cNvSpPr txBox="1"/>
          <p:nvPr/>
        </p:nvSpPr>
        <p:spPr>
          <a:xfrm>
            <a:off x="9401175" y="55092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62" name="TextBox 361"/>
          <p:cNvSpPr txBox="1"/>
          <p:nvPr/>
        </p:nvSpPr>
        <p:spPr>
          <a:xfrm>
            <a:off x="9591675" y="55092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Weed &amp; Ragweed Pollen</a:t>
            </a:r>
          </a:p>
        </p:txBody>
      </p:sp>
      <p:cxnSp>
        <p:nvCxnSpPr>
          <p:cNvPr id="363" name="Connector 362"/>
          <p:cNvCxnSpPr/>
          <p:nvPr/>
        </p:nvCxnSpPr>
        <p:spPr>
          <a:xfrm>
            <a:off x="9182100" y="56864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4" name="TextBox 363"/>
          <p:cNvSpPr txBox="1"/>
          <p:nvPr/>
        </p:nvSpPr>
        <p:spPr>
          <a:xfrm>
            <a:off x="9401175" y="56864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65" name="TextBox 364"/>
          <p:cNvSpPr txBox="1"/>
          <p:nvPr/>
        </p:nvSpPr>
        <p:spPr>
          <a:xfrm>
            <a:off x="9591675" y="56864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House Dust Mite</a:t>
            </a:r>
          </a:p>
        </p:txBody>
      </p:sp>
      <p:cxnSp>
        <p:nvCxnSpPr>
          <p:cNvPr id="366" name="Connector 365"/>
          <p:cNvCxnSpPr/>
          <p:nvPr/>
        </p:nvCxnSpPr>
        <p:spPr>
          <a:xfrm>
            <a:off x="9182100" y="58635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7" name="TextBox 366"/>
          <p:cNvSpPr txBox="1"/>
          <p:nvPr/>
        </p:nvSpPr>
        <p:spPr>
          <a:xfrm>
            <a:off x="9401175" y="58635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68" name="TextBox 367"/>
          <p:cNvSpPr txBox="1"/>
          <p:nvPr/>
        </p:nvSpPr>
        <p:spPr>
          <a:xfrm>
            <a:off x="9591675" y="58635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Animal Dander / Epithelia</a:t>
            </a:r>
          </a:p>
        </p:txBody>
      </p:sp>
      <p:cxnSp>
        <p:nvCxnSpPr>
          <p:cNvPr id="369" name="Connector 368"/>
          <p:cNvCxnSpPr/>
          <p:nvPr/>
        </p:nvCxnSpPr>
        <p:spPr>
          <a:xfrm>
            <a:off x="9182100" y="60407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0" name="TextBox 369"/>
          <p:cNvSpPr txBox="1"/>
          <p:nvPr/>
        </p:nvSpPr>
        <p:spPr>
          <a:xfrm>
            <a:off x="9401175" y="60407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1" name="TextBox 370"/>
          <p:cNvSpPr txBox="1"/>
          <p:nvPr/>
        </p:nvSpPr>
        <p:spPr>
          <a:xfrm>
            <a:off x="9591675" y="60407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Mold &amp; Fungal Allergens</a:t>
            </a:r>
          </a:p>
        </p:txBody>
      </p:sp>
      <p:cxnSp>
        <p:nvCxnSpPr>
          <p:cNvPr id="372" name="Connector 371"/>
          <p:cNvCxnSpPr/>
          <p:nvPr/>
        </p:nvCxnSpPr>
        <p:spPr>
          <a:xfrm>
            <a:off x="9182100" y="62179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3" name="TextBox 372"/>
          <p:cNvSpPr txBox="1"/>
          <p:nvPr/>
        </p:nvSpPr>
        <p:spPr>
          <a:xfrm>
            <a:off x="9401175" y="62179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4" name="TextBox 373"/>
          <p:cNvSpPr txBox="1"/>
          <p:nvPr/>
        </p:nvSpPr>
        <p:spPr>
          <a:xfrm>
            <a:off x="9591675" y="62179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Honeybee Venom</a:t>
            </a:r>
          </a:p>
        </p:txBody>
      </p:sp>
      <p:cxnSp>
        <p:nvCxnSpPr>
          <p:cNvPr id="375" name="Connector 374"/>
          <p:cNvCxnSpPr/>
          <p:nvPr/>
        </p:nvCxnSpPr>
        <p:spPr>
          <a:xfrm>
            <a:off x="9182100" y="63950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6" name="TextBox 375"/>
          <p:cNvSpPr txBox="1"/>
          <p:nvPr/>
        </p:nvSpPr>
        <p:spPr>
          <a:xfrm>
            <a:off x="9401175" y="63950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7" name="TextBox 376"/>
          <p:cNvSpPr txBox="1"/>
          <p:nvPr/>
        </p:nvSpPr>
        <p:spPr>
          <a:xfrm>
            <a:off x="9591675" y="63950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Wasp / Yellow Jacket / Hornet Venom</a:t>
            </a:r>
          </a:p>
        </p:txBody>
      </p:sp>
      <p:sp>
        <p:nvSpPr>
          <p:cNvPr id="378" name="TextBox 37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 (3/4)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9 axes and the sub-segments sized under each</a:t>
            </a:r>
          </a:p>
        </p:txBody>
      </p:sp>
      <p:sp>
        <p:nvSpPr>
          <p:cNvPr id="10" name="Rectangle 9"/>
          <p:cNvSpPr/>
          <p:nvPr/>
        </p:nvSpPr>
        <p:spPr>
          <a:xfrm>
            <a:off x="142875" y="1028700"/>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Company × Allergen Class (5/5)</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Allergopharma GmbH &amp; Co. KG</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14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5619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Mixed Vespid Venom</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14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5619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Peanut</a:t>
            </a:r>
          </a:p>
        </p:txBody>
      </p:sp>
      <p:cxnSp>
        <p:nvCxnSpPr>
          <p:cNvPr id="21" name="Connector 20"/>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714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5619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Food Allergens</a:t>
            </a:r>
          </a:p>
        </p:txBody>
      </p:sp>
      <p:sp>
        <p:nvSpPr>
          <p:cNvPr id="24" name="Rectangle 23"/>
          <p:cNvSpPr/>
          <p:nvPr/>
        </p:nvSpPr>
        <p:spPr>
          <a:xfrm>
            <a:off x="3152775" y="1028700"/>
            <a:ext cx="2876550" cy="554355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1527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Company × Therapy Format (1/2)</a:t>
            </a:r>
          </a:p>
        </p:txBody>
      </p:sp>
      <p:sp>
        <p:nvSpPr>
          <p:cNvPr id="27" name="TextBox 26"/>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8" name="TextBox 27"/>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ALK-Abelló A/S</a:t>
            </a:r>
          </a:p>
        </p:txBody>
      </p:sp>
      <p:cxnSp>
        <p:nvCxnSpPr>
          <p:cNvPr id="29" name="Connector 28"/>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3813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1" name="TextBox 30"/>
          <p:cNvSpPr txBox="1"/>
          <p:nvPr/>
        </p:nvSpPr>
        <p:spPr>
          <a:xfrm>
            <a:off x="35718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Subcutaneous Immunotherapy (SCIT)</a:t>
            </a:r>
          </a:p>
        </p:txBody>
      </p:sp>
      <p:cxnSp>
        <p:nvCxnSpPr>
          <p:cNvPr id="32" name="Connector 31"/>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3813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4" name="TextBox 33"/>
          <p:cNvSpPr txBox="1"/>
          <p:nvPr/>
        </p:nvSpPr>
        <p:spPr>
          <a:xfrm>
            <a:off x="35718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Tablets</a:t>
            </a:r>
          </a:p>
        </p:txBody>
      </p:sp>
      <p:cxnSp>
        <p:nvCxnSpPr>
          <p:cNvPr id="35" name="Connector 34"/>
          <p:cNvCxnSpPr/>
          <p:nvPr/>
        </p:nvCxnSpPr>
        <p:spPr>
          <a:xfrm>
            <a:off x="31623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3813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35718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Solutions</a:t>
            </a:r>
          </a:p>
        </p:txBody>
      </p:sp>
      <p:cxnSp>
        <p:nvCxnSpPr>
          <p:cNvPr id="38" name="Connector 37"/>
          <p:cNvCxnSpPr/>
          <p:nvPr/>
        </p:nvCxnSpPr>
        <p:spPr>
          <a:xfrm>
            <a:off x="31623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813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0" name="TextBox 39"/>
          <p:cNvSpPr txBox="1"/>
          <p:nvPr/>
        </p:nvSpPr>
        <p:spPr>
          <a:xfrm>
            <a:off x="35718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Allergen Oral Powder</a:t>
            </a:r>
          </a:p>
        </p:txBody>
      </p:sp>
      <p:cxnSp>
        <p:nvCxnSpPr>
          <p:cNvPr id="41" name="Connector 40"/>
          <p:cNvCxnSpPr/>
          <p:nvPr/>
        </p:nvCxnSpPr>
        <p:spPr>
          <a:xfrm>
            <a:off x="31623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2099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3" name="TextBox 42"/>
          <p:cNvSpPr txBox="1"/>
          <p:nvPr/>
        </p:nvSpPr>
        <p:spPr>
          <a:xfrm>
            <a:off x="3400425" y="214312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Stallergenes Greer International AG</a:t>
            </a:r>
          </a:p>
        </p:txBody>
      </p:sp>
      <p:cxnSp>
        <p:nvCxnSpPr>
          <p:cNvPr id="44" name="Connector 43"/>
          <p:cNvCxnSpPr/>
          <p:nvPr/>
        </p:nvCxnSpPr>
        <p:spPr>
          <a:xfrm>
            <a:off x="31623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3813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6" name="TextBox 45"/>
          <p:cNvSpPr txBox="1"/>
          <p:nvPr/>
        </p:nvSpPr>
        <p:spPr>
          <a:xfrm>
            <a:off x="3571875" y="23202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Subcutaneous Immunotherapy (SCIT)</a:t>
            </a:r>
          </a:p>
        </p:txBody>
      </p:sp>
      <p:cxnSp>
        <p:nvCxnSpPr>
          <p:cNvPr id="47" name="Connector 46"/>
          <p:cNvCxnSpPr/>
          <p:nvPr/>
        </p:nvCxnSpPr>
        <p:spPr>
          <a:xfrm>
            <a:off x="31623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38137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9" name="TextBox 48"/>
          <p:cNvSpPr txBox="1"/>
          <p:nvPr/>
        </p:nvSpPr>
        <p:spPr>
          <a:xfrm>
            <a:off x="3571875" y="24974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Tablets</a:t>
            </a:r>
          </a:p>
        </p:txBody>
      </p:sp>
      <p:cxnSp>
        <p:nvCxnSpPr>
          <p:cNvPr id="50" name="Connector 49"/>
          <p:cNvCxnSpPr/>
          <p:nvPr/>
        </p:nvCxnSpPr>
        <p:spPr>
          <a:xfrm>
            <a:off x="31623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3813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2" name="TextBox 51"/>
          <p:cNvSpPr txBox="1"/>
          <p:nvPr/>
        </p:nvSpPr>
        <p:spPr>
          <a:xfrm>
            <a:off x="3571875" y="26746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Solutions</a:t>
            </a:r>
          </a:p>
        </p:txBody>
      </p:sp>
      <p:cxnSp>
        <p:nvCxnSpPr>
          <p:cNvPr id="53" name="Connector 52"/>
          <p:cNvCxnSpPr/>
          <p:nvPr/>
        </p:nvCxnSpPr>
        <p:spPr>
          <a:xfrm>
            <a:off x="31623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33813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5" name="TextBox 54"/>
          <p:cNvSpPr txBox="1"/>
          <p:nvPr/>
        </p:nvSpPr>
        <p:spPr>
          <a:xfrm>
            <a:off x="3571875" y="28517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Allergen Oral Powder</a:t>
            </a:r>
          </a:p>
        </p:txBody>
      </p:sp>
      <p:cxnSp>
        <p:nvCxnSpPr>
          <p:cNvPr id="56" name="Connector 55"/>
          <p:cNvCxnSpPr/>
          <p:nvPr/>
        </p:nvCxnSpPr>
        <p:spPr>
          <a:xfrm>
            <a:off x="31623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320992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3400425" y="302895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Allergy Therapeutics plc</a:t>
            </a:r>
          </a:p>
        </p:txBody>
      </p:sp>
      <p:cxnSp>
        <p:nvCxnSpPr>
          <p:cNvPr id="59" name="Connector 58"/>
          <p:cNvCxnSpPr/>
          <p:nvPr/>
        </p:nvCxnSpPr>
        <p:spPr>
          <a:xfrm>
            <a:off x="31623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3813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1" name="TextBox 60"/>
          <p:cNvSpPr txBox="1"/>
          <p:nvPr/>
        </p:nvSpPr>
        <p:spPr>
          <a:xfrm>
            <a:off x="3571875" y="32061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Subcutaneous Immunotherapy (SCIT)</a:t>
            </a:r>
          </a:p>
        </p:txBody>
      </p:sp>
      <p:cxnSp>
        <p:nvCxnSpPr>
          <p:cNvPr id="62" name="Connector 61"/>
          <p:cNvCxnSpPr/>
          <p:nvPr/>
        </p:nvCxnSpPr>
        <p:spPr>
          <a:xfrm>
            <a:off x="31623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3813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4" name="TextBox 63"/>
          <p:cNvSpPr txBox="1"/>
          <p:nvPr/>
        </p:nvSpPr>
        <p:spPr>
          <a:xfrm>
            <a:off x="3571875" y="33832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Tablets</a:t>
            </a:r>
          </a:p>
        </p:txBody>
      </p:sp>
      <p:cxnSp>
        <p:nvCxnSpPr>
          <p:cNvPr id="65" name="Connector 64"/>
          <p:cNvCxnSpPr/>
          <p:nvPr/>
        </p:nvCxnSpPr>
        <p:spPr>
          <a:xfrm>
            <a:off x="31623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33813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7" name="TextBox 66"/>
          <p:cNvSpPr txBox="1"/>
          <p:nvPr/>
        </p:nvSpPr>
        <p:spPr>
          <a:xfrm>
            <a:off x="3571875" y="35604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Solutions</a:t>
            </a:r>
          </a:p>
        </p:txBody>
      </p:sp>
      <p:cxnSp>
        <p:nvCxnSpPr>
          <p:cNvPr id="68" name="Connector 67"/>
          <p:cNvCxnSpPr/>
          <p:nvPr/>
        </p:nvCxnSpPr>
        <p:spPr>
          <a:xfrm>
            <a:off x="31623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338137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0" name="TextBox 69"/>
          <p:cNvSpPr txBox="1"/>
          <p:nvPr/>
        </p:nvSpPr>
        <p:spPr>
          <a:xfrm>
            <a:off x="3571875" y="37376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Allergen Oral Powder</a:t>
            </a:r>
          </a:p>
        </p:txBody>
      </p:sp>
      <p:cxnSp>
        <p:nvCxnSpPr>
          <p:cNvPr id="71" name="Connector 70"/>
          <p:cNvCxnSpPr/>
          <p:nvPr/>
        </p:nvCxnSpPr>
        <p:spPr>
          <a:xfrm>
            <a:off x="31623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320992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3" name="TextBox 72"/>
          <p:cNvSpPr txBox="1"/>
          <p:nvPr/>
        </p:nvSpPr>
        <p:spPr>
          <a:xfrm>
            <a:off x="3400425" y="391477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HAL Allergy Group</a:t>
            </a:r>
          </a:p>
        </p:txBody>
      </p:sp>
      <p:cxnSp>
        <p:nvCxnSpPr>
          <p:cNvPr id="74" name="Connector 73"/>
          <p:cNvCxnSpPr/>
          <p:nvPr/>
        </p:nvCxnSpPr>
        <p:spPr>
          <a:xfrm>
            <a:off x="31623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33813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6" name="TextBox 75"/>
          <p:cNvSpPr txBox="1"/>
          <p:nvPr/>
        </p:nvSpPr>
        <p:spPr>
          <a:xfrm>
            <a:off x="3571875" y="40919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Subcutaneous Immunotherapy (SCIT)</a:t>
            </a:r>
          </a:p>
        </p:txBody>
      </p:sp>
      <p:cxnSp>
        <p:nvCxnSpPr>
          <p:cNvPr id="77" name="Connector 76"/>
          <p:cNvCxnSpPr/>
          <p:nvPr/>
        </p:nvCxnSpPr>
        <p:spPr>
          <a:xfrm>
            <a:off x="3162300" y="42691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3381375" y="42691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9" name="TextBox 78"/>
          <p:cNvSpPr txBox="1"/>
          <p:nvPr/>
        </p:nvSpPr>
        <p:spPr>
          <a:xfrm>
            <a:off x="3571875" y="42691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Tablets</a:t>
            </a:r>
          </a:p>
        </p:txBody>
      </p:sp>
      <p:cxnSp>
        <p:nvCxnSpPr>
          <p:cNvPr id="80" name="Connector 79"/>
          <p:cNvCxnSpPr/>
          <p:nvPr/>
        </p:nvCxnSpPr>
        <p:spPr>
          <a:xfrm>
            <a:off x="31623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338137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2" name="TextBox 81"/>
          <p:cNvSpPr txBox="1"/>
          <p:nvPr/>
        </p:nvSpPr>
        <p:spPr>
          <a:xfrm>
            <a:off x="3571875" y="44462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Solutions</a:t>
            </a:r>
          </a:p>
        </p:txBody>
      </p:sp>
      <p:cxnSp>
        <p:nvCxnSpPr>
          <p:cNvPr id="83" name="Connector 82"/>
          <p:cNvCxnSpPr/>
          <p:nvPr/>
        </p:nvCxnSpPr>
        <p:spPr>
          <a:xfrm>
            <a:off x="31623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338137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5" name="TextBox 84"/>
          <p:cNvSpPr txBox="1"/>
          <p:nvPr/>
        </p:nvSpPr>
        <p:spPr>
          <a:xfrm>
            <a:off x="3571875" y="46234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Allergen Oral Powder</a:t>
            </a:r>
          </a:p>
        </p:txBody>
      </p:sp>
      <p:cxnSp>
        <p:nvCxnSpPr>
          <p:cNvPr id="86" name="Connector 85"/>
          <p:cNvCxnSpPr/>
          <p:nvPr/>
        </p:nvCxnSpPr>
        <p:spPr>
          <a:xfrm>
            <a:off x="3162300" y="48006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3209925" y="48006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8" name="TextBox 87"/>
          <p:cNvSpPr txBox="1"/>
          <p:nvPr/>
        </p:nvSpPr>
        <p:spPr>
          <a:xfrm>
            <a:off x="3400425" y="48006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LETI Pharma / Laboratorios LETI, S.L.U.</a:t>
            </a:r>
          </a:p>
        </p:txBody>
      </p:sp>
      <p:cxnSp>
        <p:nvCxnSpPr>
          <p:cNvPr id="89" name="Connector 88"/>
          <p:cNvCxnSpPr/>
          <p:nvPr/>
        </p:nvCxnSpPr>
        <p:spPr>
          <a:xfrm>
            <a:off x="3162300" y="49777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3381375" y="49777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1" name="TextBox 90"/>
          <p:cNvSpPr txBox="1"/>
          <p:nvPr/>
        </p:nvSpPr>
        <p:spPr>
          <a:xfrm>
            <a:off x="3571875" y="49777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Subcutaneous Immunotherapy (SCIT)</a:t>
            </a:r>
          </a:p>
        </p:txBody>
      </p:sp>
      <p:cxnSp>
        <p:nvCxnSpPr>
          <p:cNvPr id="92" name="Connector 91"/>
          <p:cNvCxnSpPr/>
          <p:nvPr/>
        </p:nvCxnSpPr>
        <p:spPr>
          <a:xfrm>
            <a:off x="3162300" y="51549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3381375" y="51549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4" name="TextBox 93"/>
          <p:cNvSpPr txBox="1"/>
          <p:nvPr/>
        </p:nvSpPr>
        <p:spPr>
          <a:xfrm>
            <a:off x="3571875" y="51549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Tablets</a:t>
            </a:r>
          </a:p>
        </p:txBody>
      </p:sp>
      <p:cxnSp>
        <p:nvCxnSpPr>
          <p:cNvPr id="95" name="Connector 94"/>
          <p:cNvCxnSpPr/>
          <p:nvPr/>
        </p:nvCxnSpPr>
        <p:spPr>
          <a:xfrm>
            <a:off x="3162300" y="53320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3381375" y="53320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7" name="TextBox 96"/>
          <p:cNvSpPr txBox="1"/>
          <p:nvPr/>
        </p:nvSpPr>
        <p:spPr>
          <a:xfrm>
            <a:off x="3571875" y="53320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Solutions</a:t>
            </a:r>
          </a:p>
        </p:txBody>
      </p:sp>
      <p:cxnSp>
        <p:nvCxnSpPr>
          <p:cNvPr id="98" name="Connector 97"/>
          <p:cNvCxnSpPr/>
          <p:nvPr/>
        </p:nvCxnSpPr>
        <p:spPr>
          <a:xfrm>
            <a:off x="3162300" y="55092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3381375" y="55092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3571875" y="55092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Allergen Oral Powder</a:t>
            </a:r>
          </a:p>
        </p:txBody>
      </p:sp>
      <p:cxnSp>
        <p:nvCxnSpPr>
          <p:cNvPr id="101" name="Connector 100"/>
          <p:cNvCxnSpPr/>
          <p:nvPr/>
        </p:nvCxnSpPr>
        <p:spPr>
          <a:xfrm>
            <a:off x="3162300" y="56864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3209925" y="56864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3" name="TextBox 102"/>
          <p:cNvSpPr txBox="1"/>
          <p:nvPr/>
        </p:nvSpPr>
        <p:spPr>
          <a:xfrm>
            <a:off x="3400425" y="568642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Jubilant HollisterStier LLC</a:t>
            </a:r>
          </a:p>
        </p:txBody>
      </p:sp>
      <p:cxnSp>
        <p:nvCxnSpPr>
          <p:cNvPr id="104" name="Connector 103"/>
          <p:cNvCxnSpPr/>
          <p:nvPr/>
        </p:nvCxnSpPr>
        <p:spPr>
          <a:xfrm>
            <a:off x="3162300" y="58635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3381375" y="58635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6" name="TextBox 105"/>
          <p:cNvSpPr txBox="1"/>
          <p:nvPr/>
        </p:nvSpPr>
        <p:spPr>
          <a:xfrm>
            <a:off x="3571875" y="58635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Subcutaneous Immunotherapy (SCIT)</a:t>
            </a:r>
          </a:p>
        </p:txBody>
      </p:sp>
      <p:cxnSp>
        <p:nvCxnSpPr>
          <p:cNvPr id="107" name="Connector 106"/>
          <p:cNvCxnSpPr/>
          <p:nvPr/>
        </p:nvCxnSpPr>
        <p:spPr>
          <a:xfrm>
            <a:off x="3162300" y="60407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3381375" y="60407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9" name="TextBox 108"/>
          <p:cNvSpPr txBox="1"/>
          <p:nvPr/>
        </p:nvSpPr>
        <p:spPr>
          <a:xfrm>
            <a:off x="3571875" y="60407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Tablets</a:t>
            </a:r>
          </a:p>
        </p:txBody>
      </p:sp>
      <p:cxnSp>
        <p:nvCxnSpPr>
          <p:cNvPr id="110" name="Connector 109"/>
          <p:cNvCxnSpPr/>
          <p:nvPr/>
        </p:nvCxnSpPr>
        <p:spPr>
          <a:xfrm>
            <a:off x="3162300" y="62179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3381375" y="62179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2" name="TextBox 111"/>
          <p:cNvSpPr txBox="1"/>
          <p:nvPr/>
        </p:nvSpPr>
        <p:spPr>
          <a:xfrm>
            <a:off x="3571875" y="62179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Solutions</a:t>
            </a:r>
          </a:p>
        </p:txBody>
      </p:sp>
      <p:cxnSp>
        <p:nvCxnSpPr>
          <p:cNvPr id="113" name="Connector 112"/>
          <p:cNvCxnSpPr/>
          <p:nvPr/>
        </p:nvCxnSpPr>
        <p:spPr>
          <a:xfrm>
            <a:off x="3162300" y="63950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3381375" y="63950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5" name="TextBox 114"/>
          <p:cNvSpPr txBox="1"/>
          <p:nvPr/>
        </p:nvSpPr>
        <p:spPr>
          <a:xfrm>
            <a:off x="3571875" y="63950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Allergen Oral Powder</a:t>
            </a:r>
          </a:p>
        </p:txBody>
      </p:sp>
      <p:sp>
        <p:nvSpPr>
          <p:cNvPr id="116" name="Rectangle 115"/>
          <p:cNvSpPr/>
          <p:nvPr/>
        </p:nvSpPr>
        <p:spPr>
          <a:xfrm>
            <a:off x="6162675" y="1028700"/>
            <a:ext cx="2876550" cy="377190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Company × Therapy Format (2/2)</a:t>
            </a:r>
          </a:p>
        </p:txBody>
      </p:sp>
      <p:sp>
        <p:nvSpPr>
          <p:cNvPr id="119" name="TextBox 118"/>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0" name="TextBox 119"/>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Inmunotek S.L.</a:t>
            </a:r>
          </a:p>
        </p:txBody>
      </p:sp>
      <p:cxnSp>
        <p:nvCxnSpPr>
          <p:cNvPr id="121" name="Connector 120"/>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63912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3" name="TextBox 122"/>
          <p:cNvSpPr txBox="1"/>
          <p:nvPr/>
        </p:nvSpPr>
        <p:spPr>
          <a:xfrm>
            <a:off x="65817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Subcutaneous Immunotherapy (SCIT)</a:t>
            </a:r>
          </a:p>
        </p:txBody>
      </p:sp>
      <p:cxnSp>
        <p:nvCxnSpPr>
          <p:cNvPr id="124" name="Connector 123"/>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63912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6" name="TextBox 125"/>
          <p:cNvSpPr txBox="1"/>
          <p:nvPr/>
        </p:nvSpPr>
        <p:spPr>
          <a:xfrm>
            <a:off x="65817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Tablets</a:t>
            </a:r>
          </a:p>
        </p:txBody>
      </p:sp>
      <p:cxnSp>
        <p:nvCxnSpPr>
          <p:cNvPr id="127" name="Connector 126"/>
          <p:cNvCxnSpPr/>
          <p:nvPr/>
        </p:nvCxnSpPr>
        <p:spPr>
          <a:xfrm>
            <a:off x="61722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63912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9" name="TextBox 128"/>
          <p:cNvSpPr txBox="1"/>
          <p:nvPr/>
        </p:nvSpPr>
        <p:spPr>
          <a:xfrm>
            <a:off x="65817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Solutions</a:t>
            </a:r>
          </a:p>
        </p:txBody>
      </p:sp>
      <p:cxnSp>
        <p:nvCxnSpPr>
          <p:cNvPr id="130" name="Connector 129"/>
          <p:cNvCxnSpPr/>
          <p:nvPr/>
        </p:nvCxnSpPr>
        <p:spPr>
          <a:xfrm>
            <a:off x="61722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63912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2" name="TextBox 131"/>
          <p:cNvSpPr txBox="1"/>
          <p:nvPr/>
        </p:nvSpPr>
        <p:spPr>
          <a:xfrm>
            <a:off x="65817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Allergen Oral Powder</a:t>
            </a:r>
          </a:p>
        </p:txBody>
      </p:sp>
      <p:cxnSp>
        <p:nvCxnSpPr>
          <p:cNvPr id="133" name="Connector 132"/>
          <p:cNvCxnSpPr/>
          <p:nvPr/>
        </p:nvCxnSpPr>
        <p:spPr>
          <a:xfrm>
            <a:off x="61722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62198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5" name="TextBox 134"/>
          <p:cNvSpPr txBox="1"/>
          <p:nvPr/>
        </p:nvSpPr>
        <p:spPr>
          <a:xfrm>
            <a:off x="6410325" y="214312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DIATER Laboratories</a:t>
            </a:r>
          </a:p>
        </p:txBody>
      </p:sp>
      <p:cxnSp>
        <p:nvCxnSpPr>
          <p:cNvPr id="136" name="Connector 135"/>
          <p:cNvCxnSpPr/>
          <p:nvPr/>
        </p:nvCxnSpPr>
        <p:spPr>
          <a:xfrm>
            <a:off x="61722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63912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8" name="TextBox 137"/>
          <p:cNvSpPr txBox="1"/>
          <p:nvPr/>
        </p:nvSpPr>
        <p:spPr>
          <a:xfrm>
            <a:off x="6581775" y="23202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Subcutaneous Immunotherapy (SCIT)</a:t>
            </a:r>
          </a:p>
        </p:txBody>
      </p:sp>
      <p:cxnSp>
        <p:nvCxnSpPr>
          <p:cNvPr id="139" name="Connector 138"/>
          <p:cNvCxnSpPr/>
          <p:nvPr/>
        </p:nvCxnSpPr>
        <p:spPr>
          <a:xfrm>
            <a:off x="61722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639127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1" name="TextBox 140"/>
          <p:cNvSpPr txBox="1"/>
          <p:nvPr/>
        </p:nvSpPr>
        <p:spPr>
          <a:xfrm>
            <a:off x="6581775" y="24974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Tablets</a:t>
            </a:r>
          </a:p>
        </p:txBody>
      </p:sp>
      <p:cxnSp>
        <p:nvCxnSpPr>
          <p:cNvPr id="142" name="Connector 141"/>
          <p:cNvCxnSpPr/>
          <p:nvPr/>
        </p:nvCxnSpPr>
        <p:spPr>
          <a:xfrm>
            <a:off x="61722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63912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4" name="TextBox 143"/>
          <p:cNvSpPr txBox="1"/>
          <p:nvPr/>
        </p:nvSpPr>
        <p:spPr>
          <a:xfrm>
            <a:off x="6581775" y="26746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Solutions</a:t>
            </a:r>
          </a:p>
        </p:txBody>
      </p:sp>
      <p:cxnSp>
        <p:nvCxnSpPr>
          <p:cNvPr id="145" name="Connector 144"/>
          <p:cNvCxnSpPr/>
          <p:nvPr/>
        </p:nvCxnSpPr>
        <p:spPr>
          <a:xfrm>
            <a:off x="61722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63912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7" name="TextBox 146"/>
          <p:cNvSpPr txBox="1"/>
          <p:nvPr/>
        </p:nvSpPr>
        <p:spPr>
          <a:xfrm>
            <a:off x="6581775" y="28517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Allergen Oral Powder</a:t>
            </a:r>
          </a:p>
        </p:txBody>
      </p:sp>
      <p:cxnSp>
        <p:nvCxnSpPr>
          <p:cNvPr id="148" name="Connector 147"/>
          <p:cNvCxnSpPr/>
          <p:nvPr/>
        </p:nvCxnSpPr>
        <p:spPr>
          <a:xfrm>
            <a:off x="61722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621982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0" name="TextBox 149"/>
          <p:cNvSpPr txBox="1"/>
          <p:nvPr/>
        </p:nvSpPr>
        <p:spPr>
          <a:xfrm>
            <a:off x="6410325" y="302895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Torii Pharmaceutical Co., Ltd.</a:t>
            </a:r>
          </a:p>
        </p:txBody>
      </p:sp>
      <p:cxnSp>
        <p:nvCxnSpPr>
          <p:cNvPr id="151" name="Connector 150"/>
          <p:cNvCxnSpPr/>
          <p:nvPr/>
        </p:nvCxnSpPr>
        <p:spPr>
          <a:xfrm>
            <a:off x="61722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2" name="TextBox 151"/>
          <p:cNvSpPr txBox="1"/>
          <p:nvPr/>
        </p:nvSpPr>
        <p:spPr>
          <a:xfrm>
            <a:off x="63912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3" name="TextBox 152"/>
          <p:cNvSpPr txBox="1"/>
          <p:nvPr/>
        </p:nvSpPr>
        <p:spPr>
          <a:xfrm>
            <a:off x="6581775" y="32061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Subcutaneous Immunotherapy (SCIT)</a:t>
            </a:r>
          </a:p>
        </p:txBody>
      </p:sp>
      <p:cxnSp>
        <p:nvCxnSpPr>
          <p:cNvPr id="154" name="Connector 153"/>
          <p:cNvCxnSpPr/>
          <p:nvPr/>
        </p:nvCxnSpPr>
        <p:spPr>
          <a:xfrm>
            <a:off x="61722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63912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6" name="TextBox 155"/>
          <p:cNvSpPr txBox="1"/>
          <p:nvPr/>
        </p:nvSpPr>
        <p:spPr>
          <a:xfrm>
            <a:off x="6581775" y="33832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Tablets</a:t>
            </a:r>
          </a:p>
        </p:txBody>
      </p:sp>
      <p:cxnSp>
        <p:nvCxnSpPr>
          <p:cNvPr id="157" name="Connector 156"/>
          <p:cNvCxnSpPr/>
          <p:nvPr/>
        </p:nvCxnSpPr>
        <p:spPr>
          <a:xfrm>
            <a:off x="61722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63912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9" name="TextBox 158"/>
          <p:cNvSpPr txBox="1"/>
          <p:nvPr/>
        </p:nvSpPr>
        <p:spPr>
          <a:xfrm>
            <a:off x="6581775" y="35604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Solutions</a:t>
            </a:r>
          </a:p>
        </p:txBody>
      </p:sp>
      <p:cxnSp>
        <p:nvCxnSpPr>
          <p:cNvPr id="160" name="Connector 159"/>
          <p:cNvCxnSpPr/>
          <p:nvPr/>
        </p:nvCxnSpPr>
        <p:spPr>
          <a:xfrm>
            <a:off x="61722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639127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2" name="TextBox 161"/>
          <p:cNvSpPr txBox="1"/>
          <p:nvPr/>
        </p:nvSpPr>
        <p:spPr>
          <a:xfrm>
            <a:off x="6581775" y="37376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Allergen Oral Powder</a:t>
            </a:r>
          </a:p>
        </p:txBody>
      </p:sp>
      <p:cxnSp>
        <p:nvCxnSpPr>
          <p:cNvPr id="163" name="Connector 162"/>
          <p:cNvCxnSpPr/>
          <p:nvPr/>
        </p:nvCxnSpPr>
        <p:spPr>
          <a:xfrm>
            <a:off x="61722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4" name="TextBox 163"/>
          <p:cNvSpPr txBox="1"/>
          <p:nvPr/>
        </p:nvSpPr>
        <p:spPr>
          <a:xfrm>
            <a:off x="621982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5" name="TextBox 164"/>
          <p:cNvSpPr txBox="1"/>
          <p:nvPr/>
        </p:nvSpPr>
        <p:spPr>
          <a:xfrm>
            <a:off x="6410325" y="391477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Allergopharma GmbH &amp; Co. KG</a:t>
            </a:r>
          </a:p>
        </p:txBody>
      </p:sp>
      <p:cxnSp>
        <p:nvCxnSpPr>
          <p:cNvPr id="166" name="Connector 165"/>
          <p:cNvCxnSpPr/>
          <p:nvPr/>
        </p:nvCxnSpPr>
        <p:spPr>
          <a:xfrm>
            <a:off x="61722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7" name="TextBox 166"/>
          <p:cNvSpPr txBox="1"/>
          <p:nvPr/>
        </p:nvSpPr>
        <p:spPr>
          <a:xfrm>
            <a:off x="63912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8" name="TextBox 167"/>
          <p:cNvSpPr txBox="1"/>
          <p:nvPr/>
        </p:nvSpPr>
        <p:spPr>
          <a:xfrm>
            <a:off x="6581775" y="40919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Subcutaneous Immunotherapy (SCIT)</a:t>
            </a:r>
          </a:p>
        </p:txBody>
      </p:sp>
      <p:cxnSp>
        <p:nvCxnSpPr>
          <p:cNvPr id="169" name="Connector 168"/>
          <p:cNvCxnSpPr/>
          <p:nvPr/>
        </p:nvCxnSpPr>
        <p:spPr>
          <a:xfrm>
            <a:off x="6172200" y="42691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0" name="TextBox 169"/>
          <p:cNvSpPr txBox="1"/>
          <p:nvPr/>
        </p:nvSpPr>
        <p:spPr>
          <a:xfrm>
            <a:off x="6391275" y="42691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1" name="TextBox 170"/>
          <p:cNvSpPr txBox="1"/>
          <p:nvPr/>
        </p:nvSpPr>
        <p:spPr>
          <a:xfrm>
            <a:off x="6581775" y="42691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Tablets</a:t>
            </a:r>
          </a:p>
        </p:txBody>
      </p:sp>
      <p:cxnSp>
        <p:nvCxnSpPr>
          <p:cNvPr id="172" name="Connector 171"/>
          <p:cNvCxnSpPr/>
          <p:nvPr/>
        </p:nvCxnSpPr>
        <p:spPr>
          <a:xfrm>
            <a:off x="61722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3" name="TextBox 172"/>
          <p:cNvSpPr txBox="1"/>
          <p:nvPr/>
        </p:nvSpPr>
        <p:spPr>
          <a:xfrm>
            <a:off x="639127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4" name="TextBox 173"/>
          <p:cNvSpPr txBox="1"/>
          <p:nvPr/>
        </p:nvSpPr>
        <p:spPr>
          <a:xfrm>
            <a:off x="6581775" y="44462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SLIT Solutions</a:t>
            </a:r>
          </a:p>
        </p:txBody>
      </p:sp>
      <p:cxnSp>
        <p:nvCxnSpPr>
          <p:cNvPr id="175" name="Connector 174"/>
          <p:cNvCxnSpPr/>
          <p:nvPr/>
        </p:nvCxnSpPr>
        <p:spPr>
          <a:xfrm>
            <a:off x="61722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639127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7" name="TextBox 176"/>
          <p:cNvSpPr txBox="1"/>
          <p:nvPr/>
        </p:nvSpPr>
        <p:spPr>
          <a:xfrm>
            <a:off x="6581775" y="46234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Food Allergen Oral Powder</a:t>
            </a:r>
          </a:p>
        </p:txBody>
      </p:sp>
      <p:sp>
        <p:nvSpPr>
          <p:cNvPr id="178" name="Rectangle 177"/>
          <p:cNvSpPr/>
          <p:nvPr/>
        </p:nvSpPr>
        <p:spPr>
          <a:xfrm>
            <a:off x="9172575" y="1028700"/>
            <a:ext cx="2876550" cy="537210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9172575" y="1028700"/>
            <a:ext cx="2876550" cy="41148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9248775" y="1028700"/>
            <a:ext cx="2724150" cy="411480"/>
          </a:xfrm>
          <a:prstGeom prst="rect">
            <a:avLst/>
          </a:prstGeom>
          <a:noFill/>
        </p:spPr>
        <p:txBody>
          <a:bodyPr wrap="square" lIns="28575" rIns="28575" tIns="9525" bIns="9525" anchor="t">
            <a:spAutoFit/>
          </a:bodyPr>
          <a:lstStyle/>
          <a:p>
            <a:pPr algn="l">
              <a:lnSpc>
                <a:spcPct val="100000"/>
              </a:lnSpc>
            </a:pPr>
            <a:r>
              <a:rPr sz="1100" b="1">
                <a:solidFill>
                  <a:srgbClr val="FFFFFF"/>
                </a:solidFill>
                <a:latin typeface="Calibri"/>
              </a:rPr>
              <a:t>By Company × Allergen Preparation Technology (1/3)</a:t>
            </a:r>
          </a:p>
        </p:txBody>
      </p:sp>
      <p:sp>
        <p:nvSpPr>
          <p:cNvPr id="181" name="TextBox 180"/>
          <p:cNvSpPr txBox="1"/>
          <p:nvPr/>
        </p:nvSpPr>
        <p:spPr>
          <a:xfrm>
            <a:off x="9229725" y="14401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2" name="TextBox 181"/>
          <p:cNvSpPr txBox="1"/>
          <p:nvPr/>
        </p:nvSpPr>
        <p:spPr>
          <a:xfrm>
            <a:off x="9420225" y="144018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ALK-Abelló A/S</a:t>
            </a:r>
          </a:p>
        </p:txBody>
      </p:sp>
      <p:cxnSp>
        <p:nvCxnSpPr>
          <p:cNvPr id="183" name="Connector 182"/>
          <p:cNvCxnSpPr/>
          <p:nvPr/>
        </p:nvCxnSpPr>
        <p:spPr>
          <a:xfrm>
            <a:off x="9182100" y="16173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4" name="TextBox 183"/>
          <p:cNvSpPr txBox="1"/>
          <p:nvPr/>
        </p:nvSpPr>
        <p:spPr>
          <a:xfrm>
            <a:off x="9401175" y="16173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5" name="TextBox 184"/>
          <p:cNvSpPr txBox="1"/>
          <p:nvPr/>
        </p:nvSpPr>
        <p:spPr>
          <a:xfrm>
            <a:off x="9591675" y="16173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Standardized Allergen Extracts</a:t>
            </a:r>
          </a:p>
        </p:txBody>
      </p:sp>
      <p:cxnSp>
        <p:nvCxnSpPr>
          <p:cNvPr id="186" name="Connector 185"/>
          <p:cNvCxnSpPr/>
          <p:nvPr/>
        </p:nvCxnSpPr>
        <p:spPr>
          <a:xfrm>
            <a:off x="9182100" y="17945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9401175" y="17945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8" name="TextBox 187"/>
          <p:cNvSpPr txBox="1"/>
          <p:nvPr/>
        </p:nvSpPr>
        <p:spPr>
          <a:xfrm>
            <a:off x="9591675" y="17945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Non-standardized Allergen Extracts</a:t>
            </a:r>
          </a:p>
        </p:txBody>
      </p:sp>
      <p:cxnSp>
        <p:nvCxnSpPr>
          <p:cNvPr id="189" name="Connector 188"/>
          <p:cNvCxnSpPr/>
          <p:nvPr/>
        </p:nvCxnSpPr>
        <p:spPr>
          <a:xfrm>
            <a:off x="9182100" y="19716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0" name="TextBox 189"/>
          <p:cNvSpPr txBox="1"/>
          <p:nvPr/>
        </p:nvSpPr>
        <p:spPr>
          <a:xfrm>
            <a:off x="9401175" y="19716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91" name="TextBox 190"/>
          <p:cNvSpPr txBox="1"/>
          <p:nvPr/>
        </p:nvSpPr>
        <p:spPr>
          <a:xfrm>
            <a:off x="9591675" y="19716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Polymerized Allergoids</a:t>
            </a:r>
          </a:p>
        </p:txBody>
      </p:sp>
      <p:cxnSp>
        <p:nvCxnSpPr>
          <p:cNvPr id="192" name="Connector 191"/>
          <p:cNvCxnSpPr/>
          <p:nvPr/>
        </p:nvCxnSpPr>
        <p:spPr>
          <a:xfrm>
            <a:off x="9182100" y="21488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3" name="TextBox 192"/>
          <p:cNvSpPr txBox="1"/>
          <p:nvPr/>
        </p:nvSpPr>
        <p:spPr>
          <a:xfrm>
            <a:off x="9401175" y="21488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94" name="TextBox 193"/>
          <p:cNvSpPr txBox="1"/>
          <p:nvPr/>
        </p:nvSpPr>
        <p:spPr>
          <a:xfrm>
            <a:off x="9591675" y="21488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Depigmented-Polymerized Allergoids</a:t>
            </a:r>
          </a:p>
        </p:txBody>
      </p:sp>
      <p:cxnSp>
        <p:nvCxnSpPr>
          <p:cNvPr id="195" name="Connector 194"/>
          <p:cNvCxnSpPr/>
          <p:nvPr/>
        </p:nvCxnSpPr>
        <p:spPr>
          <a:xfrm>
            <a:off x="9182100" y="23260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6" name="TextBox 195"/>
          <p:cNvSpPr txBox="1"/>
          <p:nvPr/>
        </p:nvSpPr>
        <p:spPr>
          <a:xfrm>
            <a:off x="9401175" y="23260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97" name="TextBox 196"/>
          <p:cNvSpPr txBox="1"/>
          <p:nvPr/>
        </p:nvSpPr>
        <p:spPr>
          <a:xfrm>
            <a:off x="9591675" y="23260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Carbamylated Allergoids</a:t>
            </a:r>
          </a:p>
        </p:txBody>
      </p:sp>
      <p:cxnSp>
        <p:nvCxnSpPr>
          <p:cNvPr id="198" name="Connector 197"/>
          <p:cNvCxnSpPr/>
          <p:nvPr/>
        </p:nvCxnSpPr>
        <p:spPr>
          <a:xfrm>
            <a:off x="9182100" y="25031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9" name="TextBox 198"/>
          <p:cNvSpPr txBox="1"/>
          <p:nvPr/>
        </p:nvSpPr>
        <p:spPr>
          <a:xfrm>
            <a:off x="9401175" y="25031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0" name="TextBox 199"/>
          <p:cNvSpPr txBox="1"/>
          <p:nvPr/>
        </p:nvSpPr>
        <p:spPr>
          <a:xfrm>
            <a:off x="9591675" y="25031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Molecular Allergen Preparations</a:t>
            </a:r>
          </a:p>
        </p:txBody>
      </p:sp>
      <p:cxnSp>
        <p:nvCxnSpPr>
          <p:cNvPr id="201" name="Connector 200"/>
          <p:cNvCxnSpPr/>
          <p:nvPr/>
        </p:nvCxnSpPr>
        <p:spPr>
          <a:xfrm>
            <a:off x="9182100" y="26803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2" name="TextBox 201"/>
          <p:cNvSpPr txBox="1"/>
          <p:nvPr/>
        </p:nvSpPr>
        <p:spPr>
          <a:xfrm>
            <a:off x="9229725" y="26803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3" name="TextBox 202"/>
          <p:cNvSpPr txBox="1"/>
          <p:nvPr/>
        </p:nvSpPr>
        <p:spPr>
          <a:xfrm>
            <a:off x="9420225" y="268033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Stallergenes Greer International AG</a:t>
            </a:r>
          </a:p>
        </p:txBody>
      </p:sp>
      <p:cxnSp>
        <p:nvCxnSpPr>
          <p:cNvPr id="204" name="Connector 203"/>
          <p:cNvCxnSpPr/>
          <p:nvPr/>
        </p:nvCxnSpPr>
        <p:spPr>
          <a:xfrm>
            <a:off x="9182100" y="28575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5" name="TextBox 204"/>
          <p:cNvSpPr txBox="1"/>
          <p:nvPr/>
        </p:nvSpPr>
        <p:spPr>
          <a:xfrm>
            <a:off x="9401175" y="28575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6" name="TextBox 205"/>
          <p:cNvSpPr txBox="1"/>
          <p:nvPr/>
        </p:nvSpPr>
        <p:spPr>
          <a:xfrm>
            <a:off x="9591675" y="285750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Standardized Allergen Extracts</a:t>
            </a:r>
          </a:p>
        </p:txBody>
      </p:sp>
      <p:cxnSp>
        <p:nvCxnSpPr>
          <p:cNvPr id="207" name="Connector 206"/>
          <p:cNvCxnSpPr/>
          <p:nvPr/>
        </p:nvCxnSpPr>
        <p:spPr>
          <a:xfrm>
            <a:off x="9182100" y="30346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8" name="TextBox 207"/>
          <p:cNvSpPr txBox="1"/>
          <p:nvPr/>
        </p:nvSpPr>
        <p:spPr>
          <a:xfrm>
            <a:off x="9401175" y="30346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9" name="TextBox 208"/>
          <p:cNvSpPr txBox="1"/>
          <p:nvPr/>
        </p:nvSpPr>
        <p:spPr>
          <a:xfrm>
            <a:off x="9591675" y="30346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Non-standardized Allergen Extracts</a:t>
            </a:r>
          </a:p>
        </p:txBody>
      </p:sp>
      <p:cxnSp>
        <p:nvCxnSpPr>
          <p:cNvPr id="210" name="Connector 209"/>
          <p:cNvCxnSpPr/>
          <p:nvPr/>
        </p:nvCxnSpPr>
        <p:spPr>
          <a:xfrm>
            <a:off x="9182100" y="32118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1" name="TextBox 210"/>
          <p:cNvSpPr txBox="1"/>
          <p:nvPr/>
        </p:nvSpPr>
        <p:spPr>
          <a:xfrm>
            <a:off x="9401175" y="32118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12" name="TextBox 211"/>
          <p:cNvSpPr txBox="1"/>
          <p:nvPr/>
        </p:nvSpPr>
        <p:spPr>
          <a:xfrm>
            <a:off x="9591675" y="32118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Polymerized Allergoids</a:t>
            </a:r>
          </a:p>
        </p:txBody>
      </p:sp>
      <p:cxnSp>
        <p:nvCxnSpPr>
          <p:cNvPr id="213" name="Connector 212"/>
          <p:cNvCxnSpPr/>
          <p:nvPr/>
        </p:nvCxnSpPr>
        <p:spPr>
          <a:xfrm>
            <a:off x="9182100" y="33889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4" name="TextBox 213"/>
          <p:cNvSpPr txBox="1"/>
          <p:nvPr/>
        </p:nvSpPr>
        <p:spPr>
          <a:xfrm>
            <a:off x="9401175" y="33889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15" name="TextBox 214"/>
          <p:cNvSpPr txBox="1"/>
          <p:nvPr/>
        </p:nvSpPr>
        <p:spPr>
          <a:xfrm>
            <a:off x="9591675" y="33889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Depigmented-Polymerized Allergoids</a:t>
            </a:r>
          </a:p>
        </p:txBody>
      </p:sp>
      <p:cxnSp>
        <p:nvCxnSpPr>
          <p:cNvPr id="216" name="Connector 215"/>
          <p:cNvCxnSpPr/>
          <p:nvPr/>
        </p:nvCxnSpPr>
        <p:spPr>
          <a:xfrm>
            <a:off x="9182100" y="35661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7" name="TextBox 216"/>
          <p:cNvSpPr txBox="1"/>
          <p:nvPr/>
        </p:nvSpPr>
        <p:spPr>
          <a:xfrm>
            <a:off x="9401175" y="35661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18" name="TextBox 217"/>
          <p:cNvSpPr txBox="1"/>
          <p:nvPr/>
        </p:nvSpPr>
        <p:spPr>
          <a:xfrm>
            <a:off x="9591675" y="35661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Carbamylated Allergoids</a:t>
            </a:r>
          </a:p>
        </p:txBody>
      </p:sp>
      <p:cxnSp>
        <p:nvCxnSpPr>
          <p:cNvPr id="219" name="Connector 218"/>
          <p:cNvCxnSpPr/>
          <p:nvPr/>
        </p:nvCxnSpPr>
        <p:spPr>
          <a:xfrm>
            <a:off x="9182100" y="37433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0" name="TextBox 219"/>
          <p:cNvSpPr txBox="1"/>
          <p:nvPr/>
        </p:nvSpPr>
        <p:spPr>
          <a:xfrm>
            <a:off x="9401175" y="37433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21" name="TextBox 220"/>
          <p:cNvSpPr txBox="1"/>
          <p:nvPr/>
        </p:nvSpPr>
        <p:spPr>
          <a:xfrm>
            <a:off x="9591675" y="37433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Molecular Allergen Preparations</a:t>
            </a:r>
          </a:p>
        </p:txBody>
      </p:sp>
      <p:cxnSp>
        <p:nvCxnSpPr>
          <p:cNvPr id="222" name="Connector 221"/>
          <p:cNvCxnSpPr/>
          <p:nvPr/>
        </p:nvCxnSpPr>
        <p:spPr>
          <a:xfrm>
            <a:off x="9182100" y="39204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3" name="TextBox 222"/>
          <p:cNvSpPr txBox="1"/>
          <p:nvPr/>
        </p:nvSpPr>
        <p:spPr>
          <a:xfrm>
            <a:off x="9229725" y="39204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24" name="TextBox 223"/>
          <p:cNvSpPr txBox="1"/>
          <p:nvPr/>
        </p:nvSpPr>
        <p:spPr>
          <a:xfrm>
            <a:off x="9420225" y="392049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Allergy Therapeutics plc</a:t>
            </a:r>
          </a:p>
        </p:txBody>
      </p:sp>
      <p:cxnSp>
        <p:nvCxnSpPr>
          <p:cNvPr id="225" name="Connector 224"/>
          <p:cNvCxnSpPr/>
          <p:nvPr/>
        </p:nvCxnSpPr>
        <p:spPr>
          <a:xfrm>
            <a:off x="9182100" y="40976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6" name="TextBox 225"/>
          <p:cNvSpPr txBox="1"/>
          <p:nvPr/>
        </p:nvSpPr>
        <p:spPr>
          <a:xfrm>
            <a:off x="9401175" y="40976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27" name="TextBox 226"/>
          <p:cNvSpPr txBox="1"/>
          <p:nvPr/>
        </p:nvSpPr>
        <p:spPr>
          <a:xfrm>
            <a:off x="9591675" y="40976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Standardized Allergen Extracts</a:t>
            </a:r>
          </a:p>
        </p:txBody>
      </p:sp>
      <p:cxnSp>
        <p:nvCxnSpPr>
          <p:cNvPr id="228" name="Connector 227"/>
          <p:cNvCxnSpPr/>
          <p:nvPr/>
        </p:nvCxnSpPr>
        <p:spPr>
          <a:xfrm>
            <a:off x="9182100" y="42748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9" name="TextBox 228"/>
          <p:cNvSpPr txBox="1"/>
          <p:nvPr/>
        </p:nvSpPr>
        <p:spPr>
          <a:xfrm>
            <a:off x="9401175" y="42748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0" name="TextBox 229"/>
          <p:cNvSpPr txBox="1"/>
          <p:nvPr/>
        </p:nvSpPr>
        <p:spPr>
          <a:xfrm>
            <a:off x="9591675" y="42748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Non-standardized Allergen Extracts</a:t>
            </a:r>
          </a:p>
        </p:txBody>
      </p:sp>
      <p:cxnSp>
        <p:nvCxnSpPr>
          <p:cNvPr id="231" name="Connector 230"/>
          <p:cNvCxnSpPr/>
          <p:nvPr/>
        </p:nvCxnSpPr>
        <p:spPr>
          <a:xfrm>
            <a:off x="9182100" y="44519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32" name="TextBox 231"/>
          <p:cNvSpPr txBox="1"/>
          <p:nvPr/>
        </p:nvSpPr>
        <p:spPr>
          <a:xfrm>
            <a:off x="9401175" y="44519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3" name="TextBox 232"/>
          <p:cNvSpPr txBox="1"/>
          <p:nvPr/>
        </p:nvSpPr>
        <p:spPr>
          <a:xfrm>
            <a:off x="9591675" y="44519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Polymerized Allergoids</a:t>
            </a:r>
          </a:p>
        </p:txBody>
      </p:sp>
      <p:cxnSp>
        <p:nvCxnSpPr>
          <p:cNvPr id="234" name="Connector 233"/>
          <p:cNvCxnSpPr/>
          <p:nvPr/>
        </p:nvCxnSpPr>
        <p:spPr>
          <a:xfrm>
            <a:off x="9182100" y="46291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35" name="TextBox 234"/>
          <p:cNvSpPr txBox="1"/>
          <p:nvPr/>
        </p:nvSpPr>
        <p:spPr>
          <a:xfrm>
            <a:off x="9401175" y="46291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6" name="TextBox 235"/>
          <p:cNvSpPr txBox="1"/>
          <p:nvPr/>
        </p:nvSpPr>
        <p:spPr>
          <a:xfrm>
            <a:off x="9591675" y="46291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Depigmented-Polymerized Allergoids</a:t>
            </a:r>
          </a:p>
        </p:txBody>
      </p:sp>
      <p:cxnSp>
        <p:nvCxnSpPr>
          <p:cNvPr id="237" name="Connector 236"/>
          <p:cNvCxnSpPr/>
          <p:nvPr/>
        </p:nvCxnSpPr>
        <p:spPr>
          <a:xfrm>
            <a:off x="9182100" y="48063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38" name="TextBox 237"/>
          <p:cNvSpPr txBox="1"/>
          <p:nvPr/>
        </p:nvSpPr>
        <p:spPr>
          <a:xfrm>
            <a:off x="9401175" y="48063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9" name="TextBox 238"/>
          <p:cNvSpPr txBox="1"/>
          <p:nvPr/>
        </p:nvSpPr>
        <p:spPr>
          <a:xfrm>
            <a:off x="9591675" y="48063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Carbamylated Allergoids</a:t>
            </a:r>
          </a:p>
        </p:txBody>
      </p:sp>
      <p:cxnSp>
        <p:nvCxnSpPr>
          <p:cNvPr id="240" name="Connector 239"/>
          <p:cNvCxnSpPr/>
          <p:nvPr/>
        </p:nvCxnSpPr>
        <p:spPr>
          <a:xfrm>
            <a:off x="9182100" y="49834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41" name="TextBox 240"/>
          <p:cNvSpPr txBox="1"/>
          <p:nvPr/>
        </p:nvSpPr>
        <p:spPr>
          <a:xfrm>
            <a:off x="9401175" y="49834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42" name="TextBox 241"/>
          <p:cNvSpPr txBox="1"/>
          <p:nvPr/>
        </p:nvSpPr>
        <p:spPr>
          <a:xfrm>
            <a:off x="9591675" y="49834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Molecular Allergen Preparations</a:t>
            </a:r>
          </a:p>
        </p:txBody>
      </p:sp>
      <p:cxnSp>
        <p:nvCxnSpPr>
          <p:cNvPr id="243" name="Connector 242"/>
          <p:cNvCxnSpPr/>
          <p:nvPr/>
        </p:nvCxnSpPr>
        <p:spPr>
          <a:xfrm>
            <a:off x="9182100" y="51606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44" name="TextBox 243"/>
          <p:cNvSpPr txBox="1"/>
          <p:nvPr/>
        </p:nvSpPr>
        <p:spPr>
          <a:xfrm>
            <a:off x="9229725" y="51606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45" name="TextBox 244"/>
          <p:cNvSpPr txBox="1"/>
          <p:nvPr/>
        </p:nvSpPr>
        <p:spPr>
          <a:xfrm>
            <a:off x="9420225" y="516064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HAL Allergy Group</a:t>
            </a:r>
          </a:p>
        </p:txBody>
      </p:sp>
      <p:cxnSp>
        <p:nvCxnSpPr>
          <p:cNvPr id="246" name="Connector 245"/>
          <p:cNvCxnSpPr/>
          <p:nvPr/>
        </p:nvCxnSpPr>
        <p:spPr>
          <a:xfrm>
            <a:off x="9182100" y="53378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47" name="TextBox 246"/>
          <p:cNvSpPr txBox="1"/>
          <p:nvPr/>
        </p:nvSpPr>
        <p:spPr>
          <a:xfrm>
            <a:off x="9401175" y="53378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48" name="TextBox 247"/>
          <p:cNvSpPr txBox="1"/>
          <p:nvPr/>
        </p:nvSpPr>
        <p:spPr>
          <a:xfrm>
            <a:off x="9591675" y="53378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Standardized Allergen Extracts</a:t>
            </a:r>
          </a:p>
        </p:txBody>
      </p:sp>
      <p:cxnSp>
        <p:nvCxnSpPr>
          <p:cNvPr id="249" name="Connector 248"/>
          <p:cNvCxnSpPr/>
          <p:nvPr/>
        </p:nvCxnSpPr>
        <p:spPr>
          <a:xfrm>
            <a:off x="9182100" y="55149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0" name="TextBox 249"/>
          <p:cNvSpPr txBox="1"/>
          <p:nvPr/>
        </p:nvSpPr>
        <p:spPr>
          <a:xfrm>
            <a:off x="9401175" y="55149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51" name="TextBox 250"/>
          <p:cNvSpPr txBox="1"/>
          <p:nvPr/>
        </p:nvSpPr>
        <p:spPr>
          <a:xfrm>
            <a:off x="9591675" y="55149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Non-standardized Allergen Extracts</a:t>
            </a:r>
          </a:p>
        </p:txBody>
      </p:sp>
      <p:cxnSp>
        <p:nvCxnSpPr>
          <p:cNvPr id="252" name="Connector 251"/>
          <p:cNvCxnSpPr/>
          <p:nvPr/>
        </p:nvCxnSpPr>
        <p:spPr>
          <a:xfrm>
            <a:off x="9182100" y="56921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3" name="TextBox 252"/>
          <p:cNvSpPr txBox="1"/>
          <p:nvPr/>
        </p:nvSpPr>
        <p:spPr>
          <a:xfrm>
            <a:off x="9401175" y="56921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54" name="TextBox 253"/>
          <p:cNvSpPr txBox="1"/>
          <p:nvPr/>
        </p:nvSpPr>
        <p:spPr>
          <a:xfrm>
            <a:off x="9591675" y="56921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Polymerized Allergoids</a:t>
            </a:r>
          </a:p>
        </p:txBody>
      </p:sp>
      <p:cxnSp>
        <p:nvCxnSpPr>
          <p:cNvPr id="255" name="Connector 254"/>
          <p:cNvCxnSpPr/>
          <p:nvPr/>
        </p:nvCxnSpPr>
        <p:spPr>
          <a:xfrm>
            <a:off x="9182100" y="58693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9401175" y="58693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57" name="TextBox 256"/>
          <p:cNvSpPr txBox="1"/>
          <p:nvPr/>
        </p:nvSpPr>
        <p:spPr>
          <a:xfrm>
            <a:off x="9591675" y="58693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Depigmented-Polymerized Allergoids</a:t>
            </a:r>
          </a:p>
        </p:txBody>
      </p:sp>
      <p:cxnSp>
        <p:nvCxnSpPr>
          <p:cNvPr id="258" name="Connector 257"/>
          <p:cNvCxnSpPr/>
          <p:nvPr/>
        </p:nvCxnSpPr>
        <p:spPr>
          <a:xfrm>
            <a:off x="9182100" y="60464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9401175" y="60464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0" name="TextBox 259"/>
          <p:cNvSpPr txBox="1"/>
          <p:nvPr/>
        </p:nvSpPr>
        <p:spPr>
          <a:xfrm>
            <a:off x="9591675" y="60464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Carbamylated Allergoids</a:t>
            </a:r>
          </a:p>
        </p:txBody>
      </p:sp>
      <p:cxnSp>
        <p:nvCxnSpPr>
          <p:cNvPr id="261" name="Connector 260"/>
          <p:cNvCxnSpPr/>
          <p:nvPr/>
        </p:nvCxnSpPr>
        <p:spPr>
          <a:xfrm>
            <a:off x="9182100" y="62236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9401175" y="62236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3" name="TextBox 262"/>
          <p:cNvSpPr txBox="1"/>
          <p:nvPr/>
        </p:nvSpPr>
        <p:spPr>
          <a:xfrm>
            <a:off x="9591675" y="62236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Molecular Allergen Preparations</a:t>
            </a:r>
          </a:p>
        </p:txBody>
      </p:sp>
      <p:sp>
        <p:nvSpPr>
          <p:cNvPr id="264" name="TextBox 2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9 axes and the sub-segments sized under each</a:t>
            </a:r>
          </a:p>
        </p:txBody>
      </p:sp>
      <p:sp>
        <p:nvSpPr>
          <p:cNvPr id="10" name="Rectangle 9"/>
          <p:cNvSpPr/>
          <p:nvPr/>
        </p:nvSpPr>
        <p:spPr>
          <a:xfrm>
            <a:off x="142875" y="1028700"/>
            <a:ext cx="5886450" cy="518922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58864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5734050" cy="228600"/>
          </a:xfrm>
          <a:prstGeom prst="rect">
            <a:avLst/>
          </a:prstGeom>
          <a:noFill/>
        </p:spPr>
        <p:txBody>
          <a:bodyPr wrap="square" lIns="28575" rIns="28575" tIns="9525" bIns="9525" anchor="ctr">
            <a:spAutoFit/>
          </a:bodyPr>
          <a:lstStyle/>
          <a:p>
            <a:pPr algn="l"/>
            <a:r>
              <a:rPr sz="1100" b="1">
                <a:solidFill>
                  <a:srgbClr val="FFFFFF"/>
                </a:solidFill>
                <a:latin typeface="Calibri"/>
              </a:rPr>
              <a:t>By Company × Allergen Preparation Technology (2/3)</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5600700" cy="177165"/>
          </a:xfrm>
          <a:prstGeom prst="rect">
            <a:avLst/>
          </a:prstGeom>
          <a:noFill/>
        </p:spPr>
        <p:txBody>
          <a:bodyPr wrap="square" lIns="28575" rIns="28575" tIns="9525" bIns="9525" anchor="ctr">
            <a:spAutoFit/>
          </a:bodyPr>
          <a:lstStyle/>
          <a:p>
            <a:pPr algn="l"/>
            <a:r>
              <a:rPr sz="1100" b="1">
                <a:solidFill>
                  <a:srgbClr val="2E2E2E"/>
                </a:solidFill>
                <a:latin typeface="Calibri"/>
              </a:rPr>
              <a:t>LETI Pharma / Laboratorios LETI, S.L.U.</a:t>
            </a:r>
          </a:p>
        </p:txBody>
      </p:sp>
      <p:cxnSp>
        <p:nvCxnSpPr>
          <p:cNvPr id="15" name="Connector 14"/>
          <p:cNvCxnSpPr/>
          <p:nvPr/>
        </p:nvCxnSpPr>
        <p:spPr>
          <a:xfrm>
            <a:off x="152400" y="143446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14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561975" y="143446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Standardized Allergen Extracts</a:t>
            </a:r>
          </a:p>
        </p:txBody>
      </p:sp>
      <p:cxnSp>
        <p:nvCxnSpPr>
          <p:cNvPr id="18" name="Connector 17"/>
          <p:cNvCxnSpPr/>
          <p:nvPr/>
        </p:nvCxnSpPr>
        <p:spPr>
          <a:xfrm>
            <a:off x="152400" y="161163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14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561975" y="161163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Non-standardized Allergen Extracts</a:t>
            </a:r>
          </a:p>
        </p:txBody>
      </p:sp>
      <p:cxnSp>
        <p:nvCxnSpPr>
          <p:cNvPr id="21" name="Connector 20"/>
          <p:cNvCxnSpPr/>
          <p:nvPr/>
        </p:nvCxnSpPr>
        <p:spPr>
          <a:xfrm>
            <a:off x="152400" y="178879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714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561975" y="178879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Polymerized Allergoids</a:t>
            </a:r>
          </a:p>
        </p:txBody>
      </p:sp>
      <p:cxnSp>
        <p:nvCxnSpPr>
          <p:cNvPr id="24" name="Connector 23"/>
          <p:cNvCxnSpPr/>
          <p:nvPr/>
        </p:nvCxnSpPr>
        <p:spPr>
          <a:xfrm>
            <a:off x="152400" y="196596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714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561975" y="196596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Depigmented-Polymerized Allergoids</a:t>
            </a:r>
          </a:p>
        </p:txBody>
      </p:sp>
      <p:cxnSp>
        <p:nvCxnSpPr>
          <p:cNvPr id="27" name="Connector 26"/>
          <p:cNvCxnSpPr/>
          <p:nvPr/>
        </p:nvCxnSpPr>
        <p:spPr>
          <a:xfrm>
            <a:off x="152400" y="214312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714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561975" y="214312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Carbamylated Allergoids</a:t>
            </a:r>
          </a:p>
        </p:txBody>
      </p:sp>
      <p:cxnSp>
        <p:nvCxnSpPr>
          <p:cNvPr id="30" name="Connector 29"/>
          <p:cNvCxnSpPr/>
          <p:nvPr/>
        </p:nvCxnSpPr>
        <p:spPr>
          <a:xfrm>
            <a:off x="152400" y="232029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14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 name="TextBox 31"/>
          <p:cNvSpPr txBox="1"/>
          <p:nvPr/>
        </p:nvSpPr>
        <p:spPr>
          <a:xfrm>
            <a:off x="561975" y="232029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Molecular Allergen Preparations</a:t>
            </a:r>
          </a:p>
        </p:txBody>
      </p:sp>
      <p:cxnSp>
        <p:nvCxnSpPr>
          <p:cNvPr id="33" name="Connector 32"/>
          <p:cNvCxnSpPr/>
          <p:nvPr/>
        </p:nvCxnSpPr>
        <p:spPr>
          <a:xfrm>
            <a:off x="152400" y="249745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0002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5" name="TextBox 34"/>
          <p:cNvSpPr txBox="1"/>
          <p:nvPr/>
        </p:nvSpPr>
        <p:spPr>
          <a:xfrm>
            <a:off x="390525" y="2497455"/>
            <a:ext cx="5600700" cy="177165"/>
          </a:xfrm>
          <a:prstGeom prst="rect">
            <a:avLst/>
          </a:prstGeom>
          <a:noFill/>
        </p:spPr>
        <p:txBody>
          <a:bodyPr wrap="square" lIns="28575" rIns="28575" tIns="9525" bIns="9525" anchor="ctr">
            <a:spAutoFit/>
          </a:bodyPr>
          <a:lstStyle/>
          <a:p>
            <a:pPr algn="l"/>
            <a:r>
              <a:rPr sz="1100" b="1">
                <a:solidFill>
                  <a:srgbClr val="2E2E2E"/>
                </a:solidFill>
                <a:latin typeface="Calibri"/>
              </a:rPr>
              <a:t>Jubilant HollisterStier LLC</a:t>
            </a:r>
          </a:p>
        </p:txBody>
      </p:sp>
      <p:cxnSp>
        <p:nvCxnSpPr>
          <p:cNvPr id="36" name="Connector 35"/>
          <p:cNvCxnSpPr/>
          <p:nvPr/>
        </p:nvCxnSpPr>
        <p:spPr>
          <a:xfrm>
            <a:off x="152400" y="267462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714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8" name="TextBox 37"/>
          <p:cNvSpPr txBox="1"/>
          <p:nvPr/>
        </p:nvSpPr>
        <p:spPr>
          <a:xfrm>
            <a:off x="561975" y="267462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Standardized Allergen Extracts</a:t>
            </a:r>
          </a:p>
        </p:txBody>
      </p:sp>
      <p:cxnSp>
        <p:nvCxnSpPr>
          <p:cNvPr id="39" name="Connector 38"/>
          <p:cNvCxnSpPr/>
          <p:nvPr/>
        </p:nvCxnSpPr>
        <p:spPr>
          <a:xfrm>
            <a:off x="152400" y="285178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714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1" name="TextBox 40"/>
          <p:cNvSpPr txBox="1"/>
          <p:nvPr/>
        </p:nvSpPr>
        <p:spPr>
          <a:xfrm>
            <a:off x="561975" y="285178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Non-standardized Allergen Extracts</a:t>
            </a:r>
          </a:p>
        </p:txBody>
      </p:sp>
      <p:cxnSp>
        <p:nvCxnSpPr>
          <p:cNvPr id="42" name="Connector 41"/>
          <p:cNvCxnSpPr/>
          <p:nvPr/>
        </p:nvCxnSpPr>
        <p:spPr>
          <a:xfrm>
            <a:off x="152400" y="302895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714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4" name="TextBox 43"/>
          <p:cNvSpPr txBox="1"/>
          <p:nvPr/>
        </p:nvSpPr>
        <p:spPr>
          <a:xfrm>
            <a:off x="561975" y="302895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Polymerized Allergoids</a:t>
            </a:r>
          </a:p>
        </p:txBody>
      </p:sp>
      <p:cxnSp>
        <p:nvCxnSpPr>
          <p:cNvPr id="45" name="Connector 44"/>
          <p:cNvCxnSpPr/>
          <p:nvPr/>
        </p:nvCxnSpPr>
        <p:spPr>
          <a:xfrm>
            <a:off x="152400" y="320611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714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561975" y="320611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Depigmented-Polymerized Allergoids</a:t>
            </a:r>
          </a:p>
        </p:txBody>
      </p:sp>
      <p:cxnSp>
        <p:nvCxnSpPr>
          <p:cNvPr id="48" name="Connector 47"/>
          <p:cNvCxnSpPr/>
          <p:nvPr/>
        </p:nvCxnSpPr>
        <p:spPr>
          <a:xfrm>
            <a:off x="152400" y="338328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714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561975" y="338328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Carbamylated Allergoids</a:t>
            </a:r>
          </a:p>
        </p:txBody>
      </p:sp>
      <p:cxnSp>
        <p:nvCxnSpPr>
          <p:cNvPr id="51" name="Connector 50"/>
          <p:cNvCxnSpPr/>
          <p:nvPr/>
        </p:nvCxnSpPr>
        <p:spPr>
          <a:xfrm>
            <a:off x="152400" y="356044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14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3" name="TextBox 52"/>
          <p:cNvSpPr txBox="1"/>
          <p:nvPr/>
        </p:nvSpPr>
        <p:spPr>
          <a:xfrm>
            <a:off x="561975" y="356044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Molecular Allergen Preparations</a:t>
            </a:r>
          </a:p>
        </p:txBody>
      </p:sp>
      <p:cxnSp>
        <p:nvCxnSpPr>
          <p:cNvPr id="54" name="Connector 53"/>
          <p:cNvCxnSpPr/>
          <p:nvPr/>
        </p:nvCxnSpPr>
        <p:spPr>
          <a:xfrm>
            <a:off x="152400" y="373761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0002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6" name="TextBox 55"/>
          <p:cNvSpPr txBox="1"/>
          <p:nvPr/>
        </p:nvSpPr>
        <p:spPr>
          <a:xfrm>
            <a:off x="390525" y="3737610"/>
            <a:ext cx="5600700" cy="177165"/>
          </a:xfrm>
          <a:prstGeom prst="rect">
            <a:avLst/>
          </a:prstGeom>
          <a:noFill/>
        </p:spPr>
        <p:txBody>
          <a:bodyPr wrap="square" lIns="28575" rIns="28575" tIns="9525" bIns="9525" anchor="ctr">
            <a:spAutoFit/>
          </a:bodyPr>
          <a:lstStyle/>
          <a:p>
            <a:pPr algn="l"/>
            <a:r>
              <a:rPr sz="1100" b="1">
                <a:solidFill>
                  <a:srgbClr val="2E2E2E"/>
                </a:solidFill>
                <a:latin typeface="Calibri"/>
              </a:rPr>
              <a:t>Inmunotek S.L.</a:t>
            </a:r>
          </a:p>
        </p:txBody>
      </p:sp>
      <p:cxnSp>
        <p:nvCxnSpPr>
          <p:cNvPr id="57" name="Connector 56"/>
          <p:cNvCxnSpPr/>
          <p:nvPr/>
        </p:nvCxnSpPr>
        <p:spPr>
          <a:xfrm>
            <a:off x="152400" y="391477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7147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9" name="TextBox 58"/>
          <p:cNvSpPr txBox="1"/>
          <p:nvPr/>
        </p:nvSpPr>
        <p:spPr>
          <a:xfrm>
            <a:off x="561975" y="391477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Standardized Allergen Extracts</a:t>
            </a:r>
          </a:p>
        </p:txBody>
      </p:sp>
      <p:cxnSp>
        <p:nvCxnSpPr>
          <p:cNvPr id="60" name="Connector 59"/>
          <p:cNvCxnSpPr/>
          <p:nvPr/>
        </p:nvCxnSpPr>
        <p:spPr>
          <a:xfrm>
            <a:off x="152400" y="409194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714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2" name="TextBox 61"/>
          <p:cNvSpPr txBox="1"/>
          <p:nvPr/>
        </p:nvSpPr>
        <p:spPr>
          <a:xfrm>
            <a:off x="561975" y="409194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Non-standardized Allergen Extracts</a:t>
            </a:r>
          </a:p>
        </p:txBody>
      </p:sp>
      <p:cxnSp>
        <p:nvCxnSpPr>
          <p:cNvPr id="63" name="Connector 62"/>
          <p:cNvCxnSpPr/>
          <p:nvPr/>
        </p:nvCxnSpPr>
        <p:spPr>
          <a:xfrm>
            <a:off x="152400" y="426910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371475" y="42691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5" name="TextBox 64"/>
          <p:cNvSpPr txBox="1"/>
          <p:nvPr/>
        </p:nvSpPr>
        <p:spPr>
          <a:xfrm>
            <a:off x="561975" y="426910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Polymerized Allergoids</a:t>
            </a:r>
          </a:p>
        </p:txBody>
      </p:sp>
      <p:cxnSp>
        <p:nvCxnSpPr>
          <p:cNvPr id="66" name="Connector 65"/>
          <p:cNvCxnSpPr/>
          <p:nvPr/>
        </p:nvCxnSpPr>
        <p:spPr>
          <a:xfrm>
            <a:off x="152400" y="444627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37147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61975" y="444627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Depigmented-Polymerized Allergoids</a:t>
            </a:r>
          </a:p>
        </p:txBody>
      </p:sp>
      <p:cxnSp>
        <p:nvCxnSpPr>
          <p:cNvPr id="69" name="Connector 68"/>
          <p:cNvCxnSpPr/>
          <p:nvPr/>
        </p:nvCxnSpPr>
        <p:spPr>
          <a:xfrm>
            <a:off x="152400" y="462343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37147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61975" y="462343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Carbamylated Allergoids</a:t>
            </a:r>
          </a:p>
        </p:txBody>
      </p:sp>
      <p:cxnSp>
        <p:nvCxnSpPr>
          <p:cNvPr id="72" name="Connector 71"/>
          <p:cNvCxnSpPr/>
          <p:nvPr/>
        </p:nvCxnSpPr>
        <p:spPr>
          <a:xfrm>
            <a:off x="152400" y="480060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371475" y="48006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4" name="TextBox 73"/>
          <p:cNvSpPr txBox="1"/>
          <p:nvPr/>
        </p:nvSpPr>
        <p:spPr>
          <a:xfrm>
            <a:off x="561975" y="480060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Molecular Allergen Preparations</a:t>
            </a:r>
          </a:p>
        </p:txBody>
      </p:sp>
      <p:cxnSp>
        <p:nvCxnSpPr>
          <p:cNvPr id="75" name="Connector 74"/>
          <p:cNvCxnSpPr/>
          <p:nvPr/>
        </p:nvCxnSpPr>
        <p:spPr>
          <a:xfrm>
            <a:off x="152400" y="497776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200025" y="49777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7" name="TextBox 76"/>
          <p:cNvSpPr txBox="1"/>
          <p:nvPr/>
        </p:nvSpPr>
        <p:spPr>
          <a:xfrm>
            <a:off x="390525" y="4977765"/>
            <a:ext cx="5600700" cy="177165"/>
          </a:xfrm>
          <a:prstGeom prst="rect">
            <a:avLst/>
          </a:prstGeom>
          <a:noFill/>
        </p:spPr>
        <p:txBody>
          <a:bodyPr wrap="square" lIns="28575" rIns="28575" tIns="9525" bIns="9525" anchor="ctr">
            <a:spAutoFit/>
          </a:bodyPr>
          <a:lstStyle/>
          <a:p>
            <a:pPr algn="l"/>
            <a:r>
              <a:rPr sz="1100" b="1">
                <a:solidFill>
                  <a:srgbClr val="2E2E2E"/>
                </a:solidFill>
                <a:latin typeface="Calibri"/>
              </a:rPr>
              <a:t>DIATER Laboratories</a:t>
            </a:r>
          </a:p>
        </p:txBody>
      </p:sp>
      <p:cxnSp>
        <p:nvCxnSpPr>
          <p:cNvPr id="78" name="Connector 77"/>
          <p:cNvCxnSpPr/>
          <p:nvPr/>
        </p:nvCxnSpPr>
        <p:spPr>
          <a:xfrm>
            <a:off x="152400" y="515493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371475" y="51549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0" name="TextBox 79"/>
          <p:cNvSpPr txBox="1"/>
          <p:nvPr/>
        </p:nvSpPr>
        <p:spPr>
          <a:xfrm>
            <a:off x="561975" y="515493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Standardized Allergen Extracts</a:t>
            </a:r>
          </a:p>
        </p:txBody>
      </p:sp>
      <p:cxnSp>
        <p:nvCxnSpPr>
          <p:cNvPr id="81" name="Connector 80"/>
          <p:cNvCxnSpPr/>
          <p:nvPr/>
        </p:nvCxnSpPr>
        <p:spPr>
          <a:xfrm>
            <a:off x="152400" y="533209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371475" y="53320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3" name="TextBox 82"/>
          <p:cNvSpPr txBox="1"/>
          <p:nvPr/>
        </p:nvSpPr>
        <p:spPr>
          <a:xfrm>
            <a:off x="561975" y="533209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Non-standardized Allergen Extracts</a:t>
            </a:r>
          </a:p>
        </p:txBody>
      </p:sp>
      <p:cxnSp>
        <p:nvCxnSpPr>
          <p:cNvPr id="84" name="Connector 83"/>
          <p:cNvCxnSpPr/>
          <p:nvPr/>
        </p:nvCxnSpPr>
        <p:spPr>
          <a:xfrm>
            <a:off x="152400" y="550926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371475" y="55092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6" name="TextBox 85"/>
          <p:cNvSpPr txBox="1"/>
          <p:nvPr/>
        </p:nvSpPr>
        <p:spPr>
          <a:xfrm>
            <a:off x="561975" y="550926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Polymerized Allergoids</a:t>
            </a:r>
          </a:p>
        </p:txBody>
      </p:sp>
      <p:cxnSp>
        <p:nvCxnSpPr>
          <p:cNvPr id="87" name="Connector 86"/>
          <p:cNvCxnSpPr/>
          <p:nvPr/>
        </p:nvCxnSpPr>
        <p:spPr>
          <a:xfrm>
            <a:off x="152400" y="568642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371475" y="56864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561975" y="568642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Depigmented-Polymerized Allergoids</a:t>
            </a:r>
          </a:p>
        </p:txBody>
      </p:sp>
      <p:cxnSp>
        <p:nvCxnSpPr>
          <p:cNvPr id="90" name="Connector 89"/>
          <p:cNvCxnSpPr/>
          <p:nvPr/>
        </p:nvCxnSpPr>
        <p:spPr>
          <a:xfrm>
            <a:off x="152400" y="586359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371475" y="58635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561975" y="586359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Carbamylated Allergoids</a:t>
            </a:r>
          </a:p>
        </p:txBody>
      </p:sp>
      <p:cxnSp>
        <p:nvCxnSpPr>
          <p:cNvPr id="93" name="Connector 92"/>
          <p:cNvCxnSpPr/>
          <p:nvPr/>
        </p:nvCxnSpPr>
        <p:spPr>
          <a:xfrm>
            <a:off x="152400" y="604075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371475" y="60407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5" name="TextBox 94"/>
          <p:cNvSpPr txBox="1"/>
          <p:nvPr/>
        </p:nvSpPr>
        <p:spPr>
          <a:xfrm>
            <a:off x="561975" y="604075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Molecular Allergen Preparations</a:t>
            </a:r>
          </a:p>
        </p:txBody>
      </p:sp>
      <p:sp>
        <p:nvSpPr>
          <p:cNvPr id="96" name="Rectangle 95"/>
          <p:cNvSpPr/>
          <p:nvPr/>
        </p:nvSpPr>
        <p:spPr>
          <a:xfrm>
            <a:off x="6162675" y="1028700"/>
            <a:ext cx="5886450" cy="270891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162675" y="1028700"/>
            <a:ext cx="58864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238875" y="1028700"/>
            <a:ext cx="5734050" cy="228600"/>
          </a:xfrm>
          <a:prstGeom prst="rect">
            <a:avLst/>
          </a:prstGeom>
          <a:noFill/>
        </p:spPr>
        <p:txBody>
          <a:bodyPr wrap="square" lIns="28575" rIns="28575" tIns="9525" bIns="9525" anchor="ctr">
            <a:spAutoFit/>
          </a:bodyPr>
          <a:lstStyle/>
          <a:p>
            <a:pPr algn="l"/>
            <a:r>
              <a:rPr sz="1100" b="1">
                <a:solidFill>
                  <a:srgbClr val="FFFFFF"/>
                </a:solidFill>
                <a:latin typeface="Calibri"/>
              </a:rPr>
              <a:t>By Company × Allergen Preparation Technology (3/3)</a:t>
            </a:r>
          </a:p>
        </p:txBody>
      </p:sp>
      <p:sp>
        <p:nvSpPr>
          <p:cNvPr id="99" name="TextBox 98"/>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6410325" y="1257300"/>
            <a:ext cx="5600700" cy="177165"/>
          </a:xfrm>
          <a:prstGeom prst="rect">
            <a:avLst/>
          </a:prstGeom>
          <a:noFill/>
        </p:spPr>
        <p:txBody>
          <a:bodyPr wrap="square" lIns="28575" rIns="28575" tIns="9525" bIns="9525" anchor="ctr">
            <a:spAutoFit/>
          </a:bodyPr>
          <a:lstStyle/>
          <a:p>
            <a:pPr algn="l"/>
            <a:r>
              <a:rPr sz="1100" b="1">
                <a:solidFill>
                  <a:srgbClr val="2E2E2E"/>
                </a:solidFill>
                <a:latin typeface="Calibri"/>
              </a:rPr>
              <a:t>Torii Pharmaceutical Co., Ltd.</a:t>
            </a:r>
          </a:p>
        </p:txBody>
      </p:sp>
      <p:cxnSp>
        <p:nvCxnSpPr>
          <p:cNvPr id="101" name="Connector 100"/>
          <p:cNvCxnSpPr/>
          <p:nvPr/>
        </p:nvCxnSpPr>
        <p:spPr>
          <a:xfrm>
            <a:off x="6172200" y="143446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3912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3" name="TextBox 102"/>
          <p:cNvSpPr txBox="1"/>
          <p:nvPr/>
        </p:nvSpPr>
        <p:spPr>
          <a:xfrm>
            <a:off x="6581775" y="143446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Standardized Allergen Extracts</a:t>
            </a:r>
          </a:p>
        </p:txBody>
      </p:sp>
      <p:cxnSp>
        <p:nvCxnSpPr>
          <p:cNvPr id="104" name="Connector 103"/>
          <p:cNvCxnSpPr/>
          <p:nvPr/>
        </p:nvCxnSpPr>
        <p:spPr>
          <a:xfrm>
            <a:off x="6172200" y="161163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63912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6" name="TextBox 105"/>
          <p:cNvSpPr txBox="1"/>
          <p:nvPr/>
        </p:nvSpPr>
        <p:spPr>
          <a:xfrm>
            <a:off x="6581775" y="161163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Non-standardized Allergen Extracts</a:t>
            </a:r>
          </a:p>
        </p:txBody>
      </p:sp>
      <p:cxnSp>
        <p:nvCxnSpPr>
          <p:cNvPr id="107" name="Connector 106"/>
          <p:cNvCxnSpPr/>
          <p:nvPr/>
        </p:nvCxnSpPr>
        <p:spPr>
          <a:xfrm>
            <a:off x="6172200" y="178879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63912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9" name="TextBox 108"/>
          <p:cNvSpPr txBox="1"/>
          <p:nvPr/>
        </p:nvSpPr>
        <p:spPr>
          <a:xfrm>
            <a:off x="6581775" y="178879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Polymerized Allergoids</a:t>
            </a:r>
          </a:p>
        </p:txBody>
      </p:sp>
      <p:cxnSp>
        <p:nvCxnSpPr>
          <p:cNvPr id="110" name="Connector 109"/>
          <p:cNvCxnSpPr/>
          <p:nvPr/>
        </p:nvCxnSpPr>
        <p:spPr>
          <a:xfrm>
            <a:off x="6172200" y="196596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3912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2" name="TextBox 111"/>
          <p:cNvSpPr txBox="1"/>
          <p:nvPr/>
        </p:nvSpPr>
        <p:spPr>
          <a:xfrm>
            <a:off x="6581775" y="196596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Depigmented-Polymerized Allergoids</a:t>
            </a:r>
          </a:p>
        </p:txBody>
      </p:sp>
      <p:cxnSp>
        <p:nvCxnSpPr>
          <p:cNvPr id="113" name="Connector 112"/>
          <p:cNvCxnSpPr/>
          <p:nvPr/>
        </p:nvCxnSpPr>
        <p:spPr>
          <a:xfrm>
            <a:off x="6172200" y="214312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63912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5" name="TextBox 114"/>
          <p:cNvSpPr txBox="1"/>
          <p:nvPr/>
        </p:nvSpPr>
        <p:spPr>
          <a:xfrm>
            <a:off x="6581775" y="214312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Carbamylated Allergoids</a:t>
            </a:r>
          </a:p>
        </p:txBody>
      </p:sp>
      <p:cxnSp>
        <p:nvCxnSpPr>
          <p:cNvPr id="116" name="Connector 115"/>
          <p:cNvCxnSpPr/>
          <p:nvPr/>
        </p:nvCxnSpPr>
        <p:spPr>
          <a:xfrm>
            <a:off x="6172200" y="232029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63912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8" name="TextBox 117"/>
          <p:cNvSpPr txBox="1"/>
          <p:nvPr/>
        </p:nvSpPr>
        <p:spPr>
          <a:xfrm>
            <a:off x="6581775" y="232029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Molecular Allergen Preparations</a:t>
            </a:r>
          </a:p>
        </p:txBody>
      </p:sp>
      <p:cxnSp>
        <p:nvCxnSpPr>
          <p:cNvPr id="119" name="Connector 118"/>
          <p:cNvCxnSpPr/>
          <p:nvPr/>
        </p:nvCxnSpPr>
        <p:spPr>
          <a:xfrm>
            <a:off x="6172200" y="249745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21982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6410325" y="2497455"/>
            <a:ext cx="5600700" cy="177165"/>
          </a:xfrm>
          <a:prstGeom prst="rect">
            <a:avLst/>
          </a:prstGeom>
          <a:noFill/>
        </p:spPr>
        <p:txBody>
          <a:bodyPr wrap="square" lIns="28575" rIns="28575" tIns="9525" bIns="9525" anchor="ctr">
            <a:spAutoFit/>
          </a:bodyPr>
          <a:lstStyle/>
          <a:p>
            <a:pPr algn="l"/>
            <a:r>
              <a:rPr sz="1100" b="1">
                <a:solidFill>
                  <a:srgbClr val="2E2E2E"/>
                </a:solidFill>
                <a:latin typeface="Calibri"/>
              </a:rPr>
              <a:t>Allergopharma GmbH &amp; Co. KG</a:t>
            </a:r>
          </a:p>
        </p:txBody>
      </p:sp>
      <p:cxnSp>
        <p:nvCxnSpPr>
          <p:cNvPr id="122" name="Connector 121"/>
          <p:cNvCxnSpPr/>
          <p:nvPr/>
        </p:nvCxnSpPr>
        <p:spPr>
          <a:xfrm>
            <a:off x="6172200" y="267462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63912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4" name="TextBox 123"/>
          <p:cNvSpPr txBox="1"/>
          <p:nvPr/>
        </p:nvSpPr>
        <p:spPr>
          <a:xfrm>
            <a:off x="6581775" y="267462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Standardized Allergen Extracts</a:t>
            </a:r>
          </a:p>
        </p:txBody>
      </p:sp>
      <p:cxnSp>
        <p:nvCxnSpPr>
          <p:cNvPr id="125" name="Connector 124"/>
          <p:cNvCxnSpPr/>
          <p:nvPr/>
        </p:nvCxnSpPr>
        <p:spPr>
          <a:xfrm>
            <a:off x="6172200" y="285178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63912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7" name="TextBox 126"/>
          <p:cNvSpPr txBox="1"/>
          <p:nvPr/>
        </p:nvSpPr>
        <p:spPr>
          <a:xfrm>
            <a:off x="6581775" y="285178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Non-standardized Allergen Extracts</a:t>
            </a:r>
          </a:p>
        </p:txBody>
      </p:sp>
      <p:cxnSp>
        <p:nvCxnSpPr>
          <p:cNvPr id="128" name="Connector 127"/>
          <p:cNvCxnSpPr/>
          <p:nvPr/>
        </p:nvCxnSpPr>
        <p:spPr>
          <a:xfrm>
            <a:off x="6172200" y="302895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63912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0" name="TextBox 129"/>
          <p:cNvSpPr txBox="1"/>
          <p:nvPr/>
        </p:nvSpPr>
        <p:spPr>
          <a:xfrm>
            <a:off x="6581775" y="302895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Polymerized Allergoids</a:t>
            </a:r>
          </a:p>
        </p:txBody>
      </p:sp>
      <p:cxnSp>
        <p:nvCxnSpPr>
          <p:cNvPr id="131" name="Connector 130"/>
          <p:cNvCxnSpPr/>
          <p:nvPr/>
        </p:nvCxnSpPr>
        <p:spPr>
          <a:xfrm>
            <a:off x="6172200" y="320611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63912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3" name="TextBox 132"/>
          <p:cNvSpPr txBox="1"/>
          <p:nvPr/>
        </p:nvSpPr>
        <p:spPr>
          <a:xfrm>
            <a:off x="6581775" y="320611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Depigmented-Polymerized Allergoids</a:t>
            </a:r>
          </a:p>
        </p:txBody>
      </p:sp>
      <p:cxnSp>
        <p:nvCxnSpPr>
          <p:cNvPr id="134" name="Connector 133"/>
          <p:cNvCxnSpPr/>
          <p:nvPr/>
        </p:nvCxnSpPr>
        <p:spPr>
          <a:xfrm>
            <a:off x="6172200" y="3383280"/>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63912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6" name="TextBox 135"/>
          <p:cNvSpPr txBox="1"/>
          <p:nvPr/>
        </p:nvSpPr>
        <p:spPr>
          <a:xfrm>
            <a:off x="6581775" y="3383280"/>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Carbamylated Allergoids</a:t>
            </a:r>
          </a:p>
        </p:txBody>
      </p:sp>
      <p:cxnSp>
        <p:nvCxnSpPr>
          <p:cNvPr id="137" name="Connector 136"/>
          <p:cNvCxnSpPr/>
          <p:nvPr/>
        </p:nvCxnSpPr>
        <p:spPr>
          <a:xfrm>
            <a:off x="6172200" y="3560445"/>
            <a:ext cx="58674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63912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9" name="TextBox 138"/>
          <p:cNvSpPr txBox="1"/>
          <p:nvPr/>
        </p:nvSpPr>
        <p:spPr>
          <a:xfrm>
            <a:off x="6581775" y="3560445"/>
            <a:ext cx="5429250" cy="177165"/>
          </a:xfrm>
          <a:prstGeom prst="rect">
            <a:avLst/>
          </a:prstGeom>
          <a:noFill/>
        </p:spPr>
        <p:txBody>
          <a:bodyPr wrap="square" lIns="28575" rIns="28575" tIns="9525" bIns="9525" anchor="ctr">
            <a:spAutoFit/>
          </a:bodyPr>
          <a:lstStyle/>
          <a:p>
            <a:pPr algn="l"/>
            <a:r>
              <a:rPr sz="1100" b="0">
                <a:solidFill>
                  <a:srgbClr val="2E2E2E"/>
                </a:solidFill>
                <a:latin typeface="Calibri"/>
              </a:rPr>
              <a:t>Molecular Allergen Preparations</a:t>
            </a:r>
          </a:p>
        </p:txBody>
      </p:sp>
      <p:sp>
        <p:nvSpPr>
          <p:cNvPr id="140" name="TextBox 13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Company Coverage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10" name="TextBox 9"/>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Allergy Immunotherapy Market profiled and benchmarked in the Competition Assessment section.</a:t>
            </a:r>
          </a:p>
        </p:txBody>
      </p:sp>
      <p:sp>
        <p:nvSpPr>
          <p:cNvPr id="11" name="Rectangle 10"/>
          <p:cNvSpPr/>
          <p:nvPr/>
        </p:nvSpPr>
        <p:spPr>
          <a:xfrm>
            <a:off x="142875" y="2558825"/>
            <a:ext cx="5857875" cy="2646786"/>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2875" y="2558825"/>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2622713"/>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4" name="TextBox 13"/>
          <p:cNvSpPr txBox="1"/>
          <p:nvPr/>
        </p:nvSpPr>
        <p:spPr>
          <a:xfrm>
            <a:off x="333375" y="283263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5" name="TextBox 14"/>
          <p:cNvSpPr txBox="1"/>
          <p:nvPr/>
        </p:nvSpPr>
        <p:spPr>
          <a:xfrm>
            <a:off x="581025" y="283263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ALK-Abelló A/S</a:t>
            </a:r>
          </a:p>
        </p:txBody>
      </p:sp>
      <p:sp>
        <p:nvSpPr>
          <p:cNvPr id="16" name="Rectangle 15"/>
          <p:cNvSpPr/>
          <p:nvPr/>
        </p:nvSpPr>
        <p:spPr>
          <a:xfrm>
            <a:off x="152400" y="3307227"/>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2400" y="330722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330722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330722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Stallergenes Greer International AG</a:t>
            </a:r>
          </a:p>
        </p:txBody>
      </p:sp>
      <p:cxnSp>
        <p:nvCxnSpPr>
          <p:cNvPr id="20" name="Connector 19"/>
          <p:cNvCxnSpPr/>
          <p:nvPr/>
        </p:nvCxnSpPr>
        <p:spPr>
          <a:xfrm>
            <a:off x="152400" y="378182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3375" y="378182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2" name="TextBox 21"/>
          <p:cNvSpPr txBox="1"/>
          <p:nvPr/>
        </p:nvSpPr>
        <p:spPr>
          <a:xfrm>
            <a:off x="581025" y="378182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Allergy Therapeutics plc</a:t>
            </a:r>
          </a:p>
        </p:txBody>
      </p:sp>
      <p:sp>
        <p:nvSpPr>
          <p:cNvPr id="23" name="Rectangle 22"/>
          <p:cNvSpPr/>
          <p:nvPr/>
        </p:nvSpPr>
        <p:spPr>
          <a:xfrm>
            <a:off x="152400" y="4256419"/>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52400" y="425641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425641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425641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HAL Allergy Group</a:t>
            </a:r>
          </a:p>
        </p:txBody>
      </p:sp>
      <p:cxnSp>
        <p:nvCxnSpPr>
          <p:cNvPr id="27" name="Connector 26"/>
          <p:cNvCxnSpPr/>
          <p:nvPr/>
        </p:nvCxnSpPr>
        <p:spPr>
          <a:xfrm>
            <a:off x="152400" y="473101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33375" y="473101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9" name="TextBox 28"/>
          <p:cNvSpPr txBox="1"/>
          <p:nvPr/>
        </p:nvSpPr>
        <p:spPr>
          <a:xfrm>
            <a:off x="581025" y="473101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LETI Pharma / Laboratorios LETI, S.L.U.</a:t>
            </a:r>
          </a:p>
        </p:txBody>
      </p:sp>
      <p:sp>
        <p:nvSpPr>
          <p:cNvPr id="30" name="Rectangle 29"/>
          <p:cNvSpPr/>
          <p:nvPr/>
        </p:nvSpPr>
        <p:spPr>
          <a:xfrm>
            <a:off x="6191250" y="2558825"/>
            <a:ext cx="5857875" cy="2646786"/>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91250" y="2558825"/>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1250" y="2622713"/>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33" name="TextBox 32"/>
          <p:cNvSpPr txBox="1"/>
          <p:nvPr/>
        </p:nvSpPr>
        <p:spPr>
          <a:xfrm>
            <a:off x="6381750" y="283263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4" name="TextBox 33"/>
          <p:cNvSpPr txBox="1"/>
          <p:nvPr/>
        </p:nvSpPr>
        <p:spPr>
          <a:xfrm>
            <a:off x="6629400" y="283263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Jubilant HollisterStier LLC</a:t>
            </a:r>
          </a:p>
        </p:txBody>
      </p:sp>
      <p:sp>
        <p:nvSpPr>
          <p:cNvPr id="35" name="Rectangle 34"/>
          <p:cNvSpPr/>
          <p:nvPr/>
        </p:nvSpPr>
        <p:spPr>
          <a:xfrm>
            <a:off x="6200775" y="3307227"/>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6200775" y="330722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381750" y="330722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8" name="TextBox 37"/>
          <p:cNvSpPr txBox="1"/>
          <p:nvPr/>
        </p:nvSpPr>
        <p:spPr>
          <a:xfrm>
            <a:off x="6629400" y="330722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Inmunotek S.L.</a:t>
            </a:r>
          </a:p>
        </p:txBody>
      </p:sp>
      <p:cxnSp>
        <p:nvCxnSpPr>
          <p:cNvPr id="39" name="Connector 38"/>
          <p:cNvCxnSpPr/>
          <p:nvPr/>
        </p:nvCxnSpPr>
        <p:spPr>
          <a:xfrm>
            <a:off x="6200775" y="378182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81750" y="378182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1" name="TextBox 40"/>
          <p:cNvSpPr txBox="1"/>
          <p:nvPr/>
        </p:nvSpPr>
        <p:spPr>
          <a:xfrm>
            <a:off x="6629400" y="378182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DIATER Laboratories</a:t>
            </a:r>
          </a:p>
        </p:txBody>
      </p:sp>
      <p:sp>
        <p:nvSpPr>
          <p:cNvPr id="42" name="Rectangle 41"/>
          <p:cNvSpPr/>
          <p:nvPr/>
        </p:nvSpPr>
        <p:spPr>
          <a:xfrm>
            <a:off x="6200775" y="4256419"/>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6200775" y="425641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381750" y="425641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5" name="TextBox 44"/>
          <p:cNvSpPr txBox="1"/>
          <p:nvPr/>
        </p:nvSpPr>
        <p:spPr>
          <a:xfrm>
            <a:off x="6629400" y="425641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Torii Pharmaceutical Co., Ltd.</a:t>
            </a:r>
          </a:p>
        </p:txBody>
      </p:sp>
      <p:cxnSp>
        <p:nvCxnSpPr>
          <p:cNvPr id="46" name="Connector 45"/>
          <p:cNvCxnSpPr/>
          <p:nvPr/>
        </p:nvCxnSpPr>
        <p:spPr>
          <a:xfrm>
            <a:off x="6200775" y="473101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381750" y="473101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8" name="TextBox 47"/>
          <p:cNvSpPr txBox="1"/>
          <p:nvPr/>
        </p:nvSpPr>
        <p:spPr>
          <a:xfrm>
            <a:off x="6629400" y="473101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Allergopharma GmbH &amp; Co. KG</a:t>
            </a:r>
          </a:p>
        </p:txBody>
      </p:sp>
      <p:sp>
        <p:nvSpPr>
          <p:cNvPr id="49" name="TextBox 48"/>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50" name="TextBox 4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Global Market Snapshot</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Demand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Supply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Technology Roadmap</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Analyst Takeaways &amp; Recommendations</a:t>
                      </a:r>
                      <a:endParaRPr sz="1100"/>
                    </a:p>
                  </a:txBody>
                  <a:tcPr marL="685800" marR="9525" marT="9525" marB="0" anchor="ctr"/>
                </a:tc>
              </a:tr>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Market Definition By Segments Covered</a:t>
                      </a:r>
                      <a:endParaRPr sz="1100"/>
                    </a:p>
                  </a:txBody>
                  <a:tcPr marL="428625" marR="9525" marT="9525" marB="0" anchor="ctr"/>
                </a:tc>
              </a:tr>
              <a:tr h="175260">
                <a:tc>
                  <a:txBody>
                    <a:bodyPr wrap="square"/>
                    <a:lstStyle/>
                    <a:p>
                      <a:pPr algn="l"/>
                      <a:r>
                        <a:rPr sz="1100" b="1" i="0">
                          <a:solidFill>
                            <a:srgbClr val="000000"/>
                          </a:solidFill>
                          <a:latin typeface="Calibri"/>
                        </a:rPr>
                        <a:t>Section 1: Global Market Outlook</a:t>
                      </a:r>
                      <a:endParaRPr sz="1100"/>
                    </a:p>
                  </a:txBody>
                  <a:tcPr marL="95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Company Share (%) Analysis, 2023, 2025, 2026</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By Region</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By Product Type</a:t>
                      </a:r>
                      <a:endParaRPr sz="1100"/>
                    </a:p>
                  </a:txBody>
                  <a:tcPr marL="428625" marR="9525" marT="9525" marB="0" anchor="ctr"/>
                </a:tc>
              </a:tr>
              <a:tr h="175260">
                <a:tc>
                  <a:txBody>
                    <a:bodyPr wrap="square"/>
                    <a:lstStyle/>
                    <a:p>
                      <a:pPr algn="l"/>
                      <a:r>
                        <a:rPr sz="1100" b="0" i="0">
                          <a:solidFill>
                            <a:srgbClr val="0070C0"/>
                          </a:solidFill>
                          <a:latin typeface="Calibri"/>
                        </a:rPr>
                        <a:t>2.3.</a:t>
                      </a:r>
                      <a:r>
                        <a:rPr sz="700" b="0" i="0">
                          <a:solidFill>
                            <a:srgbClr val="0070C0"/>
                          </a:solidFill>
                          <a:latin typeface="Times New Roman"/>
                        </a:rPr>
                        <a:t>    </a:t>
                      </a:r>
                      <a:r>
                        <a:rPr sz="1100" b="0" i="0">
                          <a:solidFill>
                            <a:srgbClr val="0070C0"/>
                          </a:solidFill>
                          <a:latin typeface="Calibri"/>
                        </a:rPr>
                        <a:t>By End Use Application/ Sales Channel</a:t>
                      </a:r>
                      <a:endParaRPr sz="1100"/>
                    </a:p>
                  </a:txBody>
                  <a:tcPr marL="4286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Company Share Breakdown (2026)</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Top Players (Tier 1)</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Mid-Sized Players (Tier 2)</a:t>
                      </a:r>
                      <a:endParaRPr sz="1100"/>
                    </a:p>
                  </a:txBody>
                  <a:tcPr marL="428625" marR="9525" marT="9525" marB="0" anchor="ctr"/>
                </a:tc>
              </a:tr>
              <a:tr h="175260">
                <a:tc>
                  <a:txBody>
                    <a:bodyPr wrap="square"/>
                    <a:lstStyle/>
                    <a:p>
                      <a:pPr algn="l"/>
                      <a:r>
                        <a:rPr sz="1100" b="0" i="0">
                          <a:solidFill>
                            <a:srgbClr val="0070C0"/>
                          </a:solidFill>
                          <a:latin typeface="Calibri"/>
                        </a:rPr>
                        <a:t>3.3.</a:t>
                      </a:r>
                      <a:r>
                        <a:rPr sz="700" b="0" i="0">
                          <a:solidFill>
                            <a:srgbClr val="0070C0"/>
                          </a:solidFill>
                          <a:latin typeface="Times New Roman"/>
                        </a:rPr>
                        <a:t>    </a:t>
                      </a:r>
                      <a:r>
                        <a:rPr sz="1100" b="0" i="0">
                          <a:solidFill>
                            <a:srgbClr val="0070C0"/>
                          </a:solidFill>
                          <a:latin typeface="Calibri"/>
                        </a:rPr>
                        <a:t>Emerging/Local Players (Tier 3)</a:t>
                      </a:r>
                      <a:endParaRPr sz="1100"/>
                    </a:p>
                  </a:txBody>
                  <a:tcPr marL="428625"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Company Profile</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ALK-Abelló A/S</a:t>
                      </a:r>
                      <a:endParaRPr sz="1100"/>
                    </a:p>
                  </a:txBody>
                  <a:tcPr marL="428625" marR="9525" marT="9525" marB="0" anchor="ctr"/>
                </a:tc>
              </a:tr>
              <a:tr h="175260">
                <a:tc>
                  <a:txBody>
                    <a:bodyPr wrap="square"/>
                    <a:lstStyle/>
                    <a:p>
                      <a:pPr algn="l"/>
                      <a:r>
                        <a:rPr sz="1100" b="0" i="0">
                          <a:solidFill>
                            <a:srgbClr val="000000"/>
                          </a:solidFill>
                          <a:latin typeface="Calibri"/>
                        </a:rPr>
                        <a:t>4.1.1.</a:t>
                      </a:r>
                      <a:r>
                        <a:rPr sz="700" b="0" i="0">
                          <a:solidFill>
                            <a:srgbClr val="000000"/>
                          </a:solidFill>
                          <a:latin typeface="Times New Roman"/>
                        </a:rPr>
                        <a:t>   </a:t>
                      </a:r>
                      <a:r>
                        <a:rPr sz="1100" b="0" i="0">
                          <a:solidFill>
                            <a:srgbClr val="000000"/>
                          </a:solidFill>
                          <a:latin typeface="Calibri"/>
                        </a:rPr>
                        <a:t>Product Portfolio</a:t>
                      </a:r>
                      <a:endParaRPr sz="1100"/>
                    </a:p>
                  </a:txBody>
                  <a:tcPr marL="771525" marR="9525" marT="9525" marB="0" anchor="ctr"/>
                </a:tc>
              </a:tr>
              <a:tr h="175260">
                <a:tc>
                  <a:txBody>
                    <a:bodyPr wrap="square"/>
                    <a:lstStyle/>
                    <a:p>
                      <a:pPr algn="l"/>
                      <a:r>
                        <a:rPr sz="1100" b="0" i="0">
                          <a:solidFill>
                            <a:srgbClr val="000000"/>
                          </a:solidFill>
                          <a:latin typeface="Calibri"/>
                        </a:rPr>
                        <a:t>4.1.2.</a:t>
                      </a:r>
                      <a:r>
                        <a:rPr sz="700" b="0" i="0">
                          <a:solidFill>
                            <a:srgbClr val="000000"/>
                          </a:solidFill>
                          <a:latin typeface="Times New Roman"/>
                        </a:rPr>
                        <a:t>   </a:t>
                      </a:r>
                      <a:r>
                        <a:rPr sz="1100" b="0" i="0">
                          <a:solidFill>
                            <a:srgbClr val="000000"/>
                          </a:solidFill>
                          <a:latin typeface="Calibri"/>
                        </a:rPr>
                        <a:t>Apparent Production Volume (Units)</a:t>
                      </a:r>
                      <a:endParaRPr sz="1100"/>
                    </a:p>
                  </a:txBody>
                  <a:tcPr marL="771525" marR="9525" marT="9525" marB="0" anchor="ctr"/>
                </a:tc>
              </a:tr>
              <a:tr h="175260">
                <a:tc>
                  <a:txBody>
                    <a:bodyPr wrap="square"/>
                    <a:lstStyle/>
                    <a:p>
                      <a:pPr algn="l"/>
                      <a:r>
                        <a:rPr sz="1100" b="0" i="0">
                          <a:solidFill>
                            <a:srgbClr val="000000"/>
                          </a:solidFill>
                          <a:latin typeface="Calibri"/>
                        </a:rPr>
                        <a:t>4.1.3.</a:t>
                      </a:r>
                      <a:r>
                        <a:rPr sz="700" b="0" i="0">
                          <a:solidFill>
                            <a:srgbClr val="000000"/>
                          </a:solidFill>
                          <a:latin typeface="Times New Roman"/>
                        </a:rPr>
                        <a:t>   </a:t>
                      </a:r>
                      <a:r>
                        <a:rPr sz="1100" b="0" i="0">
                          <a:solidFill>
                            <a:srgbClr val="000000"/>
                          </a:solidFill>
                          <a:latin typeface="Calibri"/>
                        </a:rPr>
                        <a:t>Pricing Analysis (USD Per Unit) By Product Type</a:t>
                      </a:r>
                      <a:endParaRPr sz="1100"/>
                    </a:p>
                  </a:txBody>
                  <a:tcPr marL="771525" marR="9525" marT="9525" marB="0" anchor="ctr"/>
                </a:tc>
              </a:tr>
              <a:tr h="175260">
                <a:tc>
                  <a:txBody>
                    <a:bodyPr wrap="square"/>
                    <a:lstStyle/>
                    <a:p>
                      <a:pPr algn="l"/>
                      <a:r>
                        <a:rPr sz="1100" b="0" i="0">
                          <a:solidFill>
                            <a:srgbClr val="000000"/>
                          </a:solidFill>
                          <a:latin typeface="Calibri"/>
                        </a:rPr>
                        <a:t>4.1.4.</a:t>
                      </a:r>
                      <a:r>
                        <a:rPr sz="700" b="0" i="0">
                          <a:solidFill>
                            <a:srgbClr val="000000"/>
                          </a:solidFill>
                          <a:latin typeface="Times New Roman"/>
                        </a:rPr>
                        <a:t>   </a:t>
                      </a:r>
                      <a:r>
                        <a:rPr sz="1100" b="0" i="0">
                          <a:solidFill>
                            <a:srgbClr val="000000"/>
                          </a:solidFill>
                          <a:latin typeface="Calibri"/>
                        </a:rPr>
                        <a:t>Revenue (USD Mn) and Market Share by Market Segments</a:t>
                      </a:r>
                      <a:endParaRPr sz="1100"/>
                    </a:p>
                  </a:txBody>
                  <a:tcPr marL="771525" marR="9525" marT="9525" marB="0" anchor="ctr"/>
                </a:tc>
              </a:tr>
              <a:tr h="175260">
                <a:tc>
                  <a:txBody>
                    <a:bodyPr wrap="square"/>
                    <a:lstStyle/>
                    <a:p>
                      <a:pPr algn="l"/>
                      <a:r>
                        <a:rPr sz="1100" b="0" i="1">
                          <a:solidFill>
                            <a:srgbClr val="000000"/>
                          </a:solidFill>
                          <a:latin typeface="Calibri"/>
                        </a:rPr>
                        <a:t>4.1.4.1.</a:t>
                      </a:r>
                      <a:r>
                        <a:rPr sz="700" b="0" i="1">
                          <a:solidFill>
                            <a:srgbClr val="000000"/>
                          </a:solidFill>
                          <a:latin typeface="Times New Roman"/>
                        </a:rPr>
                        <a:t>    </a:t>
                      </a:r>
                      <a:r>
                        <a:rPr sz="1100" b="0" i="1">
                          <a:solidFill>
                            <a:srgbClr val="000000"/>
                          </a:solidFill>
                          <a:latin typeface="Calibri"/>
                        </a:rPr>
                        <a:t>Product Sales</a:t>
                      </a:r>
                      <a:endParaRPr sz="1100"/>
                    </a:p>
                  </a:txBody>
                  <a:tcPr marL="1028700" marR="9525" marT="9525" marB="0" anchor="ctr"/>
                </a:tc>
              </a:tr>
              <a:tr h="175260">
                <a:tc>
                  <a:txBody>
                    <a:bodyPr wrap="square"/>
                    <a:lstStyle/>
                    <a:p>
                      <a:pPr algn="l"/>
                      <a:r>
                        <a:rPr sz="1100" b="0" i="1">
                          <a:solidFill>
                            <a:srgbClr val="000000"/>
                          </a:solidFill>
                          <a:latin typeface="Calibri"/>
                        </a:rPr>
                        <a:t>4.1.4.2.</a:t>
                      </a:r>
                      <a:r>
                        <a:rPr sz="700" b="0" i="1">
                          <a:solidFill>
                            <a:srgbClr val="000000"/>
                          </a:solidFill>
                          <a:latin typeface="Times New Roman"/>
                        </a:rPr>
                        <a:t>    </a:t>
                      </a:r>
                      <a:r>
                        <a:rPr sz="1100" b="0" i="1">
                          <a:solidFill>
                            <a:srgbClr val="000000"/>
                          </a:solidFill>
                          <a:latin typeface="Calibri"/>
                        </a:rPr>
                        <a:t>Channel Sales</a:t>
                      </a:r>
                      <a:endParaRPr sz="1100"/>
                    </a:p>
                  </a:txBody>
                  <a:tcPr marL="1028700" marR="9525" marT="9525" marB="0" anchor="ctr"/>
                </a:tc>
              </a:tr>
              <a:tr h="175260">
                <a:tc>
                  <a:txBody>
                    <a:bodyPr wrap="square"/>
                    <a:lstStyle/>
                    <a:p>
                      <a:pPr algn="l"/>
                      <a:r>
                        <a:rPr sz="1100" b="0" i="1">
                          <a:solidFill>
                            <a:srgbClr val="000000"/>
                          </a:solidFill>
                          <a:latin typeface="Calibri"/>
                        </a:rPr>
                        <a:t>4.1.4.3.</a:t>
                      </a:r>
                      <a:r>
                        <a:rPr sz="700" b="0" i="1">
                          <a:solidFill>
                            <a:srgbClr val="000000"/>
                          </a:solidFill>
                          <a:latin typeface="Times New Roman"/>
                        </a:rPr>
                        <a:t>    </a:t>
                      </a:r>
                      <a:r>
                        <a:rPr sz="1100" b="0" i="1">
                          <a:solidFill>
                            <a:srgbClr val="000000"/>
                          </a:solidFill>
                          <a:latin typeface="Calibri"/>
                        </a:rPr>
                        <a:t>Regional Sales</a:t>
                      </a:r>
                      <a:endParaRPr sz="1100"/>
                    </a:p>
                  </a:txBody>
                  <a:tcPr marL="1028700" marR="9525" marT="9525" marB="0" anchor="ctr"/>
                </a:tc>
              </a:tr>
              <a:tr h="175260">
                <a:tc>
                  <a:txBody>
                    <a:bodyPr wrap="square"/>
                    <a:lstStyle/>
                    <a:p>
                      <a:pPr algn="l"/>
                      <a:r>
                        <a:rPr sz="1100" b="0" i="0">
                          <a:solidFill>
                            <a:srgbClr val="000000"/>
                          </a:solidFill>
                          <a:latin typeface="Calibri"/>
                        </a:rPr>
                        <a:t>4.1.5.</a:t>
                      </a:r>
                      <a:r>
                        <a:rPr sz="700" b="0" i="0">
                          <a:solidFill>
                            <a:srgbClr val="000000"/>
                          </a:solidFill>
                          <a:latin typeface="Times New Roman"/>
                        </a:rPr>
                        <a:t>   </a:t>
                      </a:r>
                      <a:r>
                        <a:rPr sz="1100" b="0" i="0">
                          <a:solidFill>
                            <a:srgbClr val="000000"/>
                          </a:solidFill>
                          <a:latin typeface="Calibri"/>
                        </a:rPr>
                        <a:t>Sales Footprint</a:t>
                      </a:r>
                      <a:endParaRPr sz="1100"/>
                    </a:p>
                  </a:txBody>
                  <a:tcPr marL="771525" marR="9525" marT="9525" marB="0" anchor="ctr"/>
                </a:tc>
              </a:tr>
              <a:tr h="175260">
                <a:tc>
                  <a:txBody>
                    <a:bodyPr wrap="square"/>
                    <a:lstStyle/>
                    <a:p>
                      <a:pPr algn="l"/>
                      <a:r>
                        <a:rPr sz="1100" b="0" i="0">
                          <a:solidFill>
                            <a:srgbClr val="000000"/>
                          </a:solidFill>
                          <a:latin typeface="Calibri"/>
                        </a:rPr>
                        <a:t>4.1.6.</a:t>
                      </a:r>
                      <a:r>
                        <a:rPr sz="700" b="0" i="0">
                          <a:solidFill>
                            <a:srgbClr val="000000"/>
                          </a:solidFill>
                          <a:latin typeface="Times New Roman"/>
                        </a:rPr>
                        <a:t>   </a:t>
                      </a:r>
                      <a:r>
                        <a:rPr sz="1100" b="0" i="0">
                          <a:solidFill>
                            <a:srgbClr val="000000"/>
                          </a:solidFill>
                          <a:latin typeface="Calibri"/>
                        </a:rPr>
                        <a:t>Strategy Overview</a:t>
                      </a:r>
                      <a:endParaRPr sz="1100"/>
                    </a:p>
                  </a:txBody>
                  <a:tcPr marL="771525" marR="9525" marT="9525" marB="0" anchor="ctr"/>
                </a:tc>
              </a:tr>
              <a:tr h="175260">
                <a:tc>
                  <a:txBody>
                    <a:bodyPr wrap="square"/>
                    <a:lstStyle/>
                    <a:p>
                      <a:pPr algn="l"/>
                      <a:r>
                        <a:rPr sz="1100" b="0" i="1">
                          <a:solidFill>
                            <a:srgbClr val="000000"/>
                          </a:solidFill>
                          <a:latin typeface="Calibri"/>
                        </a:rPr>
                        <a:t>4.1.6.1.</a:t>
                      </a:r>
                      <a:r>
                        <a:rPr sz="700" b="0" i="1">
                          <a:solidFill>
                            <a:srgbClr val="000000"/>
                          </a:solidFill>
                          <a:latin typeface="Times New Roman"/>
                        </a:rPr>
                        <a:t>    </a:t>
                      </a:r>
                      <a:r>
                        <a:rPr sz="1100" b="0" i="1">
                          <a:solidFill>
                            <a:srgbClr val="000000"/>
                          </a:solidFill>
                          <a:latin typeface="Calibri"/>
                        </a:rPr>
                        <a:t>Marketing Strategy</a:t>
                      </a:r>
                      <a:endParaRPr sz="1100"/>
                    </a:p>
                  </a:txBody>
                  <a:tcPr marL="102870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4.1.6.2.</a:t>
                      </a:r>
                      <a:r>
                        <a:rPr sz="700" b="0" i="1">
                          <a:solidFill>
                            <a:srgbClr val="000000"/>
                          </a:solidFill>
                          <a:latin typeface="Times New Roman"/>
                        </a:rPr>
                        <a:t>    </a:t>
                      </a:r>
                      <a:r>
                        <a:rPr sz="1100" b="0" i="1">
                          <a:solidFill>
                            <a:srgbClr val="000000"/>
                          </a:solidFill>
                          <a:latin typeface="Calibri"/>
                        </a:rPr>
                        <a:t>Product Strategy</a:t>
                      </a:r>
                      <a:endParaRPr sz="1100"/>
                    </a:p>
                  </a:txBody>
                  <a:tcPr marL="1028700" marR="9525" marT="9525" marB="0" anchor="ctr"/>
                </a:tc>
              </a:tr>
              <a:tr h="175260">
                <a:tc>
                  <a:txBody>
                    <a:bodyPr wrap="square"/>
                    <a:lstStyle/>
                    <a:p>
                      <a:pPr algn="l"/>
                      <a:r>
                        <a:rPr sz="1100" b="0" i="1">
                          <a:solidFill>
                            <a:srgbClr val="000000"/>
                          </a:solidFill>
                          <a:latin typeface="Calibri"/>
                        </a:rPr>
                        <a:t>4.1.6.3.</a:t>
                      </a:r>
                      <a:r>
                        <a:rPr sz="700" b="0" i="1">
                          <a:solidFill>
                            <a:srgbClr val="000000"/>
                          </a:solidFill>
                          <a:latin typeface="Times New Roman"/>
                        </a:rPr>
                        <a:t>    </a:t>
                      </a:r>
                      <a:r>
                        <a:rPr sz="1100" b="0" i="1">
                          <a:solidFill>
                            <a:srgbClr val="000000"/>
                          </a:solidFill>
                          <a:latin typeface="Calibri"/>
                        </a:rPr>
                        <a:t>Channel Strategy</a:t>
                      </a:r>
                      <a:endParaRPr sz="1100"/>
                    </a:p>
                  </a:txBody>
                  <a:tcPr marL="1028700" marR="9525" marT="9525" marB="0" anchor="ctr"/>
                </a:tc>
              </a:tr>
              <a:tr h="175260">
                <a:tc>
                  <a:txBody>
                    <a:bodyPr wrap="square"/>
                    <a:lstStyle/>
                    <a:p>
                      <a:pPr algn="l"/>
                      <a:r>
                        <a:rPr sz="1100" b="0" i="1">
                          <a:solidFill>
                            <a:srgbClr val="000000"/>
                          </a:solidFill>
                          <a:latin typeface="Calibri"/>
                        </a:rPr>
                        <a:t>4.1.6.4.</a:t>
                      </a:r>
                      <a:r>
                        <a:rPr sz="700" b="0" i="1">
                          <a:solidFill>
                            <a:srgbClr val="000000"/>
                          </a:solidFill>
                          <a:latin typeface="Times New Roman"/>
                        </a:rPr>
                        <a:t>    </a:t>
                      </a:r>
                      <a:r>
                        <a:rPr sz="1100" b="0" i="1">
                          <a:solidFill>
                            <a:srgbClr val="000000"/>
                          </a:solidFill>
                          <a:latin typeface="Calibri"/>
                        </a:rPr>
                        <a:t>Pricing Strategy</a:t>
                      </a:r>
                      <a:endParaRPr sz="1100"/>
                    </a:p>
                  </a:txBody>
                  <a:tcPr marL="1028700" marR="9525" marT="9525" marB="0" anchor="ctr"/>
                </a:tc>
              </a:tr>
              <a:tr h="175260">
                <a:tc>
                  <a:txBody>
                    <a:bodyPr wrap="square"/>
                    <a:lstStyle/>
                    <a:p>
                      <a:pPr algn="l"/>
                      <a:r>
                        <a:rPr sz="1100" b="0" i="0">
                          <a:solidFill>
                            <a:srgbClr val="000000"/>
                          </a:solidFill>
                          <a:latin typeface="Calibri"/>
                        </a:rPr>
                        <a:t>4.1.7.</a:t>
                      </a:r>
                      <a:r>
                        <a:rPr sz="700" b="0" i="0">
                          <a:solidFill>
                            <a:srgbClr val="000000"/>
                          </a:solidFill>
                          <a:latin typeface="Times New Roman"/>
                        </a:rPr>
                        <a:t>   </a:t>
                      </a:r>
                      <a:r>
                        <a:rPr sz="1100" b="0" i="0">
                          <a:solidFill>
                            <a:srgbClr val="000000"/>
                          </a:solidFill>
                          <a:latin typeface="Calibri"/>
                        </a:rPr>
                        <a:t>SWOT</a:t>
                      </a:r>
                      <a:endParaRPr sz="1100"/>
                    </a:p>
                  </a:txBody>
                  <a:tcPr marL="771525" marR="9525" marT="9525" marB="0" anchor="ctr"/>
                </a:tc>
              </a:tr>
              <a:tr h="175260">
                <a:tc>
                  <a:txBody>
                    <a:bodyPr wrap="square"/>
                    <a:lstStyle/>
                    <a:p>
                      <a:pPr algn="l"/>
                      <a:r>
                        <a:rPr sz="1100" b="0" i="0">
                          <a:solidFill>
                            <a:srgbClr val="000000"/>
                          </a:solidFill>
                          <a:latin typeface="Calibri"/>
                        </a:rPr>
                        <a:t>4.1.8.</a:t>
                      </a:r>
                      <a:r>
                        <a:rPr sz="700" b="0" i="0">
                          <a:solidFill>
                            <a:srgbClr val="000000"/>
                          </a:solidFill>
                          <a:latin typeface="Times New Roman"/>
                        </a:rPr>
                        <a:t>   </a:t>
                      </a:r>
                      <a:r>
                        <a:rPr sz="1100" b="0" i="0">
                          <a:solidFill>
                            <a:srgbClr val="000000"/>
                          </a:solidFill>
                          <a:latin typeface="Calibri"/>
                        </a:rPr>
                        <a:t>Analyst Comment</a:t>
                      </a:r>
                      <a:endParaRPr sz="1100"/>
                    </a:p>
                  </a:txBody>
                  <a:tcPr marL="771525" marR="9525" marT="9525" marB="0" anchor="ctr"/>
                </a:tc>
              </a:tr>
              <a:tr h="175260">
                <a:tc>
                  <a:txBody>
                    <a:bodyPr wrap="square"/>
                    <a:lstStyle/>
                    <a:p>
                      <a:pPr algn="l"/>
                      <a:r>
                        <a:rPr sz="1100" b="0" i="1">
                          <a:solidFill>
                            <a:srgbClr val="EE0000"/>
                          </a:solidFill>
                          <a:latin typeface="Calibri"/>
                        </a:rPr>
                        <a:t>Note: All companies shall be indicated in similar manner</a:t>
                      </a:r>
                      <a:endParaRPr sz="1100"/>
                    </a:p>
                  </a:txBody>
                  <a:tcPr marL="95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tr>
              <a:tr h="17526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Cross-sectional Assessment</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Company × Allergen Class</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Company × Therapy Format</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Company × Allergen Preparation Technology</a:t>
                      </a:r>
                      <a:endParaRPr sz="1100"/>
                    </a:p>
                  </a:txBody>
                  <a:tcPr marL="4286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Market (Value- Volume) Analysis 2021-2036, By Therapy Format</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7.3.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7.4.</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7.4.1.</a:t>
                      </a:r>
                      <a:r>
                        <a:rPr sz="700" b="0" i="0">
                          <a:solidFill>
                            <a:srgbClr val="000000"/>
                          </a:solidFill>
                          <a:latin typeface="Times New Roman"/>
                        </a:rPr>
                        <a:t>   </a:t>
                      </a:r>
                      <a:r>
                        <a:rPr sz="1100" b="0" i="0">
                          <a:solidFill>
                            <a:srgbClr val="000000"/>
                          </a:solidFill>
                          <a:latin typeface="Calibri"/>
                        </a:rPr>
                        <a:t>Subcutaneous Immunotherapy (SCIT)</a:t>
                      </a:r>
                      <a:endParaRPr sz="1100"/>
                    </a:p>
                  </a:txBody>
                  <a:tcPr marL="771525" marR="9525" marT="9525" marB="0" anchor="ctr"/>
                </a:tc>
              </a:tr>
              <a:tr h="175260">
                <a:tc>
                  <a:txBody>
                    <a:bodyPr wrap="square"/>
                    <a:lstStyle/>
                    <a:p>
                      <a:pPr algn="l"/>
                      <a:r>
                        <a:rPr sz="1100" b="0" i="0">
                          <a:solidFill>
                            <a:srgbClr val="000000"/>
                          </a:solidFill>
                          <a:latin typeface="Calibri"/>
                        </a:rPr>
                        <a:t>7.4.2.</a:t>
                      </a:r>
                      <a:r>
                        <a:rPr sz="700" b="0" i="0">
                          <a:solidFill>
                            <a:srgbClr val="000000"/>
                          </a:solidFill>
                          <a:latin typeface="Times New Roman"/>
                        </a:rPr>
                        <a:t>   </a:t>
                      </a:r>
                      <a:r>
                        <a:rPr sz="1100" b="0" i="0">
                          <a:solidFill>
                            <a:srgbClr val="000000"/>
                          </a:solidFill>
                          <a:latin typeface="Calibri"/>
                        </a:rPr>
                        <a:t>Sublingual Immunotherapy (SLIT)</a:t>
                      </a:r>
                      <a:endParaRPr sz="1100"/>
                    </a:p>
                  </a:txBody>
                  <a:tcPr marL="771525" marR="9525" marT="9525" marB="0" anchor="ctr"/>
                </a:tc>
              </a:tr>
              <a:tr h="175260">
                <a:tc>
                  <a:txBody>
                    <a:bodyPr wrap="square"/>
                    <a:lstStyle/>
                    <a:p>
                      <a:pPr algn="l"/>
                      <a:r>
                        <a:rPr sz="1100" b="0" i="1">
                          <a:solidFill>
                            <a:srgbClr val="000000"/>
                          </a:solidFill>
                          <a:latin typeface="Calibri"/>
                        </a:rPr>
                        <a:t>7.4.2.1.</a:t>
                      </a:r>
                      <a:r>
                        <a:rPr sz="700" b="0" i="1">
                          <a:solidFill>
                            <a:srgbClr val="000000"/>
                          </a:solidFill>
                          <a:latin typeface="Times New Roman"/>
                        </a:rPr>
                        <a:t>    </a:t>
                      </a:r>
                      <a:r>
                        <a:rPr sz="1100" b="0" i="1">
                          <a:solidFill>
                            <a:srgbClr val="000000"/>
                          </a:solidFill>
                          <a:latin typeface="Calibri"/>
                        </a:rPr>
                        <a:t>SLIT Tablets</a:t>
                      </a:r>
                      <a:endParaRPr sz="1100"/>
                    </a:p>
                  </a:txBody>
                  <a:tcPr marL="1028700" marR="9525" marT="9525" marB="0" anchor="ctr"/>
                </a:tc>
              </a:tr>
              <a:tr h="175260">
                <a:tc>
                  <a:txBody>
                    <a:bodyPr wrap="square"/>
                    <a:lstStyle/>
                    <a:p>
                      <a:pPr algn="l"/>
                      <a:r>
                        <a:rPr sz="1100" b="0" i="1">
                          <a:solidFill>
                            <a:srgbClr val="000000"/>
                          </a:solidFill>
                          <a:latin typeface="Calibri"/>
                        </a:rPr>
                        <a:t>7.4.2.2.</a:t>
                      </a:r>
                      <a:r>
                        <a:rPr sz="700" b="0" i="1">
                          <a:solidFill>
                            <a:srgbClr val="000000"/>
                          </a:solidFill>
                          <a:latin typeface="Times New Roman"/>
                        </a:rPr>
                        <a:t>    </a:t>
                      </a:r>
                      <a:r>
                        <a:rPr sz="1100" b="0" i="1">
                          <a:solidFill>
                            <a:srgbClr val="000000"/>
                          </a:solidFill>
                          <a:latin typeface="Calibri"/>
                        </a:rPr>
                        <a:t>SLIT Solutions</a:t>
                      </a:r>
                      <a:endParaRPr sz="1100"/>
                    </a:p>
                  </a:txBody>
                  <a:tcPr marL="1028700" marR="9525" marT="9525" marB="0" anchor="ctr"/>
                </a:tc>
              </a:tr>
              <a:tr h="175260">
                <a:tc>
                  <a:txBody>
                    <a:bodyPr wrap="square"/>
                    <a:lstStyle/>
                    <a:p>
                      <a:pPr algn="l"/>
                      <a:r>
                        <a:rPr sz="1100" b="0" i="0">
                          <a:solidFill>
                            <a:srgbClr val="000000"/>
                          </a:solidFill>
                          <a:latin typeface="Calibri"/>
                        </a:rPr>
                        <a:t>7.4.3.</a:t>
                      </a:r>
                      <a:r>
                        <a:rPr sz="700" b="0" i="0">
                          <a:solidFill>
                            <a:srgbClr val="000000"/>
                          </a:solidFill>
                          <a:latin typeface="Times New Roman"/>
                        </a:rPr>
                        <a:t>   </a:t>
                      </a:r>
                      <a:r>
                        <a:rPr sz="1100" b="0" i="0">
                          <a:solidFill>
                            <a:srgbClr val="000000"/>
                          </a:solidFill>
                          <a:latin typeface="Calibri"/>
                        </a:rPr>
                        <a:t>Oral Immunotherapy (OIT)</a:t>
                      </a:r>
                      <a:endParaRPr sz="1100"/>
                    </a:p>
                  </a:txBody>
                  <a:tcPr marL="771525" marR="9525" marT="9525" marB="0" anchor="ctr"/>
                </a:tc>
              </a:tr>
              <a:tr h="175260">
                <a:tc>
                  <a:txBody>
                    <a:bodyPr wrap="square"/>
                    <a:lstStyle/>
                    <a:p>
                      <a:pPr algn="l"/>
                      <a:r>
                        <a:rPr sz="1100" b="0" i="1">
                          <a:solidFill>
                            <a:srgbClr val="000000"/>
                          </a:solidFill>
                          <a:latin typeface="Calibri"/>
                        </a:rPr>
                        <a:t>7.4.3.1.</a:t>
                      </a:r>
                      <a:r>
                        <a:rPr sz="700" b="0" i="1">
                          <a:solidFill>
                            <a:srgbClr val="000000"/>
                          </a:solidFill>
                          <a:latin typeface="Times New Roman"/>
                        </a:rPr>
                        <a:t>    </a:t>
                      </a:r>
                      <a:r>
                        <a:rPr sz="1100" b="0" i="1">
                          <a:solidFill>
                            <a:srgbClr val="000000"/>
                          </a:solidFill>
                          <a:latin typeface="Calibri"/>
                        </a:rPr>
                        <a:t>Food Allergen Oral Powder</a:t>
                      </a:r>
                      <a:endParaRPr sz="1100"/>
                    </a:p>
                  </a:txBody>
                  <a:tcPr marL="1028700" marR="9525" marT="9525" marB="0" anchor="ctr"/>
                </a:tc>
              </a:tr>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Global Market (Value- Volume) Analysis 2021–2036, By Allergen Class</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(2/6)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8.4.1.</a:t>
                      </a:r>
                      <a:r>
                        <a:rPr sz="700" b="0" i="0">
                          <a:solidFill>
                            <a:srgbClr val="000000"/>
                          </a:solidFill>
                          <a:latin typeface="Times New Roman"/>
                        </a:rPr>
                        <a:t>   </a:t>
                      </a:r>
                      <a:r>
                        <a:rPr sz="1100" b="0" i="0">
                          <a:solidFill>
                            <a:srgbClr val="000000"/>
                          </a:solidFill>
                          <a:latin typeface="Calibri"/>
                        </a:rPr>
                        <a:t>Inhalant Allergens</a:t>
                      </a:r>
                      <a:endParaRPr sz="1100"/>
                    </a:p>
                  </a:txBody>
                  <a:tcPr marL="771525" marR="9525" marT="9525" marB="0" anchor="ctr"/>
                </a:tc>
              </a:tr>
              <a:tr h="175260">
                <a:tc>
                  <a:txBody>
                    <a:bodyPr wrap="square"/>
                    <a:lstStyle/>
                    <a:p>
                      <a:pPr algn="l"/>
                      <a:r>
                        <a:rPr sz="1100" b="0" i="1">
                          <a:solidFill>
                            <a:srgbClr val="000000"/>
                          </a:solidFill>
                          <a:latin typeface="Calibri"/>
                        </a:rPr>
                        <a:t>8.4.1.1.</a:t>
                      </a:r>
                      <a:r>
                        <a:rPr sz="700" b="0" i="1">
                          <a:solidFill>
                            <a:srgbClr val="000000"/>
                          </a:solidFill>
                          <a:latin typeface="Times New Roman"/>
                        </a:rPr>
                        <a:t>    </a:t>
                      </a:r>
                      <a:r>
                        <a:rPr sz="1100" b="0" i="1">
                          <a:solidFill>
                            <a:srgbClr val="000000"/>
                          </a:solidFill>
                          <a:latin typeface="Calibri"/>
                        </a:rPr>
                        <a:t>Grass Pollen</a:t>
                      </a:r>
                      <a:endParaRPr sz="1100"/>
                    </a:p>
                  </a:txBody>
                  <a:tcPr marL="1028700" marR="9525" marT="9525" marB="0" anchor="ctr"/>
                </a:tc>
              </a:tr>
              <a:tr h="175260">
                <a:tc>
                  <a:txBody>
                    <a:bodyPr wrap="square"/>
                    <a:lstStyle/>
                    <a:p>
                      <a:pPr algn="l"/>
                      <a:r>
                        <a:rPr sz="1100" b="0" i="1">
                          <a:solidFill>
                            <a:srgbClr val="000000"/>
                          </a:solidFill>
                          <a:latin typeface="Calibri"/>
                        </a:rPr>
                        <a:t>8.4.1.2.</a:t>
                      </a:r>
                      <a:r>
                        <a:rPr sz="700" b="0" i="1">
                          <a:solidFill>
                            <a:srgbClr val="000000"/>
                          </a:solidFill>
                          <a:latin typeface="Times New Roman"/>
                        </a:rPr>
                        <a:t>    </a:t>
                      </a:r>
                      <a:r>
                        <a:rPr sz="1100" b="0" i="1">
                          <a:solidFill>
                            <a:srgbClr val="000000"/>
                          </a:solidFill>
                          <a:latin typeface="Calibri"/>
                        </a:rPr>
                        <a:t>Tree Pollen</a:t>
                      </a:r>
                      <a:endParaRPr sz="1100"/>
                    </a:p>
                  </a:txBody>
                  <a:tcPr marL="1028700" marR="9525" marT="9525" marB="0" anchor="ctr"/>
                </a:tc>
              </a:tr>
              <a:tr h="175260">
                <a:tc>
                  <a:txBody>
                    <a:bodyPr wrap="square"/>
                    <a:lstStyle/>
                    <a:p>
                      <a:pPr algn="l"/>
                      <a:r>
                        <a:rPr sz="1100" b="0" i="1">
                          <a:solidFill>
                            <a:srgbClr val="000000"/>
                          </a:solidFill>
                          <a:latin typeface="Calibri"/>
                        </a:rPr>
                        <a:t>8.4.1.3.</a:t>
                      </a:r>
                      <a:r>
                        <a:rPr sz="700" b="0" i="1">
                          <a:solidFill>
                            <a:srgbClr val="000000"/>
                          </a:solidFill>
                          <a:latin typeface="Times New Roman"/>
                        </a:rPr>
                        <a:t>    </a:t>
                      </a:r>
                      <a:r>
                        <a:rPr sz="1100" b="0" i="1">
                          <a:solidFill>
                            <a:srgbClr val="000000"/>
                          </a:solidFill>
                          <a:latin typeface="Calibri"/>
                        </a:rPr>
                        <a:t>Weed &amp; Ragweed Pollen</a:t>
                      </a:r>
                      <a:endParaRPr sz="1100"/>
                    </a:p>
                  </a:txBody>
                  <a:tcPr marL="1028700" marR="9525" marT="9525" marB="0" anchor="ctr"/>
                </a:tc>
              </a:tr>
              <a:tr h="175260">
                <a:tc>
                  <a:txBody>
                    <a:bodyPr wrap="square"/>
                    <a:lstStyle/>
                    <a:p>
                      <a:pPr algn="l"/>
                      <a:r>
                        <a:rPr sz="1100" b="0" i="1">
                          <a:solidFill>
                            <a:srgbClr val="000000"/>
                          </a:solidFill>
                          <a:latin typeface="Calibri"/>
                        </a:rPr>
                        <a:t>8.4.1.4.</a:t>
                      </a:r>
                      <a:r>
                        <a:rPr sz="700" b="0" i="1">
                          <a:solidFill>
                            <a:srgbClr val="000000"/>
                          </a:solidFill>
                          <a:latin typeface="Times New Roman"/>
                        </a:rPr>
                        <a:t>    </a:t>
                      </a:r>
                      <a:r>
                        <a:rPr sz="1100" b="0" i="1">
                          <a:solidFill>
                            <a:srgbClr val="000000"/>
                          </a:solidFill>
                          <a:latin typeface="Calibri"/>
                        </a:rPr>
                        <a:t>House Dust Mite</a:t>
                      </a:r>
                      <a:endParaRPr sz="1100"/>
                    </a:p>
                  </a:txBody>
                  <a:tcPr marL="1028700" marR="9525" marT="9525" marB="0" anchor="ctr"/>
                </a:tc>
              </a:tr>
              <a:tr h="175260">
                <a:tc>
                  <a:txBody>
                    <a:bodyPr wrap="square"/>
                    <a:lstStyle/>
                    <a:p>
                      <a:pPr algn="l"/>
                      <a:r>
                        <a:rPr sz="1100" b="0" i="1">
                          <a:solidFill>
                            <a:srgbClr val="000000"/>
                          </a:solidFill>
                          <a:latin typeface="Calibri"/>
                        </a:rPr>
                        <a:t>8.4.1.5.</a:t>
                      </a:r>
                      <a:r>
                        <a:rPr sz="700" b="0" i="1">
                          <a:solidFill>
                            <a:srgbClr val="000000"/>
                          </a:solidFill>
                          <a:latin typeface="Times New Roman"/>
                        </a:rPr>
                        <a:t>    </a:t>
                      </a:r>
                      <a:r>
                        <a:rPr sz="1100" b="0" i="1">
                          <a:solidFill>
                            <a:srgbClr val="000000"/>
                          </a:solidFill>
                          <a:latin typeface="Calibri"/>
                        </a:rPr>
                        <a:t>Animal Dander / Epithelia</a:t>
                      </a:r>
                      <a:endParaRPr sz="1100"/>
                    </a:p>
                  </a:txBody>
                  <a:tcPr marL="1028700" marR="9525" marT="9525" marB="0" anchor="ctr"/>
                </a:tc>
              </a:tr>
              <a:tr h="175260">
                <a:tc>
                  <a:txBody>
                    <a:bodyPr wrap="square"/>
                    <a:lstStyle/>
                    <a:p>
                      <a:pPr algn="l"/>
                      <a:r>
                        <a:rPr sz="1100" b="0" i="1">
                          <a:solidFill>
                            <a:srgbClr val="000000"/>
                          </a:solidFill>
                          <a:latin typeface="Calibri"/>
                        </a:rPr>
                        <a:t>8.4.1.6.</a:t>
                      </a:r>
                      <a:r>
                        <a:rPr sz="700" b="0" i="1">
                          <a:solidFill>
                            <a:srgbClr val="000000"/>
                          </a:solidFill>
                          <a:latin typeface="Times New Roman"/>
                        </a:rPr>
                        <a:t>    </a:t>
                      </a:r>
                      <a:r>
                        <a:rPr sz="1100" b="0" i="1">
                          <a:solidFill>
                            <a:srgbClr val="000000"/>
                          </a:solidFill>
                          <a:latin typeface="Calibri"/>
                        </a:rPr>
                        <a:t>Mold &amp; Fungal Allergens</a:t>
                      </a:r>
                      <a:endParaRPr sz="1100"/>
                    </a:p>
                  </a:txBody>
                  <a:tcPr marL="1028700" marR="9525" marT="9525" marB="0" anchor="ctr"/>
                </a:tc>
              </a:tr>
              <a:tr h="175260">
                <a:tc>
                  <a:txBody>
                    <a:bodyPr wrap="square"/>
                    <a:lstStyle/>
                    <a:p>
                      <a:pPr algn="l"/>
                      <a:r>
                        <a:rPr sz="1100" b="0" i="0">
                          <a:solidFill>
                            <a:srgbClr val="000000"/>
                          </a:solidFill>
                          <a:latin typeface="Calibri"/>
                        </a:rPr>
                        <a:t>8.4.2.</a:t>
                      </a:r>
                      <a:r>
                        <a:rPr sz="700" b="0" i="0">
                          <a:solidFill>
                            <a:srgbClr val="000000"/>
                          </a:solidFill>
                          <a:latin typeface="Times New Roman"/>
                        </a:rPr>
                        <a:t>   </a:t>
                      </a:r>
                      <a:r>
                        <a:rPr sz="1100" b="0" i="0">
                          <a:solidFill>
                            <a:srgbClr val="000000"/>
                          </a:solidFill>
                          <a:latin typeface="Calibri"/>
                        </a:rPr>
                        <a:t>Venom Allergens</a:t>
                      </a:r>
                      <a:endParaRPr sz="1100"/>
                    </a:p>
                  </a:txBody>
                  <a:tcPr marL="771525" marR="9525" marT="9525" marB="0" anchor="ctr"/>
                </a:tc>
              </a:tr>
              <a:tr h="175260">
                <a:tc>
                  <a:txBody>
                    <a:bodyPr wrap="square"/>
                    <a:lstStyle/>
                    <a:p>
                      <a:pPr algn="l"/>
                      <a:r>
                        <a:rPr sz="1100" b="0" i="1">
                          <a:solidFill>
                            <a:srgbClr val="000000"/>
                          </a:solidFill>
                          <a:latin typeface="Calibri"/>
                        </a:rPr>
                        <a:t>8.4.2.1.</a:t>
                      </a:r>
                      <a:r>
                        <a:rPr sz="700" b="0" i="1">
                          <a:solidFill>
                            <a:srgbClr val="000000"/>
                          </a:solidFill>
                          <a:latin typeface="Times New Roman"/>
                        </a:rPr>
                        <a:t>    </a:t>
                      </a:r>
                      <a:r>
                        <a:rPr sz="1100" b="0" i="1">
                          <a:solidFill>
                            <a:srgbClr val="000000"/>
                          </a:solidFill>
                          <a:latin typeface="Calibri"/>
                        </a:rPr>
                        <a:t>Honeybee Venom</a:t>
                      </a:r>
                      <a:endParaRPr sz="1100"/>
                    </a:p>
                  </a:txBody>
                  <a:tcPr marL="1028700" marR="9525" marT="9525" marB="0" anchor="ctr"/>
                </a:tc>
              </a:tr>
              <a:tr h="175260">
                <a:tc>
                  <a:txBody>
                    <a:bodyPr wrap="square"/>
                    <a:lstStyle/>
                    <a:p>
                      <a:pPr algn="l"/>
                      <a:r>
                        <a:rPr sz="1100" b="0" i="1">
                          <a:solidFill>
                            <a:srgbClr val="000000"/>
                          </a:solidFill>
                          <a:latin typeface="Calibri"/>
                        </a:rPr>
                        <a:t>8.4.2.2.</a:t>
                      </a:r>
                      <a:r>
                        <a:rPr sz="700" b="0" i="1">
                          <a:solidFill>
                            <a:srgbClr val="000000"/>
                          </a:solidFill>
                          <a:latin typeface="Times New Roman"/>
                        </a:rPr>
                        <a:t>    </a:t>
                      </a:r>
                      <a:r>
                        <a:rPr sz="1100" b="0" i="1">
                          <a:solidFill>
                            <a:srgbClr val="000000"/>
                          </a:solidFill>
                          <a:latin typeface="Calibri"/>
                        </a:rPr>
                        <a:t>Wasp / Yellow Jacket / Hornet Venom</a:t>
                      </a:r>
                      <a:endParaRPr sz="1100"/>
                    </a:p>
                  </a:txBody>
                  <a:tcPr marL="1028700" marR="9525" marT="9525" marB="0" anchor="ctr"/>
                </a:tc>
              </a:tr>
              <a:tr h="175260">
                <a:tc>
                  <a:txBody>
                    <a:bodyPr wrap="square"/>
                    <a:lstStyle/>
                    <a:p>
                      <a:pPr algn="l"/>
                      <a:r>
                        <a:rPr sz="1100" b="0" i="1">
                          <a:solidFill>
                            <a:srgbClr val="000000"/>
                          </a:solidFill>
                          <a:latin typeface="Calibri"/>
                        </a:rPr>
                        <a:t>8.4.2.3.</a:t>
                      </a:r>
                      <a:r>
                        <a:rPr sz="700" b="0" i="1">
                          <a:solidFill>
                            <a:srgbClr val="000000"/>
                          </a:solidFill>
                          <a:latin typeface="Times New Roman"/>
                        </a:rPr>
                        <a:t>    </a:t>
                      </a:r>
                      <a:r>
                        <a:rPr sz="1100" b="0" i="1">
                          <a:solidFill>
                            <a:srgbClr val="000000"/>
                          </a:solidFill>
                          <a:latin typeface="Calibri"/>
                        </a:rPr>
                        <a:t>Mixed Vespid Venom</a:t>
                      </a:r>
                      <a:endParaRPr sz="1100"/>
                    </a:p>
                  </a:txBody>
                  <a:tcPr marL="1028700" marR="9525" marT="9525" marB="0" anchor="ctr"/>
                </a:tc>
              </a:tr>
              <a:tr h="175260">
                <a:tc>
                  <a:txBody>
                    <a:bodyPr wrap="square"/>
                    <a:lstStyle/>
                    <a:p>
                      <a:pPr algn="l"/>
                      <a:r>
                        <a:rPr sz="1100" b="0" i="0">
                          <a:solidFill>
                            <a:srgbClr val="000000"/>
                          </a:solidFill>
                          <a:latin typeface="Calibri"/>
                        </a:rPr>
                        <a:t>8.4.3.</a:t>
                      </a:r>
                      <a:r>
                        <a:rPr sz="700" b="0" i="0">
                          <a:solidFill>
                            <a:srgbClr val="000000"/>
                          </a:solidFill>
                          <a:latin typeface="Times New Roman"/>
                        </a:rPr>
                        <a:t>   </a:t>
                      </a:r>
                      <a:r>
                        <a:rPr sz="1100" b="0" i="0">
                          <a:solidFill>
                            <a:srgbClr val="000000"/>
                          </a:solidFill>
                          <a:latin typeface="Calibri"/>
                        </a:rPr>
                        <a:t>Food Allergens</a:t>
                      </a:r>
                      <a:endParaRPr sz="1100"/>
                    </a:p>
                  </a:txBody>
                  <a:tcPr marL="771525" marR="9525" marT="9525" marB="0" anchor="ctr"/>
                </a:tc>
              </a:tr>
              <a:tr h="175260">
                <a:tc>
                  <a:txBody>
                    <a:bodyPr wrap="square"/>
                    <a:lstStyle/>
                    <a:p>
                      <a:pPr algn="l"/>
                      <a:r>
                        <a:rPr sz="1100" b="0" i="1">
                          <a:solidFill>
                            <a:srgbClr val="000000"/>
                          </a:solidFill>
                          <a:latin typeface="Calibri"/>
                        </a:rPr>
                        <a:t>8.4.3.1.</a:t>
                      </a:r>
                      <a:r>
                        <a:rPr sz="700" b="0" i="1">
                          <a:solidFill>
                            <a:srgbClr val="000000"/>
                          </a:solidFill>
                          <a:latin typeface="Times New Roman"/>
                        </a:rPr>
                        <a:t>    </a:t>
                      </a:r>
                      <a:r>
                        <a:rPr sz="1100" b="0" i="1">
                          <a:solidFill>
                            <a:srgbClr val="000000"/>
                          </a:solidFill>
                          <a:latin typeface="Calibri"/>
                        </a:rPr>
                        <a:t>Peanut</a:t>
                      </a:r>
                      <a:endParaRPr sz="1100"/>
                    </a:p>
                  </a:txBody>
                  <a:tcPr marL="1028700" marR="9525" marT="9525" marB="0" anchor="ctr"/>
                </a:tc>
              </a:tr>
              <a:tr h="175260">
                <a:tc>
                  <a:txBody>
                    <a:bodyPr wrap="square"/>
                    <a:lstStyle/>
                    <a:p>
                      <a:pPr algn="l"/>
                      <a:r>
                        <a:rPr sz="1100" b="0" i="1">
                          <a:solidFill>
                            <a:srgbClr val="000000"/>
                          </a:solidFill>
                          <a:latin typeface="Calibri"/>
                        </a:rPr>
                        <a:t>8.4.3.2.</a:t>
                      </a:r>
                      <a:r>
                        <a:rPr sz="700" b="0" i="1">
                          <a:solidFill>
                            <a:srgbClr val="000000"/>
                          </a:solidFill>
                          <a:latin typeface="Times New Roman"/>
                        </a:rPr>
                        <a:t>    </a:t>
                      </a:r>
                      <a:r>
                        <a:rPr sz="1100" b="0" i="1">
                          <a:solidFill>
                            <a:srgbClr val="000000"/>
                          </a:solidFill>
                          <a:latin typeface="Calibri"/>
                        </a:rPr>
                        <a:t>Other Food Allergens</a:t>
                      </a:r>
                      <a:endParaRPr sz="1100"/>
                    </a:p>
                  </a:txBody>
                  <a:tcPr marL="1028700" marR="9525" marT="9525" marB="0" anchor="ctr"/>
                </a:tc>
              </a:tr>
              <a:tr h="17526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Global Market (Value- Volume) Analysis 2021–2036, By Commercial Product Model</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9.4.1.</a:t>
                      </a:r>
                      <a:r>
                        <a:rPr sz="700" b="0" i="0">
                          <a:solidFill>
                            <a:srgbClr val="000000"/>
                          </a:solidFill>
                          <a:latin typeface="Times New Roman"/>
                        </a:rPr>
                        <a:t>   </a:t>
                      </a:r>
                      <a:r>
                        <a:rPr sz="1100" b="0" i="0">
                          <a:solidFill>
                            <a:srgbClr val="000000"/>
                          </a:solidFill>
                          <a:latin typeface="Calibri"/>
                        </a:rPr>
                        <a:t>Licensed Finished AIT Products</a:t>
                      </a:r>
                      <a:endParaRPr sz="1100"/>
                    </a:p>
                  </a:txBody>
                  <a:tcPr marL="771525" marR="9525" marT="9525" marB="0" anchor="ctr"/>
                </a:tc>
              </a:tr>
              <a:tr h="175260">
                <a:tc>
                  <a:txBody>
                    <a:bodyPr wrap="square"/>
                    <a:lstStyle/>
                    <a:p>
                      <a:pPr algn="l"/>
                      <a:r>
                        <a:rPr sz="1100" b="0" i="1">
                          <a:solidFill>
                            <a:srgbClr val="000000"/>
                          </a:solidFill>
                          <a:latin typeface="Calibri"/>
                        </a:rPr>
                        <a:t>9.4.1.1.</a:t>
                      </a:r>
                      <a:r>
                        <a:rPr sz="700" b="0" i="1">
                          <a:solidFill>
                            <a:srgbClr val="000000"/>
                          </a:solidFill>
                          <a:latin typeface="Times New Roman"/>
                        </a:rPr>
                        <a:t>    </a:t>
                      </a:r>
                      <a:r>
                        <a:rPr sz="1100" b="0" i="1">
                          <a:solidFill>
                            <a:srgbClr val="000000"/>
                          </a:solidFill>
                          <a:latin typeface="Calibri"/>
                        </a:rPr>
                        <a:t>Fixed-dose Branded Tablets</a:t>
                      </a:r>
                      <a:endParaRPr sz="1100"/>
                    </a:p>
                  </a:txBody>
                  <a:tcPr marL="1028700" marR="9525" marT="9525" marB="0" anchor="ctr"/>
                </a:tc>
              </a:tr>
              <a:tr h="175260">
                <a:tc>
                  <a:txBody>
                    <a:bodyPr wrap="square"/>
                    <a:lstStyle/>
                    <a:p>
                      <a:pPr algn="l"/>
                      <a:r>
                        <a:rPr sz="1100" b="0" i="1">
                          <a:solidFill>
                            <a:srgbClr val="000000"/>
                          </a:solidFill>
                          <a:latin typeface="Calibri"/>
                        </a:rPr>
                        <a:t>9.4.1.2.</a:t>
                      </a:r>
                      <a:r>
                        <a:rPr sz="700" b="0" i="1">
                          <a:solidFill>
                            <a:srgbClr val="000000"/>
                          </a:solidFill>
                          <a:latin typeface="Times New Roman"/>
                        </a:rPr>
                        <a:t>    </a:t>
                      </a:r>
                      <a:r>
                        <a:rPr sz="1100" b="0" i="1">
                          <a:solidFill>
                            <a:srgbClr val="000000"/>
                          </a:solidFill>
                          <a:latin typeface="Calibri"/>
                        </a:rPr>
                        <a:t>Liquid Products</a:t>
                      </a:r>
                      <a:endParaRPr sz="1100"/>
                    </a:p>
                  </a:txBody>
                  <a:tcPr marL="1028700" marR="9525" marT="9525" marB="0" anchor="ctr"/>
                </a:tc>
              </a:tr>
              <a:tr h="175260">
                <a:tc>
                  <a:txBody>
                    <a:bodyPr wrap="square"/>
                    <a:lstStyle/>
                    <a:p>
                      <a:pPr algn="l"/>
                      <a:r>
                        <a:rPr sz="1100" b="0" i="0">
                          <a:solidFill>
                            <a:srgbClr val="000000"/>
                          </a:solidFill>
                          <a:latin typeface="Calibri"/>
                        </a:rPr>
                        <a:t>9.4.2.</a:t>
                      </a:r>
                      <a:r>
                        <a:rPr sz="700" b="0" i="0">
                          <a:solidFill>
                            <a:srgbClr val="000000"/>
                          </a:solidFill>
                          <a:latin typeface="Times New Roman"/>
                        </a:rPr>
                        <a:t>   </a:t>
                      </a:r>
                      <a:r>
                        <a:rPr sz="1100" b="0" i="0">
                          <a:solidFill>
                            <a:srgbClr val="000000"/>
                          </a:solidFill>
                          <a:latin typeface="Calibri"/>
                        </a:rPr>
                        <a:t>Individual-Prescription Products</a:t>
                      </a:r>
                      <a:endParaRPr sz="1100"/>
                    </a:p>
                  </a:txBody>
                  <a:tcPr marL="771525" marR="9525" marT="9525" marB="0" anchor="ctr"/>
                </a:tc>
              </a:tr>
              <a:tr h="175260">
                <a:tc>
                  <a:txBody>
                    <a:bodyPr wrap="square"/>
                    <a:lstStyle/>
                    <a:p>
                      <a:pPr algn="l"/>
                      <a:r>
                        <a:rPr sz="1100" b="0" i="1">
                          <a:solidFill>
                            <a:srgbClr val="000000"/>
                          </a:solidFill>
                          <a:latin typeface="Calibri"/>
                        </a:rPr>
                        <a:t>9.4.2.1.</a:t>
                      </a:r>
                      <a:r>
                        <a:rPr sz="700" b="0" i="1">
                          <a:solidFill>
                            <a:srgbClr val="000000"/>
                          </a:solidFill>
                          <a:latin typeface="Times New Roman"/>
                        </a:rPr>
                        <a:t>    </a:t>
                      </a:r>
                      <a:r>
                        <a:rPr sz="1100" b="0" i="1">
                          <a:solidFill>
                            <a:srgbClr val="000000"/>
                          </a:solidFill>
                          <a:latin typeface="Calibri"/>
                        </a:rPr>
                        <a:t>Single-Allergen Personalized Preparations</a:t>
                      </a:r>
                      <a:endParaRPr sz="1100"/>
                    </a:p>
                  </a:txBody>
                  <a:tcPr marL="1028700" marR="9525" marT="9525" marB="0" anchor="ctr"/>
                </a:tc>
              </a:tr>
              <a:tr h="175260">
                <a:tc>
                  <a:txBody>
                    <a:bodyPr wrap="square"/>
                    <a:lstStyle/>
                    <a:p>
                      <a:pPr algn="l"/>
                      <a:r>
                        <a:rPr sz="1100" b="0" i="1">
                          <a:solidFill>
                            <a:srgbClr val="000000"/>
                          </a:solidFill>
                          <a:latin typeface="Calibri"/>
                        </a:rPr>
                        <a:t>9.4.2.2.</a:t>
                      </a:r>
                      <a:r>
                        <a:rPr sz="700" b="0" i="1">
                          <a:solidFill>
                            <a:srgbClr val="000000"/>
                          </a:solidFill>
                          <a:latin typeface="Times New Roman"/>
                        </a:rPr>
                        <a:t>    </a:t>
                      </a:r>
                      <a:r>
                        <a:rPr sz="1100" b="0" i="1">
                          <a:solidFill>
                            <a:srgbClr val="000000"/>
                          </a:solidFill>
                          <a:latin typeface="Calibri"/>
                        </a:rPr>
                        <a:t>Multi-Allergen Personalized Preparations</a:t>
                      </a:r>
                      <a:endParaRPr sz="1100"/>
                    </a:p>
                  </a:txBody>
                  <a:tcPr marL="1028700" marR="9525" marT="9525" marB="0" anchor="ctr"/>
                </a:tc>
              </a:tr>
              <a:tr h="175260">
                <a:tc>
                  <a:txBody>
                    <a:bodyPr wrap="square"/>
                    <a:lstStyle/>
                    <a:p>
                      <a:pPr algn="l"/>
                      <a:r>
                        <a:rPr sz="1100" b="0" i="0">
                          <a:solidFill>
                            <a:srgbClr val="000000"/>
                          </a:solidFill>
                          <a:latin typeface="Calibri"/>
                        </a:rPr>
                        <a:t>9.4.3.</a:t>
                      </a:r>
                      <a:r>
                        <a:rPr sz="700" b="0" i="0">
                          <a:solidFill>
                            <a:srgbClr val="000000"/>
                          </a:solidFill>
                          <a:latin typeface="Times New Roman"/>
                        </a:rPr>
                        <a:t>   </a:t>
                      </a:r>
                      <a:r>
                        <a:rPr sz="1100" b="0" i="0">
                          <a:solidFill>
                            <a:srgbClr val="000000"/>
                          </a:solidFill>
                          <a:latin typeface="Calibri"/>
                        </a:rPr>
                        <a:t>Bulk Allergen Extracts</a:t>
                      </a:r>
                      <a:endParaRPr sz="1100"/>
                    </a:p>
                  </a:txBody>
                  <a:tcPr marL="771525" marR="9525" marT="9525" marB="0" anchor="ctr"/>
                </a:tc>
              </a:tr>
              <a:tr h="175260">
                <a:tc>
                  <a:txBody>
                    <a:bodyPr wrap="square"/>
                    <a:lstStyle/>
                    <a:p>
                      <a:pPr algn="l"/>
                      <a:r>
                        <a:rPr sz="1100" b="0" i="1">
                          <a:solidFill>
                            <a:srgbClr val="000000"/>
                          </a:solidFill>
                          <a:latin typeface="Calibri"/>
                        </a:rPr>
                        <a:t>9.4.3.1.</a:t>
                      </a:r>
                      <a:r>
                        <a:rPr sz="700" b="0" i="1">
                          <a:solidFill>
                            <a:srgbClr val="000000"/>
                          </a:solidFill>
                          <a:latin typeface="Times New Roman"/>
                        </a:rPr>
                        <a:t>    </a:t>
                      </a:r>
                      <a:r>
                        <a:rPr sz="1100" b="0" i="1">
                          <a:solidFill>
                            <a:srgbClr val="000000"/>
                          </a:solidFill>
                          <a:latin typeface="Calibri"/>
                        </a:rPr>
                        <a:t>Allergen Stock Concentrates</a:t>
                      </a:r>
                      <a:endParaRPr sz="1100"/>
                    </a:p>
                  </a:txBody>
                  <a:tcPr marL="1028700" marR="9525" marT="9525" marB="0" anchor="ctr"/>
                </a:tc>
              </a:tr>
              <a:tr h="175260">
                <a:tc>
                  <a:txBody>
                    <a:bodyPr wrap="square"/>
                    <a:lstStyle/>
                    <a:p>
                      <a:pPr algn="l"/>
                      <a:r>
                        <a:rPr sz="1100" b="0" i="1">
                          <a:solidFill>
                            <a:srgbClr val="000000"/>
                          </a:solidFill>
                          <a:latin typeface="Calibri"/>
                        </a:rPr>
                        <a:t>9.4.3.2.</a:t>
                      </a:r>
                      <a:r>
                        <a:rPr sz="700" b="0" i="1">
                          <a:solidFill>
                            <a:srgbClr val="000000"/>
                          </a:solidFill>
                          <a:latin typeface="Times New Roman"/>
                        </a:rPr>
                        <a:t>    </a:t>
                      </a:r>
                      <a:r>
                        <a:rPr sz="1100" b="0" i="1">
                          <a:solidFill>
                            <a:srgbClr val="000000"/>
                          </a:solidFill>
                          <a:latin typeface="Calibri"/>
                        </a:rPr>
                        <a:t>Venom Extracts</a:t>
                      </a:r>
                      <a:endParaRPr sz="1100"/>
                    </a:p>
                  </a:txBody>
                  <a:tcPr marL="1028700"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Global Market (Value- Volume) Analysis 2021–2036, By Allergen Preparation Technology</a:t>
                      </a:r>
                      <a:endParaRPr sz="1100"/>
                    </a:p>
                  </a:txBody>
                  <a:tcPr marL="17145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10.4.1.</a:t>
                      </a:r>
                      <a:r>
                        <a:rPr sz="700" b="0" i="0">
                          <a:solidFill>
                            <a:srgbClr val="000000"/>
                          </a:solidFill>
                          <a:latin typeface="Times New Roman"/>
                        </a:rPr>
                        <a:t> </a:t>
                      </a:r>
                      <a:r>
                        <a:rPr sz="1100" b="0" i="0">
                          <a:solidFill>
                            <a:srgbClr val="000000"/>
                          </a:solidFill>
                          <a:latin typeface="Calibri"/>
                        </a:rPr>
                        <a:t>Native Allergen Extracts</a:t>
                      </a:r>
                      <a:endParaRPr sz="1100"/>
                    </a:p>
                  </a:txBody>
                  <a:tcPr marL="771525" marR="9525" marT="9525" marB="0" anchor="ctr"/>
                </a:tc>
              </a:tr>
              <a:tr h="175260">
                <a:tc>
                  <a:txBody>
                    <a:bodyPr wrap="square"/>
                    <a:lstStyle/>
                    <a:p>
                      <a:pPr algn="l"/>
                      <a:r>
                        <a:rPr sz="1100" b="0" i="1">
                          <a:solidFill>
                            <a:srgbClr val="000000"/>
                          </a:solidFill>
                          <a:latin typeface="Calibri"/>
                        </a:rPr>
                        <a:t>10.4.1.1.</a:t>
                      </a:r>
                      <a:r>
                        <a:rPr sz="700" b="0" i="1">
                          <a:solidFill>
                            <a:srgbClr val="000000"/>
                          </a:solidFill>
                          <a:latin typeface="Times New Roman"/>
                        </a:rPr>
                        <a:t> </a:t>
                      </a:r>
                      <a:r>
                        <a:rPr sz="1100" b="0" i="1">
                          <a:solidFill>
                            <a:srgbClr val="000000"/>
                          </a:solidFill>
                          <a:latin typeface="Calibri"/>
                        </a:rPr>
                        <a:t>Standardized Allergen Extracts</a:t>
                      </a:r>
                      <a:endParaRPr sz="1100"/>
                    </a:p>
                  </a:txBody>
                  <a:tcPr marL="1028700" marR="9525" marT="9525" marB="0" anchor="ctr"/>
                </a:tc>
              </a:tr>
              <a:tr h="175260">
                <a:tc>
                  <a:txBody>
                    <a:bodyPr wrap="square"/>
                    <a:lstStyle/>
                    <a:p>
                      <a:pPr algn="l"/>
                      <a:r>
                        <a:rPr sz="1100" b="0" i="1">
                          <a:solidFill>
                            <a:srgbClr val="000000"/>
                          </a:solidFill>
                          <a:latin typeface="Calibri"/>
                        </a:rPr>
                        <a:t>10.4.1.2.</a:t>
                      </a:r>
                      <a:r>
                        <a:rPr sz="700" b="0" i="1">
                          <a:solidFill>
                            <a:srgbClr val="000000"/>
                          </a:solidFill>
                          <a:latin typeface="Times New Roman"/>
                        </a:rPr>
                        <a:t> </a:t>
                      </a:r>
                      <a:r>
                        <a:rPr sz="1100" b="0" i="1">
                          <a:solidFill>
                            <a:srgbClr val="000000"/>
                          </a:solidFill>
                          <a:latin typeface="Calibri"/>
                        </a:rPr>
                        <a:t>Non-standardized Allergen Extracts</a:t>
                      </a:r>
                      <a:endParaRPr sz="1100"/>
                    </a:p>
                  </a:txBody>
                  <a:tcPr marL="1028700" marR="9525" marT="9525" marB="0" anchor="ctr"/>
                </a:tc>
              </a:tr>
              <a:tr h="175260">
                <a:tc>
                  <a:txBody>
                    <a:bodyPr wrap="square"/>
                    <a:lstStyle/>
                    <a:p>
                      <a:pPr algn="l"/>
                      <a:r>
                        <a:rPr sz="1100" b="0" i="0">
                          <a:solidFill>
                            <a:srgbClr val="000000"/>
                          </a:solidFill>
                          <a:latin typeface="Calibri"/>
                        </a:rPr>
                        <a:t>10.4.2.</a:t>
                      </a:r>
                      <a:r>
                        <a:rPr sz="700" b="0" i="0">
                          <a:solidFill>
                            <a:srgbClr val="000000"/>
                          </a:solidFill>
                          <a:latin typeface="Times New Roman"/>
                        </a:rPr>
                        <a:t> </a:t>
                      </a:r>
                      <a:r>
                        <a:rPr sz="1100" b="0" i="0">
                          <a:solidFill>
                            <a:srgbClr val="000000"/>
                          </a:solidFill>
                          <a:latin typeface="Calibri"/>
                        </a:rPr>
                        <a:t>Modified Allergen</a:t>
                      </a:r>
                      <a:endParaRPr sz="1100"/>
                    </a:p>
                  </a:txBody>
                  <a:tcPr marL="771525" marR="9525" marT="9525" marB="0" anchor="ctr"/>
                </a:tc>
              </a:tr>
              <a:tr h="175260">
                <a:tc>
                  <a:txBody>
                    <a:bodyPr wrap="square"/>
                    <a:lstStyle/>
                    <a:p>
                      <a:pPr algn="l"/>
                      <a:r>
                        <a:rPr sz="1100" b="0" i="1">
                          <a:solidFill>
                            <a:srgbClr val="000000"/>
                          </a:solidFill>
                          <a:latin typeface="Calibri"/>
                        </a:rPr>
                        <a:t>10.4.2.1.</a:t>
                      </a:r>
                      <a:r>
                        <a:rPr sz="700" b="0" i="1">
                          <a:solidFill>
                            <a:srgbClr val="000000"/>
                          </a:solidFill>
                          <a:latin typeface="Times New Roman"/>
                        </a:rPr>
                        <a:t> </a:t>
                      </a:r>
                      <a:r>
                        <a:rPr sz="1100" b="0" i="1">
                          <a:solidFill>
                            <a:srgbClr val="000000"/>
                          </a:solidFill>
                          <a:latin typeface="Calibri"/>
                        </a:rPr>
                        <a:t>Polymerized Allergoids</a:t>
                      </a:r>
                      <a:endParaRPr sz="1100"/>
                    </a:p>
                  </a:txBody>
                  <a:tcPr marL="1028700" marR="9525" marT="9525" marB="0" anchor="ctr"/>
                </a:tc>
              </a:tr>
              <a:tr h="175260">
                <a:tc>
                  <a:txBody>
                    <a:bodyPr wrap="square"/>
                    <a:lstStyle/>
                    <a:p>
                      <a:pPr algn="l"/>
                      <a:r>
                        <a:rPr sz="1100" b="0" i="1">
                          <a:solidFill>
                            <a:srgbClr val="000000"/>
                          </a:solidFill>
                          <a:latin typeface="Calibri"/>
                        </a:rPr>
                        <a:t>10.4.2.2.</a:t>
                      </a:r>
                      <a:r>
                        <a:rPr sz="700" b="0" i="1">
                          <a:solidFill>
                            <a:srgbClr val="000000"/>
                          </a:solidFill>
                          <a:latin typeface="Times New Roman"/>
                        </a:rPr>
                        <a:t> </a:t>
                      </a:r>
                      <a:r>
                        <a:rPr sz="1100" b="0" i="1">
                          <a:solidFill>
                            <a:srgbClr val="000000"/>
                          </a:solidFill>
                          <a:latin typeface="Calibri"/>
                        </a:rPr>
                        <a:t>Depigmented-Polymerized Allergoids</a:t>
                      </a:r>
                      <a:endParaRPr sz="1100"/>
                    </a:p>
                  </a:txBody>
                  <a:tcPr marL="1028700" marR="9525" marT="9525" marB="0" anchor="ctr"/>
                </a:tc>
              </a:tr>
              <a:tr h="175260">
                <a:tc>
                  <a:txBody>
                    <a:bodyPr wrap="square"/>
                    <a:lstStyle/>
                    <a:p>
                      <a:pPr algn="l"/>
                      <a:r>
                        <a:rPr sz="1100" b="0" i="1">
                          <a:solidFill>
                            <a:srgbClr val="000000"/>
                          </a:solidFill>
                          <a:latin typeface="Calibri"/>
                        </a:rPr>
                        <a:t>10.4.2.3.</a:t>
                      </a:r>
                      <a:r>
                        <a:rPr sz="700" b="0" i="1">
                          <a:solidFill>
                            <a:srgbClr val="000000"/>
                          </a:solidFill>
                          <a:latin typeface="Times New Roman"/>
                        </a:rPr>
                        <a:t> </a:t>
                      </a:r>
                      <a:r>
                        <a:rPr sz="1100" b="0" i="1">
                          <a:solidFill>
                            <a:srgbClr val="000000"/>
                          </a:solidFill>
                          <a:latin typeface="Calibri"/>
                        </a:rPr>
                        <a:t>Carbamylated Allergoids</a:t>
                      </a:r>
                      <a:endParaRPr sz="1100"/>
                    </a:p>
                  </a:txBody>
                  <a:tcPr marL="1028700" marR="9525" marT="9525" marB="0" anchor="ctr"/>
                </a:tc>
              </a:tr>
              <a:tr h="175260">
                <a:tc>
                  <a:txBody>
                    <a:bodyPr wrap="square"/>
                    <a:lstStyle/>
                    <a:p>
                      <a:pPr algn="l"/>
                      <a:r>
                        <a:rPr sz="1100" b="0" i="0">
                          <a:solidFill>
                            <a:srgbClr val="000000"/>
                          </a:solidFill>
                          <a:latin typeface="Calibri"/>
                        </a:rPr>
                        <a:t>10.4.3.</a:t>
                      </a:r>
                      <a:r>
                        <a:rPr sz="700" b="0" i="0">
                          <a:solidFill>
                            <a:srgbClr val="000000"/>
                          </a:solidFill>
                          <a:latin typeface="Times New Roman"/>
                        </a:rPr>
                        <a:t> </a:t>
                      </a:r>
                      <a:r>
                        <a:rPr sz="1100" b="0" i="0">
                          <a:solidFill>
                            <a:srgbClr val="000000"/>
                          </a:solidFill>
                          <a:latin typeface="Calibri"/>
                        </a:rPr>
                        <a:t>Molecular Allergen Preparations</a:t>
                      </a:r>
                      <a:endParaRPr sz="1100"/>
                    </a:p>
                  </a:txBody>
                  <a:tcPr marL="771525" marR="9525" marT="9525" marB="0" anchor="ctr"/>
                </a:tc>
              </a:tr>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Global Market (Value- Volume) Analysis 2021–2036, By Allergen Composition</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11.4.1.</a:t>
                      </a:r>
                      <a:r>
                        <a:rPr sz="700" b="0" i="0">
                          <a:solidFill>
                            <a:srgbClr val="000000"/>
                          </a:solidFill>
                          <a:latin typeface="Times New Roman"/>
                        </a:rPr>
                        <a:t> </a:t>
                      </a:r>
                      <a:r>
                        <a:rPr sz="1100" b="0" i="0">
                          <a:solidFill>
                            <a:srgbClr val="000000"/>
                          </a:solidFill>
                          <a:latin typeface="Calibri"/>
                        </a:rPr>
                        <a:t>Single-Allergen Preparations</a:t>
                      </a:r>
                      <a:endParaRPr sz="1100"/>
                    </a:p>
                  </a:txBody>
                  <a:tcPr marL="771525" marR="9525" marT="9525" marB="0" anchor="ctr"/>
                </a:tc>
              </a:tr>
              <a:tr h="175260">
                <a:tc>
                  <a:txBody>
                    <a:bodyPr wrap="square"/>
                    <a:lstStyle/>
                    <a:p>
                      <a:pPr algn="l"/>
                      <a:r>
                        <a:rPr sz="1100" b="0" i="0">
                          <a:solidFill>
                            <a:srgbClr val="000000"/>
                          </a:solidFill>
                          <a:latin typeface="Calibri"/>
                        </a:rPr>
                        <a:t>11.4.2.</a:t>
                      </a:r>
                      <a:r>
                        <a:rPr sz="700" b="0" i="0">
                          <a:solidFill>
                            <a:srgbClr val="000000"/>
                          </a:solidFill>
                          <a:latin typeface="Times New Roman"/>
                        </a:rPr>
                        <a:t> </a:t>
                      </a:r>
                      <a:r>
                        <a:rPr sz="1100" b="0" i="0">
                          <a:solidFill>
                            <a:srgbClr val="000000"/>
                          </a:solidFill>
                          <a:latin typeface="Calibri"/>
                        </a:rPr>
                        <a:t>Fixed Allergen Mixtures</a:t>
                      </a:r>
                      <a:endParaRPr sz="1100"/>
                    </a:p>
                  </a:txBody>
                  <a:tcPr marL="771525" marR="9525" marT="9525" marB="0" anchor="ctr"/>
                </a:tc>
              </a:tr>
              <a:tr h="175260">
                <a:tc>
                  <a:txBody>
                    <a:bodyPr wrap="square"/>
                    <a:lstStyle/>
                    <a:p>
                      <a:pPr algn="l"/>
                      <a:r>
                        <a:rPr sz="1100" b="0" i="1">
                          <a:solidFill>
                            <a:srgbClr val="000000"/>
                          </a:solidFill>
                          <a:latin typeface="Calibri"/>
                        </a:rPr>
                        <a:t>11.4.2.1.</a:t>
                      </a:r>
                      <a:r>
                        <a:rPr sz="700" b="0" i="1">
                          <a:solidFill>
                            <a:srgbClr val="000000"/>
                          </a:solidFill>
                          <a:latin typeface="Times New Roman"/>
                        </a:rPr>
                        <a:t> </a:t>
                      </a:r>
                      <a:r>
                        <a:rPr sz="1100" b="0" i="1">
                          <a:solidFill>
                            <a:srgbClr val="000000"/>
                          </a:solidFill>
                          <a:latin typeface="Calibri"/>
                        </a:rPr>
                        <a:t>Homologous Pollen Mixtures</a:t>
                      </a:r>
                      <a:endParaRPr sz="1100"/>
                    </a:p>
                  </a:txBody>
                  <a:tcPr marL="1028700" marR="9525" marT="9525" marB="0" anchor="ctr"/>
                </a:tc>
              </a:tr>
              <a:tr h="175260">
                <a:tc>
                  <a:txBody>
                    <a:bodyPr wrap="square"/>
                    <a:lstStyle/>
                    <a:p>
                      <a:pPr algn="l"/>
                      <a:r>
                        <a:rPr sz="1100" b="0" i="1">
                          <a:solidFill>
                            <a:srgbClr val="000000"/>
                          </a:solidFill>
                          <a:latin typeface="Calibri"/>
                        </a:rPr>
                        <a:t>11.4.2.2.</a:t>
                      </a:r>
                      <a:r>
                        <a:rPr sz="700" b="0" i="1">
                          <a:solidFill>
                            <a:srgbClr val="000000"/>
                          </a:solidFill>
                          <a:latin typeface="Times New Roman"/>
                        </a:rPr>
                        <a:t> </a:t>
                      </a:r>
                      <a:r>
                        <a:rPr sz="1100" b="0" i="1">
                          <a:solidFill>
                            <a:srgbClr val="000000"/>
                          </a:solidFill>
                          <a:latin typeface="Calibri"/>
                        </a:rPr>
                        <a:t>House Dust Mite Mixtures</a:t>
                      </a:r>
                      <a:endParaRPr sz="1100"/>
                    </a:p>
                  </a:txBody>
                  <a:tcPr marL="1028700" marR="9525" marT="9525" marB="0" anchor="ctr"/>
                </a:tc>
              </a:tr>
              <a:tr h="175260">
                <a:tc>
                  <a:txBody>
                    <a:bodyPr wrap="square"/>
                    <a:lstStyle/>
                    <a:p>
                      <a:pPr algn="l"/>
                      <a:r>
                        <a:rPr sz="1100" b="0" i="1">
                          <a:solidFill>
                            <a:srgbClr val="000000"/>
                          </a:solidFill>
                          <a:latin typeface="Calibri"/>
                        </a:rPr>
                        <a:t>11.4.2.3.</a:t>
                      </a:r>
                      <a:r>
                        <a:rPr sz="700" b="0" i="1">
                          <a:solidFill>
                            <a:srgbClr val="000000"/>
                          </a:solidFill>
                          <a:latin typeface="Times New Roman"/>
                        </a:rPr>
                        <a:t> </a:t>
                      </a:r>
                      <a:r>
                        <a:rPr sz="1100" b="0" i="1">
                          <a:solidFill>
                            <a:srgbClr val="000000"/>
                          </a:solidFill>
                          <a:latin typeface="Calibri"/>
                        </a:rPr>
                        <a:t>Mixed Vespid Preparations</a:t>
                      </a:r>
                      <a:endParaRPr sz="1100"/>
                    </a:p>
                  </a:txBody>
                  <a:tcPr marL="1028700" marR="9525" marT="9525" marB="0" anchor="ctr"/>
                </a:tc>
              </a:tr>
              <a:tr h="175260">
                <a:tc>
                  <a:txBody>
                    <a:bodyPr wrap="square"/>
                    <a:lstStyle/>
                    <a:p>
                      <a:pPr algn="l"/>
                      <a:r>
                        <a:rPr sz="1100" b="0" i="0">
                          <a:solidFill>
                            <a:srgbClr val="000000"/>
                          </a:solidFill>
                          <a:latin typeface="Calibri"/>
                        </a:rPr>
                        <a:t>11.4.3.</a:t>
                      </a:r>
                      <a:r>
                        <a:rPr sz="700" b="0" i="0">
                          <a:solidFill>
                            <a:srgbClr val="000000"/>
                          </a:solidFill>
                          <a:latin typeface="Times New Roman"/>
                        </a:rPr>
                        <a:t> </a:t>
                      </a:r>
                      <a:r>
                        <a:rPr sz="1100" b="0" i="0">
                          <a:solidFill>
                            <a:srgbClr val="000000"/>
                          </a:solidFill>
                          <a:latin typeface="Calibri"/>
                        </a:rPr>
                        <a:t>Customized Multi-Allergen Preparations</a:t>
                      </a:r>
                      <a:endParaRPr sz="1100"/>
                    </a:p>
                  </a:txBody>
                  <a:tcPr marL="771525" marR="9525" marT="9525" marB="0" anchor="ctr"/>
                </a:tc>
              </a:tr>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Global Market (Value- Volume) Analysis 2021–2036, By Sales / Procurement Channel</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12.4.1.</a:t>
                      </a:r>
                      <a:r>
                        <a:rPr sz="700" b="0" i="0">
                          <a:solidFill>
                            <a:srgbClr val="000000"/>
                          </a:solidFill>
                          <a:latin typeface="Times New Roman"/>
                        </a:rPr>
                        <a:t> </a:t>
                      </a:r>
                      <a:r>
                        <a:rPr sz="1100" b="0" i="0">
                          <a:solidFill>
                            <a:srgbClr val="000000"/>
                          </a:solidFill>
                          <a:latin typeface="Calibri"/>
                        </a:rPr>
                        <a:t>Direct-to-Allergy Clinics</a:t>
                      </a:r>
                      <a:endParaRPr sz="1100"/>
                    </a:p>
                  </a:txBody>
                  <a:tcPr marL="771525" marR="9525" marT="9525" marB="0" anchor="ctr"/>
                </a:tc>
              </a:tr>
              <a:tr h="175260">
                <a:tc>
                  <a:txBody>
                    <a:bodyPr wrap="square"/>
                    <a:lstStyle/>
                    <a:p>
                      <a:pPr algn="l"/>
                      <a:r>
                        <a:rPr sz="1100" b="0" i="1">
                          <a:solidFill>
                            <a:srgbClr val="000000"/>
                          </a:solidFill>
                          <a:latin typeface="Calibri"/>
                        </a:rPr>
                        <a:t>12.4.1.1.</a:t>
                      </a:r>
                      <a:r>
                        <a:rPr sz="700" b="0" i="1">
                          <a:solidFill>
                            <a:srgbClr val="000000"/>
                          </a:solidFill>
                          <a:latin typeface="Times New Roman"/>
                        </a:rPr>
                        <a:t> </a:t>
                      </a:r>
                      <a:r>
                        <a:rPr sz="1100" b="0" i="1">
                          <a:solidFill>
                            <a:srgbClr val="000000"/>
                          </a:solidFill>
                          <a:latin typeface="Calibri"/>
                        </a:rPr>
                        <a:t>Customized Allergen Vaccines</a:t>
                      </a:r>
                      <a:endParaRPr sz="1100"/>
                    </a:p>
                  </a:txBody>
                  <a:tcPr marL="102870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(3/6)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12.4.1.2.</a:t>
                      </a:r>
                      <a:r>
                        <a:rPr sz="700" b="0" i="1">
                          <a:solidFill>
                            <a:srgbClr val="000000"/>
                          </a:solidFill>
                          <a:latin typeface="Times New Roman"/>
                        </a:rPr>
                        <a:t> </a:t>
                      </a:r>
                      <a:r>
                        <a:rPr sz="1100" b="0" i="1">
                          <a:solidFill>
                            <a:srgbClr val="000000"/>
                          </a:solidFill>
                          <a:latin typeface="Calibri"/>
                        </a:rPr>
                        <a:t>Bulk Extract Supply</a:t>
                      </a:r>
                      <a:endParaRPr sz="1100"/>
                    </a:p>
                  </a:txBody>
                  <a:tcPr marL="1028700" marR="9525" marT="9525" marB="0" anchor="ctr"/>
                </a:tc>
              </a:tr>
              <a:tr h="175260">
                <a:tc>
                  <a:txBody>
                    <a:bodyPr wrap="square"/>
                    <a:lstStyle/>
                    <a:p>
                      <a:pPr algn="l"/>
                      <a:r>
                        <a:rPr sz="1100" b="0" i="0">
                          <a:solidFill>
                            <a:srgbClr val="000000"/>
                          </a:solidFill>
                          <a:latin typeface="Calibri"/>
                        </a:rPr>
                        <a:t>12.4.2.</a:t>
                      </a:r>
                      <a:r>
                        <a:rPr sz="700" b="0" i="0">
                          <a:solidFill>
                            <a:srgbClr val="000000"/>
                          </a:solidFill>
                          <a:latin typeface="Times New Roman"/>
                        </a:rPr>
                        <a:t> </a:t>
                      </a:r>
                      <a:r>
                        <a:rPr sz="1100" b="0" i="0">
                          <a:solidFill>
                            <a:srgbClr val="000000"/>
                          </a:solidFill>
                          <a:latin typeface="Calibri"/>
                        </a:rPr>
                        <a:t>Hospital Procurement</a:t>
                      </a:r>
                      <a:endParaRPr sz="1100"/>
                    </a:p>
                  </a:txBody>
                  <a:tcPr marL="771525" marR="9525" marT="9525" marB="0" anchor="ctr"/>
                </a:tc>
              </a:tr>
              <a:tr h="175260">
                <a:tc>
                  <a:txBody>
                    <a:bodyPr wrap="square"/>
                    <a:lstStyle/>
                    <a:p>
                      <a:pPr algn="l"/>
                      <a:r>
                        <a:rPr sz="1100" b="0" i="0">
                          <a:solidFill>
                            <a:srgbClr val="000000"/>
                          </a:solidFill>
                          <a:latin typeface="Calibri"/>
                        </a:rPr>
                        <a:t>12.4.3.</a:t>
                      </a:r>
                      <a:r>
                        <a:rPr sz="700" b="0" i="0">
                          <a:solidFill>
                            <a:srgbClr val="000000"/>
                          </a:solidFill>
                          <a:latin typeface="Times New Roman"/>
                        </a:rPr>
                        <a:t> </a:t>
                      </a:r>
                      <a:r>
                        <a:rPr sz="1100" b="0" i="0">
                          <a:solidFill>
                            <a:srgbClr val="000000"/>
                          </a:solidFill>
                          <a:latin typeface="Calibri"/>
                        </a:rPr>
                        <a:t>Retail Pharmacy</a:t>
                      </a:r>
                      <a:endParaRPr sz="1100"/>
                    </a:p>
                  </a:txBody>
                  <a:tcPr marL="771525" marR="9525" marT="9525" marB="0" anchor="ctr"/>
                </a:tc>
              </a:tr>
              <a:tr h="175260">
                <a:tc>
                  <a:txBody>
                    <a:bodyPr wrap="square"/>
                    <a:lstStyle/>
                    <a:p>
                      <a:pPr algn="l"/>
                      <a:r>
                        <a:rPr sz="1100" b="0" i="0">
                          <a:solidFill>
                            <a:srgbClr val="000000"/>
                          </a:solidFill>
                          <a:latin typeface="Calibri"/>
                        </a:rPr>
                        <a:t>12.4.4.</a:t>
                      </a:r>
                      <a:r>
                        <a:rPr sz="700" b="0" i="0">
                          <a:solidFill>
                            <a:srgbClr val="000000"/>
                          </a:solidFill>
                          <a:latin typeface="Times New Roman"/>
                        </a:rPr>
                        <a:t> </a:t>
                      </a:r>
                      <a:r>
                        <a:rPr sz="1100" b="0" i="0">
                          <a:solidFill>
                            <a:srgbClr val="000000"/>
                          </a:solidFill>
                          <a:latin typeface="Calibri"/>
                        </a:rPr>
                        <a:t>Pharmaceutical Distributor</a:t>
                      </a:r>
                      <a:endParaRPr sz="1100"/>
                    </a:p>
                  </a:txBody>
                  <a:tcPr marL="771525" marR="9525" marT="9525" marB="0" anchor="ctr"/>
                </a:tc>
              </a:tr>
              <a:tr h="175260">
                <a:tc>
                  <a:txBody>
                    <a:bodyPr wrap="square"/>
                    <a:lstStyle/>
                    <a:p>
                      <a:pPr algn="l"/>
                      <a:r>
                        <a:rPr sz="1100" b="0" i="0">
                          <a:solidFill>
                            <a:srgbClr val="000000"/>
                          </a:solidFill>
                          <a:latin typeface="Calibri"/>
                        </a:rPr>
                        <a:t>12.4.5.</a:t>
                      </a:r>
                      <a:r>
                        <a:rPr sz="700" b="0" i="0">
                          <a:solidFill>
                            <a:srgbClr val="000000"/>
                          </a:solidFill>
                          <a:latin typeface="Times New Roman"/>
                        </a:rPr>
                        <a:t> </a:t>
                      </a:r>
                      <a:r>
                        <a:rPr sz="1100" b="0" i="0">
                          <a:solidFill>
                            <a:srgbClr val="000000"/>
                          </a:solidFill>
                          <a:latin typeface="Calibri"/>
                        </a:rPr>
                        <a:t>Mail-order Pharmacy</a:t>
                      </a:r>
                      <a:endParaRPr sz="1100"/>
                    </a:p>
                  </a:txBody>
                  <a:tcPr marL="7715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Global Market (Value- Volume) Analysis 2021–2036, by Region</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13.4.1.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r h="175260">
                <a:tc>
                  <a:txBody>
                    <a:bodyPr wrap="square"/>
                    <a:lstStyle/>
                    <a:p>
                      <a:pPr algn="l"/>
                      <a:r>
                        <a:rPr sz="1100" b="0" i="1">
                          <a:solidFill>
                            <a:srgbClr val="000000"/>
                          </a:solidFill>
                          <a:latin typeface="Calibri"/>
                        </a:rPr>
                        <a:t>13.4.1.1.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13.4.1.2.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0">
                          <a:solidFill>
                            <a:srgbClr val="000000"/>
                          </a:solidFill>
                          <a:latin typeface="Calibri"/>
                        </a:rPr>
                        <a:t>13.4.2.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1">
                          <a:solidFill>
                            <a:srgbClr val="000000"/>
                          </a:solidFill>
                          <a:latin typeface="Calibri"/>
                        </a:rPr>
                        <a:t>13.4.2.1.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13.4.2.2.</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1">
                          <a:solidFill>
                            <a:srgbClr val="000000"/>
                          </a:solidFill>
                          <a:latin typeface="Calibri"/>
                        </a:rPr>
                        <a:t>13.4.2.3.</a:t>
                      </a:r>
                      <a:r>
                        <a:rPr sz="700" b="0" i="1">
                          <a:solidFill>
                            <a:srgbClr val="000000"/>
                          </a:solidFill>
                          <a:latin typeface="Times New Roman"/>
                        </a:rPr>
                        <a:t> </a:t>
                      </a:r>
                      <a:r>
                        <a:rPr sz="1100" b="0" i="1">
                          <a:solidFill>
                            <a:srgbClr val="000000"/>
                          </a:solidFill>
                          <a:latin typeface="Calibri"/>
                        </a:rPr>
                        <a:t>Rest of LATAM</a:t>
                      </a:r>
                      <a:endParaRPr sz="1100"/>
                    </a:p>
                  </a:txBody>
                  <a:tcPr marL="1028700" marR="9525" marT="9525" marB="0" anchor="ctr"/>
                </a:tc>
              </a:tr>
              <a:tr h="175260">
                <a:tc>
                  <a:txBody>
                    <a:bodyPr wrap="square"/>
                    <a:lstStyle/>
                    <a:p>
                      <a:pPr algn="l"/>
                      <a:r>
                        <a:rPr sz="1100" b="0" i="0">
                          <a:solidFill>
                            <a:srgbClr val="000000"/>
                          </a:solidFill>
                          <a:latin typeface="Calibri"/>
                        </a:rPr>
                        <a:t>13.4.3.</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1">
                          <a:solidFill>
                            <a:srgbClr val="000000"/>
                          </a:solidFill>
                          <a:latin typeface="Calibri"/>
                        </a:rPr>
                        <a:t>13.4.3.1.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r h="175260">
                <a:tc>
                  <a:txBody>
                    <a:bodyPr wrap="square"/>
                    <a:lstStyle/>
                    <a:p>
                      <a:pPr algn="l"/>
                      <a:r>
                        <a:rPr sz="1100" b="0" i="1">
                          <a:solidFill>
                            <a:srgbClr val="000000"/>
                          </a:solidFill>
                          <a:latin typeface="Calibri"/>
                        </a:rPr>
                        <a:t>13.4.3.2.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13.4.3.3.</a:t>
                      </a:r>
                      <a:r>
                        <a:rPr sz="700" b="0" i="1">
                          <a:solidFill>
                            <a:srgbClr val="000000"/>
                          </a:solidFill>
                          <a:latin typeface="Times New Roman"/>
                        </a:rPr>
                        <a:t> </a:t>
                      </a:r>
                      <a:r>
                        <a:rPr sz="1100" b="0" i="1">
                          <a:solidFill>
                            <a:srgbClr val="000000"/>
                          </a:solidFill>
                          <a:latin typeface="Calibri"/>
                        </a:rPr>
                        <a:t>S Korea</a:t>
                      </a:r>
                      <a:endParaRPr sz="1100"/>
                    </a:p>
                  </a:txBody>
                  <a:tcPr marL="1028700" marR="9525" marT="9525" marB="0" anchor="ctr"/>
                </a:tc>
              </a:tr>
              <a:tr h="175260">
                <a:tc>
                  <a:txBody>
                    <a:bodyPr wrap="square"/>
                    <a:lstStyle/>
                    <a:p>
                      <a:pPr algn="l"/>
                      <a:r>
                        <a:rPr sz="1100" b="0" i="0">
                          <a:solidFill>
                            <a:srgbClr val="000000"/>
                          </a:solidFill>
                          <a:latin typeface="Calibri"/>
                        </a:rPr>
                        <a:t>13.4.4.</a:t>
                      </a:r>
                      <a:r>
                        <a:rPr sz="700" b="0" i="0">
                          <a:solidFill>
                            <a:srgbClr val="000000"/>
                          </a:solidFill>
                          <a:latin typeface="Times New Roman"/>
                        </a:rPr>
                        <a:t> </a:t>
                      </a:r>
                      <a:r>
                        <a:rPr sz="1100" b="0" i="0">
                          <a:solidFill>
                            <a:srgbClr val="000000"/>
                          </a:solidFill>
                          <a:latin typeface="Calibri"/>
                        </a:rPr>
                        <a:t>South Asia &amp; Pacific</a:t>
                      </a:r>
                      <a:endParaRPr sz="1100"/>
                    </a:p>
                  </a:txBody>
                  <a:tcPr marL="771525" marR="9525" marT="9525" marB="0" anchor="ctr"/>
                </a:tc>
              </a:tr>
              <a:tr h="175260">
                <a:tc>
                  <a:txBody>
                    <a:bodyPr wrap="square"/>
                    <a:lstStyle/>
                    <a:p>
                      <a:pPr algn="l"/>
                      <a:r>
                        <a:rPr sz="1100" b="0" i="1">
                          <a:solidFill>
                            <a:srgbClr val="000000"/>
                          </a:solidFill>
                          <a:latin typeface="Calibri"/>
                        </a:rPr>
                        <a:t>13.4.4.1.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13.4.4.2.</a:t>
                      </a:r>
                      <a:r>
                        <a:rPr sz="700" b="0" i="1">
                          <a:solidFill>
                            <a:srgbClr val="000000"/>
                          </a:solidFill>
                          <a:latin typeface="Times New Roman"/>
                        </a:rPr>
                        <a:t> </a:t>
                      </a:r>
                      <a:r>
                        <a:rPr sz="1100" b="0" i="1">
                          <a:solidFill>
                            <a:srgbClr val="000000"/>
                          </a:solidFill>
                          <a:latin typeface="Calibri"/>
                        </a:rPr>
                        <a:t>Thailand</a:t>
                      </a:r>
                      <a:endParaRPr sz="1100"/>
                    </a:p>
                  </a:txBody>
                  <a:tcPr marL="1028700" marR="9525" marT="9525" marB="0" anchor="ctr"/>
                </a:tc>
              </a:tr>
              <a:tr h="175260">
                <a:tc>
                  <a:txBody>
                    <a:bodyPr wrap="square"/>
                    <a:lstStyle/>
                    <a:p>
                      <a:pPr algn="l"/>
                      <a:r>
                        <a:rPr sz="1100" b="0" i="1">
                          <a:solidFill>
                            <a:srgbClr val="000000"/>
                          </a:solidFill>
                          <a:latin typeface="Calibri"/>
                        </a:rPr>
                        <a:t>13.4.4.3.</a:t>
                      </a:r>
                      <a:r>
                        <a:rPr sz="700" b="0" i="1">
                          <a:solidFill>
                            <a:srgbClr val="000000"/>
                          </a:solidFill>
                          <a:latin typeface="Times New Roman"/>
                        </a:rPr>
                        <a:t> </a:t>
                      </a:r>
                      <a:r>
                        <a:rPr sz="1100" b="0" i="1">
                          <a:solidFill>
                            <a:srgbClr val="000000"/>
                          </a:solidFill>
                          <a:latin typeface="Calibri"/>
                        </a:rPr>
                        <a:t>Malaysia</a:t>
                      </a:r>
                      <a:endParaRPr sz="1100"/>
                    </a:p>
                  </a:txBody>
                  <a:tcPr marL="1028700" marR="9525" marT="9525" marB="0" anchor="ctr"/>
                </a:tc>
              </a:tr>
              <a:tr h="175260">
                <a:tc>
                  <a:txBody>
                    <a:bodyPr wrap="square"/>
                    <a:lstStyle/>
                    <a:p>
                      <a:pPr algn="l"/>
                      <a:r>
                        <a:rPr sz="1100" b="0" i="1">
                          <a:solidFill>
                            <a:srgbClr val="000000"/>
                          </a:solidFill>
                          <a:latin typeface="Calibri"/>
                        </a:rPr>
                        <a:t>13.4.4.4.</a:t>
                      </a:r>
                      <a:r>
                        <a:rPr sz="700" b="0" i="1">
                          <a:solidFill>
                            <a:srgbClr val="000000"/>
                          </a:solidFill>
                          <a:latin typeface="Times New Roman"/>
                        </a:rPr>
                        <a:t> </a:t>
                      </a:r>
                      <a:r>
                        <a:rPr sz="1100" b="0" i="1">
                          <a:solidFill>
                            <a:srgbClr val="000000"/>
                          </a:solidFill>
                          <a:latin typeface="Calibri"/>
                        </a:rPr>
                        <a:t>Indonesia</a:t>
                      </a:r>
                      <a:endParaRPr sz="1100"/>
                    </a:p>
                  </a:txBody>
                  <a:tcPr marL="1028700" marR="9525" marT="9525" marB="0" anchor="ctr"/>
                </a:tc>
              </a:tr>
              <a:tr h="175260">
                <a:tc>
                  <a:txBody>
                    <a:bodyPr wrap="square"/>
                    <a:lstStyle/>
                    <a:p>
                      <a:pPr algn="l"/>
                      <a:r>
                        <a:rPr sz="1100" b="0" i="1">
                          <a:solidFill>
                            <a:srgbClr val="000000"/>
                          </a:solidFill>
                          <a:latin typeface="Calibri"/>
                        </a:rPr>
                        <a:t>13.4.4.5.</a:t>
                      </a:r>
                      <a:r>
                        <a:rPr sz="700" b="0" i="1">
                          <a:solidFill>
                            <a:srgbClr val="000000"/>
                          </a:solidFill>
                          <a:latin typeface="Times New Roman"/>
                        </a:rPr>
                        <a:t> </a:t>
                      </a:r>
                      <a:r>
                        <a:rPr sz="1100" b="0" i="1">
                          <a:solidFill>
                            <a:srgbClr val="000000"/>
                          </a:solidFill>
                          <a:latin typeface="Calibri"/>
                        </a:rPr>
                        <a:t>Philippines</a:t>
                      </a:r>
                      <a:endParaRPr sz="1100"/>
                    </a:p>
                  </a:txBody>
                  <a:tcPr marL="1028700" marR="9525" marT="9525" marB="0" anchor="ctr"/>
                </a:tc>
              </a:tr>
              <a:tr h="175260">
                <a:tc>
                  <a:txBody>
                    <a:bodyPr wrap="square"/>
                    <a:lstStyle/>
                    <a:p>
                      <a:pPr algn="l"/>
                      <a:r>
                        <a:rPr sz="1100" b="0" i="1">
                          <a:solidFill>
                            <a:srgbClr val="000000"/>
                          </a:solidFill>
                          <a:latin typeface="Calibri"/>
                        </a:rPr>
                        <a:t>13.4.4.6.</a:t>
                      </a:r>
                      <a:r>
                        <a:rPr sz="700" b="0" i="1">
                          <a:solidFill>
                            <a:srgbClr val="000000"/>
                          </a:solidFill>
                          <a:latin typeface="Times New Roman"/>
                        </a:rPr>
                        <a:t> </a:t>
                      </a:r>
                      <a:r>
                        <a:rPr sz="1100" b="0" i="1">
                          <a:solidFill>
                            <a:srgbClr val="000000"/>
                          </a:solidFill>
                          <a:latin typeface="Calibri"/>
                        </a:rPr>
                        <a:t>Singapore</a:t>
                      </a:r>
                      <a:endParaRPr sz="1100"/>
                    </a:p>
                  </a:txBody>
                  <a:tcPr marL="1028700" marR="9525" marT="9525" marB="0" anchor="ctr"/>
                </a:tc>
              </a:tr>
              <a:tr h="175260">
                <a:tc>
                  <a:txBody>
                    <a:bodyPr wrap="square"/>
                    <a:lstStyle/>
                    <a:p>
                      <a:pPr algn="l"/>
                      <a:r>
                        <a:rPr sz="1100" b="0" i="1">
                          <a:solidFill>
                            <a:srgbClr val="000000"/>
                          </a:solidFill>
                          <a:latin typeface="Calibri"/>
                        </a:rPr>
                        <a:t>13.4.4.7.</a:t>
                      </a:r>
                      <a:r>
                        <a:rPr sz="700" b="0" i="1">
                          <a:solidFill>
                            <a:srgbClr val="000000"/>
                          </a:solidFill>
                          <a:latin typeface="Times New Roman"/>
                        </a:rPr>
                        <a:t> </a:t>
                      </a:r>
                      <a:r>
                        <a:rPr sz="1100" b="0" i="1">
                          <a:solidFill>
                            <a:srgbClr val="000000"/>
                          </a:solidFill>
                          <a:latin typeface="Calibri"/>
                        </a:rPr>
                        <a:t>Australia</a:t>
                      </a:r>
                      <a:endParaRPr sz="1100"/>
                    </a:p>
                  </a:txBody>
                  <a:tcPr marL="1028700" marR="9525" marT="9525" marB="0" anchor="ctr"/>
                </a:tc>
              </a:tr>
              <a:tr h="175260">
                <a:tc>
                  <a:txBody>
                    <a:bodyPr wrap="square"/>
                    <a:lstStyle/>
                    <a:p>
                      <a:pPr algn="l"/>
                      <a:r>
                        <a:rPr sz="1100" b="0" i="1">
                          <a:solidFill>
                            <a:srgbClr val="000000"/>
                          </a:solidFill>
                          <a:latin typeface="Calibri"/>
                        </a:rPr>
                        <a:t>13.4.4.8.</a:t>
                      </a:r>
                      <a:r>
                        <a:rPr sz="700" b="0" i="1">
                          <a:solidFill>
                            <a:srgbClr val="000000"/>
                          </a:solidFill>
                          <a:latin typeface="Times New Roman"/>
                        </a:rPr>
                        <a:t> </a:t>
                      </a:r>
                      <a:r>
                        <a:rPr sz="1100" b="0" i="1">
                          <a:solidFill>
                            <a:srgbClr val="000000"/>
                          </a:solidFill>
                          <a:latin typeface="Calibri"/>
                        </a:rPr>
                        <a:t>New Zealand</a:t>
                      </a:r>
                      <a:endParaRPr sz="1100"/>
                    </a:p>
                  </a:txBody>
                  <a:tcPr marL="102870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13.4.4.9.</a:t>
                      </a:r>
                      <a:r>
                        <a:rPr sz="700" b="0" i="1">
                          <a:solidFill>
                            <a:srgbClr val="000000"/>
                          </a:solidFill>
                          <a:latin typeface="Times New Roman"/>
                        </a:rPr>
                        <a:t> </a:t>
                      </a:r>
                      <a:r>
                        <a:rPr sz="1100" b="0" i="1">
                          <a:solidFill>
                            <a:srgbClr val="000000"/>
                          </a:solidFill>
                          <a:latin typeface="Calibri"/>
                        </a:rPr>
                        <a:t>Rest of South Asia &amp; Pacific</a:t>
                      </a:r>
                      <a:endParaRPr sz="1100"/>
                    </a:p>
                  </a:txBody>
                  <a:tcPr marL="1028700" marR="9525" marT="9525" marB="0" anchor="ctr"/>
                </a:tc>
              </a:tr>
              <a:tr h="175260">
                <a:tc>
                  <a:txBody>
                    <a:bodyPr wrap="square"/>
                    <a:lstStyle/>
                    <a:p>
                      <a:pPr algn="l"/>
                      <a:r>
                        <a:rPr sz="1100" b="0" i="0">
                          <a:solidFill>
                            <a:srgbClr val="000000"/>
                          </a:solidFill>
                          <a:latin typeface="Calibri"/>
                        </a:rPr>
                        <a:t>13.4.5.</a:t>
                      </a:r>
                      <a:r>
                        <a:rPr sz="700" b="0" i="0">
                          <a:solidFill>
                            <a:srgbClr val="000000"/>
                          </a:solidFill>
                          <a:latin typeface="Times New Roman"/>
                        </a:rPr>
                        <a:t> </a:t>
                      </a:r>
                      <a:r>
                        <a:rPr sz="1100" b="0" i="0">
                          <a:solidFill>
                            <a:srgbClr val="000000"/>
                          </a:solidFill>
                          <a:latin typeface="Calibri"/>
                        </a:rPr>
                        <a:t>Europe</a:t>
                      </a:r>
                      <a:endParaRPr sz="1100"/>
                    </a:p>
                  </a:txBody>
                  <a:tcPr marL="771525" marR="9525" marT="9525" marB="0" anchor="ctr"/>
                </a:tc>
              </a:tr>
              <a:tr h="175260">
                <a:tc>
                  <a:txBody>
                    <a:bodyPr wrap="square"/>
                    <a:lstStyle/>
                    <a:p>
                      <a:pPr algn="l"/>
                      <a:r>
                        <a:rPr sz="1100" b="0" i="1">
                          <a:solidFill>
                            <a:srgbClr val="000000"/>
                          </a:solidFill>
                          <a:latin typeface="Calibri"/>
                        </a:rPr>
                        <a:t>13.4.5.1.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13.4.5.2.</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13.4.5.3.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r h="175260">
                <a:tc>
                  <a:txBody>
                    <a:bodyPr wrap="square"/>
                    <a:lstStyle/>
                    <a:p>
                      <a:pPr algn="l"/>
                      <a:r>
                        <a:rPr sz="1100" b="0" i="1">
                          <a:solidFill>
                            <a:srgbClr val="000000"/>
                          </a:solidFill>
                          <a:latin typeface="Calibri"/>
                        </a:rPr>
                        <a:t>13.4.5.4.</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13.4.5.5.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r h="175260">
                <a:tc>
                  <a:txBody>
                    <a:bodyPr wrap="square"/>
                    <a:lstStyle/>
                    <a:p>
                      <a:pPr algn="l"/>
                      <a:r>
                        <a:rPr sz="1100" b="0" i="1">
                          <a:solidFill>
                            <a:srgbClr val="000000"/>
                          </a:solidFill>
                          <a:latin typeface="Calibri"/>
                        </a:rPr>
                        <a:t>13.4.5.6.</a:t>
                      </a:r>
                      <a:r>
                        <a:rPr sz="700" b="0" i="1">
                          <a:solidFill>
                            <a:srgbClr val="000000"/>
                          </a:solidFill>
                          <a:latin typeface="Times New Roman"/>
                        </a:rPr>
                        <a:t> </a:t>
                      </a:r>
                      <a:r>
                        <a:rPr sz="1100" b="0" i="1">
                          <a:solidFill>
                            <a:srgbClr val="000000"/>
                          </a:solidFill>
                          <a:latin typeface="Calibri"/>
                        </a:rPr>
                        <a:t>Belgium</a:t>
                      </a:r>
                      <a:endParaRPr sz="1100"/>
                    </a:p>
                  </a:txBody>
                  <a:tcPr marL="1028700" marR="9525" marT="9525" marB="0" anchor="ctr"/>
                </a:tc>
              </a:tr>
              <a:tr h="175260">
                <a:tc>
                  <a:txBody>
                    <a:bodyPr wrap="square"/>
                    <a:lstStyle/>
                    <a:p>
                      <a:pPr algn="l"/>
                      <a:r>
                        <a:rPr sz="1100" b="0" i="1">
                          <a:solidFill>
                            <a:srgbClr val="000000"/>
                          </a:solidFill>
                          <a:latin typeface="Calibri"/>
                        </a:rPr>
                        <a:t>13.4.5.7.</a:t>
                      </a:r>
                      <a:r>
                        <a:rPr sz="700" b="0" i="1">
                          <a:solidFill>
                            <a:srgbClr val="000000"/>
                          </a:solidFill>
                          <a:latin typeface="Times New Roman"/>
                        </a:rPr>
                        <a:t> </a:t>
                      </a:r>
                      <a:r>
                        <a:rPr sz="1100" b="0" i="1">
                          <a:solidFill>
                            <a:srgbClr val="000000"/>
                          </a:solidFill>
                          <a:latin typeface="Calibri"/>
                        </a:rPr>
                        <a:t>Netherlands</a:t>
                      </a:r>
                      <a:endParaRPr sz="1100"/>
                    </a:p>
                  </a:txBody>
                  <a:tcPr marL="1028700" marR="9525" marT="9525" marB="0" anchor="ctr"/>
                </a:tc>
              </a:tr>
              <a:tr h="175260">
                <a:tc>
                  <a:txBody>
                    <a:bodyPr wrap="square"/>
                    <a:lstStyle/>
                    <a:p>
                      <a:pPr algn="l"/>
                      <a:r>
                        <a:rPr sz="1100" b="0" i="1">
                          <a:solidFill>
                            <a:srgbClr val="000000"/>
                          </a:solidFill>
                          <a:latin typeface="Calibri"/>
                        </a:rPr>
                        <a:t>13.4.5.8.</a:t>
                      </a:r>
                      <a:r>
                        <a:rPr sz="700" b="0" i="1">
                          <a:solidFill>
                            <a:srgbClr val="000000"/>
                          </a:solidFill>
                          <a:latin typeface="Times New Roman"/>
                        </a:rPr>
                        <a:t> </a:t>
                      </a:r>
                      <a:r>
                        <a:rPr sz="1100" b="0" i="1">
                          <a:solidFill>
                            <a:srgbClr val="000000"/>
                          </a:solidFill>
                          <a:latin typeface="Calibri"/>
                        </a:rPr>
                        <a:t>Nordic</a:t>
                      </a:r>
                      <a:endParaRPr sz="1100"/>
                    </a:p>
                  </a:txBody>
                  <a:tcPr marL="1028700" marR="9525" marT="9525" marB="0" anchor="ctr"/>
                </a:tc>
              </a:tr>
              <a:tr h="175260">
                <a:tc>
                  <a:txBody>
                    <a:bodyPr wrap="square"/>
                    <a:lstStyle/>
                    <a:p>
                      <a:pPr algn="l"/>
                      <a:r>
                        <a:rPr sz="1100" b="0" i="1">
                          <a:solidFill>
                            <a:srgbClr val="000000"/>
                          </a:solidFill>
                          <a:latin typeface="Calibri"/>
                        </a:rPr>
                        <a:t>13.4.5.9.</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r h="175260">
                <a:tc>
                  <a:txBody>
                    <a:bodyPr wrap="square"/>
                    <a:lstStyle/>
                    <a:p>
                      <a:pPr algn="l"/>
                      <a:r>
                        <a:rPr sz="1100" b="0" i="1">
                          <a:solidFill>
                            <a:srgbClr val="000000"/>
                          </a:solidFill>
                          <a:latin typeface="Calibri"/>
                        </a:rPr>
                        <a:t>13.4.5.10.</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13.4.5.11.</a:t>
                      </a:r>
                      <a:r>
                        <a:rPr sz="700" b="0" i="1">
                          <a:solidFill>
                            <a:srgbClr val="000000"/>
                          </a:solidFill>
                          <a:latin typeface="Times New Roman"/>
                        </a:rPr>
                        <a:t> </a:t>
                      </a:r>
                      <a:r>
                        <a:rPr sz="1100" b="0" i="1">
                          <a:solidFill>
                            <a:srgbClr val="000000"/>
                          </a:solidFill>
                          <a:latin typeface="Calibri"/>
                        </a:rPr>
                        <a:t>Switzerland</a:t>
                      </a:r>
                      <a:endParaRPr sz="1100"/>
                    </a:p>
                  </a:txBody>
                  <a:tcPr marL="1028700" marR="9525" marT="9525" marB="0" anchor="ctr"/>
                </a:tc>
              </a:tr>
              <a:tr h="175260">
                <a:tc>
                  <a:txBody>
                    <a:bodyPr wrap="square"/>
                    <a:lstStyle/>
                    <a:p>
                      <a:pPr algn="l"/>
                      <a:r>
                        <a:rPr sz="1100" b="0" i="1">
                          <a:solidFill>
                            <a:srgbClr val="000000"/>
                          </a:solidFill>
                          <a:latin typeface="Calibri"/>
                        </a:rPr>
                        <a:t>13.4.5.12.</a:t>
                      </a:r>
                      <a:r>
                        <a:rPr sz="700" b="0" i="1">
                          <a:solidFill>
                            <a:srgbClr val="000000"/>
                          </a:solidFill>
                          <a:latin typeface="Times New Roman"/>
                        </a:rPr>
                        <a:t> </a:t>
                      </a:r>
                      <a:r>
                        <a:rPr sz="1100" b="0" i="1">
                          <a:solidFill>
                            <a:srgbClr val="000000"/>
                          </a:solidFill>
                          <a:latin typeface="Calibri"/>
                        </a:rPr>
                        <a:t>Rest of Europe</a:t>
                      </a:r>
                      <a:endParaRPr sz="1100"/>
                    </a:p>
                  </a:txBody>
                  <a:tcPr marL="1028700" marR="9525" marT="9525" marB="0" anchor="ctr"/>
                </a:tc>
              </a:tr>
              <a:tr h="175260">
                <a:tc>
                  <a:txBody>
                    <a:bodyPr wrap="square"/>
                    <a:lstStyle/>
                    <a:p>
                      <a:pPr algn="l"/>
                      <a:r>
                        <a:rPr sz="1100" b="0" i="0">
                          <a:solidFill>
                            <a:srgbClr val="000000"/>
                          </a:solidFill>
                          <a:latin typeface="Calibri"/>
                        </a:rPr>
                        <a:t>13.4.6.</a:t>
                      </a:r>
                      <a:r>
                        <a:rPr sz="700" b="0" i="0">
                          <a:solidFill>
                            <a:srgbClr val="000000"/>
                          </a:solidFill>
                          <a:latin typeface="Times New Roman"/>
                        </a:rPr>
                        <a:t> </a:t>
                      </a:r>
                      <a:r>
                        <a:rPr sz="1100" b="0" i="0">
                          <a:solidFill>
                            <a:srgbClr val="000000"/>
                          </a:solidFill>
                          <a:latin typeface="Calibri"/>
                        </a:rPr>
                        <a:t>Middle East &amp; Africa</a:t>
                      </a:r>
                      <a:endParaRPr sz="1100"/>
                    </a:p>
                  </a:txBody>
                  <a:tcPr marL="771525" marR="9525" marT="9525" marB="0" anchor="ctr"/>
                </a:tc>
              </a:tr>
              <a:tr h="175260">
                <a:tc>
                  <a:txBody>
                    <a:bodyPr wrap="square"/>
                    <a:lstStyle/>
                    <a:p>
                      <a:pPr algn="l"/>
                      <a:r>
                        <a:rPr sz="1100" b="0" i="1">
                          <a:solidFill>
                            <a:srgbClr val="000000"/>
                          </a:solidFill>
                          <a:latin typeface="Calibri"/>
                        </a:rPr>
                        <a:t>13.4.6.1.</a:t>
                      </a:r>
                      <a:r>
                        <a:rPr sz="700" b="0" i="1">
                          <a:solidFill>
                            <a:srgbClr val="000000"/>
                          </a:solidFill>
                          <a:latin typeface="Times New Roman"/>
                        </a:rPr>
                        <a:t> </a:t>
                      </a:r>
                      <a:r>
                        <a:rPr sz="1100" b="0" i="1">
                          <a:solidFill>
                            <a:srgbClr val="000000"/>
                          </a:solidFill>
                          <a:latin typeface="Calibri"/>
                        </a:rPr>
                        <a:t>UAE</a:t>
                      </a:r>
                      <a:endParaRPr sz="1100"/>
                    </a:p>
                  </a:txBody>
                  <a:tcPr marL="1028700" marR="9525" marT="9525" marB="0" anchor="ctr"/>
                </a:tc>
              </a:tr>
              <a:tr h="175260">
                <a:tc>
                  <a:txBody>
                    <a:bodyPr wrap="square"/>
                    <a:lstStyle/>
                    <a:p>
                      <a:pPr algn="l"/>
                      <a:r>
                        <a:rPr sz="1100" b="0" i="1">
                          <a:solidFill>
                            <a:srgbClr val="000000"/>
                          </a:solidFill>
                          <a:latin typeface="Calibri"/>
                        </a:rPr>
                        <a:t>13.4.6.2.</a:t>
                      </a:r>
                      <a:r>
                        <a:rPr sz="700" b="0" i="1">
                          <a:solidFill>
                            <a:srgbClr val="000000"/>
                          </a:solidFill>
                          <a:latin typeface="Times New Roman"/>
                        </a:rPr>
                        <a:t> </a:t>
                      </a:r>
                      <a:r>
                        <a:rPr sz="1100" b="0" i="1">
                          <a:solidFill>
                            <a:srgbClr val="000000"/>
                          </a:solidFill>
                          <a:latin typeface="Calibri"/>
                        </a:rPr>
                        <a:t>Saudi Arabia</a:t>
                      </a:r>
                      <a:endParaRPr sz="1100"/>
                    </a:p>
                  </a:txBody>
                  <a:tcPr marL="1028700" marR="9525" marT="9525" marB="0" anchor="ctr"/>
                </a:tc>
              </a:tr>
              <a:tr h="175260">
                <a:tc>
                  <a:txBody>
                    <a:bodyPr wrap="square"/>
                    <a:lstStyle/>
                    <a:p>
                      <a:pPr algn="l"/>
                      <a:r>
                        <a:rPr sz="1100" b="0" i="1">
                          <a:solidFill>
                            <a:srgbClr val="000000"/>
                          </a:solidFill>
                          <a:latin typeface="Calibri"/>
                        </a:rPr>
                        <a:t>13.4.6.3.</a:t>
                      </a:r>
                      <a:r>
                        <a:rPr sz="700" b="0" i="1">
                          <a:solidFill>
                            <a:srgbClr val="000000"/>
                          </a:solidFill>
                          <a:latin typeface="Times New Roman"/>
                        </a:rPr>
                        <a:t> </a:t>
                      </a:r>
                      <a:r>
                        <a:rPr sz="1100" b="0" i="1">
                          <a:solidFill>
                            <a:srgbClr val="000000"/>
                          </a:solidFill>
                          <a:latin typeface="Calibri"/>
                        </a:rPr>
                        <a:t>Turkey</a:t>
                      </a:r>
                      <a:endParaRPr sz="1100"/>
                    </a:p>
                  </a:txBody>
                  <a:tcPr marL="1028700" marR="9525" marT="9525" marB="0" anchor="ctr"/>
                </a:tc>
              </a:tr>
              <a:tr h="175260">
                <a:tc>
                  <a:txBody>
                    <a:bodyPr wrap="square"/>
                    <a:lstStyle/>
                    <a:p>
                      <a:pPr algn="l"/>
                      <a:r>
                        <a:rPr sz="1100" b="0" i="1">
                          <a:solidFill>
                            <a:srgbClr val="000000"/>
                          </a:solidFill>
                          <a:latin typeface="Calibri"/>
                        </a:rPr>
                        <a:t>13.4.6.4.</a:t>
                      </a:r>
                      <a:r>
                        <a:rPr sz="700" b="0" i="1">
                          <a:solidFill>
                            <a:srgbClr val="000000"/>
                          </a:solidFill>
                          <a:latin typeface="Times New Roman"/>
                        </a:rPr>
                        <a:t> </a:t>
                      </a:r>
                      <a:r>
                        <a:rPr sz="1100" b="0" i="1">
                          <a:solidFill>
                            <a:srgbClr val="000000"/>
                          </a:solidFill>
                          <a:latin typeface="Calibri"/>
                        </a:rPr>
                        <a:t>Israel</a:t>
                      </a:r>
                      <a:endParaRPr sz="1100"/>
                    </a:p>
                  </a:txBody>
                  <a:tcPr marL="1028700" marR="9525" marT="9525" marB="0" anchor="ctr"/>
                </a:tc>
              </a:tr>
              <a:tr h="175260">
                <a:tc>
                  <a:txBody>
                    <a:bodyPr wrap="square"/>
                    <a:lstStyle/>
                    <a:p>
                      <a:pPr algn="l"/>
                      <a:r>
                        <a:rPr sz="1100" b="0" i="1">
                          <a:solidFill>
                            <a:srgbClr val="000000"/>
                          </a:solidFill>
                          <a:latin typeface="Calibri"/>
                        </a:rPr>
                        <a:t>13.4.6.5.</a:t>
                      </a:r>
                      <a:r>
                        <a:rPr sz="700" b="0" i="1">
                          <a:solidFill>
                            <a:srgbClr val="000000"/>
                          </a:solidFill>
                          <a:latin typeface="Times New Roman"/>
                        </a:rPr>
                        <a:t> </a:t>
                      </a:r>
                      <a:r>
                        <a:rPr sz="1100" b="0" i="1">
                          <a:solidFill>
                            <a:srgbClr val="000000"/>
                          </a:solidFill>
                          <a:latin typeface="Calibri"/>
                        </a:rPr>
                        <a:t>Rest of GCC</a:t>
                      </a:r>
                      <a:endParaRPr sz="1100"/>
                    </a:p>
                  </a:txBody>
                  <a:tcPr marL="1028700" marR="9525" marT="9525" marB="0" anchor="ctr"/>
                </a:tc>
              </a:tr>
              <a:tr h="175260">
                <a:tc>
                  <a:txBody>
                    <a:bodyPr wrap="square"/>
                    <a:lstStyle/>
                    <a:p>
                      <a:pPr algn="l"/>
                      <a:r>
                        <a:rPr sz="1100" b="0" i="1">
                          <a:solidFill>
                            <a:srgbClr val="000000"/>
                          </a:solidFill>
                          <a:latin typeface="Calibri"/>
                        </a:rPr>
                        <a:t>13.4.6.6.</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13.4.6.7.</a:t>
                      </a:r>
                      <a:r>
                        <a:rPr sz="700" b="0" i="1">
                          <a:solidFill>
                            <a:srgbClr val="000000"/>
                          </a:solidFill>
                          <a:latin typeface="Times New Roman"/>
                        </a:rPr>
                        <a:t> </a:t>
                      </a:r>
                      <a:r>
                        <a:rPr sz="1100" b="0" i="1">
                          <a:solidFill>
                            <a:srgbClr val="000000"/>
                          </a:solidFill>
                          <a:latin typeface="Calibri"/>
                        </a:rPr>
                        <a:t>Rest of MEA</a:t>
                      </a:r>
                      <a:endParaRPr sz="1100"/>
                    </a:p>
                  </a:txBody>
                  <a:tcPr marL="1028700" marR="9525" marT="9525" marB="0" anchor="ctr"/>
                </a:tc>
              </a:tr>
              <a:tr h="175260">
                <a:tc>
                  <a:txBody>
                    <a:bodyPr wrap="square"/>
                    <a:lstStyle/>
                    <a:p>
                      <a:pPr algn="l"/>
                      <a:r>
                        <a:rPr sz="1100" b="0" i="1">
                          <a:solidFill>
                            <a:srgbClr val="EE0000"/>
                          </a:solidFill>
                          <a:latin typeface="Calibri"/>
                        </a:rPr>
                        <a:t>Note: Value &amp; Volume (US$ Mn /Units) for all segments will be provided for each region/ Country</a:t>
                      </a:r>
                      <a:endParaRPr sz="1100"/>
                    </a:p>
                  </a:txBody>
                  <a:tcPr marL="9525" marR="9525" marT="9525" marB="0" anchor="ctr"/>
                </a:tc>
              </a:tr>
              <a:tr h="175260">
                <a:tc>
                  <a:txBody>
                    <a:bodyPr wrap="square"/>
                    <a:lstStyle/>
                    <a:p>
                      <a:pPr algn="l"/>
                      <a:r>
                        <a:rPr sz="1100" b="1" i="0">
                          <a:solidFill>
                            <a:srgbClr val="000000"/>
                          </a:solidFill>
                          <a:latin typeface="Calibri"/>
                        </a:rPr>
                        <a:t>Section 2: Regional and Country Market Outlook</a:t>
                      </a:r>
                      <a:endParaRPr sz="1100"/>
                    </a:p>
                  </a:txBody>
                  <a:tcPr marL="95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Cross-sectional Assessment</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Company × Allergen Class</a:t>
                      </a:r>
                      <a:endParaRPr sz="1100"/>
                    </a:p>
                  </a:txBody>
                  <a:tcPr marL="428625" marR="9525" marT="9525" marB="0" anchor="ctr"/>
                </a:tc>
              </a:tr>
              <a:tr h="17526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Company × Therapy Format</a:t>
                      </a:r>
                      <a:endParaRPr sz="1100"/>
                    </a:p>
                  </a:txBody>
                  <a:tcPr marL="428625" marR="9525" marT="9525" marB="0" anchor="ctr"/>
                </a:tc>
              </a:tr>
              <a:tr h="17526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Company × Allergen Preparation Technology</a:t>
                      </a:r>
                      <a:endParaRPr sz="1100"/>
                    </a:p>
                  </a:txBody>
                  <a:tcPr marL="4286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North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(4/6)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15.3.1.</a:t>
                      </a:r>
                      <a:r>
                        <a:rPr sz="700" b="0" i="0">
                          <a:solidFill>
                            <a:srgbClr val="000000"/>
                          </a:solidFill>
                          <a:latin typeface="Times New Roman"/>
                        </a:rPr>
                        <a:t> </a:t>
                      </a:r>
                      <a:r>
                        <a:rPr sz="1100" b="0" i="0">
                          <a:solidFill>
                            <a:srgbClr val="000000"/>
                          </a:solidFill>
                          <a:latin typeface="Calibri"/>
                        </a:rPr>
                        <a:t>By Therapy Format</a:t>
                      </a:r>
                      <a:endParaRPr sz="1100"/>
                    </a:p>
                  </a:txBody>
                  <a:tcPr marL="771525" marR="9525" marT="9525" marB="0" anchor="ctr"/>
                </a:tc>
              </a:tr>
              <a:tr h="175260">
                <a:tc>
                  <a:txBody>
                    <a:bodyPr wrap="square"/>
                    <a:lstStyle/>
                    <a:p>
                      <a:pPr algn="l"/>
                      <a:r>
                        <a:rPr sz="1100" b="0" i="0">
                          <a:solidFill>
                            <a:srgbClr val="000000"/>
                          </a:solidFill>
                          <a:latin typeface="Calibri"/>
                        </a:rPr>
                        <a:t>15.3.2.</a:t>
                      </a:r>
                      <a:r>
                        <a:rPr sz="700" b="0" i="0">
                          <a:solidFill>
                            <a:srgbClr val="000000"/>
                          </a:solidFill>
                          <a:latin typeface="Times New Roman"/>
                        </a:rPr>
                        <a:t> </a:t>
                      </a:r>
                      <a:r>
                        <a:rPr sz="1100" b="0" i="0">
                          <a:solidFill>
                            <a:srgbClr val="000000"/>
                          </a:solidFill>
                          <a:latin typeface="Calibri"/>
                        </a:rPr>
                        <a:t>By Allergen Class</a:t>
                      </a:r>
                      <a:endParaRPr sz="1100"/>
                    </a:p>
                  </a:txBody>
                  <a:tcPr marL="771525" marR="9525" marT="9525" marB="0" anchor="ctr"/>
                </a:tc>
              </a:tr>
              <a:tr h="175260">
                <a:tc>
                  <a:txBody>
                    <a:bodyPr wrap="square"/>
                    <a:lstStyle/>
                    <a:p>
                      <a:pPr algn="l"/>
                      <a:r>
                        <a:rPr sz="1100" b="0" i="0">
                          <a:solidFill>
                            <a:srgbClr val="000000"/>
                          </a:solidFill>
                          <a:latin typeface="Calibri"/>
                        </a:rPr>
                        <a:t>15.3.3.</a:t>
                      </a:r>
                      <a:r>
                        <a:rPr sz="700" b="0" i="0">
                          <a:solidFill>
                            <a:srgbClr val="000000"/>
                          </a:solidFill>
                          <a:latin typeface="Times New Roman"/>
                        </a:rPr>
                        <a:t> </a:t>
                      </a:r>
                      <a:r>
                        <a:rPr sz="1100" b="0" i="0">
                          <a:solidFill>
                            <a:srgbClr val="000000"/>
                          </a:solidFill>
                          <a:latin typeface="Calibri"/>
                        </a:rPr>
                        <a:t>By Commercial Product Model</a:t>
                      </a:r>
                      <a:endParaRPr sz="1100"/>
                    </a:p>
                  </a:txBody>
                  <a:tcPr marL="771525" marR="9525" marT="9525" marB="0" anchor="ctr"/>
                </a:tc>
              </a:tr>
              <a:tr h="175260">
                <a:tc>
                  <a:txBody>
                    <a:bodyPr wrap="square"/>
                    <a:lstStyle/>
                    <a:p>
                      <a:pPr algn="l"/>
                      <a:r>
                        <a:rPr sz="1100" b="0" i="0">
                          <a:solidFill>
                            <a:srgbClr val="000000"/>
                          </a:solidFill>
                          <a:latin typeface="Calibri"/>
                        </a:rPr>
                        <a:t>15.3.4.</a:t>
                      </a:r>
                      <a:r>
                        <a:rPr sz="700" b="0" i="0">
                          <a:solidFill>
                            <a:srgbClr val="000000"/>
                          </a:solidFill>
                          <a:latin typeface="Times New Roman"/>
                        </a:rPr>
                        <a:t> </a:t>
                      </a:r>
                      <a:r>
                        <a:rPr sz="1100" b="0" i="0">
                          <a:solidFill>
                            <a:srgbClr val="000000"/>
                          </a:solidFill>
                          <a:latin typeface="Calibri"/>
                        </a:rPr>
                        <a:t>By Allergen Preparation Technology</a:t>
                      </a:r>
                      <a:endParaRPr sz="1100"/>
                    </a:p>
                  </a:txBody>
                  <a:tcPr marL="771525" marR="9525" marT="9525" marB="0" anchor="ctr"/>
                </a:tc>
              </a:tr>
              <a:tr h="175260">
                <a:tc>
                  <a:txBody>
                    <a:bodyPr wrap="square"/>
                    <a:lstStyle/>
                    <a:p>
                      <a:pPr algn="l"/>
                      <a:r>
                        <a:rPr sz="1100" b="0" i="0">
                          <a:solidFill>
                            <a:srgbClr val="000000"/>
                          </a:solidFill>
                          <a:latin typeface="Calibri"/>
                        </a:rPr>
                        <a:t>15.3.5.</a:t>
                      </a:r>
                      <a:r>
                        <a:rPr sz="700" b="0" i="0">
                          <a:solidFill>
                            <a:srgbClr val="000000"/>
                          </a:solidFill>
                          <a:latin typeface="Times New Roman"/>
                        </a:rPr>
                        <a:t> </a:t>
                      </a:r>
                      <a:r>
                        <a:rPr sz="1100" b="0" i="0">
                          <a:solidFill>
                            <a:srgbClr val="000000"/>
                          </a:solidFill>
                          <a:latin typeface="Calibri"/>
                        </a:rPr>
                        <a:t>By Allergen Composition</a:t>
                      </a:r>
                      <a:endParaRPr sz="1100"/>
                    </a:p>
                  </a:txBody>
                  <a:tcPr marL="771525" marR="9525" marT="9525" marB="0" anchor="ctr"/>
                </a:tc>
              </a:tr>
              <a:tr h="175260">
                <a:tc>
                  <a:txBody>
                    <a:bodyPr wrap="square"/>
                    <a:lstStyle/>
                    <a:p>
                      <a:pPr algn="l"/>
                      <a:r>
                        <a:rPr sz="1100" b="0" i="0">
                          <a:solidFill>
                            <a:srgbClr val="000000"/>
                          </a:solidFill>
                          <a:latin typeface="Calibri"/>
                        </a:rPr>
                        <a:t>15.3.6.</a:t>
                      </a:r>
                      <a:r>
                        <a:rPr sz="700" b="0" i="0">
                          <a:solidFill>
                            <a:srgbClr val="000000"/>
                          </a:solidFill>
                          <a:latin typeface="Times New Roman"/>
                        </a:rPr>
                        <a:t> </a:t>
                      </a:r>
                      <a:r>
                        <a:rPr sz="1100" b="0" i="0">
                          <a:solidFill>
                            <a:srgbClr val="000000"/>
                          </a:solidFill>
                          <a:latin typeface="Calibri"/>
                        </a:rPr>
                        <a:t>By Sales / Procurement Channel</a:t>
                      </a:r>
                      <a:endParaRPr sz="1100"/>
                    </a:p>
                  </a:txBody>
                  <a:tcPr marL="771525" marR="9525" marT="9525" marB="0" anchor="ctr"/>
                </a:tc>
              </a:tr>
              <a:tr h="175260">
                <a:tc>
                  <a:txBody>
                    <a:bodyPr wrap="square"/>
                    <a:lstStyle/>
                    <a:p>
                      <a:pPr algn="l"/>
                      <a:r>
                        <a:rPr sz="1100" b="0" i="0">
                          <a:solidFill>
                            <a:srgbClr val="000000"/>
                          </a:solidFill>
                          <a:latin typeface="Calibri"/>
                        </a:rPr>
                        <a:t>15.3.7.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Latin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16.3.1.</a:t>
                      </a:r>
                      <a:r>
                        <a:rPr sz="700" b="0" i="0">
                          <a:solidFill>
                            <a:srgbClr val="000000"/>
                          </a:solidFill>
                          <a:latin typeface="Times New Roman"/>
                        </a:rPr>
                        <a:t> </a:t>
                      </a:r>
                      <a:r>
                        <a:rPr sz="1100" b="0" i="0">
                          <a:solidFill>
                            <a:srgbClr val="000000"/>
                          </a:solidFill>
                          <a:latin typeface="Calibri"/>
                        </a:rPr>
                        <a:t>By Therapy Format</a:t>
                      </a:r>
                      <a:endParaRPr sz="1100"/>
                    </a:p>
                  </a:txBody>
                  <a:tcPr marL="771525" marR="9525" marT="9525" marB="0" anchor="ctr"/>
                </a:tc>
              </a:tr>
              <a:tr h="175260">
                <a:tc>
                  <a:txBody>
                    <a:bodyPr wrap="square"/>
                    <a:lstStyle/>
                    <a:p>
                      <a:pPr algn="l"/>
                      <a:r>
                        <a:rPr sz="1100" b="0" i="0">
                          <a:solidFill>
                            <a:srgbClr val="000000"/>
                          </a:solidFill>
                          <a:latin typeface="Calibri"/>
                        </a:rPr>
                        <a:t>16.3.2.</a:t>
                      </a:r>
                      <a:r>
                        <a:rPr sz="700" b="0" i="0">
                          <a:solidFill>
                            <a:srgbClr val="000000"/>
                          </a:solidFill>
                          <a:latin typeface="Times New Roman"/>
                        </a:rPr>
                        <a:t> </a:t>
                      </a:r>
                      <a:r>
                        <a:rPr sz="1100" b="0" i="0">
                          <a:solidFill>
                            <a:srgbClr val="000000"/>
                          </a:solidFill>
                          <a:latin typeface="Calibri"/>
                        </a:rPr>
                        <a:t>By Allergen Class</a:t>
                      </a:r>
                      <a:endParaRPr sz="1100"/>
                    </a:p>
                  </a:txBody>
                  <a:tcPr marL="771525" marR="9525" marT="9525" marB="0" anchor="ctr"/>
                </a:tc>
              </a:tr>
              <a:tr h="175260">
                <a:tc>
                  <a:txBody>
                    <a:bodyPr wrap="square"/>
                    <a:lstStyle/>
                    <a:p>
                      <a:pPr algn="l"/>
                      <a:r>
                        <a:rPr sz="1100" b="0" i="0">
                          <a:solidFill>
                            <a:srgbClr val="000000"/>
                          </a:solidFill>
                          <a:latin typeface="Calibri"/>
                        </a:rPr>
                        <a:t>16.3.3.</a:t>
                      </a:r>
                      <a:r>
                        <a:rPr sz="700" b="0" i="0">
                          <a:solidFill>
                            <a:srgbClr val="000000"/>
                          </a:solidFill>
                          <a:latin typeface="Times New Roman"/>
                        </a:rPr>
                        <a:t> </a:t>
                      </a:r>
                      <a:r>
                        <a:rPr sz="1100" b="0" i="0">
                          <a:solidFill>
                            <a:srgbClr val="000000"/>
                          </a:solidFill>
                          <a:latin typeface="Calibri"/>
                        </a:rPr>
                        <a:t>By Commercial Product Model</a:t>
                      </a:r>
                      <a:endParaRPr sz="1100"/>
                    </a:p>
                  </a:txBody>
                  <a:tcPr marL="771525" marR="9525" marT="9525" marB="0" anchor="ctr"/>
                </a:tc>
              </a:tr>
              <a:tr h="175260">
                <a:tc>
                  <a:txBody>
                    <a:bodyPr wrap="square"/>
                    <a:lstStyle/>
                    <a:p>
                      <a:pPr algn="l"/>
                      <a:r>
                        <a:rPr sz="1100" b="0" i="0">
                          <a:solidFill>
                            <a:srgbClr val="000000"/>
                          </a:solidFill>
                          <a:latin typeface="Calibri"/>
                        </a:rPr>
                        <a:t>16.3.4.</a:t>
                      </a:r>
                      <a:r>
                        <a:rPr sz="700" b="0" i="0">
                          <a:solidFill>
                            <a:srgbClr val="000000"/>
                          </a:solidFill>
                          <a:latin typeface="Times New Roman"/>
                        </a:rPr>
                        <a:t> </a:t>
                      </a:r>
                      <a:r>
                        <a:rPr sz="1100" b="0" i="0">
                          <a:solidFill>
                            <a:srgbClr val="000000"/>
                          </a:solidFill>
                          <a:latin typeface="Calibri"/>
                        </a:rPr>
                        <a:t>By Allergen Preparation Technology</a:t>
                      </a:r>
                      <a:endParaRPr sz="1100"/>
                    </a:p>
                  </a:txBody>
                  <a:tcPr marL="771525" marR="9525" marT="9525" marB="0" anchor="ctr"/>
                </a:tc>
              </a:tr>
              <a:tr h="175260">
                <a:tc>
                  <a:txBody>
                    <a:bodyPr wrap="square"/>
                    <a:lstStyle/>
                    <a:p>
                      <a:pPr algn="l"/>
                      <a:r>
                        <a:rPr sz="1100" b="0" i="0">
                          <a:solidFill>
                            <a:srgbClr val="000000"/>
                          </a:solidFill>
                          <a:latin typeface="Calibri"/>
                        </a:rPr>
                        <a:t>16.3.5.</a:t>
                      </a:r>
                      <a:r>
                        <a:rPr sz="700" b="0" i="0">
                          <a:solidFill>
                            <a:srgbClr val="000000"/>
                          </a:solidFill>
                          <a:latin typeface="Times New Roman"/>
                        </a:rPr>
                        <a:t> </a:t>
                      </a:r>
                      <a:r>
                        <a:rPr sz="1100" b="0" i="0">
                          <a:solidFill>
                            <a:srgbClr val="000000"/>
                          </a:solidFill>
                          <a:latin typeface="Calibri"/>
                        </a:rPr>
                        <a:t>By Allergen Composition</a:t>
                      </a:r>
                      <a:endParaRPr sz="1100"/>
                    </a:p>
                  </a:txBody>
                  <a:tcPr marL="771525" marR="9525" marT="9525" marB="0" anchor="ctr"/>
                </a:tc>
              </a:tr>
              <a:tr h="175260">
                <a:tc>
                  <a:txBody>
                    <a:bodyPr wrap="square"/>
                    <a:lstStyle/>
                    <a:p>
                      <a:pPr algn="l"/>
                      <a:r>
                        <a:rPr sz="1100" b="0" i="0">
                          <a:solidFill>
                            <a:srgbClr val="000000"/>
                          </a:solidFill>
                          <a:latin typeface="Calibri"/>
                        </a:rPr>
                        <a:t>16.3.6.</a:t>
                      </a:r>
                      <a:r>
                        <a:rPr sz="700" b="0" i="0">
                          <a:solidFill>
                            <a:srgbClr val="000000"/>
                          </a:solidFill>
                          <a:latin typeface="Times New Roman"/>
                        </a:rPr>
                        <a:t> </a:t>
                      </a:r>
                      <a:r>
                        <a:rPr sz="1100" b="0" i="0">
                          <a:solidFill>
                            <a:srgbClr val="000000"/>
                          </a:solidFill>
                          <a:latin typeface="Calibri"/>
                        </a:rPr>
                        <a:t>By Sales / Procurement Channel</a:t>
                      </a:r>
                      <a:endParaRPr sz="1100"/>
                    </a:p>
                  </a:txBody>
                  <a:tcPr marL="771525" marR="9525" marT="9525" marB="0" anchor="ctr"/>
                </a:tc>
              </a:tr>
              <a:tr h="175260">
                <a:tc>
                  <a:txBody>
                    <a:bodyPr wrap="square"/>
                    <a:lstStyle/>
                    <a:p>
                      <a:pPr algn="l"/>
                      <a:r>
                        <a:rPr sz="1100" b="0" i="0">
                          <a:solidFill>
                            <a:srgbClr val="000000"/>
                          </a:solidFill>
                          <a:latin typeface="Calibri"/>
                        </a:rPr>
                        <a:t>16.3.7.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Europe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17.3.1.</a:t>
                      </a:r>
                      <a:r>
                        <a:rPr sz="700" b="0" i="0">
                          <a:solidFill>
                            <a:srgbClr val="000000"/>
                          </a:solidFill>
                          <a:latin typeface="Times New Roman"/>
                        </a:rPr>
                        <a:t> </a:t>
                      </a:r>
                      <a:r>
                        <a:rPr sz="1100" b="0" i="0">
                          <a:solidFill>
                            <a:srgbClr val="000000"/>
                          </a:solidFill>
                          <a:latin typeface="Calibri"/>
                        </a:rPr>
                        <a:t>By Therapy Format</a:t>
                      </a:r>
                      <a:endParaRPr sz="1100"/>
                    </a:p>
                  </a:txBody>
                  <a:tcPr marL="771525" marR="9525" marT="9525" marB="0" anchor="ctr"/>
                </a:tc>
              </a:tr>
              <a:tr h="175260">
                <a:tc>
                  <a:txBody>
                    <a:bodyPr wrap="square"/>
                    <a:lstStyle/>
                    <a:p>
                      <a:pPr algn="l"/>
                      <a:r>
                        <a:rPr sz="1100" b="0" i="0">
                          <a:solidFill>
                            <a:srgbClr val="000000"/>
                          </a:solidFill>
                          <a:latin typeface="Calibri"/>
                        </a:rPr>
                        <a:t>17.3.2.</a:t>
                      </a:r>
                      <a:r>
                        <a:rPr sz="700" b="0" i="0">
                          <a:solidFill>
                            <a:srgbClr val="000000"/>
                          </a:solidFill>
                          <a:latin typeface="Times New Roman"/>
                        </a:rPr>
                        <a:t> </a:t>
                      </a:r>
                      <a:r>
                        <a:rPr sz="1100" b="0" i="0">
                          <a:solidFill>
                            <a:srgbClr val="000000"/>
                          </a:solidFill>
                          <a:latin typeface="Calibri"/>
                        </a:rPr>
                        <a:t>By Allergen Class</a:t>
                      </a:r>
                      <a:endParaRPr sz="1100"/>
                    </a:p>
                  </a:txBody>
                  <a:tcPr marL="771525" marR="9525" marT="9525" marB="0" anchor="ctr"/>
                </a:tc>
              </a:tr>
              <a:tr h="175260">
                <a:tc>
                  <a:txBody>
                    <a:bodyPr wrap="square"/>
                    <a:lstStyle/>
                    <a:p>
                      <a:pPr algn="l"/>
                      <a:r>
                        <a:rPr sz="1100" b="0" i="0">
                          <a:solidFill>
                            <a:srgbClr val="000000"/>
                          </a:solidFill>
                          <a:latin typeface="Calibri"/>
                        </a:rPr>
                        <a:t>17.3.3.</a:t>
                      </a:r>
                      <a:r>
                        <a:rPr sz="700" b="0" i="0">
                          <a:solidFill>
                            <a:srgbClr val="000000"/>
                          </a:solidFill>
                          <a:latin typeface="Times New Roman"/>
                        </a:rPr>
                        <a:t> </a:t>
                      </a:r>
                      <a:r>
                        <a:rPr sz="1100" b="0" i="0">
                          <a:solidFill>
                            <a:srgbClr val="000000"/>
                          </a:solidFill>
                          <a:latin typeface="Calibri"/>
                        </a:rPr>
                        <a:t>By Commercial Product Model</a:t>
                      </a:r>
                      <a:endParaRPr sz="1100"/>
                    </a:p>
                  </a:txBody>
                  <a:tcPr marL="771525" marR="9525" marT="9525" marB="0" anchor="ctr"/>
                </a:tc>
              </a:tr>
              <a:tr h="175260">
                <a:tc>
                  <a:txBody>
                    <a:bodyPr wrap="square"/>
                    <a:lstStyle/>
                    <a:p>
                      <a:pPr algn="l"/>
                      <a:r>
                        <a:rPr sz="1100" b="0" i="0">
                          <a:solidFill>
                            <a:srgbClr val="000000"/>
                          </a:solidFill>
                          <a:latin typeface="Calibri"/>
                        </a:rPr>
                        <a:t>17.3.4.</a:t>
                      </a:r>
                      <a:r>
                        <a:rPr sz="700" b="0" i="0">
                          <a:solidFill>
                            <a:srgbClr val="000000"/>
                          </a:solidFill>
                          <a:latin typeface="Times New Roman"/>
                        </a:rPr>
                        <a:t> </a:t>
                      </a:r>
                      <a:r>
                        <a:rPr sz="1100" b="0" i="0">
                          <a:solidFill>
                            <a:srgbClr val="000000"/>
                          </a:solidFill>
                          <a:latin typeface="Calibri"/>
                        </a:rPr>
                        <a:t>By Allergen Preparation Technology</a:t>
                      </a:r>
                      <a:endParaRPr sz="1100"/>
                    </a:p>
                  </a:txBody>
                  <a:tcPr marL="771525" marR="9525" marT="9525" marB="0" anchor="ctr"/>
                </a:tc>
              </a:tr>
              <a:tr h="175260">
                <a:tc>
                  <a:txBody>
                    <a:bodyPr wrap="square"/>
                    <a:lstStyle/>
                    <a:p>
                      <a:pPr algn="l"/>
                      <a:r>
                        <a:rPr sz="1100" b="0" i="0">
                          <a:solidFill>
                            <a:srgbClr val="000000"/>
                          </a:solidFill>
                          <a:latin typeface="Calibri"/>
                        </a:rPr>
                        <a:t>17.3.5.</a:t>
                      </a:r>
                      <a:r>
                        <a:rPr sz="700" b="0" i="0">
                          <a:solidFill>
                            <a:srgbClr val="000000"/>
                          </a:solidFill>
                          <a:latin typeface="Times New Roman"/>
                        </a:rPr>
                        <a:t> </a:t>
                      </a:r>
                      <a:r>
                        <a:rPr sz="1100" b="0" i="0">
                          <a:solidFill>
                            <a:srgbClr val="000000"/>
                          </a:solidFill>
                          <a:latin typeface="Calibri"/>
                        </a:rPr>
                        <a:t>By Allergen Composition</a:t>
                      </a:r>
                      <a:endParaRPr sz="1100"/>
                    </a:p>
                  </a:txBody>
                  <a:tcPr marL="771525" marR="9525" marT="9525" marB="0" anchor="ctr"/>
                </a:tc>
              </a:tr>
              <a:tr h="175260">
                <a:tc>
                  <a:txBody>
                    <a:bodyPr wrap="square"/>
                    <a:lstStyle/>
                    <a:p>
                      <a:pPr algn="l"/>
                      <a:r>
                        <a:rPr sz="1100" b="0" i="0">
                          <a:solidFill>
                            <a:srgbClr val="000000"/>
                          </a:solidFill>
                          <a:latin typeface="Calibri"/>
                        </a:rPr>
                        <a:t>17.3.6.</a:t>
                      </a:r>
                      <a:r>
                        <a:rPr sz="700" b="0" i="0">
                          <a:solidFill>
                            <a:srgbClr val="000000"/>
                          </a:solidFill>
                          <a:latin typeface="Times New Roman"/>
                        </a:rPr>
                        <a:t> </a:t>
                      </a:r>
                      <a:r>
                        <a:rPr sz="1100" b="0" i="0">
                          <a:solidFill>
                            <a:srgbClr val="000000"/>
                          </a:solidFill>
                          <a:latin typeface="Calibri"/>
                        </a:rPr>
                        <a:t>By Sales / Procurement Channel</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17.3.7.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East Asia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18.3.1.</a:t>
                      </a:r>
                      <a:r>
                        <a:rPr sz="700" b="0" i="0">
                          <a:solidFill>
                            <a:srgbClr val="000000"/>
                          </a:solidFill>
                          <a:latin typeface="Times New Roman"/>
                        </a:rPr>
                        <a:t> </a:t>
                      </a:r>
                      <a:r>
                        <a:rPr sz="1100" b="0" i="0">
                          <a:solidFill>
                            <a:srgbClr val="000000"/>
                          </a:solidFill>
                          <a:latin typeface="Calibri"/>
                        </a:rPr>
                        <a:t>By Therapy Format</a:t>
                      </a:r>
                      <a:endParaRPr sz="1100"/>
                    </a:p>
                  </a:txBody>
                  <a:tcPr marL="771525" marR="9525" marT="9525" marB="0" anchor="ctr"/>
                </a:tc>
              </a:tr>
              <a:tr h="175260">
                <a:tc>
                  <a:txBody>
                    <a:bodyPr wrap="square"/>
                    <a:lstStyle/>
                    <a:p>
                      <a:pPr algn="l"/>
                      <a:r>
                        <a:rPr sz="1100" b="0" i="0">
                          <a:solidFill>
                            <a:srgbClr val="000000"/>
                          </a:solidFill>
                          <a:latin typeface="Calibri"/>
                        </a:rPr>
                        <a:t>18.3.2.</a:t>
                      </a:r>
                      <a:r>
                        <a:rPr sz="700" b="0" i="0">
                          <a:solidFill>
                            <a:srgbClr val="000000"/>
                          </a:solidFill>
                          <a:latin typeface="Times New Roman"/>
                        </a:rPr>
                        <a:t> </a:t>
                      </a:r>
                      <a:r>
                        <a:rPr sz="1100" b="0" i="0">
                          <a:solidFill>
                            <a:srgbClr val="000000"/>
                          </a:solidFill>
                          <a:latin typeface="Calibri"/>
                        </a:rPr>
                        <a:t>By Allergen Class</a:t>
                      </a:r>
                      <a:endParaRPr sz="1100"/>
                    </a:p>
                  </a:txBody>
                  <a:tcPr marL="771525" marR="9525" marT="9525" marB="0" anchor="ctr"/>
                </a:tc>
              </a:tr>
              <a:tr h="175260">
                <a:tc>
                  <a:txBody>
                    <a:bodyPr wrap="square"/>
                    <a:lstStyle/>
                    <a:p>
                      <a:pPr algn="l"/>
                      <a:r>
                        <a:rPr sz="1100" b="0" i="0">
                          <a:solidFill>
                            <a:srgbClr val="000000"/>
                          </a:solidFill>
                          <a:latin typeface="Calibri"/>
                        </a:rPr>
                        <a:t>18.3.3.</a:t>
                      </a:r>
                      <a:r>
                        <a:rPr sz="700" b="0" i="0">
                          <a:solidFill>
                            <a:srgbClr val="000000"/>
                          </a:solidFill>
                          <a:latin typeface="Times New Roman"/>
                        </a:rPr>
                        <a:t> </a:t>
                      </a:r>
                      <a:r>
                        <a:rPr sz="1100" b="0" i="0">
                          <a:solidFill>
                            <a:srgbClr val="000000"/>
                          </a:solidFill>
                          <a:latin typeface="Calibri"/>
                        </a:rPr>
                        <a:t>By Commercial Product Model</a:t>
                      </a:r>
                      <a:endParaRPr sz="1100"/>
                    </a:p>
                  </a:txBody>
                  <a:tcPr marL="771525" marR="9525" marT="9525" marB="0" anchor="ctr"/>
                </a:tc>
              </a:tr>
              <a:tr h="175260">
                <a:tc>
                  <a:txBody>
                    <a:bodyPr wrap="square"/>
                    <a:lstStyle/>
                    <a:p>
                      <a:pPr algn="l"/>
                      <a:r>
                        <a:rPr sz="1100" b="0" i="0">
                          <a:solidFill>
                            <a:srgbClr val="000000"/>
                          </a:solidFill>
                          <a:latin typeface="Calibri"/>
                        </a:rPr>
                        <a:t>18.3.4.</a:t>
                      </a:r>
                      <a:r>
                        <a:rPr sz="700" b="0" i="0">
                          <a:solidFill>
                            <a:srgbClr val="000000"/>
                          </a:solidFill>
                          <a:latin typeface="Times New Roman"/>
                        </a:rPr>
                        <a:t> </a:t>
                      </a:r>
                      <a:r>
                        <a:rPr sz="1100" b="0" i="0">
                          <a:solidFill>
                            <a:srgbClr val="000000"/>
                          </a:solidFill>
                          <a:latin typeface="Calibri"/>
                        </a:rPr>
                        <a:t>By Allergen Preparation Technology</a:t>
                      </a:r>
                      <a:endParaRPr sz="1100"/>
                    </a:p>
                  </a:txBody>
                  <a:tcPr marL="771525" marR="9525" marT="9525" marB="0" anchor="ctr"/>
                </a:tc>
              </a:tr>
              <a:tr h="175260">
                <a:tc>
                  <a:txBody>
                    <a:bodyPr wrap="square"/>
                    <a:lstStyle/>
                    <a:p>
                      <a:pPr algn="l"/>
                      <a:r>
                        <a:rPr sz="1100" b="0" i="0">
                          <a:solidFill>
                            <a:srgbClr val="000000"/>
                          </a:solidFill>
                          <a:latin typeface="Calibri"/>
                        </a:rPr>
                        <a:t>18.3.5.</a:t>
                      </a:r>
                      <a:r>
                        <a:rPr sz="700" b="0" i="0">
                          <a:solidFill>
                            <a:srgbClr val="000000"/>
                          </a:solidFill>
                          <a:latin typeface="Times New Roman"/>
                        </a:rPr>
                        <a:t> </a:t>
                      </a:r>
                      <a:r>
                        <a:rPr sz="1100" b="0" i="0">
                          <a:solidFill>
                            <a:srgbClr val="000000"/>
                          </a:solidFill>
                          <a:latin typeface="Calibri"/>
                        </a:rPr>
                        <a:t>By Allergen Composition</a:t>
                      </a:r>
                      <a:endParaRPr sz="1100"/>
                    </a:p>
                  </a:txBody>
                  <a:tcPr marL="771525" marR="9525" marT="9525" marB="0" anchor="ctr"/>
                </a:tc>
              </a:tr>
              <a:tr h="175260">
                <a:tc>
                  <a:txBody>
                    <a:bodyPr wrap="square"/>
                    <a:lstStyle/>
                    <a:p>
                      <a:pPr algn="l"/>
                      <a:r>
                        <a:rPr sz="1100" b="0" i="0">
                          <a:solidFill>
                            <a:srgbClr val="000000"/>
                          </a:solidFill>
                          <a:latin typeface="Calibri"/>
                        </a:rPr>
                        <a:t>18.3.6.</a:t>
                      </a:r>
                      <a:r>
                        <a:rPr sz="700" b="0" i="0">
                          <a:solidFill>
                            <a:srgbClr val="000000"/>
                          </a:solidFill>
                          <a:latin typeface="Times New Roman"/>
                        </a:rPr>
                        <a:t> </a:t>
                      </a:r>
                      <a:r>
                        <a:rPr sz="1100" b="0" i="0">
                          <a:solidFill>
                            <a:srgbClr val="000000"/>
                          </a:solidFill>
                          <a:latin typeface="Calibri"/>
                        </a:rPr>
                        <a:t>By Sales / Procurement Channel</a:t>
                      </a:r>
                      <a:endParaRPr sz="1100"/>
                    </a:p>
                  </a:txBody>
                  <a:tcPr marL="771525" marR="9525" marT="9525" marB="0" anchor="ctr"/>
                </a:tc>
              </a:tr>
              <a:tr h="175260">
                <a:tc>
                  <a:txBody>
                    <a:bodyPr wrap="square"/>
                    <a:lstStyle/>
                    <a:p>
                      <a:pPr algn="l"/>
                      <a:r>
                        <a:rPr sz="1100" b="0" i="0">
                          <a:solidFill>
                            <a:srgbClr val="000000"/>
                          </a:solidFill>
                          <a:latin typeface="Calibri"/>
                        </a:rPr>
                        <a:t>18.3.7.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South Asia &amp; Pacific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19.3.1.</a:t>
                      </a:r>
                      <a:r>
                        <a:rPr sz="700" b="0" i="0">
                          <a:solidFill>
                            <a:srgbClr val="000000"/>
                          </a:solidFill>
                          <a:latin typeface="Times New Roman"/>
                        </a:rPr>
                        <a:t> </a:t>
                      </a:r>
                      <a:r>
                        <a:rPr sz="1100" b="0" i="0">
                          <a:solidFill>
                            <a:srgbClr val="000000"/>
                          </a:solidFill>
                          <a:latin typeface="Calibri"/>
                        </a:rPr>
                        <a:t>By Therapy Format</a:t>
                      </a:r>
                      <a:endParaRPr sz="1100"/>
                    </a:p>
                  </a:txBody>
                  <a:tcPr marL="771525" marR="9525" marT="9525" marB="0" anchor="ctr"/>
                </a:tc>
              </a:tr>
              <a:tr h="175260">
                <a:tc>
                  <a:txBody>
                    <a:bodyPr wrap="square"/>
                    <a:lstStyle/>
                    <a:p>
                      <a:pPr algn="l"/>
                      <a:r>
                        <a:rPr sz="1100" b="0" i="0">
                          <a:solidFill>
                            <a:srgbClr val="000000"/>
                          </a:solidFill>
                          <a:latin typeface="Calibri"/>
                        </a:rPr>
                        <a:t>19.3.2.</a:t>
                      </a:r>
                      <a:r>
                        <a:rPr sz="700" b="0" i="0">
                          <a:solidFill>
                            <a:srgbClr val="000000"/>
                          </a:solidFill>
                          <a:latin typeface="Times New Roman"/>
                        </a:rPr>
                        <a:t> </a:t>
                      </a:r>
                      <a:r>
                        <a:rPr sz="1100" b="0" i="0">
                          <a:solidFill>
                            <a:srgbClr val="000000"/>
                          </a:solidFill>
                          <a:latin typeface="Calibri"/>
                        </a:rPr>
                        <a:t>By Allergen Class</a:t>
                      </a:r>
                      <a:endParaRPr sz="1100"/>
                    </a:p>
                  </a:txBody>
                  <a:tcPr marL="771525" marR="9525" marT="9525" marB="0" anchor="ctr"/>
                </a:tc>
              </a:tr>
              <a:tr h="175260">
                <a:tc>
                  <a:txBody>
                    <a:bodyPr wrap="square"/>
                    <a:lstStyle/>
                    <a:p>
                      <a:pPr algn="l"/>
                      <a:r>
                        <a:rPr sz="1100" b="0" i="0">
                          <a:solidFill>
                            <a:srgbClr val="000000"/>
                          </a:solidFill>
                          <a:latin typeface="Calibri"/>
                        </a:rPr>
                        <a:t>19.3.3.</a:t>
                      </a:r>
                      <a:r>
                        <a:rPr sz="700" b="0" i="0">
                          <a:solidFill>
                            <a:srgbClr val="000000"/>
                          </a:solidFill>
                          <a:latin typeface="Times New Roman"/>
                        </a:rPr>
                        <a:t> </a:t>
                      </a:r>
                      <a:r>
                        <a:rPr sz="1100" b="0" i="0">
                          <a:solidFill>
                            <a:srgbClr val="000000"/>
                          </a:solidFill>
                          <a:latin typeface="Calibri"/>
                        </a:rPr>
                        <a:t>By Commercial Product Model</a:t>
                      </a:r>
                      <a:endParaRPr sz="1100"/>
                    </a:p>
                  </a:txBody>
                  <a:tcPr marL="771525" marR="9525" marT="9525" marB="0" anchor="ctr"/>
                </a:tc>
              </a:tr>
              <a:tr h="175260">
                <a:tc>
                  <a:txBody>
                    <a:bodyPr wrap="square"/>
                    <a:lstStyle/>
                    <a:p>
                      <a:pPr algn="l"/>
                      <a:r>
                        <a:rPr sz="1100" b="0" i="0">
                          <a:solidFill>
                            <a:srgbClr val="000000"/>
                          </a:solidFill>
                          <a:latin typeface="Calibri"/>
                        </a:rPr>
                        <a:t>19.3.4.</a:t>
                      </a:r>
                      <a:r>
                        <a:rPr sz="700" b="0" i="0">
                          <a:solidFill>
                            <a:srgbClr val="000000"/>
                          </a:solidFill>
                          <a:latin typeface="Times New Roman"/>
                        </a:rPr>
                        <a:t> </a:t>
                      </a:r>
                      <a:r>
                        <a:rPr sz="1100" b="0" i="0">
                          <a:solidFill>
                            <a:srgbClr val="000000"/>
                          </a:solidFill>
                          <a:latin typeface="Calibri"/>
                        </a:rPr>
                        <a:t>By Allergen Preparation Technology</a:t>
                      </a:r>
                      <a:endParaRPr sz="1100"/>
                    </a:p>
                  </a:txBody>
                  <a:tcPr marL="771525" marR="9525" marT="9525" marB="0" anchor="ctr"/>
                </a:tc>
              </a:tr>
              <a:tr h="175260">
                <a:tc>
                  <a:txBody>
                    <a:bodyPr wrap="square"/>
                    <a:lstStyle/>
                    <a:p>
                      <a:pPr algn="l"/>
                      <a:r>
                        <a:rPr sz="1100" b="0" i="0">
                          <a:solidFill>
                            <a:srgbClr val="000000"/>
                          </a:solidFill>
                          <a:latin typeface="Calibri"/>
                        </a:rPr>
                        <a:t>19.3.5.</a:t>
                      </a:r>
                      <a:r>
                        <a:rPr sz="700" b="0" i="0">
                          <a:solidFill>
                            <a:srgbClr val="000000"/>
                          </a:solidFill>
                          <a:latin typeface="Times New Roman"/>
                        </a:rPr>
                        <a:t> </a:t>
                      </a:r>
                      <a:r>
                        <a:rPr sz="1100" b="0" i="0">
                          <a:solidFill>
                            <a:srgbClr val="000000"/>
                          </a:solidFill>
                          <a:latin typeface="Calibri"/>
                        </a:rPr>
                        <a:t>By Allergen Composition</a:t>
                      </a:r>
                      <a:endParaRPr sz="1100"/>
                    </a:p>
                  </a:txBody>
                  <a:tcPr marL="771525" marR="9525" marT="9525" marB="0" anchor="ctr"/>
                </a:tc>
              </a:tr>
              <a:tr h="175260">
                <a:tc>
                  <a:txBody>
                    <a:bodyPr wrap="square"/>
                    <a:lstStyle/>
                    <a:p>
                      <a:pPr algn="l"/>
                      <a:r>
                        <a:rPr sz="1100" b="0" i="0">
                          <a:solidFill>
                            <a:srgbClr val="000000"/>
                          </a:solidFill>
                          <a:latin typeface="Calibri"/>
                        </a:rPr>
                        <a:t>19.3.6.</a:t>
                      </a:r>
                      <a:r>
                        <a:rPr sz="700" b="0" i="0">
                          <a:solidFill>
                            <a:srgbClr val="000000"/>
                          </a:solidFill>
                          <a:latin typeface="Times New Roman"/>
                        </a:rPr>
                        <a:t> </a:t>
                      </a:r>
                      <a:r>
                        <a:rPr sz="1100" b="0" i="0">
                          <a:solidFill>
                            <a:srgbClr val="000000"/>
                          </a:solidFill>
                          <a:latin typeface="Calibri"/>
                        </a:rPr>
                        <a:t>By Sales / Procurement Channel</a:t>
                      </a:r>
                      <a:endParaRPr sz="1100"/>
                    </a:p>
                  </a:txBody>
                  <a:tcPr marL="771525" marR="9525" marT="9525" marB="0" anchor="ctr"/>
                </a:tc>
              </a:tr>
              <a:tr h="175260">
                <a:tc>
                  <a:txBody>
                    <a:bodyPr wrap="square"/>
                    <a:lstStyle/>
                    <a:p>
                      <a:pPr algn="l"/>
                      <a:r>
                        <a:rPr sz="1100" b="0" i="0">
                          <a:solidFill>
                            <a:srgbClr val="000000"/>
                          </a:solidFill>
                          <a:latin typeface="Calibri"/>
                        </a:rPr>
                        <a:t>19.3.7.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Middle East &amp; Africa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20.3.1.</a:t>
                      </a:r>
                      <a:r>
                        <a:rPr sz="700" b="0" i="0">
                          <a:solidFill>
                            <a:srgbClr val="000000"/>
                          </a:solidFill>
                          <a:latin typeface="Times New Roman"/>
                        </a:rPr>
                        <a:t> </a:t>
                      </a:r>
                      <a:r>
                        <a:rPr sz="1100" b="0" i="0">
                          <a:solidFill>
                            <a:srgbClr val="000000"/>
                          </a:solidFill>
                          <a:latin typeface="Calibri"/>
                        </a:rPr>
                        <a:t>By Therapy Format</a:t>
                      </a:r>
                      <a:endParaRPr sz="1100"/>
                    </a:p>
                  </a:txBody>
                  <a:tcPr marL="771525" marR="9525" marT="9525" marB="0" anchor="ctr"/>
                </a:tc>
              </a:tr>
              <a:tr h="175260">
                <a:tc>
                  <a:txBody>
                    <a:bodyPr wrap="square"/>
                    <a:lstStyle/>
                    <a:p>
                      <a:pPr algn="l"/>
                      <a:r>
                        <a:rPr sz="1100" b="0" i="0">
                          <a:solidFill>
                            <a:srgbClr val="000000"/>
                          </a:solidFill>
                          <a:latin typeface="Calibri"/>
                        </a:rPr>
                        <a:t>20.3.2.</a:t>
                      </a:r>
                      <a:r>
                        <a:rPr sz="700" b="0" i="0">
                          <a:solidFill>
                            <a:srgbClr val="000000"/>
                          </a:solidFill>
                          <a:latin typeface="Times New Roman"/>
                        </a:rPr>
                        <a:t> </a:t>
                      </a:r>
                      <a:r>
                        <a:rPr sz="1100" b="0" i="0">
                          <a:solidFill>
                            <a:srgbClr val="000000"/>
                          </a:solidFill>
                          <a:latin typeface="Calibri"/>
                        </a:rPr>
                        <a:t>By Allergen Class</a:t>
                      </a:r>
                      <a:endParaRPr sz="1100"/>
                    </a:p>
                  </a:txBody>
                  <a:tcPr marL="771525" marR="9525" marT="9525" marB="0" anchor="ctr"/>
                </a:tc>
              </a:tr>
              <a:tr h="175260">
                <a:tc>
                  <a:txBody>
                    <a:bodyPr wrap="square"/>
                    <a:lstStyle/>
                    <a:p>
                      <a:pPr algn="l"/>
                      <a:r>
                        <a:rPr sz="1100" b="0" i="0">
                          <a:solidFill>
                            <a:srgbClr val="000000"/>
                          </a:solidFill>
                          <a:latin typeface="Calibri"/>
                        </a:rPr>
                        <a:t>20.3.3.</a:t>
                      </a:r>
                      <a:r>
                        <a:rPr sz="700" b="0" i="0">
                          <a:solidFill>
                            <a:srgbClr val="000000"/>
                          </a:solidFill>
                          <a:latin typeface="Times New Roman"/>
                        </a:rPr>
                        <a:t> </a:t>
                      </a:r>
                      <a:r>
                        <a:rPr sz="1100" b="0" i="0">
                          <a:solidFill>
                            <a:srgbClr val="000000"/>
                          </a:solidFill>
                          <a:latin typeface="Calibri"/>
                        </a:rPr>
                        <a:t>By Commercial Product Model</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(5/6)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20.3.4.</a:t>
                      </a:r>
                      <a:r>
                        <a:rPr sz="700" b="0" i="0">
                          <a:solidFill>
                            <a:srgbClr val="000000"/>
                          </a:solidFill>
                          <a:latin typeface="Times New Roman"/>
                        </a:rPr>
                        <a:t> </a:t>
                      </a:r>
                      <a:r>
                        <a:rPr sz="1100" b="0" i="0">
                          <a:solidFill>
                            <a:srgbClr val="000000"/>
                          </a:solidFill>
                          <a:latin typeface="Calibri"/>
                        </a:rPr>
                        <a:t>By Allergen Preparation Technology</a:t>
                      </a:r>
                      <a:endParaRPr sz="1100"/>
                    </a:p>
                  </a:txBody>
                  <a:tcPr marL="771525" marR="9525" marT="9525" marB="0" anchor="ctr"/>
                </a:tc>
              </a:tr>
              <a:tr h="175260">
                <a:tc>
                  <a:txBody>
                    <a:bodyPr wrap="square"/>
                    <a:lstStyle/>
                    <a:p>
                      <a:pPr algn="l"/>
                      <a:r>
                        <a:rPr sz="1100" b="0" i="0">
                          <a:solidFill>
                            <a:srgbClr val="000000"/>
                          </a:solidFill>
                          <a:latin typeface="Calibri"/>
                        </a:rPr>
                        <a:t>20.3.5.</a:t>
                      </a:r>
                      <a:r>
                        <a:rPr sz="700" b="0" i="0">
                          <a:solidFill>
                            <a:srgbClr val="000000"/>
                          </a:solidFill>
                          <a:latin typeface="Times New Roman"/>
                        </a:rPr>
                        <a:t> </a:t>
                      </a:r>
                      <a:r>
                        <a:rPr sz="1100" b="0" i="0">
                          <a:solidFill>
                            <a:srgbClr val="000000"/>
                          </a:solidFill>
                          <a:latin typeface="Calibri"/>
                        </a:rPr>
                        <a:t>By Allergen Composition</a:t>
                      </a:r>
                      <a:endParaRPr sz="1100"/>
                    </a:p>
                  </a:txBody>
                  <a:tcPr marL="771525" marR="9525" marT="9525" marB="0" anchor="ctr"/>
                </a:tc>
              </a:tr>
              <a:tr h="175260">
                <a:tc>
                  <a:txBody>
                    <a:bodyPr wrap="square"/>
                    <a:lstStyle/>
                    <a:p>
                      <a:pPr algn="l"/>
                      <a:r>
                        <a:rPr sz="1100" b="0" i="0">
                          <a:solidFill>
                            <a:srgbClr val="000000"/>
                          </a:solidFill>
                          <a:latin typeface="Calibri"/>
                        </a:rPr>
                        <a:t>20.3.6.</a:t>
                      </a:r>
                      <a:r>
                        <a:rPr sz="700" b="0" i="0">
                          <a:solidFill>
                            <a:srgbClr val="000000"/>
                          </a:solidFill>
                          <a:latin typeface="Times New Roman"/>
                        </a:rPr>
                        <a:t> </a:t>
                      </a:r>
                      <a:r>
                        <a:rPr sz="1100" b="0" i="0">
                          <a:solidFill>
                            <a:srgbClr val="000000"/>
                          </a:solidFill>
                          <a:latin typeface="Calibri"/>
                        </a:rPr>
                        <a:t>By Sales / Procurement Channel</a:t>
                      </a:r>
                      <a:endParaRPr sz="1100"/>
                    </a:p>
                  </a:txBody>
                  <a:tcPr marL="771525" marR="9525" marT="9525" marB="0" anchor="ctr"/>
                </a:tc>
              </a:tr>
              <a:tr h="175260">
                <a:tc>
                  <a:txBody>
                    <a:bodyPr wrap="square"/>
                    <a:lstStyle/>
                    <a:p>
                      <a:pPr algn="l"/>
                      <a:r>
                        <a:rPr sz="1100" b="0" i="0">
                          <a:solidFill>
                            <a:srgbClr val="000000"/>
                          </a:solidFill>
                          <a:latin typeface="Calibri"/>
                        </a:rPr>
                        <a:t>20.3.7.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Section 3: Pricing Assessment</a:t>
                      </a:r>
                      <a:endParaRPr sz="1100"/>
                    </a:p>
                  </a:txBody>
                  <a:tcPr marL="9525"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Global Pricing Analysis</a:t>
                      </a:r>
                      <a:endParaRPr sz="1100"/>
                    </a:p>
                  </a:txBody>
                  <a:tcPr marL="171450" marR="9525" marT="9525" marB="0" anchor="ctr"/>
                </a:tc>
              </a:tr>
              <a:tr h="17526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Regional Price Assessment</a:t>
                      </a:r>
                      <a:endParaRPr sz="1100"/>
                    </a:p>
                  </a:txBody>
                  <a:tcPr marL="428625" marR="9525" marT="9525" marB="0" anchor="ctr"/>
                </a:tc>
              </a:tr>
              <a:tr h="175260">
                <a:tc>
                  <a:txBody>
                    <a:bodyPr wrap="square"/>
                    <a:lstStyle/>
                    <a:p>
                      <a:pPr algn="l"/>
                      <a:r>
                        <a:rPr sz="1100" b="0" i="0">
                          <a:solidFill>
                            <a:srgbClr val="000000"/>
                          </a:solidFill>
                          <a:latin typeface="Calibri"/>
                        </a:rPr>
                        <a:t>21.1.1.</a:t>
                      </a:r>
                      <a:r>
                        <a:rPr sz="700" b="0" i="0">
                          <a:solidFill>
                            <a:srgbClr val="000000"/>
                          </a:solidFill>
                          <a:latin typeface="Times New Roman"/>
                        </a:rPr>
                        <a:t> </a:t>
                      </a:r>
                      <a:r>
                        <a:rPr sz="1100" b="0" i="0">
                          <a:solidFill>
                            <a:srgbClr val="000000"/>
                          </a:solidFill>
                          <a:latin typeface="Calibri"/>
                        </a:rPr>
                        <a:t>Manufacturer Level Pricing</a:t>
                      </a:r>
                      <a:endParaRPr sz="1100"/>
                    </a:p>
                  </a:txBody>
                  <a:tcPr marL="771525" marR="9525" marT="9525" marB="0" anchor="ctr"/>
                </a:tc>
              </a:tr>
              <a:tr h="175260">
                <a:tc>
                  <a:txBody>
                    <a:bodyPr wrap="square"/>
                    <a:lstStyle/>
                    <a:p>
                      <a:pPr algn="l"/>
                      <a:r>
                        <a:rPr sz="1100" b="0" i="0">
                          <a:solidFill>
                            <a:srgbClr val="000000"/>
                          </a:solidFill>
                          <a:latin typeface="Calibri"/>
                        </a:rPr>
                        <a:t>21.1.2.</a:t>
                      </a:r>
                      <a:r>
                        <a:rPr sz="700" b="0" i="0">
                          <a:solidFill>
                            <a:srgbClr val="000000"/>
                          </a:solidFill>
                          <a:latin typeface="Times New Roman"/>
                        </a:rPr>
                        <a:t> </a:t>
                      </a:r>
                      <a:r>
                        <a:rPr sz="1100" b="0" i="0">
                          <a:solidFill>
                            <a:srgbClr val="000000"/>
                          </a:solidFill>
                          <a:latin typeface="Calibri"/>
                        </a:rPr>
                        <a:t>Distributor Level Pricing</a:t>
                      </a:r>
                      <a:endParaRPr sz="1100"/>
                    </a:p>
                  </a:txBody>
                  <a:tcPr marL="771525" marR="9525" marT="9525" marB="0" anchor="ctr"/>
                </a:tc>
              </a:tr>
              <a:tr h="175260">
                <a:tc>
                  <a:txBody>
                    <a:bodyPr wrap="square"/>
                    <a:lstStyle/>
                    <a:p>
                      <a:pPr algn="l"/>
                      <a:r>
                        <a:rPr sz="1100" b="0" i="0">
                          <a:solidFill>
                            <a:srgbClr val="000000"/>
                          </a:solidFill>
                          <a:latin typeface="Calibri"/>
                        </a:rPr>
                        <a:t>21.1.3.</a:t>
                      </a:r>
                      <a:r>
                        <a:rPr sz="700" b="0" i="0">
                          <a:solidFill>
                            <a:srgbClr val="000000"/>
                          </a:solidFill>
                          <a:latin typeface="Times New Roman"/>
                        </a:rPr>
                        <a:t> </a:t>
                      </a:r>
                      <a:r>
                        <a:rPr sz="1100" b="0" i="0">
                          <a:solidFill>
                            <a:srgbClr val="000000"/>
                          </a:solidFill>
                          <a:latin typeface="Calibri"/>
                        </a:rPr>
                        <a:t>Retail and Pharmacy-Level Pricing (where applicable)</a:t>
                      </a:r>
                      <a:endParaRPr sz="1100"/>
                    </a:p>
                  </a:txBody>
                  <a:tcPr marL="771525" marR="9525" marT="9525" marB="0" anchor="ctr"/>
                </a:tc>
              </a:tr>
              <a:tr h="17526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Segment-wise Price Comparison (Therapy Format vs Allergen Class)</a:t>
                      </a:r>
                      <a:endParaRPr sz="1100"/>
                    </a:p>
                  </a:txBody>
                  <a:tcPr marL="428625" marR="9525" marT="9525" marB="0" anchor="ctr"/>
                </a:tc>
              </a:tr>
              <a:tr h="17526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Country-wise Price Comparison (Therapy Format)</a:t>
                      </a:r>
                      <a:endParaRPr sz="1100"/>
                    </a:p>
                  </a:txBody>
                  <a:tcPr marL="428625" marR="9525" marT="9525" marB="0" anchor="ctr"/>
                </a:tc>
              </a:tr>
              <a:tr h="175260">
                <a:tc>
                  <a:txBody>
                    <a:bodyPr wrap="square"/>
                    <a:lstStyle/>
                    <a:p>
                      <a:pPr algn="l"/>
                      <a:r>
                        <a:rPr sz="1100" b="0" i="0">
                          <a:solidFill>
                            <a:srgbClr val="0070C0"/>
                          </a:solidFill>
                          <a:latin typeface="Calibri"/>
                        </a:rPr>
                        <a:t>21.4.</a:t>
                      </a:r>
                      <a:r>
                        <a:rPr sz="700" b="0" i="0">
                          <a:solidFill>
                            <a:srgbClr val="0070C0"/>
                          </a:solidFill>
                          <a:latin typeface="Times New Roman"/>
                        </a:rPr>
                        <a:t>  </a:t>
                      </a:r>
                      <a:r>
                        <a:rPr sz="1100" b="0" i="0">
                          <a:solidFill>
                            <a:srgbClr val="0070C0"/>
                          </a:solidFill>
                          <a:latin typeface="Calibri"/>
                        </a:rPr>
                        <a:t>Price Forecast till 2036</a:t>
                      </a:r>
                      <a:endParaRPr sz="1100"/>
                    </a:p>
                  </a:txBody>
                  <a:tcPr marL="428625" marR="9525" marT="9525" marB="0" anchor="ctr"/>
                </a:tc>
              </a:tr>
              <a:tr h="175260">
                <a:tc>
                  <a:txBody>
                    <a:bodyPr wrap="square"/>
                    <a:lstStyle/>
                    <a:p>
                      <a:pPr algn="l"/>
                      <a:r>
                        <a:rPr sz="1100" b="0" i="0">
                          <a:solidFill>
                            <a:srgbClr val="0070C0"/>
                          </a:solidFill>
                          <a:latin typeface="Calibri"/>
                        </a:rPr>
                        <a:t>21.5.</a:t>
                      </a:r>
                      <a:r>
                        <a:rPr sz="700" b="0" i="0">
                          <a:solidFill>
                            <a:srgbClr val="0070C0"/>
                          </a:solidFill>
                          <a:latin typeface="Times New Roman"/>
                        </a:rPr>
                        <a:t>  </a:t>
                      </a:r>
                      <a:r>
                        <a:rPr sz="1100" b="0" i="0">
                          <a:solidFill>
                            <a:srgbClr val="0070C0"/>
                          </a:solidFill>
                          <a:latin typeface="Calibri"/>
                        </a:rPr>
                        <a:t>Factors Impacting Pricing</a:t>
                      </a:r>
                      <a:endParaRPr sz="1100"/>
                    </a:p>
                  </a:txBody>
                  <a:tcPr marL="428625" marR="9525" marT="9525" marB="0" anchor="ctr"/>
                </a:tc>
              </a:tr>
              <a:tr h="175260">
                <a:tc>
                  <a:txBody>
                    <a:bodyPr wrap="square"/>
                    <a:lstStyle/>
                    <a:p>
                      <a:pPr algn="l"/>
                      <a:r>
                        <a:rPr sz="1100" b="0" i="0">
                          <a:solidFill>
                            <a:srgbClr val="0070C0"/>
                          </a:solidFill>
                          <a:latin typeface="Calibri"/>
                        </a:rPr>
                        <a:t>21.6.</a:t>
                      </a:r>
                      <a:r>
                        <a:rPr sz="700" b="0" i="0">
                          <a:solidFill>
                            <a:srgbClr val="0070C0"/>
                          </a:solidFill>
                          <a:latin typeface="Times New Roman"/>
                        </a:rPr>
                        <a:t>  </a:t>
                      </a:r>
                      <a:r>
                        <a:rPr sz="1100" b="0" i="0">
                          <a:solidFill>
                            <a:srgbClr val="0070C0"/>
                          </a:solidFill>
                          <a:latin typeface="Calibri"/>
                        </a:rPr>
                        <a:t>Competitor Pricing Strategies</a:t>
                      </a:r>
                      <a:endParaRPr sz="1100"/>
                    </a:p>
                  </a:txBody>
                  <a:tcPr marL="4286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Drug Price and Benchmarking Analysis</a:t>
                      </a:r>
                      <a:endParaRPr sz="1100"/>
                    </a:p>
                  </a:txBody>
                  <a:tcPr marL="171450" marR="9525" marT="9525" marB="0" anchor="ctr"/>
                </a:tc>
              </a:tr>
              <a:tr h="17526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Product-wise Price Comparison by Therapy Format</a:t>
                      </a:r>
                      <a:endParaRPr sz="1100"/>
                    </a:p>
                  </a:txBody>
                  <a:tcPr marL="4286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Manufacturer-Level Price Benchmarking</a:t>
                      </a:r>
                      <a:endParaRPr sz="1100"/>
                    </a:p>
                  </a:txBody>
                  <a:tcPr marL="428625" marR="9525" marT="9525" marB="0" anchor="ctr"/>
                </a:tc>
              </a:tr>
              <a:tr h="17526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Country-wise Drug Price and Treatment-Course Cost Comparison</a:t>
                      </a:r>
                      <a:endParaRPr sz="1100"/>
                    </a:p>
                  </a:txBody>
                  <a:tcPr marL="428625" marR="9525" marT="9525" marB="0" anchor="ctr"/>
                </a:tc>
              </a:tr>
              <a:tr h="175260">
                <a:tc>
                  <a:txBody>
                    <a:bodyPr wrap="square"/>
                    <a:lstStyle/>
                    <a:p>
                      <a:pPr algn="l"/>
                      <a:r>
                        <a:rPr sz="1100" b="0" i="0">
                          <a:solidFill>
                            <a:srgbClr val="0070C0"/>
                          </a:solidFill>
                          <a:latin typeface="Calibri"/>
                        </a:rPr>
                        <a:t>22.4.</a:t>
                      </a:r>
                      <a:r>
                        <a:rPr sz="700" b="0" i="0">
                          <a:solidFill>
                            <a:srgbClr val="0070C0"/>
                          </a:solidFill>
                          <a:latin typeface="Times New Roman"/>
                        </a:rPr>
                        <a:t>  </a:t>
                      </a:r>
                      <a:r>
                        <a:rPr sz="1100" b="0" i="0">
                          <a:solidFill>
                            <a:srgbClr val="0070C0"/>
                          </a:solidFill>
                          <a:latin typeface="Calibri"/>
                        </a:rPr>
                        <a:t>Price Comparison by Allergen Class and Commercial Product Model</a:t>
                      </a:r>
                      <a:endParaRPr sz="1100"/>
                    </a:p>
                  </a:txBody>
                  <a:tcPr marL="428625" marR="9525" marT="9525" marB="0" anchor="ctr"/>
                </a:tc>
              </a:tr>
              <a:tr h="175260">
                <a:tc>
                  <a:txBody>
                    <a:bodyPr wrap="square"/>
                    <a:lstStyle/>
                    <a:p>
                      <a:pPr algn="l"/>
                      <a:r>
                        <a:rPr sz="1100" b="0" i="0">
                          <a:solidFill>
                            <a:srgbClr val="0070C0"/>
                          </a:solidFill>
                          <a:latin typeface="Calibri"/>
                        </a:rPr>
                        <a:t>22.5.</a:t>
                      </a:r>
                      <a:r>
                        <a:rPr sz="700" b="0" i="0">
                          <a:solidFill>
                            <a:srgbClr val="0070C0"/>
                          </a:solidFill>
                          <a:latin typeface="Times New Roman"/>
                        </a:rPr>
                        <a:t>  </a:t>
                      </a:r>
                      <a:r>
                        <a:rPr sz="1100" b="0" i="0">
                          <a:solidFill>
                            <a:srgbClr val="0070C0"/>
                          </a:solidFill>
                          <a:latin typeface="Calibri"/>
                        </a:rPr>
                        <a:t>Reimbursement Coverage, Patient Out-of-Pocket Costs and Affordability Analysis</a:t>
                      </a:r>
                      <a:endParaRPr sz="1100"/>
                    </a:p>
                  </a:txBody>
                  <a:tcPr marL="428625" marR="9525" marT="9525" marB="0" anchor="ctr"/>
                </a:tc>
              </a:tr>
              <a:tr h="175260">
                <a:tc>
                  <a:txBody>
                    <a:bodyPr wrap="square"/>
                    <a:lstStyle/>
                    <a:p>
                      <a:pPr algn="l"/>
                      <a:r>
                        <a:rPr sz="1100" b="0" i="0">
                          <a:solidFill>
                            <a:srgbClr val="0070C0"/>
                          </a:solidFill>
                          <a:latin typeface="Calibri"/>
                        </a:rPr>
                        <a:t>22.6.</a:t>
                      </a:r>
                      <a:r>
                        <a:rPr sz="700" b="0" i="0">
                          <a:solidFill>
                            <a:srgbClr val="0070C0"/>
                          </a:solidFill>
                          <a:latin typeface="Times New Roman"/>
                        </a:rPr>
                        <a:t>  </a:t>
                      </a:r>
                      <a:r>
                        <a:rPr sz="1100" b="0" i="0">
                          <a:solidFill>
                            <a:srgbClr val="0070C0"/>
                          </a:solidFill>
                          <a:latin typeface="Calibri"/>
                        </a:rPr>
                        <a:t>Historical Price Trends and Price Forecast till 2036</a:t>
                      </a:r>
                      <a:endParaRPr sz="1100"/>
                    </a:p>
                  </a:txBody>
                  <a:tcPr marL="428625" marR="9525" marT="9525" marB="0" anchor="ctr"/>
                </a:tc>
              </a:tr>
              <a:tr h="175260">
                <a:tc>
                  <a:txBody>
                    <a:bodyPr wrap="square"/>
                    <a:lstStyle/>
                    <a:p>
                      <a:pPr algn="l"/>
                      <a:r>
                        <a:rPr sz="1100" b="1" i="0">
                          <a:solidFill>
                            <a:srgbClr val="000000"/>
                          </a:solidFill>
                          <a:latin typeface="Calibri"/>
                        </a:rPr>
                        <a:t>Section 4: Market Dynamics</a:t>
                      </a:r>
                      <a:endParaRPr sz="1100"/>
                    </a:p>
                  </a:txBody>
                  <a:tcPr marL="95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Innovation Tracker</a:t>
                      </a:r>
                      <a:endParaRPr sz="1100"/>
                    </a:p>
                  </a:txBody>
                  <a:tcPr marL="171450" marR="9525" marT="9525" marB="0" anchor="ctr"/>
                </a:tc>
              </a:tr>
              <a:tr h="17526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Major Deals and Strategic Alliance</a:t>
                      </a:r>
                      <a:endParaRPr sz="1100"/>
                    </a:p>
                  </a:txBody>
                  <a:tcPr marL="428625" marR="9525" marT="9525" marB="0" anchor="ctr"/>
                </a:tc>
              </a:tr>
              <a:tr h="175260">
                <a:tc>
                  <a:txBody>
                    <a:bodyPr wrap="square"/>
                    <a:lstStyle/>
                    <a:p>
                      <a:pPr algn="l"/>
                      <a:r>
                        <a:rPr sz="1100" b="0" i="0">
                          <a:solidFill>
                            <a:srgbClr val="000000"/>
                          </a:solidFill>
                          <a:latin typeface="Calibri"/>
                        </a:rPr>
                        <a:t>23.1.1.</a:t>
                      </a:r>
                      <a:r>
                        <a:rPr sz="700" b="0" i="0">
                          <a:solidFill>
                            <a:srgbClr val="000000"/>
                          </a:solidFill>
                          <a:latin typeface="Times New Roman"/>
                        </a:rPr>
                        <a:t> </a:t>
                      </a:r>
                      <a:r>
                        <a:rPr sz="1100" b="0" i="0">
                          <a:solidFill>
                            <a:srgbClr val="000000"/>
                          </a:solidFill>
                          <a:latin typeface="Calibri"/>
                        </a:rPr>
                        <a:t>Joint Ventures, M&amp;A, Licensing &amp; Partnerships</a:t>
                      </a:r>
                      <a:endParaRPr sz="1100"/>
                    </a:p>
                  </a:txBody>
                  <a:tcPr marL="771525" marR="9525" marT="9525" marB="0" anchor="ctr"/>
                </a:tc>
              </a:tr>
              <a:tr h="175260">
                <a:tc>
                  <a:txBody>
                    <a:bodyPr wrap="square"/>
                    <a:lstStyle/>
                    <a:p>
                      <a:pPr algn="l"/>
                      <a:r>
                        <a:rPr sz="1100" b="0" i="0">
                          <a:solidFill>
                            <a:srgbClr val="000000"/>
                          </a:solidFill>
                          <a:latin typeface="Calibri"/>
                        </a:rPr>
                        <a:t>23.1.2.</a:t>
                      </a:r>
                      <a:r>
                        <a:rPr sz="700" b="0" i="0">
                          <a:solidFill>
                            <a:srgbClr val="000000"/>
                          </a:solidFill>
                          <a:latin typeface="Times New Roman"/>
                        </a:rPr>
                        <a:t> </a:t>
                      </a:r>
                      <a:r>
                        <a:rPr sz="1100" b="0" i="0">
                          <a:solidFill>
                            <a:srgbClr val="000000"/>
                          </a:solidFill>
                          <a:latin typeface="Calibri"/>
                        </a:rPr>
                        <a:t>Technology Collaboration and Allergen Research Partnerships</a:t>
                      </a:r>
                      <a:endParaRPr sz="1100"/>
                    </a:p>
                  </a:txBody>
                  <a:tcPr marL="771525" marR="9525" marT="9525" marB="0" anchor="ctr"/>
                </a:tc>
              </a:tr>
              <a:tr h="175260">
                <a:tc>
                  <a:txBody>
                    <a:bodyPr wrap="square"/>
                    <a:lstStyle/>
                    <a:p>
                      <a:pPr algn="l"/>
                      <a:r>
                        <a:rPr sz="1100" b="0" i="0">
                          <a:solidFill>
                            <a:srgbClr val="000000"/>
                          </a:solidFill>
                          <a:latin typeface="Calibri"/>
                        </a:rPr>
                        <a:t>23.1.3.</a:t>
                      </a:r>
                      <a:r>
                        <a:rPr sz="700" b="0" i="0">
                          <a:solidFill>
                            <a:srgbClr val="000000"/>
                          </a:solidFill>
                          <a:latin typeface="Times New Roman"/>
                        </a:rPr>
                        <a:t> </a:t>
                      </a:r>
                      <a:r>
                        <a:rPr sz="1100" b="0" i="0">
                          <a:solidFill>
                            <a:srgbClr val="000000"/>
                          </a:solidFill>
                          <a:latin typeface="Calibri"/>
                        </a:rPr>
                        <a:t>Strategic Divestments/ Investments</a:t>
                      </a:r>
                      <a:endParaRPr sz="1100"/>
                    </a:p>
                  </a:txBody>
                  <a:tcPr marL="771525" marR="9525" marT="9525" marB="0" anchor="ctr"/>
                </a:tc>
              </a:tr>
              <a:tr h="17526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Product Launches and Pipeline Development</a:t>
                      </a:r>
                      <a:endParaRPr sz="1100"/>
                    </a:p>
                  </a:txBody>
                  <a:tcPr marL="4286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Stakeholder Perspectives – Manufacturer, Customer &amp; Distributor Insights</a:t>
                      </a:r>
                      <a:endParaRPr sz="1100"/>
                    </a:p>
                  </a:txBody>
                  <a:tcPr marL="17145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Stakeholder Insights</a:t>
                      </a:r>
                      <a:endParaRPr sz="1100"/>
                    </a:p>
                  </a:txBody>
                  <a:tcPr marL="428625" marR="9525" marT="9525" marB="0" anchor="ctr"/>
                </a:tc>
              </a:tr>
              <a:tr h="175260">
                <a:tc>
                  <a:txBody>
                    <a:bodyPr wrap="square"/>
                    <a:lstStyle/>
                    <a:p>
                      <a:pPr algn="l"/>
                      <a:r>
                        <a:rPr sz="1100" b="0" i="0">
                          <a:solidFill>
                            <a:srgbClr val="000000"/>
                          </a:solidFill>
                          <a:latin typeface="Calibri"/>
                        </a:rPr>
                        <a:t>24.1.1.</a:t>
                      </a:r>
                      <a:r>
                        <a:rPr sz="700" b="0" i="0">
                          <a:solidFill>
                            <a:srgbClr val="000000"/>
                          </a:solidFill>
                          <a:latin typeface="Times New Roman"/>
                        </a:rPr>
                        <a:t> </a:t>
                      </a:r>
                      <a:r>
                        <a:rPr sz="1100" b="0" i="0">
                          <a:solidFill>
                            <a:srgbClr val="000000"/>
                          </a:solidFill>
                          <a:latin typeface="Calibri"/>
                        </a:rPr>
                        <a:t>Manufacturers and Allergen Immunotherapy Product Developers</a:t>
                      </a:r>
                      <a:endParaRPr sz="1100"/>
                    </a:p>
                  </a:txBody>
                  <a:tcPr marL="771525" marR="9525" marT="9525" marB="0" anchor="ctr"/>
                </a:tc>
              </a:tr>
              <a:tr h="175260">
                <a:tc>
                  <a:txBody>
                    <a:bodyPr wrap="square"/>
                    <a:lstStyle/>
                    <a:p>
                      <a:pPr algn="l"/>
                      <a:r>
                        <a:rPr sz="1100" b="0" i="0">
                          <a:solidFill>
                            <a:srgbClr val="000000"/>
                          </a:solidFill>
                          <a:latin typeface="Calibri"/>
                        </a:rPr>
                        <a:t>24.1.2.</a:t>
                      </a:r>
                      <a:r>
                        <a:rPr sz="700" b="0" i="0">
                          <a:solidFill>
                            <a:srgbClr val="000000"/>
                          </a:solidFill>
                          <a:latin typeface="Times New Roman"/>
                        </a:rPr>
                        <a:t> </a:t>
                      </a:r>
                      <a:r>
                        <a:rPr sz="1100" b="0" i="0">
                          <a:solidFill>
                            <a:srgbClr val="000000"/>
                          </a:solidFill>
                          <a:latin typeface="Calibri"/>
                        </a:rPr>
                        <a:t>Allergists, Immunologists and Prescribing Healthcare Professionals</a:t>
                      </a:r>
                      <a:endParaRPr sz="1100"/>
                    </a:p>
                  </a:txBody>
                  <a:tcPr marL="771525" marR="9525" marT="9525" marB="0" anchor="ctr"/>
                </a:tc>
              </a:tr>
              <a:tr h="175260">
                <a:tc>
                  <a:txBody>
                    <a:bodyPr wrap="square"/>
                    <a:lstStyle/>
                    <a:p>
                      <a:pPr algn="l"/>
                      <a:r>
                        <a:rPr sz="1100" b="0" i="0">
                          <a:solidFill>
                            <a:srgbClr val="000000"/>
                          </a:solidFill>
                          <a:latin typeface="Calibri"/>
                        </a:rPr>
                        <a:t>24.1.3.</a:t>
                      </a:r>
                      <a:r>
                        <a:rPr sz="700" b="0" i="0">
                          <a:solidFill>
                            <a:srgbClr val="000000"/>
                          </a:solidFill>
                          <a:latin typeface="Times New Roman"/>
                        </a:rPr>
                        <a:t> </a:t>
                      </a:r>
                      <a:r>
                        <a:rPr sz="1100" b="0" i="0">
                          <a:solidFill>
                            <a:srgbClr val="000000"/>
                          </a:solidFill>
                          <a:latin typeface="Calibri"/>
                        </a:rPr>
                        <a:t>Patients and Caregivers</a:t>
                      </a:r>
                      <a:endParaRPr sz="1100"/>
                    </a:p>
                  </a:txBody>
                  <a:tcPr marL="771525" marR="9525" marT="9525" marB="0" anchor="ctr"/>
                </a:tc>
              </a:tr>
              <a:tr h="175260">
                <a:tc>
                  <a:txBody>
                    <a:bodyPr wrap="square"/>
                    <a:lstStyle/>
                    <a:p>
                      <a:pPr algn="l"/>
                      <a:r>
                        <a:rPr sz="1100" b="0" i="0">
                          <a:solidFill>
                            <a:srgbClr val="000000"/>
                          </a:solidFill>
                          <a:latin typeface="Calibri"/>
                        </a:rPr>
                        <a:t>24.1.4.</a:t>
                      </a:r>
                      <a:r>
                        <a:rPr sz="700" b="0" i="0">
                          <a:solidFill>
                            <a:srgbClr val="000000"/>
                          </a:solidFill>
                          <a:latin typeface="Times New Roman"/>
                        </a:rPr>
                        <a:t> </a:t>
                      </a:r>
                      <a:r>
                        <a:rPr sz="1100" b="0" i="0">
                          <a:solidFill>
                            <a:srgbClr val="000000"/>
                          </a:solidFill>
                          <a:latin typeface="Calibri"/>
                        </a:rPr>
                        <a:t>Distributors, Specialty Pharmacies and Healthcare Procurement Partners</a:t>
                      </a:r>
                      <a:endParaRPr sz="1100"/>
                    </a:p>
                  </a:txBody>
                  <a:tcPr marL="771525" marR="9525" marT="9525" marB="0" anchor="ctr"/>
                </a:tc>
              </a:tr>
              <a:tr h="175260">
                <a:tc>
                  <a:txBody>
                    <a:bodyPr wrap="square"/>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Country- Level Market Drivers</a:t>
                      </a:r>
                      <a:endParaRPr sz="1100"/>
                    </a:p>
                  </a:txBody>
                  <a:tcPr marL="428625" marR="9525" marT="9525" marB="0" anchor="ctr"/>
                </a:tc>
              </a:tr>
              <a:tr h="175260">
                <a:tc>
                  <a:txBody>
                    <a:bodyPr wrap="square"/>
                    <a:lstStyle/>
                    <a:p>
                      <a:pPr algn="l"/>
                      <a:r>
                        <a:rPr sz="1100" b="0" i="0">
                          <a:solidFill>
                            <a:srgbClr val="000000"/>
                          </a:solidFill>
                          <a:latin typeface="Calibri"/>
                        </a:rPr>
                        <a:t>24.2.1.</a:t>
                      </a:r>
                      <a:r>
                        <a:rPr sz="700" b="0" i="0">
                          <a:solidFill>
                            <a:srgbClr val="000000"/>
                          </a:solidFill>
                          <a:latin typeface="Times New Roman"/>
                        </a:rPr>
                        <a:t> </a:t>
                      </a:r>
                      <a:r>
                        <a:rPr sz="1100" b="0" i="0">
                          <a:solidFill>
                            <a:srgbClr val="000000"/>
                          </a:solidFill>
                          <a:latin typeface="Calibri"/>
                        </a:rPr>
                        <a:t>Supply Side Drivers</a:t>
                      </a:r>
                      <a:endParaRPr sz="1100"/>
                    </a:p>
                  </a:txBody>
                  <a:tcPr marL="771525" marR="9525" marT="9525" marB="0" anchor="ctr"/>
                </a:tc>
              </a:tr>
              <a:tr h="175260">
                <a:tc>
                  <a:txBody>
                    <a:bodyPr wrap="square"/>
                    <a:lstStyle/>
                    <a:p>
                      <a:pPr algn="l"/>
                      <a:r>
                        <a:rPr sz="1100" b="0" i="0">
                          <a:solidFill>
                            <a:srgbClr val="000000"/>
                          </a:solidFill>
                          <a:latin typeface="Calibri"/>
                        </a:rPr>
                        <a:t>24.2.2.</a:t>
                      </a:r>
                      <a:r>
                        <a:rPr sz="700" b="0" i="0">
                          <a:solidFill>
                            <a:srgbClr val="000000"/>
                          </a:solidFill>
                          <a:latin typeface="Times New Roman"/>
                        </a:rPr>
                        <a:t> </a:t>
                      </a:r>
                      <a:r>
                        <a:rPr sz="1100" b="0" i="0">
                          <a:solidFill>
                            <a:srgbClr val="000000"/>
                          </a:solidFill>
                          <a:latin typeface="Calibri"/>
                        </a:rPr>
                        <a:t>Demand Side drivers</a:t>
                      </a:r>
                      <a:endParaRPr sz="1100"/>
                    </a:p>
                  </a:txBody>
                  <a:tcPr marL="771525" marR="9525" marT="9525" marB="0" anchor="ctr"/>
                </a:tc>
              </a:tr>
              <a:tr h="175260">
                <a:tc>
                  <a:txBody>
                    <a:bodyPr wrap="square"/>
                    <a:lstStyle/>
                    <a:p>
                      <a:pPr algn="l"/>
                      <a:r>
                        <a:rPr sz="1100" b="0" i="0">
                          <a:solidFill>
                            <a:srgbClr val="000000"/>
                          </a:solidFill>
                          <a:latin typeface="Calibri"/>
                        </a:rPr>
                        <a:t>24.2.3.</a:t>
                      </a:r>
                      <a:r>
                        <a:rPr sz="700" b="0" i="0">
                          <a:solidFill>
                            <a:srgbClr val="000000"/>
                          </a:solidFill>
                          <a:latin typeface="Times New Roman"/>
                        </a:rPr>
                        <a:t> </a:t>
                      </a:r>
                      <a:r>
                        <a:rPr sz="1100" b="0" i="0">
                          <a:solidFill>
                            <a:srgbClr val="000000"/>
                          </a:solidFill>
                          <a:latin typeface="Calibri"/>
                        </a:rPr>
                        <a:t>Economic Side Drivers</a:t>
                      </a:r>
                      <a:endParaRPr sz="1100"/>
                    </a:p>
                  </a:txBody>
                  <a:tcPr marL="771525" marR="9525" marT="9525" marB="0" anchor="ctr"/>
                </a:tc>
              </a:tr>
              <a:tr h="175260">
                <a:tc>
                  <a:txBody>
                    <a:bodyPr wrap="square"/>
                    <a:lstStyle/>
                    <a:p>
                      <a:pPr algn="l"/>
                      <a:r>
                        <a:rPr sz="1100" b="0" i="0">
                          <a:solidFill>
                            <a:srgbClr val="0070C0"/>
                          </a:solidFill>
                          <a:latin typeface="Calibri"/>
                        </a:rPr>
                        <a:t>24.3.</a:t>
                      </a:r>
                      <a:r>
                        <a:rPr sz="700" b="0" i="0">
                          <a:solidFill>
                            <a:srgbClr val="0070C0"/>
                          </a:solidFill>
                          <a:latin typeface="Times New Roman"/>
                        </a:rPr>
                        <a:t>  </a:t>
                      </a:r>
                      <a:r>
                        <a:rPr sz="1100" b="0" i="0">
                          <a:solidFill>
                            <a:srgbClr val="0070C0"/>
                          </a:solidFill>
                          <a:latin typeface="Calibri"/>
                        </a:rPr>
                        <a:t>Country Level Restraints</a:t>
                      </a:r>
                      <a:endParaRPr sz="1100"/>
                    </a:p>
                  </a:txBody>
                  <a:tcPr marL="428625" marR="9525" marT="9525" marB="0" anchor="ctr"/>
                </a:tc>
              </a:tr>
              <a:tr h="175260">
                <a:tc>
                  <a:txBody>
                    <a:bodyPr wrap="square"/>
                    <a:lstStyle/>
                    <a:p>
                      <a:pPr algn="l"/>
                      <a:r>
                        <a:rPr sz="1100" b="0" i="0">
                          <a:solidFill>
                            <a:srgbClr val="0070C0"/>
                          </a:solidFill>
                          <a:latin typeface="Calibri"/>
                        </a:rPr>
                        <a:t>24.4.</a:t>
                      </a:r>
                      <a:r>
                        <a:rPr sz="700" b="0" i="0">
                          <a:solidFill>
                            <a:srgbClr val="0070C0"/>
                          </a:solidFill>
                          <a:latin typeface="Times New Roman"/>
                        </a:rPr>
                        <a:t>  </a:t>
                      </a:r>
                      <a:r>
                        <a:rPr sz="1100" b="0" i="0">
                          <a:solidFill>
                            <a:srgbClr val="0070C0"/>
                          </a:solidFill>
                          <a:latin typeface="Calibri"/>
                        </a:rPr>
                        <a:t>Country Level Opportunity</a:t>
                      </a:r>
                      <a:endParaRPr sz="1100"/>
                    </a:p>
                  </a:txBody>
                  <a:tcPr marL="428625" marR="9525" marT="9525" marB="0" anchor="ctr"/>
                </a:tc>
              </a:tr>
              <a:tr h="175260">
                <a:tc>
                  <a:txBody>
                    <a:bodyPr wrap="square"/>
                    <a:lstStyle/>
                    <a:p>
                      <a:pPr algn="l"/>
                      <a:r>
                        <a:rPr sz="1100" b="0" i="0">
                          <a:solidFill>
                            <a:srgbClr val="0070C0"/>
                          </a:solidFill>
                          <a:latin typeface="Calibri"/>
                        </a:rPr>
                        <a:t>24.5.</a:t>
                      </a:r>
                      <a:r>
                        <a:rPr sz="700" b="0" i="0">
                          <a:solidFill>
                            <a:srgbClr val="0070C0"/>
                          </a:solidFill>
                          <a:latin typeface="Times New Roman"/>
                        </a:rPr>
                        <a:t>  </a:t>
                      </a:r>
                      <a:r>
                        <a:rPr sz="1100" b="0" i="0">
                          <a:solidFill>
                            <a:srgbClr val="0070C0"/>
                          </a:solidFill>
                          <a:latin typeface="Calibri"/>
                        </a:rPr>
                        <a:t>Country Level Market Trends</a:t>
                      </a:r>
                      <a:endParaRPr sz="1100"/>
                    </a:p>
                  </a:txBody>
                  <a:tcPr marL="428625" marR="9525" marT="9525" marB="0" anchor="ctr"/>
                </a:tc>
              </a:tr>
              <a:tr h="175260">
                <a:tc>
                  <a:txBody>
                    <a:bodyPr wrap="square"/>
                    <a:lstStyle/>
                    <a:p>
                      <a:pPr algn="l"/>
                      <a:r>
                        <a:rPr sz="1100" b="0" i="0">
                          <a:solidFill>
                            <a:srgbClr val="0070C0"/>
                          </a:solidFill>
                          <a:latin typeface="Calibri"/>
                        </a:rPr>
                        <a:t>24.6.</a:t>
                      </a:r>
                      <a:r>
                        <a:rPr sz="700" b="0" i="0">
                          <a:solidFill>
                            <a:srgbClr val="0070C0"/>
                          </a:solidFill>
                          <a:latin typeface="Times New Roman"/>
                        </a:rPr>
                        <a:t>  </a:t>
                      </a:r>
                      <a:r>
                        <a:rPr sz="1100" b="0" i="0">
                          <a:solidFill>
                            <a:srgbClr val="0070C0"/>
                          </a:solidFill>
                          <a:latin typeface="Calibri"/>
                        </a:rPr>
                        <a:t>Forecast Factors – Top 20 Drivers by Relevance &amp; Impact</a:t>
                      </a:r>
                      <a:endParaRPr sz="1100"/>
                    </a:p>
                  </a:txBody>
                  <a:tcPr marL="428625" marR="9525" marT="9525" marB="0" anchor="ctr"/>
                </a:tc>
              </a:tr>
              <a:tr h="175260">
                <a:tc>
                  <a:txBody>
                    <a:bodyPr wrap="square"/>
                    <a:lstStyle/>
                    <a:p>
                      <a:pPr algn="l"/>
                      <a:r>
                        <a:rPr sz="1100" b="0" i="0">
                          <a:solidFill>
                            <a:srgbClr val="0070C0"/>
                          </a:solidFill>
                          <a:latin typeface="Calibri"/>
                        </a:rPr>
                        <a:t>24.7.</a:t>
                      </a:r>
                      <a:r>
                        <a:rPr sz="700" b="0" i="0">
                          <a:solidFill>
                            <a:srgbClr val="0070C0"/>
                          </a:solidFill>
                          <a:latin typeface="Times New Roman"/>
                        </a:rPr>
                        <a:t>  </a:t>
                      </a:r>
                      <a:r>
                        <a:rPr sz="1100" b="0" i="0">
                          <a:solidFill>
                            <a:srgbClr val="0070C0"/>
                          </a:solidFill>
                          <a:latin typeface="Calibri"/>
                        </a:rPr>
                        <a:t>Regional Macro-&amp; Micro Economic Indicators</a:t>
                      </a:r>
                      <a:endParaRPr sz="1100"/>
                    </a:p>
                  </a:txBody>
                  <a:tcPr marL="428625" marR="9525" marT="9525" marB="0" anchor="ctr"/>
                </a:tc>
              </a:tr>
              <a:tr h="175260">
                <a:tc>
                  <a:txBody>
                    <a:bodyPr wrap="square"/>
                    <a:lstStyle/>
                    <a:p>
                      <a:pPr algn="l"/>
                      <a:r>
                        <a:rPr sz="1100" b="0" i="0">
                          <a:solidFill>
                            <a:srgbClr val="0070C0"/>
                          </a:solidFill>
                          <a:latin typeface="Calibri"/>
                        </a:rPr>
                        <a:t>24.8.</a:t>
                      </a:r>
                      <a:r>
                        <a:rPr sz="700" b="0" i="0">
                          <a:solidFill>
                            <a:srgbClr val="0070C0"/>
                          </a:solidFill>
                          <a:latin typeface="Times New Roman"/>
                        </a:rPr>
                        <a:t>  </a:t>
                      </a:r>
                      <a:r>
                        <a:rPr sz="1100" b="0" i="0">
                          <a:solidFill>
                            <a:srgbClr val="0070C0"/>
                          </a:solidFill>
                          <a:latin typeface="Calibri"/>
                        </a:rPr>
                        <a:t>PESTEL Analysis</a:t>
                      </a:r>
                      <a:endParaRPr sz="1100"/>
                    </a:p>
                  </a:txBody>
                  <a:tcPr marL="428625" marR="9525" marT="9525" marB="0" anchor="ctr"/>
                </a:tc>
              </a:tr>
              <a:tr h="175260">
                <a:tc>
                  <a:txBody>
                    <a:bodyPr wrap="square"/>
                    <a:lstStyle/>
                    <a:p>
                      <a:pPr algn="l"/>
                      <a:r>
                        <a:rPr sz="1100" b="0" i="0">
                          <a:solidFill>
                            <a:srgbClr val="0070C0"/>
                          </a:solidFill>
                          <a:latin typeface="Calibri"/>
                        </a:rPr>
                        <a:t>24.9.</a:t>
                      </a:r>
                      <a:r>
                        <a:rPr sz="700" b="0" i="0">
                          <a:solidFill>
                            <a:srgbClr val="0070C0"/>
                          </a:solidFill>
                          <a:latin typeface="Times New Roman"/>
                        </a:rPr>
                        <a:t>  </a:t>
                      </a:r>
                      <a:r>
                        <a:rPr sz="1100" b="0" i="0">
                          <a:solidFill>
                            <a:srgbClr val="0070C0"/>
                          </a:solidFill>
                          <a:latin typeface="Calibri"/>
                        </a:rPr>
                        <a:t>Porter’s Analysis</a:t>
                      </a:r>
                      <a:endParaRPr sz="1100"/>
                    </a:p>
                  </a:txBody>
                  <a:tcPr marL="428625"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Therapy-wise Demand and Prescription Pattern Analysis</a:t>
                      </a:r>
                      <a:endParaRPr sz="1100"/>
                    </a:p>
                  </a:txBody>
                  <a:tcPr marL="171450" marR="9525" marT="9525" marB="0" anchor="ctr"/>
                </a:tc>
              </a:tr>
              <a:tr h="175260">
                <a:tc>
                  <a:txBody>
                    <a:bodyPr wrap="square"/>
                    <a:lstStyle/>
                    <a:p>
                      <a:pPr algn="l"/>
                      <a:r>
                        <a:rPr sz="1100" b="0" i="0">
                          <a:solidFill>
                            <a:srgbClr val="0070C0"/>
                          </a:solidFill>
                          <a:latin typeface="Calibri"/>
                        </a:rPr>
                        <a:t>25.1.</a:t>
                      </a:r>
                      <a:r>
                        <a:rPr sz="700" b="0" i="0">
                          <a:solidFill>
                            <a:srgbClr val="0070C0"/>
                          </a:solidFill>
                          <a:latin typeface="Times New Roman"/>
                        </a:rPr>
                        <a:t>  </a:t>
                      </a:r>
                      <a:r>
                        <a:rPr sz="1100" b="0" i="0">
                          <a:solidFill>
                            <a:srgbClr val="0070C0"/>
                          </a:solidFill>
                          <a:latin typeface="Calibri"/>
                        </a:rPr>
                        <a:t>Therapy Format-wise Demand and Adoption Trends</a:t>
                      </a:r>
                      <a:endParaRPr sz="1100"/>
                    </a:p>
                  </a:txBody>
                  <a:tcPr marL="428625" marR="9525" marT="9525" marB="0" anchor="ctr"/>
                </a:tc>
              </a:tr>
              <a:tr h="175260">
                <a:tc>
                  <a:txBody>
                    <a:bodyPr wrap="square"/>
                    <a:lstStyle/>
                    <a:p>
                      <a:pPr algn="l"/>
                      <a:r>
                        <a:rPr sz="1100" b="0" i="0">
                          <a:solidFill>
                            <a:srgbClr val="0070C0"/>
                          </a:solidFill>
                          <a:latin typeface="Calibri"/>
                        </a:rPr>
                        <a:t>25.2.</a:t>
                      </a:r>
                      <a:r>
                        <a:rPr sz="700" b="0" i="0">
                          <a:solidFill>
                            <a:srgbClr val="0070C0"/>
                          </a:solidFill>
                          <a:latin typeface="Times New Roman"/>
                        </a:rPr>
                        <a:t>  </a:t>
                      </a:r>
                      <a:r>
                        <a:rPr sz="1100" b="0" i="0">
                          <a:solidFill>
                            <a:srgbClr val="0070C0"/>
                          </a:solidFill>
                          <a:latin typeface="Calibri"/>
                        </a:rPr>
                        <a:t>Prescription Patterns by Allergen Class and Patient Population</a:t>
                      </a:r>
                      <a:endParaRPr sz="1100"/>
                    </a:p>
                  </a:txBody>
                  <a:tcPr marL="428625" marR="9525" marT="9525" marB="0" anchor="ctr"/>
                </a:tc>
              </a:tr>
              <a:tr h="175260">
                <a:tc>
                  <a:txBody>
                    <a:bodyPr wrap="square"/>
                    <a:lstStyle/>
                    <a:p>
                      <a:pPr algn="l"/>
                      <a:r>
                        <a:rPr sz="1100" b="0" i="0">
                          <a:solidFill>
                            <a:srgbClr val="0070C0"/>
                          </a:solidFill>
                          <a:latin typeface="Calibri"/>
                        </a:rPr>
                        <a:t>25.3.</a:t>
                      </a:r>
                      <a:r>
                        <a:rPr sz="700" b="0" i="0">
                          <a:solidFill>
                            <a:srgbClr val="0070C0"/>
                          </a:solidFill>
                          <a:latin typeface="Times New Roman"/>
                        </a:rPr>
                        <a:t>  </a:t>
                      </a:r>
                      <a:r>
                        <a:rPr sz="1100" b="0" i="0">
                          <a:solidFill>
                            <a:srgbClr val="0070C0"/>
                          </a:solidFill>
                          <a:latin typeface="Calibri"/>
                        </a:rPr>
                        <a:t>Treatment Initiation, Duration and Completion Rates</a:t>
                      </a:r>
                      <a:endParaRPr sz="1100"/>
                    </a:p>
                  </a:txBody>
                  <a:tcPr marL="428625" marR="9525" marT="9525" marB="0" anchor="ctr"/>
                </a:tc>
              </a:tr>
              <a:tr h="175260">
                <a:tc>
                  <a:txBody>
                    <a:bodyPr wrap="square"/>
                    <a:lstStyle/>
                    <a:p>
                      <a:pPr algn="l"/>
                      <a:r>
                        <a:rPr sz="1100" b="0" i="0">
                          <a:solidFill>
                            <a:srgbClr val="0070C0"/>
                          </a:solidFill>
                          <a:latin typeface="Calibri"/>
                        </a:rPr>
                        <a:t>25.4.</a:t>
                      </a:r>
                      <a:r>
                        <a:rPr sz="700" b="0" i="0">
                          <a:solidFill>
                            <a:srgbClr val="0070C0"/>
                          </a:solidFill>
                          <a:latin typeface="Times New Roman"/>
                        </a:rPr>
                        <a:t>  </a:t>
                      </a:r>
                      <a:r>
                        <a:rPr sz="1100" b="0" i="0">
                          <a:solidFill>
                            <a:srgbClr val="0070C0"/>
                          </a:solidFill>
                          <a:latin typeface="Calibri"/>
                        </a:rPr>
                        <a:t>Patient Adherence and Discontinuation Trends</a:t>
                      </a:r>
                      <a:endParaRPr sz="1100"/>
                    </a:p>
                  </a:txBody>
                  <a:tcPr marL="428625" marR="9525" marT="9525" marB="0" anchor="ctr"/>
                </a:tc>
              </a:tr>
              <a:tr h="175260">
                <a:tc>
                  <a:txBody>
                    <a:bodyPr wrap="square"/>
                    <a:lstStyle/>
                    <a:p>
                      <a:pPr algn="l"/>
                      <a:r>
                        <a:rPr sz="1100" b="0" i="0">
                          <a:solidFill>
                            <a:srgbClr val="0070C0"/>
                          </a:solidFill>
                          <a:latin typeface="Calibri"/>
                        </a:rPr>
                        <a:t>25.5.</a:t>
                      </a:r>
                      <a:r>
                        <a:rPr sz="700" b="0" i="0">
                          <a:solidFill>
                            <a:srgbClr val="0070C0"/>
                          </a:solidFill>
                          <a:latin typeface="Times New Roman"/>
                        </a:rPr>
                        <a:t>  </a:t>
                      </a:r>
                      <a:r>
                        <a:rPr sz="1100" b="0" i="0">
                          <a:solidFill>
                            <a:srgbClr val="0070C0"/>
                          </a:solidFill>
                          <a:latin typeface="Calibri"/>
                        </a:rPr>
                        <a:t>Prescriber Preferences and Therapy Selection Criteria</a:t>
                      </a:r>
                      <a:endParaRPr sz="1100"/>
                    </a:p>
                  </a:txBody>
                  <a:tcPr marL="428625" marR="9525" marT="9525" marB="0" anchor="ctr"/>
                </a:tc>
              </a:tr>
              <a:tr h="175260">
                <a:tc>
                  <a:txBody>
                    <a:bodyPr wrap="square"/>
                    <a:lstStyle/>
                    <a:p>
                      <a:pPr algn="l"/>
                      <a:r>
                        <a:rPr sz="1100" b="0" i="0">
                          <a:solidFill>
                            <a:srgbClr val="0070C0"/>
                          </a:solidFill>
                          <a:latin typeface="Calibri"/>
                        </a:rPr>
                        <a:t>25.6.</a:t>
                      </a:r>
                      <a:r>
                        <a:rPr sz="700" b="0" i="0">
                          <a:solidFill>
                            <a:srgbClr val="0070C0"/>
                          </a:solidFill>
                          <a:latin typeface="Times New Roman"/>
                        </a:rPr>
                        <a:t>  </a:t>
                      </a:r>
                      <a:r>
                        <a:rPr sz="1100" b="0" i="0">
                          <a:solidFill>
                            <a:srgbClr val="0070C0"/>
                          </a:solidFill>
                          <a:latin typeface="Calibri"/>
                        </a:rPr>
                        <a:t>Regional Variations in Therapy Utilization and Prescription Practices</a:t>
                      </a:r>
                      <a:endParaRPr sz="1100"/>
                    </a:p>
                  </a:txBody>
                  <a:tcPr marL="428625" marR="9525" marT="9525" marB="0" anchor="ctr"/>
                </a:tc>
              </a:tr>
              <a:tr h="175260">
                <a:tc>
                  <a:txBody>
                    <a:bodyPr wrap="square"/>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Buyer and Procurement Structure Analysis</a:t>
                      </a:r>
                      <a:endParaRPr sz="1100"/>
                    </a:p>
                  </a:txBody>
                  <a:tcPr marL="171450" marR="9525" marT="9525" marB="0" anchor="ctr"/>
                </a:tc>
              </a:tr>
              <a:tr h="175260">
                <a:tc>
                  <a:txBody>
                    <a:bodyPr wrap="square"/>
                    <a:lstStyle/>
                    <a:p>
                      <a:pPr algn="l"/>
                      <a:r>
                        <a:rPr sz="1100" b="0" i="0">
                          <a:solidFill>
                            <a:srgbClr val="0070C0"/>
                          </a:solidFill>
                          <a:latin typeface="Calibri"/>
                        </a:rPr>
                        <a:t>26.1.</a:t>
                      </a:r>
                      <a:r>
                        <a:rPr sz="700" b="0" i="0">
                          <a:solidFill>
                            <a:srgbClr val="0070C0"/>
                          </a:solidFill>
                          <a:latin typeface="Times New Roman"/>
                        </a:rPr>
                        <a:t>  </a:t>
                      </a:r>
                      <a:r>
                        <a:rPr sz="1100" b="0" i="0">
                          <a:solidFill>
                            <a:srgbClr val="0070C0"/>
                          </a:solidFill>
                          <a:latin typeface="Calibri"/>
                        </a:rPr>
                        <a:t>Buyer Segmentation by Healthcare Setting and Procurement Channel</a:t>
                      </a:r>
                      <a:endParaRPr sz="1100"/>
                    </a:p>
                  </a:txBody>
                  <a:tcPr marL="428625" marR="9525" marT="9525" marB="0" anchor="ctr"/>
                </a:tc>
              </a:tr>
              <a:tr h="175260">
                <a:tc>
                  <a:txBody>
                    <a:bodyPr wrap="square"/>
                    <a:lstStyle/>
                    <a:p>
                      <a:pPr algn="l"/>
                      <a:r>
                        <a:rPr sz="1100" b="0" i="0">
                          <a:solidFill>
                            <a:srgbClr val="0070C0"/>
                          </a:solidFill>
                          <a:latin typeface="Calibri"/>
                        </a:rPr>
                        <a:t>26.2.</a:t>
                      </a:r>
                      <a:r>
                        <a:rPr sz="700" b="0" i="0">
                          <a:solidFill>
                            <a:srgbClr val="0070C0"/>
                          </a:solidFill>
                          <a:latin typeface="Times New Roman"/>
                        </a:rPr>
                        <a:t>  </a:t>
                      </a:r>
                      <a:r>
                        <a:rPr sz="1100" b="0" i="0">
                          <a:solidFill>
                            <a:srgbClr val="0070C0"/>
                          </a:solidFill>
                          <a:latin typeface="Calibri"/>
                        </a:rPr>
                        <a:t>Procurement Models Across Hospitals, Allergy Clinics and Specialty Pharmacies</a:t>
                      </a:r>
                      <a:endParaRPr sz="1100"/>
                    </a:p>
                  </a:txBody>
                  <a:tcPr marL="428625" marR="9525" marT="9525" marB="0" anchor="ctr"/>
                </a:tc>
              </a:tr>
              <a:tr h="175260">
                <a:tc>
                  <a:txBody>
                    <a:bodyPr wrap="square"/>
                    <a:lstStyle/>
                    <a:p>
                      <a:pPr algn="l"/>
                      <a:r>
                        <a:rPr sz="1100" b="0" i="0">
                          <a:solidFill>
                            <a:srgbClr val="0070C0"/>
                          </a:solidFill>
                          <a:latin typeface="Calibri"/>
                        </a:rPr>
                        <a:t>26.3.</a:t>
                      </a:r>
                      <a:r>
                        <a:rPr sz="700" b="0" i="0">
                          <a:solidFill>
                            <a:srgbClr val="0070C0"/>
                          </a:solidFill>
                          <a:latin typeface="Times New Roman"/>
                        </a:rPr>
                        <a:t>  </a:t>
                      </a:r>
                      <a:r>
                        <a:rPr sz="1100" b="0" i="0">
                          <a:solidFill>
                            <a:srgbClr val="0070C0"/>
                          </a:solidFill>
                          <a:latin typeface="Calibri"/>
                        </a:rPr>
                        <a:t>Key Purchasing Criteria: Price, Efficacy, Safety and Product Availability</a:t>
                      </a:r>
                      <a:endParaRPr sz="1100"/>
                    </a:p>
                  </a:txBody>
                  <a:tcPr marL="428625" marR="9525" marT="9525" marB="0" anchor="ctr"/>
                </a:tc>
              </a:tr>
              <a:tr h="175260">
                <a:tc>
                  <a:txBody>
                    <a:bodyPr wrap="square"/>
                    <a:lstStyle/>
                    <a:p>
                      <a:pPr algn="l"/>
                      <a:r>
                        <a:rPr sz="1100" b="0" i="0">
                          <a:solidFill>
                            <a:srgbClr val="0070C0"/>
                          </a:solidFill>
                          <a:latin typeface="Calibri"/>
                        </a:rPr>
                        <a:t>26.4.</a:t>
                      </a:r>
                      <a:r>
                        <a:rPr sz="700" b="0" i="0">
                          <a:solidFill>
                            <a:srgbClr val="0070C0"/>
                          </a:solidFill>
                          <a:latin typeface="Times New Roman"/>
                        </a:rPr>
                        <a:t>  </a:t>
                      </a:r>
                      <a:r>
                        <a:rPr sz="1100" b="0" i="0">
                          <a:solidFill>
                            <a:srgbClr val="0070C0"/>
                          </a:solidFill>
                          <a:latin typeface="Calibri"/>
                        </a:rPr>
                        <a:t>Institutional Tendering, Contracting and Bulk Purchasing Practices</a:t>
                      </a:r>
                      <a:endParaRPr sz="1100"/>
                    </a:p>
                  </a:txBody>
                  <a:tcPr marL="428625" marR="9525" marT="9525" marB="0" anchor="ctr"/>
                </a:tc>
              </a:tr>
              <a:tr h="175260">
                <a:tc>
                  <a:txBody>
                    <a:bodyPr wrap="square"/>
                    <a:lstStyle/>
                    <a:p>
                      <a:pPr algn="l"/>
                      <a:r>
                        <a:rPr sz="1100" b="0" i="0">
                          <a:solidFill>
                            <a:srgbClr val="0070C0"/>
                          </a:solidFill>
                          <a:latin typeface="Calibri"/>
                        </a:rPr>
                        <a:t>26.5.</a:t>
                      </a:r>
                      <a:r>
                        <a:rPr sz="700" b="0" i="0">
                          <a:solidFill>
                            <a:srgbClr val="0070C0"/>
                          </a:solidFill>
                          <a:latin typeface="Times New Roman"/>
                        </a:rPr>
                        <a:t>  </a:t>
                      </a:r>
                      <a:r>
                        <a:rPr sz="1100" b="0" i="0">
                          <a:solidFill>
                            <a:srgbClr val="0070C0"/>
                          </a:solidFill>
                          <a:latin typeface="Calibri"/>
                        </a:rPr>
                        <a:t>Distributor Networks, Supplier Selection and Purchasing Agreements</a:t>
                      </a:r>
                      <a:endParaRPr sz="1100"/>
                    </a:p>
                  </a:txBody>
                  <a:tcPr marL="428625" marR="9525" marT="9525" marB="0" anchor="ctr"/>
                </a:tc>
              </a:tr>
              <a:tr h="175260">
                <a:tc>
                  <a:txBody>
                    <a:bodyPr wrap="square"/>
                    <a:lstStyle/>
                    <a:p>
                      <a:pPr algn="l"/>
                      <a:r>
                        <a:rPr sz="1100" b="0" i="0">
                          <a:solidFill>
                            <a:srgbClr val="0070C0"/>
                          </a:solidFill>
                          <a:latin typeface="Calibri"/>
                        </a:rPr>
                        <a:t>26.6.</a:t>
                      </a:r>
                      <a:r>
                        <a:rPr sz="700" b="0" i="0">
                          <a:solidFill>
                            <a:srgbClr val="0070C0"/>
                          </a:solidFill>
                          <a:latin typeface="Times New Roman"/>
                        </a:rPr>
                        <a:t>  </a:t>
                      </a:r>
                      <a:r>
                        <a:rPr sz="1100" b="0" i="0">
                          <a:solidFill>
                            <a:srgbClr val="0070C0"/>
                          </a:solidFill>
                          <a:latin typeface="Calibri"/>
                        </a:rPr>
                        <a:t>Reimbursement Policies, Payer Influence and Budget Allocation Trends</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(6/6)</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27.</a:t>
                      </a:r>
                      <a:r>
                        <a:rPr sz="700" b="1" i="0">
                          <a:solidFill>
                            <a:srgbClr val="000000"/>
                          </a:solidFill>
                          <a:latin typeface="Times New Roman"/>
                        </a:rPr>
                        <a:t>    </a:t>
                      </a:r>
                      <a:r>
                        <a:rPr sz="1100" b="1" i="0">
                          <a:solidFill>
                            <a:srgbClr val="000000"/>
                          </a:solidFill>
                          <a:latin typeface="Calibri"/>
                        </a:rPr>
                        <a:t>Regulations</a:t>
                      </a:r>
                      <a:endParaRPr sz="1100"/>
                    </a:p>
                  </a:txBody>
                  <a:tcPr marL="171450" marR="9525" marT="9525" marB="0" anchor="ctr"/>
                </a:tc>
              </a:tr>
              <a:tr h="175260">
                <a:tc>
                  <a:txBody>
                    <a:bodyPr wrap="square"/>
                    <a:lstStyle/>
                    <a:p>
                      <a:pPr algn="l"/>
                      <a:r>
                        <a:rPr sz="1100" b="0" i="0">
                          <a:solidFill>
                            <a:srgbClr val="0070C0"/>
                          </a:solidFill>
                          <a:latin typeface="Calibri"/>
                        </a:rPr>
                        <a:t>27.1.</a:t>
                      </a:r>
                      <a:r>
                        <a:rPr sz="700" b="0" i="0">
                          <a:solidFill>
                            <a:srgbClr val="0070C0"/>
                          </a:solidFill>
                          <a:latin typeface="Times New Roman"/>
                        </a:rPr>
                        <a:t>  </a:t>
                      </a:r>
                      <a:r>
                        <a:rPr sz="1100" b="0" i="0">
                          <a:solidFill>
                            <a:srgbClr val="0070C0"/>
                          </a:solidFill>
                          <a:latin typeface="Calibri"/>
                        </a:rPr>
                        <a:t>Certifications and Certifying Agency Overview</a:t>
                      </a:r>
                      <a:endParaRPr sz="1100"/>
                    </a:p>
                  </a:txBody>
                  <a:tcPr marL="428625" marR="9525" marT="9525" marB="0" anchor="ctr"/>
                </a:tc>
              </a:tr>
              <a:tr h="175260">
                <a:tc>
                  <a:txBody>
                    <a:bodyPr wrap="square"/>
                    <a:lstStyle/>
                    <a:p>
                      <a:pPr algn="l"/>
                      <a:r>
                        <a:rPr sz="1100" b="0" i="0">
                          <a:solidFill>
                            <a:srgbClr val="0070C0"/>
                          </a:solidFill>
                          <a:latin typeface="Calibri"/>
                        </a:rPr>
                        <a:t>27.2.</a:t>
                      </a:r>
                      <a:r>
                        <a:rPr sz="700" b="0" i="0">
                          <a:solidFill>
                            <a:srgbClr val="0070C0"/>
                          </a:solidFill>
                          <a:latin typeface="Times New Roman"/>
                        </a:rPr>
                        <a:t>  </a:t>
                      </a:r>
                      <a:r>
                        <a:rPr sz="1100" b="0" i="0">
                          <a:solidFill>
                            <a:srgbClr val="0070C0"/>
                          </a:solidFill>
                          <a:latin typeface="Calibri"/>
                        </a:rPr>
                        <a:t>Import/Export Policies and Allergen Product Registration Requirements</a:t>
                      </a:r>
                      <a:endParaRPr sz="1100"/>
                    </a:p>
                  </a:txBody>
                  <a:tcPr marL="428625" marR="9525" marT="9525" marB="0" anchor="ctr"/>
                </a:tc>
              </a:tr>
              <a:tr h="175260">
                <a:tc>
                  <a:txBody>
                    <a:bodyPr wrap="square"/>
                    <a:lstStyle/>
                    <a:p>
                      <a:pPr algn="l"/>
                      <a:r>
                        <a:rPr sz="1100" b="0" i="0">
                          <a:solidFill>
                            <a:srgbClr val="0070C0"/>
                          </a:solidFill>
                          <a:latin typeface="Calibri"/>
                        </a:rPr>
                        <a:t>27.3.</a:t>
                      </a:r>
                      <a:r>
                        <a:rPr sz="700" b="0" i="0">
                          <a:solidFill>
                            <a:srgbClr val="0070C0"/>
                          </a:solidFill>
                          <a:latin typeface="Times New Roman"/>
                        </a:rPr>
                        <a:t>  </a:t>
                      </a:r>
                      <a:r>
                        <a:rPr sz="1100" b="0" i="0">
                          <a:solidFill>
                            <a:srgbClr val="0070C0"/>
                          </a:solidFill>
                          <a:latin typeface="Calibri"/>
                        </a:rPr>
                        <a:t>Product Composition, Allergen Potency and Manufacturing Requirements</a:t>
                      </a:r>
                      <a:endParaRPr sz="1100"/>
                    </a:p>
                  </a:txBody>
                  <a:tcPr marL="428625" marR="9525" marT="9525" marB="0" anchor="ctr"/>
                </a:tc>
              </a:tr>
              <a:tr h="175260">
                <a:tc>
                  <a:txBody>
                    <a:bodyPr wrap="square"/>
                    <a:lstStyle/>
                    <a:p>
                      <a:pPr algn="l"/>
                      <a:r>
                        <a:rPr sz="1100" b="0" i="0">
                          <a:solidFill>
                            <a:srgbClr val="0070C0"/>
                          </a:solidFill>
                          <a:latin typeface="Calibri"/>
                        </a:rPr>
                        <a:t>27.4.</a:t>
                      </a:r>
                      <a:r>
                        <a:rPr sz="700" b="0" i="0">
                          <a:solidFill>
                            <a:srgbClr val="0070C0"/>
                          </a:solidFill>
                          <a:latin typeface="Times New Roman"/>
                        </a:rPr>
                        <a:t>  </a:t>
                      </a:r>
                      <a:r>
                        <a:rPr sz="1100" b="0" i="0">
                          <a:solidFill>
                            <a:srgbClr val="0070C0"/>
                          </a:solidFill>
                          <a:latin typeface="Calibri"/>
                        </a:rPr>
                        <a:t>Good Manufacturing Practices (GMP) and Quality Control Standards</a:t>
                      </a:r>
                      <a:endParaRPr sz="1100"/>
                    </a:p>
                  </a:txBody>
                  <a:tcPr marL="428625" marR="9525" marT="9525" marB="0" anchor="ctr"/>
                </a:tc>
              </a:tr>
              <a:tr h="175260">
                <a:tc>
                  <a:txBody>
                    <a:bodyPr wrap="square"/>
                    <a:lstStyle/>
                    <a:p>
                      <a:pPr algn="l"/>
                      <a:r>
                        <a:rPr sz="1100" b="0" i="0">
                          <a:solidFill>
                            <a:srgbClr val="0070C0"/>
                          </a:solidFill>
                          <a:latin typeface="Calibri"/>
                        </a:rPr>
                        <a:t>27.5.</a:t>
                      </a:r>
                      <a:r>
                        <a:rPr sz="700" b="0" i="0">
                          <a:solidFill>
                            <a:srgbClr val="0070C0"/>
                          </a:solidFill>
                          <a:latin typeface="Times New Roman"/>
                        </a:rPr>
                        <a:t>  </a:t>
                      </a:r>
                      <a:r>
                        <a:rPr sz="1100" b="0" i="0">
                          <a:solidFill>
                            <a:srgbClr val="0070C0"/>
                          </a:solidFill>
                          <a:latin typeface="Calibri"/>
                        </a:rPr>
                        <a:t>Standards as per institutions</a:t>
                      </a:r>
                      <a:endParaRPr sz="1100"/>
                    </a:p>
                  </a:txBody>
                  <a:tcPr marL="428625" marR="9525" marT="9525" marB="0" anchor="ctr"/>
                </a:tc>
              </a:tr>
              <a:tr h="175260">
                <a:tc>
                  <a:txBody>
                    <a:bodyPr wrap="square"/>
                    <a:lstStyle/>
                    <a:p>
                      <a:pPr algn="l"/>
                      <a:r>
                        <a:rPr sz="1100" b="0" i="0">
                          <a:solidFill>
                            <a:srgbClr val="000000"/>
                          </a:solidFill>
                          <a:latin typeface="Calibri"/>
                        </a:rPr>
                        <a:t>27.5.1.</a:t>
                      </a:r>
                      <a:r>
                        <a:rPr sz="700" b="0" i="0">
                          <a:solidFill>
                            <a:srgbClr val="000000"/>
                          </a:solidFill>
                          <a:latin typeface="Times New Roman"/>
                        </a:rPr>
                        <a:t> </a:t>
                      </a:r>
                      <a:r>
                        <a:rPr sz="1100" b="0" i="0">
                          <a:solidFill>
                            <a:srgbClr val="000000"/>
                          </a:solidFill>
                          <a:latin typeface="Calibri"/>
                        </a:rPr>
                        <a:t>FDA</a:t>
                      </a:r>
                      <a:endParaRPr sz="1100"/>
                    </a:p>
                  </a:txBody>
                  <a:tcPr marL="771525" marR="9525" marT="9525" marB="0" anchor="ctr"/>
                </a:tc>
              </a:tr>
              <a:tr h="175260">
                <a:tc>
                  <a:txBody>
                    <a:bodyPr wrap="square"/>
                    <a:lstStyle/>
                    <a:p>
                      <a:pPr algn="l"/>
                      <a:r>
                        <a:rPr sz="1100" b="0" i="0">
                          <a:solidFill>
                            <a:srgbClr val="000000"/>
                          </a:solidFill>
                          <a:latin typeface="Calibri"/>
                        </a:rPr>
                        <a:t>27.5.2.</a:t>
                      </a:r>
                      <a:r>
                        <a:rPr sz="700" b="0" i="0">
                          <a:solidFill>
                            <a:srgbClr val="000000"/>
                          </a:solidFill>
                          <a:latin typeface="Times New Roman"/>
                        </a:rPr>
                        <a:t> </a:t>
                      </a:r>
                      <a:r>
                        <a:rPr sz="1100" b="0" i="0">
                          <a:solidFill>
                            <a:srgbClr val="000000"/>
                          </a:solidFill>
                          <a:latin typeface="Calibri"/>
                        </a:rPr>
                        <a:t>EMA (European Medicines Agency)</a:t>
                      </a:r>
                      <a:endParaRPr sz="1100"/>
                    </a:p>
                  </a:txBody>
                  <a:tcPr marL="771525" marR="9525" marT="9525" marB="0" anchor="ctr"/>
                </a:tc>
              </a:tr>
              <a:tr h="175260">
                <a:tc>
                  <a:txBody>
                    <a:bodyPr wrap="square"/>
                    <a:lstStyle/>
                    <a:p>
                      <a:pPr algn="l"/>
                      <a:r>
                        <a:rPr sz="1100" b="0" i="0">
                          <a:solidFill>
                            <a:srgbClr val="000000"/>
                          </a:solidFill>
                          <a:latin typeface="Calibri"/>
                        </a:rPr>
                        <a:t>27.5.3.</a:t>
                      </a:r>
                      <a:r>
                        <a:rPr sz="700" b="0" i="0">
                          <a:solidFill>
                            <a:srgbClr val="000000"/>
                          </a:solidFill>
                          <a:latin typeface="Times New Roman"/>
                        </a:rPr>
                        <a:t> </a:t>
                      </a:r>
                      <a:r>
                        <a:rPr sz="1100" b="0" i="0">
                          <a:solidFill>
                            <a:srgbClr val="000000"/>
                          </a:solidFill>
                          <a:latin typeface="Calibri"/>
                        </a:rPr>
                        <a:t>European Commission</a:t>
                      </a:r>
                      <a:endParaRPr sz="1100"/>
                    </a:p>
                  </a:txBody>
                  <a:tcPr marL="771525" marR="9525" marT="9525" marB="0" anchor="ctr"/>
                </a:tc>
              </a:tr>
              <a:tr h="175260">
                <a:tc>
                  <a:txBody>
                    <a:bodyPr wrap="square"/>
                    <a:lstStyle/>
                    <a:p>
                      <a:pPr algn="l"/>
                      <a:r>
                        <a:rPr sz="1100" b="0" i="0">
                          <a:solidFill>
                            <a:srgbClr val="000000"/>
                          </a:solidFill>
                          <a:latin typeface="Calibri"/>
                        </a:rPr>
                        <a:t>27.5.4.</a:t>
                      </a:r>
                      <a:r>
                        <a:rPr sz="700" b="0" i="0">
                          <a:solidFill>
                            <a:srgbClr val="000000"/>
                          </a:solidFill>
                          <a:latin typeface="Times New Roman"/>
                        </a:rPr>
                        <a:t> </a:t>
                      </a:r>
                      <a:r>
                        <a:rPr sz="1100" b="0" i="0">
                          <a:solidFill>
                            <a:srgbClr val="000000"/>
                          </a:solidFill>
                          <a:latin typeface="Calibri"/>
                        </a:rPr>
                        <a:t>CDSCO (Central Drugs Standard Control Organisation, India)</a:t>
                      </a:r>
                      <a:endParaRPr sz="1100"/>
                    </a:p>
                  </a:txBody>
                  <a:tcPr marL="771525" marR="9525" marT="9525" marB="0" anchor="ctr"/>
                </a:tc>
              </a:tr>
              <a:tr h="350520">
                <a:tc>
                  <a:txBody>
                    <a:bodyPr wrap="square"/>
                    <a:lstStyle/>
                    <a:p>
                      <a:pPr algn="l"/>
                      <a:r>
                        <a:rPr sz="1100" b="0" i="0">
                          <a:solidFill>
                            <a:srgbClr val="000000"/>
                          </a:solidFill>
                          <a:latin typeface="Calibri"/>
                        </a:rPr>
                        <a:t>27.5.5.</a:t>
                      </a:r>
                      <a:r>
                        <a:rPr sz="700" b="0" i="0">
                          <a:solidFill>
                            <a:srgbClr val="000000"/>
                          </a:solidFill>
                          <a:latin typeface="Times New Roman"/>
                        </a:rPr>
                        <a:t> </a:t>
                      </a:r>
                      <a:r>
                        <a:rPr sz="1100" b="0" i="0">
                          <a:solidFill>
                            <a:srgbClr val="000000"/>
                          </a:solidFill>
                          <a:latin typeface="Calibri"/>
                        </a:rPr>
                        <a:t>FSSAI (Food Safety and Standards Authority of India, for applicable food allergen products such as oral immunotherapy products)</a:t>
                      </a:r>
                      <a:endParaRPr sz="1100"/>
                    </a:p>
                  </a:txBody>
                  <a:tcPr marL="771525" marR="9525" marT="9525" marB="0" anchor="ctr"/>
                </a:tc>
              </a:tr>
              <a:tr h="175260">
                <a:tc>
                  <a:txBody>
                    <a:bodyPr wrap="square"/>
                    <a:lstStyle/>
                    <a:p>
                      <a:pPr algn="l"/>
                      <a:r>
                        <a:rPr sz="1100" b="1" i="0">
                          <a:solidFill>
                            <a:srgbClr val="000000"/>
                          </a:solidFill>
                          <a:latin typeface="Calibri"/>
                        </a:rPr>
                        <a:t>28.</a:t>
                      </a:r>
                      <a:r>
                        <a:rPr sz="700" b="1" i="0">
                          <a:solidFill>
                            <a:srgbClr val="000000"/>
                          </a:solidFill>
                          <a:latin typeface="Times New Roman"/>
                        </a:rPr>
                        <a:t>    </a:t>
                      </a:r>
                      <a:r>
                        <a:rPr sz="1100" b="1" i="0">
                          <a:solidFill>
                            <a:srgbClr val="000000"/>
                          </a:solidFill>
                          <a:latin typeface="Calibri"/>
                        </a:rPr>
                        <a:t>Patent Expiry, Exclusivity, and Lifecycle Management Analysis</a:t>
                      </a:r>
                      <a:endParaRPr sz="1100"/>
                    </a:p>
                  </a:txBody>
                  <a:tcPr marL="171450" marR="9525" marT="9525" marB="0" anchor="ctr"/>
                </a:tc>
              </a:tr>
              <a:tr h="175260">
                <a:tc>
                  <a:txBody>
                    <a:bodyPr wrap="square"/>
                    <a:lstStyle/>
                    <a:p>
                      <a:pPr algn="l"/>
                      <a:r>
                        <a:rPr sz="1100" b="0" i="0">
                          <a:solidFill>
                            <a:srgbClr val="0070C0"/>
                          </a:solidFill>
                          <a:latin typeface="Calibri"/>
                        </a:rPr>
                        <a:t>28.1.</a:t>
                      </a:r>
                      <a:r>
                        <a:rPr sz="700" b="0" i="0">
                          <a:solidFill>
                            <a:srgbClr val="0070C0"/>
                          </a:solidFill>
                          <a:latin typeface="Times New Roman"/>
                        </a:rPr>
                        <a:t>  </a:t>
                      </a:r>
                      <a:r>
                        <a:rPr sz="1100" b="0" i="0">
                          <a:solidFill>
                            <a:srgbClr val="0070C0"/>
                          </a:solidFill>
                          <a:latin typeface="Calibri"/>
                        </a:rPr>
                        <a:t>Patent Landscape and Expiry Timeline for Key Allergy Immunotherapy Products</a:t>
                      </a:r>
                      <a:endParaRPr sz="1100"/>
                    </a:p>
                  </a:txBody>
                  <a:tcPr marL="428625" marR="9525" marT="9525" marB="0" anchor="ctr"/>
                </a:tc>
              </a:tr>
              <a:tr h="175260">
                <a:tc>
                  <a:txBody>
                    <a:bodyPr wrap="square"/>
                    <a:lstStyle/>
                    <a:p>
                      <a:pPr algn="l"/>
                      <a:r>
                        <a:rPr sz="1100" b="0" i="0">
                          <a:solidFill>
                            <a:srgbClr val="0070C0"/>
                          </a:solidFill>
                          <a:latin typeface="Calibri"/>
                        </a:rPr>
                        <a:t>28.2.</a:t>
                      </a:r>
                      <a:r>
                        <a:rPr sz="700" b="0" i="0">
                          <a:solidFill>
                            <a:srgbClr val="0070C0"/>
                          </a:solidFill>
                          <a:latin typeface="Times New Roman"/>
                        </a:rPr>
                        <a:t>  </a:t>
                      </a:r>
                      <a:r>
                        <a:rPr sz="1100" b="0" i="0">
                          <a:solidFill>
                            <a:srgbClr val="0070C0"/>
                          </a:solidFill>
                          <a:latin typeface="Calibri"/>
                        </a:rPr>
                        <a:t>Regulatory Exclusivity and Market Protection Periods by Product Type</a:t>
                      </a:r>
                      <a:endParaRPr sz="1100"/>
                    </a:p>
                  </a:txBody>
                  <a:tcPr marL="428625" marR="9525" marT="9525" marB="0" anchor="ctr"/>
                </a:tc>
              </a:tr>
              <a:tr h="175260">
                <a:tc>
                  <a:txBody>
                    <a:bodyPr wrap="square"/>
                    <a:lstStyle/>
                    <a:p>
                      <a:pPr algn="l"/>
                      <a:r>
                        <a:rPr sz="1100" b="0" i="0">
                          <a:solidFill>
                            <a:srgbClr val="0070C0"/>
                          </a:solidFill>
                          <a:latin typeface="Calibri"/>
                        </a:rPr>
                        <a:t>28.3.</a:t>
                      </a:r>
                      <a:r>
                        <a:rPr sz="700" b="0" i="0">
                          <a:solidFill>
                            <a:srgbClr val="0070C0"/>
                          </a:solidFill>
                          <a:latin typeface="Times New Roman"/>
                        </a:rPr>
                        <a:t>  </a:t>
                      </a:r>
                      <a:r>
                        <a:rPr sz="1100" b="0" i="0">
                          <a:solidFill>
                            <a:srgbClr val="0070C0"/>
                          </a:solidFill>
                          <a:latin typeface="Calibri"/>
                        </a:rPr>
                        <a:t>Generic Entry, Biosimilar Applicability and Competitive Entry Assessment</a:t>
                      </a:r>
                      <a:endParaRPr sz="1100"/>
                    </a:p>
                  </a:txBody>
                  <a:tcPr marL="428625" marR="9525" marT="9525" marB="0" anchor="ctr"/>
                </a:tc>
              </a:tr>
              <a:tr h="175260">
                <a:tc>
                  <a:txBody>
                    <a:bodyPr wrap="square"/>
                    <a:lstStyle/>
                    <a:p>
                      <a:pPr algn="l"/>
                      <a:r>
                        <a:rPr sz="1100" b="0" i="0">
                          <a:solidFill>
                            <a:srgbClr val="0070C0"/>
                          </a:solidFill>
                          <a:latin typeface="Calibri"/>
                        </a:rPr>
                        <a:t>28.4.</a:t>
                      </a:r>
                      <a:r>
                        <a:rPr sz="700" b="0" i="0">
                          <a:solidFill>
                            <a:srgbClr val="0070C0"/>
                          </a:solidFill>
                          <a:latin typeface="Times New Roman"/>
                        </a:rPr>
                        <a:t>  </a:t>
                      </a:r>
                      <a:r>
                        <a:rPr sz="1100" b="0" i="0">
                          <a:solidFill>
                            <a:srgbClr val="0070C0"/>
                          </a:solidFill>
                          <a:latin typeface="Calibri"/>
                        </a:rPr>
                        <a:t>Product Lifecycle Management Strategies and Formulation Innovation</a:t>
                      </a:r>
                      <a:endParaRPr sz="1100"/>
                    </a:p>
                  </a:txBody>
                  <a:tcPr marL="428625" marR="9525" marT="9525" marB="0" anchor="ctr"/>
                </a:tc>
              </a:tr>
              <a:tr h="175260">
                <a:tc>
                  <a:txBody>
                    <a:bodyPr wrap="square"/>
                    <a:lstStyle/>
                    <a:p>
                      <a:pPr algn="l"/>
                      <a:r>
                        <a:rPr sz="1100" b="0" i="0">
                          <a:solidFill>
                            <a:srgbClr val="0070C0"/>
                          </a:solidFill>
                          <a:latin typeface="Calibri"/>
                        </a:rPr>
                        <a:t>28.5.</a:t>
                      </a:r>
                      <a:r>
                        <a:rPr sz="700" b="0" i="0">
                          <a:solidFill>
                            <a:srgbClr val="0070C0"/>
                          </a:solidFill>
                          <a:latin typeface="Times New Roman"/>
                        </a:rPr>
                        <a:t>  </a:t>
                      </a:r>
                      <a:r>
                        <a:rPr sz="1100" b="0" i="0">
                          <a:solidFill>
                            <a:srgbClr val="0070C0"/>
                          </a:solidFill>
                          <a:latin typeface="Calibri"/>
                        </a:rPr>
                        <a:t>Patent Extensions, Supplementary Protection Certificates and Exclusivity Strategies</a:t>
                      </a:r>
                      <a:endParaRPr sz="1100"/>
                    </a:p>
                  </a:txBody>
                  <a:tcPr marL="428625" marR="9525" marT="9525" marB="0" anchor="ctr"/>
                </a:tc>
              </a:tr>
              <a:tr h="175260">
                <a:tc>
                  <a:txBody>
                    <a:bodyPr wrap="square"/>
                    <a:lstStyle/>
                    <a:p>
                      <a:pPr algn="l"/>
                      <a:r>
                        <a:rPr sz="1100" b="0" i="0">
                          <a:solidFill>
                            <a:srgbClr val="0070C0"/>
                          </a:solidFill>
                          <a:latin typeface="Calibri"/>
                        </a:rPr>
                        <a:t>28.6.</a:t>
                      </a:r>
                      <a:r>
                        <a:rPr sz="700" b="0" i="0">
                          <a:solidFill>
                            <a:srgbClr val="0070C0"/>
                          </a:solidFill>
                          <a:latin typeface="Times New Roman"/>
                        </a:rPr>
                        <a:t>  </a:t>
                      </a:r>
                      <a:r>
                        <a:rPr sz="1100" b="0" i="0">
                          <a:solidFill>
                            <a:srgbClr val="0070C0"/>
                          </a:solidFill>
                          <a:latin typeface="Calibri"/>
                        </a:rPr>
                        <a:t>Impact of Patent Expiry on Pricing, Market Competition and Revenue Erosion</a:t>
                      </a:r>
                      <a:endParaRPr sz="1100"/>
                    </a:p>
                  </a:txBody>
                  <a:tcPr marL="428625" marR="9525" marT="9525" marB="0" anchor="ctr"/>
                </a:tc>
              </a:tr>
              <a:tr h="175260">
                <a:tc>
                  <a:txBody>
                    <a:bodyPr wrap="square"/>
                    <a:lstStyle/>
                    <a:p>
                      <a:pPr algn="l"/>
                      <a:r>
                        <a:rPr sz="1100" b="1" i="0">
                          <a:solidFill>
                            <a:srgbClr val="000000"/>
                          </a:solidFill>
                          <a:latin typeface="Calibri"/>
                        </a:rPr>
                        <a:t>Section 5: Production and Trade Outlook</a:t>
                      </a:r>
                      <a:endParaRPr sz="1100"/>
                    </a:p>
                  </a:txBody>
                  <a:tcPr marL="9525" marR="9525" marT="9525" marB="0" anchor="ctr"/>
                </a:tc>
              </a:tr>
              <a:tr h="175260">
                <a:tc>
                  <a:txBody>
                    <a:bodyPr wrap="square"/>
                    <a:lstStyle/>
                    <a:p>
                      <a:pPr algn="l"/>
                      <a:r>
                        <a:rPr sz="1100" b="1" i="0">
                          <a:solidFill>
                            <a:srgbClr val="000000"/>
                          </a:solidFill>
                          <a:latin typeface="Calibri"/>
                        </a:rPr>
                        <a:t>29.</a:t>
                      </a:r>
                      <a:r>
                        <a:rPr sz="700" b="1" i="0">
                          <a:solidFill>
                            <a:srgbClr val="000000"/>
                          </a:solidFill>
                          <a:latin typeface="Times New Roman"/>
                        </a:rPr>
                        <a:t>    </a:t>
                      </a:r>
                      <a:r>
                        <a:rPr sz="1100" b="1" i="0">
                          <a:solidFill>
                            <a:srgbClr val="000000"/>
                          </a:solidFill>
                          <a:latin typeface="Calibri"/>
                        </a:rPr>
                        <a:t>Global Market- Production and Trade Analysis</a:t>
                      </a:r>
                      <a:endParaRPr sz="1100"/>
                    </a:p>
                  </a:txBody>
                  <a:tcPr marL="171450" marR="9525" marT="9525" marB="0" anchor="ctr"/>
                </a:tc>
              </a:tr>
              <a:tr h="175260">
                <a:tc>
                  <a:txBody>
                    <a:bodyPr wrap="square"/>
                    <a:lstStyle/>
                    <a:p>
                      <a:pPr algn="l"/>
                      <a:r>
                        <a:rPr sz="1100" b="0" i="0">
                          <a:solidFill>
                            <a:srgbClr val="0070C0"/>
                          </a:solidFill>
                          <a:latin typeface="Calibri"/>
                        </a:rPr>
                        <a:t>29.1.</a:t>
                      </a:r>
                      <a:r>
                        <a:rPr sz="700" b="0" i="0">
                          <a:solidFill>
                            <a:srgbClr val="0070C0"/>
                          </a:solidFill>
                          <a:latin typeface="Times New Roman"/>
                        </a:rPr>
                        <a:t>  </a:t>
                      </a:r>
                      <a:r>
                        <a:rPr sz="1100" b="0" i="0">
                          <a:solidFill>
                            <a:srgbClr val="0070C0"/>
                          </a:solidFill>
                          <a:latin typeface="Calibri"/>
                        </a:rPr>
                        <a:t>Production Volume (Units), (2021-2026) by Region/ Country</a:t>
                      </a:r>
                      <a:endParaRPr sz="1100"/>
                    </a:p>
                  </a:txBody>
                  <a:tcPr marL="428625" marR="9525" marT="9525" marB="0" anchor="ctr"/>
                </a:tc>
              </a:tr>
              <a:tr h="175260">
                <a:tc>
                  <a:txBody>
                    <a:bodyPr wrap="square"/>
                    <a:lstStyle/>
                    <a:p>
                      <a:pPr algn="l"/>
                      <a:r>
                        <a:rPr sz="1100" b="0" i="0">
                          <a:solidFill>
                            <a:srgbClr val="0070C0"/>
                          </a:solidFill>
                          <a:latin typeface="Calibri"/>
                        </a:rPr>
                        <a:t>29.2.</a:t>
                      </a:r>
                      <a:r>
                        <a:rPr sz="700" b="0" i="0">
                          <a:solidFill>
                            <a:srgbClr val="0070C0"/>
                          </a:solidFill>
                          <a:latin typeface="Times New Roman"/>
                        </a:rPr>
                        <a:t>  </a:t>
                      </a:r>
                      <a:r>
                        <a:rPr sz="1100" b="0" i="0">
                          <a:solidFill>
                            <a:srgbClr val="0070C0"/>
                          </a:solidFill>
                          <a:latin typeface="Calibri"/>
                        </a:rPr>
                        <a:t>Production and Manufacturing Capacity of Allergen Immunotherapy Products</a:t>
                      </a:r>
                      <a:endParaRPr sz="1100"/>
                    </a:p>
                  </a:txBody>
                  <a:tcPr marL="428625" marR="9525" marT="9525" marB="0" anchor="ctr"/>
                </a:tc>
              </a:tr>
              <a:tr h="175260">
                <a:tc>
                  <a:txBody>
                    <a:bodyPr wrap="square"/>
                    <a:lstStyle/>
                    <a:p>
                      <a:pPr algn="l"/>
                      <a:r>
                        <a:rPr sz="1100" b="0" i="0">
                          <a:solidFill>
                            <a:srgbClr val="0070C0"/>
                          </a:solidFill>
                          <a:latin typeface="Calibri"/>
                        </a:rPr>
                        <a:t>29.3.</a:t>
                      </a:r>
                      <a:r>
                        <a:rPr sz="700" b="0" i="0">
                          <a:solidFill>
                            <a:srgbClr val="0070C0"/>
                          </a:solidFill>
                          <a:latin typeface="Times New Roman"/>
                        </a:rPr>
                        <a:t>  </a:t>
                      </a:r>
                      <a:r>
                        <a:rPr sz="1100" b="0" i="0">
                          <a:solidFill>
                            <a:srgbClr val="0070C0"/>
                          </a:solidFill>
                          <a:latin typeface="Calibri"/>
                        </a:rPr>
                        <a:t>Exports: Key Countries, Share &amp; Value (US$ Mn / Units)</a:t>
                      </a:r>
                      <a:endParaRPr sz="1100"/>
                    </a:p>
                  </a:txBody>
                  <a:tcPr marL="428625" marR="9525" marT="9525" marB="0" anchor="ctr"/>
                </a:tc>
              </a:tr>
              <a:tr h="175260">
                <a:tc>
                  <a:txBody>
                    <a:bodyPr wrap="square"/>
                    <a:lstStyle/>
                    <a:p>
                      <a:pPr algn="l"/>
                      <a:r>
                        <a:rPr sz="1100" b="0" i="0">
                          <a:solidFill>
                            <a:srgbClr val="0070C0"/>
                          </a:solidFill>
                          <a:latin typeface="Calibri"/>
                        </a:rPr>
                        <a:t>29.4.</a:t>
                      </a:r>
                      <a:r>
                        <a:rPr sz="700" b="0" i="0">
                          <a:solidFill>
                            <a:srgbClr val="0070C0"/>
                          </a:solidFill>
                          <a:latin typeface="Times New Roman"/>
                        </a:rPr>
                        <a:t>  </a:t>
                      </a:r>
                      <a:r>
                        <a:rPr sz="1100" b="0" i="0">
                          <a:solidFill>
                            <a:srgbClr val="0070C0"/>
                          </a:solidFill>
                          <a:latin typeface="Calibri"/>
                        </a:rPr>
                        <a:t>Imports: Key Countries, Share &amp; Value (US$ Mn / Units)</a:t>
                      </a:r>
                      <a:endParaRPr sz="1100"/>
                    </a:p>
                  </a:txBody>
                  <a:tcPr marL="428625" marR="9525" marT="9525" marB="0" anchor="ctr"/>
                </a:tc>
              </a:tr>
              <a:tr h="175260">
                <a:tc>
                  <a:txBody>
                    <a:bodyPr wrap="square"/>
                    <a:lstStyle/>
                    <a:p>
                      <a:pPr algn="l"/>
                      <a:r>
                        <a:rPr sz="1100" b="0" i="0">
                          <a:solidFill>
                            <a:srgbClr val="0070C0"/>
                          </a:solidFill>
                          <a:latin typeface="Calibri"/>
                        </a:rPr>
                        <a:t>29.5.</a:t>
                      </a:r>
                      <a:r>
                        <a:rPr sz="700" b="0" i="0">
                          <a:solidFill>
                            <a:srgbClr val="0070C0"/>
                          </a:solidFill>
                          <a:latin typeface="Times New Roman"/>
                        </a:rPr>
                        <a:t>  </a:t>
                      </a:r>
                      <a:r>
                        <a:rPr sz="1100" b="0" i="0">
                          <a:solidFill>
                            <a:srgbClr val="0070C0"/>
                          </a:solidFill>
                          <a:latin typeface="Calibri"/>
                        </a:rPr>
                        <a:t>Global Supply-Demand Overview (Prod., Sales, Import, Export)</a:t>
                      </a:r>
                      <a:endParaRPr sz="1100"/>
                    </a:p>
                  </a:txBody>
                  <a:tcPr marL="428625" marR="9525" marT="9525" marB="0" anchor="ctr"/>
                </a:tc>
              </a:tr>
              <a:tr h="175260">
                <a:tc>
                  <a:txBody>
                    <a:bodyPr wrap="square"/>
                    <a:lstStyle/>
                    <a:p>
                      <a:pPr algn="l"/>
                      <a:r>
                        <a:rPr sz="1100" b="1" i="0">
                          <a:solidFill>
                            <a:srgbClr val="000000"/>
                          </a:solidFill>
                          <a:latin typeface="Calibri"/>
                        </a:rPr>
                        <a:t>30.</a:t>
                      </a:r>
                      <a:r>
                        <a:rPr sz="700" b="1" i="0">
                          <a:solidFill>
                            <a:srgbClr val="000000"/>
                          </a:solidFill>
                          <a:latin typeface="Times New Roman"/>
                        </a:rPr>
                        <a:t>    </a:t>
                      </a:r>
                      <a:r>
                        <a:rPr sz="1100" b="1" i="0">
                          <a:solidFill>
                            <a:srgbClr val="000000"/>
                          </a:solidFill>
                          <a:latin typeface="Calibri"/>
                        </a:rPr>
                        <a:t>API / Allergen Sourcing and Supply Risk Analysis</a:t>
                      </a:r>
                      <a:endParaRPr sz="1100"/>
                    </a:p>
                  </a:txBody>
                  <a:tcPr marL="171450" marR="9525" marT="9525" marB="0" anchor="ctr"/>
                </a:tc>
              </a:tr>
              <a:tr h="175260">
                <a:tc>
                  <a:txBody>
                    <a:bodyPr wrap="square"/>
                    <a:lstStyle/>
                    <a:p>
                      <a:pPr algn="l"/>
                      <a:r>
                        <a:rPr sz="1100" b="0" i="0">
                          <a:solidFill>
                            <a:srgbClr val="0070C0"/>
                          </a:solidFill>
                          <a:latin typeface="Calibri"/>
                        </a:rPr>
                        <a:t>30.1.</a:t>
                      </a:r>
                      <a:r>
                        <a:rPr sz="700" b="0" i="0">
                          <a:solidFill>
                            <a:srgbClr val="0070C0"/>
                          </a:solidFill>
                          <a:latin typeface="Times New Roman"/>
                        </a:rPr>
                        <a:t>  </a:t>
                      </a:r>
                      <a:r>
                        <a:rPr sz="1100" b="0" i="0">
                          <a:solidFill>
                            <a:srgbClr val="0070C0"/>
                          </a:solidFill>
                          <a:latin typeface="Calibri"/>
                        </a:rPr>
                        <a:t>Allergen Source Identification and Raw Material Availability</a:t>
                      </a:r>
                      <a:endParaRPr sz="1100"/>
                    </a:p>
                  </a:txBody>
                  <a:tcPr marL="428625" marR="9525" marT="9525" marB="0" anchor="ctr"/>
                </a:tc>
              </a:tr>
              <a:tr h="175260">
                <a:tc>
                  <a:txBody>
                    <a:bodyPr wrap="square"/>
                    <a:lstStyle/>
                    <a:p>
                      <a:pPr algn="l"/>
                      <a:r>
                        <a:rPr sz="1100" b="0" i="0">
                          <a:solidFill>
                            <a:srgbClr val="0070C0"/>
                          </a:solidFill>
                          <a:latin typeface="Calibri"/>
                        </a:rPr>
                        <a:t>30.2.</a:t>
                      </a:r>
                      <a:r>
                        <a:rPr sz="700" b="0" i="0">
                          <a:solidFill>
                            <a:srgbClr val="0070C0"/>
                          </a:solidFill>
                          <a:latin typeface="Times New Roman"/>
                        </a:rPr>
                        <a:t>  </a:t>
                      </a:r>
                      <a:r>
                        <a:rPr sz="1100" b="0" i="0">
                          <a:solidFill>
                            <a:srgbClr val="0070C0"/>
                          </a:solidFill>
                          <a:latin typeface="Calibri"/>
                        </a:rPr>
                        <a:t>Key Allergen Extract Suppliers and Sourcing Geography</a:t>
                      </a:r>
                      <a:endParaRPr sz="1100"/>
                    </a:p>
                  </a:txBody>
                  <a:tcPr marL="428625" marR="9525" marT="9525" marB="0" anchor="ctr"/>
                </a:tc>
              </a:tr>
              <a:tr h="175260">
                <a:tc>
                  <a:txBody>
                    <a:bodyPr wrap="square"/>
                    <a:lstStyle/>
                    <a:p>
                      <a:pPr algn="l"/>
                      <a:r>
                        <a:rPr sz="1100" b="0" i="0">
                          <a:solidFill>
                            <a:srgbClr val="0070C0"/>
                          </a:solidFill>
                          <a:latin typeface="Calibri"/>
                        </a:rPr>
                        <a:t>30.3.</a:t>
                      </a:r>
                      <a:r>
                        <a:rPr sz="700" b="0" i="0">
                          <a:solidFill>
                            <a:srgbClr val="0070C0"/>
                          </a:solidFill>
                          <a:latin typeface="Times New Roman"/>
                        </a:rPr>
                        <a:t>  </a:t>
                      </a:r>
                      <a:r>
                        <a:rPr sz="1100" b="0" i="0">
                          <a:solidFill>
                            <a:srgbClr val="0070C0"/>
                          </a:solidFill>
                          <a:latin typeface="Calibri"/>
                        </a:rPr>
                        <a:t>Supply Chain Dependency and Supplier Concentration Analysis</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30.4.</a:t>
                      </a:r>
                      <a:r>
                        <a:rPr sz="700" b="0" i="0">
                          <a:solidFill>
                            <a:srgbClr val="0070C0"/>
                          </a:solidFill>
                          <a:latin typeface="Times New Roman"/>
                        </a:rPr>
                        <a:t>  </a:t>
                      </a:r>
                      <a:r>
                        <a:rPr sz="1100" b="0" i="0">
                          <a:solidFill>
                            <a:srgbClr val="0070C0"/>
                          </a:solidFill>
                          <a:latin typeface="Calibri"/>
                        </a:rPr>
                        <a:t>Raw Material Quality, Potency Standardization and Traceability</a:t>
                      </a:r>
                      <a:endParaRPr sz="1100"/>
                    </a:p>
                  </a:txBody>
                  <a:tcPr marL="428625" marR="9525" marT="9525" marB="0" anchor="ctr"/>
                </a:tc>
              </a:tr>
              <a:tr h="175260">
                <a:tc>
                  <a:txBody>
                    <a:bodyPr wrap="square"/>
                    <a:lstStyle/>
                    <a:p>
                      <a:pPr algn="l"/>
                      <a:r>
                        <a:rPr sz="1100" b="0" i="0">
                          <a:solidFill>
                            <a:srgbClr val="0070C0"/>
                          </a:solidFill>
                          <a:latin typeface="Calibri"/>
                        </a:rPr>
                        <a:t>30.5.</a:t>
                      </a:r>
                      <a:r>
                        <a:rPr sz="700" b="0" i="0">
                          <a:solidFill>
                            <a:srgbClr val="0070C0"/>
                          </a:solidFill>
                          <a:latin typeface="Times New Roman"/>
                        </a:rPr>
                        <a:t>  </a:t>
                      </a:r>
                      <a:r>
                        <a:rPr sz="1100" b="0" i="0">
                          <a:solidFill>
                            <a:srgbClr val="0070C0"/>
                          </a:solidFill>
                          <a:latin typeface="Calibri"/>
                        </a:rPr>
                        <a:t>Supply Disruptions, Seasonal Availability and Procurement Risks</a:t>
                      </a:r>
                      <a:endParaRPr sz="1100"/>
                    </a:p>
                  </a:txBody>
                  <a:tcPr marL="428625" marR="9525" marT="9525" marB="0" anchor="ctr"/>
                </a:tc>
              </a:tr>
              <a:tr h="175260">
                <a:tc>
                  <a:txBody>
                    <a:bodyPr wrap="square"/>
                    <a:lstStyle/>
                    <a:p>
                      <a:pPr algn="l"/>
                      <a:r>
                        <a:rPr sz="1100" b="0" i="0">
                          <a:solidFill>
                            <a:srgbClr val="0070C0"/>
                          </a:solidFill>
                          <a:latin typeface="Calibri"/>
                        </a:rPr>
                        <a:t>30.6.</a:t>
                      </a:r>
                      <a:r>
                        <a:rPr sz="700" b="0" i="0">
                          <a:solidFill>
                            <a:srgbClr val="0070C0"/>
                          </a:solidFill>
                          <a:latin typeface="Times New Roman"/>
                        </a:rPr>
                        <a:t>  </a:t>
                      </a:r>
                      <a:r>
                        <a:rPr sz="1100" b="0" i="0">
                          <a:solidFill>
                            <a:srgbClr val="0070C0"/>
                          </a:solidFill>
                          <a:latin typeface="Calibri"/>
                        </a:rPr>
                        <a:t>Sourcing Cost Trends and Supply Chain Risk Mitigation Strategies</a:t>
                      </a:r>
                      <a:endParaRPr sz="1100"/>
                    </a:p>
                  </a:txBody>
                  <a:tcPr marL="428625" marR="9525" marT="9525" marB="0" anchor="ctr"/>
                </a:tc>
              </a:tr>
              <a:tr h="175260">
                <a:tc>
                  <a:txBody>
                    <a:bodyPr wrap="square"/>
                    <a:lstStyle/>
                    <a:p>
                      <a:pPr algn="l"/>
                      <a:r>
                        <a:rPr sz="1100" b="1" i="0">
                          <a:solidFill>
                            <a:srgbClr val="000000"/>
                          </a:solidFill>
                          <a:latin typeface="Calibri"/>
                        </a:rPr>
                        <a:t>31.</a:t>
                      </a:r>
                      <a:r>
                        <a:rPr sz="700" b="1" i="0">
                          <a:solidFill>
                            <a:srgbClr val="000000"/>
                          </a:solidFill>
                          <a:latin typeface="Times New Roman"/>
                        </a:rPr>
                        <a:t>    </a:t>
                      </a:r>
                      <a:r>
                        <a:rPr sz="1100" b="1" i="0">
                          <a:solidFill>
                            <a:srgbClr val="000000"/>
                          </a:solidFill>
                          <a:latin typeface="Calibri"/>
                        </a:rPr>
                        <a:t>Manufacturing Capacity and Utilization Analysis</a:t>
                      </a:r>
                      <a:endParaRPr sz="1100"/>
                    </a:p>
                  </a:txBody>
                  <a:tcPr marL="171450" marR="9525" marT="9525" marB="0" anchor="ctr"/>
                </a:tc>
              </a:tr>
              <a:tr h="175260">
                <a:tc>
                  <a:txBody>
                    <a:bodyPr wrap="square"/>
                    <a:lstStyle/>
                    <a:p>
                      <a:pPr algn="l"/>
                      <a:r>
                        <a:rPr sz="1100" b="0" i="0">
                          <a:solidFill>
                            <a:srgbClr val="0070C0"/>
                          </a:solidFill>
                          <a:latin typeface="Calibri"/>
                        </a:rPr>
                        <a:t>31.1.</a:t>
                      </a:r>
                      <a:r>
                        <a:rPr sz="700" b="0" i="0">
                          <a:solidFill>
                            <a:srgbClr val="0070C0"/>
                          </a:solidFill>
                          <a:latin typeface="Times New Roman"/>
                        </a:rPr>
                        <a:t>  </a:t>
                      </a:r>
                      <a:r>
                        <a:rPr sz="1100" b="0" i="0">
                          <a:solidFill>
                            <a:srgbClr val="0070C0"/>
                          </a:solidFill>
                          <a:latin typeface="Calibri"/>
                        </a:rPr>
                        <a:t>Installed Manufacturing Capacity by Region and Country</a:t>
                      </a:r>
                      <a:endParaRPr sz="1100"/>
                    </a:p>
                  </a:txBody>
                  <a:tcPr marL="428625" marR="9525" marT="9525" marB="0" anchor="ctr"/>
                </a:tc>
              </a:tr>
              <a:tr h="175260">
                <a:tc>
                  <a:txBody>
                    <a:bodyPr wrap="square"/>
                    <a:lstStyle/>
                    <a:p>
                      <a:pPr algn="l"/>
                      <a:r>
                        <a:rPr sz="1100" b="0" i="0">
                          <a:solidFill>
                            <a:srgbClr val="0070C0"/>
                          </a:solidFill>
                          <a:latin typeface="Calibri"/>
                        </a:rPr>
                        <a:t>31.2.</a:t>
                      </a:r>
                      <a:r>
                        <a:rPr sz="700" b="0" i="0">
                          <a:solidFill>
                            <a:srgbClr val="0070C0"/>
                          </a:solidFill>
                          <a:latin typeface="Times New Roman"/>
                        </a:rPr>
                        <a:t>  </a:t>
                      </a:r>
                      <a:r>
                        <a:rPr sz="1100" b="0" i="0">
                          <a:solidFill>
                            <a:srgbClr val="0070C0"/>
                          </a:solidFill>
                          <a:latin typeface="Calibri"/>
                        </a:rPr>
                        <a:t>Production Capacity by Therapy Format and Product Type</a:t>
                      </a:r>
                      <a:endParaRPr sz="1100"/>
                    </a:p>
                  </a:txBody>
                  <a:tcPr marL="428625" marR="9525" marT="9525" marB="0" anchor="ctr"/>
                </a:tc>
              </a:tr>
              <a:tr h="175260">
                <a:tc>
                  <a:txBody>
                    <a:bodyPr wrap="square"/>
                    <a:lstStyle/>
                    <a:p>
                      <a:pPr algn="l"/>
                      <a:r>
                        <a:rPr sz="1100" b="0" i="0">
                          <a:solidFill>
                            <a:srgbClr val="0070C0"/>
                          </a:solidFill>
                          <a:latin typeface="Calibri"/>
                        </a:rPr>
                        <a:t>31.3.</a:t>
                      </a:r>
                      <a:r>
                        <a:rPr sz="700" b="0" i="0">
                          <a:solidFill>
                            <a:srgbClr val="0070C0"/>
                          </a:solidFill>
                          <a:latin typeface="Times New Roman"/>
                        </a:rPr>
                        <a:t>  </a:t>
                      </a:r>
                      <a:r>
                        <a:rPr sz="1100" b="0" i="0">
                          <a:solidFill>
                            <a:srgbClr val="0070C0"/>
                          </a:solidFill>
                          <a:latin typeface="Calibri"/>
                        </a:rPr>
                        <a:t>Manufacturing Capacity Utilization Rates and Production Efficiency</a:t>
                      </a:r>
                      <a:endParaRPr sz="1100"/>
                    </a:p>
                  </a:txBody>
                  <a:tcPr marL="428625" marR="9525" marT="9525" marB="0" anchor="ctr"/>
                </a:tc>
              </a:tr>
              <a:tr h="175260">
                <a:tc>
                  <a:txBody>
                    <a:bodyPr wrap="square"/>
                    <a:lstStyle/>
                    <a:p>
                      <a:pPr algn="l"/>
                      <a:r>
                        <a:rPr sz="1100" b="0" i="0">
                          <a:solidFill>
                            <a:srgbClr val="0070C0"/>
                          </a:solidFill>
                          <a:latin typeface="Calibri"/>
                        </a:rPr>
                        <a:t>31.4.</a:t>
                      </a:r>
                      <a:r>
                        <a:rPr sz="700" b="0" i="0">
                          <a:solidFill>
                            <a:srgbClr val="0070C0"/>
                          </a:solidFill>
                          <a:latin typeface="Times New Roman"/>
                        </a:rPr>
                        <a:t>  </a:t>
                      </a:r>
                      <a:r>
                        <a:rPr sz="1100" b="0" i="0">
                          <a:solidFill>
                            <a:srgbClr val="0070C0"/>
                          </a:solidFill>
                          <a:latin typeface="Calibri"/>
                        </a:rPr>
                        <a:t>Manufacturing Facility Footprint and Geographic Distribution</a:t>
                      </a:r>
                      <a:endParaRPr sz="1100"/>
                    </a:p>
                  </a:txBody>
                  <a:tcPr marL="428625" marR="9525" marT="9525" marB="0" anchor="ctr"/>
                </a:tc>
              </a:tr>
              <a:tr h="175260">
                <a:tc>
                  <a:txBody>
                    <a:bodyPr wrap="square"/>
                    <a:lstStyle/>
                    <a:p>
                      <a:pPr algn="l"/>
                      <a:r>
                        <a:rPr sz="1100" b="0" i="0">
                          <a:solidFill>
                            <a:srgbClr val="0070C0"/>
                          </a:solidFill>
                          <a:latin typeface="Calibri"/>
                        </a:rPr>
                        <a:t>31.5.</a:t>
                      </a:r>
                      <a:r>
                        <a:rPr sz="700" b="0" i="0">
                          <a:solidFill>
                            <a:srgbClr val="0070C0"/>
                          </a:solidFill>
                          <a:latin typeface="Times New Roman"/>
                        </a:rPr>
                        <a:t>  </a:t>
                      </a:r>
                      <a:r>
                        <a:rPr sz="1100" b="0" i="0">
                          <a:solidFill>
                            <a:srgbClr val="0070C0"/>
                          </a:solidFill>
                          <a:latin typeface="Calibri"/>
                        </a:rPr>
                        <a:t>Capacity Expansion, Facility Investments and Technology Upgrades</a:t>
                      </a:r>
                      <a:endParaRPr sz="1100"/>
                    </a:p>
                  </a:txBody>
                  <a:tcPr marL="428625" marR="9525" marT="9525" marB="0" anchor="ctr"/>
                </a:tc>
              </a:tr>
              <a:tr h="175260">
                <a:tc>
                  <a:txBody>
                    <a:bodyPr wrap="square"/>
                    <a:lstStyle/>
                    <a:p>
                      <a:pPr algn="l"/>
                      <a:r>
                        <a:rPr sz="1100" b="0" i="0">
                          <a:solidFill>
                            <a:srgbClr val="0070C0"/>
                          </a:solidFill>
                          <a:latin typeface="Calibri"/>
                        </a:rPr>
                        <a:t>31.6.</a:t>
                      </a:r>
                      <a:r>
                        <a:rPr sz="700" b="0" i="0">
                          <a:solidFill>
                            <a:srgbClr val="0070C0"/>
                          </a:solidFill>
                          <a:latin typeface="Times New Roman"/>
                        </a:rPr>
                        <a:t>  </a:t>
                      </a:r>
                      <a:r>
                        <a:rPr sz="1100" b="0" i="0">
                          <a:solidFill>
                            <a:srgbClr val="0070C0"/>
                          </a:solidFill>
                          <a:latin typeface="Calibri"/>
                        </a:rPr>
                        <a:t>Manufacturing Constraints, Bottlenecks and Scalability Assessment</a:t>
                      </a:r>
                      <a:endParaRPr sz="1100"/>
                    </a:p>
                  </a:txBody>
                  <a:tcPr marL="428625" marR="9525" marT="9525" marB="0" anchor="ctr"/>
                </a:tc>
              </a:tr>
              <a:tr h="175260">
                <a:tc>
                  <a:txBody>
                    <a:bodyPr wrap="square"/>
                    <a:lstStyle/>
                    <a:p>
                      <a:pPr algn="l"/>
                      <a:r>
                        <a:rPr sz="1100" b="1" i="0">
                          <a:solidFill>
                            <a:srgbClr val="000000"/>
                          </a:solidFill>
                          <a:latin typeface="Calibri"/>
                        </a:rPr>
                        <a:t>32.</a:t>
                      </a:r>
                      <a:r>
                        <a:rPr sz="700" b="1" i="0">
                          <a:solidFill>
                            <a:srgbClr val="000000"/>
                          </a:solidFill>
                          <a:latin typeface="Times New Roman"/>
                        </a:rPr>
                        <a:t>    </a:t>
                      </a:r>
                      <a:r>
                        <a:rPr sz="1100" b="1" i="0">
                          <a:solidFill>
                            <a:srgbClr val="000000"/>
                          </a:solidFill>
                          <a:latin typeface="Calibri"/>
                        </a:rPr>
                        <a:t>Value Chain Analysis</a:t>
                      </a:r>
                      <a:endParaRPr sz="1100"/>
                    </a:p>
                  </a:txBody>
                  <a:tcPr marL="171450" marR="9525" marT="9525" marB="0" anchor="ctr"/>
                </a:tc>
              </a:tr>
              <a:tr h="175260">
                <a:tc>
                  <a:txBody>
                    <a:bodyPr wrap="square"/>
                    <a:lstStyle/>
                    <a:p>
                      <a:pPr algn="l"/>
                      <a:r>
                        <a:rPr sz="1100" b="0" i="0">
                          <a:solidFill>
                            <a:srgbClr val="0070C0"/>
                          </a:solidFill>
                          <a:latin typeface="Calibri"/>
                        </a:rPr>
                        <a:t>32.1.</a:t>
                      </a:r>
                      <a:r>
                        <a:rPr sz="700" b="0" i="0">
                          <a:solidFill>
                            <a:srgbClr val="0070C0"/>
                          </a:solidFill>
                          <a:latin typeface="Times New Roman"/>
                        </a:rPr>
                        <a:t>  </a:t>
                      </a:r>
                      <a:r>
                        <a:rPr sz="1100" b="0" i="0">
                          <a:solidFill>
                            <a:srgbClr val="0070C0"/>
                          </a:solidFill>
                          <a:latin typeface="Calibri"/>
                        </a:rPr>
                        <a:t>Industry-Wide Operating Margin</a:t>
                      </a:r>
                      <a:endParaRPr sz="1100"/>
                    </a:p>
                  </a:txBody>
                  <a:tcPr marL="428625" marR="9525" marT="9525" marB="0" anchor="ctr"/>
                </a:tc>
              </a:tr>
              <a:tr h="175260">
                <a:tc>
                  <a:txBody>
                    <a:bodyPr wrap="square"/>
                    <a:lstStyle/>
                    <a:p>
                      <a:pPr algn="l"/>
                      <a:r>
                        <a:rPr sz="1100" b="0" i="0">
                          <a:solidFill>
                            <a:srgbClr val="000000"/>
                          </a:solidFill>
                          <a:latin typeface="Calibri"/>
                        </a:rPr>
                        <a:t>32.1.1.</a:t>
                      </a:r>
                      <a:r>
                        <a:rPr sz="700" b="0" i="0">
                          <a:solidFill>
                            <a:srgbClr val="000000"/>
                          </a:solidFill>
                          <a:latin typeface="Times New Roman"/>
                        </a:rPr>
                        <a:t> </a:t>
                      </a:r>
                      <a:r>
                        <a:rPr sz="1100" b="0" i="0">
                          <a:solidFill>
                            <a:srgbClr val="000000"/>
                          </a:solidFill>
                          <a:latin typeface="Calibri"/>
                        </a:rPr>
                        <a:t>Operating margins at each node of supply chain</a:t>
                      </a:r>
                      <a:endParaRPr sz="1100"/>
                    </a:p>
                  </a:txBody>
                  <a:tcPr marL="771525" marR="9525" marT="9525" marB="0" anchor="ctr"/>
                </a:tc>
              </a:tr>
              <a:tr h="175260">
                <a:tc>
                  <a:txBody>
                    <a:bodyPr wrap="square"/>
                    <a:lstStyle/>
                    <a:p>
                      <a:pPr algn="l"/>
                      <a:r>
                        <a:rPr sz="1100" b="0" i="0">
                          <a:solidFill>
                            <a:srgbClr val="000000"/>
                          </a:solidFill>
                          <a:latin typeface="Calibri"/>
                        </a:rPr>
                        <a:t>32.1.2.</a:t>
                      </a:r>
                      <a:r>
                        <a:rPr sz="700" b="0" i="0">
                          <a:solidFill>
                            <a:srgbClr val="000000"/>
                          </a:solidFill>
                          <a:latin typeface="Times New Roman"/>
                        </a:rPr>
                        <a:t> </a:t>
                      </a:r>
                      <a:r>
                        <a:rPr sz="1100" b="0" i="0">
                          <a:solidFill>
                            <a:srgbClr val="000000"/>
                          </a:solidFill>
                          <a:latin typeface="Calibri"/>
                        </a:rPr>
                        <a:t>Operating margins Comparison to Parent/Associated Market</a:t>
                      </a:r>
                      <a:endParaRPr sz="1100"/>
                    </a:p>
                  </a:txBody>
                  <a:tcPr marL="771525" marR="9525" marT="9525" marB="0" anchor="ctr"/>
                </a:tc>
              </a:tr>
              <a:tr h="350520">
                <a:tc>
                  <a:txBody>
                    <a:bodyPr wrap="square"/>
                    <a:lstStyle/>
                    <a:p>
                      <a:pPr algn="l"/>
                      <a:r>
                        <a:rPr sz="1100" b="0" i="0">
                          <a:solidFill>
                            <a:srgbClr val="000000"/>
                          </a:solidFill>
                          <a:latin typeface="Calibri"/>
                        </a:rPr>
                        <a:t>32.1.3.</a:t>
                      </a:r>
                      <a:r>
                        <a:rPr sz="700" b="0" i="0">
                          <a:solidFill>
                            <a:srgbClr val="000000"/>
                          </a:solidFill>
                          <a:latin typeface="Times New Roman"/>
                        </a:rPr>
                        <a:t> </a:t>
                      </a:r>
                      <a:r>
                        <a:rPr sz="1100" b="0" i="0">
                          <a:solidFill>
                            <a:srgbClr val="000000"/>
                          </a:solidFill>
                          <a:latin typeface="Calibri"/>
                        </a:rPr>
                        <a:t>Cost and Margin Structure Across Allergen Extract Manufacturing, Formulation, Fill-Finish, Distribution and Retail</a:t>
                      </a:r>
                      <a:endParaRPr sz="1100"/>
                    </a:p>
                  </a:txBody>
                  <a:tcPr marL="771525" marR="9525" marT="9525" marB="0" anchor="ctr"/>
                </a:tc>
              </a:tr>
              <a:tr h="175260">
                <a:tc>
                  <a:txBody>
                    <a:bodyPr wrap="square"/>
                    <a:lstStyle/>
                    <a:p>
                      <a:pPr algn="l"/>
                      <a:r>
                        <a:rPr sz="1100" b="0" i="0">
                          <a:solidFill>
                            <a:srgbClr val="0070C0"/>
                          </a:solidFill>
                          <a:latin typeface="Calibri"/>
                        </a:rPr>
                        <a:t>32.2.</a:t>
                      </a:r>
                      <a:r>
                        <a:rPr sz="700" b="0" i="0">
                          <a:solidFill>
                            <a:srgbClr val="0070C0"/>
                          </a:solidFill>
                          <a:latin typeface="Times New Roman"/>
                        </a:rPr>
                        <a:t>  </a:t>
                      </a:r>
                      <a:r>
                        <a:rPr sz="1100" b="0" i="0">
                          <a:solidFill>
                            <a:srgbClr val="0070C0"/>
                          </a:solidFill>
                          <a:latin typeface="Calibri"/>
                        </a:rPr>
                        <a:t>Margin Optimization Strategies</a:t>
                      </a:r>
                      <a:endParaRPr sz="1100"/>
                    </a:p>
                  </a:txBody>
                  <a:tcPr marL="428625" marR="9525" marT="9525" marB="0" anchor="ctr"/>
                </a:tc>
              </a:tr>
              <a:tr h="175260">
                <a:tc>
                  <a:txBody>
                    <a:bodyPr wrap="square"/>
                    <a:lstStyle/>
                    <a:p>
                      <a:pPr algn="l"/>
                      <a:r>
                        <a:rPr sz="1100" b="0" i="0">
                          <a:solidFill>
                            <a:srgbClr val="0070C0"/>
                          </a:solidFill>
                          <a:latin typeface="Calibri"/>
                        </a:rPr>
                        <a:t>32.3.</a:t>
                      </a:r>
                      <a:r>
                        <a:rPr sz="700" b="0" i="0">
                          <a:solidFill>
                            <a:srgbClr val="0070C0"/>
                          </a:solidFill>
                          <a:latin typeface="Times New Roman"/>
                        </a:rPr>
                        <a:t>  </a:t>
                      </a:r>
                      <a:r>
                        <a:rPr sz="1100" b="0" i="0">
                          <a:solidFill>
                            <a:srgbClr val="0070C0"/>
                          </a:solidFill>
                          <a:latin typeface="Calibri"/>
                        </a:rPr>
                        <a:t>List of Active Market Participants</a:t>
                      </a:r>
                      <a:endParaRPr sz="1100"/>
                    </a:p>
                  </a:txBody>
                  <a:tcPr marL="428625" marR="9525" marT="9525" marB="0" anchor="ctr"/>
                </a:tc>
              </a:tr>
              <a:tr h="175260">
                <a:tc>
                  <a:txBody>
                    <a:bodyPr wrap="square"/>
                    <a:lstStyle/>
                    <a:p>
                      <a:pPr algn="l"/>
                      <a:r>
                        <a:rPr sz="1100" b="0" i="0">
                          <a:solidFill>
                            <a:srgbClr val="000000"/>
                          </a:solidFill>
                          <a:latin typeface="Calibri"/>
                        </a:rPr>
                        <a:t>32.3.1.</a:t>
                      </a:r>
                      <a:r>
                        <a:rPr sz="700" b="0" i="0">
                          <a:solidFill>
                            <a:srgbClr val="000000"/>
                          </a:solidFill>
                          <a:latin typeface="Times New Roman"/>
                        </a:rPr>
                        <a:t> </a:t>
                      </a:r>
                      <a:r>
                        <a:rPr sz="1100" b="0" i="0">
                          <a:solidFill>
                            <a:srgbClr val="000000"/>
                          </a:solidFill>
                          <a:latin typeface="Calibri"/>
                        </a:rPr>
                        <a:t>Product Manufacturers/ Key Brands</a:t>
                      </a:r>
                      <a:endParaRPr sz="1100"/>
                    </a:p>
                  </a:txBody>
                  <a:tcPr marL="771525" marR="9525" marT="9525" marB="0" anchor="ctr"/>
                </a:tc>
              </a:tr>
              <a:tr h="175260">
                <a:tc>
                  <a:txBody>
                    <a:bodyPr wrap="square"/>
                    <a:lstStyle/>
                    <a:p>
                      <a:pPr algn="l"/>
                      <a:r>
                        <a:rPr sz="1100" b="0" i="0">
                          <a:solidFill>
                            <a:srgbClr val="000000"/>
                          </a:solidFill>
                          <a:latin typeface="Calibri"/>
                        </a:rPr>
                        <a:t>32.3.2.</a:t>
                      </a:r>
                      <a:r>
                        <a:rPr sz="700" b="0" i="0">
                          <a:solidFill>
                            <a:srgbClr val="000000"/>
                          </a:solidFill>
                          <a:latin typeface="Times New Roman"/>
                        </a:rPr>
                        <a:t> </a:t>
                      </a:r>
                      <a:r>
                        <a:rPr sz="1100" b="0" i="0">
                          <a:solidFill>
                            <a:srgbClr val="000000"/>
                          </a:solidFill>
                          <a:latin typeface="Calibri"/>
                        </a:rPr>
                        <a:t>Allergen Extract Manufacturers and Suppliers</a:t>
                      </a:r>
                      <a:endParaRPr sz="1100"/>
                    </a:p>
                  </a:txBody>
                  <a:tcPr marL="771525" marR="9525" marT="9525" marB="0" anchor="ctr"/>
                </a:tc>
              </a:tr>
              <a:tr h="175260">
                <a:tc>
                  <a:txBody>
                    <a:bodyPr wrap="square"/>
                    <a:lstStyle/>
                    <a:p>
                      <a:pPr algn="l"/>
                      <a:r>
                        <a:rPr sz="1100" b="0" i="0">
                          <a:solidFill>
                            <a:srgbClr val="000000"/>
                          </a:solidFill>
                          <a:latin typeface="Calibri"/>
                        </a:rPr>
                        <a:t>32.3.3.</a:t>
                      </a:r>
                      <a:r>
                        <a:rPr sz="700" b="0" i="0">
                          <a:solidFill>
                            <a:srgbClr val="000000"/>
                          </a:solidFill>
                          <a:latin typeface="Times New Roman"/>
                        </a:rPr>
                        <a:t> </a:t>
                      </a:r>
                      <a:r>
                        <a:rPr sz="1100" b="0" i="0">
                          <a:solidFill>
                            <a:srgbClr val="000000"/>
                          </a:solidFill>
                          <a:latin typeface="Calibri"/>
                        </a:rPr>
                        <a:t>Licensed Allergy Immunotherapy Product Manufacturers</a:t>
                      </a:r>
                      <a:endParaRPr sz="1100"/>
                    </a:p>
                  </a:txBody>
                  <a:tcPr marL="771525" marR="9525" marT="9525" marB="0" anchor="ctr"/>
                </a:tc>
              </a:tr>
              <a:tr h="175260">
                <a:tc>
                  <a:txBody>
                    <a:bodyPr wrap="square"/>
                    <a:lstStyle/>
                    <a:p>
                      <a:pPr algn="l"/>
                      <a:r>
                        <a:rPr sz="1100" b="0" i="0">
                          <a:solidFill>
                            <a:srgbClr val="000000"/>
                          </a:solidFill>
                          <a:latin typeface="Calibri"/>
                        </a:rPr>
                        <a:t>32.3.4.</a:t>
                      </a:r>
                      <a:r>
                        <a:rPr sz="700" b="0" i="0">
                          <a:solidFill>
                            <a:srgbClr val="000000"/>
                          </a:solidFill>
                          <a:latin typeface="Times New Roman"/>
                        </a:rPr>
                        <a:t> </a:t>
                      </a:r>
                      <a:r>
                        <a:rPr sz="1100" b="0" i="0">
                          <a:solidFill>
                            <a:srgbClr val="000000"/>
                          </a:solidFill>
                          <a:latin typeface="Calibri"/>
                        </a:rPr>
                        <a:t>Distributors, Specialty Pharmacies and Allergen Extract Suppliers</a:t>
                      </a:r>
                      <a:endParaRPr sz="1100"/>
                    </a:p>
                  </a:txBody>
                  <a:tcPr marL="771525" marR="9525" marT="9525" marB="0" anchor="ctr"/>
                </a:tc>
              </a:tr>
              <a:tr h="350520">
                <a:tc>
                  <a:txBody>
                    <a:bodyPr wrap="square"/>
                    <a:lstStyle/>
                    <a:p>
                      <a:pPr algn="l"/>
                      <a:r>
                        <a:rPr sz="1100" b="0" i="0">
                          <a:solidFill>
                            <a:srgbClr val="000000"/>
                          </a:solidFill>
                          <a:latin typeface="Calibri"/>
                        </a:rPr>
                        <a:t>32.3.5.</a:t>
                      </a:r>
                      <a:r>
                        <a:rPr sz="700" b="0" i="0">
                          <a:solidFill>
                            <a:srgbClr val="000000"/>
                          </a:solidFill>
                          <a:latin typeface="Times New Roman"/>
                        </a:rPr>
                        <a:t> </a:t>
                      </a:r>
                      <a:r>
                        <a:rPr sz="1100" b="0" i="0">
                          <a:solidFill>
                            <a:srgbClr val="000000"/>
                          </a:solidFill>
                          <a:latin typeface="Calibri"/>
                        </a:rPr>
                        <a:t>End Users and Healthcare Providers (Allergy Clinics, Hospitals and Specialist Immunology Centers)</a:t>
                      </a:r>
                      <a:endParaRPr sz="1100"/>
                    </a:p>
                  </a:txBody>
                  <a:tcPr marL="771525" marR="9525" marT="9525" marB="0" anchor="ctr"/>
                </a:tc>
              </a:tr>
              <a:tr h="350520">
                <a:tc>
                  <a:txBody>
                    <a:bodyPr wrap="square"/>
                    <a:lstStyle/>
                    <a:p>
                      <a:pPr algn="l"/>
                      <a:r>
                        <a:rPr sz="1100" b="0" i="1">
                          <a:solidFill>
                            <a:srgbClr val="FF0000"/>
                          </a:solidFill>
                          <a:latin typeface="Calibri"/>
                        </a:rPr>
                        <a:t>Note: The section lists 20-30 active market participants. For a comprehensive list, please contact the respective sales personnel</a:t>
                      </a:r>
                      <a:endParaRPr sz="1100"/>
                    </a:p>
                  </a:txBody>
                  <a:tcPr marL="9525" marR="9525" marT="9525" marB="0" anchor="ctr"/>
                </a:tc>
              </a:tr>
              <a:tr h="175260">
                <a:tc>
                  <a:txBody>
                    <a:bodyPr wrap="square"/>
                    <a:lstStyle/>
                    <a:p>
                      <a:pPr algn="l"/>
                      <a:r>
                        <a:rPr sz="1100" b="1" i="0">
                          <a:solidFill>
                            <a:srgbClr val="000000"/>
                          </a:solidFill>
                          <a:latin typeface="Calibri"/>
                        </a:rPr>
                        <a:t>Section 6: Competition Assessment</a:t>
                      </a:r>
                      <a:endParaRPr sz="1100"/>
                    </a:p>
                  </a:txBody>
                  <a:tcPr marL="9525" marR="9525" marT="9525" marB="0" anchor="ctr"/>
                </a:tc>
              </a:tr>
              <a:tr h="175260">
                <a:tc>
                  <a:txBody>
                    <a:bodyPr wrap="square"/>
                    <a:lstStyle/>
                    <a:p>
                      <a:pPr algn="l"/>
                      <a:r>
                        <a:rPr sz="1100" b="1" i="0">
                          <a:solidFill>
                            <a:srgbClr val="000000"/>
                          </a:solidFill>
                          <a:latin typeface="Calibri"/>
                        </a:rPr>
                        <a:t>33.</a:t>
                      </a:r>
                      <a:r>
                        <a:rPr sz="700" b="1" i="0">
                          <a:solidFill>
                            <a:srgbClr val="000000"/>
                          </a:solidFill>
                          <a:latin typeface="Times New Roman"/>
                        </a:rPr>
                        <a:t>    </a:t>
                      </a:r>
                      <a:r>
                        <a:rPr sz="1100" b="1" i="0">
                          <a:solidFill>
                            <a:srgbClr val="000000"/>
                          </a:solidFill>
                          <a:latin typeface="Calibri"/>
                        </a:rPr>
                        <a:t>Competition at a Glance- a Dashboard View</a:t>
                      </a:r>
                      <a:endParaRPr sz="1100"/>
                    </a:p>
                  </a:txBody>
                  <a:tcPr marL="171450" marR="9525" marT="9525" marB="0" anchor="ctr"/>
                </a:tc>
              </a:tr>
              <a:tr h="175260">
                <a:tc>
                  <a:txBody>
                    <a:bodyPr wrap="square"/>
                    <a:lstStyle/>
                    <a:p>
                      <a:pPr algn="l"/>
                      <a:r>
                        <a:rPr sz="1100" b="1" i="0">
                          <a:solidFill>
                            <a:srgbClr val="000000"/>
                          </a:solidFill>
                          <a:latin typeface="Calibri"/>
                        </a:rPr>
                        <a:t>34.</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r h="175260">
                <a:tc>
                  <a:txBody>
                    <a:bodyPr wrap="square"/>
                    <a:lstStyle/>
                    <a:p>
                      <a:pPr algn="l"/>
                      <a:r>
                        <a:rPr sz="1100" b="1" i="0">
                          <a:solidFill>
                            <a:srgbClr val="000000"/>
                          </a:solidFill>
                          <a:latin typeface="Calibri"/>
                        </a:rPr>
                        <a:t>35.</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B3C8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2: Global Market Value Snapshot,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3: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Figure 4: Global Market Share by Therapy Format, %, 2026</a:t>
                      </a:r>
                      <a:endParaRPr sz="1050"/>
                    </a:p>
                  </a:txBody>
                  <a:tcPr marL="9525" marR="9525" marT="9525" marB="0" anchor="ctr"/>
                </a:tc>
              </a:tr>
              <a:tr h="169606">
                <a:tc>
                  <a:txBody>
                    <a:bodyPr wrap="square"/>
                    <a:lstStyle/>
                    <a:p>
                      <a:pPr algn="l"/>
                      <a:r>
                        <a:rPr sz="1050" b="0" i="0">
                          <a:solidFill>
                            <a:srgbClr val="000000"/>
                          </a:solidFill>
                          <a:latin typeface="Calibri"/>
                        </a:rPr>
                        <a:t>Figure 5: Global Market Share by Allergen Class, %, 2026</a:t>
                      </a:r>
                      <a:endParaRPr sz="1050"/>
                    </a:p>
                  </a:txBody>
                  <a:tcPr marL="9525" marR="9525" marT="9525" marB="0" anchor="ctr"/>
                </a:tc>
              </a:tr>
              <a:tr h="169606">
                <a:tc>
                  <a:txBody>
                    <a:bodyPr wrap="square"/>
                    <a:lstStyle/>
                    <a:p>
                      <a:pPr algn="l"/>
                      <a:r>
                        <a:rPr sz="1050" b="0" i="0">
                          <a:solidFill>
                            <a:srgbClr val="000000"/>
                          </a:solidFill>
                          <a:latin typeface="Calibri"/>
                        </a:rPr>
                        <a:t>Figure 6: Global Market Share by Commercial Product Model, %, 2026</a:t>
                      </a:r>
                      <a:endParaRPr sz="1050"/>
                    </a:p>
                  </a:txBody>
                  <a:tcPr marL="9525" marR="9525" marT="9525" marB="0" anchor="ctr"/>
                </a:tc>
              </a:tr>
              <a:tr h="169606">
                <a:tc>
                  <a:txBody>
                    <a:bodyPr wrap="square"/>
                    <a:lstStyle/>
                    <a:p>
                      <a:pPr algn="l"/>
                      <a:r>
                        <a:rPr sz="1050" b="0" i="0">
                          <a:solidFill>
                            <a:srgbClr val="000000"/>
                          </a:solidFill>
                          <a:latin typeface="Calibri"/>
                        </a:rPr>
                        <a:t>Figure 7: Global Market Share by Allergen Preparation Technology, %, 2026</a:t>
                      </a:r>
                      <a:endParaRPr sz="1050"/>
                    </a:p>
                  </a:txBody>
                  <a:tcPr marL="9525" marR="9525" marT="9525" marB="0" anchor="ctr"/>
                </a:tc>
              </a:tr>
              <a:tr h="169606">
                <a:tc>
                  <a:txBody>
                    <a:bodyPr wrap="square"/>
                    <a:lstStyle/>
                    <a:p>
                      <a:pPr algn="l"/>
                      <a:r>
                        <a:rPr sz="1050" b="0" i="0">
                          <a:solidFill>
                            <a:srgbClr val="000000"/>
                          </a:solidFill>
                          <a:latin typeface="Calibri"/>
                        </a:rPr>
                        <a:t>Figure 8: Global Market Share by Allergen Composition, %, 2026</a:t>
                      </a:r>
                      <a:endParaRPr sz="1050"/>
                    </a:p>
                  </a:txBody>
                  <a:tcPr marL="9525" marR="9525" marT="9525" marB="0" anchor="ctr"/>
                </a:tc>
              </a:tr>
              <a:tr h="169606">
                <a:tc>
                  <a:txBody>
                    <a:bodyPr wrap="square"/>
                    <a:lstStyle/>
                    <a:p>
                      <a:pPr algn="l"/>
                      <a:r>
                        <a:rPr sz="1050" b="0" i="0">
                          <a:solidFill>
                            <a:srgbClr val="000000"/>
                          </a:solidFill>
                          <a:latin typeface="Calibri"/>
                        </a:rPr>
                        <a:t>Figure 9: Global Market Historical Value, US$ Mn, 2021–2025</a:t>
                      </a:r>
                      <a:endParaRPr sz="1050"/>
                    </a:p>
                  </a:txBody>
                  <a:tcPr marL="9525" marR="9525" marT="9525" marB="0" anchor="ctr"/>
                </a:tc>
              </a:tr>
              <a:tr h="169606">
                <a:tc>
                  <a:txBody>
                    <a:bodyPr wrap="square"/>
                    <a:lstStyle/>
                    <a:p>
                      <a:pPr algn="l"/>
                      <a:r>
                        <a:rPr sz="1050" b="0" i="0">
                          <a:solidFill>
                            <a:srgbClr val="000000"/>
                          </a:solidFill>
                          <a:latin typeface="Calibri"/>
                        </a:rPr>
                        <a:t>Figure 10: Global Market Forecast Value, US$ Mn, 2026–2036</a:t>
                      </a:r>
                      <a:endParaRPr sz="1050"/>
                    </a:p>
                  </a:txBody>
                  <a:tcPr marL="9525" marR="9525" marT="9525" marB="0" anchor="ctr"/>
                </a:tc>
              </a:tr>
              <a:tr h="169606">
                <a:tc>
                  <a:txBody>
                    <a:bodyPr wrap="square"/>
                    <a:lstStyle/>
                    <a:p>
                      <a:pPr algn="l"/>
                      <a:r>
                        <a:rPr sz="1050" b="0" i="0">
                          <a:solidFill>
                            <a:srgbClr val="000000"/>
                          </a:solidFill>
                          <a:latin typeface="Calibri"/>
                        </a:rPr>
                        <a:t>Figure 11: Global Market YoY Growth, %, 2021–2036</a:t>
                      </a:r>
                      <a:endParaRPr sz="1050"/>
                    </a:p>
                  </a:txBody>
                  <a:tcPr marL="9525" marR="9525" marT="9525" marB="0" anchor="ctr"/>
                </a:tc>
              </a:tr>
              <a:tr h="169606">
                <a:tc>
                  <a:txBody>
                    <a:bodyPr wrap="square"/>
                    <a:lstStyle/>
                    <a:p>
                      <a:pPr algn="l"/>
                      <a:r>
                        <a:rPr sz="1050" b="0" i="0">
                          <a:solidFill>
                            <a:srgbClr val="000000"/>
                          </a:solidFill>
                          <a:latin typeface="Calibri"/>
                        </a:rPr>
                        <a:t>Figure 12: Global Market Volume and YoY Growth, Patient Treatment Courses and %, 2021–2036</a:t>
                      </a:r>
                      <a:endParaRPr sz="1050"/>
                    </a:p>
                  </a:txBody>
                  <a:tcPr marL="9525" marR="9525" marT="9525" marB="0" anchor="ctr"/>
                </a:tc>
              </a:tr>
              <a:tr h="169606">
                <a:tc>
                  <a:txBody>
                    <a:bodyPr wrap="square"/>
                    <a:lstStyle/>
                    <a:p>
                      <a:pPr algn="l"/>
                      <a:r>
                        <a:rPr sz="1050" b="0" i="0">
                          <a:solidFill>
                            <a:srgbClr val="000000"/>
                          </a:solidFill>
                          <a:latin typeface="Calibri"/>
                        </a:rPr>
                        <a:t>Figure 13: Global Market Volume vs Value CAGR Comparison, %, 2026–2036</a:t>
                      </a:r>
                      <a:endParaRPr sz="1050"/>
                    </a:p>
                  </a:txBody>
                  <a:tcPr marL="9525" marR="9525" marT="9525" marB="0" anchor="ctr"/>
                </a:tc>
              </a:tr>
              <a:tr h="169606">
                <a:tc>
                  <a:txBody>
                    <a:bodyPr wrap="square"/>
                    <a:lstStyle/>
                    <a:p>
                      <a:pPr algn="l"/>
                      <a:r>
                        <a:rPr sz="1050" b="0" i="0">
                          <a:solidFill>
                            <a:srgbClr val="000000"/>
                          </a:solidFill>
                          <a:latin typeface="Calibri"/>
                        </a:rPr>
                        <a:t>Figure 14: Global Market Average Selling Price, US$/Patient Treatment Courses, 2021–2036</a:t>
                      </a:r>
                      <a:endParaRPr sz="1050"/>
                    </a:p>
                  </a:txBody>
                  <a:tcPr marL="9525" marR="9525" marT="9525" marB="0" anchor="ctr"/>
                </a:tc>
              </a:tr>
              <a:tr h="169606">
                <a:tc>
                  <a:txBody>
                    <a:bodyPr wrap="square"/>
                    <a:lstStyle/>
                    <a:p>
                      <a:pPr algn="l"/>
                      <a:r>
                        <a:rPr sz="1050" b="0" i="0">
                          <a:solidFill>
                            <a:srgbClr val="000000"/>
                          </a:solidFill>
                          <a:latin typeface="Calibri"/>
                        </a:rPr>
                        <a:t>Figure 15: Global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16: Global Market Incremental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Figure 17: Global Market Historical vs Forecast CAGR, %, 2021–2036</a:t>
                      </a:r>
                      <a:endParaRPr sz="1050"/>
                    </a:p>
                  </a:txBody>
                  <a:tcPr marL="9525" marR="9525" marT="9525" marB="0" anchor="ctr"/>
                </a:tc>
              </a:tr>
              <a:tr h="169606">
                <a:tc>
                  <a:txBody>
                    <a:bodyPr wrap="square"/>
                    <a:lstStyle/>
                    <a:p>
                      <a:pPr algn="l"/>
                      <a:r>
                        <a:rPr sz="1050" b="0" i="0">
                          <a:solidFill>
                            <a:srgbClr val="000000"/>
                          </a:solidFill>
                          <a:latin typeface="Calibri"/>
                        </a:rPr>
                        <a:t>Figure 18: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Figure 19: Global Market Value by Therapy Format, US$ Mn, 2021–2036</a:t>
                      </a:r>
                      <a:endParaRPr sz="1050"/>
                    </a:p>
                  </a:txBody>
                  <a:tcPr marL="9525" marR="9525" marT="9525" marB="0" anchor="ctr"/>
                </a:tc>
              </a:tr>
              <a:tr h="169606">
                <a:tc>
                  <a:txBody>
                    <a:bodyPr wrap="square"/>
                    <a:lstStyle/>
                    <a:p>
                      <a:pPr algn="l"/>
                      <a:r>
                        <a:rPr sz="1050" b="0" i="0">
                          <a:solidFill>
                            <a:srgbClr val="000000"/>
                          </a:solidFill>
                          <a:latin typeface="Calibri"/>
                        </a:rPr>
                        <a:t>Figure 20: Global Market Value by Allergen Class, US$ Mn, 2021–2036</a:t>
                      </a:r>
                      <a:endParaRPr sz="1050"/>
                    </a:p>
                  </a:txBody>
                  <a:tcPr marL="9525" marR="9525" marT="9525" marB="0" anchor="ctr"/>
                </a:tc>
              </a:tr>
              <a:tr h="169606">
                <a:tc>
                  <a:txBody>
                    <a:bodyPr wrap="square"/>
                    <a:lstStyle/>
                    <a:p>
                      <a:pPr algn="l"/>
                      <a:r>
                        <a:rPr sz="1050" b="0" i="0">
                          <a:solidFill>
                            <a:srgbClr val="000000"/>
                          </a:solidFill>
                          <a:latin typeface="Calibri"/>
                        </a:rPr>
                        <a:t>Figure 21: Global Market Value by Commercial Product Model, US$ Mn, 2021–2036</a:t>
                      </a:r>
                      <a:endParaRPr sz="1050"/>
                    </a:p>
                  </a:txBody>
                  <a:tcPr marL="9525" marR="9525" marT="9525" marB="0" anchor="ctr"/>
                </a:tc>
              </a:tr>
              <a:tr h="169606">
                <a:tc>
                  <a:txBody>
                    <a:bodyPr wrap="square"/>
                    <a:lstStyle/>
                    <a:p>
                      <a:pPr algn="l"/>
                      <a:r>
                        <a:rPr sz="1050" b="0" i="0">
                          <a:solidFill>
                            <a:srgbClr val="000000"/>
                          </a:solidFill>
                          <a:latin typeface="Calibri"/>
                        </a:rPr>
                        <a:t>Figure 22: Global Market Value by Allergen Preparation Technology, US$ Mn, 2021–2036</a:t>
                      </a:r>
                      <a:endParaRPr sz="1050"/>
                    </a:p>
                  </a:txBody>
                  <a:tcPr marL="9525" marR="9525" marT="9525" marB="0" anchor="ctr"/>
                </a:tc>
              </a:tr>
              <a:tr h="169606">
                <a:tc>
                  <a:txBody>
                    <a:bodyPr wrap="square"/>
                    <a:lstStyle/>
                    <a:p>
                      <a:pPr algn="l"/>
                      <a:r>
                        <a:rPr sz="1050" b="0" i="0">
                          <a:solidFill>
                            <a:srgbClr val="000000"/>
                          </a:solidFill>
                          <a:latin typeface="Calibri"/>
                        </a:rPr>
                        <a:t>Figure 23: Global Market Value by Allergen Composition, US$ Mn, 2021–2036</a:t>
                      </a:r>
                      <a:endParaRPr sz="1050"/>
                    </a:p>
                  </a:txBody>
                  <a:tcPr marL="9525" marR="9525" marT="9525" marB="0" anchor="ctr"/>
                </a:tc>
              </a:tr>
              <a:tr h="169606">
                <a:tc>
                  <a:txBody>
                    <a:bodyPr wrap="square"/>
                    <a:lstStyle/>
                    <a:p>
                      <a:pPr algn="l"/>
                      <a:r>
                        <a:rPr sz="1050" b="0" i="0">
                          <a:solidFill>
                            <a:srgbClr val="000000"/>
                          </a:solidFill>
                          <a:latin typeface="Calibri"/>
                        </a:rPr>
                        <a:t>Figure 24: Global Market Value by Sales / Procurement Channel, US$ Mn, 2021–2036</a:t>
                      </a:r>
                      <a:endParaRPr sz="1050"/>
                    </a:p>
                  </a:txBody>
                  <a:tcPr marL="9525" marR="9525" marT="9525" marB="0" anchor="ctr"/>
                </a:tc>
              </a:tr>
              <a:tr h="169606">
                <a:tc>
                  <a:txBody>
                    <a:bodyPr wrap="square"/>
                    <a:lstStyle/>
                    <a:p>
                      <a:pPr algn="l"/>
                      <a:r>
                        <a:rPr sz="1050" b="0" i="0">
                          <a:solidFill>
                            <a:srgbClr val="000000"/>
                          </a:solidFill>
                          <a:latin typeface="Calibri"/>
                        </a:rPr>
                        <a:t>Figure 25: Global Market Value by Company × Allergen Class, US$ Mn, 2021–2036</a:t>
                      </a:r>
                      <a:endParaRPr sz="1050"/>
                    </a:p>
                  </a:txBody>
                  <a:tcPr marL="9525" marR="9525" marT="9525" marB="0" anchor="ctr"/>
                </a:tc>
              </a:tr>
              <a:tr h="169606">
                <a:tc>
                  <a:txBody>
                    <a:bodyPr wrap="square"/>
                    <a:lstStyle/>
                    <a:p>
                      <a:pPr algn="l"/>
                      <a:r>
                        <a:rPr sz="1050" b="0" i="0">
                          <a:solidFill>
                            <a:srgbClr val="000000"/>
                          </a:solidFill>
                          <a:latin typeface="Calibri"/>
                        </a:rPr>
                        <a:t>Figure 26: Global Market Value by Company × Therapy Format, US$ Mn, 2021–2036</a:t>
                      </a:r>
                      <a:endParaRPr sz="1050"/>
                    </a:p>
                  </a:txBody>
                  <a:tcPr marL="9525" marR="9525" marT="9525" marB="0" anchor="ctr"/>
                </a:tc>
              </a:tr>
              <a:tr h="169606">
                <a:tc>
                  <a:txBody>
                    <a:bodyPr wrap="square"/>
                    <a:lstStyle/>
                    <a:p>
                      <a:pPr algn="l"/>
                      <a:r>
                        <a:rPr sz="1050" b="0" i="0">
                          <a:solidFill>
                            <a:srgbClr val="000000"/>
                          </a:solidFill>
                          <a:latin typeface="Calibri"/>
                        </a:rPr>
                        <a:t>Figure 27: Global Market Value by Company × Allergen Preparation Technology, US$ Mn, 2021–2036</a:t>
                      </a:r>
                      <a:endParaRPr sz="1050"/>
                    </a:p>
                  </a:txBody>
                  <a:tcPr marL="9525" marR="9525" marT="9525" marB="0" anchor="ctr"/>
                </a:tc>
              </a:tr>
              <a:tr h="169606">
                <a:tc>
                  <a:txBody>
                    <a:bodyPr wrap="square"/>
                    <a:lstStyle/>
                    <a:p>
                      <a:pPr algn="l"/>
                      <a:r>
                        <a:rPr sz="1050" b="0" i="0">
                          <a:solidFill>
                            <a:srgbClr val="000000"/>
                          </a:solidFill>
                          <a:latin typeface="Calibri"/>
                        </a:rPr>
                        <a:t>Figure 28: Global Market Share by Therapy Format, %, 2026 and 2036</a:t>
                      </a:r>
                      <a:endParaRPr sz="1050"/>
                    </a:p>
                  </a:txBody>
                  <a:tcPr marL="9525" marR="9525" marT="9525" marB="0" anchor="ctr"/>
                </a:tc>
              </a:tr>
              <a:tr h="169606">
                <a:tc>
                  <a:txBody>
                    <a:bodyPr wrap="square"/>
                    <a:lstStyle/>
                    <a:p>
                      <a:pPr algn="l"/>
                      <a:r>
                        <a:rPr sz="1050" b="0" i="0">
                          <a:solidFill>
                            <a:srgbClr val="000000"/>
                          </a:solidFill>
                          <a:latin typeface="Calibri"/>
                        </a:rPr>
                        <a:t>Figure 29: Global Market Share by Allergen Class, %, 2026 and 2036</a:t>
                      </a:r>
                      <a:endParaRPr sz="1050"/>
                    </a:p>
                  </a:txBody>
                  <a:tcPr marL="9525" marR="9525" marT="9525" marB="0" anchor="ctr"/>
                </a:tc>
              </a:tr>
              <a:tr h="169606">
                <a:tc>
                  <a:txBody>
                    <a:bodyPr wrap="square"/>
                    <a:lstStyle/>
                    <a:p>
                      <a:pPr algn="l"/>
                      <a:r>
                        <a:rPr sz="1050" b="0" i="0">
                          <a:solidFill>
                            <a:srgbClr val="000000"/>
                          </a:solidFill>
                          <a:latin typeface="Calibri"/>
                        </a:rPr>
                        <a:t>Figure 30: Global Market Share by Commercial Product Model, %, 2026 and 2036</a:t>
                      </a:r>
                      <a:endParaRPr sz="1050"/>
                    </a:p>
                  </a:txBody>
                  <a:tcPr marL="9525" marR="9525" marT="9525" marB="0" anchor="ctr"/>
                </a:tc>
              </a:tr>
              <a:tr h="169606">
                <a:tc>
                  <a:txBody>
                    <a:bodyPr wrap="square"/>
                    <a:lstStyle/>
                    <a:p>
                      <a:pPr algn="l"/>
                      <a:r>
                        <a:rPr sz="1050" b="0" i="0">
                          <a:solidFill>
                            <a:srgbClr val="000000"/>
                          </a:solidFill>
                          <a:latin typeface="Calibri"/>
                        </a:rPr>
                        <a:t>Figure 31: Global Market Share by Allergen Preparation Technology, %,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Figure 32: Global Market Share by Allergen Composition, %, 2026 and 2036</a:t>
                      </a:r>
                      <a:endParaRPr sz="1050"/>
                    </a:p>
                  </a:txBody>
                  <a:tcPr marL="9525" marR="9525" marT="9525" marB="0" anchor="ctr"/>
                </a:tc>
              </a:tr>
              <a:tr h="170266">
                <a:tc>
                  <a:txBody>
                    <a:bodyPr wrap="square"/>
                    <a:lstStyle/>
                    <a:p>
                      <a:pPr algn="l"/>
                      <a:r>
                        <a:rPr sz="1050" b="0" i="0">
                          <a:solidFill>
                            <a:srgbClr val="000000"/>
                          </a:solidFill>
                          <a:latin typeface="Calibri"/>
                        </a:rPr>
                        <a:t>Figure 33: Global Market Share by Sales / Procurement Channel, %, 2026 and 2036</a:t>
                      </a:r>
                      <a:endParaRPr sz="1050"/>
                    </a:p>
                  </a:txBody>
                  <a:tcPr marL="9525" marR="9525" marT="9525" marB="0" anchor="ctr"/>
                </a:tc>
              </a:tr>
              <a:tr h="170266">
                <a:tc>
                  <a:txBody>
                    <a:bodyPr wrap="square"/>
                    <a:lstStyle/>
                    <a:p>
                      <a:pPr algn="l"/>
                      <a:r>
                        <a:rPr sz="1050" b="0" i="0">
                          <a:solidFill>
                            <a:srgbClr val="000000"/>
                          </a:solidFill>
                          <a:latin typeface="Calibri"/>
                        </a:rPr>
                        <a:t>Figure 34: Global Market Share by Company × Allergen Class, %, 2026 and 2036</a:t>
                      </a:r>
                      <a:endParaRPr sz="1050"/>
                    </a:p>
                  </a:txBody>
                  <a:tcPr marL="9525" marR="9525" marT="9525" marB="0" anchor="ctr"/>
                </a:tc>
              </a:tr>
              <a:tr h="170266">
                <a:tc>
                  <a:txBody>
                    <a:bodyPr wrap="square"/>
                    <a:lstStyle/>
                    <a:p>
                      <a:pPr algn="l"/>
                      <a:r>
                        <a:rPr sz="1050" b="0" i="0">
                          <a:solidFill>
                            <a:srgbClr val="000000"/>
                          </a:solidFill>
                          <a:latin typeface="Calibri"/>
                        </a:rPr>
                        <a:t>Figure 35: Global Market Share by Company × Therapy Format, %, 2026 and 2036</a:t>
                      </a:r>
                      <a:endParaRPr sz="1050"/>
                    </a:p>
                  </a:txBody>
                  <a:tcPr marL="9525" marR="9525" marT="9525" marB="0" anchor="ctr"/>
                </a:tc>
              </a:tr>
              <a:tr h="170266">
                <a:tc>
                  <a:txBody>
                    <a:bodyPr wrap="square"/>
                    <a:lstStyle/>
                    <a:p>
                      <a:pPr algn="l"/>
                      <a:r>
                        <a:rPr sz="1050" b="0" i="0">
                          <a:solidFill>
                            <a:srgbClr val="000000"/>
                          </a:solidFill>
                          <a:latin typeface="Calibri"/>
                        </a:rPr>
                        <a:t>Figure 36: Global Market Share by Company × Allergen Preparation Technology, %, 2026 and 2036</a:t>
                      </a:r>
                      <a:endParaRPr sz="1050"/>
                    </a:p>
                  </a:txBody>
                  <a:tcPr marL="9525" marR="9525" marT="9525" marB="0" anchor="ctr"/>
                </a:tc>
              </a:tr>
              <a:tr h="170266">
                <a:tc>
                  <a:txBody>
                    <a:bodyPr wrap="square"/>
                    <a:lstStyle/>
                    <a:p>
                      <a:pPr algn="l"/>
                      <a:r>
                        <a:rPr sz="1050" b="0" i="0">
                          <a:solidFill>
                            <a:srgbClr val="000000"/>
                          </a:solidFill>
                          <a:latin typeface="Calibri"/>
                        </a:rPr>
                        <a:t>Figure 37: Global Market Absolute $ Opportunity by Therapy Format, US$ Mn, 2026–2036</a:t>
                      </a:r>
                      <a:endParaRPr sz="1050"/>
                    </a:p>
                  </a:txBody>
                  <a:tcPr marL="9525" marR="9525" marT="9525" marB="0" anchor="ctr"/>
                </a:tc>
              </a:tr>
              <a:tr h="170266">
                <a:tc>
                  <a:txBody>
                    <a:bodyPr wrap="square"/>
                    <a:lstStyle/>
                    <a:p>
                      <a:pPr algn="l"/>
                      <a:r>
                        <a:rPr sz="1050" b="0" i="0">
                          <a:solidFill>
                            <a:srgbClr val="000000"/>
                          </a:solidFill>
                          <a:latin typeface="Calibri"/>
                        </a:rPr>
                        <a:t>Figure 38: Global Market Absolute $ Opportunity by Allergen Class, US$ Mn, 2026–2036</a:t>
                      </a:r>
                      <a:endParaRPr sz="1050"/>
                    </a:p>
                  </a:txBody>
                  <a:tcPr marL="9525" marR="9525" marT="9525" marB="0" anchor="ctr"/>
                </a:tc>
              </a:tr>
              <a:tr h="170266">
                <a:tc>
                  <a:txBody>
                    <a:bodyPr wrap="square"/>
                    <a:lstStyle/>
                    <a:p>
                      <a:pPr algn="l"/>
                      <a:r>
                        <a:rPr sz="1050" b="0" i="0">
                          <a:solidFill>
                            <a:srgbClr val="000000"/>
                          </a:solidFill>
                          <a:latin typeface="Calibri"/>
                        </a:rPr>
                        <a:t>Figure 39: Global Market Absolute $ Opportunity by Commercial Product Model, US$ Mn, 2026–2036</a:t>
                      </a:r>
                      <a:endParaRPr sz="1050"/>
                    </a:p>
                  </a:txBody>
                  <a:tcPr marL="9525" marR="9525" marT="9525" marB="0" anchor="ctr"/>
                </a:tc>
              </a:tr>
              <a:tr h="333720">
                <a:tc>
                  <a:txBody>
                    <a:bodyPr wrap="square"/>
                    <a:lstStyle/>
                    <a:p>
                      <a:pPr algn="l"/>
                      <a:r>
                        <a:rPr sz="1050" b="0" i="0">
                          <a:solidFill>
                            <a:srgbClr val="000000"/>
                          </a:solidFill>
                          <a:latin typeface="Calibri"/>
                        </a:rPr>
                        <a:t>Figure 40: Global Market Absolute $ Opportunity by Allergen Preparation Technology, US$ Mn, 2026–2036</a:t>
                      </a:r>
                      <a:endParaRPr sz="1050"/>
                    </a:p>
                  </a:txBody>
                  <a:tcPr marL="9525" marR="9525" marT="9525" marB="0" anchor="ctr"/>
                </a:tc>
              </a:tr>
              <a:tr h="170266">
                <a:tc>
                  <a:txBody>
                    <a:bodyPr wrap="square"/>
                    <a:lstStyle/>
                    <a:p>
                      <a:pPr algn="l"/>
                      <a:r>
                        <a:rPr sz="1050" b="0" i="0">
                          <a:solidFill>
                            <a:srgbClr val="000000"/>
                          </a:solidFill>
                          <a:latin typeface="Calibri"/>
                        </a:rPr>
                        <a:t>Figure 41: Global Market Absolute $ Opportunity by Allergen Composition, US$ Mn, 2026–2036</a:t>
                      </a:r>
                      <a:endParaRPr sz="1050"/>
                    </a:p>
                  </a:txBody>
                  <a:tcPr marL="9525" marR="9525" marT="9525" marB="0" anchor="ctr"/>
                </a:tc>
              </a:tr>
              <a:tr h="170266">
                <a:tc>
                  <a:txBody>
                    <a:bodyPr wrap="square"/>
                    <a:lstStyle/>
                    <a:p>
                      <a:pPr algn="l"/>
                      <a:r>
                        <a:rPr sz="1050" b="0" i="0">
                          <a:solidFill>
                            <a:srgbClr val="000000"/>
                          </a:solidFill>
                          <a:latin typeface="Calibri"/>
                        </a:rPr>
                        <a:t>Figure 42: Global Market Absolute $ Opportunity by Sales / Procurement Channel, US$ Mn, 2026–2036</a:t>
                      </a:r>
                      <a:endParaRPr sz="1050"/>
                    </a:p>
                  </a:txBody>
                  <a:tcPr marL="9525" marR="9525" marT="9525" marB="0" anchor="ctr"/>
                </a:tc>
              </a:tr>
              <a:tr h="170266">
                <a:tc>
                  <a:txBody>
                    <a:bodyPr wrap="square"/>
                    <a:lstStyle/>
                    <a:p>
                      <a:pPr algn="l"/>
                      <a:r>
                        <a:rPr sz="1050" b="0" i="0">
                          <a:solidFill>
                            <a:srgbClr val="000000"/>
                          </a:solidFill>
                          <a:latin typeface="Calibri"/>
                        </a:rPr>
                        <a:t>Figure 43: Global Market Absolute $ Opportunity by Company × Allergen Class, US$ Mn, 2026–2036</a:t>
                      </a:r>
                      <a:endParaRPr sz="1050"/>
                    </a:p>
                  </a:txBody>
                  <a:tcPr marL="9525" marR="9525" marT="9525" marB="0" anchor="ctr"/>
                </a:tc>
              </a:tr>
              <a:tr h="170266">
                <a:tc>
                  <a:txBody>
                    <a:bodyPr wrap="square"/>
                    <a:lstStyle/>
                    <a:p>
                      <a:pPr algn="l"/>
                      <a:r>
                        <a:rPr sz="1050" b="0" i="0">
                          <a:solidFill>
                            <a:srgbClr val="000000"/>
                          </a:solidFill>
                          <a:latin typeface="Calibri"/>
                        </a:rPr>
                        <a:t>Figure 44: Global Market Absolute $ Opportunity by Company × Therapy Format, US$ Mn, 2026–2036</a:t>
                      </a:r>
                      <a:endParaRPr sz="1050"/>
                    </a:p>
                  </a:txBody>
                  <a:tcPr marL="9525" marR="9525" marT="9525" marB="0" anchor="ctr"/>
                </a:tc>
              </a:tr>
              <a:tr h="333720">
                <a:tc>
                  <a:txBody>
                    <a:bodyPr wrap="square"/>
                    <a:lstStyle/>
                    <a:p>
                      <a:pPr algn="l"/>
                      <a:r>
                        <a:rPr sz="1050" b="0" i="0">
                          <a:solidFill>
                            <a:srgbClr val="000000"/>
                          </a:solidFill>
                          <a:latin typeface="Calibri"/>
                        </a:rPr>
                        <a:t>Figure 45: Global Market Absolute $ Opportunity by Company × Allergen Preparation Technology, US$ Mn, 2026–2036</a:t>
                      </a:r>
                      <a:endParaRPr sz="1050"/>
                    </a:p>
                  </a:txBody>
                  <a:tcPr marL="9525" marR="9525" marT="9525" marB="0" anchor="ctr"/>
                </a:tc>
              </a:tr>
              <a:tr h="170266">
                <a:tc>
                  <a:txBody>
                    <a:bodyPr wrap="square"/>
                    <a:lstStyle/>
                    <a:p>
                      <a:pPr algn="l"/>
                      <a:r>
                        <a:rPr sz="1050" b="0" i="0">
                          <a:solidFill>
                            <a:srgbClr val="000000"/>
                          </a:solidFill>
                          <a:latin typeface="Calibri"/>
                        </a:rPr>
                        <a:t>Figure 46: Global Market BPS Share Change by Therapy Format, 2026–2036</a:t>
                      </a:r>
                      <a:endParaRPr sz="1050"/>
                    </a:p>
                  </a:txBody>
                  <a:tcPr marL="9525" marR="9525" marT="9525" marB="0" anchor="ctr"/>
                </a:tc>
              </a:tr>
              <a:tr h="170266">
                <a:tc>
                  <a:txBody>
                    <a:bodyPr wrap="square"/>
                    <a:lstStyle/>
                    <a:p>
                      <a:pPr algn="l"/>
                      <a:r>
                        <a:rPr sz="1050" b="0" i="0">
                          <a:solidFill>
                            <a:srgbClr val="000000"/>
                          </a:solidFill>
                          <a:latin typeface="Calibri"/>
                        </a:rPr>
                        <a:t>Figure 47: Global Market BPS Share Change by Allergen Class, 2026–2036</a:t>
                      </a:r>
                      <a:endParaRPr sz="1050"/>
                    </a:p>
                  </a:txBody>
                  <a:tcPr marL="9525" marR="9525" marT="9525" marB="0" anchor="ctr"/>
                </a:tc>
              </a:tr>
              <a:tr h="170266">
                <a:tc>
                  <a:txBody>
                    <a:bodyPr wrap="square"/>
                    <a:lstStyle/>
                    <a:p>
                      <a:pPr algn="l"/>
                      <a:r>
                        <a:rPr sz="1050" b="0" i="0">
                          <a:solidFill>
                            <a:srgbClr val="000000"/>
                          </a:solidFill>
                          <a:latin typeface="Calibri"/>
                        </a:rPr>
                        <a:t>Figure 48: Global Market BPS Share Change by Commercial Product Model, 2026–2036</a:t>
                      </a:r>
                      <a:endParaRPr sz="1050"/>
                    </a:p>
                  </a:txBody>
                  <a:tcPr marL="9525" marR="9525" marT="9525" marB="0" anchor="ctr"/>
                </a:tc>
              </a:tr>
              <a:tr h="170266">
                <a:tc>
                  <a:txBody>
                    <a:bodyPr wrap="square"/>
                    <a:lstStyle/>
                    <a:p>
                      <a:pPr algn="l"/>
                      <a:r>
                        <a:rPr sz="1050" b="0" i="0">
                          <a:solidFill>
                            <a:srgbClr val="000000"/>
                          </a:solidFill>
                          <a:latin typeface="Calibri"/>
                        </a:rPr>
                        <a:t>Figure 49: Global Market BPS Share Change by Allergen Preparation Technology, 2026–2036</a:t>
                      </a:r>
                      <a:endParaRPr sz="1050"/>
                    </a:p>
                  </a:txBody>
                  <a:tcPr marL="9525" marR="9525" marT="9525" marB="0" anchor="ctr"/>
                </a:tc>
              </a:tr>
              <a:tr h="170266">
                <a:tc>
                  <a:txBody>
                    <a:bodyPr wrap="square"/>
                    <a:lstStyle/>
                    <a:p>
                      <a:pPr algn="l"/>
                      <a:r>
                        <a:rPr sz="1050" b="0" i="0">
                          <a:solidFill>
                            <a:srgbClr val="000000"/>
                          </a:solidFill>
                          <a:latin typeface="Calibri"/>
                        </a:rPr>
                        <a:t>Figure 50: Global Market BPS Share Change by Allergen Composition, 2026–2036</a:t>
                      </a:r>
                      <a:endParaRPr sz="1050"/>
                    </a:p>
                  </a:txBody>
                  <a:tcPr marL="9525" marR="9525" marT="9525" marB="0" anchor="ctr"/>
                </a:tc>
              </a:tr>
              <a:tr h="170266">
                <a:tc>
                  <a:txBody>
                    <a:bodyPr wrap="square"/>
                    <a:lstStyle/>
                    <a:p>
                      <a:pPr algn="l"/>
                      <a:r>
                        <a:rPr sz="1050" b="0" i="0">
                          <a:solidFill>
                            <a:srgbClr val="000000"/>
                          </a:solidFill>
                          <a:latin typeface="Calibri"/>
                        </a:rPr>
                        <a:t>Figure 51: Global Market BPS Share Change by Sales / Procurement Channel, 2026–2036</a:t>
                      </a:r>
                      <a:endParaRPr sz="1050"/>
                    </a:p>
                  </a:txBody>
                  <a:tcPr marL="9525" marR="9525" marT="9525" marB="0" anchor="ctr"/>
                </a:tc>
              </a:tr>
              <a:tr h="170266">
                <a:tc>
                  <a:txBody>
                    <a:bodyPr wrap="square"/>
                    <a:lstStyle/>
                    <a:p>
                      <a:pPr algn="l"/>
                      <a:r>
                        <a:rPr sz="1050" b="0" i="0">
                          <a:solidFill>
                            <a:srgbClr val="000000"/>
                          </a:solidFill>
                          <a:latin typeface="Calibri"/>
                        </a:rPr>
                        <a:t>Figure 52: Global Market BPS Share Change by Company × Allergen Class, 2026–2036</a:t>
                      </a:r>
                      <a:endParaRPr sz="1050"/>
                    </a:p>
                  </a:txBody>
                  <a:tcPr marL="9525" marR="9525" marT="9525" marB="0" anchor="ctr"/>
                </a:tc>
              </a:tr>
              <a:tr h="170266">
                <a:tc>
                  <a:txBody>
                    <a:bodyPr wrap="square"/>
                    <a:lstStyle/>
                    <a:p>
                      <a:pPr algn="l"/>
                      <a:r>
                        <a:rPr sz="1050" b="0" i="0">
                          <a:solidFill>
                            <a:srgbClr val="000000"/>
                          </a:solidFill>
                          <a:latin typeface="Calibri"/>
                        </a:rPr>
                        <a:t>Figure 53: Global Market BPS Share Change by Company × Therapy Format, 2026–2036</a:t>
                      </a:r>
                      <a:endParaRPr sz="1050"/>
                    </a:p>
                  </a:txBody>
                  <a:tcPr marL="9525" marR="9525" marT="9525" marB="0" anchor="ctr"/>
                </a:tc>
              </a:tr>
              <a:tr h="333720">
                <a:tc>
                  <a:txBody>
                    <a:bodyPr wrap="square"/>
                    <a:lstStyle/>
                    <a:p>
                      <a:pPr algn="l"/>
                      <a:r>
                        <a:rPr sz="1050" b="0" i="0">
                          <a:solidFill>
                            <a:srgbClr val="000000"/>
                          </a:solidFill>
                          <a:latin typeface="Calibri"/>
                        </a:rPr>
                        <a:t>Figure 54: Global Market BPS Share Change by Company × Allergen Preparation Technology, 2026–2036</a:t>
                      </a:r>
                      <a:endParaRPr sz="1050"/>
                    </a:p>
                  </a:txBody>
                  <a:tcPr marL="9525" marR="9525" marT="9525" marB="0" anchor="ctr"/>
                </a:tc>
              </a:tr>
              <a:tr h="170266">
                <a:tc>
                  <a:txBody>
                    <a:bodyPr wrap="square"/>
                    <a:lstStyle/>
                    <a:p>
                      <a:pPr algn="l"/>
                      <a:r>
                        <a:rPr sz="1050" b="0" i="0">
                          <a:solidFill>
                            <a:srgbClr val="000000"/>
                          </a:solidFill>
                          <a:latin typeface="Calibri"/>
                        </a:rPr>
                        <a:t>Figure 55: Global Market YoY Growth by Therapy Format, %, 2026–2036</a:t>
                      </a:r>
                      <a:endParaRPr sz="1050"/>
                    </a:p>
                  </a:txBody>
                  <a:tcPr marL="9525" marR="9525" marT="9525" marB="0" anchor="ctr"/>
                </a:tc>
              </a:tr>
              <a:tr h="170266">
                <a:tc>
                  <a:txBody>
                    <a:bodyPr wrap="square"/>
                    <a:lstStyle/>
                    <a:p>
                      <a:pPr algn="l"/>
                      <a:r>
                        <a:rPr sz="1050" b="0" i="0">
                          <a:solidFill>
                            <a:srgbClr val="000000"/>
                          </a:solidFill>
                          <a:latin typeface="Calibri"/>
                        </a:rPr>
                        <a:t>Figure 56: Global Market YoY Growth by Allergen Class, %, 2026–2036</a:t>
                      </a:r>
                      <a:endParaRPr sz="1050"/>
                    </a:p>
                  </a:txBody>
                  <a:tcPr marL="9525" marR="9525" marT="9525" marB="0" anchor="ctr"/>
                </a:tc>
              </a:tr>
              <a:tr h="170266">
                <a:tc>
                  <a:txBody>
                    <a:bodyPr wrap="square"/>
                    <a:lstStyle/>
                    <a:p>
                      <a:pPr algn="l"/>
                      <a:r>
                        <a:rPr sz="1050" b="0" i="0">
                          <a:solidFill>
                            <a:srgbClr val="000000"/>
                          </a:solidFill>
                          <a:latin typeface="Calibri"/>
                        </a:rPr>
                        <a:t>Figure 57: Global Market YoY Growth by Commercial Product Model, %, 2026–2036</a:t>
                      </a:r>
                      <a:endParaRPr sz="1050"/>
                    </a:p>
                  </a:txBody>
                  <a:tcPr marL="9525" marR="9525" marT="9525" marB="0" anchor="ctr"/>
                </a:tc>
              </a:tr>
              <a:tr h="170266">
                <a:tc>
                  <a:txBody>
                    <a:bodyPr wrap="square"/>
                    <a:lstStyle/>
                    <a:p>
                      <a:pPr algn="l"/>
                      <a:r>
                        <a:rPr sz="1050" b="0" i="0">
                          <a:solidFill>
                            <a:srgbClr val="000000"/>
                          </a:solidFill>
                          <a:latin typeface="Calibri"/>
                        </a:rPr>
                        <a:t>Figure 58: Global Market YoY Growth by Allergen Preparation Technology, %, 2026–2036</a:t>
                      </a:r>
                      <a:endParaRPr sz="1050"/>
                    </a:p>
                  </a:txBody>
                  <a:tcPr marL="9525" marR="9525" marT="9525" marB="0" anchor="ctr"/>
                </a:tc>
              </a:tr>
              <a:tr h="170266">
                <a:tc>
                  <a:txBody>
                    <a:bodyPr wrap="square"/>
                    <a:lstStyle/>
                    <a:p>
                      <a:pPr algn="l"/>
                      <a:r>
                        <a:rPr sz="1050" b="0" i="0">
                          <a:solidFill>
                            <a:srgbClr val="000000"/>
                          </a:solidFill>
                          <a:latin typeface="Calibri"/>
                        </a:rPr>
                        <a:t>Figure 59: Global Market YoY Growth by Allergen Composition, %,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(2/4)</a:t>
            </a:r>
          </a:p>
        </p:txBody>
      </p:sp>
      <p:graphicFrame>
        <p:nvGraphicFramePr>
          <p:cNvPr id="9" name="FMI Contents Table"/>
          <p:cNvGraphicFramePr>
            <a:graphicFrameLocks noGrp="1"/>
          </p:cNvGraphicFramePr>
          <p:nvPr/>
        </p:nvGraphicFramePr>
        <p:xfrm>
          <a:off x="142875" y="981075"/>
          <a:ext cx="5876925" cy="5257810"/>
        </p:xfrm>
        <a:graphic>
          <a:graphicData uri="http://schemas.openxmlformats.org/drawingml/2006/table">
            <a:tbl>
              <a:tblPr>
                <a:tableStyleId>{3B4B98B0-60AC-42C2-AFA5-B58CD77FA1E5}</a:tableStyleId>
              </a:tblPr>
              <a:tblGrid>
                <a:gridCol w="5876925"/>
              </a:tblGrid>
              <a:tr h="175729">
                <a:tc>
                  <a:txBody>
                    <a:bodyPr wrap="square"/>
                    <a:lstStyle/>
                    <a:p>
                      <a:pPr algn="l"/>
                      <a:r>
                        <a:rPr sz="1050" b="0" i="0">
                          <a:solidFill>
                            <a:srgbClr val="000000"/>
                          </a:solidFill>
                          <a:latin typeface="Calibri"/>
                        </a:rPr>
                        <a:t>Figure 60: Global Market YoY Growth by Sales / Procurement Channel, %, 2026–2036</a:t>
                      </a:r>
                      <a:endParaRPr sz="1050"/>
                    </a:p>
                  </a:txBody>
                  <a:tcPr marL="9525" marR="9525" marT="9525" marB="0" anchor="ctr"/>
                </a:tc>
              </a:tr>
              <a:tr h="175729">
                <a:tc>
                  <a:txBody>
                    <a:bodyPr wrap="square"/>
                    <a:lstStyle/>
                    <a:p>
                      <a:pPr algn="l"/>
                      <a:r>
                        <a:rPr sz="1050" b="0" i="0">
                          <a:solidFill>
                            <a:srgbClr val="000000"/>
                          </a:solidFill>
                          <a:latin typeface="Calibri"/>
                        </a:rPr>
                        <a:t>Figure 61: Global Market YoY Growth by Company × Allergen Class, %, 2026–2036</a:t>
                      </a:r>
                      <a:endParaRPr sz="1050"/>
                    </a:p>
                  </a:txBody>
                  <a:tcPr marL="9525" marR="9525" marT="9525" marB="0" anchor="ctr"/>
                </a:tc>
              </a:tr>
              <a:tr h="175729">
                <a:tc>
                  <a:txBody>
                    <a:bodyPr wrap="square"/>
                    <a:lstStyle/>
                    <a:p>
                      <a:pPr algn="l"/>
                      <a:r>
                        <a:rPr sz="1050" b="0" i="0">
                          <a:solidFill>
                            <a:srgbClr val="000000"/>
                          </a:solidFill>
                          <a:latin typeface="Calibri"/>
                        </a:rPr>
                        <a:t>Figure 62: Global Market YoY Growth by Company × Therapy Format, %, 2026–2036</a:t>
                      </a:r>
                      <a:endParaRPr sz="1050"/>
                    </a:p>
                  </a:txBody>
                  <a:tcPr marL="9525" marR="9525" marT="9525" marB="0" anchor="ctr"/>
                </a:tc>
              </a:tr>
              <a:tr h="175729">
                <a:tc>
                  <a:txBody>
                    <a:bodyPr wrap="square"/>
                    <a:lstStyle/>
                    <a:p>
                      <a:pPr algn="l"/>
                      <a:r>
                        <a:rPr sz="1050" b="0" i="0">
                          <a:solidFill>
                            <a:srgbClr val="000000"/>
                          </a:solidFill>
                          <a:latin typeface="Calibri"/>
                        </a:rPr>
                        <a:t>Figure 63: Global Market YoY Growth by Company × Allergen Preparation Technology, %, 2026–2036</a:t>
                      </a:r>
                      <a:endParaRPr sz="1050"/>
                    </a:p>
                  </a:txBody>
                  <a:tcPr marL="9525" marR="9525" marT="9525" marB="0" anchor="ctr"/>
                </a:tc>
              </a:tr>
              <a:tr h="175729">
                <a:tc>
                  <a:txBody>
                    <a:bodyPr wrap="square"/>
                    <a:lstStyle/>
                    <a:p>
                      <a:pPr algn="l"/>
                      <a:r>
                        <a:rPr sz="1050" b="0" i="0">
                          <a:solidFill>
                            <a:srgbClr val="000000"/>
                          </a:solidFill>
                          <a:latin typeface="Calibri"/>
                        </a:rPr>
                        <a:t>Figure 64: Global Market Attractiveness by Therapy Format, 2026–2036</a:t>
                      </a:r>
                      <a:endParaRPr sz="1050"/>
                    </a:p>
                  </a:txBody>
                  <a:tcPr marL="9525" marR="9525" marT="9525" marB="0" anchor="ctr"/>
                </a:tc>
              </a:tr>
              <a:tr h="175729">
                <a:tc>
                  <a:txBody>
                    <a:bodyPr wrap="square"/>
                    <a:lstStyle/>
                    <a:p>
                      <a:pPr algn="l"/>
                      <a:r>
                        <a:rPr sz="1050" b="0" i="0">
                          <a:solidFill>
                            <a:srgbClr val="000000"/>
                          </a:solidFill>
                          <a:latin typeface="Calibri"/>
                        </a:rPr>
                        <a:t>Figure 65: Global Market Attractiveness by Allergen Class, 2026–2036</a:t>
                      </a:r>
                      <a:endParaRPr sz="1050"/>
                    </a:p>
                  </a:txBody>
                  <a:tcPr marL="9525" marR="9525" marT="9525" marB="0" anchor="ctr"/>
                </a:tc>
              </a:tr>
              <a:tr h="175729">
                <a:tc>
                  <a:txBody>
                    <a:bodyPr wrap="square"/>
                    <a:lstStyle/>
                    <a:p>
                      <a:pPr algn="l"/>
                      <a:r>
                        <a:rPr sz="1050" b="0" i="0">
                          <a:solidFill>
                            <a:srgbClr val="000000"/>
                          </a:solidFill>
                          <a:latin typeface="Calibri"/>
                        </a:rPr>
                        <a:t>Figure 66: Global Market Attractiveness by Commercial Product Model, 2026–2036</a:t>
                      </a:r>
                      <a:endParaRPr sz="1050"/>
                    </a:p>
                  </a:txBody>
                  <a:tcPr marL="9525" marR="9525" marT="9525" marB="0" anchor="ctr"/>
                </a:tc>
              </a:tr>
              <a:tr h="175729">
                <a:tc>
                  <a:txBody>
                    <a:bodyPr wrap="square"/>
                    <a:lstStyle/>
                    <a:p>
                      <a:pPr algn="l"/>
                      <a:r>
                        <a:rPr sz="1050" b="0" i="0">
                          <a:solidFill>
                            <a:srgbClr val="000000"/>
                          </a:solidFill>
                          <a:latin typeface="Calibri"/>
                        </a:rPr>
                        <a:t>Figure 67: Global Market Attractiveness by Allergen Preparation Technology, 2026–2036</a:t>
                      </a:r>
                      <a:endParaRPr sz="1050"/>
                    </a:p>
                  </a:txBody>
                  <a:tcPr marL="9525" marR="9525" marT="9525" marB="0" anchor="ctr"/>
                </a:tc>
              </a:tr>
              <a:tr h="175729">
                <a:tc>
                  <a:txBody>
                    <a:bodyPr wrap="square"/>
                    <a:lstStyle/>
                    <a:p>
                      <a:pPr algn="l"/>
                      <a:r>
                        <a:rPr sz="1050" b="0" i="0">
                          <a:solidFill>
                            <a:srgbClr val="000000"/>
                          </a:solidFill>
                          <a:latin typeface="Calibri"/>
                        </a:rPr>
                        <a:t>Figure 68: Global Market Attractiveness by Allergen Composition, 2026–2036</a:t>
                      </a:r>
                      <a:endParaRPr sz="1050"/>
                    </a:p>
                  </a:txBody>
                  <a:tcPr marL="9525" marR="9525" marT="9525" marB="0" anchor="ctr"/>
                </a:tc>
              </a:tr>
              <a:tr h="175729">
                <a:tc>
                  <a:txBody>
                    <a:bodyPr wrap="square"/>
                    <a:lstStyle/>
                    <a:p>
                      <a:pPr algn="l"/>
                      <a:r>
                        <a:rPr sz="1050" b="0" i="0">
                          <a:solidFill>
                            <a:srgbClr val="000000"/>
                          </a:solidFill>
                          <a:latin typeface="Calibri"/>
                        </a:rPr>
                        <a:t>Figure 69: Global Market Attractiveness by Sales / Procurement Channel, 2026–2036</a:t>
                      </a:r>
                      <a:endParaRPr sz="1050"/>
                    </a:p>
                  </a:txBody>
                  <a:tcPr marL="9525" marR="9525" marT="9525" marB="0" anchor="ctr"/>
                </a:tc>
              </a:tr>
              <a:tr h="175729">
                <a:tc>
                  <a:txBody>
                    <a:bodyPr wrap="square"/>
                    <a:lstStyle/>
                    <a:p>
                      <a:pPr algn="l"/>
                      <a:r>
                        <a:rPr sz="1050" b="0" i="0">
                          <a:solidFill>
                            <a:srgbClr val="000000"/>
                          </a:solidFill>
                          <a:latin typeface="Calibri"/>
                        </a:rPr>
                        <a:t>Figure 70: Global Market Attractiveness by Company × Allergen Class, 2026–2036</a:t>
                      </a:r>
                      <a:endParaRPr sz="1050"/>
                    </a:p>
                  </a:txBody>
                  <a:tcPr marL="9525" marR="9525" marT="9525" marB="0" anchor="ctr"/>
                </a:tc>
              </a:tr>
              <a:tr h="175729">
                <a:tc>
                  <a:txBody>
                    <a:bodyPr wrap="square"/>
                    <a:lstStyle/>
                    <a:p>
                      <a:pPr algn="l"/>
                      <a:r>
                        <a:rPr sz="1050" b="0" i="0">
                          <a:solidFill>
                            <a:srgbClr val="000000"/>
                          </a:solidFill>
                          <a:latin typeface="Calibri"/>
                        </a:rPr>
                        <a:t>Figure 71: Global Market Attractiveness by Company × Therapy Format, 2026–2036</a:t>
                      </a:r>
                      <a:endParaRPr sz="1050"/>
                    </a:p>
                  </a:txBody>
                  <a:tcPr marL="9525" marR="9525" marT="9525" marB="0" anchor="ctr"/>
                </a:tc>
              </a:tr>
              <a:tr h="175729">
                <a:tc>
                  <a:txBody>
                    <a:bodyPr wrap="square"/>
                    <a:lstStyle/>
                    <a:p>
                      <a:pPr algn="l"/>
                      <a:r>
                        <a:rPr sz="1050" b="0" i="0">
                          <a:solidFill>
                            <a:srgbClr val="000000"/>
                          </a:solidFill>
                          <a:latin typeface="Calibri"/>
                        </a:rPr>
                        <a:t>Figure 72: Global Market Attractiveness by Company × Allergen Preparation Technology, 2026–2036</a:t>
                      </a:r>
                      <a:endParaRPr sz="1050"/>
                    </a:p>
                  </a:txBody>
                  <a:tcPr marL="9525" marR="9525" marT="9525" marB="0" anchor="ctr"/>
                </a:tc>
              </a:tr>
              <a:tr h="175729">
                <a:tc>
                  <a:txBody>
                    <a:bodyPr wrap="square"/>
                    <a:lstStyle/>
                    <a:p>
                      <a:pPr algn="l"/>
                      <a:r>
                        <a:rPr sz="1050" b="0" i="0">
                          <a:solidFill>
                            <a:srgbClr val="000000"/>
                          </a:solidFill>
                          <a:latin typeface="Calibri"/>
                        </a:rPr>
                        <a:t>Figure 73: Therapy Format × Allergen Class Opportunity Matrix, 2026–2036</a:t>
                      </a:r>
                      <a:endParaRPr sz="1050"/>
                    </a:p>
                  </a:txBody>
                  <a:tcPr marL="9525" marR="9525" marT="9525" marB="0" anchor="ctr"/>
                </a:tc>
              </a:tr>
              <a:tr h="175729">
                <a:tc>
                  <a:txBody>
                    <a:bodyPr wrap="square"/>
                    <a:lstStyle/>
                    <a:p>
                      <a:pPr algn="l"/>
                      <a:r>
                        <a:rPr sz="1050" b="0" i="0">
                          <a:solidFill>
                            <a:srgbClr val="000000"/>
                          </a:solidFill>
                          <a:latin typeface="Calibri"/>
                        </a:rPr>
                        <a:t>Figure 74: Therapy Format × Commercial Product Model Opportunity Matrix, 2026–2036</a:t>
                      </a:r>
                      <a:endParaRPr sz="1050"/>
                    </a:p>
                  </a:txBody>
                  <a:tcPr marL="9525" marR="9525" marT="9525" marB="0" anchor="ctr"/>
                </a:tc>
              </a:tr>
              <a:tr h="175729">
                <a:tc>
                  <a:txBody>
                    <a:bodyPr wrap="square"/>
                    <a:lstStyle/>
                    <a:p>
                      <a:pPr algn="l"/>
                      <a:r>
                        <a:rPr sz="1050" b="0" i="0">
                          <a:solidFill>
                            <a:srgbClr val="000000"/>
                          </a:solidFill>
                          <a:latin typeface="Calibri"/>
                        </a:rPr>
                        <a:t>Figure 75: Therapy Format × Allergen Preparation Technology Opportunity Matrix, 2026–2036</a:t>
                      </a:r>
                      <a:endParaRPr sz="1050"/>
                    </a:p>
                  </a:txBody>
                  <a:tcPr marL="9525" marR="9525" marT="9525" marB="0" anchor="ctr"/>
                </a:tc>
              </a:tr>
              <a:tr h="175729">
                <a:tc>
                  <a:txBody>
                    <a:bodyPr wrap="square"/>
                    <a:lstStyle/>
                    <a:p>
                      <a:pPr algn="l"/>
                      <a:r>
                        <a:rPr sz="1050" b="0" i="0">
                          <a:solidFill>
                            <a:srgbClr val="000000"/>
                          </a:solidFill>
                          <a:latin typeface="Calibri"/>
                        </a:rPr>
                        <a:t>Figure 76: Therapy Format × Allergen Composition Opportunity Matrix, 2026–2036</a:t>
                      </a:r>
                      <a:endParaRPr sz="1050"/>
                    </a:p>
                  </a:txBody>
                  <a:tcPr marL="9525" marR="9525" marT="9525" marB="0" anchor="ctr"/>
                </a:tc>
              </a:tr>
              <a:tr h="175729">
                <a:tc>
                  <a:txBody>
                    <a:bodyPr wrap="square"/>
                    <a:lstStyle/>
                    <a:p>
                      <a:pPr algn="l"/>
                      <a:r>
                        <a:rPr sz="1050" b="0" i="0">
                          <a:solidFill>
                            <a:srgbClr val="000000"/>
                          </a:solidFill>
                          <a:latin typeface="Calibri"/>
                        </a:rPr>
                        <a:t>Figure 77: Therapy Format × Sales / Procurement Channel Opportunity Matrix, 2026–2036</a:t>
                      </a:r>
                      <a:endParaRPr sz="1050"/>
                    </a:p>
                  </a:txBody>
                  <a:tcPr marL="9525" marR="9525" marT="9525" marB="0" anchor="ctr"/>
                </a:tc>
              </a:tr>
              <a:tr h="175729">
                <a:tc>
                  <a:txBody>
                    <a:bodyPr wrap="square"/>
                    <a:lstStyle/>
                    <a:p>
                      <a:pPr algn="l"/>
                      <a:r>
                        <a:rPr sz="1050" b="0" i="0">
                          <a:solidFill>
                            <a:srgbClr val="000000"/>
                          </a:solidFill>
                          <a:latin typeface="Calibri"/>
                        </a:rPr>
                        <a:t>Figure 78: Therapy Format × Company × Allergen Class Opportunity Matrix, 2026–2036</a:t>
                      </a:r>
                      <a:endParaRPr sz="1050"/>
                    </a:p>
                  </a:txBody>
                  <a:tcPr marL="9525" marR="9525" marT="9525" marB="0" anchor="ctr"/>
                </a:tc>
              </a:tr>
              <a:tr h="175729">
                <a:tc>
                  <a:txBody>
                    <a:bodyPr wrap="square"/>
                    <a:lstStyle/>
                    <a:p>
                      <a:pPr algn="l"/>
                      <a:r>
                        <a:rPr sz="1050" b="0" i="0">
                          <a:solidFill>
                            <a:srgbClr val="000000"/>
                          </a:solidFill>
                          <a:latin typeface="Calibri"/>
                        </a:rPr>
                        <a:t>Figure 79: Therapy Format × Company × Therapy Format Opportunity Matrix, 2026–2036</a:t>
                      </a:r>
                      <a:endParaRPr sz="1050"/>
                    </a:p>
                  </a:txBody>
                  <a:tcPr marL="9525" marR="9525" marT="9525" marB="0" anchor="ctr"/>
                </a:tc>
              </a:tr>
              <a:tr h="344428">
                <a:tc>
                  <a:txBody>
                    <a:bodyPr wrap="square"/>
                    <a:lstStyle/>
                    <a:p>
                      <a:pPr algn="l"/>
                      <a:r>
                        <a:rPr sz="1050" b="0" i="0">
                          <a:solidFill>
                            <a:srgbClr val="000000"/>
                          </a:solidFill>
                          <a:latin typeface="Calibri"/>
                        </a:rPr>
                        <a:t>Figure 80: Therapy Format × Company × Allergen Preparation Technology Opportunity Matrix, 2026–2036</a:t>
                      </a:r>
                      <a:endParaRPr sz="1050"/>
                    </a:p>
                  </a:txBody>
                  <a:tcPr marL="9525" marR="9525" marT="9525" marB="0" anchor="ctr"/>
                </a:tc>
              </a:tr>
              <a:tr h="175729">
                <a:tc>
                  <a:txBody>
                    <a:bodyPr wrap="square"/>
                    <a:lstStyle/>
                    <a:p>
                      <a:pPr algn="l"/>
                      <a:r>
                        <a:rPr sz="1050" b="0" i="0">
                          <a:solidFill>
                            <a:srgbClr val="000000"/>
                          </a:solidFill>
                          <a:latin typeface="Calibri"/>
                        </a:rPr>
                        <a:t>Figure 81: Allergen Class × Commercial Product Model Opportunity Matrix, 2026–2036</a:t>
                      </a:r>
                      <a:endParaRPr sz="1050"/>
                    </a:p>
                  </a:txBody>
                  <a:tcPr marL="9525" marR="9525" marT="9525" marB="0" anchor="ctr"/>
                </a:tc>
              </a:tr>
              <a:tr h="175729">
                <a:tc>
                  <a:txBody>
                    <a:bodyPr wrap="square"/>
                    <a:lstStyle/>
                    <a:p>
                      <a:pPr algn="l"/>
                      <a:r>
                        <a:rPr sz="1050" b="0" i="0">
                          <a:solidFill>
                            <a:srgbClr val="000000"/>
                          </a:solidFill>
                          <a:latin typeface="Calibri"/>
                        </a:rPr>
                        <a:t>Figure 82: Allergen Class × Allergen Preparation Technology Opportunity Matrix, 2026–2036</a:t>
                      </a:r>
                      <a:endParaRPr sz="1050"/>
                    </a:p>
                  </a:txBody>
                  <a:tcPr marL="9525" marR="9525" marT="9525" marB="0" anchor="ctr"/>
                </a:tc>
              </a:tr>
              <a:tr h="175729">
                <a:tc>
                  <a:txBody>
                    <a:bodyPr wrap="square"/>
                    <a:lstStyle/>
                    <a:p>
                      <a:pPr algn="l"/>
                      <a:r>
                        <a:rPr sz="1050" b="0" i="0">
                          <a:solidFill>
                            <a:srgbClr val="000000"/>
                          </a:solidFill>
                          <a:latin typeface="Calibri"/>
                        </a:rPr>
                        <a:t>Figure 83: Allergen Class × Allergen Composition Opportunity Matrix, 2026–2036</a:t>
                      </a:r>
                      <a:endParaRPr sz="1050"/>
                    </a:p>
                  </a:txBody>
                  <a:tcPr marL="9525" marR="9525" marT="9525" marB="0" anchor="ctr"/>
                </a:tc>
              </a:tr>
              <a:tr h="175729">
                <a:tc>
                  <a:txBody>
                    <a:bodyPr wrap="square"/>
                    <a:lstStyle/>
                    <a:p>
                      <a:pPr algn="l"/>
                      <a:r>
                        <a:rPr sz="1050" b="0" i="0">
                          <a:solidFill>
                            <a:srgbClr val="000000"/>
                          </a:solidFill>
                          <a:latin typeface="Calibri"/>
                        </a:rPr>
                        <a:t>Figure 84: Allergen Class × Sales / Procurement Channel Opportunity Matrix, 2026–2036</a:t>
                      </a:r>
                      <a:endParaRPr sz="1050"/>
                    </a:p>
                  </a:txBody>
                  <a:tcPr marL="9525" marR="9525" marT="9525" marB="0" anchor="ctr"/>
                </a:tc>
              </a:tr>
              <a:tr h="175729">
                <a:tc>
                  <a:txBody>
                    <a:bodyPr wrap="square"/>
                    <a:lstStyle/>
                    <a:p>
                      <a:pPr algn="l"/>
                      <a:r>
                        <a:rPr sz="1050" b="0" i="0">
                          <a:solidFill>
                            <a:srgbClr val="000000"/>
                          </a:solidFill>
                          <a:latin typeface="Calibri"/>
                        </a:rPr>
                        <a:t>Figure 85: Allergen Class × Company × Allergen Class Opportunity Matrix, 2026–2036</a:t>
                      </a:r>
                      <a:endParaRPr sz="1050"/>
                    </a:p>
                  </a:txBody>
                  <a:tcPr marL="9525" marR="9525" marT="9525" marB="0" anchor="ctr"/>
                </a:tc>
              </a:tr>
              <a:tr h="175729">
                <a:tc>
                  <a:txBody>
                    <a:bodyPr wrap="square"/>
                    <a:lstStyle/>
                    <a:p>
                      <a:pPr algn="l"/>
                      <a:r>
                        <a:rPr sz="1050" b="0" i="0">
                          <a:solidFill>
                            <a:srgbClr val="000000"/>
                          </a:solidFill>
                          <a:latin typeface="Calibri"/>
                        </a:rPr>
                        <a:t>Figure 86: Allergen Class × Company × Therapy Format Opportunity Matrix, 2026–2036</a:t>
                      </a:r>
                      <a:endParaRPr sz="1050"/>
                    </a:p>
                  </a:txBody>
                  <a:tcPr marL="9525" marR="9525" marT="9525" marB="0" anchor="ctr"/>
                </a:tc>
              </a:tr>
              <a:tr h="344428">
                <a:tc>
                  <a:txBody>
                    <a:bodyPr wrap="square"/>
                    <a:lstStyle/>
                    <a:p>
                      <a:pPr algn="l"/>
                      <a:r>
                        <a:rPr sz="1050" b="0" i="0">
                          <a:solidFill>
                            <a:srgbClr val="000000"/>
                          </a:solidFill>
                          <a:latin typeface="Calibri"/>
                        </a:rPr>
                        <a:t>Figure 87: Allergen Class × Company × Allergen Preparation Technology Opportunity Matrix,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332858">
                <a:tc>
                  <a:txBody>
                    <a:bodyPr wrap="square"/>
                    <a:lstStyle/>
                    <a:p>
                      <a:pPr algn="l"/>
                      <a:r>
                        <a:rPr sz="1050" b="0" i="0">
                          <a:solidFill>
                            <a:srgbClr val="000000"/>
                          </a:solidFill>
                          <a:latin typeface="Calibri"/>
                        </a:rPr>
                        <a:t>Figure 88: Commercial Product Model × Allergen Preparation Technology Opportunity Matrix, 2026–2036</a:t>
                      </a:r>
                      <a:endParaRPr sz="1050"/>
                    </a:p>
                  </a:txBody>
                  <a:tcPr marL="9525" marR="9525" marT="9525" marB="0" anchor="ctr"/>
                </a:tc>
              </a:tr>
              <a:tr h="169826">
                <a:tc>
                  <a:txBody>
                    <a:bodyPr wrap="square"/>
                    <a:lstStyle/>
                    <a:p>
                      <a:pPr algn="l"/>
                      <a:r>
                        <a:rPr sz="1050" b="0" i="0">
                          <a:solidFill>
                            <a:srgbClr val="000000"/>
                          </a:solidFill>
                          <a:latin typeface="Calibri"/>
                        </a:rPr>
                        <a:t>Figure 89: Commercial Product Model × Allergen Composition Opportunity Matrix, 2026–2036</a:t>
                      </a:r>
                      <a:endParaRPr sz="1050"/>
                    </a:p>
                  </a:txBody>
                  <a:tcPr marL="9525" marR="9525" marT="9525" marB="0" anchor="ctr"/>
                </a:tc>
              </a:tr>
              <a:tr h="169826">
                <a:tc>
                  <a:txBody>
                    <a:bodyPr wrap="square"/>
                    <a:lstStyle/>
                    <a:p>
                      <a:pPr algn="l"/>
                      <a:r>
                        <a:rPr sz="1050" b="0" i="0">
                          <a:solidFill>
                            <a:srgbClr val="000000"/>
                          </a:solidFill>
                          <a:latin typeface="Calibri"/>
                        </a:rPr>
                        <a:t>Figure 90: Commercial Product Model × Sales / Procurement Channel Opportunity Matrix, 2026–2036</a:t>
                      </a:r>
                      <a:endParaRPr sz="1050"/>
                    </a:p>
                  </a:txBody>
                  <a:tcPr marL="9525" marR="9525" marT="9525" marB="0" anchor="ctr"/>
                </a:tc>
              </a:tr>
              <a:tr h="169826">
                <a:tc>
                  <a:txBody>
                    <a:bodyPr wrap="square"/>
                    <a:lstStyle/>
                    <a:p>
                      <a:pPr algn="l"/>
                      <a:r>
                        <a:rPr sz="1050" b="0" i="0">
                          <a:solidFill>
                            <a:srgbClr val="000000"/>
                          </a:solidFill>
                          <a:latin typeface="Calibri"/>
                        </a:rPr>
                        <a:t>Figure 91: Commercial Product Model × Company × Allergen Class Opportunity Matrix, 2026–2036</a:t>
                      </a:r>
                      <a:endParaRPr sz="1050"/>
                    </a:p>
                  </a:txBody>
                  <a:tcPr marL="9525" marR="9525" marT="9525" marB="0" anchor="ctr"/>
                </a:tc>
              </a:tr>
              <a:tr h="169826">
                <a:tc>
                  <a:txBody>
                    <a:bodyPr wrap="square"/>
                    <a:lstStyle/>
                    <a:p>
                      <a:pPr algn="l"/>
                      <a:r>
                        <a:rPr sz="1050" b="0" i="0">
                          <a:solidFill>
                            <a:srgbClr val="000000"/>
                          </a:solidFill>
                          <a:latin typeface="Calibri"/>
                        </a:rPr>
                        <a:t>Figure 92: Commercial Product Model × Company × Therapy Format Opportunity Matrix, 2026–2036</a:t>
                      </a:r>
                      <a:endParaRPr sz="1050"/>
                    </a:p>
                  </a:txBody>
                  <a:tcPr marL="9525" marR="9525" marT="9525" marB="0" anchor="ctr"/>
                </a:tc>
              </a:tr>
              <a:tr h="169826">
                <a:tc>
                  <a:txBody>
                    <a:bodyPr wrap="square"/>
                    <a:lstStyle/>
                    <a:p>
                      <a:pPr algn="l"/>
                      <a:r>
                        <a:rPr sz="1050" b="0" i="0">
                          <a:solidFill>
                            <a:srgbClr val="000000"/>
                          </a:solidFill>
                          <a:latin typeface="Calibri"/>
                        </a:rPr>
                        <a:t>Figure 93: Global Market Value by Region, US$ Mn, 2021–2036</a:t>
                      </a:r>
                      <a:endParaRPr sz="1050"/>
                    </a:p>
                  </a:txBody>
                  <a:tcPr marL="9525" marR="9525" marT="9525" marB="0" anchor="ctr"/>
                </a:tc>
              </a:tr>
              <a:tr h="169826">
                <a:tc>
                  <a:txBody>
                    <a:bodyPr wrap="square"/>
                    <a:lstStyle/>
                    <a:p>
                      <a:pPr algn="l"/>
                      <a:r>
                        <a:rPr sz="1050" b="0" i="0">
                          <a:solidFill>
                            <a:srgbClr val="000000"/>
                          </a:solidFill>
                          <a:latin typeface="Calibri"/>
                        </a:rPr>
                        <a:t>Figure 94: Global Market Share by Region, %, 2026 and 2036</a:t>
                      </a:r>
                      <a:endParaRPr sz="1050"/>
                    </a:p>
                  </a:txBody>
                  <a:tcPr marL="9525" marR="9525" marT="9525" marB="0" anchor="ctr"/>
                </a:tc>
              </a:tr>
              <a:tr h="169826">
                <a:tc>
                  <a:txBody>
                    <a:bodyPr wrap="square"/>
                    <a:lstStyle/>
                    <a:p>
                      <a:pPr algn="l"/>
                      <a:r>
                        <a:rPr sz="1050" b="0" i="0">
                          <a:solidFill>
                            <a:srgbClr val="000000"/>
                          </a:solidFill>
                          <a:latin typeface="Calibri"/>
                        </a:rPr>
                        <a:t>Figure 95: Global Market CAGR by Region, %, 2026–2036</a:t>
                      </a:r>
                      <a:endParaRPr sz="1050"/>
                    </a:p>
                  </a:txBody>
                  <a:tcPr marL="9525" marR="9525" marT="9525" marB="0" anchor="ctr"/>
                </a:tc>
              </a:tr>
              <a:tr h="169826">
                <a:tc>
                  <a:txBody>
                    <a:bodyPr wrap="square"/>
                    <a:lstStyle/>
                    <a:p>
                      <a:pPr algn="l"/>
                      <a:r>
                        <a:rPr sz="1050" b="0" i="0">
                          <a:solidFill>
                            <a:srgbClr val="000000"/>
                          </a:solidFill>
                          <a:latin typeface="Calibri"/>
                        </a:rPr>
                        <a:t>Figure 96: Global Market Absolute $ Opportunity by Region, US$ Mn, 2026–2036</a:t>
                      </a:r>
                      <a:endParaRPr sz="1050"/>
                    </a:p>
                  </a:txBody>
                  <a:tcPr marL="9525" marR="9525" marT="9525" marB="0" anchor="ctr"/>
                </a:tc>
              </a:tr>
              <a:tr h="169826">
                <a:tc>
                  <a:txBody>
                    <a:bodyPr wrap="square"/>
                    <a:lstStyle/>
                    <a:p>
                      <a:pPr algn="l"/>
                      <a:r>
                        <a:rPr sz="1050" b="0" i="0">
                          <a:solidFill>
                            <a:srgbClr val="000000"/>
                          </a:solidFill>
                          <a:latin typeface="Calibri"/>
                        </a:rPr>
                        <a:t>Figure 97: Global Market Attractiveness by Region, 2026–2036</a:t>
                      </a:r>
                      <a:endParaRPr sz="1050"/>
                    </a:p>
                  </a:txBody>
                  <a:tcPr marL="9525" marR="9525" marT="9525" marB="0" anchor="ctr"/>
                </a:tc>
              </a:tr>
              <a:tr h="169826">
                <a:tc>
                  <a:txBody>
                    <a:bodyPr wrap="square"/>
                    <a:lstStyle/>
                    <a:p>
                      <a:pPr algn="l"/>
                      <a:r>
                        <a:rPr sz="1050" b="0" i="0">
                          <a:solidFill>
                            <a:srgbClr val="000000"/>
                          </a:solidFill>
                          <a:latin typeface="Calibri"/>
                        </a:rPr>
                        <a:t>Figure 98: Global Market BPS Share Change by Region, 2026–2036</a:t>
                      </a:r>
                      <a:endParaRPr sz="1050"/>
                    </a:p>
                  </a:txBody>
                  <a:tcPr marL="9525" marR="9525" marT="9525" marB="0" anchor="ctr"/>
                </a:tc>
              </a:tr>
              <a:tr h="169826">
                <a:tc>
                  <a:txBody>
                    <a:bodyPr wrap="square"/>
                    <a:lstStyle/>
                    <a:p>
                      <a:pPr algn="l"/>
                      <a:r>
                        <a:rPr sz="1050" b="0" i="0">
                          <a:solidFill>
                            <a:srgbClr val="000000"/>
                          </a:solidFill>
                          <a:latin typeface="Calibri"/>
                        </a:rPr>
                        <a:t>Figure 99: North America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Figure 100: Latin America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Figure 101: Europe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Figure 102: East Asia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Figure 103: South Asia &amp; Pacific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Figure 104: Middle East &amp; Africa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Figure 105: North America Market Share of Global Market, %, 2026 and 2036</a:t>
                      </a:r>
                      <a:endParaRPr sz="1050"/>
                    </a:p>
                  </a:txBody>
                  <a:tcPr marL="9525" marR="9525" marT="9525" marB="0" anchor="ctr"/>
                </a:tc>
              </a:tr>
              <a:tr h="169826">
                <a:tc>
                  <a:txBody>
                    <a:bodyPr wrap="square"/>
                    <a:lstStyle/>
                    <a:p>
                      <a:pPr algn="l"/>
                      <a:r>
                        <a:rPr sz="1050" b="0" i="0">
                          <a:solidFill>
                            <a:srgbClr val="000000"/>
                          </a:solidFill>
                          <a:latin typeface="Calibri"/>
                        </a:rPr>
                        <a:t>Figure 106: Latin America Market Share of Global Market, %, 2026 and 2036</a:t>
                      </a:r>
                      <a:endParaRPr sz="1050"/>
                    </a:p>
                  </a:txBody>
                  <a:tcPr marL="9525" marR="9525" marT="9525" marB="0" anchor="ctr"/>
                </a:tc>
              </a:tr>
              <a:tr h="169826">
                <a:tc>
                  <a:txBody>
                    <a:bodyPr wrap="square"/>
                    <a:lstStyle/>
                    <a:p>
                      <a:pPr algn="l"/>
                      <a:r>
                        <a:rPr sz="1050" b="0" i="0">
                          <a:solidFill>
                            <a:srgbClr val="000000"/>
                          </a:solidFill>
                          <a:latin typeface="Calibri"/>
                        </a:rPr>
                        <a:t>Figure 107: Europe Market Share of Global Market, %, 2026 and 2036</a:t>
                      </a:r>
                      <a:endParaRPr sz="1050"/>
                    </a:p>
                  </a:txBody>
                  <a:tcPr marL="9525" marR="9525" marT="9525" marB="0" anchor="ctr"/>
                </a:tc>
              </a:tr>
              <a:tr h="169826">
                <a:tc>
                  <a:txBody>
                    <a:bodyPr wrap="square"/>
                    <a:lstStyle/>
                    <a:p>
                      <a:pPr algn="l"/>
                      <a:r>
                        <a:rPr sz="1050" b="0" i="0">
                          <a:solidFill>
                            <a:srgbClr val="000000"/>
                          </a:solidFill>
                          <a:latin typeface="Calibri"/>
                        </a:rPr>
                        <a:t>Figure 108: East Asia Market Share of Global Market, %, 2026 and 2036</a:t>
                      </a:r>
                      <a:endParaRPr sz="1050"/>
                    </a:p>
                  </a:txBody>
                  <a:tcPr marL="9525" marR="9525" marT="9525" marB="0" anchor="ctr"/>
                </a:tc>
              </a:tr>
              <a:tr h="169826">
                <a:tc>
                  <a:txBody>
                    <a:bodyPr wrap="square"/>
                    <a:lstStyle/>
                    <a:p>
                      <a:pPr algn="l"/>
                      <a:r>
                        <a:rPr sz="1050" b="0" i="0">
                          <a:solidFill>
                            <a:srgbClr val="000000"/>
                          </a:solidFill>
                          <a:latin typeface="Calibri"/>
                        </a:rPr>
                        <a:t>Figure 109: South Asia &amp; Pacific Market Share of Global Market, %, 2026 and 2036</a:t>
                      </a:r>
                      <a:endParaRPr sz="1050"/>
                    </a:p>
                  </a:txBody>
                  <a:tcPr marL="9525" marR="9525" marT="9525" marB="0" anchor="ctr"/>
                </a:tc>
              </a:tr>
              <a:tr h="169826">
                <a:tc>
                  <a:txBody>
                    <a:bodyPr wrap="square"/>
                    <a:lstStyle/>
                    <a:p>
                      <a:pPr algn="l"/>
                      <a:r>
                        <a:rPr sz="1050" b="0" i="0">
                          <a:solidFill>
                            <a:srgbClr val="000000"/>
                          </a:solidFill>
                          <a:latin typeface="Calibri"/>
                        </a:rPr>
                        <a:t>Figure 110: Middle East &amp; Africa Market Share of Global Market, %, 2026 and 2036</a:t>
                      </a:r>
                      <a:endParaRPr sz="1050"/>
                    </a:p>
                  </a:txBody>
                  <a:tcPr marL="9525" marR="9525" marT="9525" marB="0" anchor="ctr"/>
                </a:tc>
              </a:tr>
              <a:tr h="169826">
                <a:tc>
                  <a:txBody>
                    <a:bodyPr wrap="square"/>
                    <a:lstStyle/>
                    <a:p>
                      <a:pPr algn="l"/>
                      <a:r>
                        <a:rPr sz="1050" b="0" i="0">
                          <a:solidFill>
                            <a:srgbClr val="000000"/>
                          </a:solidFill>
                          <a:latin typeface="Calibri"/>
                        </a:rPr>
                        <a:t>Figure 111: North America Market Value by Country,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112: Latin America Market Value by Country,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113: Europe Market Value by Country,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114: East Asia Market Value by Country,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115: South Asia &amp; Pacific Market Value by Country,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116: Middle East &amp; Africa Market Value by Country, US$ Mn, 2026 and 2036</a:t>
                      </a:r>
                      <a:endParaRPr sz="1050"/>
                    </a:p>
                  </a:txBody>
                  <a:tcPr marL="9525" marR="9525" marT="9525" marB="0" anchor="ctr"/>
                </a:tc>
              </a:tr>
              <a:tr h="169826">
                <a:tc>
                  <a:txBody>
                    <a:bodyPr wrap="square"/>
                    <a:lstStyle/>
                    <a:p>
                      <a:pPr algn="l"/>
                      <a:r>
                        <a:rPr sz="1050" b="0" i="0">
                          <a:solidFill>
                            <a:srgbClr val="000000"/>
                          </a:solidFill>
                          <a:latin typeface="Calibri"/>
                        </a:rPr>
                        <a:t>Figure 117: North America Market Absolute $ Opportunity, US$ Mn,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118: U.S.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119: U.S. Market Value by Therapy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120: U.S. Market Value by Sales / Procurement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121: U.S.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122: U.S. Market Value by Allergen Class,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123: U.S. Market Value by Commercial Product Model,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124: U.S. Market Value by Allergen Preparation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125: U.S. Market Value by Allergen Composition,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126: Germany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127: Germany Market Value by Therapy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128: Germany Market Value by Sales / Procurement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129: Germany Market Share within Europe, %, 2026 and 2036</a:t>
                      </a:r>
                      <a:endParaRPr sz="1050"/>
                    </a:p>
                  </a:txBody>
                  <a:tcPr marL="9525" marR="9525" marT="9525" marB="0" anchor="ctr"/>
                </a:tc>
              </a:tr>
              <a:tr h="169606">
                <a:tc>
                  <a:txBody>
                    <a:bodyPr wrap="square"/>
                    <a:lstStyle/>
                    <a:p>
                      <a:pPr algn="l"/>
                      <a:r>
                        <a:rPr sz="1050" b="0" i="0">
                          <a:solidFill>
                            <a:srgbClr val="000000"/>
                          </a:solidFill>
                          <a:latin typeface="Calibri"/>
                        </a:rPr>
                        <a:t>Figure 130: Germany Market Value by Allergen Class,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131: Germany Market Value by Commercial Product Model,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132: Germany Market Value by Allergen Preparation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133: Germany Market Value by Allergen Composition,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134: Canada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135: Canada Market Value by Therapy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136: Canada Market Value by Sales / Procurement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137: Canada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138: Canada Market Value by Allergen Class,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139: Canada Market Value by Commercial Product Model,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140: Canada Market Value by Allergen Preparation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141: Canada Market Value by Allergen Composition,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142: China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143: China Market Value by Therapy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144: India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145: India Market Value by Therapy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146: Brazil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147: Brazil Market Value by Therapy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148: U.K. Market Value and YoY Growth, US$ Mn and %, 2021–2036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4"/>
        </p:xfrm>
        <a:graphic>
          <a:graphicData uri="http://schemas.openxmlformats.org/drawingml/2006/table">
            <a:tbl>
              <a:tblPr>
                <a:tableStyleId>{3B4B98B0-60AC-42C2-AFA5-B58CD77FA1E5}</a:tableStyleId>
              </a:tblPr>
              <a:tblGrid>
                <a:gridCol w="5876925"/>
              </a:tblGrid>
              <a:tr h="171824">
                <a:tc>
                  <a:txBody>
                    <a:bodyPr wrap="square"/>
                    <a:lstStyle/>
                    <a:p>
                      <a:pPr algn="l"/>
                      <a:r>
                        <a:rPr sz="1050" b="0" i="0">
                          <a:solidFill>
                            <a:srgbClr val="000000"/>
                          </a:solidFill>
                          <a:latin typeface="Calibri"/>
                        </a:rPr>
                        <a:t>Figure 149: U.K. Market Value by Therapy Format, US$ Mn, 2026 and 2036</a:t>
                      </a:r>
                      <a:endParaRPr sz="1050"/>
                    </a:p>
                  </a:txBody>
                  <a:tcPr marL="9525" marR="9525" marT="9525" marB="0" anchor="ctr"/>
                </a:tc>
              </a:tr>
              <a:tr h="171824">
                <a:tc>
                  <a:txBody>
                    <a:bodyPr wrap="square"/>
                    <a:lstStyle/>
                    <a:p>
                      <a:pPr algn="l"/>
                      <a:r>
                        <a:rPr sz="1050" b="0" i="0">
                          <a:solidFill>
                            <a:srgbClr val="000000"/>
                          </a:solidFill>
                          <a:latin typeface="Calibri"/>
                        </a:rPr>
                        <a:t>Figure 150: Japan Market Value and YoY Growth, US$ Mn and %, 2021–2036</a:t>
                      </a:r>
                      <a:endParaRPr sz="1050"/>
                    </a:p>
                  </a:txBody>
                  <a:tcPr marL="9525" marR="9525" marT="9525" marB="0" anchor="ctr"/>
                </a:tc>
              </a:tr>
              <a:tr h="171824">
                <a:tc>
                  <a:txBody>
                    <a:bodyPr wrap="square"/>
                    <a:lstStyle/>
                    <a:p>
                      <a:pPr algn="l"/>
                      <a:r>
                        <a:rPr sz="1050" b="0" i="0">
                          <a:solidFill>
                            <a:srgbClr val="000000"/>
                          </a:solidFill>
                          <a:latin typeface="Calibri"/>
                        </a:rPr>
                        <a:t>Figure 151: Japan Market Value by Therapy Format, US$ Mn, 2026 and 2036</a:t>
                      </a:r>
                      <a:endParaRPr sz="1050"/>
                    </a:p>
                  </a:txBody>
                  <a:tcPr marL="9525" marR="9525" marT="9525" marB="0" anchor="ctr"/>
                </a:tc>
              </a:tr>
              <a:tr h="171824">
                <a:tc>
                  <a:txBody>
                    <a:bodyPr wrap="square"/>
                    <a:lstStyle/>
                    <a:p>
                      <a:pPr algn="l"/>
                      <a:r>
                        <a:rPr sz="1050" b="0" i="0">
                          <a:solidFill>
                            <a:srgbClr val="000000"/>
                          </a:solidFill>
                          <a:latin typeface="Calibri"/>
                        </a:rPr>
                        <a:t>Figure 152: Global Market Average Selling Price Trend, US$/Patient Treatment Courses, 2021–2036</a:t>
                      </a:r>
                      <a:endParaRPr sz="1050"/>
                    </a:p>
                  </a:txBody>
                  <a:tcPr marL="9525" marR="9525" marT="9525" marB="0" anchor="ctr"/>
                </a:tc>
              </a:tr>
              <a:tr h="336774">
                <a:tc>
                  <a:txBody>
                    <a:bodyPr wrap="square"/>
                    <a:lstStyle/>
                    <a:p>
                      <a:pPr algn="l"/>
                      <a:r>
                        <a:rPr sz="1050" b="0" i="0">
                          <a:solidFill>
                            <a:srgbClr val="000000"/>
                          </a:solidFill>
                          <a:latin typeface="Calibri"/>
                        </a:rPr>
                        <a:t>Figure 153: Global Market Average Selling Price by Region, US$/Patient Treatment Courses, 2026 and 2036</a:t>
                      </a:r>
                      <a:endParaRPr sz="1050"/>
                    </a:p>
                  </a:txBody>
                  <a:tcPr marL="9525" marR="9525" marT="9525" marB="0" anchor="ctr"/>
                </a:tc>
              </a:tr>
              <a:tr h="336774">
                <a:tc>
                  <a:txBody>
                    <a:bodyPr wrap="square"/>
                    <a:lstStyle/>
                    <a:p>
                      <a:pPr algn="l"/>
                      <a:r>
                        <a:rPr sz="1050" b="0" i="0">
                          <a:solidFill>
                            <a:srgbClr val="000000"/>
                          </a:solidFill>
                          <a:latin typeface="Calibri"/>
                        </a:rPr>
                        <a:t>Figure 154: Global Market Average Selling Price by Therapy Format, US$/Patient Treatment Courses, 2026 and 2036</a:t>
                      </a:r>
                      <a:endParaRPr sz="1050"/>
                    </a:p>
                  </a:txBody>
                  <a:tcPr marL="9525" marR="9525" marT="9525" marB="0" anchor="ctr"/>
                </a:tc>
              </a:tr>
              <a:tr h="336774">
                <a:tc>
                  <a:txBody>
                    <a:bodyPr wrap="square"/>
                    <a:lstStyle/>
                    <a:p>
                      <a:pPr algn="l"/>
                      <a:r>
                        <a:rPr sz="1050" b="0" i="0">
                          <a:solidFill>
                            <a:srgbClr val="000000"/>
                          </a:solidFill>
                          <a:latin typeface="Calibri"/>
                        </a:rPr>
                        <a:t>Figure 155: Global Market Average Selling Price by Allergen Class, US$/Patient Treatment Courses, 2026 and 2036</a:t>
                      </a:r>
                      <a:endParaRPr sz="1050"/>
                    </a:p>
                  </a:txBody>
                  <a:tcPr marL="9525" marR="9525" marT="9525" marB="0" anchor="ctr"/>
                </a:tc>
              </a:tr>
              <a:tr h="336774">
                <a:tc>
                  <a:txBody>
                    <a:bodyPr wrap="square"/>
                    <a:lstStyle/>
                    <a:p>
                      <a:pPr algn="l"/>
                      <a:r>
                        <a:rPr sz="1050" b="0" i="0">
                          <a:solidFill>
                            <a:srgbClr val="000000"/>
                          </a:solidFill>
                          <a:latin typeface="Calibri"/>
                        </a:rPr>
                        <a:t>Figure 156: Global Market Average Selling Price by Commercial Product Model, US$/Patient Treatment Courses, 2026 and 2036</a:t>
                      </a:r>
                      <a:endParaRPr sz="1050"/>
                    </a:p>
                  </a:txBody>
                  <a:tcPr marL="9525" marR="9525" marT="9525" marB="0" anchor="ctr"/>
                </a:tc>
              </a:tr>
              <a:tr h="336774">
                <a:tc>
                  <a:txBody>
                    <a:bodyPr wrap="square"/>
                    <a:lstStyle/>
                    <a:p>
                      <a:pPr algn="l"/>
                      <a:r>
                        <a:rPr sz="1050" b="0" i="0">
                          <a:solidFill>
                            <a:srgbClr val="000000"/>
                          </a:solidFill>
                          <a:latin typeface="Calibri"/>
                        </a:rPr>
                        <a:t>Figure 157: Global Market Average Selling Price by Allergen Preparation Technology, US$/Patient Treatment Courses, 2026 and 2036</a:t>
                      </a:r>
                      <a:endParaRPr sz="1050"/>
                    </a:p>
                  </a:txBody>
                  <a:tcPr marL="9525" marR="9525" marT="9525" marB="0" anchor="ctr"/>
                </a:tc>
              </a:tr>
              <a:tr h="336774">
                <a:tc>
                  <a:txBody>
                    <a:bodyPr wrap="square"/>
                    <a:lstStyle/>
                    <a:p>
                      <a:pPr algn="l"/>
                      <a:r>
                        <a:rPr sz="1050" b="0" i="0">
                          <a:solidFill>
                            <a:srgbClr val="000000"/>
                          </a:solidFill>
                          <a:latin typeface="Calibri"/>
                        </a:rPr>
                        <a:t>Figure 158: Global Market Average Selling Price by Allergen Composition, US$/Patient Treatment Courses, 2026 and 2036</a:t>
                      </a:r>
                      <a:endParaRPr sz="1050"/>
                    </a:p>
                  </a:txBody>
                  <a:tcPr marL="9525" marR="9525" marT="9525" marB="0" anchor="ctr"/>
                </a:tc>
              </a:tr>
              <a:tr h="336774">
                <a:tc>
                  <a:txBody>
                    <a:bodyPr wrap="square"/>
                    <a:lstStyle/>
                    <a:p>
                      <a:pPr algn="l"/>
                      <a:r>
                        <a:rPr sz="1050" b="0" i="0">
                          <a:solidFill>
                            <a:srgbClr val="000000"/>
                          </a:solidFill>
                          <a:latin typeface="Calibri"/>
                        </a:rPr>
                        <a:t>Figure 159: Global Market Average Selling Price by Sales / Procurement Channel, US$/Patient Treatment Courses, 2026 and 2036</a:t>
                      </a:r>
                      <a:endParaRPr sz="1050"/>
                    </a:p>
                  </a:txBody>
                  <a:tcPr marL="9525" marR="9525" marT="9525" marB="0" anchor="ctr"/>
                </a:tc>
              </a:tr>
              <a:tr h="336774">
                <a:tc>
                  <a:txBody>
                    <a:bodyPr wrap="square"/>
                    <a:lstStyle/>
                    <a:p>
                      <a:pPr algn="l"/>
                      <a:r>
                        <a:rPr sz="1050" b="0" i="0">
                          <a:solidFill>
                            <a:srgbClr val="000000"/>
                          </a:solidFill>
                          <a:latin typeface="Calibri"/>
                        </a:rPr>
                        <a:t>Figure 160: Global Market Average Selling Price by Company × Allergen Class, US$/Patient Treatment Courses, 2026 and 2036</a:t>
                      </a:r>
                      <a:endParaRPr sz="1050"/>
                    </a:p>
                  </a:txBody>
                  <a:tcPr marL="9525" marR="9525" marT="9525" marB="0" anchor="ctr"/>
                </a:tc>
              </a:tr>
              <a:tr h="336774">
                <a:tc>
                  <a:txBody>
                    <a:bodyPr wrap="square"/>
                    <a:lstStyle/>
                    <a:p>
                      <a:pPr algn="l"/>
                      <a:r>
                        <a:rPr sz="1050" b="0" i="0">
                          <a:solidFill>
                            <a:srgbClr val="000000"/>
                          </a:solidFill>
                          <a:latin typeface="Calibri"/>
                        </a:rPr>
                        <a:t>Figure 161: Global Market Average Selling Price by Company × Therapy Format, US$/Patient Treatment Courses, 2026 and 2036</a:t>
                      </a:r>
                      <a:endParaRPr sz="1050"/>
                    </a:p>
                  </a:txBody>
                  <a:tcPr marL="9525" marR="9525" marT="9525" marB="0" anchor="ctr"/>
                </a:tc>
              </a:tr>
              <a:tr h="336774">
                <a:tc>
                  <a:txBody>
                    <a:bodyPr wrap="square"/>
                    <a:lstStyle/>
                    <a:p>
                      <a:pPr algn="l"/>
                      <a:r>
                        <a:rPr sz="1050" b="0" i="0">
                          <a:solidFill>
                            <a:srgbClr val="000000"/>
                          </a:solidFill>
                          <a:latin typeface="Calibri"/>
                        </a:rPr>
                        <a:t>Figure 162: Global Market Average Selling Price by Company × Allergen Preparation Technology, US$/Patient Treatment Courses, 2026 and 2036</a:t>
                      </a:r>
                      <a:endParaRPr sz="1050"/>
                    </a:p>
                  </a:txBody>
                  <a:tcPr marL="9525" marR="9525" marT="9525" marB="0" anchor="ctr"/>
                </a:tc>
              </a:tr>
              <a:tr h="171824">
                <a:tc>
                  <a:txBody>
                    <a:bodyPr wrap="square"/>
                    <a:lstStyle/>
                    <a:p>
                      <a:pPr algn="l"/>
                      <a:r>
                        <a:rPr sz="1050" b="0" i="0">
                          <a:solidFill>
                            <a:srgbClr val="000000"/>
                          </a:solidFill>
                          <a:latin typeface="Calibri"/>
                        </a:rPr>
                        <a:t>Figure 163: Global Market Value Chain Structure, 2026</a:t>
                      </a:r>
                      <a:endParaRPr sz="1050"/>
                    </a:p>
                  </a:txBody>
                  <a:tcPr marL="9525" marR="9525" marT="9525" marB="0" anchor="ctr"/>
                </a:tc>
              </a:tr>
              <a:tr h="171824">
                <a:tc>
                  <a:txBody>
                    <a:bodyPr wrap="square"/>
                    <a:lstStyle/>
                    <a:p>
                      <a:pPr algn="l"/>
                      <a:r>
                        <a:rPr sz="1050" b="0" i="0">
                          <a:solidFill>
                            <a:srgbClr val="000000"/>
                          </a:solidFill>
                          <a:latin typeface="Calibri"/>
                        </a:rPr>
                        <a:t>Figure 164: Global Market Margin Distribution across the Value Chain, %, 2026</a:t>
                      </a:r>
                      <a:endParaRPr sz="1050"/>
                    </a:p>
                  </a:txBody>
                  <a:tcPr marL="9525" marR="9525" marT="9525" marB="0" anchor="ctr"/>
                </a:tc>
              </a:tr>
              <a:tr h="171824">
                <a:tc>
                  <a:txBody>
                    <a:bodyPr wrap="square"/>
                    <a:lstStyle/>
                    <a:p>
                      <a:pPr algn="l"/>
                      <a:r>
                        <a:rPr sz="1050" b="0" i="0">
                          <a:solidFill>
                            <a:srgbClr val="000000"/>
                          </a:solidFill>
                          <a:latin typeface="Calibri"/>
                        </a:rPr>
                        <a:t>Figure 165: Company Market Share in the Global Market, %, 2026</a:t>
                      </a:r>
                      <a:endParaRPr sz="1050"/>
                    </a:p>
                  </a:txBody>
                  <a:tcPr marL="9525" marR="9525" marT="9525" marB="0" anchor="ctr"/>
                </a:tc>
              </a:tr>
              <a:tr h="171824">
                <a:tc>
                  <a:txBody>
                    <a:bodyPr wrap="square"/>
                    <a:lstStyle/>
                    <a:p>
                      <a:pPr algn="l"/>
                      <a:r>
                        <a:rPr sz="1050" b="0" i="0">
                          <a:solidFill>
                            <a:srgbClr val="000000"/>
                          </a:solidFill>
                          <a:latin typeface="Calibri"/>
                        </a:rPr>
                        <a:t>Figure 166: Competitive Positioning of Leading Allergy Immunotherapy Manufacturers, 2026</a:t>
                      </a:r>
                      <a:endParaRPr sz="1050"/>
                    </a:p>
                  </a:txBody>
                  <a:tcPr marL="9525" marR="9525" marT="9525" marB="0" anchor="ctr"/>
                </a:tc>
              </a:tr>
              <a:tr h="171824">
                <a:tc>
                  <a:txBody>
                    <a:bodyPr wrap="square"/>
                    <a:lstStyle/>
                    <a:p>
                      <a:pPr algn="l"/>
                      <a:r>
                        <a:rPr sz="1050" b="0" i="0">
                          <a:solidFill>
                            <a:srgbClr val="000000"/>
                          </a:solidFill>
                          <a:latin typeface="Calibri"/>
                        </a:rPr>
                        <a:t>Figure 167: Company Revenue from the Global Market, US$ Mn, 2026</a:t>
                      </a:r>
                      <a:endParaRPr sz="1050"/>
                    </a:p>
                  </a:txBody>
                  <a:tcPr marL="9525" marR="9525" marT="9525" marB="0" anchor="ctr"/>
                </a:tc>
              </a:tr>
              <a:tr h="171824">
                <a:tc>
                  <a:txBody>
                    <a:bodyPr wrap="square"/>
                    <a:lstStyle/>
                    <a:p>
                      <a:pPr algn="l"/>
                      <a:r>
                        <a:rPr sz="1050" b="0" i="0">
                          <a:solidFill>
                            <a:srgbClr val="000000"/>
                          </a:solidFill>
                          <a:latin typeface="Calibri"/>
                        </a:rPr>
                        <a:t>Figure 168: Global Market Concentration by Company Tier, %, 2026</a:t>
                      </a:r>
                      <a:endParaRPr sz="1050"/>
                    </a:p>
                  </a:txBody>
                  <a:tcPr marL="9525" marR="9525" marT="9525" marB="0" anchor="ctr"/>
                </a:tc>
              </a:tr>
              <a:tr h="171824">
                <a:tc>
                  <a:txBody>
                    <a:bodyPr wrap="square"/>
                    <a:lstStyle/>
                    <a:p>
                      <a:pPr algn="l"/>
                      <a:r>
                        <a:rPr sz="1050" b="0" i="0">
                          <a:solidFill>
                            <a:srgbClr val="000000"/>
                          </a:solidFill>
                          <a:latin typeface="Calibri"/>
                        </a:rPr>
                        <a:t>Figure 169: Global Market Competitive Intensity Assessment, 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(4/4)</a:t>
            </a:r>
          </a:p>
        </p:txBody>
      </p:sp>
      <p:graphicFrame>
        <p:nvGraphicFramePr>
          <p:cNvPr id="9" name="FMI Contents Table"/>
          <p:cNvGraphicFramePr>
            <a:graphicFrameLocks noGrp="1"/>
          </p:cNvGraphicFramePr>
          <p:nvPr/>
        </p:nvGraphicFramePr>
        <p:xfrm>
          <a:off x="142875" y="981075"/>
          <a:ext cx="5876925" cy="5257803"/>
        </p:xfrm>
        <a:graphic>
          <a:graphicData uri="http://schemas.openxmlformats.org/drawingml/2006/table">
            <a:tbl>
              <a:tblPr>
                <a:tableStyleId>{3B4B98B0-60AC-42C2-AFA5-B58CD77FA1E5}</a:tableStyleId>
              </a:tblPr>
              <a:tblGrid>
                <a:gridCol w="5876925"/>
              </a:tblGrid>
              <a:tr h="170708">
                <a:tc>
                  <a:txBody>
                    <a:bodyPr wrap="square"/>
                    <a:lstStyle/>
                    <a:p>
                      <a:pPr algn="l"/>
                      <a:r>
                        <a:rPr sz="1050" b="0" i="0">
                          <a:solidFill>
                            <a:srgbClr val="000000"/>
                          </a:solidFill>
                          <a:latin typeface="Calibri"/>
                        </a:rPr>
                        <a:t>Figure 170: Company Market Share in the North America Market, %, 2026</a:t>
                      </a:r>
                      <a:endParaRPr sz="1050"/>
                    </a:p>
                  </a:txBody>
                  <a:tcPr marL="9525" marR="9525" marT="9525" marB="0" anchor="ctr"/>
                </a:tc>
              </a:tr>
              <a:tr h="170708">
                <a:tc>
                  <a:txBody>
                    <a:bodyPr wrap="square"/>
                    <a:lstStyle/>
                    <a:p>
                      <a:pPr algn="l"/>
                      <a:r>
                        <a:rPr sz="1050" b="0" i="0">
                          <a:solidFill>
                            <a:srgbClr val="000000"/>
                          </a:solidFill>
                          <a:latin typeface="Calibri"/>
                        </a:rPr>
                        <a:t>Figure 171: Company Market Share in the Latin America Market, %, 2026</a:t>
                      </a:r>
                      <a:endParaRPr sz="1050"/>
                    </a:p>
                  </a:txBody>
                  <a:tcPr marL="9525" marR="9525" marT="9525" marB="0" anchor="ctr"/>
                </a:tc>
              </a:tr>
              <a:tr h="170708">
                <a:tc>
                  <a:txBody>
                    <a:bodyPr wrap="square"/>
                    <a:lstStyle/>
                    <a:p>
                      <a:pPr algn="l"/>
                      <a:r>
                        <a:rPr sz="1050" b="0" i="0">
                          <a:solidFill>
                            <a:srgbClr val="000000"/>
                          </a:solidFill>
                          <a:latin typeface="Calibri"/>
                        </a:rPr>
                        <a:t>Figure 172: Company Market Share in the Europe Market, %, 2026</a:t>
                      </a:r>
                      <a:endParaRPr sz="1050"/>
                    </a:p>
                  </a:txBody>
                  <a:tcPr marL="9525" marR="9525" marT="9525" marB="0" anchor="ctr"/>
                </a:tc>
              </a:tr>
              <a:tr h="170708">
                <a:tc>
                  <a:txBody>
                    <a:bodyPr wrap="square"/>
                    <a:lstStyle/>
                    <a:p>
                      <a:pPr algn="l"/>
                      <a:r>
                        <a:rPr sz="1050" b="0" i="0">
                          <a:solidFill>
                            <a:srgbClr val="000000"/>
                          </a:solidFill>
                          <a:latin typeface="Calibri"/>
                        </a:rPr>
                        <a:t>Figure 173: Company Market Share in the East Asia Market, %, 2026</a:t>
                      </a:r>
                      <a:endParaRPr sz="1050"/>
                    </a:p>
                  </a:txBody>
                  <a:tcPr marL="9525" marR="9525" marT="9525" marB="0" anchor="ctr"/>
                </a:tc>
              </a:tr>
              <a:tr h="170708">
                <a:tc>
                  <a:txBody>
                    <a:bodyPr wrap="square"/>
                    <a:lstStyle/>
                    <a:p>
                      <a:pPr algn="l"/>
                      <a:r>
                        <a:rPr sz="1050" b="0" i="0">
                          <a:solidFill>
                            <a:srgbClr val="000000"/>
                          </a:solidFill>
                          <a:latin typeface="Calibri"/>
                        </a:rPr>
                        <a:t>Figure 174: Company Market Share in the South Asia &amp; Pacific Market, %, 2026</a:t>
                      </a:r>
                      <a:endParaRPr sz="1050"/>
                    </a:p>
                  </a:txBody>
                  <a:tcPr marL="9525" marR="9525" marT="9525" marB="0" anchor="ctr"/>
                </a:tc>
              </a:tr>
              <a:tr h="170708">
                <a:tc>
                  <a:txBody>
                    <a:bodyPr wrap="square"/>
                    <a:lstStyle/>
                    <a:p>
                      <a:pPr algn="l"/>
                      <a:r>
                        <a:rPr sz="1050" b="0" i="0">
                          <a:solidFill>
                            <a:srgbClr val="000000"/>
                          </a:solidFill>
                          <a:latin typeface="Calibri"/>
                        </a:rPr>
                        <a:t>Figure 175: Company Market Share in the Middle East &amp; Africa Market, %, 2026</a:t>
                      </a:r>
                      <a:endParaRPr sz="1050"/>
                    </a:p>
                  </a:txBody>
                  <a:tcPr marL="9525" marR="9525" marT="9525" marB="0" anchor="ctr"/>
                </a:tc>
              </a:tr>
              <a:tr h="170708">
                <a:tc>
                  <a:txBody>
                    <a:bodyPr wrap="square"/>
                    <a:lstStyle/>
                    <a:p>
                      <a:pPr algn="l"/>
                      <a:r>
                        <a:rPr sz="1050" b="0" i="0">
                          <a:solidFill>
                            <a:srgbClr val="000000"/>
                          </a:solidFill>
                          <a:latin typeface="Calibri"/>
                        </a:rPr>
                        <a:t>Figure 176: ALK-Abelló A/S: Revenue from the Global Market and Share, US$ Mn and %, 2026</a:t>
                      </a:r>
                      <a:endParaRPr sz="1050"/>
                    </a:p>
                  </a:txBody>
                  <a:tcPr marL="9525" marR="9525" marT="9525" marB="0" anchor="ctr"/>
                </a:tc>
              </a:tr>
              <a:tr h="334587">
                <a:tc>
                  <a:txBody>
                    <a:bodyPr wrap="square"/>
                    <a:lstStyle/>
                    <a:p>
                      <a:pPr algn="l"/>
                      <a:r>
                        <a:rPr sz="1050" b="0" i="0">
                          <a:solidFill>
                            <a:srgbClr val="000000"/>
                          </a:solidFill>
                          <a:latin typeface="Calibri"/>
                        </a:rPr>
                        <a:t>Figure 177: Stallergenes Greer International AG: Revenue from the Global Market and Share, US$ Mn and %, 2026</a:t>
                      </a:r>
                      <a:endParaRPr sz="1050"/>
                    </a:p>
                  </a:txBody>
                  <a:tcPr marL="9525" marR="9525" marT="9525" marB="0" anchor="ctr"/>
                </a:tc>
              </a:tr>
              <a:tr h="170708">
                <a:tc>
                  <a:txBody>
                    <a:bodyPr wrap="square"/>
                    <a:lstStyle/>
                    <a:p>
                      <a:pPr algn="l"/>
                      <a:r>
                        <a:rPr sz="1050" b="0" i="0">
                          <a:solidFill>
                            <a:srgbClr val="000000"/>
                          </a:solidFill>
                          <a:latin typeface="Calibri"/>
                        </a:rPr>
                        <a:t>Figure 178: Allergy Therapeutics plc: Revenue from the Global Market and Share, US$ Mn and %, 2026</a:t>
                      </a:r>
                      <a:endParaRPr sz="1050"/>
                    </a:p>
                  </a:txBody>
                  <a:tcPr marL="9525" marR="9525" marT="9525" marB="0" anchor="ctr"/>
                </a:tc>
              </a:tr>
              <a:tr h="170708">
                <a:tc>
                  <a:txBody>
                    <a:bodyPr wrap="square"/>
                    <a:lstStyle/>
                    <a:p>
                      <a:pPr algn="l"/>
                      <a:r>
                        <a:rPr sz="1050" b="0" i="0">
                          <a:solidFill>
                            <a:srgbClr val="000000"/>
                          </a:solidFill>
                          <a:latin typeface="Calibri"/>
                        </a:rPr>
                        <a:t>Figure 179: HAL Allergy Group: Revenue from the Global Market and Share, US$ Mn and %, 2026</a:t>
                      </a:r>
                      <a:endParaRPr sz="1050"/>
                    </a:p>
                  </a:txBody>
                  <a:tcPr marL="9525" marR="9525" marT="9525" marB="0" anchor="ctr"/>
                </a:tc>
              </a:tr>
              <a:tr h="334587">
                <a:tc>
                  <a:txBody>
                    <a:bodyPr wrap="square"/>
                    <a:lstStyle/>
                    <a:p>
                      <a:pPr algn="l"/>
                      <a:r>
                        <a:rPr sz="1050" b="0" i="0">
                          <a:solidFill>
                            <a:srgbClr val="000000"/>
                          </a:solidFill>
                          <a:latin typeface="Calibri"/>
                        </a:rPr>
                        <a:t>Figure 180: LETI Pharma / Laboratorios LETI, S.L.U.: Revenue from the Global Market and Share, US$ Mn and %, 2026</a:t>
                      </a:r>
                      <a:endParaRPr sz="1050"/>
                    </a:p>
                  </a:txBody>
                  <a:tcPr marL="9525" marR="9525" marT="9525" marB="0" anchor="ctr"/>
                </a:tc>
              </a:tr>
              <a:tr h="334587">
                <a:tc>
                  <a:txBody>
                    <a:bodyPr wrap="square"/>
                    <a:lstStyle/>
                    <a:p>
                      <a:pPr algn="l"/>
                      <a:r>
                        <a:rPr sz="1050" b="0" i="0">
                          <a:solidFill>
                            <a:srgbClr val="000000"/>
                          </a:solidFill>
                          <a:latin typeface="Calibri"/>
                        </a:rPr>
                        <a:t>Figure 181: Jubilant HollisterStier LLC: Revenue from the Global Market and Share, US$ Mn and %, 2026</a:t>
                      </a:r>
                      <a:endParaRPr sz="1050"/>
                    </a:p>
                  </a:txBody>
                  <a:tcPr marL="9525" marR="9525" marT="9525" marB="0" anchor="ctr"/>
                </a:tc>
              </a:tr>
              <a:tr h="170708">
                <a:tc>
                  <a:txBody>
                    <a:bodyPr wrap="square"/>
                    <a:lstStyle/>
                    <a:p>
                      <a:pPr algn="l"/>
                      <a:r>
                        <a:rPr sz="1050" b="0" i="0">
                          <a:solidFill>
                            <a:srgbClr val="000000"/>
                          </a:solidFill>
                          <a:latin typeface="Calibri"/>
                        </a:rPr>
                        <a:t>Figure 182: Inmunotek S.L.: Revenue from the Global Market and Share, US$ Mn and %, 2026</a:t>
                      </a:r>
                      <a:endParaRPr sz="1050"/>
                    </a:p>
                  </a:txBody>
                  <a:tcPr marL="9525" marR="9525" marT="9525" marB="0" anchor="ctr"/>
                </a:tc>
              </a:tr>
              <a:tr h="170708">
                <a:tc>
                  <a:txBody>
                    <a:bodyPr wrap="square"/>
                    <a:lstStyle/>
                    <a:p>
                      <a:pPr algn="l"/>
                      <a:r>
                        <a:rPr sz="1050" b="0" i="0">
                          <a:solidFill>
                            <a:srgbClr val="000000"/>
                          </a:solidFill>
                          <a:latin typeface="Calibri"/>
                        </a:rPr>
                        <a:t>Figure 183: DIATER Laboratories: Revenue from the Global Market and Share, US$ Mn and %, 2026</a:t>
                      </a:r>
                      <a:endParaRPr sz="1050"/>
                    </a:p>
                  </a:txBody>
                  <a:tcPr marL="9525" marR="9525" marT="9525" marB="0" anchor="ctr"/>
                </a:tc>
              </a:tr>
              <a:tr h="334587">
                <a:tc>
                  <a:txBody>
                    <a:bodyPr wrap="square"/>
                    <a:lstStyle/>
                    <a:p>
                      <a:pPr algn="l"/>
                      <a:r>
                        <a:rPr sz="1050" b="0" i="0">
                          <a:solidFill>
                            <a:srgbClr val="000000"/>
                          </a:solidFill>
                          <a:latin typeface="Calibri"/>
                        </a:rPr>
                        <a:t>Figure 184: Torii Pharmaceutical Co., Ltd.: Revenue from the Global Market and Share, US$ Mn and %, 2026</a:t>
                      </a:r>
                      <a:endParaRPr sz="1050"/>
                    </a:p>
                  </a:txBody>
                  <a:tcPr marL="9525" marR="9525" marT="9525" marB="0" anchor="ctr"/>
                </a:tc>
              </a:tr>
              <a:tr h="334587">
                <a:tc>
                  <a:txBody>
                    <a:bodyPr wrap="square"/>
                    <a:lstStyle/>
                    <a:p>
                      <a:pPr algn="l"/>
                      <a:r>
                        <a:rPr sz="1050" b="0" i="0">
                          <a:solidFill>
                            <a:srgbClr val="000000"/>
                          </a:solidFill>
                          <a:latin typeface="Calibri"/>
                        </a:rPr>
                        <a:t>Figure 185: Allergopharma GmbH &amp; Co. KG: Revenue from the Global Market and Share, US$ Mn and %, 2026</a:t>
                      </a:r>
                      <a:endParaRPr sz="1050"/>
                    </a:p>
                  </a:txBody>
                  <a:tcPr marL="9525" marR="9525" marT="9525" marB="0" anchor="ctr"/>
                </a:tc>
              </a:tr>
              <a:tr h="170708">
                <a:tc>
                  <a:txBody>
                    <a:bodyPr wrap="square"/>
                    <a:lstStyle/>
                    <a:p>
                      <a:pPr algn="l"/>
                      <a:r>
                        <a:rPr sz="1050" b="0" i="0">
                          <a:solidFill>
                            <a:srgbClr val="000000"/>
                          </a:solidFill>
                          <a:latin typeface="Calibri"/>
                        </a:rPr>
                        <a:t>Figure 186: Global Market Value Forecast by Scenario, US$ Mn, 2026–2036</a:t>
                      </a:r>
                      <a:endParaRPr sz="1050"/>
                    </a:p>
                  </a:txBody>
                  <a:tcPr marL="9525" marR="9525" marT="9525" marB="0" anchor="ctr"/>
                </a:tc>
              </a:tr>
              <a:tr h="170708">
                <a:tc>
                  <a:txBody>
                    <a:bodyPr wrap="square"/>
                    <a:lstStyle/>
                    <a:p>
                      <a:pPr algn="l"/>
                      <a:r>
                        <a:rPr sz="1050" b="0" i="0">
                          <a:solidFill>
                            <a:srgbClr val="000000"/>
                          </a:solidFill>
                          <a:latin typeface="Calibri"/>
                        </a:rPr>
                        <a:t>Figure 187: Global Market YoY Growth by Scenario, %, 2026–2036</a:t>
                      </a:r>
                      <a:endParaRPr sz="1050"/>
                    </a:p>
                  </a:txBody>
                  <a:tcPr marL="9525" marR="9525" marT="9525" marB="0" anchor="ctr"/>
                </a:tc>
              </a:tr>
              <a:tr h="170708">
                <a:tc>
                  <a:txBody>
                    <a:bodyPr wrap="square"/>
                    <a:lstStyle/>
                    <a:p>
                      <a:pPr algn="l"/>
                      <a:r>
                        <a:rPr sz="1050" b="0" i="0">
                          <a:solidFill>
                            <a:srgbClr val="000000"/>
                          </a:solidFill>
                          <a:latin typeface="Calibri"/>
                        </a:rPr>
                        <a:t>Figure 188: Global Market Key Trends Impact Assessment, 2026–2036</a:t>
                      </a:r>
                      <a:endParaRPr sz="1050"/>
                    </a:p>
                  </a:txBody>
                  <a:tcPr marL="9525" marR="9525" marT="9525" marB="0" anchor="ctr"/>
                </a:tc>
              </a:tr>
              <a:tr h="170708">
                <a:tc>
                  <a:txBody>
                    <a:bodyPr wrap="square"/>
                    <a:lstStyle/>
                    <a:p>
                      <a:pPr algn="l"/>
                      <a:r>
                        <a:rPr sz="1050" b="0" i="0">
                          <a:solidFill>
                            <a:srgbClr val="000000"/>
                          </a:solidFill>
                          <a:latin typeface="Calibri"/>
                        </a:rPr>
                        <a:t>Figure 189: Global Market Drivers, Restraints and Opportunities Impact, 2026–2036</a:t>
                      </a:r>
                      <a:endParaRPr sz="1050"/>
                    </a:p>
                  </a:txBody>
                  <a:tcPr marL="9525" marR="9525" marT="9525" marB="0" anchor="ctr"/>
                </a:tc>
              </a:tr>
              <a:tr h="170708">
                <a:tc>
                  <a:txBody>
                    <a:bodyPr wrap="square"/>
                    <a:lstStyle/>
                    <a:p>
                      <a:pPr algn="l"/>
                      <a:r>
                        <a:rPr sz="1050" b="0" i="0">
                          <a:solidFill>
                            <a:srgbClr val="000000"/>
                          </a:solidFill>
                          <a:latin typeface="Calibri"/>
                        </a:rPr>
                        <a:t>Figure 190: Global Market Opportunity Map by Region and Therapy Format, 2026–2036</a:t>
                      </a:r>
                      <a:endParaRPr sz="1050"/>
                    </a:p>
                  </a:txBody>
                  <a:tcPr marL="9525" marR="9525" marT="9525" marB="0" anchor="ctr"/>
                </a:tc>
              </a:tr>
              <a:tr h="170708">
                <a:tc>
                  <a:txBody>
                    <a:bodyPr wrap="square"/>
                    <a:lstStyle/>
                    <a:p>
                      <a:pPr algn="l"/>
                      <a:r>
                        <a:rPr sz="1050" b="0" i="0">
                          <a:solidFill>
                            <a:srgbClr val="000000"/>
                          </a:solidFill>
                          <a:latin typeface="Calibri"/>
                        </a:rPr>
                        <a:t>Figure 191: Global Market Technology Adoption Roadmap, 2021–2036</a:t>
                      </a:r>
                      <a:endParaRPr sz="1050"/>
                    </a:p>
                  </a:txBody>
                  <a:tcPr marL="9525" marR="9525" marT="9525" marB="0" anchor="ctr"/>
                </a:tc>
              </a:tr>
              <a:tr h="170708">
                <a:tc>
                  <a:txBody>
                    <a:bodyPr wrap="square"/>
                    <a:lstStyle/>
                    <a:p>
                      <a:pPr algn="l"/>
                      <a:r>
                        <a:rPr sz="1050" b="0" i="0">
                          <a:solidFill>
                            <a:srgbClr val="000000"/>
                          </a:solidFill>
                          <a:latin typeface="Calibri"/>
                        </a:rPr>
                        <a:t>Figure 192: Global Market Emerging Opportunity Pockets by Therapy Format, US$ Mn, 2026–2036</a:t>
                      </a:r>
                      <a:endParaRPr sz="1050"/>
                    </a:p>
                  </a:txBody>
                  <a:tcPr marL="9525" marR="9525" marT="9525" marB="0" anchor="ctr"/>
                </a:tc>
              </a:tr>
              <a:tr h="170708">
                <a:tc>
                  <a:txBody>
                    <a:bodyPr wrap="square"/>
                    <a:lstStyle/>
                    <a:p>
                      <a:pPr algn="l"/>
                      <a:r>
                        <a:rPr sz="1050" b="0" i="0">
                          <a:solidFill>
                            <a:srgbClr val="000000"/>
                          </a:solidFill>
                          <a:latin typeface="Calibri"/>
                        </a:rPr>
                        <a:t>Figure 193: Global Market Risk and Sensitivity Analysis, %, 2026–2036</a:t>
                      </a:r>
                      <a:endParaRPr sz="1050"/>
                    </a:p>
                  </a:txBody>
                  <a:tcPr marL="9525" marR="9525" marT="9525" marB="0" anchor="ctr"/>
                </a:tc>
              </a:tr>
              <a:tr h="170708">
                <a:tc>
                  <a:txBody>
                    <a:bodyPr wrap="square"/>
                    <a:lstStyle/>
                    <a:p>
                      <a:pPr algn="l"/>
                      <a:r>
                        <a:rPr sz="1050" b="0" i="0">
                          <a:solidFill>
                            <a:srgbClr val="000000"/>
                          </a:solidFill>
                          <a:latin typeface="Calibri"/>
                        </a:rPr>
                        <a:t>Figure 194: Global Market Regulatory Landscape Timeline, 2021–2036</a:t>
                      </a:r>
                      <a:endParaRPr sz="1050"/>
                    </a:p>
                  </a:txBody>
                  <a:tcPr marL="9525" marR="9525" marT="9525" marB="0" anchor="ctr"/>
                </a:tc>
              </a:tr>
              <a:tr h="170708">
                <a:tc>
                  <a:txBody>
                    <a:bodyPr wrap="square"/>
                    <a:lstStyle/>
                    <a:p>
                      <a:pPr algn="l"/>
                      <a:r>
                        <a:rPr sz="1050" b="0" i="0">
                          <a:solidFill>
                            <a:srgbClr val="000000"/>
                          </a:solidFill>
                          <a:latin typeface="Calibri"/>
                        </a:rPr>
                        <a:t>Figure 195: Global Market Investment Hotspots by Region,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833440"/>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196: Global Market White-Space Opportunity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197: Global Market Customer Purchase Criteria Assessment, 2026</a:t>
                      </a:r>
                      <a:endParaRPr sz="1050"/>
                    </a:p>
                  </a:txBody>
                  <a:tcPr marL="9525" marR="9525" marT="9525" marB="0" anchor="ctr"/>
                </a:tc>
              </a:tr>
              <a:tr h="166688">
                <a:tc>
                  <a:txBody>
                    <a:bodyPr wrap="square"/>
                    <a:lstStyle/>
                    <a:p>
                      <a:pPr algn="l"/>
                      <a:r>
                        <a:rPr sz="1050" b="0" i="0">
                          <a:solidFill>
                            <a:srgbClr val="000000"/>
                          </a:solidFill>
                          <a:latin typeface="Calibri"/>
                        </a:rPr>
                        <a:t>Figure 198: Global Market Go-to-Market Priority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199: Global Market Unmet Needs Analysis by Therapy Format, 2026</a:t>
                      </a:r>
                      <a:endParaRPr sz="1050"/>
                    </a:p>
                  </a:txBody>
                  <a:tcPr marL="9525" marR="9525" marT="9525" marB="0" anchor="ctr"/>
                </a:tc>
              </a:tr>
              <a:tr h="166688">
                <a:tc>
                  <a:txBody>
                    <a:bodyPr wrap="square"/>
                    <a:lstStyle/>
                    <a:p>
                      <a:pPr algn="l"/>
                      <a:r>
                        <a:rPr sz="1050" b="0" i="0">
                          <a:solidFill>
                            <a:srgbClr val="000000"/>
                          </a:solidFill>
                          <a:latin typeface="Calibri"/>
                        </a:rPr>
                        <a:t>Figure 200: Global Market Right-to-Win Assessment, 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(1/5)</a:t>
            </a:r>
          </a:p>
        </p:txBody>
      </p:sp>
      <p:graphicFrame>
        <p:nvGraphicFramePr>
          <p:cNvPr id="9" name="FMI Contents Table"/>
          <p:cNvGraphicFramePr>
            <a:graphicFrameLocks noGrp="1"/>
          </p:cNvGraphicFramePr>
          <p:nvPr/>
        </p:nvGraphicFramePr>
        <p:xfrm>
          <a:off x="142875"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1: Global Market Snapshot: Value, Volume and CAGR, US$ Mn, 2025–2036</a:t>
                      </a:r>
                      <a:endParaRPr sz="1050"/>
                    </a:p>
                  </a:txBody>
                  <a:tcPr marL="9525" marR="9525" marT="9525" marB="0" anchor="ctr"/>
                </a:tc>
              </a:tr>
              <a:tr h="169826">
                <a:tc>
                  <a:txBody>
                    <a:bodyPr wrap="square"/>
                    <a:lstStyle/>
                    <a:p>
                      <a:pPr algn="l"/>
                      <a:r>
                        <a:rPr sz="1050" b="0" i="0">
                          <a:solidFill>
                            <a:srgbClr val="000000"/>
                          </a:solidFill>
                          <a:latin typeface="Calibri"/>
                        </a:rPr>
                        <a:t>Table 2: Global Market Taxonomy by Segment, 2026</a:t>
                      </a:r>
                      <a:endParaRPr sz="1050"/>
                    </a:p>
                  </a:txBody>
                  <a:tcPr marL="9525" marR="9525" marT="9525" marB="0" anchor="ctr"/>
                </a:tc>
              </a:tr>
              <a:tr h="169826">
                <a:tc>
                  <a:txBody>
                    <a:bodyPr wrap="square"/>
                    <a:lstStyle/>
                    <a:p>
                      <a:pPr algn="l"/>
                      <a:r>
                        <a:rPr sz="1050" b="0" i="0">
                          <a:solidFill>
                            <a:srgbClr val="000000"/>
                          </a:solidFill>
                          <a:latin typeface="Calibri"/>
                        </a:rPr>
                        <a:t>Table 3: Global Market Scope: Inclusions and Exclusions by Segment, 2026</a:t>
                      </a:r>
                      <a:endParaRPr sz="1050"/>
                    </a:p>
                  </a:txBody>
                  <a:tcPr marL="9525" marR="9525" marT="9525" marB="0" anchor="ctr"/>
                </a:tc>
              </a:tr>
              <a:tr h="169826">
                <a:tc>
                  <a:txBody>
                    <a:bodyPr wrap="square"/>
                    <a:lstStyle/>
                    <a:p>
                      <a:pPr algn="l"/>
                      <a:r>
                        <a:rPr sz="1050" b="0" i="0">
                          <a:solidFill>
                            <a:srgbClr val="000000"/>
                          </a:solidFill>
                          <a:latin typeface="Calibri"/>
                        </a:rPr>
                        <a:t>Table 4: Global Market Key Demand Drivers and Impact Rating, 2026–2036</a:t>
                      </a:r>
                      <a:endParaRPr sz="1050"/>
                    </a:p>
                  </a:txBody>
                  <a:tcPr marL="9525" marR="9525" marT="9525" marB="0" anchor="ctr"/>
                </a:tc>
              </a:tr>
              <a:tr h="169826">
                <a:tc>
                  <a:txBody>
                    <a:bodyPr wrap="square"/>
                    <a:lstStyle/>
                    <a:p>
                      <a:pPr algn="l"/>
                      <a:r>
                        <a:rPr sz="1050" b="0" i="0">
                          <a:solidFill>
                            <a:srgbClr val="000000"/>
                          </a:solidFill>
                          <a:latin typeface="Calibri"/>
                        </a:rPr>
                        <a:t>Table 5: Global Market Key Restraints and Impact Rating, 2026–2036</a:t>
                      </a:r>
                      <a:endParaRPr sz="1050"/>
                    </a:p>
                  </a:txBody>
                  <a:tcPr marL="9525" marR="9525" marT="9525" marB="0" anchor="ctr"/>
                </a:tc>
              </a:tr>
              <a:tr h="169826">
                <a:tc>
                  <a:txBody>
                    <a:bodyPr wrap="square"/>
                    <a:lstStyle/>
                    <a:p>
                      <a:pPr algn="l"/>
                      <a:r>
                        <a:rPr sz="1050" b="0" i="0">
                          <a:solidFill>
                            <a:srgbClr val="000000"/>
                          </a:solidFill>
                          <a:latin typeface="Calibri"/>
                        </a:rPr>
                        <a:t>Table 6: Global Market Analyst Recommendations by Segment, 2026–2036</a:t>
                      </a:r>
                      <a:endParaRPr sz="1050"/>
                    </a:p>
                  </a:txBody>
                  <a:tcPr marL="9525" marR="9525" marT="9525" marB="0" anchor="ctr"/>
                </a:tc>
              </a:tr>
              <a:tr h="169826">
                <a:tc>
                  <a:txBody>
                    <a:bodyPr wrap="square"/>
                    <a:lstStyle/>
                    <a:p>
                      <a:pPr algn="l"/>
                      <a:r>
                        <a:rPr sz="1050" b="0" i="0">
                          <a:solidFill>
                            <a:srgbClr val="000000"/>
                          </a:solidFill>
                          <a:latin typeface="Calibri"/>
                        </a:rPr>
                        <a:t>Table 7: Global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Table 8: Global Market Historical Value Analysis, US$ Mn, 2021–2025</a:t>
                      </a:r>
                      <a:endParaRPr sz="1050"/>
                    </a:p>
                  </a:txBody>
                  <a:tcPr marL="9525" marR="9525" marT="9525" marB="0" anchor="ctr"/>
                </a:tc>
              </a:tr>
              <a:tr h="169826">
                <a:tc>
                  <a:txBody>
                    <a:bodyPr wrap="square"/>
                    <a:lstStyle/>
                    <a:p>
                      <a:pPr algn="l"/>
                      <a:r>
                        <a:rPr sz="1050" b="0" i="0">
                          <a:solidFill>
                            <a:srgbClr val="000000"/>
                          </a:solidFill>
                          <a:latin typeface="Calibri"/>
                        </a:rPr>
                        <a:t>Table 9: Global Market Forecast Value Analysis, US$ Mn, 2026–2036</a:t>
                      </a:r>
                      <a:endParaRPr sz="1050"/>
                    </a:p>
                  </a:txBody>
                  <a:tcPr marL="9525" marR="9525" marT="9525" marB="0" anchor="ctr"/>
                </a:tc>
              </a:tr>
              <a:tr h="169826">
                <a:tc>
                  <a:txBody>
                    <a:bodyPr wrap="square"/>
                    <a:lstStyle/>
                    <a:p>
                      <a:pPr algn="l"/>
                      <a:r>
                        <a:rPr sz="1050" b="0" i="0">
                          <a:solidFill>
                            <a:srgbClr val="000000"/>
                          </a:solidFill>
                          <a:latin typeface="Calibri"/>
                        </a:rPr>
                        <a:t>Table 10: Global Market Volume and YoY Growth, Patient Treatment Courses and %, 2021–2036</a:t>
                      </a:r>
                      <a:endParaRPr sz="1050"/>
                    </a:p>
                  </a:txBody>
                  <a:tcPr marL="9525" marR="9525" marT="9525" marB="0" anchor="ctr"/>
                </a:tc>
              </a:tr>
              <a:tr h="169826">
                <a:tc>
                  <a:txBody>
                    <a:bodyPr wrap="square"/>
                    <a:lstStyle/>
                    <a:p>
                      <a:pPr algn="l"/>
                      <a:r>
                        <a:rPr sz="1050" b="0" i="0">
                          <a:solidFill>
                            <a:srgbClr val="000000"/>
                          </a:solidFill>
                          <a:latin typeface="Calibri"/>
                        </a:rPr>
                        <a:t>Table 11: Global Market Volume Forecast, Patient Treatment Courses, 2026–2036</a:t>
                      </a:r>
                      <a:endParaRPr sz="1050"/>
                    </a:p>
                  </a:txBody>
                  <a:tcPr marL="9525" marR="9525" marT="9525" marB="0" anchor="ctr"/>
                </a:tc>
              </a:tr>
              <a:tr h="169826">
                <a:tc>
                  <a:txBody>
                    <a:bodyPr wrap="square"/>
                    <a:lstStyle/>
                    <a:p>
                      <a:pPr algn="l"/>
                      <a:r>
                        <a:rPr sz="1050" b="0" i="0">
                          <a:solidFill>
                            <a:srgbClr val="000000"/>
                          </a:solidFill>
                          <a:latin typeface="Calibri"/>
                        </a:rPr>
                        <a:t>Table 12: Global Market Average Selling Price, US$/Patient Treatment Courses, 2021–2036</a:t>
                      </a:r>
                      <a:endParaRPr sz="1050"/>
                    </a:p>
                  </a:txBody>
                  <a:tcPr marL="9525" marR="9525" marT="9525" marB="0" anchor="ctr"/>
                </a:tc>
              </a:tr>
              <a:tr h="169826">
                <a:tc>
                  <a:txBody>
                    <a:bodyPr wrap="square"/>
                    <a:lstStyle/>
                    <a:p>
                      <a:pPr algn="l"/>
                      <a:r>
                        <a:rPr sz="1050" b="0" i="0">
                          <a:solidFill>
                            <a:srgbClr val="000000"/>
                          </a:solidFill>
                          <a:latin typeface="Calibri"/>
                        </a:rPr>
                        <a:t>Table 13: Global Market Average Selling Price YoY Change, %, 2026–2036</a:t>
                      </a:r>
                      <a:endParaRPr sz="1050"/>
                    </a:p>
                  </a:txBody>
                  <a:tcPr marL="9525" marR="9525" marT="9525" marB="0" anchor="ctr"/>
                </a:tc>
              </a:tr>
              <a:tr h="169826">
                <a:tc>
                  <a:txBody>
                    <a:bodyPr wrap="square"/>
                    <a:lstStyle/>
                    <a:p>
                      <a:pPr algn="l"/>
                      <a:r>
                        <a:rPr sz="1050" b="0" i="0">
                          <a:solidFill>
                            <a:srgbClr val="000000"/>
                          </a:solidFill>
                          <a:latin typeface="Calibri"/>
                        </a:rPr>
                        <a:t>Table 14: Global Market CAGR and Absolute $ Opportunity, %, US$ Mn, 2026–2036</a:t>
                      </a:r>
                      <a:endParaRPr sz="1050"/>
                    </a:p>
                  </a:txBody>
                  <a:tcPr marL="9525" marR="9525" marT="9525" marB="0" anchor="ctr"/>
                </a:tc>
              </a:tr>
              <a:tr h="169826">
                <a:tc>
                  <a:txBody>
                    <a:bodyPr wrap="square"/>
                    <a:lstStyle/>
                    <a:p>
                      <a:pPr algn="l"/>
                      <a:r>
                        <a:rPr sz="1050" b="0" i="0">
                          <a:solidFill>
                            <a:srgbClr val="000000"/>
                          </a:solidFill>
                          <a:latin typeface="Calibri"/>
                        </a:rPr>
                        <a:t>Table 15: Global Market Absolute $ Opportunity by Year, US$ Mn, 2026–2036</a:t>
                      </a:r>
                      <a:endParaRPr sz="1050"/>
                    </a:p>
                  </a:txBody>
                  <a:tcPr marL="9525" marR="9525" marT="9525" marB="0" anchor="ctr"/>
                </a:tc>
              </a:tr>
              <a:tr h="169826">
                <a:tc>
                  <a:txBody>
                    <a:bodyPr wrap="square"/>
                    <a:lstStyle/>
                    <a:p>
                      <a:pPr algn="l"/>
                      <a:r>
                        <a:rPr sz="1050" b="0" i="0">
                          <a:solidFill>
                            <a:srgbClr val="000000"/>
                          </a:solidFill>
                          <a:latin typeface="Calibri"/>
                        </a:rPr>
                        <a:t>Table 16: Global Market Value by Scenario (Optimistic, Likely, Pessimistic), US$ Mn, 2026–2036</a:t>
                      </a:r>
                      <a:endParaRPr sz="1050"/>
                    </a:p>
                  </a:txBody>
                  <a:tcPr marL="9525" marR="9525" marT="9525" marB="0" anchor="ctr"/>
                </a:tc>
              </a:tr>
              <a:tr h="169826">
                <a:tc>
                  <a:txBody>
                    <a:bodyPr wrap="square"/>
                    <a:lstStyle/>
                    <a:p>
                      <a:pPr algn="l"/>
                      <a:r>
                        <a:rPr sz="1050" b="0" i="0">
                          <a:solidFill>
                            <a:srgbClr val="000000"/>
                          </a:solidFill>
                          <a:latin typeface="Calibri"/>
                        </a:rPr>
                        <a:t>Table 17: Global Market Scenario CAGR Comparison, %, 2026–2036</a:t>
                      </a:r>
                      <a:endParaRPr sz="1050"/>
                    </a:p>
                  </a:txBody>
                  <a:tcPr marL="9525" marR="9525" marT="9525" marB="0" anchor="ctr"/>
                </a:tc>
              </a:tr>
              <a:tr h="169826">
                <a:tc>
                  <a:txBody>
                    <a:bodyPr wrap="square"/>
                    <a:lstStyle/>
                    <a:p>
                      <a:pPr algn="l"/>
                      <a:r>
                        <a:rPr sz="1050" b="0" i="0">
                          <a:solidFill>
                            <a:srgbClr val="000000"/>
                          </a:solidFill>
                          <a:latin typeface="Calibri"/>
                        </a:rPr>
                        <a:t>Table 18: Global Market Historical vs Forecast Growth Comparison, %, 2021–2036</a:t>
                      </a:r>
                      <a:endParaRPr sz="1050"/>
                    </a:p>
                  </a:txBody>
                  <a:tcPr marL="9525" marR="9525" marT="9525" marB="0" anchor="ctr"/>
                </a:tc>
              </a:tr>
              <a:tr h="169826">
                <a:tc>
                  <a:txBody>
                    <a:bodyPr wrap="square"/>
                    <a:lstStyle/>
                    <a:p>
                      <a:pPr algn="l"/>
                      <a:r>
                        <a:rPr sz="1050" b="0" i="0">
                          <a:solidFill>
                            <a:srgbClr val="000000"/>
                          </a:solidFill>
                          <a:latin typeface="Calibri"/>
                        </a:rPr>
                        <a:t>Table 19: Global Market Value by Therapy Format, US$ Mn, 2021–2036</a:t>
                      </a:r>
                      <a:endParaRPr sz="1050"/>
                    </a:p>
                  </a:txBody>
                  <a:tcPr marL="9525" marR="9525" marT="9525" marB="0" anchor="ctr"/>
                </a:tc>
              </a:tr>
              <a:tr h="169826">
                <a:tc>
                  <a:txBody>
                    <a:bodyPr wrap="square"/>
                    <a:lstStyle/>
                    <a:p>
                      <a:pPr algn="l"/>
                      <a:r>
                        <a:rPr sz="1050" b="0" i="0">
                          <a:solidFill>
                            <a:srgbClr val="000000"/>
                          </a:solidFill>
                          <a:latin typeface="Calibri"/>
                        </a:rPr>
                        <a:t>Table 20: Global Market Value by Allergen Class, US$ Mn, 2021–2036</a:t>
                      </a:r>
                      <a:endParaRPr sz="1050"/>
                    </a:p>
                  </a:txBody>
                  <a:tcPr marL="9525" marR="9525" marT="9525" marB="0" anchor="ctr"/>
                </a:tc>
              </a:tr>
              <a:tr h="169826">
                <a:tc>
                  <a:txBody>
                    <a:bodyPr wrap="square"/>
                    <a:lstStyle/>
                    <a:p>
                      <a:pPr algn="l"/>
                      <a:r>
                        <a:rPr sz="1050" b="0" i="0">
                          <a:solidFill>
                            <a:srgbClr val="000000"/>
                          </a:solidFill>
                          <a:latin typeface="Calibri"/>
                        </a:rPr>
                        <a:t>Table 21: Global Market Value by Commercial Product Model, US$ Mn, 2021–2036</a:t>
                      </a:r>
                      <a:endParaRPr sz="1050"/>
                    </a:p>
                  </a:txBody>
                  <a:tcPr marL="9525" marR="9525" marT="9525" marB="0" anchor="ctr"/>
                </a:tc>
              </a:tr>
              <a:tr h="169826">
                <a:tc>
                  <a:txBody>
                    <a:bodyPr wrap="square"/>
                    <a:lstStyle/>
                    <a:p>
                      <a:pPr algn="l"/>
                      <a:r>
                        <a:rPr sz="1050" b="0" i="0">
                          <a:solidFill>
                            <a:srgbClr val="000000"/>
                          </a:solidFill>
                          <a:latin typeface="Calibri"/>
                        </a:rPr>
                        <a:t>Table 22: Global Market Value by Allergen Preparation Technology, US$ Mn, 2021–2036</a:t>
                      </a:r>
                      <a:endParaRPr sz="1050"/>
                    </a:p>
                  </a:txBody>
                  <a:tcPr marL="9525" marR="9525" marT="9525" marB="0" anchor="ctr"/>
                </a:tc>
              </a:tr>
              <a:tr h="169826">
                <a:tc>
                  <a:txBody>
                    <a:bodyPr wrap="square"/>
                    <a:lstStyle/>
                    <a:p>
                      <a:pPr algn="l"/>
                      <a:r>
                        <a:rPr sz="1050" b="0" i="0">
                          <a:solidFill>
                            <a:srgbClr val="000000"/>
                          </a:solidFill>
                          <a:latin typeface="Calibri"/>
                        </a:rPr>
                        <a:t>Table 23: Global Market Value by Allergen Composition, US$ Mn, 2021–2036</a:t>
                      </a:r>
                      <a:endParaRPr sz="1050"/>
                    </a:p>
                  </a:txBody>
                  <a:tcPr marL="9525" marR="9525" marT="9525" marB="0" anchor="ctr"/>
                </a:tc>
              </a:tr>
              <a:tr h="169826">
                <a:tc>
                  <a:txBody>
                    <a:bodyPr wrap="square"/>
                    <a:lstStyle/>
                    <a:p>
                      <a:pPr algn="l"/>
                      <a:r>
                        <a:rPr sz="1050" b="0" i="0">
                          <a:solidFill>
                            <a:srgbClr val="000000"/>
                          </a:solidFill>
                          <a:latin typeface="Calibri"/>
                        </a:rPr>
                        <a:t>Table 24: Global Market Value by Sales / Procurement Channel, US$ Mn, 2021–2036</a:t>
                      </a:r>
                      <a:endParaRPr sz="1050"/>
                    </a:p>
                  </a:txBody>
                  <a:tcPr marL="9525" marR="9525" marT="9525" marB="0" anchor="ctr"/>
                </a:tc>
              </a:tr>
              <a:tr h="169826">
                <a:tc>
                  <a:txBody>
                    <a:bodyPr wrap="square"/>
                    <a:lstStyle/>
                    <a:p>
                      <a:pPr algn="l"/>
                      <a:r>
                        <a:rPr sz="1050" b="0" i="0">
                          <a:solidFill>
                            <a:srgbClr val="000000"/>
                          </a:solidFill>
                          <a:latin typeface="Calibri"/>
                        </a:rPr>
                        <a:t>Table 25: Global Market Value by Company × Allergen Class, US$ Mn, 2021–2036</a:t>
                      </a:r>
                      <a:endParaRPr sz="1050"/>
                    </a:p>
                  </a:txBody>
                  <a:tcPr marL="9525" marR="9525" marT="9525" marB="0" anchor="ctr"/>
                </a:tc>
              </a:tr>
              <a:tr h="169826">
                <a:tc>
                  <a:txBody>
                    <a:bodyPr wrap="square"/>
                    <a:lstStyle/>
                    <a:p>
                      <a:pPr algn="l"/>
                      <a:r>
                        <a:rPr sz="1050" b="0" i="0">
                          <a:solidFill>
                            <a:srgbClr val="000000"/>
                          </a:solidFill>
                          <a:latin typeface="Calibri"/>
                        </a:rPr>
                        <a:t>Table 26: Global Market Value by Company × Therapy Format, US$ Mn, 2021–2036</a:t>
                      </a:r>
                      <a:endParaRPr sz="1050"/>
                    </a:p>
                  </a:txBody>
                  <a:tcPr marL="9525" marR="9525" marT="9525" marB="0" anchor="ctr"/>
                </a:tc>
              </a:tr>
              <a:tr h="169826">
                <a:tc>
                  <a:txBody>
                    <a:bodyPr wrap="square"/>
                    <a:lstStyle/>
                    <a:p>
                      <a:pPr algn="l"/>
                      <a:r>
                        <a:rPr sz="1050" b="0" i="0">
                          <a:solidFill>
                            <a:srgbClr val="000000"/>
                          </a:solidFill>
                          <a:latin typeface="Calibri"/>
                        </a:rPr>
                        <a:t>Table 27: Global Market Value by Company × Allergen Preparation Technology, US$ Mn, 2021–2036</a:t>
                      </a:r>
                      <a:endParaRPr sz="1050"/>
                    </a:p>
                  </a:txBody>
                  <a:tcPr marL="9525" marR="9525" marT="9525" marB="0" anchor="ctr"/>
                </a:tc>
              </a:tr>
              <a:tr h="169826">
                <a:tc>
                  <a:txBody>
                    <a:bodyPr wrap="square"/>
                    <a:lstStyle/>
                    <a:p>
                      <a:pPr algn="l"/>
                      <a:r>
                        <a:rPr sz="1050" b="0" i="0">
                          <a:solidFill>
                            <a:srgbClr val="000000"/>
                          </a:solidFill>
                          <a:latin typeface="Calibri"/>
                        </a:rPr>
                        <a:t>Table 28: Global Market CAGR and Absolute $ Opportunity by Therapy Format, %, US$ Mn, 2026–2036</a:t>
                      </a:r>
                      <a:endParaRPr sz="1050"/>
                    </a:p>
                  </a:txBody>
                  <a:tcPr marL="9525" marR="9525" marT="9525" marB="0" anchor="ctr"/>
                </a:tc>
              </a:tr>
              <a:tr h="169826">
                <a:tc>
                  <a:txBody>
                    <a:bodyPr wrap="square"/>
                    <a:lstStyle/>
                    <a:p>
                      <a:pPr algn="l"/>
                      <a:r>
                        <a:rPr sz="1050" b="0" i="0">
                          <a:solidFill>
                            <a:srgbClr val="000000"/>
                          </a:solidFill>
                          <a:latin typeface="Calibri"/>
                        </a:rPr>
                        <a:t>Table 29: Global Market CAGR and Absolute $ Opportunity by Allergen Class, %, US$ Mn, 2026–2036</a:t>
                      </a:r>
                      <a:endParaRPr sz="1050"/>
                    </a:p>
                  </a:txBody>
                  <a:tcPr marL="9525" marR="9525" marT="9525" marB="0" anchor="ctr"/>
                </a:tc>
              </a:tr>
              <a:tr h="332858">
                <a:tc>
                  <a:txBody>
                    <a:bodyPr wrap="square"/>
                    <a:lstStyle/>
                    <a:p>
                      <a:pPr algn="l"/>
                      <a:r>
                        <a:rPr sz="1050" b="0" i="0">
                          <a:solidFill>
                            <a:srgbClr val="000000"/>
                          </a:solidFill>
                          <a:latin typeface="Calibri"/>
                        </a:rPr>
                        <a:t>Table 30: Global Market CAGR and Absolute $ Opportunity by Commercial Product Model, %,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4"/>
        </p:xfrm>
        <a:graphic>
          <a:graphicData uri="http://schemas.openxmlformats.org/drawingml/2006/table">
            <a:tbl>
              <a:tblPr>
                <a:tableStyleId>{3B4B98B0-60AC-42C2-AFA5-B58CD77FA1E5}</a:tableStyleId>
              </a:tblPr>
              <a:tblGrid>
                <a:gridCol w="5876925"/>
              </a:tblGrid>
              <a:tr h="336774">
                <a:tc>
                  <a:txBody>
                    <a:bodyPr wrap="square"/>
                    <a:lstStyle/>
                    <a:p>
                      <a:pPr algn="l"/>
                      <a:r>
                        <a:rPr sz="1050" b="0" i="0">
                          <a:solidFill>
                            <a:srgbClr val="000000"/>
                          </a:solidFill>
                          <a:latin typeface="Calibri"/>
                        </a:rPr>
                        <a:t>Table 31: Global Market CAGR and Absolute $ Opportunity by Allergen Preparation Technology, %, US$ Mn, 2026–2036</a:t>
                      </a:r>
                      <a:endParaRPr sz="1050"/>
                    </a:p>
                  </a:txBody>
                  <a:tcPr marL="9525" marR="9525" marT="9525" marB="0" anchor="ctr"/>
                </a:tc>
              </a:tr>
              <a:tr h="336774">
                <a:tc>
                  <a:txBody>
                    <a:bodyPr wrap="square"/>
                    <a:lstStyle/>
                    <a:p>
                      <a:pPr algn="l"/>
                      <a:r>
                        <a:rPr sz="1050" b="0" i="0">
                          <a:solidFill>
                            <a:srgbClr val="000000"/>
                          </a:solidFill>
                          <a:latin typeface="Calibri"/>
                        </a:rPr>
                        <a:t>Table 32: Global Market CAGR and Absolute $ Opportunity by Allergen Composition, %, US$ Mn, 2026–2036</a:t>
                      </a:r>
                      <a:endParaRPr sz="1050"/>
                    </a:p>
                  </a:txBody>
                  <a:tcPr marL="9525" marR="9525" marT="9525" marB="0" anchor="ctr"/>
                </a:tc>
              </a:tr>
              <a:tr h="336774">
                <a:tc>
                  <a:txBody>
                    <a:bodyPr wrap="square"/>
                    <a:lstStyle/>
                    <a:p>
                      <a:pPr algn="l"/>
                      <a:r>
                        <a:rPr sz="1050" b="0" i="0">
                          <a:solidFill>
                            <a:srgbClr val="000000"/>
                          </a:solidFill>
                          <a:latin typeface="Calibri"/>
                        </a:rPr>
                        <a:t>Table 33: Global Market CAGR and Absolute $ Opportunity by Sales / Procurement Channel, %, US$ Mn, 2026–2036</a:t>
                      </a:r>
                      <a:endParaRPr sz="1050"/>
                    </a:p>
                  </a:txBody>
                  <a:tcPr marL="9525" marR="9525" marT="9525" marB="0" anchor="ctr"/>
                </a:tc>
              </a:tr>
              <a:tr h="336774">
                <a:tc>
                  <a:txBody>
                    <a:bodyPr wrap="square"/>
                    <a:lstStyle/>
                    <a:p>
                      <a:pPr algn="l"/>
                      <a:r>
                        <a:rPr sz="1050" b="0" i="0">
                          <a:solidFill>
                            <a:srgbClr val="000000"/>
                          </a:solidFill>
                          <a:latin typeface="Calibri"/>
                        </a:rPr>
                        <a:t>Table 34: Global Market CAGR and Absolute $ Opportunity by Company × Allergen Class, %, US$ Mn, 2026–2036</a:t>
                      </a:r>
                      <a:endParaRPr sz="1050"/>
                    </a:p>
                  </a:txBody>
                  <a:tcPr marL="9525" marR="9525" marT="9525" marB="0" anchor="ctr"/>
                </a:tc>
              </a:tr>
              <a:tr h="336774">
                <a:tc>
                  <a:txBody>
                    <a:bodyPr wrap="square"/>
                    <a:lstStyle/>
                    <a:p>
                      <a:pPr algn="l"/>
                      <a:r>
                        <a:rPr sz="1050" b="0" i="0">
                          <a:solidFill>
                            <a:srgbClr val="000000"/>
                          </a:solidFill>
                          <a:latin typeface="Calibri"/>
                        </a:rPr>
                        <a:t>Table 35: Global Market CAGR and Absolute $ Opportunity by Company × Therapy Format, %, US$ Mn, 2026–2036</a:t>
                      </a:r>
                      <a:endParaRPr sz="1050"/>
                    </a:p>
                  </a:txBody>
                  <a:tcPr marL="9525" marR="9525" marT="9525" marB="0" anchor="ctr"/>
                </a:tc>
              </a:tr>
              <a:tr h="336774">
                <a:tc>
                  <a:txBody>
                    <a:bodyPr wrap="square"/>
                    <a:lstStyle/>
                    <a:p>
                      <a:pPr algn="l"/>
                      <a:r>
                        <a:rPr sz="1050" b="0" i="0">
                          <a:solidFill>
                            <a:srgbClr val="000000"/>
                          </a:solidFill>
                          <a:latin typeface="Calibri"/>
                        </a:rPr>
                        <a:t>Table 36: Global Market CAGR and Absolute $ Opportunity by Company × Allergen Preparation Technology, %, US$ Mn, 2026–2036</a:t>
                      </a:r>
                      <a:endParaRPr sz="1050"/>
                    </a:p>
                  </a:txBody>
                  <a:tcPr marL="9525" marR="9525" marT="9525" marB="0" anchor="ctr"/>
                </a:tc>
              </a:tr>
              <a:tr h="171824">
                <a:tc>
                  <a:txBody>
                    <a:bodyPr wrap="square"/>
                    <a:lstStyle/>
                    <a:p>
                      <a:pPr algn="l"/>
                      <a:r>
                        <a:rPr sz="1050" b="0" i="0">
                          <a:solidFill>
                            <a:srgbClr val="000000"/>
                          </a:solidFill>
                          <a:latin typeface="Calibri"/>
                        </a:rPr>
                        <a:t>Table 37: Global Market Share and BPS Change by Therapy Format, %, 2025, 2026 and 2036</a:t>
                      </a:r>
                      <a:endParaRPr sz="1050"/>
                    </a:p>
                  </a:txBody>
                  <a:tcPr marL="9525" marR="9525" marT="9525" marB="0" anchor="ctr"/>
                </a:tc>
              </a:tr>
              <a:tr h="171824">
                <a:tc>
                  <a:txBody>
                    <a:bodyPr wrap="square"/>
                    <a:lstStyle/>
                    <a:p>
                      <a:pPr algn="l"/>
                      <a:r>
                        <a:rPr sz="1050" b="0" i="0">
                          <a:solidFill>
                            <a:srgbClr val="000000"/>
                          </a:solidFill>
                          <a:latin typeface="Calibri"/>
                        </a:rPr>
                        <a:t>Table 38: Global Market Share and BPS Change by Allergen Class, %, 2025, 2026 and 2036</a:t>
                      </a:r>
                      <a:endParaRPr sz="1050"/>
                    </a:p>
                  </a:txBody>
                  <a:tcPr marL="9525" marR="9525" marT="9525" marB="0" anchor="ctr"/>
                </a:tc>
              </a:tr>
              <a:tr h="171824">
                <a:tc>
                  <a:txBody>
                    <a:bodyPr wrap="square"/>
                    <a:lstStyle/>
                    <a:p>
                      <a:pPr algn="l"/>
                      <a:r>
                        <a:rPr sz="1050" b="0" i="0">
                          <a:solidFill>
                            <a:srgbClr val="000000"/>
                          </a:solidFill>
                          <a:latin typeface="Calibri"/>
                        </a:rPr>
                        <a:t>Table 39: Global Market Share and BPS Change by Commercial Product Model, %, 2025, 2026 and 2036</a:t>
                      </a:r>
                      <a:endParaRPr sz="1050"/>
                    </a:p>
                  </a:txBody>
                  <a:tcPr marL="9525" marR="9525" marT="9525" marB="0" anchor="ctr"/>
                </a:tc>
              </a:tr>
              <a:tr h="336774">
                <a:tc>
                  <a:txBody>
                    <a:bodyPr wrap="square"/>
                    <a:lstStyle/>
                    <a:p>
                      <a:pPr algn="l"/>
                      <a:r>
                        <a:rPr sz="1050" b="0" i="0">
                          <a:solidFill>
                            <a:srgbClr val="000000"/>
                          </a:solidFill>
                          <a:latin typeface="Calibri"/>
                        </a:rPr>
                        <a:t>Table 40: Global Market Share and BPS Change by Allergen Preparation Technology, %, 2025, 2026 and 2036</a:t>
                      </a:r>
                      <a:endParaRPr sz="1050"/>
                    </a:p>
                  </a:txBody>
                  <a:tcPr marL="9525" marR="9525" marT="9525" marB="0" anchor="ctr"/>
                </a:tc>
              </a:tr>
              <a:tr h="171824">
                <a:tc>
                  <a:txBody>
                    <a:bodyPr wrap="square"/>
                    <a:lstStyle/>
                    <a:p>
                      <a:pPr algn="l"/>
                      <a:r>
                        <a:rPr sz="1050" b="0" i="0">
                          <a:solidFill>
                            <a:srgbClr val="000000"/>
                          </a:solidFill>
                          <a:latin typeface="Calibri"/>
                        </a:rPr>
                        <a:t>Table 41: Global Market Share and BPS Change by Allergen Composition, %, 2025, 2026 and 2036</a:t>
                      </a:r>
                      <a:endParaRPr sz="1050"/>
                    </a:p>
                  </a:txBody>
                  <a:tcPr marL="9525" marR="9525" marT="9525" marB="0" anchor="ctr"/>
                </a:tc>
              </a:tr>
              <a:tr h="336774">
                <a:tc>
                  <a:txBody>
                    <a:bodyPr wrap="square"/>
                    <a:lstStyle/>
                    <a:p>
                      <a:pPr algn="l"/>
                      <a:r>
                        <a:rPr sz="1050" b="0" i="0">
                          <a:solidFill>
                            <a:srgbClr val="000000"/>
                          </a:solidFill>
                          <a:latin typeface="Calibri"/>
                        </a:rPr>
                        <a:t>Table 42: Global Market Share and BPS Change by Sales / Procurement Channel, %, 2025, 2026 and 2036</a:t>
                      </a:r>
                      <a:endParaRPr sz="1050"/>
                    </a:p>
                  </a:txBody>
                  <a:tcPr marL="9525" marR="9525" marT="9525" marB="0" anchor="ctr"/>
                </a:tc>
              </a:tr>
              <a:tr h="171824">
                <a:tc>
                  <a:txBody>
                    <a:bodyPr wrap="square"/>
                    <a:lstStyle/>
                    <a:p>
                      <a:pPr algn="l"/>
                      <a:r>
                        <a:rPr sz="1050" b="0" i="0">
                          <a:solidFill>
                            <a:srgbClr val="000000"/>
                          </a:solidFill>
                          <a:latin typeface="Calibri"/>
                        </a:rPr>
                        <a:t>Table 43: Global Market Share and BPS Change by Company × Allergen Class, %, 2025, 2026 and 2036</a:t>
                      </a:r>
                      <a:endParaRPr sz="1050"/>
                    </a:p>
                  </a:txBody>
                  <a:tcPr marL="9525" marR="9525" marT="9525" marB="0" anchor="ctr"/>
                </a:tc>
              </a:tr>
              <a:tr h="336774">
                <a:tc>
                  <a:txBody>
                    <a:bodyPr wrap="square"/>
                    <a:lstStyle/>
                    <a:p>
                      <a:pPr algn="l"/>
                      <a:r>
                        <a:rPr sz="1050" b="0" i="0">
                          <a:solidFill>
                            <a:srgbClr val="000000"/>
                          </a:solidFill>
                          <a:latin typeface="Calibri"/>
                        </a:rPr>
                        <a:t>Table 44: Global Market Share and BPS Change by Company × Therapy Format, %, 2025, 2026 and 2036</a:t>
                      </a:r>
                      <a:endParaRPr sz="1050"/>
                    </a:p>
                  </a:txBody>
                  <a:tcPr marL="9525" marR="9525" marT="9525" marB="0" anchor="ctr"/>
                </a:tc>
              </a:tr>
              <a:tr h="336774">
                <a:tc>
                  <a:txBody>
                    <a:bodyPr wrap="square"/>
                    <a:lstStyle/>
                    <a:p>
                      <a:pPr algn="l"/>
                      <a:r>
                        <a:rPr sz="1050" b="0" i="0">
                          <a:solidFill>
                            <a:srgbClr val="000000"/>
                          </a:solidFill>
                          <a:latin typeface="Calibri"/>
                        </a:rPr>
                        <a:t>Table 45: Global Market Share and BPS Change by Company × Allergen Preparation Technology, %, 2025, 2026 and 2036</a:t>
                      </a:r>
                      <a:endParaRPr sz="1050"/>
                    </a:p>
                  </a:txBody>
                  <a:tcPr marL="9525" marR="9525" marT="9525" marB="0" anchor="ctr"/>
                </a:tc>
              </a:tr>
              <a:tr h="171824">
                <a:tc>
                  <a:txBody>
                    <a:bodyPr wrap="square"/>
                    <a:lstStyle/>
                    <a:p>
                      <a:pPr algn="l"/>
                      <a:r>
                        <a:rPr sz="1050" b="0" i="0">
                          <a:solidFill>
                            <a:srgbClr val="000000"/>
                          </a:solidFill>
                          <a:latin typeface="Calibri"/>
                        </a:rPr>
                        <a:t>Table 46: Global Market YoY Growth by Therapy Format, %, 2026–2036</a:t>
                      </a:r>
                      <a:endParaRPr sz="1050"/>
                    </a:p>
                  </a:txBody>
                  <a:tcPr marL="9525" marR="9525" marT="9525" marB="0" anchor="ctr"/>
                </a:tc>
              </a:tr>
              <a:tr h="171824">
                <a:tc>
                  <a:txBody>
                    <a:bodyPr wrap="square"/>
                    <a:lstStyle/>
                    <a:p>
                      <a:pPr algn="l"/>
                      <a:r>
                        <a:rPr sz="1050" b="0" i="0">
                          <a:solidFill>
                            <a:srgbClr val="000000"/>
                          </a:solidFill>
                          <a:latin typeface="Calibri"/>
                        </a:rPr>
                        <a:t>Table 47: Global Market YoY Growth by Allergen Class, %, 2026–2036</a:t>
                      </a:r>
                      <a:endParaRPr sz="1050"/>
                    </a:p>
                  </a:txBody>
                  <a:tcPr marL="9525" marR="9525" marT="9525" marB="0" anchor="ctr"/>
                </a:tc>
              </a:tr>
              <a:tr h="171824">
                <a:tc>
                  <a:txBody>
                    <a:bodyPr wrap="square"/>
                    <a:lstStyle/>
                    <a:p>
                      <a:pPr algn="l"/>
                      <a:r>
                        <a:rPr sz="1050" b="0" i="0">
                          <a:solidFill>
                            <a:srgbClr val="000000"/>
                          </a:solidFill>
                          <a:latin typeface="Calibri"/>
                        </a:rPr>
                        <a:t>Table 48: Global Market YoY Growth by Commercial Product Model, %, 2026–2036</a:t>
                      </a:r>
                      <a:endParaRPr sz="1050"/>
                    </a:p>
                  </a:txBody>
                  <a:tcPr marL="9525" marR="9525" marT="9525" marB="0" anchor="ctr"/>
                </a:tc>
              </a:tr>
              <a:tr h="171824">
                <a:tc>
                  <a:txBody>
                    <a:bodyPr wrap="square"/>
                    <a:lstStyle/>
                    <a:p>
                      <a:pPr algn="l"/>
                      <a:r>
                        <a:rPr sz="1050" b="0" i="0">
                          <a:solidFill>
                            <a:srgbClr val="000000"/>
                          </a:solidFill>
                          <a:latin typeface="Calibri"/>
                        </a:rPr>
                        <a:t>Table 49: Global Market YoY Growth by Allergen Preparation Technology, %, 2026–2036</a:t>
                      </a:r>
                      <a:endParaRPr sz="1050"/>
                    </a:p>
                  </a:txBody>
                  <a:tcPr marL="9525" marR="9525" marT="9525" marB="0" anchor="ctr"/>
                </a:tc>
              </a:tr>
              <a:tr h="171824">
                <a:tc>
                  <a:txBody>
                    <a:bodyPr wrap="square"/>
                    <a:lstStyle/>
                    <a:p>
                      <a:pPr algn="l"/>
                      <a:r>
                        <a:rPr sz="1050" b="0" i="0">
                          <a:solidFill>
                            <a:srgbClr val="000000"/>
                          </a:solidFill>
                          <a:latin typeface="Calibri"/>
                        </a:rPr>
                        <a:t>Table 50: Global Market YoY Growth by Allergen Composition, %, 2026–2036</a:t>
                      </a:r>
                      <a:endParaRPr sz="1050"/>
                    </a:p>
                  </a:txBody>
                  <a:tcPr marL="9525" marR="9525" marT="9525" marB="0" anchor="ctr"/>
                </a:tc>
              </a:tr>
              <a:tr h="171824">
                <a:tc>
                  <a:txBody>
                    <a:bodyPr wrap="square"/>
                    <a:lstStyle/>
                    <a:p>
                      <a:pPr algn="l"/>
                      <a:r>
                        <a:rPr sz="1050" b="0" i="0">
                          <a:solidFill>
                            <a:srgbClr val="000000"/>
                          </a:solidFill>
                          <a:latin typeface="Calibri"/>
                        </a:rPr>
                        <a:t>Table 51: Global Market YoY Growth by Sales / Procurement Channel, %,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(2/5)</a:t>
            </a:r>
          </a:p>
        </p:txBody>
      </p:sp>
      <p:graphicFrame>
        <p:nvGraphicFramePr>
          <p:cNvPr id="9" name="FMI Contents Table"/>
          <p:cNvGraphicFramePr>
            <a:graphicFrameLocks noGrp="1"/>
          </p:cNvGraphicFramePr>
          <p:nvPr/>
        </p:nvGraphicFramePr>
        <p:xfrm>
          <a:off x="142875" y="981075"/>
          <a:ext cx="5876925" cy="5257802"/>
        </p:xfrm>
        <a:graphic>
          <a:graphicData uri="http://schemas.openxmlformats.org/drawingml/2006/table">
            <a:tbl>
              <a:tblPr>
                <a:tableStyleId>{3B4B98B0-60AC-42C2-AFA5-B58CD77FA1E5}</a:tableStyleId>
              </a:tblPr>
              <a:tblGrid>
                <a:gridCol w="5876925"/>
              </a:tblGrid>
              <a:tr h="172274">
                <a:tc>
                  <a:txBody>
                    <a:bodyPr wrap="square"/>
                    <a:lstStyle/>
                    <a:p>
                      <a:pPr algn="l"/>
                      <a:r>
                        <a:rPr sz="1050" b="0" i="0">
                          <a:solidFill>
                            <a:srgbClr val="000000"/>
                          </a:solidFill>
                          <a:latin typeface="Calibri"/>
                        </a:rPr>
                        <a:t>Table 52: Global Market YoY Growth by Company × Allergen Class, %, 2026–2036</a:t>
                      </a:r>
                      <a:endParaRPr sz="1050"/>
                    </a:p>
                  </a:txBody>
                  <a:tcPr marL="9525" marR="9525" marT="9525" marB="0" anchor="ctr"/>
                </a:tc>
              </a:tr>
              <a:tr h="172274">
                <a:tc>
                  <a:txBody>
                    <a:bodyPr wrap="square"/>
                    <a:lstStyle/>
                    <a:p>
                      <a:pPr algn="l"/>
                      <a:r>
                        <a:rPr sz="1050" b="0" i="0">
                          <a:solidFill>
                            <a:srgbClr val="000000"/>
                          </a:solidFill>
                          <a:latin typeface="Calibri"/>
                        </a:rPr>
                        <a:t>Table 53: Global Market YoY Growth by Company × Therapy Format, %, 2026–2036</a:t>
                      </a:r>
                      <a:endParaRPr sz="1050"/>
                    </a:p>
                  </a:txBody>
                  <a:tcPr marL="9525" marR="9525" marT="9525" marB="0" anchor="ctr"/>
                </a:tc>
              </a:tr>
              <a:tr h="172274">
                <a:tc>
                  <a:txBody>
                    <a:bodyPr wrap="square"/>
                    <a:lstStyle/>
                    <a:p>
                      <a:pPr algn="l"/>
                      <a:r>
                        <a:rPr sz="1050" b="0" i="0">
                          <a:solidFill>
                            <a:srgbClr val="000000"/>
                          </a:solidFill>
                          <a:latin typeface="Calibri"/>
                        </a:rPr>
                        <a:t>Table 54: Global Market YoY Growth by Company × Allergen Preparation Technology, %, 2026–2036</a:t>
                      </a:r>
                      <a:endParaRPr sz="1050"/>
                    </a:p>
                  </a:txBody>
                  <a:tcPr marL="9525" marR="9525" marT="9525" marB="0" anchor="ctr"/>
                </a:tc>
              </a:tr>
              <a:tr h="172274">
                <a:tc>
                  <a:txBody>
                    <a:bodyPr wrap="square"/>
                    <a:lstStyle/>
                    <a:p>
                      <a:pPr algn="l"/>
                      <a:r>
                        <a:rPr sz="1050" b="0" i="0">
                          <a:solidFill>
                            <a:srgbClr val="000000"/>
                          </a:solidFill>
                          <a:latin typeface="Calibri"/>
                        </a:rPr>
                        <a:t>Table 55: Global Market Volume by Therapy Format, Patient Treatment Courses, 2021–2036</a:t>
                      </a:r>
                      <a:endParaRPr sz="1050"/>
                    </a:p>
                  </a:txBody>
                  <a:tcPr marL="9525" marR="9525" marT="9525" marB="0" anchor="ctr"/>
                </a:tc>
              </a:tr>
              <a:tr h="172274">
                <a:tc>
                  <a:txBody>
                    <a:bodyPr wrap="square"/>
                    <a:lstStyle/>
                    <a:p>
                      <a:pPr algn="l"/>
                      <a:r>
                        <a:rPr sz="1050" b="0" i="0">
                          <a:solidFill>
                            <a:srgbClr val="000000"/>
                          </a:solidFill>
                          <a:latin typeface="Calibri"/>
                        </a:rPr>
                        <a:t>Table 56: Global Market Volume by Allergen Class, Patient Treatment Courses, 2021–2036</a:t>
                      </a:r>
                      <a:endParaRPr sz="1050"/>
                    </a:p>
                  </a:txBody>
                  <a:tcPr marL="9525" marR="9525" marT="9525" marB="0" anchor="ctr"/>
                </a:tc>
              </a:tr>
              <a:tr h="337657">
                <a:tc>
                  <a:txBody>
                    <a:bodyPr wrap="square"/>
                    <a:lstStyle/>
                    <a:p>
                      <a:pPr algn="l"/>
                      <a:r>
                        <a:rPr sz="1050" b="0" i="0">
                          <a:solidFill>
                            <a:srgbClr val="000000"/>
                          </a:solidFill>
                          <a:latin typeface="Calibri"/>
                        </a:rPr>
                        <a:t>Table 57: Global Market Volume by Commercial Product Model, Patient Treatment Courses, 2021–2036</a:t>
                      </a:r>
                      <a:endParaRPr sz="1050"/>
                    </a:p>
                  </a:txBody>
                  <a:tcPr marL="9525" marR="9525" marT="9525" marB="0" anchor="ctr"/>
                </a:tc>
              </a:tr>
              <a:tr h="337657">
                <a:tc>
                  <a:txBody>
                    <a:bodyPr wrap="square"/>
                    <a:lstStyle/>
                    <a:p>
                      <a:pPr algn="l"/>
                      <a:r>
                        <a:rPr sz="1050" b="0" i="0">
                          <a:solidFill>
                            <a:srgbClr val="000000"/>
                          </a:solidFill>
                          <a:latin typeface="Calibri"/>
                        </a:rPr>
                        <a:t>Table 58: Global Market Volume by Allergen Preparation Technology, Patient Treatment Courses, 2021–2036</a:t>
                      </a:r>
                      <a:endParaRPr sz="1050"/>
                    </a:p>
                  </a:txBody>
                  <a:tcPr marL="9525" marR="9525" marT="9525" marB="0" anchor="ctr"/>
                </a:tc>
              </a:tr>
              <a:tr h="172274">
                <a:tc>
                  <a:txBody>
                    <a:bodyPr wrap="square"/>
                    <a:lstStyle/>
                    <a:p>
                      <a:pPr algn="l"/>
                      <a:r>
                        <a:rPr sz="1050" b="0" i="0">
                          <a:solidFill>
                            <a:srgbClr val="000000"/>
                          </a:solidFill>
                          <a:latin typeface="Calibri"/>
                        </a:rPr>
                        <a:t>Table 59: Global Market Volume by Allergen Composition, Patient Treatment Courses, 2021–2036</a:t>
                      </a:r>
                      <a:endParaRPr sz="1050"/>
                    </a:p>
                  </a:txBody>
                  <a:tcPr marL="9525" marR="9525" marT="9525" marB="0" anchor="ctr"/>
                </a:tc>
              </a:tr>
              <a:tr h="337657">
                <a:tc>
                  <a:txBody>
                    <a:bodyPr wrap="square"/>
                    <a:lstStyle/>
                    <a:p>
                      <a:pPr algn="l"/>
                      <a:r>
                        <a:rPr sz="1050" b="0" i="0">
                          <a:solidFill>
                            <a:srgbClr val="000000"/>
                          </a:solidFill>
                          <a:latin typeface="Calibri"/>
                        </a:rPr>
                        <a:t>Table 60: Global Market Volume by Sales / Procurement Channel, Patient Treatment Courses, 2021–2036</a:t>
                      </a:r>
                      <a:endParaRPr sz="1050"/>
                    </a:p>
                  </a:txBody>
                  <a:tcPr marL="9525" marR="9525" marT="9525" marB="0" anchor="ctr"/>
                </a:tc>
              </a:tr>
              <a:tr h="172274">
                <a:tc>
                  <a:txBody>
                    <a:bodyPr wrap="square"/>
                    <a:lstStyle/>
                    <a:p>
                      <a:pPr algn="l"/>
                      <a:r>
                        <a:rPr sz="1050" b="0" i="0">
                          <a:solidFill>
                            <a:srgbClr val="000000"/>
                          </a:solidFill>
                          <a:latin typeface="Calibri"/>
                        </a:rPr>
                        <a:t>Table 61: Global Market Volume by Company × Allergen Class, Patient Treatment Courses, 2021–2036</a:t>
                      </a:r>
                      <a:endParaRPr sz="1050"/>
                    </a:p>
                  </a:txBody>
                  <a:tcPr marL="9525" marR="9525" marT="9525" marB="0" anchor="ctr"/>
                </a:tc>
              </a:tr>
              <a:tr h="337657">
                <a:tc>
                  <a:txBody>
                    <a:bodyPr wrap="square"/>
                    <a:lstStyle/>
                    <a:p>
                      <a:pPr algn="l"/>
                      <a:r>
                        <a:rPr sz="1050" b="0" i="0">
                          <a:solidFill>
                            <a:srgbClr val="000000"/>
                          </a:solidFill>
                          <a:latin typeface="Calibri"/>
                        </a:rPr>
                        <a:t>Table 62: Global Market Volume by Company × Therapy Format, Patient Treatment Courses, 2021–2036</a:t>
                      </a:r>
                      <a:endParaRPr sz="1050"/>
                    </a:p>
                  </a:txBody>
                  <a:tcPr marL="9525" marR="9525" marT="9525" marB="0" anchor="ctr"/>
                </a:tc>
              </a:tr>
              <a:tr h="337657">
                <a:tc>
                  <a:txBody>
                    <a:bodyPr wrap="square"/>
                    <a:lstStyle/>
                    <a:p>
                      <a:pPr algn="l"/>
                      <a:r>
                        <a:rPr sz="1050" b="0" i="0">
                          <a:solidFill>
                            <a:srgbClr val="000000"/>
                          </a:solidFill>
                          <a:latin typeface="Calibri"/>
                        </a:rPr>
                        <a:t>Table 63: Global Market Volume by Company × Allergen Preparation Technology, Patient Treatment Courses, 2021–2036</a:t>
                      </a:r>
                      <a:endParaRPr sz="1050"/>
                    </a:p>
                  </a:txBody>
                  <a:tcPr marL="9525" marR="9525" marT="9525" marB="0" anchor="ctr"/>
                </a:tc>
              </a:tr>
              <a:tr h="337657">
                <a:tc>
                  <a:txBody>
                    <a:bodyPr wrap="square"/>
                    <a:lstStyle/>
                    <a:p>
                      <a:pPr algn="l"/>
                      <a:r>
                        <a:rPr sz="1050" b="0" i="0">
                          <a:solidFill>
                            <a:srgbClr val="000000"/>
                          </a:solidFill>
                          <a:latin typeface="Calibri"/>
                        </a:rPr>
                        <a:t>Table 64: Global Market Average Selling Price by Therapy Format, US$/Patient Treatment Courses, 2021–2036</a:t>
                      </a:r>
                      <a:endParaRPr sz="1050"/>
                    </a:p>
                  </a:txBody>
                  <a:tcPr marL="9525" marR="9525" marT="9525" marB="0" anchor="ctr"/>
                </a:tc>
              </a:tr>
              <a:tr h="337657">
                <a:tc>
                  <a:txBody>
                    <a:bodyPr wrap="square"/>
                    <a:lstStyle/>
                    <a:p>
                      <a:pPr algn="l"/>
                      <a:r>
                        <a:rPr sz="1050" b="0" i="0">
                          <a:solidFill>
                            <a:srgbClr val="000000"/>
                          </a:solidFill>
                          <a:latin typeface="Calibri"/>
                        </a:rPr>
                        <a:t>Table 65: Global Market Average Selling Price by Allergen Class, US$/Patient Treatment Courses, 2021–2036</a:t>
                      </a:r>
                      <a:endParaRPr sz="1050"/>
                    </a:p>
                  </a:txBody>
                  <a:tcPr marL="9525" marR="9525" marT="9525" marB="0" anchor="ctr"/>
                </a:tc>
              </a:tr>
              <a:tr h="337657">
                <a:tc>
                  <a:txBody>
                    <a:bodyPr wrap="square"/>
                    <a:lstStyle/>
                    <a:p>
                      <a:pPr algn="l"/>
                      <a:r>
                        <a:rPr sz="1050" b="0" i="0">
                          <a:solidFill>
                            <a:srgbClr val="000000"/>
                          </a:solidFill>
                          <a:latin typeface="Calibri"/>
                        </a:rPr>
                        <a:t>Table 66: Global Market Average Selling Price by Commercial Product Model, US$/Patient Treatment Courses, 2021–2036</a:t>
                      </a:r>
                      <a:endParaRPr sz="1050"/>
                    </a:p>
                  </a:txBody>
                  <a:tcPr marL="9525" marR="9525" marT="9525" marB="0" anchor="ctr"/>
                </a:tc>
              </a:tr>
              <a:tr h="337657">
                <a:tc>
                  <a:txBody>
                    <a:bodyPr wrap="square"/>
                    <a:lstStyle/>
                    <a:p>
                      <a:pPr algn="l"/>
                      <a:r>
                        <a:rPr sz="1050" b="0" i="0">
                          <a:solidFill>
                            <a:srgbClr val="000000"/>
                          </a:solidFill>
                          <a:latin typeface="Calibri"/>
                        </a:rPr>
                        <a:t>Table 67: Global Market Average Selling Price by Allergen Preparation Technology, US$/Patient Treatment Courses, 2021–2036</a:t>
                      </a:r>
                      <a:endParaRPr sz="1050"/>
                    </a:p>
                  </a:txBody>
                  <a:tcPr marL="9525" marR="9525" marT="9525" marB="0" anchor="ctr"/>
                </a:tc>
              </a:tr>
              <a:tr h="337657">
                <a:tc>
                  <a:txBody>
                    <a:bodyPr wrap="square"/>
                    <a:lstStyle/>
                    <a:p>
                      <a:pPr algn="l"/>
                      <a:r>
                        <a:rPr sz="1050" b="0" i="0">
                          <a:solidFill>
                            <a:srgbClr val="000000"/>
                          </a:solidFill>
                          <a:latin typeface="Calibri"/>
                        </a:rPr>
                        <a:t>Table 68: Global Market Average Selling Price by Allergen Composition, US$/Patient Treatment Courses, 2021–2036</a:t>
                      </a:r>
                      <a:endParaRPr sz="1050"/>
                    </a:p>
                  </a:txBody>
                  <a:tcPr marL="9525" marR="9525" marT="9525" marB="0" anchor="ctr"/>
                </a:tc>
              </a:tr>
              <a:tr h="337657">
                <a:tc>
                  <a:txBody>
                    <a:bodyPr wrap="square"/>
                    <a:lstStyle/>
                    <a:p>
                      <a:pPr algn="l"/>
                      <a:r>
                        <a:rPr sz="1050" b="0" i="0">
                          <a:solidFill>
                            <a:srgbClr val="000000"/>
                          </a:solidFill>
                          <a:latin typeface="Calibri"/>
                        </a:rPr>
                        <a:t>Table 69: Global Market Average Selling Price by Sales / Procurement Channel, US$/Patient Treatment Courses, 2021–2036</a:t>
                      </a:r>
                      <a:endParaRPr sz="1050"/>
                    </a:p>
                  </a:txBody>
                  <a:tcPr marL="9525" marR="9525" marT="9525" marB="0" anchor="ctr"/>
                </a:tc>
              </a:tr>
              <a:tr h="337657">
                <a:tc>
                  <a:txBody>
                    <a:bodyPr wrap="square"/>
                    <a:lstStyle/>
                    <a:p>
                      <a:pPr algn="l"/>
                      <a:r>
                        <a:rPr sz="1050" b="0" i="0">
                          <a:solidFill>
                            <a:srgbClr val="000000"/>
                          </a:solidFill>
                          <a:latin typeface="Calibri"/>
                        </a:rPr>
                        <a:t>Table 70: Global Market Average Selling Price by Company × Allergen Class, US$/Patient Treatment Courses, 2021–2036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335896">
                <a:tc>
                  <a:txBody>
                    <a:bodyPr wrap="square"/>
                    <a:lstStyle/>
                    <a:p>
                      <a:pPr algn="l"/>
                      <a:r>
                        <a:rPr sz="1050" b="0" i="0">
                          <a:solidFill>
                            <a:srgbClr val="000000"/>
                          </a:solidFill>
                          <a:latin typeface="Calibri"/>
                        </a:rPr>
                        <a:t>Table 71: Global Market Average Selling Price by Company × Therapy Format, US$/Patient Treatment Courses, 2021–2036</a:t>
                      </a:r>
                      <a:endParaRPr sz="1050"/>
                    </a:p>
                  </a:txBody>
                  <a:tcPr marL="9525" marR="9525" marT="9525" marB="0" anchor="ctr"/>
                </a:tc>
              </a:tr>
              <a:tr h="335896">
                <a:tc>
                  <a:txBody>
                    <a:bodyPr wrap="square"/>
                    <a:lstStyle/>
                    <a:p>
                      <a:pPr algn="l"/>
                      <a:r>
                        <a:rPr sz="1050" b="0" i="0">
                          <a:solidFill>
                            <a:srgbClr val="000000"/>
                          </a:solidFill>
                          <a:latin typeface="Calibri"/>
                        </a:rPr>
                        <a:t>Table 72: Global Market Average Selling Price by Company × Allergen Preparation Technology, US$/Patient Treatment Courses, 2021–2036</a:t>
                      </a:r>
                      <a:endParaRPr sz="1050"/>
                    </a:p>
                  </a:txBody>
                  <a:tcPr marL="9525" marR="9525" marT="9525" marB="0" anchor="ctr"/>
                </a:tc>
              </a:tr>
              <a:tr h="171375">
                <a:tc>
                  <a:txBody>
                    <a:bodyPr wrap="square"/>
                    <a:lstStyle/>
                    <a:p>
                      <a:pPr algn="l"/>
                      <a:r>
                        <a:rPr sz="1050" b="0" i="0">
                          <a:solidFill>
                            <a:srgbClr val="000000"/>
                          </a:solidFill>
                          <a:latin typeface="Calibri"/>
                        </a:rPr>
                        <a:t>Table 73: Global Market Attractiveness Index by Therapy Format, 2026–2036</a:t>
                      </a:r>
                      <a:endParaRPr sz="1050"/>
                    </a:p>
                  </a:txBody>
                  <a:tcPr marL="9525" marR="9525" marT="9525" marB="0" anchor="ctr"/>
                </a:tc>
              </a:tr>
              <a:tr h="171375">
                <a:tc>
                  <a:txBody>
                    <a:bodyPr wrap="square"/>
                    <a:lstStyle/>
                    <a:p>
                      <a:pPr algn="l"/>
                      <a:r>
                        <a:rPr sz="1050" b="0" i="0">
                          <a:solidFill>
                            <a:srgbClr val="000000"/>
                          </a:solidFill>
                          <a:latin typeface="Calibri"/>
                        </a:rPr>
                        <a:t>Table 74: Global Market Attractiveness Index by Allergen Class, 2026–2036</a:t>
                      </a:r>
                      <a:endParaRPr sz="1050"/>
                    </a:p>
                  </a:txBody>
                  <a:tcPr marL="9525" marR="9525" marT="9525" marB="0" anchor="ctr"/>
                </a:tc>
              </a:tr>
              <a:tr h="171375">
                <a:tc>
                  <a:txBody>
                    <a:bodyPr wrap="square"/>
                    <a:lstStyle/>
                    <a:p>
                      <a:pPr algn="l"/>
                      <a:r>
                        <a:rPr sz="1050" b="0" i="0">
                          <a:solidFill>
                            <a:srgbClr val="000000"/>
                          </a:solidFill>
                          <a:latin typeface="Calibri"/>
                        </a:rPr>
                        <a:t>Table 75: Global Market Attractiveness Index by Commercial Product Model, 2026–2036</a:t>
                      </a:r>
                      <a:endParaRPr sz="1050"/>
                    </a:p>
                  </a:txBody>
                  <a:tcPr marL="9525" marR="9525" marT="9525" marB="0" anchor="ctr"/>
                </a:tc>
              </a:tr>
              <a:tr h="171375">
                <a:tc>
                  <a:txBody>
                    <a:bodyPr wrap="square"/>
                    <a:lstStyle/>
                    <a:p>
                      <a:pPr algn="l"/>
                      <a:r>
                        <a:rPr sz="1050" b="0" i="0">
                          <a:solidFill>
                            <a:srgbClr val="000000"/>
                          </a:solidFill>
                          <a:latin typeface="Calibri"/>
                        </a:rPr>
                        <a:t>Table 76: Global Market Attractiveness Index by Allergen Preparation Technology, 2026–2036</a:t>
                      </a:r>
                      <a:endParaRPr sz="1050"/>
                    </a:p>
                  </a:txBody>
                  <a:tcPr marL="9525" marR="9525" marT="9525" marB="0" anchor="ctr"/>
                </a:tc>
              </a:tr>
              <a:tr h="171375">
                <a:tc>
                  <a:txBody>
                    <a:bodyPr wrap="square"/>
                    <a:lstStyle/>
                    <a:p>
                      <a:pPr algn="l"/>
                      <a:r>
                        <a:rPr sz="1050" b="0" i="0">
                          <a:solidFill>
                            <a:srgbClr val="000000"/>
                          </a:solidFill>
                          <a:latin typeface="Calibri"/>
                        </a:rPr>
                        <a:t>Table 77: Global Market Attractiveness Index by Allergen Composition, 2026–2036</a:t>
                      </a:r>
                      <a:endParaRPr sz="1050"/>
                    </a:p>
                  </a:txBody>
                  <a:tcPr marL="9525" marR="9525" marT="9525" marB="0" anchor="ctr"/>
                </a:tc>
              </a:tr>
              <a:tr h="171375">
                <a:tc>
                  <a:txBody>
                    <a:bodyPr wrap="square"/>
                    <a:lstStyle/>
                    <a:p>
                      <a:pPr algn="l"/>
                      <a:r>
                        <a:rPr sz="1050" b="0" i="0">
                          <a:solidFill>
                            <a:srgbClr val="000000"/>
                          </a:solidFill>
                          <a:latin typeface="Calibri"/>
                        </a:rPr>
                        <a:t>Table 78: Global Market Attractiveness Index by Sales / Procurement Channel, 2026–2036</a:t>
                      </a:r>
                      <a:endParaRPr sz="1050"/>
                    </a:p>
                  </a:txBody>
                  <a:tcPr marL="9525" marR="9525" marT="9525" marB="0" anchor="ctr"/>
                </a:tc>
              </a:tr>
              <a:tr h="171375">
                <a:tc>
                  <a:txBody>
                    <a:bodyPr wrap="square"/>
                    <a:lstStyle/>
                    <a:p>
                      <a:pPr algn="l"/>
                      <a:r>
                        <a:rPr sz="1050" b="0" i="0">
                          <a:solidFill>
                            <a:srgbClr val="000000"/>
                          </a:solidFill>
                          <a:latin typeface="Calibri"/>
                        </a:rPr>
                        <a:t>Table 79: Global Market Attractiveness Index by Company × Allergen Class, 2026–2036</a:t>
                      </a:r>
                      <a:endParaRPr sz="1050"/>
                    </a:p>
                  </a:txBody>
                  <a:tcPr marL="9525" marR="9525" marT="9525" marB="0" anchor="ctr"/>
                </a:tc>
              </a:tr>
              <a:tr h="171375">
                <a:tc>
                  <a:txBody>
                    <a:bodyPr wrap="square"/>
                    <a:lstStyle/>
                    <a:p>
                      <a:pPr algn="l"/>
                      <a:r>
                        <a:rPr sz="1050" b="0" i="0">
                          <a:solidFill>
                            <a:srgbClr val="000000"/>
                          </a:solidFill>
                          <a:latin typeface="Calibri"/>
                        </a:rPr>
                        <a:t>Table 80: Global Market Attractiveness Index by Company × Therapy Format, 2026–2036</a:t>
                      </a:r>
                      <a:endParaRPr sz="1050"/>
                    </a:p>
                  </a:txBody>
                  <a:tcPr marL="9525" marR="9525" marT="9525" marB="0" anchor="ctr"/>
                </a:tc>
              </a:tr>
              <a:tr h="335896">
                <a:tc>
                  <a:txBody>
                    <a:bodyPr wrap="square"/>
                    <a:lstStyle/>
                    <a:p>
                      <a:pPr algn="l"/>
                      <a:r>
                        <a:rPr sz="1050" b="0" i="0">
                          <a:solidFill>
                            <a:srgbClr val="000000"/>
                          </a:solidFill>
                          <a:latin typeface="Calibri"/>
                        </a:rPr>
                        <a:t>Table 81: Global Market Attractiveness Index by Company × Allergen Preparation Technology, 2026–2036</a:t>
                      </a:r>
                      <a:endParaRPr sz="1050"/>
                    </a:p>
                  </a:txBody>
                  <a:tcPr marL="9525" marR="9525" marT="9525" marB="0" anchor="ctr"/>
                </a:tc>
              </a:tr>
              <a:tr h="171375">
                <a:tc>
                  <a:txBody>
                    <a:bodyPr wrap="square"/>
                    <a:lstStyle/>
                    <a:p>
                      <a:pPr algn="l"/>
                      <a:r>
                        <a:rPr sz="1050" b="0" i="0">
                          <a:solidFill>
                            <a:srgbClr val="000000"/>
                          </a:solidFill>
                          <a:latin typeface="Calibri"/>
                        </a:rPr>
                        <a:t>Table 82: Global Market Value of Subcutaneous Immunotherapy (SCIT) by Region, US$ Mn, 2021–2036</a:t>
                      </a:r>
                      <a:endParaRPr sz="1050"/>
                    </a:p>
                  </a:txBody>
                  <a:tcPr marL="9525" marR="9525" marT="9525" marB="0" anchor="ctr"/>
                </a:tc>
              </a:tr>
              <a:tr h="171375">
                <a:tc>
                  <a:txBody>
                    <a:bodyPr wrap="square"/>
                    <a:lstStyle/>
                    <a:p>
                      <a:pPr algn="l"/>
                      <a:r>
                        <a:rPr sz="1050" b="0" i="0">
                          <a:solidFill>
                            <a:srgbClr val="000000"/>
                          </a:solidFill>
                          <a:latin typeface="Calibri"/>
                        </a:rPr>
                        <a:t>Table 83: Global Market Value of Inhalant Allergens by Region, US$ Mn, 2021–2036</a:t>
                      </a:r>
                      <a:endParaRPr sz="1050"/>
                    </a:p>
                  </a:txBody>
                  <a:tcPr marL="9525" marR="9525" marT="9525" marB="0" anchor="ctr"/>
                </a:tc>
              </a:tr>
              <a:tr h="171375">
                <a:tc>
                  <a:txBody>
                    <a:bodyPr wrap="square"/>
                    <a:lstStyle/>
                    <a:p>
                      <a:pPr algn="l"/>
                      <a:r>
                        <a:rPr sz="1050" b="0" i="0">
                          <a:solidFill>
                            <a:srgbClr val="000000"/>
                          </a:solidFill>
                          <a:latin typeface="Calibri"/>
                        </a:rPr>
                        <a:t>Table 84: Global Market Value of Licensed Finished AIT Products by Region, US$ Mn, 2021–2036</a:t>
                      </a:r>
                      <a:endParaRPr sz="1050"/>
                    </a:p>
                  </a:txBody>
                  <a:tcPr marL="9525" marR="9525" marT="9525" marB="0" anchor="ctr"/>
                </a:tc>
              </a:tr>
              <a:tr h="171375">
                <a:tc>
                  <a:txBody>
                    <a:bodyPr wrap="square"/>
                    <a:lstStyle/>
                    <a:p>
                      <a:pPr algn="l"/>
                      <a:r>
                        <a:rPr sz="1050" b="0" i="0">
                          <a:solidFill>
                            <a:srgbClr val="000000"/>
                          </a:solidFill>
                          <a:latin typeface="Calibri"/>
                        </a:rPr>
                        <a:t>Table 85: Global Market Value of Native Allergen Extracts by Region, US$ Mn, 2021–2036</a:t>
                      </a:r>
                      <a:endParaRPr sz="1050"/>
                    </a:p>
                  </a:txBody>
                  <a:tcPr marL="9525" marR="9525" marT="9525" marB="0" anchor="ctr"/>
                </a:tc>
              </a:tr>
              <a:tr h="171375">
                <a:tc>
                  <a:txBody>
                    <a:bodyPr wrap="square"/>
                    <a:lstStyle/>
                    <a:p>
                      <a:pPr algn="l"/>
                      <a:r>
                        <a:rPr sz="1050" b="0" i="0">
                          <a:solidFill>
                            <a:srgbClr val="000000"/>
                          </a:solidFill>
                          <a:latin typeface="Calibri"/>
                        </a:rPr>
                        <a:t>Table 86: Global Market Value by Therapy Format and Allergen Class, US$ Mn, 2026–2036</a:t>
                      </a:r>
                      <a:endParaRPr sz="1050"/>
                    </a:p>
                  </a:txBody>
                  <a:tcPr marL="9525" marR="9525" marT="9525" marB="0" anchor="ctr"/>
                </a:tc>
              </a:tr>
              <a:tr h="335896">
                <a:tc>
                  <a:txBody>
                    <a:bodyPr wrap="square"/>
                    <a:lstStyle/>
                    <a:p>
                      <a:pPr algn="l"/>
                      <a:r>
                        <a:rPr sz="1050" b="0" i="0">
                          <a:solidFill>
                            <a:srgbClr val="000000"/>
                          </a:solidFill>
                          <a:latin typeface="Calibri"/>
                        </a:rPr>
                        <a:t>Table 87: Global Market Value by Therapy Format and Commercial Product Model, US$ Mn, 2026–2036</a:t>
                      </a:r>
                      <a:endParaRPr sz="1050"/>
                    </a:p>
                  </a:txBody>
                  <a:tcPr marL="9525" marR="9525" marT="9525" marB="0" anchor="ctr"/>
                </a:tc>
              </a:tr>
              <a:tr h="335896">
                <a:tc>
                  <a:txBody>
                    <a:bodyPr wrap="square"/>
                    <a:lstStyle/>
                    <a:p>
                      <a:pPr algn="l"/>
                      <a:r>
                        <a:rPr sz="1050" b="0" i="0">
                          <a:solidFill>
                            <a:srgbClr val="000000"/>
                          </a:solidFill>
                          <a:latin typeface="Calibri"/>
                        </a:rPr>
                        <a:t>Table 88: Global Market Value by Therapy Format and Allergen Preparation Technology, US$ Mn, 2026–2036</a:t>
                      </a:r>
                      <a:endParaRPr sz="1050"/>
                    </a:p>
                  </a:txBody>
                  <a:tcPr marL="9525" marR="9525" marT="9525" marB="0" anchor="ctr"/>
                </a:tc>
              </a:tr>
              <a:tr h="171375">
                <a:tc>
                  <a:txBody>
                    <a:bodyPr wrap="square"/>
                    <a:lstStyle/>
                    <a:p>
                      <a:pPr algn="l"/>
                      <a:r>
                        <a:rPr sz="1050" b="0" i="0">
                          <a:solidFill>
                            <a:srgbClr val="000000"/>
                          </a:solidFill>
                          <a:latin typeface="Calibri"/>
                        </a:rPr>
                        <a:t>Table 89: Global Market Value by Therapy Format and Allergen Composition, US$ Mn, 2026–2036</a:t>
                      </a:r>
                      <a:endParaRPr sz="1050"/>
                    </a:p>
                  </a:txBody>
                  <a:tcPr marL="9525" marR="9525" marT="9525" marB="0" anchor="ctr"/>
                </a:tc>
              </a:tr>
              <a:tr h="335896">
                <a:tc>
                  <a:txBody>
                    <a:bodyPr wrap="square"/>
                    <a:lstStyle/>
                    <a:p>
                      <a:pPr algn="l"/>
                      <a:r>
                        <a:rPr sz="1050" b="0" i="0">
                          <a:solidFill>
                            <a:srgbClr val="000000"/>
                          </a:solidFill>
                          <a:latin typeface="Calibri"/>
                        </a:rPr>
                        <a:t>Table 90: Global Market Value by Therapy Format and Sales / Procurement Channel, US$ Mn, 2026–2036</a:t>
                      </a:r>
                      <a:endParaRPr sz="1050"/>
                    </a:p>
                  </a:txBody>
                  <a:tcPr marL="9525" marR="9525" marT="9525" marB="0" anchor="ctr"/>
                </a:tc>
              </a:tr>
              <a:tr h="171375">
                <a:tc>
                  <a:txBody>
                    <a:bodyPr wrap="square"/>
                    <a:lstStyle/>
                    <a:p>
                      <a:pPr algn="l"/>
                      <a:r>
                        <a:rPr sz="1050" b="0" i="0">
                          <a:solidFill>
                            <a:srgbClr val="000000"/>
                          </a:solidFill>
                          <a:latin typeface="Calibri"/>
                        </a:rPr>
                        <a:t>Table 91: Global Market Value by Therapy Format and Company × Allergen Class, US$ Mn, 2026–2036</a:t>
                      </a:r>
                      <a:endParaRPr sz="1050"/>
                    </a:p>
                  </a:txBody>
                  <a:tcPr marL="9525" marR="9525" marT="9525" marB="0" anchor="ctr"/>
                </a:tc>
              </a:tr>
              <a:tr h="335896">
                <a:tc>
                  <a:txBody>
                    <a:bodyPr wrap="square"/>
                    <a:lstStyle/>
                    <a:p>
                      <a:pPr algn="l"/>
                      <a:r>
                        <a:rPr sz="1050" b="0" i="0">
                          <a:solidFill>
                            <a:srgbClr val="000000"/>
                          </a:solidFill>
                          <a:latin typeface="Calibri"/>
                        </a:rPr>
                        <a:t>Table 92: Global Market Value by Therapy Format and Company × Therapy Format, US$ Mn, 2026–2036</a:t>
                      </a:r>
                      <a:endParaRPr sz="1050"/>
                    </a:p>
                  </a:txBody>
                  <a:tcPr marL="9525" marR="9525" marT="9525" marB="0" anchor="ctr"/>
                </a:tc>
              </a:tr>
              <a:tr h="335896">
                <a:tc>
                  <a:txBody>
                    <a:bodyPr wrap="square"/>
                    <a:lstStyle/>
                    <a:p>
                      <a:pPr algn="l"/>
                      <a:r>
                        <a:rPr sz="1050" b="0" i="0">
                          <a:solidFill>
                            <a:srgbClr val="000000"/>
                          </a:solidFill>
                          <a:latin typeface="Calibri"/>
                        </a:rPr>
                        <a:t>Table 93: Global Market Value by Therapy Format and Company × Allergen Preparation Technology, US$ Mn,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(3/5)</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67020">
                <a:tc>
                  <a:txBody>
                    <a:bodyPr wrap="square"/>
                    <a:lstStyle/>
                    <a:p>
                      <a:pPr algn="l"/>
                      <a:r>
                        <a:rPr sz="1050" b="0" i="0">
                          <a:solidFill>
                            <a:srgbClr val="000000"/>
                          </a:solidFill>
                          <a:latin typeface="Calibri"/>
                        </a:rPr>
                        <a:t>Table 94: Global Market Value by Allergen Class and Commercial Product Model, US$ Mn, 2026–2036</a:t>
                      </a:r>
                      <a:endParaRPr sz="1050"/>
                    </a:p>
                  </a:txBody>
                  <a:tcPr marL="9525" marR="9525" marT="9525" marB="0" anchor="ctr"/>
                </a:tc>
              </a:tr>
              <a:tr h="327360">
                <a:tc>
                  <a:txBody>
                    <a:bodyPr wrap="square"/>
                    <a:lstStyle/>
                    <a:p>
                      <a:pPr algn="l"/>
                      <a:r>
                        <a:rPr sz="1050" b="0" i="0">
                          <a:solidFill>
                            <a:srgbClr val="000000"/>
                          </a:solidFill>
                          <a:latin typeface="Calibri"/>
                        </a:rPr>
                        <a:t>Table 95: Global Market Value by Allergen Class and Allergen Preparation Technology, US$ Mn, 2026–2036</a:t>
                      </a:r>
                      <a:endParaRPr sz="1050"/>
                    </a:p>
                  </a:txBody>
                  <a:tcPr marL="9525" marR="9525" marT="9525" marB="0" anchor="ctr"/>
                </a:tc>
              </a:tr>
              <a:tr h="167020">
                <a:tc>
                  <a:txBody>
                    <a:bodyPr wrap="square"/>
                    <a:lstStyle/>
                    <a:p>
                      <a:pPr algn="l"/>
                      <a:r>
                        <a:rPr sz="1050" b="0" i="0">
                          <a:solidFill>
                            <a:srgbClr val="000000"/>
                          </a:solidFill>
                          <a:latin typeface="Calibri"/>
                        </a:rPr>
                        <a:t>Table 96: Global Market Value by Allergen Class and Allergen Composition, US$ Mn, 2026–2036</a:t>
                      </a:r>
                      <a:endParaRPr sz="1050"/>
                    </a:p>
                  </a:txBody>
                  <a:tcPr marL="9525" marR="9525" marT="9525" marB="0" anchor="ctr"/>
                </a:tc>
              </a:tr>
              <a:tr h="167020">
                <a:tc>
                  <a:txBody>
                    <a:bodyPr wrap="square"/>
                    <a:lstStyle/>
                    <a:p>
                      <a:pPr algn="l"/>
                      <a:r>
                        <a:rPr sz="1050" b="0" i="0">
                          <a:solidFill>
                            <a:srgbClr val="000000"/>
                          </a:solidFill>
                          <a:latin typeface="Calibri"/>
                        </a:rPr>
                        <a:t>Table 97: Global Market Value by Allergen Class and Sales / Procurement Channel, US$ Mn, 2026–2036</a:t>
                      </a:r>
                      <a:endParaRPr sz="1050"/>
                    </a:p>
                  </a:txBody>
                  <a:tcPr marL="9525" marR="9525" marT="9525" marB="0" anchor="ctr"/>
                </a:tc>
              </a:tr>
              <a:tr h="167020">
                <a:tc>
                  <a:txBody>
                    <a:bodyPr wrap="square"/>
                    <a:lstStyle/>
                    <a:p>
                      <a:pPr algn="l"/>
                      <a:r>
                        <a:rPr sz="1050" b="0" i="0">
                          <a:solidFill>
                            <a:srgbClr val="000000"/>
                          </a:solidFill>
                          <a:latin typeface="Calibri"/>
                        </a:rPr>
                        <a:t>Table 98: Global Market Value by Allergen Class and Company × Allergen Class, US$ Mn, 2026–2036</a:t>
                      </a:r>
                      <a:endParaRPr sz="1050"/>
                    </a:p>
                  </a:txBody>
                  <a:tcPr marL="9525" marR="9525" marT="9525" marB="0" anchor="ctr"/>
                </a:tc>
              </a:tr>
              <a:tr h="167020">
                <a:tc>
                  <a:txBody>
                    <a:bodyPr wrap="square"/>
                    <a:lstStyle/>
                    <a:p>
                      <a:pPr algn="l"/>
                      <a:r>
                        <a:rPr sz="1050" b="0" i="0">
                          <a:solidFill>
                            <a:srgbClr val="000000"/>
                          </a:solidFill>
                          <a:latin typeface="Calibri"/>
                        </a:rPr>
                        <a:t>Table 99: Global Market Value by Allergen Class and Company × Therapy Format, US$ Mn, 2026–2036</a:t>
                      </a:r>
                      <a:endParaRPr sz="1050"/>
                    </a:p>
                  </a:txBody>
                  <a:tcPr marL="9525" marR="9525" marT="9525" marB="0" anchor="ctr"/>
                </a:tc>
              </a:tr>
              <a:tr h="327360">
                <a:tc>
                  <a:txBody>
                    <a:bodyPr wrap="square"/>
                    <a:lstStyle/>
                    <a:p>
                      <a:pPr algn="l"/>
                      <a:r>
                        <a:rPr sz="1050" b="0" i="0">
                          <a:solidFill>
                            <a:srgbClr val="000000"/>
                          </a:solidFill>
                          <a:latin typeface="Calibri"/>
                        </a:rPr>
                        <a:t>Table 100: Global Market Value by Allergen Class and Company × Allergen Preparation Technology, US$ Mn, 2026–2036</a:t>
                      </a:r>
                      <a:endParaRPr sz="1050"/>
                    </a:p>
                  </a:txBody>
                  <a:tcPr marL="9525" marR="9525" marT="9525" marB="0" anchor="ctr"/>
                </a:tc>
              </a:tr>
              <a:tr h="327360">
                <a:tc>
                  <a:txBody>
                    <a:bodyPr wrap="square"/>
                    <a:lstStyle/>
                    <a:p>
                      <a:pPr algn="l"/>
                      <a:r>
                        <a:rPr sz="1050" b="0" i="0">
                          <a:solidFill>
                            <a:srgbClr val="000000"/>
                          </a:solidFill>
                          <a:latin typeface="Calibri"/>
                        </a:rPr>
                        <a:t>Table 101: Global Market Value by Commercial Product Model and Allergen Preparation Technology, US$ Mn, 2026–2036</a:t>
                      </a:r>
                      <a:endParaRPr sz="1050"/>
                    </a:p>
                  </a:txBody>
                  <a:tcPr marL="9525" marR="9525" marT="9525" marB="0" anchor="ctr"/>
                </a:tc>
              </a:tr>
              <a:tr h="327360">
                <a:tc>
                  <a:txBody>
                    <a:bodyPr wrap="square"/>
                    <a:lstStyle/>
                    <a:p>
                      <a:pPr algn="l"/>
                      <a:r>
                        <a:rPr sz="1050" b="0" i="0">
                          <a:solidFill>
                            <a:srgbClr val="000000"/>
                          </a:solidFill>
                          <a:latin typeface="Calibri"/>
                        </a:rPr>
                        <a:t>Table 102: Global Market Value by Commercial Product Model and Allergen Composition, US$ Mn, 2026–2036</a:t>
                      </a:r>
                      <a:endParaRPr sz="1050"/>
                    </a:p>
                  </a:txBody>
                  <a:tcPr marL="9525" marR="9525" marT="9525" marB="0" anchor="ctr"/>
                </a:tc>
              </a:tr>
              <a:tr h="327360">
                <a:tc>
                  <a:txBody>
                    <a:bodyPr wrap="square"/>
                    <a:lstStyle/>
                    <a:p>
                      <a:pPr algn="l"/>
                      <a:r>
                        <a:rPr sz="1050" b="0" i="0">
                          <a:solidFill>
                            <a:srgbClr val="000000"/>
                          </a:solidFill>
                          <a:latin typeface="Calibri"/>
                        </a:rPr>
                        <a:t>Table 103: Global Market Value by Commercial Product Model and Sales / Procurement Channel, US$ Mn, 2026–2036</a:t>
                      </a:r>
                      <a:endParaRPr sz="1050"/>
                    </a:p>
                  </a:txBody>
                  <a:tcPr marL="9525" marR="9525" marT="9525" marB="0" anchor="ctr"/>
                </a:tc>
              </a:tr>
              <a:tr h="327360">
                <a:tc>
                  <a:txBody>
                    <a:bodyPr wrap="square"/>
                    <a:lstStyle/>
                    <a:p>
                      <a:pPr algn="l"/>
                      <a:r>
                        <a:rPr sz="1050" b="0" i="0">
                          <a:solidFill>
                            <a:srgbClr val="000000"/>
                          </a:solidFill>
                          <a:latin typeface="Calibri"/>
                        </a:rPr>
                        <a:t>Table 104: Global Market Value by Commercial Product Model and Company × Allergen Class, US$ Mn, 2026–2036</a:t>
                      </a:r>
                      <a:endParaRPr sz="1050"/>
                    </a:p>
                  </a:txBody>
                  <a:tcPr marL="9525" marR="9525" marT="9525" marB="0" anchor="ctr"/>
                </a:tc>
              </a:tr>
              <a:tr h="327360">
                <a:tc>
                  <a:txBody>
                    <a:bodyPr wrap="square"/>
                    <a:lstStyle/>
                    <a:p>
                      <a:pPr algn="l"/>
                      <a:r>
                        <a:rPr sz="1050" b="0" i="0">
                          <a:solidFill>
                            <a:srgbClr val="000000"/>
                          </a:solidFill>
                          <a:latin typeface="Calibri"/>
                        </a:rPr>
                        <a:t>Table 105: Global Market Value by Commercial Product Model and Company × Therapy Format, US$ Mn, 2026–2036</a:t>
                      </a:r>
                      <a:endParaRPr sz="1050"/>
                    </a:p>
                  </a:txBody>
                  <a:tcPr marL="9525" marR="9525" marT="9525" marB="0" anchor="ctr"/>
                </a:tc>
              </a:tr>
              <a:tr h="327360">
                <a:tc>
                  <a:txBody>
                    <a:bodyPr wrap="square"/>
                    <a:lstStyle/>
                    <a:p>
                      <a:pPr algn="l"/>
                      <a:r>
                        <a:rPr sz="1050" b="0" i="0">
                          <a:solidFill>
                            <a:srgbClr val="000000"/>
                          </a:solidFill>
                          <a:latin typeface="Calibri"/>
                        </a:rPr>
                        <a:t>Table 106: Global Market Value by Commercial Product Model and Company × Allergen Preparation Technology, US$ Mn, 2026–2036</a:t>
                      </a:r>
                      <a:endParaRPr sz="1050"/>
                    </a:p>
                  </a:txBody>
                  <a:tcPr marL="9525" marR="9525" marT="9525" marB="0" anchor="ctr"/>
                </a:tc>
              </a:tr>
              <a:tr h="327360">
                <a:tc>
                  <a:txBody>
                    <a:bodyPr wrap="square"/>
                    <a:lstStyle/>
                    <a:p>
                      <a:pPr algn="l"/>
                      <a:r>
                        <a:rPr sz="1050" b="0" i="0">
                          <a:solidFill>
                            <a:srgbClr val="000000"/>
                          </a:solidFill>
                          <a:latin typeface="Calibri"/>
                        </a:rPr>
                        <a:t>Table 107: Global Market Value by Allergen Preparation Technology and Allergen Composition, US$ Mn, 2026–2036</a:t>
                      </a:r>
                      <a:endParaRPr sz="1050"/>
                    </a:p>
                  </a:txBody>
                  <a:tcPr marL="9525" marR="9525" marT="9525" marB="0" anchor="ctr"/>
                </a:tc>
              </a:tr>
              <a:tr h="327360">
                <a:tc>
                  <a:txBody>
                    <a:bodyPr wrap="square"/>
                    <a:lstStyle/>
                    <a:p>
                      <a:pPr algn="l"/>
                      <a:r>
                        <a:rPr sz="1050" b="0" i="0">
                          <a:solidFill>
                            <a:srgbClr val="000000"/>
                          </a:solidFill>
                          <a:latin typeface="Calibri"/>
                        </a:rPr>
                        <a:t>Table 108: Global Market Value by Allergen Preparation Technology and Sales / Procurement Channel, US$ Mn, 2026–2036</a:t>
                      </a:r>
                      <a:endParaRPr sz="1050"/>
                    </a:p>
                  </a:txBody>
                  <a:tcPr marL="9525" marR="9525" marT="9525" marB="0" anchor="ctr"/>
                </a:tc>
              </a:tr>
              <a:tr h="327360">
                <a:tc>
                  <a:txBody>
                    <a:bodyPr wrap="square"/>
                    <a:lstStyle/>
                    <a:p>
                      <a:pPr algn="l"/>
                      <a:r>
                        <a:rPr sz="1050" b="0" i="0">
                          <a:solidFill>
                            <a:srgbClr val="000000"/>
                          </a:solidFill>
                          <a:latin typeface="Calibri"/>
                        </a:rPr>
                        <a:t>Table 109: Global Market Value by Allergen Preparation Technology and Company × Allergen Class, US$ Mn, 2026–2036</a:t>
                      </a:r>
                      <a:endParaRPr sz="1050"/>
                    </a:p>
                  </a:txBody>
                  <a:tcPr marL="9525" marR="9525" marT="9525" marB="0" anchor="ctr"/>
                </a:tc>
              </a:tr>
              <a:tr h="327360">
                <a:tc>
                  <a:txBody>
                    <a:bodyPr wrap="square"/>
                    <a:lstStyle/>
                    <a:p>
                      <a:pPr algn="l"/>
                      <a:r>
                        <a:rPr sz="1050" b="0" i="0">
                          <a:solidFill>
                            <a:srgbClr val="000000"/>
                          </a:solidFill>
                          <a:latin typeface="Calibri"/>
                        </a:rPr>
                        <a:t>Table 110: Global Market Value by Allergen Preparation Technology and Company × Therapy Format, US$ Mn, 2026–2036</a:t>
                      </a:r>
                      <a:endParaRPr sz="1050"/>
                    </a:p>
                  </a:txBody>
                  <a:tcPr marL="9525" marR="9525" marT="9525" marB="0" anchor="ctr"/>
                </a:tc>
              </a:tr>
              <a:tr h="327360">
                <a:tc>
                  <a:txBody>
                    <a:bodyPr wrap="square"/>
                    <a:lstStyle/>
                    <a:p>
                      <a:pPr algn="l"/>
                      <a:r>
                        <a:rPr sz="1050" b="0" i="0">
                          <a:solidFill>
                            <a:srgbClr val="000000"/>
                          </a:solidFill>
                          <a:latin typeface="Calibri"/>
                        </a:rPr>
                        <a:t>Table 111: Global Market Value by Allergen Preparation Technology and Company × Allergen Preparation Technology, US$ Mn, 2026–2036</a:t>
                      </a:r>
                      <a:endParaRPr sz="1050"/>
                    </a:p>
                  </a:txBody>
                  <a:tcPr marL="9525" marR="9525" marT="9525" marB="0" anchor="ctr"/>
                </a:tc>
              </a:tr>
              <a:tr h="167020">
                <a:tc>
                  <a:txBody>
                    <a:bodyPr wrap="square"/>
                    <a:lstStyle/>
                    <a:p>
                      <a:pPr algn="l"/>
                      <a:r>
                        <a:rPr sz="1050" b="0" i="0">
                          <a:solidFill>
                            <a:srgbClr val="000000"/>
                          </a:solidFill>
                          <a:latin typeface="Calibri"/>
                        </a:rPr>
                        <a:t>Table 112: Global Market Value by Region, US$ Mn, 2021–2036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Table 113: Global Market CAGR and Absolute $ Opportunity by Region, %, US$ Mn, 2026–2036</a:t>
                      </a:r>
                      <a:endParaRPr sz="1050"/>
                    </a:p>
                  </a:txBody>
                  <a:tcPr marL="9525" marR="9525" marT="9525" marB="0" anchor="ctr"/>
                </a:tc>
              </a:tr>
              <a:tr h="170266">
                <a:tc>
                  <a:txBody>
                    <a:bodyPr wrap="square"/>
                    <a:lstStyle/>
                    <a:p>
                      <a:pPr algn="l"/>
                      <a:r>
                        <a:rPr sz="1050" b="0" i="0">
                          <a:solidFill>
                            <a:srgbClr val="000000"/>
                          </a:solidFill>
                          <a:latin typeface="Calibri"/>
                        </a:rPr>
                        <a:t>Table 114: Global Market Share and BPS Change by Region, %, 2026 and 2036</a:t>
                      </a:r>
                      <a:endParaRPr sz="1050"/>
                    </a:p>
                  </a:txBody>
                  <a:tcPr marL="9525" marR="9525" marT="9525" marB="0" anchor="ctr"/>
                </a:tc>
              </a:tr>
              <a:tr h="170266">
                <a:tc>
                  <a:txBody>
                    <a:bodyPr wrap="square"/>
                    <a:lstStyle/>
                    <a:p>
                      <a:pPr algn="l"/>
                      <a:r>
                        <a:rPr sz="1050" b="0" i="0">
                          <a:solidFill>
                            <a:srgbClr val="000000"/>
                          </a:solidFill>
                          <a:latin typeface="Calibri"/>
                        </a:rPr>
                        <a:t>Table 115: Global Market Volume by Region, Patient Treatment Courses, 2021–2036</a:t>
                      </a:r>
                      <a:endParaRPr sz="1050"/>
                    </a:p>
                  </a:txBody>
                  <a:tcPr marL="9525" marR="9525" marT="9525" marB="0" anchor="ctr"/>
                </a:tc>
              </a:tr>
              <a:tr h="170266">
                <a:tc>
                  <a:txBody>
                    <a:bodyPr wrap="square"/>
                    <a:lstStyle/>
                    <a:p>
                      <a:pPr algn="l"/>
                      <a:r>
                        <a:rPr sz="1050" b="0" i="0">
                          <a:solidFill>
                            <a:srgbClr val="000000"/>
                          </a:solidFill>
                          <a:latin typeface="Calibri"/>
                        </a:rPr>
                        <a:t>Table 116: North America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117: Latin America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118: Europe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119: East Asia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120: South Asia &amp; Pacific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121: Middle East &amp; Africa Market Value by Country, US$ Mn, 2021–2036</a:t>
                      </a:r>
                      <a:endParaRPr sz="1050"/>
                    </a:p>
                  </a:txBody>
                  <a:tcPr marL="9525" marR="9525" marT="9525" marB="0" anchor="ctr"/>
                </a:tc>
              </a:tr>
              <a:tr h="333720">
                <a:tc>
                  <a:txBody>
                    <a:bodyPr wrap="square"/>
                    <a:lstStyle/>
                    <a:p>
                      <a:pPr algn="l"/>
                      <a:r>
                        <a:rPr sz="1050" b="0" i="0">
                          <a:solidFill>
                            <a:srgbClr val="000000"/>
                          </a:solidFill>
                          <a:latin typeface="Calibri"/>
                        </a:rPr>
                        <a:t>Table 122: North America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123: Latin America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124: Europe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125: East Asia Market CAGR and Absolute $ Opportunity by Country, %, US$ Mn, 2026–2036</a:t>
                      </a:r>
                      <a:endParaRPr sz="1050"/>
                    </a:p>
                  </a:txBody>
                  <a:tcPr marL="9525" marR="9525" marT="9525" marB="0" anchor="ctr"/>
                </a:tc>
              </a:tr>
              <a:tr h="333720">
                <a:tc>
                  <a:txBody>
                    <a:bodyPr wrap="square"/>
                    <a:lstStyle/>
                    <a:p>
                      <a:pPr algn="l"/>
                      <a:r>
                        <a:rPr sz="1050" b="0" i="0">
                          <a:solidFill>
                            <a:srgbClr val="000000"/>
                          </a:solidFill>
                          <a:latin typeface="Calibri"/>
                        </a:rPr>
                        <a:t>Table 126: South Asia &amp; Pacific Market CAGR and Absolute $ Opportunity by Country, %, US$ Mn, 2026–2036</a:t>
                      </a:r>
                      <a:endParaRPr sz="1050"/>
                    </a:p>
                  </a:txBody>
                  <a:tcPr marL="9525" marR="9525" marT="9525" marB="0" anchor="ctr"/>
                </a:tc>
              </a:tr>
              <a:tr h="333720">
                <a:tc>
                  <a:txBody>
                    <a:bodyPr wrap="square"/>
                    <a:lstStyle/>
                    <a:p>
                      <a:pPr algn="l"/>
                      <a:r>
                        <a:rPr sz="1050" b="0" i="0">
                          <a:solidFill>
                            <a:srgbClr val="000000"/>
                          </a:solidFill>
                          <a:latin typeface="Calibri"/>
                        </a:rPr>
                        <a:t>Table 127: Middle East &amp; Africa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128: North America Market Value by Therapy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129: Latin America Market Value by Therapy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130: Europe Market Value by Therapy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131: East Asia Market Value by Therapy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132: South Asia &amp; Pacific Market Value by Therapy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133: Middle East &amp; Africa Market Value by Therapy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134: North America Market Value by Allergen Class, US$ Mn, 2021–2036</a:t>
                      </a:r>
                      <a:endParaRPr sz="1050"/>
                    </a:p>
                  </a:txBody>
                  <a:tcPr marL="9525" marR="9525" marT="9525" marB="0" anchor="ctr"/>
                </a:tc>
              </a:tr>
              <a:tr h="170266">
                <a:tc>
                  <a:txBody>
                    <a:bodyPr wrap="square"/>
                    <a:lstStyle/>
                    <a:p>
                      <a:pPr algn="l"/>
                      <a:r>
                        <a:rPr sz="1050" b="0" i="0">
                          <a:solidFill>
                            <a:srgbClr val="000000"/>
                          </a:solidFill>
                          <a:latin typeface="Calibri"/>
                        </a:rPr>
                        <a:t>Table 135: U.S. Market Value by Therapy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136: U.S. Market Historical and Forecast Growth, %, 2021–2036</a:t>
                      </a:r>
                      <a:endParaRPr sz="1050"/>
                    </a:p>
                  </a:txBody>
                  <a:tcPr marL="9525" marR="9525" marT="9525" marB="0" anchor="ctr"/>
                </a:tc>
              </a:tr>
              <a:tr h="170266">
                <a:tc>
                  <a:txBody>
                    <a:bodyPr wrap="square"/>
                    <a:lstStyle/>
                    <a:p>
                      <a:pPr algn="l"/>
                      <a:r>
                        <a:rPr sz="1050" b="0" i="0">
                          <a:solidFill>
                            <a:srgbClr val="000000"/>
                          </a:solidFill>
                          <a:latin typeface="Calibri"/>
                        </a:rPr>
                        <a:t>Table 137: U.S. Market Value by Sales / Procurement Channel, US$ Mn, 2021–2036</a:t>
                      </a:r>
                      <a:endParaRPr sz="1050"/>
                    </a:p>
                  </a:txBody>
                  <a:tcPr marL="9525" marR="9525" marT="9525" marB="0" anchor="ctr"/>
                </a:tc>
              </a:tr>
              <a:tr h="170266">
                <a:tc>
                  <a:txBody>
                    <a:bodyPr wrap="square"/>
                    <a:lstStyle/>
                    <a:p>
                      <a:pPr algn="l"/>
                      <a:r>
                        <a:rPr sz="1050" b="0" i="0">
                          <a:solidFill>
                            <a:srgbClr val="000000"/>
                          </a:solidFill>
                          <a:latin typeface="Calibri"/>
                        </a:rPr>
                        <a:t>Table 138: U.S. Market Share within North America, %, 2025, 2026 and 2036</a:t>
                      </a:r>
                      <a:endParaRPr sz="1050"/>
                    </a:p>
                  </a:txBody>
                  <a:tcPr marL="9525" marR="9525" marT="9525" marB="0" anchor="ctr"/>
                </a:tc>
              </a:tr>
              <a:tr h="170266">
                <a:tc>
                  <a:txBody>
                    <a:bodyPr wrap="square"/>
                    <a:lstStyle/>
                    <a:p>
                      <a:pPr algn="l"/>
                      <a:r>
                        <a:rPr sz="1050" b="0" i="0">
                          <a:solidFill>
                            <a:srgbClr val="000000"/>
                          </a:solidFill>
                          <a:latin typeface="Calibri"/>
                        </a:rPr>
                        <a:t>Table 139: U.S. Market Value by Allergen Class, US$ Mn, 2021–2036</a:t>
                      </a:r>
                      <a:endParaRPr sz="1050"/>
                    </a:p>
                  </a:txBody>
                  <a:tcPr marL="9525" marR="9525" marT="9525" marB="0" anchor="ctr"/>
                </a:tc>
              </a:tr>
              <a:tr h="170266">
                <a:tc>
                  <a:txBody>
                    <a:bodyPr wrap="square"/>
                    <a:lstStyle/>
                    <a:p>
                      <a:pPr algn="l"/>
                      <a:r>
                        <a:rPr sz="1050" b="0" i="0">
                          <a:solidFill>
                            <a:srgbClr val="000000"/>
                          </a:solidFill>
                          <a:latin typeface="Calibri"/>
                        </a:rPr>
                        <a:t>Table 140: U.S. Market Value by Commercial Product Model, US$ Mn,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(4/5)</a:t>
            </a:r>
          </a:p>
        </p:txBody>
      </p:sp>
      <p:graphicFrame>
        <p:nvGraphicFramePr>
          <p:cNvPr id="9" name="FMI Contents Table"/>
          <p:cNvGraphicFramePr>
            <a:graphicFrameLocks noGrp="1"/>
          </p:cNvGraphicFramePr>
          <p:nvPr/>
        </p:nvGraphicFramePr>
        <p:xfrm>
          <a:off x="142875" y="981075"/>
          <a:ext cx="5876925" cy="5257810"/>
        </p:xfrm>
        <a:graphic>
          <a:graphicData uri="http://schemas.openxmlformats.org/drawingml/2006/table">
            <a:tbl>
              <a:tblPr>
                <a:tableStyleId>{3B4B98B0-60AC-42C2-AFA5-B58CD77FA1E5}</a:tableStyleId>
              </a:tblPr>
              <a:tblGrid>
                <a:gridCol w="5876925"/>
              </a:tblGrid>
              <a:tr h="175729">
                <a:tc>
                  <a:txBody>
                    <a:bodyPr wrap="square"/>
                    <a:lstStyle/>
                    <a:p>
                      <a:pPr algn="l"/>
                      <a:r>
                        <a:rPr sz="1050" b="0" i="0">
                          <a:solidFill>
                            <a:srgbClr val="000000"/>
                          </a:solidFill>
                          <a:latin typeface="Calibri"/>
                        </a:rPr>
                        <a:t>Table 141: U.S. Market Value by Allergen Preparation Technology, US$ Mn, 2021–2036</a:t>
                      </a:r>
                      <a:endParaRPr sz="1050"/>
                    </a:p>
                  </a:txBody>
                  <a:tcPr marL="9525" marR="9525" marT="9525" marB="0" anchor="ctr"/>
                </a:tc>
              </a:tr>
              <a:tr h="175729">
                <a:tc>
                  <a:txBody>
                    <a:bodyPr wrap="square"/>
                    <a:lstStyle/>
                    <a:p>
                      <a:pPr algn="l"/>
                      <a:r>
                        <a:rPr sz="1050" b="0" i="0">
                          <a:solidFill>
                            <a:srgbClr val="000000"/>
                          </a:solidFill>
                          <a:latin typeface="Calibri"/>
                        </a:rPr>
                        <a:t>Table 142: U.S. Market Value by Allergen Composition, US$ Mn, 2021–2036</a:t>
                      </a:r>
                      <a:endParaRPr sz="1050"/>
                    </a:p>
                  </a:txBody>
                  <a:tcPr marL="9525" marR="9525" marT="9525" marB="0" anchor="ctr"/>
                </a:tc>
              </a:tr>
              <a:tr h="175729">
                <a:tc>
                  <a:txBody>
                    <a:bodyPr wrap="square"/>
                    <a:lstStyle/>
                    <a:p>
                      <a:pPr algn="l"/>
                      <a:r>
                        <a:rPr sz="1050" b="0" i="0">
                          <a:solidFill>
                            <a:srgbClr val="000000"/>
                          </a:solidFill>
                          <a:latin typeface="Calibri"/>
                        </a:rPr>
                        <a:t>Table 143: Germany Market Value by Therapy Format, US$ Mn, 2021–2036</a:t>
                      </a:r>
                      <a:endParaRPr sz="1050"/>
                    </a:p>
                  </a:txBody>
                  <a:tcPr marL="9525" marR="9525" marT="9525" marB="0" anchor="ctr"/>
                </a:tc>
              </a:tr>
              <a:tr h="175729">
                <a:tc>
                  <a:txBody>
                    <a:bodyPr wrap="square"/>
                    <a:lstStyle/>
                    <a:p>
                      <a:pPr algn="l"/>
                      <a:r>
                        <a:rPr sz="1050" b="0" i="0">
                          <a:solidFill>
                            <a:srgbClr val="000000"/>
                          </a:solidFill>
                          <a:latin typeface="Calibri"/>
                        </a:rPr>
                        <a:t>Table 144: Germany Market Historical and Forecast Growth, %, 2021–2036</a:t>
                      </a:r>
                      <a:endParaRPr sz="1050"/>
                    </a:p>
                  </a:txBody>
                  <a:tcPr marL="9525" marR="9525" marT="9525" marB="0" anchor="ctr"/>
                </a:tc>
              </a:tr>
              <a:tr h="175729">
                <a:tc>
                  <a:txBody>
                    <a:bodyPr wrap="square"/>
                    <a:lstStyle/>
                    <a:p>
                      <a:pPr algn="l"/>
                      <a:r>
                        <a:rPr sz="1050" b="0" i="0">
                          <a:solidFill>
                            <a:srgbClr val="000000"/>
                          </a:solidFill>
                          <a:latin typeface="Calibri"/>
                        </a:rPr>
                        <a:t>Table 145: Germany Market Value by Sales / Procurement Channel, US$ Mn, 2021–2036</a:t>
                      </a:r>
                      <a:endParaRPr sz="1050"/>
                    </a:p>
                  </a:txBody>
                  <a:tcPr marL="9525" marR="9525" marT="9525" marB="0" anchor="ctr"/>
                </a:tc>
              </a:tr>
              <a:tr h="175729">
                <a:tc>
                  <a:txBody>
                    <a:bodyPr wrap="square"/>
                    <a:lstStyle/>
                    <a:p>
                      <a:pPr algn="l"/>
                      <a:r>
                        <a:rPr sz="1050" b="0" i="0">
                          <a:solidFill>
                            <a:srgbClr val="000000"/>
                          </a:solidFill>
                          <a:latin typeface="Calibri"/>
                        </a:rPr>
                        <a:t>Table 146: Germany Market Share within Europe, %, 2025, 2026 and 2036</a:t>
                      </a:r>
                      <a:endParaRPr sz="1050"/>
                    </a:p>
                  </a:txBody>
                  <a:tcPr marL="9525" marR="9525" marT="9525" marB="0" anchor="ctr"/>
                </a:tc>
              </a:tr>
              <a:tr h="175729">
                <a:tc>
                  <a:txBody>
                    <a:bodyPr wrap="square"/>
                    <a:lstStyle/>
                    <a:p>
                      <a:pPr algn="l"/>
                      <a:r>
                        <a:rPr sz="1050" b="0" i="0">
                          <a:solidFill>
                            <a:srgbClr val="000000"/>
                          </a:solidFill>
                          <a:latin typeface="Calibri"/>
                        </a:rPr>
                        <a:t>Table 147: Germany Market Value by Allergen Class, US$ Mn, 2021–2036</a:t>
                      </a:r>
                      <a:endParaRPr sz="1050"/>
                    </a:p>
                  </a:txBody>
                  <a:tcPr marL="9525" marR="9525" marT="9525" marB="0" anchor="ctr"/>
                </a:tc>
              </a:tr>
              <a:tr h="175729">
                <a:tc>
                  <a:txBody>
                    <a:bodyPr wrap="square"/>
                    <a:lstStyle/>
                    <a:p>
                      <a:pPr algn="l"/>
                      <a:r>
                        <a:rPr sz="1050" b="0" i="0">
                          <a:solidFill>
                            <a:srgbClr val="000000"/>
                          </a:solidFill>
                          <a:latin typeface="Calibri"/>
                        </a:rPr>
                        <a:t>Table 148: Germany Market Value by Commercial Product Model, US$ Mn, 2021–2036</a:t>
                      </a:r>
                      <a:endParaRPr sz="1050"/>
                    </a:p>
                  </a:txBody>
                  <a:tcPr marL="9525" marR="9525" marT="9525" marB="0" anchor="ctr"/>
                </a:tc>
              </a:tr>
              <a:tr h="175729">
                <a:tc>
                  <a:txBody>
                    <a:bodyPr wrap="square"/>
                    <a:lstStyle/>
                    <a:p>
                      <a:pPr algn="l"/>
                      <a:r>
                        <a:rPr sz="1050" b="0" i="0">
                          <a:solidFill>
                            <a:srgbClr val="000000"/>
                          </a:solidFill>
                          <a:latin typeface="Calibri"/>
                        </a:rPr>
                        <a:t>Table 149: Germany Market Value by Allergen Preparation Technology, US$ Mn, 2021–2036</a:t>
                      </a:r>
                      <a:endParaRPr sz="1050"/>
                    </a:p>
                  </a:txBody>
                  <a:tcPr marL="9525" marR="9525" marT="9525" marB="0" anchor="ctr"/>
                </a:tc>
              </a:tr>
              <a:tr h="175729">
                <a:tc>
                  <a:txBody>
                    <a:bodyPr wrap="square"/>
                    <a:lstStyle/>
                    <a:p>
                      <a:pPr algn="l"/>
                      <a:r>
                        <a:rPr sz="1050" b="0" i="0">
                          <a:solidFill>
                            <a:srgbClr val="000000"/>
                          </a:solidFill>
                          <a:latin typeface="Calibri"/>
                        </a:rPr>
                        <a:t>Table 150: Germany Market Value by Allergen Composition, US$ Mn, 2021–2036</a:t>
                      </a:r>
                      <a:endParaRPr sz="1050"/>
                    </a:p>
                  </a:txBody>
                  <a:tcPr marL="9525" marR="9525" marT="9525" marB="0" anchor="ctr"/>
                </a:tc>
              </a:tr>
              <a:tr h="175729">
                <a:tc>
                  <a:txBody>
                    <a:bodyPr wrap="square"/>
                    <a:lstStyle/>
                    <a:p>
                      <a:pPr algn="l"/>
                      <a:r>
                        <a:rPr sz="1050" b="0" i="0">
                          <a:solidFill>
                            <a:srgbClr val="000000"/>
                          </a:solidFill>
                          <a:latin typeface="Calibri"/>
                        </a:rPr>
                        <a:t>Table 151: Canada Market Value by Therapy Format, US$ Mn, 2021–2036</a:t>
                      </a:r>
                      <a:endParaRPr sz="1050"/>
                    </a:p>
                  </a:txBody>
                  <a:tcPr marL="9525" marR="9525" marT="9525" marB="0" anchor="ctr"/>
                </a:tc>
              </a:tr>
              <a:tr h="175729">
                <a:tc>
                  <a:txBody>
                    <a:bodyPr wrap="square"/>
                    <a:lstStyle/>
                    <a:p>
                      <a:pPr algn="l"/>
                      <a:r>
                        <a:rPr sz="1050" b="0" i="0">
                          <a:solidFill>
                            <a:srgbClr val="000000"/>
                          </a:solidFill>
                          <a:latin typeface="Calibri"/>
                        </a:rPr>
                        <a:t>Table 152: Canada Market Historical and Forecast Growth, %, 2021–2036</a:t>
                      </a:r>
                      <a:endParaRPr sz="1050"/>
                    </a:p>
                  </a:txBody>
                  <a:tcPr marL="9525" marR="9525" marT="9525" marB="0" anchor="ctr"/>
                </a:tc>
              </a:tr>
              <a:tr h="175729">
                <a:tc>
                  <a:txBody>
                    <a:bodyPr wrap="square"/>
                    <a:lstStyle/>
                    <a:p>
                      <a:pPr algn="l"/>
                      <a:r>
                        <a:rPr sz="1050" b="0" i="0">
                          <a:solidFill>
                            <a:srgbClr val="000000"/>
                          </a:solidFill>
                          <a:latin typeface="Calibri"/>
                        </a:rPr>
                        <a:t>Table 153: Canada Market Value by Sales / Procurement Channel, US$ Mn, 2021–2036</a:t>
                      </a:r>
                      <a:endParaRPr sz="1050"/>
                    </a:p>
                  </a:txBody>
                  <a:tcPr marL="9525" marR="9525" marT="9525" marB="0" anchor="ctr"/>
                </a:tc>
              </a:tr>
              <a:tr h="175729">
                <a:tc>
                  <a:txBody>
                    <a:bodyPr wrap="square"/>
                    <a:lstStyle/>
                    <a:p>
                      <a:pPr algn="l"/>
                      <a:r>
                        <a:rPr sz="1050" b="0" i="0">
                          <a:solidFill>
                            <a:srgbClr val="000000"/>
                          </a:solidFill>
                          <a:latin typeface="Calibri"/>
                        </a:rPr>
                        <a:t>Table 154: Canada Market Share within North America, %, 2025, 2026 and 2036</a:t>
                      </a:r>
                      <a:endParaRPr sz="1050"/>
                    </a:p>
                  </a:txBody>
                  <a:tcPr marL="9525" marR="9525" marT="9525" marB="0" anchor="ctr"/>
                </a:tc>
              </a:tr>
              <a:tr h="175729">
                <a:tc>
                  <a:txBody>
                    <a:bodyPr wrap="square"/>
                    <a:lstStyle/>
                    <a:p>
                      <a:pPr algn="l"/>
                      <a:r>
                        <a:rPr sz="1050" b="0" i="0">
                          <a:solidFill>
                            <a:srgbClr val="000000"/>
                          </a:solidFill>
                          <a:latin typeface="Calibri"/>
                        </a:rPr>
                        <a:t>Table 155: Canada Market Value by Allergen Class, US$ Mn, 2021–2036</a:t>
                      </a:r>
                      <a:endParaRPr sz="1050"/>
                    </a:p>
                  </a:txBody>
                  <a:tcPr marL="9525" marR="9525" marT="9525" marB="0" anchor="ctr"/>
                </a:tc>
              </a:tr>
              <a:tr h="175729">
                <a:tc>
                  <a:txBody>
                    <a:bodyPr wrap="square"/>
                    <a:lstStyle/>
                    <a:p>
                      <a:pPr algn="l"/>
                      <a:r>
                        <a:rPr sz="1050" b="0" i="0">
                          <a:solidFill>
                            <a:srgbClr val="000000"/>
                          </a:solidFill>
                          <a:latin typeface="Calibri"/>
                        </a:rPr>
                        <a:t>Table 156: Canada Market Value by Commercial Product Model, US$ Mn, 2021–2036</a:t>
                      </a:r>
                      <a:endParaRPr sz="1050"/>
                    </a:p>
                  </a:txBody>
                  <a:tcPr marL="9525" marR="9525" marT="9525" marB="0" anchor="ctr"/>
                </a:tc>
              </a:tr>
              <a:tr h="175729">
                <a:tc>
                  <a:txBody>
                    <a:bodyPr wrap="square"/>
                    <a:lstStyle/>
                    <a:p>
                      <a:pPr algn="l"/>
                      <a:r>
                        <a:rPr sz="1050" b="0" i="0">
                          <a:solidFill>
                            <a:srgbClr val="000000"/>
                          </a:solidFill>
                          <a:latin typeface="Calibri"/>
                        </a:rPr>
                        <a:t>Table 157: Canada Market Value by Allergen Preparation Technology, US$ Mn, 2021–2036</a:t>
                      </a:r>
                      <a:endParaRPr sz="1050"/>
                    </a:p>
                  </a:txBody>
                  <a:tcPr marL="9525" marR="9525" marT="9525" marB="0" anchor="ctr"/>
                </a:tc>
              </a:tr>
              <a:tr h="175729">
                <a:tc>
                  <a:txBody>
                    <a:bodyPr wrap="square"/>
                    <a:lstStyle/>
                    <a:p>
                      <a:pPr algn="l"/>
                      <a:r>
                        <a:rPr sz="1050" b="0" i="0">
                          <a:solidFill>
                            <a:srgbClr val="000000"/>
                          </a:solidFill>
                          <a:latin typeface="Calibri"/>
                        </a:rPr>
                        <a:t>Table 158: Canada Market Value by Allergen Composition, US$ Mn, 2021–2036</a:t>
                      </a:r>
                      <a:endParaRPr sz="1050"/>
                    </a:p>
                  </a:txBody>
                  <a:tcPr marL="9525" marR="9525" marT="9525" marB="0" anchor="ctr"/>
                </a:tc>
              </a:tr>
              <a:tr h="175729">
                <a:tc>
                  <a:txBody>
                    <a:bodyPr wrap="square"/>
                    <a:lstStyle/>
                    <a:p>
                      <a:pPr algn="l"/>
                      <a:r>
                        <a:rPr sz="1050" b="0" i="0">
                          <a:solidFill>
                            <a:srgbClr val="000000"/>
                          </a:solidFill>
                          <a:latin typeface="Calibri"/>
                        </a:rPr>
                        <a:t>Table 159: China Market Value by Therapy Format, US$ Mn, 2021–2036</a:t>
                      </a:r>
                      <a:endParaRPr sz="1050"/>
                    </a:p>
                  </a:txBody>
                  <a:tcPr marL="9525" marR="9525" marT="9525" marB="0" anchor="ctr"/>
                </a:tc>
              </a:tr>
              <a:tr h="175729">
                <a:tc>
                  <a:txBody>
                    <a:bodyPr wrap="square"/>
                    <a:lstStyle/>
                    <a:p>
                      <a:pPr algn="l"/>
                      <a:r>
                        <a:rPr sz="1050" b="0" i="0">
                          <a:solidFill>
                            <a:srgbClr val="000000"/>
                          </a:solidFill>
                          <a:latin typeface="Calibri"/>
                        </a:rPr>
                        <a:t>Table 160: China Market Historical and Forecast Growth, %, 2021–2036</a:t>
                      </a:r>
                      <a:endParaRPr sz="1050"/>
                    </a:p>
                  </a:txBody>
                  <a:tcPr marL="9525" marR="9525" marT="9525" marB="0" anchor="ctr"/>
                </a:tc>
              </a:tr>
              <a:tr h="175729">
                <a:tc>
                  <a:txBody>
                    <a:bodyPr wrap="square"/>
                    <a:lstStyle/>
                    <a:p>
                      <a:pPr algn="l"/>
                      <a:r>
                        <a:rPr sz="1050" b="0" i="0">
                          <a:solidFill>
                            <a:srgbClr val="000000"/>
                          </a:solidFill>
                          <a:latin typeface="Calibri"/>
                        </a:rPr>
                        <a:t>Table 161: China Market Value by Sales / Procurement Channel, US$ Mn, 2021–2036</a:t>
                      </a:r>
                      <a:endParaRPr sz="1050"/>
                    </a:p>
                  </a:txBody>
                  <a:tcPr marL="9525" marR="9525" marT="9525" marB="0" anchor="ctr"/>
                </a:tc>
              </a:tr>
              <a:tr h="175729">
                <a:tc>
                  <a:txBody>
                    <a:bodyPr wrap="square"/>
                    <a:lstStyle/>
                    <a:p>
                      <a:pPr algn="l"/>
                      <a:r>
                        <a:rPr sz="1050" b="0" i="0">
                          <a:solidFill>
                            <a:srgbClr val="000000"/>
                          </a:solidFill>
                          <a:latin typeface="Calibri"/>
                        </a:rPr>
                        <a:t>Table 162: India Market Value by Therapy Format, US$ Mn, 2021–2036</a:t>
                      </a:r>
                      <a:endParaRPr sz="1050"/>
                    </a:p>
                  </a:txBody>
                  <a:tcPr marL="9525" marR="9525" marT="9525" marB="0" anchor="ctr"/>
                </a:tc>
              </a:tr>
              <a:tr h="175729">
                <a:tc>
                  <a:txBody>
                    <a:bodyPr wrap="square"/>
                    <a:lstStyle/>
                    <a:p>
                      <a:pPr algn="l"/>
                      <a:r>
                        <a:rPr sz="1050" b="0" i="0">
                          <a:solidFill>
                            <a:srgbClr val="000000"/>
                          </a:solidFill>
                          <a:latin typeface="Calibri"/>
                        </a:rPr>
                        <a:t>Table 163: India Market Historical and Forecast Growth, %, 2021–2036</a:t>
                      </a:r>
                      <a:endParaRPr sz="1050"/>
                    </a:p>
                  </a:txBody>
                  <a:tcPr marL="9525" marR="9525" marT="9525" marB="0" anchor="ctr"/>
                </a:tc>
              </a:tr>
              <a:tr h="175729">
                <a:tc>
                  <a:txBody>
                    <a:bodyPr wrap="square"/>
                    <a:lstStyle/>
                    <a:p>
                      <a:pPr algn="l"/>
                      <a:r>
                        <a:rPr sz="1050" b="0" i="0">
                          <a:solidFill>
                            <a:srgbClr val="000000"/>
                          </a:solidFill>
                          <a:latin typeface="Calibri"/>
                        </a:rPr>
                        <a:t>Table 164: Brazil Market Value by Therapy Format, US$ Mn, 2021–2036</a:t>
                      </a:r>
                      <a:endParaRPr sz="1050"/>
                    </a:p>
                  </a:txBody>
                  <a:tcPr marL="9525" marR="9525" marT="9525" marB="0" anchor="ctr"/>
                </a:tc>
              </a:tr>
              <a:tr h="175729">
                <a:tc>
                  <a:txBody>
                    <a:bodyPr wrap="square"/>
                    <a:lstStyle/>
                    <a:p>
                      <a:pPr algn="l"/>
                      <a:r>
                        <a:rPr sz="1050" b="0" i="0">
                          <a:solidFill>
                            <a:srgbClr val="000000"/>
                          </a:solidFill>
                          <a:latin typeface="Calibri"/>
                        </a:rPr>
                        <a:t>Table 165: Brazil Market Historical and Forecast Growth, %, 2021–2036</a:t>
                      </a:r>
                      <a:endParaRPr sz="1050"/>
                    </a:p>
                  </a:txBody>
                  <a:tcPr marL="9525" marR="9525" marT="9525" marB="0" anchor="ctr"/>
                </a:tc>
              </a:tr>
              <a:tr h="344428">
                <a:tc>
                  <a:txBody>
                    <a:bodyPr wrap="square"/>
                    <a:lstStyle/>
                    <a:p>
                      <a:pPr algn="l"/>
                      <a:r>
                        <a:rPr sz="1050" b="0" i="0">
                          <a:solidFill>
                            <a:srgbClr val="000000"/>
                          </a:solidFill>
                          <a:latin typeface="Calibri"/>
                        </a:rPr>
                        <a:t>Table 166: Market Product Price Comparison by Company and Therapy Format, US$/Patient Treatment Courses, 2026</a:t>
                      </a:r>
                      <a:endParaRPr sz="1050"/>
                    </a:p>
                  </a:txBody>
                  <a:tcPr marL="9525" marR="9525" marT="9525" marB="0" anchor="ctr"/>
                </a:tc>
              </a:tr>
              <a:tr h="175729">
                <a:tc>
                  <a:txBody>
                    <a:bodyPr wrap="square"/>
                    <a:lstStyle/>
                    <a:p>
                      <a:pPr algn="l"/>
                      <a:r>
                        <a:rPr sz="1050" b="0" i="0">
                          <a:solidFill>
                            <a:srgbClr val="000000"/>
                          </a:solidFill>
                          <a:latin typeface="Calibri"/>
                        </a:rPr>
                        <a:t>Table 167: Global Market Average Selling Price by Region, US$/Patient Treatment Courses, 2021–2036</a:t>
                      </a:r>
                      <a:endParaRPr sz="1050"/>
                    </a:p>
                  </a:txBody>
                  <a:tcPr marL="9525" marR="9525" marT="9525" marB="0" anchor="ctr"/>
                </a:tc>
              </a:tr>
              <a:tr h="344428">
                <a:tc>
                  <a:txBody>
                    <a:bodyPr wrap="square"/>
                    <a:lstStyle/>
                    <a:p>
                      <a:pPr algn="l"/>
                      <a:r>
                        <a:rPr sz="1050" b="0" i="0">
                          <a:solidFill>
                            <a:srgbClr val="000000"/>
                          </a:solidFill>
                          <a:latin typeface="Calibri"/>
                        </a:rPr>
                        <a:t>Table 168: Global Market Average Selling Price by Therapy Format, US$/Patient Treatment Courses, 2021–2036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336334">
                <a:tc>
                  <a:txBody>
                    <a:bodyPr wrap="square"/>
                    <a:lstStyle/>
                    <a:p>
                      <a:pPr algn="l"/>
                      <a:r>
                        <a:rPr sz="1050" b="0" i="0">
                          <a:solidFill>
                            <a:srgbClr val="000000"/>
                          </a:solidFill>
                          <a:latin typeface="Calibri"/>
                        </a:rPr>
                        <a:t>Table 169: Global Market Average Selling Price by Allergen Class, US$/Patient Treatment Courses, 2021–2036</a:t>
                      </a:r>
                      <a:endParaRPr sz="1050"/>
                    </a:p>
                  </a:txBody>
                  <a:tcPr marL="9525" marR="9525" marT="9525" marB="0" anchor="ctr"/>
                </a:tc>
              </a:tr>
              <a:tr h="336334">
                <a:tc>
                  <a:txBody>
                    <a:bodyPr wrap="square"/>
                    <a:lstStyle/>
                    <a:p>
                      <a:pPr algn="l"/>
                      <a:r>
                        <a:rPr sz="1050" b="0" i="0">
                          <a:solidFill>
                            <a:srgbClr val="000000"/>
                          </a:solidFill>
                          <a:latin typeface="Calibri"/>
                        </a:rPr>
                        <a:t>Table 170: Global Market Average Selling Price by Commercial Product Model, US$/Patient Treatment Courses, 2021–2036</a:t>
                      </a:r>
                      <a:endParaRPr sz="1050"/>
                    </a:p>
                  </a:txBody>
                  <a:tcPr marL="9525" marR="9525" marT="9525" marB="0" anchor="ctr"/>
                </a:tc>
              </a:tr>
              <a:tr h="336334">
                <a:tc>
                  <a:txBody>
                    <a:bodyPr wrap="square"/>
                    <a:lstStyle/>
                    <a:p>
                      <a:pPr algn="l"/>
                      <a:r>
                        <a:rPr sz="1050" b="0" i="0">
                          <a:solidFill>
                            <a:srgbClr val="000000"/>
                          </a:solidFill>
                          <a:latin typeface="Calibri"/>
                        </a:rPr>
                        <a:t>Table 171: Global Market Average Selling Price by Allergen Preparation Technology, US$/Patient Treatment Courses, 2021–2036</a:t>
                      </a:r>
                      <a:endParaRPr sz="1050"/>
                    </a:p>
                  </a:txBody>
                  <a:tcPr marL="9525" marR="9525" marT="9525" marB="0" anchor="ctr"/>
                </a:tc>
              </a:tr>
              <a:tr h="336334">
                <a:tc>
                  <a:txBody>
                    <a:bodyPr wrap="square"/>
                    <a:lstStyle/>
                    <a:p>
                      <a:pPr algn="l"/>
                      <a:r>
                        <a:rPr sz="1050" b="0" i="0">
                          <a:solidFill>
                            <a:srgbClr val="000000"/>
                          </a:solidFill>
                          <a:latin typeface="Calibri"/>
                        </a:rPr>
                        <a:t>Table 172: Global Market Average Selling Price by Allergen Composition, US$/Patient Treatment Courses, 2021–2036</a:t>
                      </a:r>
                      <a:endParaRPr sz="1050"/>
                    </a:p>
                  </a:txBody>
                  <a:tcPr marL="9525" marR="9525" marT="9525" marB="0" anchor="ctr"/>
                </a:tc>
              </a:tr>
              <a:tr h="336334">
                <a:tc>
                  <a:txBody>
                    <a:bodyPr wrap="square"/>
                    <a:lstStyle/>
                    <a:p>
                      <a:pPr algn="l"/>
                      <a:r>
                        <a:rPr sz="1050" b="0" i="0">
                          <a:solidFill>
                            <a:srgbClr val="000000"/>
                          </a:solidFill>
                          <a:latin typeface="Calibri"/>
                        </a:rPr>
                        <a:t>Table 173: Global Market Average Selling Price by Sales / Procurement Channel, US$/Patient Treatment Courses, 2021–2036</a:t>
                      </a:r>
                      <a:endParaRPr sz="1050"/>
                    </a:p>
                  </a:txBody>
                  <a:tcPr marL="9525" marR="9525" marT="9525" marB="0" anchor="ctr"/>
                </a:tc>
              </a:tr>
              <a:tr h="336334">
                <a:tc>
                  <a:txBody>
                    <a:bodyPr wrap="square"/>
                    <a:lstStyle/>
                    <a:p>
                      <a:pPr algn="l"/>
                      <a:r>
                        <a:rPr sz="1050" b="0" i="0">
                          <a:solidFill>
                            <a:srgbClr val="000000"/>
                          </a:solidFill>
                          <a:latin typeface="Calibri"/>
                        </a:rPr>
                        <a:t>Table 174: Global Market Average Selling Price by Company × Allergen Class, US$/Patient Treatment Courses, 2021–2036</a:t>
                      </a:r>
                      <a:endParaRPr sz="1050"/>
                    </a:p>
                  </a:txBody>
                  <a:tcPr marL="9525" marR="9525" marT="9525" marB="0" anchor="ctr"/>
                </a:tc>
              </a:tr>
              <a:tr h="336334">
                <a:tc>
                  <a:txBody>
                    <a:bodyPr wrap="square"/>
                    <a:lstStyle/>
                    <a:p>
                      <a:pPr algn="l"/>
                      <a:r>
                        <a:rPr sz="1050" b="0" i="0">
                          <a:solidFill>
                            <a:srgbClr val="000000"/>
                          </a:solidFill>
                          <a:latin typeface="Calibri"/>
                        </a:rPr>
                        <a:t>Table 175: Global Market Average Selling Price by Company × Therapy Format, US$/Patient Treatment Courses, 2021–2036</a:t>
                      </a:r>
                      <a:endParaRPr sz="1050"/>
                    </a:p>
                  </a:txBody>
                  <a:tcPr marL="9525" marR="9525" marT="9525" marB="0" anchor="ctr"/>
                </a:tc>
              </a:tr>
              <a:tr h="336334">
                <a:tc>
                  <a:txBody>
                    <a:bodyPr wrap="square"/>
                    <a:lstStyle/>
                    <a:p>
                      <a:pPr algn="l"/>
                      <a:r>
                        <a:rPr sz="1050" b="0" i="0">
                          <a:solidFill>
                            <a:srgbClr val="000000"/>
                          </a:solidFill>
                          <a:latin typeface="Calibri"/>
                        </a:rPr>
                        <a:t>Table 176: Global Market Average Selling Price by Company × Allergen Preparation Technology, US$/Patient Treatment Courses, 2021–2036</a:t>
                      </a:r>
                      <a:endParaRPr sz="1050"/>
                    </a:p>
                  </a:txBody>
                  <a:tcPr marL="9525" marR="9525" marT="9525" marB="0" anchor="ctr"/>
                </a:tc>
              </a:tr>
              <a:tr h="171599">
                <a:tc>
                  <a:txBody>
                    <a:bodyPr wrap="square"/>
                    <a:lstStyle/>
                    <a:p>
                      <a:pPr algn="l"/>
                      <a:r>
                        <a:rPr sz="1050" b="0" i="0">
                          <a:solidFill>
                            <a:srgbClr val="000000"/>
                          </a:solidFill>
                          <a:latin typeface="Calibri"/>
                        </a:rPr>
                        <a:t>Table 177: Supplier-to-Customer Relationship Mapping in U.S., 2026</a:t>
                      </a:r>
                      <a:endParaRPr sz="1050"/>
                    </a:p>
                  </a:txBody>
                  <a:tcPr marL="9525" marR="9525" marT="9525" marB="0" anchor="ctr"/>
                </a:tc>
              </a:tr>
              <a:tr h="171599">
                <a:tc>
                  <a:txBody>
                    <a:bodyPr wrap="square"/>
                    <a:lstStyle/>
                    <a:p>
                      <a:pPr algn="l"/>
                      <a:r>
                        <a:rPr sz="1050" b="0" i="0">
                          <a:solidFill>
                            <a:srgbClr val="000000"/>
                          </a:solidFill>
                          <a:latin typeface="Calibri"/>
                        </a:rPr>
                        <a:t>Table 178: Global Market Value Chain Participants by Stage, 2026</a:t>
                      </a:r>
                      <a:endParaRPr sz="1050"/>
                    </a:p>
                  </a:txBody>
                  <a:tcPr marL="9525" marR="9525" marT="9525" marB="0" anchor="ctr"/>
                </a:tc>
              </a:tr>
              <a:tr h="171599">
                <a:tc>
                  <a:txBody>
                    <a:bodyPr wrap="square"/>
                    <a:lstStyle/>
                    <a:p>
                      <a:pPr algn="l"/>
                      <a:r>
                        <a:rPr sz="1050" b="0" i="0">
                          <a:solidFill>
                            <a:srgbClr val="000000"/>
                          </a:solidFill>
                          <a:latin typeface="Calibri"/>
                        </a:rPr>
                        <a:t>Table 179: Global Market Margin Analysis by Value Chain Stage, %, 2026</a:t>
                      </a:r>
                      <a:endParaRPr sz="1050"/>
                    </a:p>
                  </a:txBody>
                  <a:tcPr marL="9525" marR="9525" marT="9525" marB="0" anchor="ctr"/>
                </a:tc>
              </a:tr>
              <a:tr h="336334">
                <a:tc>
                  <a:txBody>
                    <a:bodyPr wrap="square"/>
                    <a:lstStyle/>
                    <a:p>
                      <a:pPr algn="l"/>
                      <a:r>
                        <a:rPr sz="1050" b="0" i="0">
                          <a:solidFill>
                            <a:srgbClr val="000000"/>
                          </a:solidFill>
                          <a:latin typeface="Calibri"/>
                        </a:rPr>
                        <a:t>Table 180: Leading Allergy Immunotherapy Manufacturers: Product Portfolio and Geographic Presence, 2026</a:t>
                      </a:r>
                      <a:endParaRPr sz="1050"/>
                    </a:p>
                  </a:txBody>
                  <a:tcPr marL="9525" marR="9525" marT="9525" marB="0" anchor="ctr"/>
                </a:tc>
              </a:tr>
              <a:tr h="171599">
                <a:tc>
                  <a:txBody>
                    <a:bodyPr wrap="square"/>
                    <a:lstStyle/>
                    <a:p>
                      <a:pPr algn="l"/>
                      <a:r>
                        <a:rPr sz="1050" b="0" i="0">
                          <a:solidFill>
                            <a:srgbClr val="000000"/>
                          </a:solidFill>
                          <a:latin typeface="Calibri"/>
                        </a:rPr>
                        <a:t>Table 181: Company Revenue from the Global Market, US$ Mn, 2025–2026</a:t>
                      </a:r>
                      <a:endParaRPr sz="1050"/>
                    </a:p>
                  </a:txBody>
                  <a:tcPr marL="9525" marR="9525" marT="9525" marB="0" anchor="ctr"/>
                </a:tc>
              </a:tr>
              <a:tr h="171599">
                <a:tc>
                  <a:txBody>
                    <a:bodyPr wrap="square"/>
                    <a:lstStyle/>
                    <a:p>
                      <a:pPr algn="l"/>
                      <a:r>
                        <a:rPr sz="1050" b="0" i="0">
                          <a:solidFill>
                            <a:srgbClr val="000000"/>
                          </a:solidFill>
                          <a:latin typeface="Calibri"/>
                        </a:rPr>
                        <a:t>Table 182: Company Market Share in the Global Market by Region, %, 2026</a:t>
                      </a:r>
                      <a:endParaRPr sz="1050"/>
                    </a:p>
                  </a:txBody>
                  <a:tcPr marL="9525" marR="9525" marT="9525" marB="0" anchor="ctr"/>
                </a:tc>
              </a:tr>
              <a:tr h="171599">
                <a:tc>
                  <a:txBody>
                    <a:bodyPr wrap="square"/>
                    <a:lstStyle/>
                    <a:p>
                      <a:pPr algn="l"/>
                      <a:r>
                        <a:rPr sz="1050" b="0" i="0">
                          <a:solidFill>
                            <a:srgbClr val="000000"/>
                          </a:solidFill>
                          <a:latin typeface="Calibri"/>
                        </a:rPr>
                        <a:t>Table 183: Global Market Competitive Benchmarking Matrix, 2026</a:t>
                      </a:r>
                      <a:endParaRPr sz="1050"/>
                    </a:p>
                  </a:txBody>
                  <a:tcPr marL="9525" marR="9525" marT="9525" marB="0" anchor="ctr"/>
                </a:tc>
              </a:tr>
              <a:tr h="171599">
                <a:tc>
                  <a:txBody>
                    <a:bodyPr wrap="square"/>
                    <a:lstStyle/>
                    <a:p>
                      <a:pPr algn="l"/>
                      <a:r>
                        <a:rPr sz="1050" b="0" i="0">
                          <a:solidFill>
                            <a:srgbClr val="000000"/>
                          </a:solidFill>
                          <a:latin typeface="Calibri"/>
                        </a:rPr>
                        <a:t>Table 184: Global Market Mergers, Acquisitions and Partnerships, 2021–2026</a:t>
                      </a:r>
                      <a:endParaRPr sz="1050"/>
                    </a:p>
                  </a:txBody>
                  <a:tcPr marL="9525" marR="9525" marT="9525" marB="0" anchor="ctr"/>
                </a:tc>
              </a:tr>
              <a:tr h="171599">
                <a:tc>
                  <a:txBody>
                    <a:bodyPr wrap="square"/>
                    <a:lstStyle/>
                    <a:p>
                      <a:pPr algn="l"/>
                      <a:r>
                        <a:rPr sz="1050" b="0" i="0">
                          <a:solidFill>
                            <a:srgbClr val="000000"/>
                          </a:solidFill>
                          <a:latin typeface="Calibri"/>
                        </a:rPr>
                        <a:t>Table 185: ALK-Abelló A/S: Company Overview, Products and Strategy, 2026</a:t>
                      </a:r>
                      <a:endParaRPr sz="1050"/>
                    </a:p>
                  </a:txBody>
                  <a:tcPr marL="9525" marR="9525" marT="9525" marB="0" anchor="ctr"/>
                </a:tc>
              </a:tr>
              <a:tr h="171599">
                <a:tc>
                  <a:txBody>
                    <a:bodyPr wrap="square"/>
                    <a:lstStyle/>
                    <a:p>
                      <a:pPr algn="l"/>
                      <a:r>
                        <a:rPr sz="1050" b="0" i="0">
                          <a:solidFill>
                            <a:srgbClr val="000000"/>
                          </a:solidFill>
                          <a:latin typeface="Calibri"/>
                        </a:rPr>
                        <a:t>Table 186: Stallergenes Greer International AG: Company Overview, Products and Strategy, 2026</a:t>
                      </a:r>
                      <a:endParaRPr sz="1050"/>
                    </a:p>
                  </a:txBody>
                  <a:tcPr marL="9525" marR="9525" marT="9525" marB="0" anchor="ctr"/>
                </a:tc>
              </a:tr>
              <a:tr h="171599">
                <a:tc>
                  <a:txBody>
                    <a:bodyPr wrap="square"/>
                    <a:lstStyle/>
                    <a:p>
                      <a:pPr algn="l"/>
                      <a:r>
                        <a:rPr sz="1050" b="0" i="0">
                          <a:solidFill>
                            <a:srgbClr val="000000"/>
                          </a:solidFill>
                          <a:latin typeface="Calibri"/>
                        </a:rPr>
                        <a:t>Table 187: Allergy Therapeutics plc: Company Overview, Products and Strategy, 2026</a:t>
                      </a:r>
                      <a:endParaRPr sz="1050"/>
                    </a:p>
                  </a:txBody>
                  <a:tcPr marL="9525" marR="9525" marT="9525" marB="0" anchor="ctr"/>
                </a:tc>
              </a:tr>
              <a:tr h="171599">
                <a:tc>
                  <a:txBody>
                    <a:bodyPr wrap="square"/>
                    <a:lstStyle/>
                    <a:p>
                      <a:pPr algn="l"/>
                      <a:r>
                        <a:rPr sz="1050" b="0" i="0">
                          <a:solidFill>
                            <a:srgbClr val="000000"/>
                          </a:solidFill>
                          <a:latin typeface="Calibri"/>
                        </a:rPr>
                        <a:t>Table 188: HAL Allergy Group: Company Overview, Products and Strategy, 2026</a:t>
                      </a:r>
                      <a:endParaRPr sz="1050"/>
                    </a:p>
                  </a:txBody>
                  <a:tcPr marL="9525" marR="9525" marT="9525" marB="0" anchor="ctr"/>
                </a:tc>
              </a:tr>
              <a:tr h="171599">
                <a:tc>
                  <a:txBody>
                    <a:bodyPr wrap="square"/>
                    <a:lstStyle/>
                    <a:p>
                      <a:pPr algn="l"/>
                      <a:r>
                        <a:rPr sz="1050" b="0" i="0">
                          <a:solidFill>
                            <a:srgbClr val="000000"/>
                          </a:solidFill>
                          <a:latin typeface="Calibri"/>
                        </a:rPr>
                        <a:t>Table 189: LETI Pharma / Laboratorios LETI, S.L.U.: Company Overview, Products and Strategy, 2026</a:t>
                      </a:r>
                      <a:endParaRPr sz="1050"/>
                    </a:p>
                  </a:txBody>
                  <a:tcPr marL="9525" marR="9525" marT="9525" marB="0" anchor="ctr"/>
                </a:tc>
              </a:tr>
              <a:tr h="171599">
                <a:tc>
                  <a:txBody>
                    <a:bodyPr wrap="square"/>
                    <a:lstStyle/>
                    <a:p>
                      <a:pPr algn="l"/>
                      <a:r>
                        <a:rPr sz="1050" b="0" i="0">
                          <a:solidFill>
                            <a:srgbClr val="000000"/>
                          </a:solidFill>
                          <a:latin typeface="Calibri"/>
                        </a:rPr>
                        <a:t>Table 190: Jubilant HollisterStier LLC: Company Overview, Products and Strategy, 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(5/5)</a:t>
            </a:r>
          </a:p>
        </p:txBody>
      </p:sp>
      <p:graphicFrame>
        <p:nvGraphicFramePr>
          <p:cNvPr id="9" name="FMI Contents Table"/>
          <p:cNvGraphicFramePr>
            <a:graphicFrameLocks noGrp="1"/>
          </p:cNvGraphicFramePr>
          <p:nvPr/>
        </p:nvGraphicFramePr>
        <p:xfrm>
          <a:off x="142875" y="981075"/>
          <a:ext cx="5876925" cy="1666880"/>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191: Inmunotek S.L.: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192: DIATER Laboratories: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193: Torii Pharmaceutical Co., Ltd.: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194: Allergopharma GmbH &amp; Co. KG: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195: Global Market Value by Scenario and Region, US$ Mn, 2026–2036</a:t>
                      </a:r>
                      <a:endParaRPr sz="1050"/>
                    </a:p>
                  </a:txBody>
                  <a:tcPr marL="9525" marR="9525" marT="9525" marB="0" anchor="ctr"/>
                </a:tc>
              </a:tr>
              <a:tr h="166688">
                <a:tc>
                  <a:txBody>
                    <a:bodyPr wrap="square"/>
                    <a:lstStyle/>
                    <a:p>
                      <a:pPr algn="l"/>
                      <a:r>
                        <a:rPr sz="1050" b="0" i="0">
                          <a:solidFill>
                            <a:srgbClr val="000000"/>
                          </a:solidFill>
                          <a:latin typeface="Calibri"/>
                        </a:rPr>
                        <a:t>Table 196: Global Market Key Trends and Impact Rating, 2026–2036</a:t>
                      </a:r>
                      <a:endParaRPr sz="1050"/>
                    </a:p>
                  </a:txBody>
                  <a:tcPr marL="9525" marR="9525" marT="9525" marB="0" anchor="ctr"/>
                </a:tc>
              </a:tr>
              <a:tr h="166688">
                <a:tc>
                  <a:txBody>
                    <a:bodyPr wrap="square"/>
                    <a:lstStyle/>
                    <a:p>
                      <a:pPr algn="l"/>
                      <a:r>
                        <a:rPr sz="1050" b="0" i="0">
                          <a:solidFill>
                            <a:srgbClr val="000000"/>
                          </a:solidFill>
                          <a:latin typeface="Calibri"/>
                        </a:rPr>
                        <a:t>Table 197: Global Market Opportunity Assessment by Therapy Format, US$ Mn, 2026–2036</a:t>
                      </a:r>
                      <a:endParaRPr sz="1050"/>
                    </a:p>
                  </a:txBody>
                  <a:tcPr marL="9525" marR="9525" marT="9525" marB="0" anchor="ctr"/>
                </a:tc>
              </a:tr>
              <a:tr h="166688">
                <a:tc>
                  <a:txBody>
                    <a:bodyPr wrap="square"/>
                    <a:lstStyle/>
                    <a:p>
                      <a:pPr algn="l"/>
                      <a:r>
                        <a:rPr sz="1050" b="0" i="0">
                          <a:solidFill>
                            <a:srgbClr val="000000"/>
                          </a:solidFill>
                          <a:latin typeface="Calibri"/>
                        </a:rPr>
                        <a:t>Table 198: Global Market Scenario Assumptions, 2026–2036</a:t>
                      </a:r>
                      <a:endParaRPr sz="1050"/>
                    </a:p>
                  </a:txBody>
                  <a:tcPr marL="9525" marR="9525" marT="9525" marB="0" anchor="ctr"/>
                </a:tc>
              </a:tr>
              <a:tr h="166688">
                <a:tc>
                  <a:txBody>
                    <a:bodyPr wrap="square"/>
                    <a:lstStyle/>
                    <a:p>
                      <a:pPr algn="l"/>
                      <a:r>
                        <a:rPr sz="1050" b="0" i="0">
                          <a:solidFill>
                            <a:srgbClr val="000000"/>
                          </a:solidFill>
                          <a:latin typeface="Calibri"/>
                        </a:rPr>
                        <a:t>Table 199: Global Market Client Opportunity Prioritisation by Therapy Format, 2026–2036</a:t>
                      </a:r>
                      <a:endParaRPr sz="1050"/>
                    </a:p>
                  </a:txBody>
                  <a:tcPr marL="9525" marR="9525" marT="9525" marB="0" anchor="ctr"/>
                </a:tc>
              </a:tr>
              <a:tr h="166688">
                <a:tc>
                  <a:txBody>
                    <a:bodyPr wrap="square"/>
                    <a:lstStyle/>
                    <a:p>
                      <a:pPr algn="l"/>
                      <a:r>
                        <a:rPr sz="1050" b="0" i="0">
                          <a:solidFill>
                            <a:srgbClr val="000000"/>
                          </a:solidFill>
                          <a:latin typeface="Calibri"/>
                        </a:rPr>
                        <a:t>Table 200: Global Market Customer Purchase Criteria by Therapy Format, 2026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567305"/>
            <a:ext cx="7239000" cy="247650"/>
          </a:xfrm>
          <a:prstGeom prst="rect">
            <a:avLst/>
          </a:prstGeom>
          <a:noFill/>
        </p:spPr>
        <p:txBody>
          <a:bodyPr wrap="none" lIns="0" tIns="0">
            <a:spAutoFit/>
          </a:bodyPr>
          <a:lstStyle/>
          <a:p>
            <a:r>
              <a:rPr sz="1400" b="0">
                <a:solidFill>
                  <a:srgbClr val="8FC8F2"/>
                </a:solidFill>
                <a:latin typeface="Calibri"/>
              </a:rPr>
              <a:t>Allergy Immunotherapy Market</a:t>
            </a:r>
          </a:p>
        </p:txBody>
      </p:sp>
      <p:sp>
        <p:nvSpPr>
          <p:cNvPr id="6" name="FMI Breaker Title"/>
          <p:cNvSpPr txBox="1"/>
          <p:nvPr/>
        </p:nvSpPr>
        <p:spPr>
          <a:xfrm>
            <a:off x="914400" y="2872105"/>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576955"/>
            <a:ext cx="5067300" cy="210312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Therapy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Allergen Class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Commercial Product Model</a:t>
            </a:r>
          </a:p>
        </p:txBody>
      </p:sp>
      <p:sp>
        <p:nvSpPr>
          <p:cNvPr id="8" name="TextBox 7"/>
          <p:cNvSpPr txBox="1"/>
          <p:nvPr/>
        </p:nvSpPr>
        <p:spPr>
          <a:xfrm>
            <a:off x="6096000" y="3576955"/>
            <a:ext cx="5067300" cy="2142490"/>
          </a:xfrm>
          <a:prstGeom prst="rect">
            <a:avLst/>
          </a:prstGeom>
          <a:noFill/>
        </p:spPr>
        <p:txBody>
          <a:bodyPr wrap="square" lIns="0" rIns="0" tIns="0" bIns="0">
            <a:spAutoFit/>
          </a:bodyPr>
          <a:lstStyle/>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Allergen Preparation Technology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Allergen Composition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Sales / Procurement Channel</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Company × Allergen Class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Company × Therapy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Company × Allergen Preparation Technology</a:t>
            </a:r>
          </a:p>
        </p:txBody>
      </p:sp>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Summary, By Volume (Patient Treatment Courses)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(PATIENT TREATMENT COURSES)</a:t>
            </a:r>
          </a:p>
          <a:p>
            <a:pPr algn="ctr">
              <a:lnSpc>
                <a:spcPct val="95000"/>
              </a:lnSpc>
            </a:pPr>
            <a:r>
              <a:rPr sz="1500" b="1">
                <a:solidFill>
                  <a:srgbClr val="0E72AE"/>
                </a:solidFill>
                <a:latin typeface="Calibri"/>
              </a:rPr>
              <a:t> </a:t>
            </a:r>
          </a:p>
        </p:txBody>
      </p:sp>
      <p:sp>
        <p:nvSpPr>
          <p:cNvPr id="12" name="Rounded Rectangle 11"/>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(PATIENT TREATMENT COURSES)</a:t>
            </a:r>
          </a:p>
          <a:p>
            <a:pPr algn="ctr">
              <a:lnSpc>
                <a:spcPct val="95000"/>
              </a:lnSpc>
            </a:pPr>
            <a:r>
              <a:rPr sz="1500" b="1">
                <a:solidFill>
                  <a:srgbClr val="0E72AE"/>
                </a:solidFill>
                <a:latin typeface="Calibri"/>
              </a:rPr>
              <a:t> </a:t>
            </a:r>
          </a:p>
        </p:txBody>
      </p:sp>
      <p:sp>
        <p:nvSpPr>
          <p:cNvPr id="13" name="Rounded Rectangle 12"/>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4" name="Rounded Rectangle 13"/>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5" name="Rounded Rectangle 14"/>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8" name="Rounded Rectangle 17"/>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(Patient Treatment Courses)</a:t>
            </a:r>
          </a:p>
        </p:txBody>
      </p:sp>
      <p:graphicFrame>
        <p:nvGraphicFramePr>
          <p:cNvPr id="20" name="Chart 19"/>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1" name="Rounded Rectangle 20"/>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3" name="Rectangle 22"/>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5" name="Rounded Rectangle 24"/>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7" name="Rectangle 26"/>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6"/>
          <a:stretch>
            <a:fillRect/>
          </a:stretch>
        </p:blipFill>
        <p:spPr>
          <a:xfrm>
            <a:off x="1502569"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45029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75128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10522744" y="1250587"/>
            <a:ext cx="157162" cy="228600"/>
          </a:xfrm>
          <a:prstGeom prst="rect">
            <a:avLst/>
          </a:prstGeom>
        </p:spPr>
      </p:pic>
      <p:pic>
        <p:nvPicPr>
          <p:cNvPr id="34" name="Picture 33" descr="lock.png"/>
          <p:cNvPicPr>
            <a:picLocks noChangeAspect="1"/>
          </p:cNvPicPr>
          <p:nvPr/>
        </p:nvPicPr>
        <p:blipFill>
          <a:blip r:embed="rId6"/>
          <a:stretch>
            <a:fillRect/>
          </a:stretch>
        </p:blipFill>
        <p:spPr>
          <a:xfrm>
            <a:off x="3991062" y="5157531"/>
            <a:ext cx="289830" cy="421571"/>
          </a:xfrm>
          <a:prstGeom prst="rect">
            <a:avLst/>
          </a:prstGeom>
        </p:spPr>
      </p:pic>
      <p:sp>
        <p:nvSpPr>
          <p:cNvPr id="35" name="TextBox 34"/>
          <p:cNvSpPr txBox="1"/>
          <p:nvPr/>
        </p:nvSpPr>
        <p:spPr>
          <a:xfrm>
            <a:off x="8048625" y="2046987"/>
            <a:ext cx="3560241" cy="186689"/>
          </a:xfrm>
          <a:prstGeom prst="rect">
            <a:avLst/>
          </a:prstGeom>
          <a:noFill/>
        </p:spPr>
        <p:txBody>
          <a:bodyPr wrap="none" lIns="0" rIns="0" tIns="0" bIns="0">
            <a:spAutoFit/>
          </a:bodyPr>
          <a:lstStyle/>
          <a:p>
            <a:r>
              <a:rPr sz="1100" b="0">
                <a:solidFill>
                  <a:srgbClr val="2E2E2E"/>
                </a:solidFill>
                <a:latin typeface="Calibri"/>
              </a:rPr>
              <a:t>Global allergy immunotherapy market is projected to register</a:t>
            </a:r>
          </a:p>
        </p:txBody>
      </p:sp>
      <p:pic>
        <p:nvPicPr>
          <p:cNvPr id="36" name="Picture 35" descr="lock.png"/>
          <p:cNvPicPr>
            <a:picLocks noChangeAspect="1"/>
          </p:cNvPicPr>
          <p:nvPr/>
        </p:nvPicPr>
        <p:blipFill>
          <a:blip r:embed="rId6"/>
          <a:stretch>
            <a:fillRect/>
          </a:stretch>
        </p:blipFill>
        <p:spPr>
          <a:xfrm>
            <a:off x="11556918" y="2037208"/>
            <a:ext cx="128699" cy="187198"/>
          </a:xfrm>
          <a:prstGeom prst="rect">
            <a:avLst/>
          </a:prstGeom>
        </p:spPr>
      </p:pic>
      <p:sp>
        <p:nvSpPr>
          <p:cNvPr id="37" name="TextBox 36"/>
          <p:cNvSpPr txBox="1"/>
          <p:nvPr/>
        </p:nvSpPr>
        <p:spPr>
          <a:xfrm>
            <a:off x="11724414" y="2046987"/>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38" name="TextBox 37"/>
          <p:cNvSpPr txBox="1"/>
          <p:nvPr/>
        </p:nvSpPr>
        <p:spPr>
          <a:xfrm>
            <a:off x="8048625" y="2214627"/>
            <a:ext cx="3608809" cy="186689"/>
          </a:xfrm>
          <a:prstGeom prst="rect">
            <a:avLst/>
          </a:prstGeom>
          <a:noFill/>
        </p:spPr>
        <p:txBody>
          <a:bodyPr wrap="none" lIns="0" rIns="0" tIns="0" bIns="0">
            <a:spAutoFit/>
          </a:bodyPr>
          <a:lstStyle/>
          <a:p>
            <a:r>
              <a:rPr sz="1100" b="0">
                <a:solidFill>
                  <a:srgbClr val="2E2E2E"/>
                </a:solidFill>
                <a:latin typeface="Calibri"/>
              </a:rPr>
              <a:t>increase in volume by the end of forecast period, 2036. Global</a:t>
            </a:r>
          </a:p>
        </p:txBody>
      </p:sp>
      <p:sp>
        <p:nvSpPr>
          <p:cNvPr id="39" name="TextBox 38"/>
          <p:cNvSpPr txBox="1"/>
          <p:nvPr/>
        </p:nvSpPr>
        <p:spPr>
          <a:xfrm>
            <a:off x="8048625" y="2382267"/>
            <a:ext cx="2798167" cy="186689"/>
          </a:xfrm>
          <a:prstGeom prst="rect">
            <a:avLst/>
          </a:prstGeom>
          <a:noFill/>
        </p:spPr>
        <p:txBody>
          <a:bodyPr wrap="none" lIns="0" rIns="0" tIns="0" bIns="0">
            <a:spAutoFit/>
          </a:bodyPr>
          <a:lstStyle/>
          <a:p>
            <a:r>
              <a:rPr sz="1100" b="0">
                <a:solidFill>
                  <a:srgbClr val="2E2E2E"/>
                </a:solidFill>
                <a:latin typeface="Calibri"/>
              </a:rPr>
              <a:t>allergy immunotherapy market volume stood at</a:t>
            </a:r>
          </a:p>
        </p:txBody>
      </p:sp>
      <p:pic>
        <p:nvPicPr>
          <p:cNvPr id="40" name="Picture 39" descr="lock.png"/>
          <p:cNvPicPr>
            <a:picLocks noChangeAspect="1"/>
          </p:cNvPicPr>
          <p:nvPr/>
        </p:nvPicPr>
        <p:blipFill>
          <a:blip r:embed="rId6"/>
          <a:stretch>
            <a:fillRect/>
          </a:stretch>
        </p:blipFill>
        <p:spPr>
          <a:xfrm>
            <a:off x="10794843" y="2372488"/>
            <a:ext cx="128699" cy="187198"/>
          </a:xfrm>
          <a:prstGeom prst="rect">
            <a:avLst/>
          </a:prstGeom>
        </p:spPr>
      </p:pic>
      <p:sp>
        <p:nvSpPr>
          <p:cNvPr id="41" name="TextBox 40"/>
          <p:cNvSpPr txBox="1"/>
          <p:nvPr/>
        </p:nvSpPr>
        <p:spPr>
          <a:xfrm>
            <a:off x="10962339" y="2382267"/>
            <a:ext cx="484385" cy="186689"/>
          </a:xfrm>
          <a:prstGeom prst="rect">
            <a:avLst/>
          </a:prstGeom>
          <a:noFill/>
        </p:spPr>
        <p:txBody>
          <a:bodyPr wrap="none" lIns="0" rIns="0" tIns="0" bIns="0">
            <a:spAutoFit/>
          </a:bodyPr>
          <a:lstStyle/>
          <a:p>
            <a:r>
              <a:rPr sz="1100" b="0">
                <a:solidFill>
                  <a:srgbClr val="2E2E2E"/>
                </a:solidFill>
                <a:latin typeface="Calibri"/>
              </a:rPr>
              <a:t>Patient</a:t>
            </a:r>
          </a:p>
        </p:txBody>
      </p:sp>
      <p:sp>
        <p:nvSpPr>
          <p:cNvPr id="42" name="TextBox 41"/>
          <p:cNvSpPr txBox="1"/>
          <p:nvPr/>
        </p:nvSpPr>
        <p:spPr>
          <a:xfrm>
            <a:off x="8048625" y="2549907"/>
            <a:ext cx="3030909" cy="186689"/>
          </a:xfrm>
          <a:prstGeom prst="rect">
            <a:avLst/>
          </a:prstGeom>
          <a:noFill/>
        </p:spPr>
        <p:txBody>
          <a:bodyPr wrap="none" lIns="0" rIns="0" tIns="0" bIns="0">
            <a:spAutoFit/>
          </a:bodyPr>
          <a:lstStyle/>
          <a:p>
            <a:r>
              <a:rPr sz="1100" b="0">
                <a:solidFill>
                  <a:srgbClr val="2E2E2E"/>
                </a:solidFill>
                <a:latin typeface="Calibri"/>
              </a:rPr>
              <a:t>Treatment Courses in 2025 and is expected to reach</a:t>
            </a:r>
          </a:p>
        </p:txBody>
      </p:sp>
      <p:pic>
        <p:nvPicPr>
          <p:cNvPr id="43" name="Picture 42" descr="lock.png"/>
          <p:cNvPicPr>
            <a:picLocks noChangeAspect="1"/>
          </p:cNvPicPr>
          <p:nvPr/>
        </p:nvPicPr>
        <p:blipFill>
          <a:blip r:embed="rId6"/>
          <a:stretch>
            <a:fillRect/>
          </a:stretch>
        </p:blipFill>
        <p:spPr>
          <a:xfrm>
            <a:off x="11027586" y="2540128"/>
            <a:ext cx="128699" cy="187198"/>
          </a:xfrm>
          <a:prstGeom prst="rect">
            <a:avLst/>
          </a:prstGeom>
        </p:spPr>
      </p:pic>
      <p:sp>
        <p:nvSpPr>
          <p:cNvPr id="44" name="TextBox 43"/>
          <p:cNvSpPr txBox="1"/>
          <p:nvPr/>
        </p:nvSpPr>
        <p:spPr>
          <a:xfrm>
            <a:off x="11195081" y="2549907"/>
            <a:ext cx="484385" cy="186689"/>
          </a:xfrm>
          <a:prstGeom prst="rect">
            <a:avLst/>
          </a:prstGeom>
          <a:noFill/>
        </p:spPr>
        <p:txBody>
          <a:bodyPr wrap="none" lIns="0" rIns="0" tIns="0" bIns="0">
            <a:spAutoFit/>
          </a:bodyPr>
          <a:lstStyle/>
          <a:p>
            <a:r>
              <a:rPr sz="1100" b="0">
                <a:solidFill>
                  <a:srgbClr val="2E2E2E"/>
                </a:solidFill>
                <a:latin typeface="Calibri"/>
              </a:rPr>
              <a:t>Patient</a:t>
            </a:r>
          </a:p>
        </p:txBody>
      </p:sp>
      <p:sp>
        <p:nvSpPr>
          <p:cNvPr id="45" name="TextBox 44"/>
          <p:cNvSpPr txBox="1"/>
          <p:nvPr/>
        </p:nvSpPr>
        <p:spPr>
          <a:xfrm>
            <a:off x="8048625" y="2717547"/>
            <a:ext cx="2668272" cy="186689"/>
          </a:xfrm>
          <a:prstGeom prst="rect">
            <a:avLst/>
          </a:prstGeom>
          <a:noFill/>
        </p:spPr>
        <p:txBody>
          <a:bodyPr wrap="none" lIns="0" rIns="0" tIns="0" bIns="0">
            <a:spAutoFit/>
          </a:bodyPr>
          <a:lstStyle/>
          <a:p>
            <a:r>
              <a:rPr sz="1100" b="0">
                <a:solidFill>
                  <a:srgbClr val="2E2E2E"/>
                </a:solidFill>
                <a:latin typeface="Calibri"/>
              </a:rPr>
              <a:t>Treatment Courses by 2036 end, at a CAGR of</a:t>
            </a:r>
          </a:p>
        </p:txBody>
      </p:sp>
      <p:pic>
        <p:nvPicPr>
          <p:cNvPr id="46" name="Picture 45" descr="lock.png"/>
          <p:cNvPicPr>
            <a:picLocks noChangeAspect="1"/>
          </p:cNvPicPr>
          <p:nvPr/>
        </p:nvPicPr>
        <p:blipFill>
          <a:blip r:embed="rId6"/>
          <a:stretch>
            <a:fillRect/>
          </a:stretch>
        </p:blipFill>
        <p:spPr>
          <a:xfrm>
            <a:off x="10664949" y="2707768"/>
            <a:ext cx="128699" cy="187198"/>
          </a:xfrm>
          <a:prstGeom prst="rect">
            <a:avLst/>
          </a:prstGeom>
        </p:spPr>
      </p:pic>
      <p:sp>
        <p:nvSpPr>
          <p:cNvPr id="47" name="TextBox 46"/>
          <p:cNvSpPr txBox="1"/>
          <p:nvPr/>
        </p:nvSpPr>
        <p:spPr>
          <a:xfrm>
            <a:off x="10832445"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8" name="TextBox 47"/>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9" name="TextBox 48"/>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50" name="TextBox 49"/>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51" name="Picture 50" descr="lock.png"/>
          <p:cNvPicPr>
            <a:picLocks noChangeAspect="1"/>
          </p:cNvPicPr>
          <p:nvPr/>
        </p:nvPicPr>
        <p:blipFill>
          <a:blip r:embed="rId6"/>
          <a:stretch>
            <a:fillRect/>
          </a:stretch>
        </p:blipFill>
        <p:spPr>
          <a:xfrm>
            <a:off x="10866614" y="4446251"/>
            <a:ext cx="134549" cy="195707"/>
          </a:xfrm>
          <a:prstGeom prst="rect">
            <a:avLst/>
          </a:prstGeom>
        </p:spPr>
      </p:pic>
      <p:sp>
        <p:nvSpPr>
          <p:cNvPr id="52" name="TextBox 51"/>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3" name="TextBox 52"/>
          <p:cNvSpPr txBox="1"/>
          <p:nvPr/>
        </p:nvSpPr>
        <p:spPr>
          <a:xfrm>
            <a:off x="8048625" y="4684312"/>
            <a:ext cx="3681238" cy="194310"/>
          </a:xfrm>
          <a:prstGeom prst="rect">
            <a:avLst/>
          </a:prstGeom>
          <a:noFill/>
        </p:spPr>
        <p:txBody>
          <a:bodyPr wrap="none" lIns="0" rIns="0" tIns="0" bIns="0">
            <a:spAutoFit/>
          </a:bodyPr>
          <a:lstStyle/>
          <a:p>
            <a:r>
              <a:rPr sz="1150" b="0">
                <a:solidFill>
                  <a:srgbClr val="2E2E2E"/>
                </a:solidFill>
                <a:latin typeface="Calibri"/>
              </a:rPr>
              <a:t>▪ Demand concentrates in 'Sublingual Immunotherapy (SLIT)'</a:t>
            </a:r>
          </a:p>
        </p:txBody>
      </p:sp>
      <p:sp>
        <p:nvSpPr>
          <p:cNvPr id="54" name="TextBox 53"/>
          <p:cNvSpPr txBox="1"/>
          <p:nvPr/>
        </p:nvSpPr>
        <p:spPr>
          <a:xfrm>
            <a:off x="8048625" y="4859572"/>
            <a:ext cx="1468778" cy="194310"/>
          </a:xfrm>
          <a:prstGeom prst="rect">
            <a:avLst/>
          </a:prstGeom>
          <a:noFill/>
        </p:spPr>
        <p:txBody>
          <a:bodyPr wrap="none" lIns="0" rIns="0" tIns="0" bIns="0">
            <a:spAutoFit/>
          </a:bodyPr>
          <a:lstStyle/>
          <a:p>
            <a:r>
              <a:rPr sz="1150" b="0">
                <a:solidFill>
                  <a:srgbClr val="2E2E2E"/>
                </a:solidFill>
                <a:latin typeface="Calibri"/>
              </a:rPr>
              <a:t>within Therapy Format.</a:t>
            </a:r>
          </a:p>
        </p:txBody>
      </p:sp>
      <p:sp>
        <p:nvSpPr>
          <p:cNvPr id="55" name="TextBox 54"/>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6" name="TextBox 55"/>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7" name="lockshield_17"/>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20"/>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Therapy Format  ·  range across 2021–2036 (US$/Patient Treatment Courses)</a:t>
            </a:r>
          </a:p>
        </p:txBody>
      </p:sp>
      <p:cxnSp>
        <p:nvCxnSpPr>
          <p:cNvPr id="13" name="Connector 12"/>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57225" y="1452945"/>
            <a:ext cx="0" cy="18839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33369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8659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23949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92394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4" name="FMI Scale tick"/>
          <p:cNvSpPr txBox="1"/>
          <p:nvPr/>
        </p:nvSpPr>
        <p:spPr>
          <a:xfrm>
            <a:off x="219075" y="3270260"/>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5" name="FMI Scale tick"/>
          <p:cNvSpPr txBox="1"/>
          <p:nvPr/>
        </p:nvSpPr>
        <p:spPr>
          <a:xfrm>
            <a:off x="219075" y="232826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6"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7" name="Connector 26"/>
          <p:cNvCxnSpPr/>
          <p:nvPr/>
        </p:nvCxnSpPr>
        <p:spPr>
          <a:xfrm flipV="1">
            <a:off x="1825625" y="1670329"/>
            <a:ext cx="0" cy="36753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694180" y="203786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6941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606550" y="1760035"/>
            <a:ext cx="438150" cy="18384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606550" y="1851248"/>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7225" y="1517929"/>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3" name="Connector 32"/>
          <p:cNvCxnSpPr/>
          <p:nvPr/>
        </p:nvCxnSpPr>
        <p:spPr>
          <a:xfrm flipV="1">
            <a:off x="4162425" y="2826386"/>
            <a:ext cx="0" cy="29316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0309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0980" y="282638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3943350" y="2896536"/>
            <a:ext cx="438150" cy="146703"/>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3943350" y="2968858"/>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94025" y="2673986"/>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9" name="Connector 38"/>
          <p:cNvCxnSpPr/>
          <p:nvPr/>
        </p:nvCxnSpPr>
        <p:spPr>
          <a:xfrm flipV="1">
            <a:off x="6499225" y="2413791"/>
            <a:ext cx="0" cy="28318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367780" y="269697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367780" y="241379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6280150" y="2481938"/>
            <a:ext cx="438150" cy="14175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6280150" y="255197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330825" y="2261391"/>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45" name="TextBox 44"/>
          <p:cNvSpPr txBox="1"/>
          <p:nvPr/>
        </p:nvSpPr>
        <p:spPr>
          <a:xfrm>
            <a:off x="6572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Subcutaneous Immunoth…</a:t>
            </a:r>
          </a:p>
        </p:txBody>
      </p:sp>
      <p:sp>
        <p:nvSpPr>
          <p:cNvPr id="46" name="TextBox 45"/>
          <p:cNvSpPr txBox="1"/>
          <p:nvPr/>
        </p:nvSpPr>
        <p:spPr>
          <a:xfrm>
            <a:off x="29940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Sublingual Immunother…</a:t>
            </a:r>
          </a:p>
        </p:txBody>
      </p:sp>
      <p:sp>
        <p:nvSpPr>
          <p:cNvPr id="47" name="TextBox 46"/>
          <p:cNvSpPr txBox="1"/>
          <p:nvPr/>
        </p:nvSpPr>
        <p:spPr>
          <a:xfrm>
            <a:off x="53308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Oral Immunotherapy</a:t>
            </a:r>
          </a:p>
        </p:txBody>
      </p:sp>
      <p:sp>
        <p:nvSpPr>
          <p:cNvPr id="48" name="Rounded Rectangle 47"/>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50" name="Connector 49"/>
          <p:cNvCxnSpPr/>
          <p:nvPr/>
        </p:nvCxnSpPr>
        <p:spPr>
          <a:xfrm>
            <a:off x="619125" y="431823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19125" y="472900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19125" y="555054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19125" y="596131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19125" y="4318233"/>
            <a:ext cx="0" cy="1643086"/>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550" y="431823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90550" y="472900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90550" y="555054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90550" y="596131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61" name="FMI Scale tick"/>
          <p:cNvSpPr txBox="1"/>
          <p:nvPr/>
        </p:nvSpPr>
        <p:spPr>
          <a:xfrm>
            <a:off x="219075" y="4251558"/>
            <a:ext cx="361950" cy="13335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62" name="FMI Scale tick"/>
          <p:cNvSpPr txBox="1"/>
          <p:nvPr/>
        </p:nvSpPr>
        <p:spPr>
          <a:xfrm>
            <a:off x="219075" y="4662329"/>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63" name="FMI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64" name="FMI Scale tick"/>
          <p:cNvSpPr txBox="1"/>
          <p:nvPr/>
        </p:nvSpPr>
        <p:spPr>
          <a:xfrm>
            <a:off x="219075" y="5483872"/>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65" name="FMI Scale tick"/>
          <p:cNvSpPr txBox="1"/>
          <p:nvPr/>
        </p:nvSpPr>
        <p:spPr>
          <a:xfrm>
            <a:off x="219075" y="5894644"/>
            <a:ext cx="361950" cy="133350"/>
          </a:xfrm>
          <a:prstGeom prst="rect">
            <a:avLst/>
          </a:prstGeom>
          <a:noFill/>
        </p:spPr>
        <p:txBody>
          <a:bodyPr wrap="none" lIns="0" rIns="0" tIns="0" bIns="0" anchor="ctr">
            <a:spAutoFit/>
          </a:bodyPr>
          <a:lstStyle/>
          <a:p>
            <a:pPr algn="r"/>
            <a:r>
              <a:rPr sz="1100" b="0">
                <a:solidFill>
                  <a:srgbClr val="6C7A89"/>
                </a:solidFill>
                <a:latin typeface="Calibri"/>
              </a:rPr>
              <a:t>-50%</a:t>
            </a:r>
          </a:p>
        </p:txBody>
      </p:sp>
      <p:cxnSp>
        <p:nvCxnSpPr>
          <p:cNvPr id="66" name="Connector 65"/>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977900"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MI Data Label"/>
          <p:cNvSpPr txBox="1"/>
          <p:nvPr/>
        </p:nvSpPr>
        <p:spPr>
          <a:xfrm>
            <a:off x="619125" y="428058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9" name="Rectangle 68"/>
          <p:cNvSpPr/>
          <p:nvPr/>
        </p:nvSpPr>
        <p:spPr>
          <a:xfrm>
            <a:off x="2152650" y="5139776"/>
            <a:ext cx="457200" cy="70063"/>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MI Data Label"/>
          <p:cNvSpPr txBox="1"/>
          <p:nvPr/>
        </p:nvSpPr>
        <p:spPr>
          <a:xfrm>
            <a:off x="1793875" y="5219364"/>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1" name="Rectangle 70"/>
          <p:cNvSpPr/>
          <p:nvPr/>
        </p:nvSpPr>
        <p:spPr>
          <a:xfrm>
            <a:off x="3327400" y="4705823"/>
            <a:ext cx="457200" cy="43395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MI Data Label"/>
          <p:cNvSpPr txBox="1"/>
          <p:nvPr/>
        </p:nvSpPr>
        <p:spPr>
          <a:xfrm>
            <a:off x="2968625" y="4562948"/>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3" name="Rectangle 72"/>
          <p:cNvSpPr/>
          <p:nvPr/>
        </p:nvSpPr>
        <p:spPr>
          <a:xfrm>
            <a:off x="4502150" y="5139776"/>
            <a:ext cx="457200" cy="51491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MI Data Label"/>
          <p:cNvSpPr txBox="1"/>
          <p:nvPr/>
        </p:nvSpPr>
        <p:spPr>
          <a:xfrm>
            <a:off x="4143375" y="5664214"/>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5" name="Rectangle 74"/>
          <p:cNvSpPr/>
          <p:nvPr/>
        </p:nvSpPr>
        <p:spPr>
          <a:xfrm>
            <a:off x="5676900" y="5139776"/>
            <a:ext cx="457200" cy="663451"/>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MI Data Label"/>
          <p:cNvSpPr txBox="1"/>
          <p:nvPr/>
        </p:nvSpPr>
        <p:spPr>
          <a:xfrm>
            <a:off x="5318125" y="581275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7" name="Rectangle 76"/>
          <p:cNvSpPr/>
          <p:nvPr/>
        </p:nvSpPr>
        <p:spPr>
          <a:xfrm>
            <a:off x="6851650" y="5139776"/>
            <a:ext cx="457200" cy="13810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MI Data Label"/>
          <p:cNvSpPr txBox="1"/>
          <p:nvPr/>
        </p:nvSpPr>
        <p:spPr>
          <a:xfrm>
            <a:off x="6492875" y="5287405"/>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9" name="TextBox 78"/>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80" name="TextBox 79"/>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81" name="TextBox 80"/>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82" name="TextBox 81"/>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83" name="TextBox 82"/>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84" name="TextBox 83"/>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85" name="Rounded Rectangle 84"/>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87" name="Rectangle 86"/>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89" name="TextBox 8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90" name="Picture 89" descr="lock.png"/>
          <p:cNvPicPr>
            <a:picLocks noChangeAspect="1"/>
          </p:cNvPicPr>
          <p:nvPr/>
        </p:nvPicPr>
        <p:blipFill>
          <a:blip r:embed="rId4"/>
          <a:stretch>
            <a:fillRect/>
          </a:stretch>
        </p:blipFill>
        <p:spPr>
          <a:xfrm>
            <a:off x="1761275" y="1491005"/>
            <a:ext cx="128699" cy="187198"/>
          </a:xfrm>
          <a:prstGeom prst="rect">
            <a:avLst/>
          </a:prstGeom>
        </p:spPr>
      </p:pic>
      <p:pic>
        <p:nvPicPr>
          <p:cNvPr id="91" name="Picture 90" descr="lock.png"/>
          <p:cNvPicPr>
            <a:picLocks noChangeAspect="1"/>
          </p:cNvPicPr>
          <p:nvPr/>
        </p:nvPicPr>
        <p:blipFill>
          <a:blip r:embed="rId4"/>
          <a:stretch>
            <a:fillRect/>
          </a:stretch>
        </p:blipFill>
        <p:spPr>
          <a:xfrm>
            <a:off x="4098075" y="2647062"/>
            <a:ext cx="128699" cy="187198"/>
          </a:xfrm>
          <a:prstGeom prst="rect">
            <a:avLst/>
          </a:prstGeom>
        </p:spPr>
      </p:pic>
      <p:pic>
        <p:nvPicPr>
          <p:cNvPr id="92" name="Picture 91" descr="lock.png"/>
          <p:cNvPicPr>
            <a:picLocks noChangeAspect="1"/>
          </p:cNvPicPr>
          <p:nvPr/>
        </p:nvPicPr>
        <p:blipFill>
          <a:blip r:embed="rId4"/>
          <a:stretch>
            <a:fillRect/>
          </a:stretch>
        </p:blipFill>
        <p:spPr>
          <a:xfrm>
            <a:off x="6434875" y="2234467"/>
            <a:ext cx="128699" cy="187198"/>
          </a:xfrm>
          <a:prstGeom prst="rect">
            <a:avLst/>
          </a:prstGeom>
        </p:spPr>
      </p:pic>
      <p:pic>
        <p:nvPicPr>
          <p:cNvPr id="93" name="Picture 92" descr="lock.png"/>
          <p:cNvPicPr>
            <a:picLocks noChangeAspect="1"/>
          </p:cNvPicPr>
          <p:nvPr/>
        </p:nvPicPr>
        <p:blipFill>
          <a:blip r:embed="rId4"/>
          <a:stretch>
            <a:fillRect/>
          </a:stretch>
        </p:blipFill>
        <p:spPr>
          <a:xfrm>
            <a:off x="1142150" y="4253659"/>
            <a:ext cx="128699" cy="187198"/>
          </a:xfrm>
          <a:prstGeom prst="rect">
            <a:avLst/>
          </a:prstGeom>
        </p:spPr>
      </p:pic>
      <p:pic>
        <p:nvPicPr>
          <p:cNvPr id="94" name="Picture 93" descr="lock.png"/>
          <p:cNvPicPr>
            <a:picLocks noChangeAspect="1"/>
          </p:cNvPicPr>
          <p:nvPr/>
        </p:nvPicPr>
        <p:blipFill>
          <a:blip r:embed="rId4"/>
          <a:stretch>
            <a:fillRect/>
          </a:stretch>
        </p:blipFill>
        <p:spPr>
          <a:xfrm>
            <a:off x="2316900" y="5192439"/>
            <a:ext cx="128699" cy="187198"/>
          </a:xfrm>
          <a:prstGeom prst="rect">
            <a:avLst/>
          </a:prstGeom>
        </p:spPr>
      </p:pic>
      <p:pic>
        <p:nvPicPr>
          <p:cNvPr id="95" name="Picture 94" descr="lock.png"/>
          <p:cNvPicPr>
            <a:picLocks noChangeAspect="1"/>
          </p:cNvPicPr>
          <p:nvPr/>
        </p:nvPicPr>
        <p:blipFill>
          <a:blip r:embed="rId4"/>
          <a:stretch>
            <a:fillRect/>
          </a:stretch>
        </p:blipFill>
        <p:spPr>
          <a:xfrm>
            <a:off x="3491650" y="4536024"/>
            <a:ext cx="128699" cy="187198"/>
          </a:xfrm>
          <a:prstGeom prst="rect">
            <a:avLst/>
          </a:prstGeom>
        </p:spPr>
      </p:pic>
      <p:pic>
        <p:nvPicPr>
          <p:cNvPr id="96" name="Picture 95" descr="lock.png"/>
          <p:cNvPicPr>
            <a:picLocks noChangeAspect="1"/>
          </p:cNvPicPr>
          <p:nvPr/>
        </p:nvPicPr>
        <p:blipFill>
          <a:blip r:embed="rId4"/>
          <a:stretch>
            <a:fillRect/>
          </a:stretch>
        </p:blipFill>
        <p:spPr>
          <a:xfrm>
            <a:off x="4666400" y="5637290"/>
            <a:ext cx="128699" cy="187198"/>
          </a:xfrm>
          <a:prstGeom prst="rect">
            <a:avLst/>
          </a:prstGeom>
        </p:spPr>
      </p:pic>
      <p:pic>
        <p:nvPicPr>
          <p:cNvPr id="97" name="Picture 96" descr="lock.png"/>
          <p:cNvPicPr>
            <a:picLocks noChangeAspect="1"/>
          </p:cNvPicPr>
          <p:nvPr/>
        </p:nvPicPr>
        <p:blipFill>
          <a:blip r:embed="rId4"/>
          <a:stretch>
            <a:fillRect/>
          </a:stretch>
        </p:blipFill>
        <p:spPr>
          <a:xfrm>
            <a:off x="5841150" y="5785828"/>
            <a:ext cx="128699" cy="187198"/>
          </a:xfrm>
          <a:prstGeom prst="rect">
            <a:avLst/>
          </a:prstGeom>
        </p:spPr>
      </p:pic>
      <p:pic>
        <p:nvPicPr>
          <p:cNvPr id="98" name="Picture 97" descr="lock.png"/>
          <p:cNvPicPr>
            <a:picLocks noChangeAspect="1"/>
          </p:cNvPicPr>
          <p:nvPr/>
        </p:nvPicPr>
        <p:blipFill>
          <a:blip r:embed="rId4"/>
          <a:stretch>
            <a:fillRect/>
          </a:stretch>
        </p:blipFill>
        <p:spPr>
          <a:xfrm>
            <a:off x="7015900" y="5260480"/>
            <a:ext cx="128699" cy="187198"/>
          </a:xfrm>
          <a:prstGeom prst="rect">
            <a:avLst/>
          </a:prstGeom>
        </p:spPr>
      </p:pic>
      <p:sp>
        <p:nvSpPr>
          <p:cNvPr id="99" name="TextBox 98"/>
          <p:cNvSpPr txBox="1"/>
          <p:nvPr/>
        </p:nvSpPr>
        <p:spPr>
          <a:xfrm>
            <a:off x="8048625" y="1471995"/>
            <a:ext cx="3690937" cy="194310"/>
          </a:xfrm>
          <a:prstGeom prst="rect">
            <a:avLst/>
          </a:prstGeom>
          <a:noFill/>
        </p:spPr>
        <p:txBody>
          <a:bodyPr wrap="none" lIns="0" rIns="0" tIns="0" bIns="0">
            <a:spAutoFit/>
          </a:bodyPr>
          <a:lstStyle/>
          <a:p>
            <a:r>
              <a:rPr sz="1150" b="0">
                <a:solidFill>
                  <a:srgbClr val="2E2E2E"/>
                </a:solidFill>
                <a:latin typeface="Calibri"/>
              </a:rPr>
              <a:t>Subcutaneous immunotherapy (SCIT) segment is expected to</a:t>
            </a:r>
          </a:p>
        </p:txBody>
      </p:sp>
      <p:sp>
        <p:nvSpPr>
          <p:cNvPr id="100" name="TextBox 99"/>
          <p:cNvSpPr txBox="1"/>
          <p:nvPr/>
        </p:nvSpPr>
        <p:spPr>
          <a:xfrm>
            <a:off x="8048625" y="1647255"/>
            <a:ext cx="2627225" cy="194310"/>
          </a:xfrm>
          <a:prstGeom prst="rect">
            <a:avLst/>
          </a:prstGeom>
          <a:noFill/>
        </p:spPr>
        <p:txBody>
          <a:bodyPr wrap="none" lIns="0" rIns="0" tIns="0" bIns="0">
            <a:spAutoFit/>
          </a:bodyPr>
          <a:lstStyle/>
          <a:p>
            <a:r>
              <a:rPr sz="1150" b="0">
                <a:solidFill>
                  <a:srgbClr val="2E2E2E"/>
                </a:solidFill>
                <a:latin typeface="Calibri"/>
              </a:rPr>
              <a:t>command the highest average price of US$</a:t>
            </a:r>
          </a:p>
        </p:txBody>
      </p:sp>
      <p:pic>
        <p:nvPicPr>
          <p:cNvPr id="101" name="Picture 100" descr="lock.png"/>
          <p:cNvPicPr>
            <a:picLocks noChangeAspect="1"/>
          </p:cNvPicPr>
          <p:nvPr/>
        </p:nvPicPr>
        <p:blipFill>
          <a:blip r:embed="rId4"/>
          <a:stretch>
            <a:fillRect/>
          </a:stretch>
        </p:blipFill>
        <p:spPr>
          <a:xfrm>
            <a:off x="10625004" y="1637031"/>
            <a:ext cx="134549" cy="195707"/>
          </a:xfrm>
          <a:prstGeom prst="rect">
            <a:avLst/>
          </a:prstGeom>
        </p:spPr>
      </p:pic>
      <p:sp>
        <p:nvSpPr>
          <p:cNvPr id="102" name="TextBox 101"/>
          <p:cNvSpPr txBox="1"/>
          <p:nvPr/>
        </p:nvSpPr>
        <p:spPr>
          <a:xfrm>
            <a:off x="10800113" y="1647255"/>
            <a:ext cx="736562" cy="194310"/>
          </a:xfrm>
          <a:prstGeom prst="rect">
            <a:avLst/>
          </a:prstGeom>
          <a:noFill/>
        </p:spPr>
        <p:txBody>
          <a:bodyPr wrap="none" lIns="0" rIns="0" tIns="0" bIns="0">
            <a:spAutoFit/>
          </a:bodyPr>
          <a:lstStyle/>
          <a:p>
            <a:r>
              <a:rPr sz="1150" b="0">
                <a:solidFill>
                  <a:srgbClr val="2E2E2E"/>
                </a:solidFill>
                <a:latin typeface="Calibri"/>
              </a:rPr>
              <a:t>per Patient</a:t>
            </a:r>
          </a:p>
        </p:txBody>
      </p:sp>
      <p:sp>
        <p:nvSpPr>
          <p:cNvPr id="103" name="TextBox 102"/>
          <p:cNvSpPr txBox="1"/>
          <p:nvPr/>
        </p:nvSpPr>
        <p:spPr>
          <a:xfrm>
            <a:off x="8048625" y="1822515"/>
            <a:ext cx="3501774" cy="194310"/>
          </a:xfrm>
          <a:prstGeom prst="rect">
            <a:avLst/>
          </a:prstGeom>
          <a:noFill/>
        </p:spPr>
        <p:txBody>
          <a:bodyPr wrap="none" lIns="0" rIns="0" tIns="0" bIns="0">
            <a:spAutoFit/>
          </a:bodyPr>
          <a:lstStyle/>
          <a:p>
            <a:r>
              <a:rPr sz="1150" b="0">
                <a:solidFill>
                  <a:srgbClr val="2E2E2E"/>
                </a:solidFill>
                <a:latin typeface="Calibri"/>
              </a:rPr>
              <a:t>Treatment Course in 2036. Average selling price of allergy</a:t>
            </a:r>
          </a:p>
        </p:txBody>
      </p:sp>
      <p:sp>
        <p:nvSpPr>
          <p:cNvPr id="104" name="TextBox 103"/>
          <p:cNvSpPr txBox="1"/>
          <p:nvPr/>
        </p:nvSpPr>
        <p:spPr>
          <a:xfrm>
            <a:off x="8048625" y="1997775"/>
            <a:ext cx="2210754" cy="194310"/>
          </a:xfrm>
          <a:prstGeom prst="rect">
            <a:avLst/>
          </a:prstGeom>
          <a:noFill/>
        </p:spPr>
        <p:txBody>
          <a:bodyPr wrap="none" lIns="0" rIns="0" tIns="0" bIns="0">
            <a:spAutoFit/>
          </a:bodyPr>
          <a:lstStyle/>
          <a:p>
            <a:r>
              <a:rPr sz="1150" b="0">
                <a:solidFill>
                  <a:srgbClr val="2E2E2E"/>
                </a:solidFill>
                <a:latin typeface="Calibri"/>
              </a:rPr>
              <a:t>immunotherapy is estimated at US$</a:t>
            </a:r>
          </a:p>
        </p:txBody>
      </p:sp>
      <p:pic>
        <p:nvPicPr>
          <p:cNvPr id="105" name="Picture 104" descr="lock.png"/>
          <p:cNvPicPr>
            <a:picLocks noChangeAspect="1"/>
          </p:cNvPicPr>
          <p:nvPr/>
        </p:nvPicPr>
        <p:blipFill>
          <a:blip r:embed="rId4"/>
          <a:stretch>
            <a:fillRect/>
          </a:stretch>
        </p:blipFill>
        <p:spPr>
          <a:xfrm>
            <a:off x="10208533" y="1987551"/>
            <a:ext cx="134549" cy="195707"/>
          </a:xfrm>
          <a:prstGeom prst="rect">
            <a:avLst/>
          </a:prstGeom>
        </p:spPr>
      </p:pic>
      <p:sp>
        <p:nvSpPr>
          <p:cNvPr id="106" name="TextBox 105"/>
          <p:cNvSpPr txBox="1"/>
          <p:nvPr/>
        </p:nvSpPr>
        <p:spPr>
          <a:xfrm>
            <a:off x="10383643" y="1997775"/>
            <a:ext cx="1398922" cy="194310"/>
          </a:xfrm>
          <a:prstGeom prst="rect">
            <a:avLst/>
          </a:prstGeom>
          <a:noFill/>
        </p:spPr>
        <p:txBody>
          <a:bodyPr wrap="none" lIns="0" rIns="0" tIns="0" bIns="0">
            <a:spAutoFit/>
          </a:bodyPr>
          <a:lstStyle/>
          <a:p>
            <a:r>
              <a:rPr sz="1150" b="0">
                <a:solidFill>
                  <a:srgbClr val="2E2E2E"/>
                </a:solidFill>
                <a:latin typeface="Calibri"/>
              </a:rPr>
              <a:t>per Patient Treatment</a:t>
            </a:r>
          </a:p>
        </p:txBody>
      </p:sp>
      <p:sp>
        <p:nvSpPr>
          <p:cNvPr id="107" name="TextBox 106"/>
          <p:cNvSpPr txBox="1"/>
          <p:nvPr/>
        </p:nvSpPr>
        <p:spPr>
          <a:xfrm>
            <a:off x="8048625" y="2173035"/>
            <a:ext cx="3063664" cy="194310"/>
          </a:xfrm>
          <a:prstGeom prst="rect">
            <a:avLst/>
          </a:prstGeom>
          <a:noFill/>
        </p:spPr>
        <p:txBody>
          <a:bodyPr wrap="none" lIns="0" rIns="0" tIns="0" bIns="0">
            <a:spAutoFit/>
          </a:bodyPr>
          <a:lstStyle/>
          <a:p>
            <a:r>
              <a:rPr sz="1150" b="0">
                <a:solidFill>
                  <a:srgbClr val="2E2E2E"/>
                </a:solidFill>
                <a:latin typeface="Calibri"/>
              </a:rPr>
              <a:t>Course in 2025 and is projected to increase to US$</a:t>
            </a:r>
          </a:p>
        </p:txBody>
      </p:sp>
      <p:pic>
        <p:nvPicPr>
          <p:cNvPr id="108" name="Picture 107" descr="lock.png"/>
          <p:cNvPicPr>
            <a:picLocks noChangeAspect="1"/>
          </p:cNvPicPr>
          <p:nvPr/>
        </p:nvPicPr>
        <p:blipFill>
          <a:blip r:embed="rId4"/>
          <a:stretch>
            <a:fillRect/>
          </a:stretch>
        </p:blipFill>
        <p:spPr>
          <a:xfrm>
            <a:off x="11061443" y="2162811"/>
            <a:ext cx="134549" cy="195707"/>
          </a:xfrm>
          <a:prstGeom prst="rect">
            <a:avLst/>
          </a:prstGeom>
        </p:spPr>
      </p:pic>
      <p:sp>
        <p:nvSpPr>
          <p:cNvPr id="109" name="TextBox 108"/>
          <p:cNvSpPr txBox="1"/>
          <p:nvPr/>
        </p:nvSpPr>
        <p:spPr>
          <a:xfrm>
            <a:off x="11236552" y="217303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110" name="TextBox 109"/>
          <p:cNvSpPr txBox="1"/>
          <p:nvPr/>
        </p:nvSpPr>
        <p:spPr>
          <a:xfrm>
            <a:off x="8048625" y="2348295"/>
            <a:ext cx="2153418" cy="194310"/>
          </a:xfrm>
          <a:prstGeom prst="rect">
            <a:avLst/>
          </a:prstGeom>
          <a:noFill/>
        </p:spPr>
        <p:txBody>
          <a:bodyPr wrap="none" lIns="0" rIns="0" tIns="0" bIns="0">
            <a:spAutoFit/>
          </a:bodyPr>
          <a:lstStyle/>
          <a:p>
            <a:r>
              <a:rPr sz="1150" b="0">
                <a:solidFill>
                  <a:srgbClr val="2E2E2E"/>
                </a:solidFill>
                <a:latin typeface="Calibri"/>
              </a:rPr>
              <a:t>Patient Treatment Course by 2036.</a:t>
            </a:r>
          </a:p>
        </p:txBody>
      </p:sp>
      <p:sp>
        <p:nvSpPr>
          <p:cNvPr id="111" name="TextBox 110"/>
          <p:cNvSpPr txBox="1"/>
          <p:nvPr/>
        </p:nvSpPr>
        <p:spPr>
          <a:xfrm>
            <a:off x="8048625" y="257613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12" name="TextBox 111"/>
          <p:cNvSpPr txBox="1"/>
          <p:nvPr/>
        </p:nvSpPr>
        <p:spPr>
          <a:xfrm>
            <a:off x="8048625" y="275139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13" name="TextBox 112"/>
          <p:cNvSpPr txBox="1"/>
          <p:nvPr/>
        </p:nvSpPr>
        <p:spPr>
          <a:xfrm>
            <a:off x="8048625" y="292665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14" name="Picture 113" descr="lock.png"/>
          <p:cNvPicPr>
            <a:picLocks noChangeAspect="1"/>
          </p:cNvPicPr>
          <p:nvPr/>
        </p:nvPicPr>
        <p:blipFill>
          <a:blip r:embed="rId4"/>
          <a:stretch>
            <a:fillRect/>
          </a:stretch>
        </p:blipFill>
        <p:spPr>
          <a:xfrm>
            <a:off x="8524680" y="2916429"/>
            <a:ext cx="134549" cy="195707"/>
          </a:xfrm>
          <a:prstGeom prst="rect">
            <a:avLst/>
          </a:prstGeom>
        </p:spPr>
      </p:pic>
      <p:sp>
        <p:nvSpPr>
          <p:cNvPr id="115" name="TextBox 114"/>
          <p:cNvSpPr txBox="1"/>
          <p:nvPr/>
        </p:nvSpPr>
        <p:spPr>
          <a:xfrm>
            <a:off x="8699789" y="2926653"/>
            <a:ext cx="2835175" cy="194310"/>
          </a:xfrm>
          <a:prstGeom prst="rect">
            <a:avLst/>
          </a:prstGeom>
          <a:noFill/>
        </p:spPr>
        <p:txBody>
          <a:bodyPr wrap="none" lIns="0" rIns="0" tIns="0" bIns="0">
            <a:spAutoFit/>
          </a:bodyPr>
          <a:lstStyle/>
          <a:p>
            <a:r>
              <a:rPr sz="1150" b="0">
                <a:solidFill>
                  <a:srgbClr val="2E2E2E"/>
                </a:solidFill>
                <a:latin typeface="Calibri"/>
              </a:rPr>
              <a:t>US$/Patient Treatment Courses, 2 of 6 regions</a:t>
            </a:r>
          </a:p>
        </p:txBody>
      </p:sp>
      <p:sp>
        <p:nvSpPr>
          <p:cNvPr id="116" name="TextBox 115"/>
          <p:cNvSpPr txBox="1"/>
          <p:nvPr/>
        </p:nvSpPr>
        <p:spPr>
          <a:xfrm>
            <a:off x="8048625" y="3101912"/>
            <a:ext cx="1565795" cy="194310"/>
          </a:xfrm>
          <a:prstGeom prst="rect">
            <a:avLst/>
          </a:prstGeom>
          <a:noFill/>
        </p:spPr>
        <p:txBody>
          <a:bodyPr wrap="none" lIns="0" rIns="0" tIns="0" bIns="0">
            <a:spAutoFit/>
          </a:bodyPr>
          <a:lstStyle/>
          <a:p>
            <a:r>
              <a:rPr sz="1150" b="0">
                <a:solidFill>
                  <a:srgbClr val="2E2E2E"/>
                </a:solidFill>
                <a:latin typeface="Calibri"/>
              </a:rPr>
              <a:t>price above and 4 below.</a:t>
            </a:r>
          </a:p>
        </p:txBody>
      </p:sp>
      <p:sp>
        <p:nvSpPr>
          <p:cNvPr id="117" name="TextBox 116"/>
          <p:cNvSpPr txBox="1"/>
          <p:nvPr/>
        </p:nvSpPr>
        <p:spPr>
          <a:xfrm>
            <a:off x="8048625" y="3329750"/>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18" name="Picture 117" descr="lock.png"/>
          <p:cNvPicPr>
            <a:picLocks noChangeAspect="1"/>
          </p:cNvPicPr>
          <p:nvPr/>
        </p:nvPicPr>
        <p:blipFill>
          <a:blip r:embed="rId4"/>
          <a:stretch>
            <a:fillRect/>
          </a:stretch>
        </p:blipFill>
        <p:spPr>
          <a:xfrm>
            <a:off x="10105842" y="3319527"/>
            <a:ext cx="134549" cy="195707"/>
          </a:xfrm>
          <a:prstGeom prst="rect">
            <a:avLst/>
          </a:prstGeom>
        </p:spPr>
      </p:pic>
      <p:sp>
        <p:nvSpPr>
          <p:cNvPr id="119" name="TextBox 118"/>
          <p:cNvSpPr txBox="1"/>
          <p:nvPr/>
        </p:nvSpPr>
        <p:spPr>
          <a:xfrm>
            <a:off x="10280951" y="3329750"/>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20" name="TextBox 119"/>
          <p:cNvSpPr txBox="1"/>
          <p:nvPr/>
        </p:nvSpPr>
        <p:spPr>
          <a:xfrm>
            <a:off x="8048625" y="350501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21" name="Picture 120" descr="lock.png"/>
          <p:cNvPicPr>
            <a:picLocks noChangeAspect="1"/>
          </p:cNvPicPr>
          <p:nvPr/>
        </p:nvPicPr>
        <p:blipFill>
          <a:blip r:embed="rId4"/>
          <a:stretch>
            <a:fillRect/>
          </a:stretch>
        </p:blipFill>
        <p:spPr>
          <a:xfrm>
            <a:off x="9651433" y="3494787"/>
            <a:ext cx="134549" cy="195707"/>
          </a:xfrm>
          <a:prstGeom prst="rect">
            <a:avLst/>
          </a:prstGeom>
        </p:spPr>
      </p:pic>
      <p:sp>
        <p:nvSpPr>
          <p:cNvPr id="122" name="TextBox 121"/>
          <p:cNvSpPr txBox="1"/>
          <p:nvPr/>
        </p:nvSpPr>
        <p:spPr>
          <a:xfrm>
            <a:off x="9826542" y="350501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23" name="TextBox 122"/>
          <p:cNvSpPr txBox="1"/>
          <p:nvPr/>
        </p:nvSpPr>
        <p:spPr>
          <a:xfrm>
            <a:off x="8048625" y="368027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2,428</a:t>
            </a:r>
          </a:p>
        </p:txBody>
      </p:sp>
      <p:sp>
        <p:nvSpPr>
          <p:cNvPr id="12" name="Rounded Rectangle 11"/>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5,439</a:t>
            </a:r>
          </a:p>
        </p:txBody>
      </p:sp>
      <p:sp>
        <p:nvSpPr>
          <p:cNvPr id="13" name="Rounded Rectangle 12"/>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4" name="Rounded Rectangle 13"/>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8.4%</a:t>
            </a:r>
          </a:p>
        </p:txBody>
      </p:sp>
      <p:sp>
        <p:nvSpPr>
          <p:cNvPr id="15" name="Rounded Rectangle 14"/>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8" name="Rounded Rectangle 17"/>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20" name="Chart 19"/>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1" name="Rounded Rectangle 20"/>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3" name="Rectangle 22"/>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5" name="Rounded Rectangle 24"/>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7" name="Rectangle 26"/>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6"/>
          <a:stretch>
            <a:fillRect/>
          </a:stretch>
        </p:blipFill>
        <p:spPr>
          <a:xfrm>
            <a:off x="75128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176066" cy="186689"/>
          </a:xfrm>
          <a:prstGeom prst="rect">
            <a:avLst/>
          </a:prstGeom>
          <a:noFill/>
        </p:spPr>
        <p:txBody>
          <a:bodyPr wrap="none" lIns="0" rIns="0" tIns="0" bIns="0">
            <a:spAutoFit/>
          </a:bodyPr>
          <a:lstStyle/>
          <a:p>
            <a:r>
              <a:rPr sz="1100" b="0">
                <a:solidFill>
                  <a:srgbClr val="2E2E2E"/>
                </a:solidFill>
                <a:latin typeface="Calibri"/>
              </a:rPr>
              <a:t>Allergy immunotherapy market is projected to register</a:t>
            </a:r>
          </a:p>
        </p:txBody>
      </p:sp>
      <p:pic>
        <p:nvPicPr>
          <p:cNvPr id="33" name="Picture 32" descr="lock.png"/>
          <p:cNvPicPr>
            <a:picLocks noChangeAspect="1"/>
          </p:cNvPicPr>
          <p:nvPr/>
        </p:nvPicPr>
        <p:blipFill>
          <a:blip r:embed="rId6"/>
          <a:stretch>
            <a:fillRect/>
          </a:stretch>
        </p:blipFill>
        <p:spPr>
          <a:xfrm>
            <a:off x="11172743" y="2037208"/>
            <a:ext cx="128699" cy="187198"/>
          </a:xfrm>
          <a:prstGeom prst="rect">
            <a:avLst/>
          </a:prstGeom>
        </p:spPr>
      </p:pic>
      <p:sp>
        <p:nvSpPr>
          <p:cNvPr id="34" name="TextBox 33"/>
          <p:cNvSpPr txBox="1"/>
          <p:nvPr/>
        </p:nvSpPr>
        <p:spPr>
          <a:xfrm>
            <a:off x="11340239" y="2046987"/>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35" name="TextBox 34"/>
          <p:cNvSpPr txBox="1"/>
          <p:nvPr/>
        </p:nvSpPr>
        <p:spPr>
          <a:xfrm>
            <a:off x="8048625" y="2214627"/>
            <a:ext cx="3818086" cy="186689"/>
          </a:xfrm>
          <a:prstGeom prst="rect">
            <a:avLst/>
          </a:prstGeom>
          <a:noFill/>
        </p:spPr>
        <p:txBody>
          <a:bodyPr wrap="none" lIns="0" rIns="0" tIns="0" bIns="0">
            <a:spAutoFit/>
          </a:bodyPr>
          <a:lstStyle/>
          <a:p>
            <a:r>
              <a:rPr sz="1100" b="0">
                <a:solidFill>
                  <a:srgbClr val="2E2E2E"/>
                </a:solidFill>
                <a:latin typeface="Calibri"/>
              </a:rPr>
              <a:t>increase in its revenue by the end of forecast period, 2036. Global</a:t>
            </a:r>
          </a:p>
        </p:txBody>
      </p:sp>
      <p:sp>
        <p:nvSpPr>
          <p:cNvPr id="36" name="TextBox 35"/>
          <p:cNvSpPr txBox="1"/>
          <p:nvPr/>
        </p:nvSpPr>
        <p:spPr>
          <a:xfrm>
            <a:off x="8048625" y="2382267"/>
            <a:ext cx="3654921" cy="186689"/>
          </a:xfrm>
          <a:prstGeom prst="rect">
            <a:avLst/>
          </a:prstGeom>
          <a:noFill/>
        </p:spPr>
        <p:txBody>
          <a:bodyPr wrap="none" lIns="0" rIns="0" tIns="0" bIns="0">
            <a:spAutoFit/>
          </a:bodyPr>
          <a:lstStyle/>
          <a:p>
            <a:r>
              <a:rPr sz="1100" b="0">
                <a:solidFill>
                  <a:srgbClr val="2E2E2E"/>
                </a:solidFill>
                <a:latin typeface="Calibri"/>
              </a:rPr>
              <a:t>allergy immunotherapy market is expected to be valued at US$</a:t>
            </a:r>
          </a:p>
        </p:txBody>
      </p:sp>
      <p:sp>
        <p:nvSpPr>
          <p:cNvPr id="37" name="TextBox 36"/>
          <p:cNvSpPr txBox="1"/>
          <p:nvPr/>
        </p:nvSpPr>
        <p:spPr>
          <a:xfrm>
            <a:off x="8048625" y="2549907"/>
            <a:ext cx="1386433" cy="186689"/>
          </a:xfrm>
          <a:prstGeom prst="rect">
            <a:avLst/>
          </a:prstGeom>
          <a:noFill/>
        </p:spPr>
        <p:txBody>
          <a:bodyPr wrap="none" lIns="0" rIns="0" tIns="0" bIns="0">
            <a:spAutoFit/>
          </a:bodyPr>
          <a:lstStyle/>
          <a:p>
            <a:r>
              <a:rPr sz="1100" b="0">
                <a:solidFill>
                  <a:srgbClr val="2E2E2E"/>
                </a:solidFill>
                <a:latin typeface="Calibri"/>
              </a:rPr>
              <a:t>5,439 Mn by 2036 end.</a:t>
            </a:r>
          </a:p>
        </p:txBody>
      </p:sp>
      <p:sp>
        <p:nvSpPr>
          <p:cNvPr id="38" name="TextBox 37"/>
          <p:cNvSpPr txBox="1"/>
          <p:nvPr/>
        </p:nvSpPr>
        <p:spPr>
          <a:xfrm>
            <a:off x="8048625" y="2767838"/>
            <a:ext cx="3650009" cy="186689"/>
          </a:xfrm>
          <a:prstGeom prst="rect">
            <a:avLst/>
          </a:prstGeom>
          <a:noFill/>
        </p:spPr>
        <p:txBody>
          <a:bodyPr wrap="none" lIns="0" rIns="0" tIns="0" bIns="0">
            <a:spAutoFit/>
          </a:bodyPr>
          <a:lstStyle/>
          <a:p>
            <a:r>
              <a:rPr sz="1100" b="0">
                <a:solidFill>
                  <a:srgbClr val="2E2E2E"/>
                </a:solidFill>
                <a:latin typeface="Calibri"/>
              </a:rPr>
              <a:t>It is projected to create overall incremental opportunity of US$</a:t>
            </a:r>
          </a:p>
        </p:txBody>
      </p:sp>
      <p:pic>
        <p:nvPicPr>
          <p:cNvPr id="39" name="Picture 38" descr="lock.png"/>
          <p:cNvPicPr>
            <a:picLocks noChangeAspect="1"/>
          </p:cNvPicPr>
          <p:nvPr/>
        </p:nvPicPr>
        <p:blipFill>
          <a:blip r:embed="rId6"/>
          <a:stretch>
            <a:fillRect/>
          </a:stretch>
        </p:blipFill>
        <p:spPr>
          <a:xfrm>
            <a:off x="8035157" y="2925700"/>
            <a:ext cx="128699" cy="187198"/>
          </a:xfrm>
          <a:prstGeom prst="rect">
            <a:avLst/>
          </a:prstGeom>
        </p:spPr>
      </p:pic>
      <p:sp>
        <p:nvSpPr>
          <p:cNvPr id="40" name="TextBox 39"/>
          <p:cNvSpPr txBox="1"/>
          <p:nvPr/>
        </p:nvSpPr>
        <p:spPr>
          <a:xfrm>
            <a:off x="8202653" y="2935479"/>
            <a:ext cx="3263106" cy="186689"/>
          </a:xfrm>
          <a:prstGeom prst="rect">
            <a:avLst/>
          </a:prstGeom>
          <a:noFill/>
        </p:spPr>
        <p:txBody>
          <a:bodyPr wrap="none" lIns="0" rIns="0" tIns="0" bIns="0">
            <a:spAutoFit/>
          </a:bodyPr>
          <a:lstStyle/>
          <a:p>
            <a:r>
              <a:rPr sz="1100" b="0">
                <a:solidFill>
                  <a:srgbClr val="2E2E2E"/>
                </a:solidFill>
                <a:latin typeface="Calibri"/>
              </a:rPr>
              <a:t>Mn from 2025 to 2036. Increasing prevalence of chronic</a:t>
            </a:r>
          </a:p>
        </p:txBody>
      </p:sp>
      <p:sp>
        <p:nvSpPr>
          <p:cNvPr id="41" name="TextBox 40"/>
          <p:cNvSpPr txBox="1"/>
          <p:nvPr/>
        </p:nvSpPr>
        <p:spPr>
          <a:xfrm>
            <a:off x="8048625" y="3103119"/>
            <a:ext cx="3848100" cy="186689"/>
          </a:xfrm>
          <a:prstGeom prst="rect">
            <a:avLst/>
          </a:prstGeom>
          <a:noFill/>
        </p:spPr>
        <p:txBody>
          <a:bodyPr wrap="none" lIns="0" rIns="0" tIns="0" bIns="0">
            <a:spAutoFit/>
          </a:bodyPr>
          <a:lstStyle/>
          <a:p>
            <a:r>
              <a:rPr sz="1100" b="0">
                <a:solidFill>
                  <a:srgbClr val="2E2E2E"/>
                </a:solidFill>
                <a:latin typeface="Calibri"/>
              </a:rPr>
              <a:t>diseases along with increasing ageing population is fuelling demand</a:t>
            </a:r>
          </a:p>
        </p:txBody>
      </p:sp>
      <p:sp>
        <p:nvSpPr>
          <p:cNvPr id="42" name="TextBox 41"/>
          <p:cNvSpPr txBox="1"/>
          <p:nvPr/>
        </p:nvSpPr>
        <p:spPr>
          <a:xfrm>
            <a:off x="8048625" y="3270759"/>
            <a:ext cx="1636638" cy="186689"/>
          </a:xfrm>
          <a:prstGeom prst="rect">
            <a:avLst/>
          </a:prstGeom>
          <a:noFill/>
        </p:spPr>
        <p:txBody>
          <a:bodyPr wrap="none" lIns="0" rIns="0" tIns="0" bIns="0">
            <a:spAutoFit/>
          </a:bodyPr>
          <a:lstStyle/>
          <a:p>
            <a:r>
              <a:rPr sz="1100" b="0">
                <a:solidFill>
                  <a:srgbClr val="2E2E2E"/>
                </a:solidFill>
                <a:latin typeface="Calibri"/>
              </a:rPr>
              <a:t>for allergy immunotherapy.</a:t>
            </a:r>
          </a:p>
        </p:txBody>
      </p:sp>
      <p:sp>
        <p:nvSpPr>
          <p:cNvPr id="43" name="TextBox 42"/>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4" name="Picture 43" descr="lock.png"/>
          <p:cNvPicPr>
            <a:picLocks noChangeAspect="1"/>
          </p:cNvPicPr>
          <p:nvPr/>
        </p:nvPicPr>
        <p:blipFill>
          <a:blip r:embed="rId6"/>
          <a:stretch>
            <a:fillRect/>
          </a:stretch>
        </p:blipFill>
        <p:spPr>
          <a:xfrm>
            <a:off x="10866614" y="4446251"/>
            <a:ext cx="134549" cy="195707"/>
          </a:xfrm>
          <a:prstGeom prst="rect">
            <a:avLst/>
          </a:prstGeom>
        </p:spPr>
      </p:pic>
      <p:sp>
        <p:nvSpPr>
          <p:cNvPr id="45" name="TextBox 44"/>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6" name="TextBox 45"/>
          <p:cNvSpPr txBox="1"/>
          <p:nvPr/>
        </p:nvSpPr>
        <p:spPr>
          <a:xfrm>
            <a:off x="8048625" y="4684312"/>
            <a:ext cx="3681238" cy="194310"/>
          </a:xfrm>
          <a:prstGeom prst="rect">
            <a:avLst/>
          </a:prstGeom>
          <a:noFill/>
        </p:spPr>
        <p:txBody>
          <a:bodyPr wrap="none" lIns="0" rIns="0" tIns="0" bIns="0">
            <a:spAutoFit/>
          </a:bodyPr>
          <a:lstStyle/>
          <a:p>
            <a:r>
              <a:rPr sz="1150" b="0">
                <a:solidFill>
                  <a:srgbClr val="2E2E2E"/>
                </a:solidFill>
                <a:latin typeface="Calibri"/>
              </a:rPr>
              <a:t>▪ Demand concentrates in 'Sublingual Immunotherapy (SLIT)'</a:t>
            </a:r>
          </a:p>
        </p:txBody>
      </p:sp>
      <p:sp>
        <p:nvSpPr>
          <p:cNvPr id="47" name="TextBox 46"/>
          <p:cNvSpPr txBox="1"/>
          <p:nvPr/>
        </p:nvSpPr>
        <p:spPr>
          <a:xfrm>
            <a:off x="8048625" y="4859572"/>
            <a:ext cx="1468778" cy="194310"/>
          </a:xfrm>
          <a:prstGeom prst="rect">
            <a:avLst/>
          </a:prstGeom>
          <a:noFill/>
        </p:spPr>
        <p:txBody>
          <a:bodyPr wrap="none" lIns="0" rIns="0" tIns="0" bIns="0">
            <a:spAutoFit/>
          </a:bodyPr>
          <a:lstStyle/>
          <a:p>
            <a:r>
              <a:rPr sz="1150" b="0">
                <a:solidFill>
                  <a:srgbClr val="2E2E2E"/>
                </a:solidFill>
                <a:latin typeface="Calibri"/>
              </a:rPr>
              <a:t>within Therapy Format.</a:t>
            </a:r>
          </a:p>
        </p:txBody>
      </p:sp>
      <p:sp>
        <p:nvSpPr>
          <p:cNvPr id="48" name="TextBox 47"/>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49" name="TextBox 48"/>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0" name="lockshield_17"/>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ockshield_20"/>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4695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13" name="Chart 12"/>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981075"/>
            <a:ext cx="7048500"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6" name="Chart 15"/>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8" name="Rounded Rectangle 17"/>
          <p:cNvSpPr/>
          <p:nvPr/>
        </p:nvSpPr>
        <p:spPr>
          <a:xfrm>
            <a:off x="2809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8.4%</a:t>
            </a:r>
          </a:p>
        </p:txBody>
      </p:sp>
      <p:sp>
        <p:nvSpPr>
          <p:cNvPr id="19" name="Rounded Rectangle 18"/>
          <p:cNvSpPr/>
          <p:nvPr/>
        </p:nvSpPr>
        <p:spPr>
          <a:xfrm>
            <a:off x="54768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20" name="Rounded Rectangle 19"/>
          <p:cNvSpPr/>
          <p:nvPr/>
        </p:nvSpPr>
        <p:spPr>
          <a:xfrm>
            <a:off x="88296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1" name="Rounded Rectangle 20"/>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&amp; Value Analysis</a:t>
            </a:r>
          </a:p>
        </p:txBody>
      </p:sp>
      <p:sp>
        <p:nvSpPr>
          <p:cNvPr id="23" name="Rectangle 22"/>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2533894" y="2050946"/>
            <a:ext cx="205327" cy="298657"/>
          </a:xfrm>
          <a:prstGeom prst="rect">
            <a:avLst/>
          </a:prstGeom>
        </p:spPr>
      </p:pic>
      <p:pic>
        <p:nvPicPr>
          <p:cNvPr id="27" name="Picture 26" descr="lock.png"/>
          <p:cNvPicPr>
            <a:picLocks noChangeAspect="1"/>
          </p:cNvPicPr>
          <p:nvPr/>
        </p:nvPicPr>
        <p:blipFill>
          <a:blip r:embed="rId6"/>
          <a:stretch>
            <a:fillRect/>
          </a:stretch>
        </p:blipFill>
        <p:spPr>
          <a:xfrm>
            <a:off x="8530846" y="2011501"/>
            <a:ext cx="259564" cy="377547"/>
          </a:xfrm>
          <a:prstGeom prst="rect">
            <a:avLst/>
          </a:prstGeom>
        </p:spPr>
      </p:pic>
      <p:pic>
        <p:nvPicPr>
          <p:cNvPr id="28" name="Picture 27" descr="lock.png"/>
          <p:cNvPicPr>
            <a:picLocks noChangeAspect="1"/>
          </p:cNvPicPr>
          <p:nvPr/>
        </p:nvPicPr>
        <p:blipFill>
          <a:blip r:embed="rId6"/>
          <a:stretch>
            <a:fillRect/>
          </a:stretch>
        </p:blipFill>
        <p:spPr>
          <a:xfrm>
            <a:off x="1321594" y="4022407"/>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4022407"/>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4022407"/>
            <a:ext cx="157162" cy="228600"/>
          </a:xfrm>
          <a:prstGeom prst="rect">
            <a:avLst/>
          </a:prstGeom>
        </p:spPr>
      </p:pic>
      <p:sp>
        <p:nvSpPr>
          <p:cNvPr id="31" name="TextBox 30"/>
          <p:cNvSpPr txBox="1"/>
          <p:nvPr/>
        </p:nvSpPr>
        <p:spPr>
          <a:xfrm>
            <a:off x="276225" y="4972050"/>
            <a:ext cx="3316969" cy="194310"/>
          </a:xfrm>
          <a:prstGeom prst="rect">
            <a:avLst/>
          </a:prstGeom>
          <a:noFill/>
        </p:spPr>
        <p:txBody>
          <a:bodyPr wrap="none" lIns="0" rIns="0" tIns="0" bIns="0">
            <a:spAutoFit/>
          </a:bodyPr>
          <a:lstStyle/>
          <a:p>
            <a:r>
              <a:rPr sz="1150" b="0">
                <a:solidFill>
                  <a:srgbClr val="2E2E2E"/>
                </a:solidFill>
                <a:latin typeface="Calibri"/>
              </a:rPr>
              <a:t>Allergy immunotherapy market is projected to register</a:t>
            </a:r>
          </a:p>
        </p:txBody>
      </p:sp>
      <p:pic>
        <p:nvPicPr>
          <p:cNvPr id="32" name="Picture 31" descr="lock.png"/>
          <p:cNvPicPr>
            <a:picLocks noChangeAspect="1"/>
          </p:cNvPicPr>
          <p:nvPr/>
        </p:nvPicPr>
        <p:blipFill>
          <a:blip r:embed="rId6"/>
          <a:stretch>
            <a:fillRect/>
          </a:stretch>
        </p:blipFill>
        <p:spPr>
          <a:xfrm>
            <a:off x="3542348" y="4961826"/>
            <a:ext cx="134549" cy="195707"/>
          </a:xfrm>
          <a:prstGeom prst="rect">
            <a:avLst/>
          </a:prstGeom>
        </p:spPr>
      </p:pic>
      <p:sp>
        <p:nvSpPr>
          <p:cNvPr id="33" name="TextBox 32"/>
          <p:cNvSpPr txBox="1"/>
          <p:nvPr/>
        </p:nvSpPr>
        <p:spPr>
          <a:xfrm>
            <a:off x="3717457" y="4972050"/>
            <a:ext cx="7871618"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allergy immunotherapy market is expected to be valued at US$</a:t>
            </a:r>
          </a:p>
        </p:txBody>
      </p:sp>
      <p:sp>
        <p:nvSpPr>
          <p:cNvPr id="34" name="TextBox 33"/>
          <p:cNvSpPr txBox="1"/>
          <p:nvPr/>
        </p:nvSpPr>
        <p:spPr>
          <a:xfrm>
            <a:off x="276225" y="5147310"/>
            <a:ext cx="5215334" cy="194310"/>
          </a:xfrm>
          <a:prstGeom prst="rect">
            <a:avLst/>
          </a:prstGeom>
          <a:noFill/>
        </p:spPr>
        <p:txBody>
          <a:bodyPr wrap="none" lIns="0" rIns="0" tIns="0" bIns="0">
            <a:spAutoFit/>
          </a:bodyPr>
          <a:lstStyle/>
          <a:p>
            <a:r>
              <a:rPr sz="1150" b="0">
                <a:solidFill>
                  <a:srgbClr val="2E2E2E"/>
                </a:solidFill>
                <a:latin typeface="Calibri"/>
              </a:rPr>
              <a:t>5,439 Mn by 2036 end. It is projected to create overall incremental opportunity of US$</a:t>
            </a:r>
          </a:p>
        </p:txBody>
      </p:sp>
      <p:pic>
        <p:nvPicPr>
          <p:cNvPr id="35" name="Picture 34" descr="lock.png"/>
          <p:cNvPicPr>
            <a:picLocks noChangeAspect="1"/>
          </p:cNvPicPr>
          <p:nvPr/>
        </p:nvPicPr>
        <p:blipFill>
          <a:blip r:embed="rId6"/>
          <a:stretch>
            <a:fillRect/>
          </a:stretch>
        </p:blipFill>
        <p:spPr>
          <a:xfrm>
            <a:off x="5440713" y="5137086"/>
            <a:ext cx="134549" cy="195707"/>
          </a:xfrm>
          <a:prstGeom prst="rect">
            <a:avLst/>
          </a:prstGeom>
        </p:spPr>
      </p:pic>
      <p:sp>
        <p:nvSpPr>
          <p:cNvPr id="36" name="TextBox 35"/>
          <p:cNvSpPr txBox="1"/>
          <p:nvPr/>
        </p:nvSpPr>
        <p:spPr>
          <a:xfrm>
            <a:off x="5615822" y="5147310"/>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37" name="TextBox 36"/>
          <p:cNvSpPr txBox="1"/>
          <p:nvPr/>
        </p:nvSpPr>
        <p:spPr>
          <a:xfrm>
            <a:off x="276225" y="5375147"/>
            <a:ext cx="11380527" cy="194310"/>
          </a:xfrm>
          <a:prstGeom prst="rect">
            <a:avLst/>
          </a:prstGeom>
          <a:noFill/>
        </p:spPr>
        <p:txBody>
          <a:bodyPr wrap="none" lIns="0" rIns="0" tIns="0" bIns="0">
            <a:spAutoFit/>
          </a:bodyPr>
          <a:lstStyle/>
          <a:p>
            <a:r>
              <a:rPr sz="1150" b="0">
                <a:solidFill>
                  <a:srgbClr val="2E2E2E"/>
                </a:solidFill>
                <a:latin typeface="Calibri"/>
              </a:rPr>
              <a:t>Increasing prevalence of chronic diseases along with increasing ageing population is fuelling demand for allergy immunotherapy. Global allergy immunotherapy market is projected to register</a:t>
            </a:r>
          </a:p>
        </p:txBody>
      </p:sp>
      <p:pic>
        <p:nvPicPr>
          <p:cNvPr id="38" name="Picture 37" descr="lock.png"/>
          <p:cNvPicPr>
            <a:picLocks noChangeAspect="1"/>
          </p:cNvPicPr>
          <p:nvPr/>
        </p:nvPicPr>
        <p:blipFill>
          <a:blip r:embed="rId6"/>
          <a:stretch>
            <a:fillRect/>
          </a:stretch>
        </p:blipFill>
        <p:spPr>
          <a:xfrm>
            <a:off x="262145" y="5540184"/>
            <a:ext cx="134549" cy="195707"/>
          </a:xfrm>
          <a:prstGeom prst="rect">
            <a:avLst/>
          </a:prstGeom>
        </p:spPr>
      </p:pic>
      <p:sp>
        <p:nvSpPr>
          <p:cNvPr id="39" name="TextBox 38"/>
          <p:cNvSpPr txBox="1"/>
          <p:nvPr/>
        </p:nvSpPr>
        <p:spPr>
          <a:xfrm>
            <a:off x="437254" y="5550407"/>
            <a:ext cx="3462163"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 2036.</a:t>
            </a:r>
          </a:p>
        </p:txBody>
      </p:sp>
      <p:sp>
        <p:nvSpPr>
          <p:cNvPr id="40" name="TextBox 39"/>
          <p:cNvSpPr txBox="1"/>
          <p:nvPr/>
        </p:nvSpPr>
        <p:spPr>
          <a:xfrm>
            <a:off x="276225" y="5778245"/>
            <a:ext cx="3338078" cy="194310"/>
          </a:xfrm>
          <a:prstGeom prst="rect">
            <a:avLst/>
          </a:prstGeom>
          <a:noFill/>
        </p:spPr>
        <p:txBody>
          <a:bodyPr wrap="none" lIns="0" rIns="0" tIns="0" bIns="0">
            <a:spAutoFit/>
          </a:bodyPr>
          <a:lstStyle/>
          <a:p>
            <a:r>
              <a:rPr sz="1150" b="0">
                <a:solidFill>
                  <a:srgbClr val="2E2E2E"/>
                </a:solidFill>
                <a:latin typeface="Calibri"/>
              </a:rPr>
              <a:t>Global allergy immunotherapy market volume stood at</a:t>
            </a:r>
          </a:p>
        </p:txBody>
      </p:sp>
      <p:pic>
        <p:nvPicPr>
          <p:cNvPr id="41" name="Picture 40" descr="lock.png"/>
          <p:cNvPicPr>
            <a:picLocks noChangeAspect="1"/>
          </p:cNvPicPr>
          <p:nvPr/>
        </p:nvPicPr>
        <p:blipFill>
          <a:blip r:embed="rId6"/>
          <a:stretch>
            <a:fillRect/>
          </a:stretch>
        </p:blipFill>
        <p:spPr>
          <a:xfrm>
            <a:off x="3563457" y="5768022"/>
            <a:ext cx="134549" cy="195707"/>
          </a:xfrm>
          <a:prstGeom prst="rect">
            <a:avLst/>
          </a:prstGeom>
        </p:spPr>
      </p:pic>
      <p:sp>
        <p:nvSpPr>
          <p:cNvPr id="42" name="TextBox 41"/>
          <p:cNvSpPr txBox="1"/>
          <p:nvPr/>
        </p:nvSpPr>
        <p:spPr>
          <a:xfrm>
            <a:off x="3738566" y="5778245"/>
            <a:ext cx="3625043" cy="194310"/>
          </a:xfrm>
          <a:prstGeom prst="rect">
            <a:avLst/>
          </a:prstGeom>
          <a:noFill/>
        </p:spPr>
        <p:txBody>
          <a:bodyPr wrap="none" lIns="0" rIns="0" tIns="0" bIns="0">
            <a:spAutoFit/>
          </a:bodyPr>
          <a:lstStyle/>
          <a:p>
            <a:r>
              <a:rPr sz="1150" b="0">
                <a:solidFill>
                  <a:srgbClr val="2E2E2E"/>
                </a:solidFill>
                <a:latin typeface="Calibri"/>
              </a:rPr>
              <a:t>Patient Treatment Courses in 2025 and is expected to reach</a:t>
            </a:r>
          </a:p>
        </p:txBody>
      </p:sp>
      <p:pic>
        <p:nvPicPr>
          <p:cNvPr id="43" name="Picture 42" descr="lock.png"/>
          <p:cNvPicPr>
            <a:picLocks noChangeAspect="1"/>
          </p:cNvPicPr>
          <p:nvPr/>
        </p:nvPicPr>
        <p:blipFill>
          <a:blip r:embed="rId6"/>
          <a:stretch>
            <a:fillRect/>
          </a:stretch>
        </p:blipFill>
        <p:spPr>
          <a:xfrm>
            <a:off x="7312764" y="5768022"/>
            <a:ext cx="134549" cy="195707"/>
          </a:xfrm>
          <a:prstGeom prst="rect">
            <a:avLst/>
          </a:prstGeom>
        </p:spPr>
      </p:pic>
      <p:sp>
        <p:nvSpPr>
          <p:cNvPr id="44" name="TextBox 43"/>
          <p:cNvSpPr txBox="1"/>
          <p:nvPr/>
        </p:nvSpPr>
        <p:spPr>
          <a:xfrm>
            <a:off x="7487873" y="5778245"/>
            <a:ext cx="3245923" cy="194310"/>
          </a:xfrm>
          <a:prstGeom prst="rect">
            <a:avLst/>
          </a:prstGeom>
          <a:noFill/>
        </p:spPr>
        <p:txBody>
          <a:bodyPr wrap="none" lIns="0" rIns="0" tIns="0" bIns="0">
            <a:spAutoFit/>
          </a:bodyPr>
          <a:lstStyle/>
          <a:p>
            <a:r>
              <a:rPr sz="1150" b="0">
                <a:solidFill>
                  <a:srgbClr val="2E2E2E"/>
                </a:solidFill>
                <a:latin typeface="Calibri"/>
              </a:rPr>
              <a:t>Patient Treatment Courses by 2036 end, at a CAGR of</a:t>
            </a:r>
          </a:p>
        </p:txBody>
      </p:sp>
      <p:pic>
        <p:nvPicPr>
          <p:cNvPr id="45" name="Picture 44" descr="lock.png"/>
          <p:cNvPicPr>
            <a:picLocks noChangeAspect="1"/>
          </p:cNvPicPr>
          <p:nvPr/>
        </p:nvPicPr>
        <p:blipFill>
          <a:blip r:embed="rId6"/>
          <a:stretch>
            <a:fillRect/>
          </a:stretch>
        </p:blipFill>
        <p:spPr>
          <a:xfrm>
            <a:off x="10682951" y="5768022"/>
            <a:ext cx="134549" cy="195707"/>
          </a:xfrm>
          <a:prstGeom prst="rect">
            <a:avLst/>
          </a:prstGeom>
        </p:spPr>
      </p:pic>
      <p:sp>
        <p:nvSpPr>
          <p:cNvPr id="46" name="TextBox 45"/>
          <p:cNvSpPr txBox="1"/>
          <p:nvPr/>
        </p:nvSpPr>
        <p:spPr>
          <a:xfrm>
            <a:off x="10858060" y="5778245"/>
            <a:ext cx="605916" cy="194310"/>
          </a:xfrm>
          <a:prstGeom prst="rect">
            <a:avLst/>
          </a:prstGeom>
          <a:noFill/>
        </p:spPr>
        <p:txBody>
          <a:bodyPr wrap="none" lIns="0" rIns="0" tIns="0" bIns="0">
            <a:spAutoFit/>
          </a:bodyPr>
          <a:lstStyle/>
          <a:p>
            <a:r>
              <a:rPr sz="1150" b="0">
                <a:solidFill>
                  <a:srgbClr val="2E2E2E"/>
                </a:solidFill>
                <a:latin typeface="Calibri"/>
              </a:rPr>
              <a:t>. Value is</a:t>
            </a:r>
          </a:p>
        </p:txBody>
      </p:sp>
      <p:sp>
        <p:nvSpPr>
          <p:cNvPr id="47" name="TextBox 46"/>
          <p:cNvSpPr txBox="1"/>
          <p:nvPr/>
        </p:nvSpPr>
        <p:spPr>
          <a:xfrm>
            <a:off x="276225" y="5953505"/>
            <a:ext cx="6490989" cy="194310"/>
          </a:xfrm>
          <a:prstGeom prst="rect">
            <a:avLst/>
          </a:prstGeom>
          <a:noFill/>
        </p:spPr>
        <p:txBody>
          <a:bodyPr wrap="none" lIns="0" rIns="0" tIns="0" bIns="0">
            <a:spAutoFit/>
          </a:bodyPr>
          <a:lstStyle/>
          <a:p>
            <a:r>
              <a:rPr sz="1150" b="0">
                <a:solidFill>
                  <a:srgbClr val="2E2E2E"/>
                </a:solidFill>
                <a:latin typeface="Calibri"/>
              </a:rPr>
              <a:t>projected to grow faster than volume over the forecast period, owing to an increase in average selling price.</a:t>
            </a:r>
          </a:p>
        </p:txBody>
      </p:sp>
      <p:sp>
        <p:nvSpPr>
          <p:cNvPr id="48" name="lockshield_13"/>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ockshield_16"/>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14776" cy="2132071"/>
        </p:xfrm>
        <a:graphic>
          <a:graphicData uri="http://schemas.openxmlformats.org/drawingml/2006/table">
            <a:tbl>
              <a:tblPr>
                <a:tableStyleId>{5C22544A-7EE6-4342-B048-85BDC9FD1C3A}</a:tableStyleId>
              </a:tblPr>
              <a:tblGrid>
                <a:gridCol w="1013910"/>
                <a:gridCol w="969873"/>
                <a:gridCol w="661933"/>
                <a:gridCol w="1269060"/>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Netherlands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2374033" cy="2003630"/>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6584083" y="1293011"/>
            <a:ext cx="1369292" cy="2003630"/>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20" name="Rectangle 19"/>
          <p:cNvSpPr/>
          <p:nvPr/>
        </p:nvSpPr>
        <p:spPr>
          <a:xfrm>
            <a:off x="4210050" y="3296641"/>
            <a:ext cx="1574532" cy="1459515"/>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1" name="Rectangle 20"/>
          <p:cNvSpPr/>
          <p:nvPr/>
        </p:nvSpPr>
        <p:spPr>
          <a:xfrm>
            <a:off x="4210050" y="4756157"/>
            <a:ext cx="1574532" cy="1122453"/>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22" name="Rectangle 21"/>
          <p:cNvSpPr/>
          <p:nvPr/>
        </p:nvSpPr>
        <p:spPr>
          <a:xfrm>
            <a:off x="5784582" y="3296641"/>
            <a:ext cx="1190177" cy="1131389"/>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23" name="Rectangle 22"/>
          <p:cNvSpPr/>
          <p:nvPr/>
        </p:nvSpPr>
        <p:spPr>
          <a:xfrm>
            <a:off x="6974759" y="3296641"/>
            <a:ext cx="978616" cy="1131389"/>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24" name="Rectangle 23"/>
          <p:cNvSpPr/>
          <p:nvPr/>
        </p:nvSpPr>
        <p:spPr>
          <a:xfrm>
            <a:off x="5784582" y="4428030"/>
            <a:ext cx="1185262" cy="809385"/>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5" name="Rectangle 24"/>
          <p:cNvSpPr/>
          <p:nvPr/>
        </p:nvSpPr>
        <p:spPr>
          <a:xfrm>
            <a:off x="5784582" y="5237416"/>
            <a:ext cx="1185262" cy="641194"/>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6" name="Rectangle 25"/>
          <p:cNvSpPr/>
          <p:nvPr/>
        </p:nvSpPr>
        <p:spPr>
          <a:xfrm>
            <a:off x="6969844" y="4428030"/>
            <a:ext cx="983531" cy="759240"/>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7" name="Rectangle 26"/>
          <p:cNvSpPr/>
          <p:nvPr/>
        </p:nvSpPr>
        <p:spPr>
          <a:xfrm>
            <a:off x="6969844" y="5187271"/>
            <a:ext cx="983531" cy="691339"/>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Turkey</a:t>
            </a:r>
          </a:p>
          <a:p>
            <a:pPr algn="ctr"/>
            <a:r>
              <a:rPr sz="1100" b="0">
                <a:solidFill>
                  <a:srgbClr val="FFFFFF"/>
                </a:solidFill>
                <a:latin typeface="Calibri"/>
              </a:rPr>
              <a:t> </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2" name="Table 31"/>
          <p:cNvGraphicFramePr>
            <a:graphicFrameLocks noGrp="1"/>
          </p:cNvGraphicFramePr>
          <p:nvPr/>
        </p:nvGraphicFramePr>
        <p:xfrm>
          <a:off x="8096250" y="3547710"/>
          <a:ext cx="3927746" cy="2159451"/>
        </p:xfrm>
        <a:graphic>
          <a:graphicData uri="http://schemas.openxmlformats.org/drawingml/2006/table">
            <a:tbl>
              <a:tblPr>
                <a:tableStyleId>{5C22544A-7EE6-4342-B048-85BDC9FD1C3A}</a:tableStyleId>
              </a:tblPr>
              <a:tblGrid>
                <a:gridCol w="710293"/>
                <a:gridCol w="1068161"/>
                <a:gridCol w="1068161"/>
                <a:gridCol w="10811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3" name="TextBox 3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6"/>
          <a:stretch>
            <a:fillRect/>
          </a:stretch>
        </p:blipFill>
        <p:spPr>
          <a:xfrm>
            <a:off x="3188017" y="2125483"/>
            <a:ext cx="183356" cy="266700"/>
          </a:xfrm>
          <a:prstGeom prst="rect">
            <a:avLst/>
          </a:prstGeom>
        </p:spPr>
      </p:pic>
      <p:pic>
        <p:nvPicPr>
          <p:cNvPr id="37" name="Picture 36" descr="lock.png"/>
          <p:cNvPicPr>
            <a:picLocks noChangeAspect="1"/>
          </p:cNvPicPr>
          <p:nvPr/>
        </p:nvPicPr>
        <p:blipFill>
          <a:blip r:embed="rId6"/>
          <a:stretch>
            <a:fillRect/>
          </a:stretch>
        </p:blipFill>
        <p:spPr>
          <a:xfrm>
            <a:off x="2447283" y="4512977"/>
            <a:ext cx="332867" cy="484170"/>
          </a:xfrm>
          <a:prstGeom prst="rect">
            <a:avLst/>
          </a:prstGeom>
        </p:spPr>
      </p:pic>
      <p:pic>
        <p:nvPicPr>
          <p:cNvPr id="38" name="Picture 37" descr="lock.png"/>
          <p:cNvPicPr>
            <a:picLocks noChangeAspect="1"/>
          </p:cNvPicPr>
          <p:nvPr/>
        </p:nvPicPr>
        <p:blipFill>
          <a:blip r:embed="rId6"/>
          <a:stretch>
            <a:fillRect/>
          </a:stretch>
        </p:blipFill>
        <p:spPr>
          <a:xfrm>
            <a:off x="5339440" y="2294826"/>
            <a:ext cx="115252" cy="167639"/>
          </a:xfrm>
          <a:prstGeom prst="rect">
            <a:avLst/>
          </a:prstGeom>
        </p:spPr>
      </p:pic>
      <p:pic>
        <p:nvPicPr>
          <p:cNvPr id="39" name="Picture 38" descr="lock.png"/>
          <p:cNvPicPr>
            <a:picLocks noChangeAspect="1"/>
          </p:cNvPicPr>
          <p:nvPr/>
        </p:nvPicPr>
        <p:blipFill>
          <a:blip r:embed="rId6"/>
          <a:stretch>
            <a:fillRect/>
          </a:stretch>
        </p:blipFill>
        <p:spPr>
          <a:xfrm>
            <a:off x="7211103" y="2294826"/>
            <a:ext cx="115252" cy="167639"/>
          </a:xfrm>
          <a:prstGeom prst="rect">
            <a:avLst/>
          </a:prstGeom>
        </p:spPr>
      </p:pic>
      <p:pic>
        <p:nvPicPr>
          <p:cNvPr id="40" name="Picture 39" descr="lock.png"/>
          <p:cNvPicPr>
            <a:picLocks noChangeAspect="1"/>
          </p:cNvPicPr>
          <p:nvPr/>
        </p:nvPicPr>
        <p:blipFill>
          <a:blip r:embed="rId6"/>
          <a:stretch>
            <a:fillRect/>
          </a:stretch>
        </p:blipFill>
        <p:spPr>
          <a:xfrm>
            <a:off x="4939690" y="4026398"/>
            <a:ext cx="115252" cy="167639"/>
          </a:xfrm>
          <a:prstGeom prst="rect">
            <a:avLst/>
          </a:prstGeom>
        </p:spPr>
      </p:pic>
      <p:pic>
        <p:nvPicPr>
          <p:cNvPr id="41" name="Picture 40" descr="lock.png"/>
          <p:cNvPicPr>
            <a:picLocks noChangeAspect="1"/>
          </p:cNvPicPr>
          <p:nvPr/>
        </p:nvPicPr>
        <p:blipFill>
          <a:blip r:embed="rId6"/>
          <a:stretch>
            <a:fillRect/>
          </a:stretch>
        </p:blipFill>
        <p:spPr>
          <a:xfrm>
            <a:off x="4939690" y="5317383"/>
            <a:ext cx="115252" cy="167639"/>
          </a:xfrm>
          <a:prstGeom prst="rect">
            <a:avLst/>
          </a:prstGeom>
        </p:spPr>
      </p:pic>
      <p:pic>
        <p:nvPicPr>
          <p:cNvPr id="42" name="Picture 41" descr="lock.png"/>
          <p:cNvPicPr>
            <a:picLocks noChangeAspect="1"/>
          </p:cNvPicPr>
          <p:nvPr/>
        </p:nvPicPr>
        <p:blipFill>
          <a:blip r:embed="rId6"/>
          <a:stretch>
            <a:fillRect/>
          </a:stretch>
        </p:blipFill>
        <p:spPr>
          <a:xfrm>
            <a:off x="6322044" y="3862335"/>
            <a:ext cx="115252" cy="167639"/>
          </a:xfrm>
          <a:prstGeom prst="rect">
            <a:avLst/>
          </a:prstGeom>
        </p:spPr>
      </p:pic>
      <p:pic>
        <p:nvPicPr>
          <p:cNvPr id="43" name="Picture 42" descr="lock.png"/>
          <p:cNvPicPr>
            <a:picLocks noChangeAspect="1"/>
          </p:cNvPicPr>
          <p:nvPr/>
        </p:nvPicPr>
        <p:blipFill>
          <a:blip r:embed="rId6"/>
          <a:stretch>
            <a:fillRect/>
          </a:stretch>
        </p:blipFill>
        <p:spPr>
          <a:xfrm>
            <a:off x="7406441" y="3862335"/>
            <a:ext cx="115252" cy="167639"/>
          </a:xfrm>
          <a:prstGeom prst="rect">
            <a:avLst/>
          </a:prstGeom>
        </p:spPr>
      </p:pic>
      <p:pic>
        <p:nvPicPr>
          <p:cNvPr id="44" name="Picture 43" descr="lock.png"/>
          <p:cNvPicPr>
            <a:picLocks noChangeAspect="1"/>
          </p:cNvPicPr>
          <p:nvPr/>
        </p:nvPicPr>
        <p:blipFill>
          <a:blip r:embed="rId6"/>
          <a:stretch>
            <a:fillRect/>
          </a:stretch>
        </p:blipFill>
        <p:spPr>
          <a:xfrm>
            <a:off x="6319587" y="4832722"/>
            <a:ext cx="115252" cy="167639"/>
          </a:xfrm>
          <a:prstGeom prst="rect">
            <a:avLst/>
          </a:prstGeom>
        </p:spPr>
      </p:pic>
      <p:pic>
        <p:nvPicPr>
          <p:cNvPr id="45" name="Picture 44" descr="lock.png"/>
          <p:cNvPicPr>
            <a:picLocks noChangeAspect="1"/>
          </p:cNvPicPr>
          <p:nvPr/>
        </p:nvPicPr>
        <p:blipFill>
          <a:blip r:embed="rId6"/>
          <a:stretch>
            <a:fillRect/>
          </a:stretch>
        </p:blipFill>
        <p:spPr>
          <a:xfrm>
            <a:off x="6319587" y="5558012"/>
            <a:ext cx="115252" cy="167639"/>
          </a:xfrm>
          <a:prstGeom prst="rect">
            <a:avLst/>
          </a:prstGeom>
        </p:spPr>
      </p:pic>
      <p:pic>
        <p:nvPicPr>
          <p:cNvPr id="46" name="Picture 45" descr="lock.png"/>
          <p:cNvPicPr>
            <a:picLocks noChangeAspect="1"/>
          </p:cNvPicPr>
          <p:nvPr/>
        </p:nvPicPr>
        <p:blipFill>
          <a:blip r:embed="rId6"/>
          <a:stretch>
            <a:fillRect/>
          </a:stretch>
        </p:blipFill>
        <p:spPr>
          <a:xfrm>
            <a:off x="7403983" y="4807650"/>
            <a:ext cx="115252" cy="167639"/>
          </a:xfrm>
          <a:prstGeom prst="rect">
            <a:avLst/>
          </a:prstGeom>
        </p:spPr>
      </p:pic>
      <p:pic>
        <p:nvPicPr>
          <p:cNvPr id="47" name="Picture 46" descr="lock.png"/>
          <p:cNvPicPr>
            <a:picLocks noChangeAspect="1"/>
          </p:cNvPicPr>
          <p:nvPr/>
        </p:nvPicPr>
        <p:blipFill>
          <a:blip r:embed="rId6"/>
          <a:stretch>
            <a:fillRect/>
          </a:stretch>
        </p:blipFill>
        <p:spPr>
          <a:xfrm>
            <a:off x="7403983" y="5532940"/>
            <a:ext cx="115252" cy="167639"/>
          </a:xfrm>
          <a:prstGeom prst="rect">
            <a:avLst/>
          </a:prstGeom>
        </p:spPr>
      </p:pic>
      <p:pic>
        <p:nvPicPr>
          <p:cNvPr id="48" name="Picture 47" descr="lock.png"/>
          <p:cNvPicPr>
            <a:picLocks noChangeAspect="1"/>
          </p:cNvPicPr>
          <p:nvPr/>
        </p:nvPicPr>
        <p:blipFill>
          <a:blip r:embed="rId6"/>
          <a:stretch>
            <a:fillRect/>
          </a:stretch>
        </p:blipFill>
        <p:spPr>
          <a:xfrm>
            <a:off x="11131867" y="2120920"/>
            <a:ext cx="183356" cy="266700"/>
          </a:xfrm>
          <a:prstGeom prst="rect">
            <a:avLst/>
          </a:prstGeom>
        </p:spPr>
      </p:pic>
      <p:pic>
        <p:nvPicPr>
          <p:cNvPr id="49" name="Picture 48" descr="lock.png"/>
          <p:cNvPicPr>
            <a:picLocks noChangeAspect="1"/>
          </p:cNvPicPr>
          <p:nvPr/>
        </p:nvPicPr>
        <p:blipFill>
          <a:blip r:embed="rId6"/>
          <a:stretch>
            <a:fillRect/>
          </a:stretch>
        </p:blipFill>
        <p:spPr>
          <a:xfrm>
            <a:off x="10208848" y="4492667"/>
            <a:ext cx="354517" cy="515661"/>
          </a:xfrm>
          <a:prstGeom prst="rect">
            <a:avLst/>
          </a:prstGeom>
        </p:spPr>
      </p:pic>
      <p:sp>
        <p:nvSpPr>
          <p:cNvPr id="50" name="TextBox 49"/>
          <p:cNvSpPr txBox="1"/>
          <p:nvPr/>
        </p:nvSpPr>
        <p:spPr>
          <a:xfrm>
            <a:off x="257175" y="6160574"/>
            <a:ext cx="3660923" cy="186689"/>
          </a:xfrm>
          <a:prstGeom prst="rect">
            <a:avLst/>
          </a:prstGeom>
          <a:noFill/>
        </p:spPr>
        <p:txBody>
          <a:bodyPr wrap="none" lIns="0" rIns="0" tIns="0" bIns="0">
            <a:spAutoFit/>
          </a:bodyPr>
          <a:lstStyle/>
          <a:p>
            <a:r>
              <a:rPr sz="1100" b="0">
                <a:solidFill>
                  <a:srgbClr val="2E2E2E"/>
                </a:solidFill>
                <a:latin typeface="Calibri"/>
              </a:rPr>
              <a:t>The U.S. allergy immunotherapy market is projected to register</a:t>
            </a:r>
          </a:p>
        </p:txBody>
      </p:sp>
      <p:pic>
        <p:nvPicPr>
          <p:cNvPr id="51" name="Picture 50" descr="lock.png"/>
          <p:cNvPicPr>
            <a:picLocks noChangeAspect="1"/>
          </p:cNvPicPr>
          <p:nvPr/>
        </p:nvPicPr>
        <p:blipFill>
          <a:blip r:embed="rId6"/>
          <a:stretch>
            <a:fillRect/>
          </a:stretch>
        </p:blipFill>
        <p:spPr>
          <a:xfrm>
            <a:off x="3866150" y="6150795"/>
            <a:ext cx="128699" cy="187198"/>
          </a:xfrm>
          <a:prstGeom prst="rect">
            <a:avLst/>
          </a:prstGeom>
        </p:spPr>
      </p:pic>
      <p:sp>
        <p:nvSpPr>
          <p:cNvPr id="52" name="TextBox 51"/>
          <p:cNvSpPr txBox="1"/>
          <p:nvPr/>
        </p:nvSpPr>
        <p:spPr>
          <a:xfrm>
            <a:off x="4033646" y="6160574"/>
            <a:ext cx="4298833" cy="186689"/>
          </a:xfrm>
          <a:prstGeom prst="rect">
            <a:avLst/>
          </a:prstGeom>
          <a:noFill/>
        </p:spPr>
        <p:txBody>
          <a:bodyPr wrap="none" lIns="0" rIns="0" tIns="0" bIns="0">
            <a:spAutoFit/>
          </a:bodyPr>
          <a:lstStyle/>
          <a:p>
            <a:r>
              <a:rPr sz="1100" b="0">
                <a:solidFill>
                  <a:srgbClr val="2E2E2E"/>
                </a:solidFill>
                <a:latin typeface="Calibri"/>
              </a:rPr>
              <a:t>X higher value than Germany in 2036. India posts the highest CAGR Index (</a:t>
            </a:r>
          </a:p>
        </p:txBody>
      </p:sp>
      <p:pic>
        <p:nvPicPr>
          <p:cNvPr id="53" name="Picture 52" descr="lock.png"/>
          <p:cNvPicPr>
            <a:picLocks noChangeAspect="1"/>
          </p:cNvPicPr>
          <p:nvPr/>
        </p:nvPicPr>
        <p:blipFill>
          <a:blip r:embed="rId6"/>
          <a:stretch>
            <a:fillRect/>
          </a:stretch>
        </p:blipFill>
        <p:spPr>
          <a:xfrm>
            <a:off x="8280531" y="6150795"/>
            <a:ext cx="128699" cy="187198"/>
          </a:xfrm>
          <a:prstGeom prst="rect">
            <a:avLst/>
          </a:prstGeom>
        </p:spPr>
      </p:pic>
      <p:sp>
        <p:nvSpPr>
          <p:cNvPr id="54" name="TextBox 53"/>
          <p:cNvSpPr txBox="1"/>
          <p:nvPr/>
        </p:nvSpPr>
        <p:spPr>
          <a:xfrm>
            <a:off x="8448027"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5" name="Picture 54" descr="lock.png"/>
          <p:cNvPicPr>
            <a:picLocks noChangeAspect="1"/>
          </p:cNvPicPr>
          <p:nvPr/>
        </p:nvPicPr>
        <p:blipFill>
          <a:blip r:embed="rId6"/>
          <a:stretch>
            <a:fillRect/>
          </a:stretch>
        </p:blipFill>
        <p:spPr>
          <a:xfrm>
            <a:off x="9186058" y="6150795"/>
            <a:ext cx="128699" cy="187198"/>
          </a:xfrm>
          <a:prstGeom prst="rect">
            <a:avLst/>
          </a:prstGeom>
        </p:spPr>
      </p:pic>
      <p:sp>
        <p:nvSpPr>
          <p:cNvPr id="56" name="TextBox 55"/>
          <p:cNvSpPr txBox="1"/>
          <p:nvPr/>
        </p:nvSpPr>
        <p:spPr>
          <a:xfrm>
            <a:off x="9353554" y="6160574"/>
            <a:ext cx="1080020" cy="186689"/>
          </a:xfrm>
          <a:prstGeom prst="rect">
            <a:avLst/>
          </a:prstGeom>
          <a:noFill/>
        </p:spPr>
        <p:txBody>
          <a:bodyPr wrap="none" lIns="0" rIns="0" tIns="0" bIns="0">
            <a:spAutoFit/>
          </a:bodyPr>
          <a:lstStyle/>
          <a:p>
            <a:r>
              <a:rPr sz="1100" b="0">
                <a:solidFill>
                  <a:srgbClr val="2E2E2E"/>
                </a:solidFill>
                <a:latin typeface="Calibri"/>
              </a:rPr>
              <a:t>against the global</a:t>
            </a:r>
          </a:p>
        </p:txBody>
      </p:sp>
      <p:sp>
        <p:nvSpPr>
          <p:cNvPr id="57" name="TextBox 56"/>
          <p:cNvSpPr txBox="1"/>
          <p:nvPr/>
        </p:nvSpPr>
        <p:spPr>
          <a:xfrm>
            <a:off x="257175" y="6328214"/>
            <a:ext cx="3580159" cy="186689"/>
          </a:xfrm>
          <a:prstGeom prst="rect">
            <a:avLst/>
          </a:prstGeom>
          <a:noFill/>
        </p:spPr>
        <p:txBody>
          <a:bodyPr wrap="none" lIns="0" rIns="0" tIns="0" bIns="0">
            <a:spAutoFit/>
          </a:bodyPr>
          <a:lstStyle/>
          <a:p>
            <a:r>
              <a:rPr sz="1100" b="0">
                <a:solidFill>
                  <a:srgbClr val="2E2E2E"/>
                </a:solidFill>
                <a:latin typeface="Calibri"/>
              </a:rPr>
              <a:t>benchmark, while U.S. offers the largest absolute opportunity</a:t>
            </a:r>
          </a:p>
        </p:txBody>
      </p:sp>
      <p:pic>
        <p:nvPicPr>
          <p:cNvPr id="58" name="Picture 57" descr="lock.png"/>
          <p:cNvPicPr>
            <a:picLocks noChangeAspect="1"/>
          </p:cNvPicPr>
          <p:nvPr/>
        </p:nvPicPr>
        <p:blipFill>
          <a:blip r:embed="rId6"/>
          <a:stretch>
            <a:fillRect/>
          </a:stretch>
        </p:blipFill>
        <p:spPr>
          <a:xfrm>
            <a:off x="3785386" y="6318435"/>
            <a:ext cx="128699" cy="187198"/>
          </a:xfrm>
          <a:prstGeom prst="rect">
            <a:avLst/>
          </a:prstGeom>
        </p:spPr>
      </p:pic>
      <p:sp>
        <p:nvSpPr>
          <p:cNvPr id="59" name="TextBox 58"/>
          <p:cNvSpPr txBox="1"/>
          <p:nvPr/>
        </p:nvSpPr>
        <p:spPr>
          <a:xfrm>
            <a:off x="3952882"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60" name="Picture 59" descr="lock.png"/>
          <p:cNvPicPr>
            <a:picLocks noChangeAspect="1"/>
          </p:cNvPicPr>
          <p:nvPr/>
        </p:nvPicPr>
        <p:blipFill>
          <a:blip r:embed="rId6"/>
          <a:stretch>
            <a:fillRect/>
          </a:stretch>
        </p:blipFill>
        <p:spPr>
          <a:xfrm>
            <a:off x="7212880" y="6318435"/>
            <a:ext cx="128699" cy="187198"/>
          </a:xfrm>
          <a:prstGeom prst="rect">
            <a:avLst/>
          </a:prstGeom>
        </p:spPr>
      </p:pic>
      <p:sp>
        <p:nvSpPr>
          <p:cNvPr id="61" name="TextBox 60"/>
          <p:cNvSpPr txBox="1"/>
          <p:nvPr/>
        </p:nvSpPr>
        <p:spPr>
          <a:xfrm>
            <a:off x="7380376"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2"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3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1057275"/>
          <a:ext cx="11887199" cy="1485896"/>
        </p:xfrm>
        <a:graphic>
          <a:graphicData uri="http://schemas.openxmlformats.org/drawingml/2006/table">
            <a:tbl>
              <a:tblPr>
                <a:tableStyleId>{5C22544A-7EE6-4342-B048-85BDC9FD1C3A}</a:tableStyleId>
              </a:tblPr>
              <a:tblGrid>
                <a:gridCol w="1994456"/>
                <a:gridCol w="3297581"/>
                <a:gridCol w="3297581"/>
                <a:gridCol w="329758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Thailand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Spain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Malaysia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90512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2981325"/>
          <a:ext cx="11887200" cy="1485896"/>
        </p:xfrm>
        <a:graphic>
          <a:graphicData uri="http://schemas.openxmlformats.org/drawingml/2006/table">
            <a:tbl>
              <a:tblPr>
                <a:tableStyleId>{5C22544A-7EE6-4342-B048-85BDC9FD1C3A}</a:tableStyleId>
              </a:tblPr>
              <a:tblGrid>
                <a:gridCol w="1846407"/>
                <a:gridCol w="3346931"/>
                <a:gridCol w="3346931"/>
                <a:gridCol w="33469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U.K.</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Japan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Turkey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4"/>
          <a:stretch>
            <a:fillRect/>
          </a:stretch>
        </p:blipFill>
        <p:spPr>
          <a:xfrm>
            <a:off x="6906537" y="1656588"/>
            <a:ext cx="366712" cy="533400"/>
          </a:xfrm>
          <a:prstGeom prst="rect">
            <a:avLst/>
          </a:prstGeom>
        </p:spPr>
      </p:pic>
      <p:pic>
        <p:nvPicPr>
          <p:cNvPr id="18" name="Picture 17" descr="lock.png"/>
          <p:cNvPicPr>
            <a:picLocks noChangeAspect="1"/>
          </p:cNvPicPr>
          <p:nvPr/>
        </p:nvPicPr>
        <p:blipFill>
          <a:blip r:embed="rId4"/>
          <a:stretch>
            <a:fillRect/>
          </a:stretch>
        </p:blipFill>
        <p:spPr>
          <a:xfrm>
            <a:off x="6832513" y="3580638"/>
            <a:ext cx="366712" cy="5334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809750"/>
          </a:xfrm>
          <a:prstGeom prst="roundRect">
            <a:avLst>
              <a:gd name="adj" fmla="val 421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3239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924175"/>
            <a:ext cx="11906250" cy="1504950"/>
          </a:xfrm>
          <a:prstGeom prst="roundRect">
            <a:avLst>
              <a:gd name="adj" fmla="val 506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009900"/>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248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333750"/>
            <a:ext cx="11639550" cy="10191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562475"/>
            <a:ext cx="39433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64820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88632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72050"/>
            <a:ext cx="36766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562475"/>
            <a:ext cx="3819525"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64820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88632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4972050"/>
            <a:ext cx="3552825"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562475"/>
            <a:ext cx="3819525"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64820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88632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4972050"/>
            <a:ext cx="3552825"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'Licensed Finished AIT Products'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3 commercial product model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3686088" cy="194310"/>
          </a:xfrm>
          <a:prstGeom prst="rect">
            <a:avLst/>
          </a:prstGeom>
          <a:noFill/>
        </p:spPr>
        <p:txBody>
          <a:bodyPr wrap="none" lIns="0" rIns="0" tIns="0" bIns="0">
            <a:spAutoFit/>
          </a:bodyPr>
          <a:lstStyle/>
          <a:p>
            <a:r>
              <a:rPr sz="1150" b="0">
                <a:solidFill>
                  <a:srgbClr val="2E2E2E"/>
                </a:solidFill>
                <a:latin typeface="Calibri"/>
              </a:rPr>
              <a:t>Global allergy immunotherapy market is expected to witness</a:t>
            </a:r>
          </a:p>
        </p:txBody>
      </p:sp>
      <p:pic>
        <p:nvPicPr>
          <p:cNvPr id="32" name="Picture 31" descr="lock.png"/>
          <p:cNvPicPr>
            <a:picLocks noChangeAspect="1"/>
          </p:cNvPicPr>
          <p:nvPr/>
        </p:nvPicPr>
        <p:blipFill>
          <a:blip r:embed="rId4"/>
          <a:stretch>
            <a:fillRect/>
          </a:stretch>
        </p:blipFill>
        <p:spPr>
          <a:xfrm>
            <a:off x="3911467" y="1389951"/>
            <a:ext cx="134549" cy="195707"/>
          </a:xfrm>
          <a:prstGeom prst="rect">
            <a:avLst/>
          </a:prstGeom>
        </p:spPr>
      </p:pic>
      <p:sp>
        <p:nvSpPr>
          <p:cNvPr id="33" name="TextBox 32"/>
          <p:cNvSpPr txBox="1"/>
          <p:nvPr/>
        </p:nvSpPr>
        <p:spPr>
          <a:xfrm>
            <a:off x="4086576" y="1400175"/>
            <a:ext cx="5574754" cy="194310"/>
          </a:xfrm>
          <a:prstGeom prst="rect">
            <a:avLst/>
          </a:prstGeom>
          <a:noFill/>
        </p:spPr>
        <p:txBody>
          <a:bodyPr wrap="none" lIns="0" rIns="0" tIns="0" bIns="0">
            <a:spAutoFit/>
          </a:bodyPr>
          <a:lstStyle/>
          <a:p>
            <a:r>
              <a:rPr sz="1150" b="0">
                <a:solidFill>
                  <a:srgbClr val="2E2E2E"/>
                </a:solidFill>
                <a:latin typeface="Calibri"/>
              </a:rPr>
              <a:t>X increase in revenue by 2036 end. Global allergy immunotherapy market accounted for US$</a:t>
            </a:r>
          </a:p>
        </p:txBody>
      </p:sp>
      <p:pic>
        <p:nvPicPr>
          <p:cNvPr id="34" name="Picture 33" descr="lock.png"/>
          <p:cNvPicPr>
            <a:picLocks noChangeAspect="1"/>
          </p:cNvPicPr>
          <p:nvPr/>
        </p:nvPicPr>
        <p:blipFill>
          <a:blip r:embed="rId4"/>
          <a:stretch>
            <a:fillRect/>
          </a:stretch>
        </p:blipFill>
        <p:spPr>
          <a:xfrm>
            <a:off x="9610484" y="1389951"/>
            <a:ext cx="134549" cy="195707"/>
          </a:xfrm>
          <a:prstGeom prst="rect">
            <a:avLst/>
          </a:prstGeom>
        </p:spPr>
      </p:pic>
      <p:sp>
        <p:nvSpPr>
          <p:cNvPr id="35" name="TextBox 34"/>
          <p:cNvSpPr txBox="1"/>
          <p:nvPr/>
        </p:nvSpPr>
        <p:spPr>
          <a:xfrm>
            <a:off x="9785593" y="1400175"/>
            <a:ext cx="1877007" cy="194310"/>
          </a:xfrm>
          <a:prstGeom prst="rect">
            <a:avLst/>
          </a:prstGeom>
          <a:noFill/>
        </p:spPr>
        <p:txBody>
          <a:bodyPr wrap="none" lIns="0" rIns="0" tIns="0" bIns="0">
            <a:spAutoFit/>
          </a:bodyPr>
          <a:lstStyle/>
          <a:p>
            <a:r>
              <a:rPr sz="1150" b="0">
                <a:solidFill>
                  <a:srgbClr val="2E2E2E"/>
                </a:solidFill>
                <a:latin typeface="Calibri"/>
              </a:rPr>
              <a:t>Mn in 2025, which is expected</a:t>
            </a:r>
          </a:p>
        </p:txBody>
      </p:sp>
      <p:sp>
        <p:nvSpPr>
          <p:cNvPr id="36" name="TextBox 35"/>
          <p:cNvSpPr txBox="1"/>
          <p:nvPr/>
        </p:nvSpPr>
        <p:spPr>
          <a:xfrm>
            <a:off x="276225" y="1575435"/>
            <a:ext cx="3368582" cy="194310"/>
          </a:xfrm>
          <a:prstGeom prst="rect">
            <a:avLst/>
          </a:prstGeom>
          <a:noFill/>
        </p:spPr>
        <p:txBody>
          <a:bodyPr wrap="none" lIns="0" rIns="0" tIns="0" bIns="0">
            <a:spAutoFit/>
          </a:bodyPr>
          <a:lstStyle/>
          <a:p>
            <a:r>
              <a:rPr sz="1150" b="0">
                <a:solidFill>
                  <a:srgbClr val="2E2E2E"/>
                </a:solidFill>
                <a:latin typeface="Calibri"/>
              </a:rPr>
              <a:t>to increase to US$ 5,439 Mn in 2036 at a CAGR of 8.4%.</a:t>
            </a:r>
          </a:p>
        </p:txBody>
      </p:sp>
      <p:sp>
        <p:nvSpPr>
          <p:cNvPr id="37" name="TextBox 36"/>
          <p:cNvSpPr txBox="1"/>
          <p:nvPr/>
        </p:nvSpPr>
        <p:spPr>
          <a:xfrm>
            <a:off x="276225" y="1803273"/>
            <a:ext cx="11620500" cy="194310"/>
          </a:xfrm>
          <a:prstGeom prst="rect">
            <a:avLst/>
          </a:prstGeom>
          <a:noFill/>
        </p:spPr>
        <p:txBody>
          <a:bodyPr wrap="none" lIns="0" rIns="0" tIns="0" bIns="0">
            <a:spAutoFit/>
          </a:bodyPr>
          <a:lstStyle/>
          <a:p>
            <a:r>
              <a:rPr sz="1150" b="0">
                <a:solidFill>
                  <a:srgbClr val="2E2E2E"/>
                </a:solidFill>
                <a:latin typeface="Calibri"/>
              </a:rPr>
              <a:t>The global allergy immunotherapy market has been analysed on the basis of therapy format, allergen class, commercial product model and allergen preparation technology across the globe. North</a:t>
            </a:r>
          </a:p>
        </p:txBody>
      </p:sp>
      <p:sp>
        <p:nvSpPr>
          <p:cNvPr id="38" name="TextBox 37"/>
          <p:cNvSpPr txBox="1"/>
          <p:nvPr/>
        </p:nvSpPr>
        <p:spPr>
          <a:xfrm>
            <a:off x="276225" y="1978533"/>
            <a:ext cx="9688383" cy="194310"/>
          </a:xfrm>
          <a:prstGeom prst="rect">
            <a:avLst/>
          </a:prstGeom>
          <a:noFill/>
        </p:spPr>
        <p:txBody>
          <a:bodyPr wrap="none" lIns="0" rIns="0" tIns="0" bIns="0">
            <a:spAutoFit/>
          </a:bodyPr>
          <a:lstStyle/>
          <a:p>
            <a:r>
              <a:rPr sz="1150" b="0">
                <a:solidFill>
                  <a:srgbClr val="2E2E2E"/>
                </a:solidFill>
                <a:latin typeface="Calibri"/>
              </a:rPr>
              <a:t>America is expected to remain the largest market for allergy immunotherapy, while demand in South Asia &amp; Pacific is projected to increase at the highest CAGR of</a:t>
            </a:r>
          </a:p>
        </p:txBody>
      </p:sp>
      <p:pic>
        <p:nvPicPr>
          <p:cNvPr id="39" name="Picture 38" descr="lock.png"/>
          <p:cNvPicPr>
            <a:picLocks noChangeAspect="1"/>
          </p:cNvPicPr>
          <p:nvPr/>
        </p:nvPicPr>
        <p:blipFill>
          <a:blip r:embed="rId4"/>
          <a:stretch>
            <a:fillRect/>
          </a:stretch>
        </p:blipFill>
        <p:spPr>
          <a:xfrm>
            <a:off x="9913761" y="1968309"/>
            <a:ext cx="134549" cy="195707"/>
          </a:xfrm>
          <a:prstGeom prst="rect">
            <a:avLst/>
          </a:prstGeom>
        </p:spPr>
      </p:pic>
      <p:sp>
        <p:nvSpPr>
          <p:cNvPr id="40" name="TextBox 39"/>
          <p:cNvSpPr txBox="1"/>
          <p:nvPr/>
        </p:nvSpPr>
        <p:spPr>
          <a:xfrm>
            <a:off x="10088871" y="1978533"/>
            <a:ext cx="1503040" cy="194310"/>
          </a:xfrm>
          <a:prstGeom prst="rect">
            <a:avLst/>
          </a:prstGeom>
          <a:noFill/>
        </p:spPr>
        <p:txBody>
          <a:bodyPr wrap="none" lIns="0" rIns="0" tIns="0" bIns="0">
            <a:spAutoFit/>
          </a:bodyPr>
          <a:lstStyle/>
          <a:p>
            <a:r>
              <a:rPr sz="1150" b="0">
                <a:solidFill>
                  <a:srgbClr val="2E2E2E"/>
                </a:solidFill>
                <a:latin typeface="Calibri"/>
              </a:rPr>
              <a:t>throughout the forecast</a:t>
            </a:r>
          </a:p>
        </p:txBody>
      </p:sp>
      <p:sp>
        <p:nvSpPr>
          <p:cNvPr id="41" name="TextBox 40"/>
          <p:cNvSpPr txBox="1"/>
          <p:nvPr/>
        </p:nvSpPr>
        <p:spPr>
          <a:xfrm>
            <a:off x="276225" y="2153793"/>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42" name="TextBox 41"/>
          <p:cNvSpPr txBox="1"/>
          <p:nvPr/>
        </p:nvSpPr>
        <p:spPr>
          <a:xfrm>
            <a:off x="276225" y="3343275"/>
            <a:ext cx="7617457"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commercial product model category 'Licensed Finished AIT Products' holds</a:t>
            </a:r>
          </a:p>
        </p:txBody>
      </p:sp>
      <p:pic>
        <p:nvPicPr>
          <p:cNvPr id="43" name="Picture 42" descr="lock.png"/>
          <p:cNvPicPr>
            <a:picLocks noChangeAspect="1"/>
          </p:cNvPicPr>
          <p:nvPr/>
        </p:nvPicPr>
        <p:blipFill>
          <a:blip r:embed="rId4"/>
          <a:stretch>
            <a:fillRect/>
          </a:stretch>
        </p:blipFill>
        <p:spPr>
          <a:xfrm>
            <a:off x="7842836" y="3333051"/>
            <a:ext cx="134549" cy="195707"/>
          </a:xfrm>
          <a:prstGeom prst="rect">
            <a:avLst/>
          </a:prstGeom>
        </p:spPr>
      </p:pic>
      <p:sp>
        <p:nvSpPr>
          <p:cNvPr id="44" name="TextBox 43"/>
          <p:cNvSpPr txBox="1"/>
          <p:nvPr/>
        </p:nvSpPr>
        <p:spPr>
          <a:xfrm>
            <a:off x="8017945" y="3343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5" name="TextBox 44"/>
          <p:cNvSpPr txBox="1"/>
          <p:nvPr/>
        </p:nvSpPr>
        <p:spPr>
          <a:xfrm>
            <a:off x="276225" y="3571112"/>
            <a:ext cx="5751326" cy="194310"/>
          </a:xfrm>
          <a:prstGeom prst="rect">
            <a:avLst/>
          </a:prstGeom>
          <a:noFill/>
        </p:spPr>
        <p:txBody>
          <a:bodyPr wrap="none" lIns="0" rIns="0" tIns="0" bIns="0">
            <a:spAutoFit/>
          </a:bodyPr>
          <a:lstStyle/>
          <a:p>
            <a:r>
              <a:rPr sz="1150" b="0">
                <a:solidFill>
                  <a:srgbClr val="2E2E2E"/>
                </a:solidFill>
                <a:latin typeface="Calibri"/>
              </a:rPr>
              <a:t>▪ Demand spans 6 regions and 9 segmentation lenses (3 commercial product model categories).</a:t>
            </a:r>
          </a:p>
        </p:txBody>
      </p:sp>
      <p:sp>
        <p:nvSpPr>
          <p:cNvPr id="46" name="TextBox 45"/>
          <p:cNvSpPr txBox="1"/>
          <p:nvPr/>
        </p:nvSpPr>
        <p:spPr>
          <a:xfrm>
            <a:off x="276225" y="3798950"/>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47" name="Picture 46" descr="lock.png"/>
          <p:cNvPicPr>
            <a:picLocks noChangeAspect="1"/>
          </p:cNvPicPr>
          <p:nvPr/>
        </p:nvPicPr>
        <p:blipFill>
          <a:blip r:embed="rId4"/>
          <a:stretch>
            <a:fillRect/>
          </a:stretch>
        </p:blipFill>
        <p:spPr>
          <a:xfrm>
            <a:off x="3176367" y="3788727"/>
            <a:ext cx="134549" cy="195707"/>
          </a:xfrm>
          <a:prstGeom prst="rect">
            <a:avLst/>
          </a:prstGeom>
        </p:spPr>
      </p:pic>
      <p:sp>
        <p:nvSpPr>
          <p:cNvPr id="48" name="TextBox 47"/>
          <p:cNvSpPr txBox="1"/>
          <p:nvPr/>
        </p:nvSpPr>
        <p:spPr>
          <a:xfrm>
            <a:off x="3351477" y="37989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9" name="TextBox 48"/>
          <p:cNvSpPr txBox="1"/>
          <p:nvPr/>
        </p:nvSpPr>
        <p:spPr>
          <a:xfrm>
            <a:off x="276225" y="4981575"/>
            <a:ext cx="3418520" cy="194310"/>
          </a:xfrm>
          <a:prstGeom prst="rect">
            <a:avLst/>
          </a:prstGeom>
          <a:noFill/>
        </p:spPr>
        <p:txBody>
          <a:bodyPr wrap="none" lIns="0" rIns="0" tIns="0" bIns="0">
            <a:spAutoFit/>
          </a:bodyPr>
          <a:lstStyle/>
          <a:p>
            <a:r>
              <a:rPr sz="1150" b="0">
                <a:solidFill>
                  <a:srgbClr val="2E2E2E"/>
                </a:solidFill>
                <a:latin typeface="Calibri"/>
              </a:rPr>
              <a:t>▪ Accelerating uptake of 'Licensed Finished AIT Products'</a:t>
            </a:r>
          </a:p>
        </p:txBody>
      </p:sp>
      <p:sp>
        <p:nvSpPr>
          <p:cNvPr id="50" name="TextBox 49"/>
          <p:cNvSpPr txBox="1"/>
          <p:nvPr/>
        </p:nvSpPr>
        <p:spPr>
          <a:xfrm>
            <a:off x="276225" y="5156835"/>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1" name="Picture 50" descr="lock.png"/>
          <p:cNvPicPr>
            <a:picLocks noChangeAspect="1"/>
          </p:cNvPicPr>
          <p:nvPr/>
        </p:nvPicPr>
        <p:blipFill>
          <a:blip r:embed="rId4"/>
          <a:stretch>
            <a:fillRect/>
          </a:stretch>
        </p:blipFill>
        <p:spPr>
          <a:xfrm>
            <a:off x="345793" y="5146611"/>
            <a:ext cx="134549" cy="195707"/>
          </a:xfrm>
          <a:prstGeom prst="rect">
            <a:avLst/>
          </a:prstGeom>
        </p:spPr>
      </p:pic>
      <p:sp>
        <p:nvSpPr>
          <p:cNvPr id="52" name="TextBox 51"/>
          <p:cNvSpPr txBox="1"/>
          <p:nvPr/>
        </p:nvSpPr>
        <p:spPr>
          <a:xfrm>
            <a:off x="520902" y="515683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3" name="TextBox 52"/>
          <p:cNvSpPr txBox="1"/>
          <p:nvPr/>
        </p:nvSpPr>
        <p:spPr>
          <a:xfrm>
            <a:off x="276225" y="5384672"/>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4" name="Picture 53" descr="lock.png"/>
          <p:cNvPicPr>
            <a:picLocks noChangeAspect="1"/>
          </p:cNvPicPr>
          <p:nvPr/>
        </p:nvPicPr>
        <p:blipFill>
          <a:blip r:embed="rId4"/>
          <a:stretch>
            <a:fillRect/>
          </a:stretch>
        </p:blipFill>
        <p:spPr>
          <a:xfrm>
            <a:off x="3102424" y="5374449"/>
            <a:ext cx="134549" cy="195707"/>
          </a:xfrm>
          <a:prstGeom prst="rect">
            <a:avLst/>
          </a:prstGeom>
        </p:spPr>
      </p:pic>
      <p:sp>
        <p:nvSpPr>
          <p:cNvPr id="55" name="TextBox 54"/>
          <p:cNvSpPr txBox="1"/>
          <p:nvPr/>
        </p:nvSpPr>
        <p:spPr>
          <a:xfrm>
            <a:off x="3277533" y="538467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6" name="TextBox 55"/>
          <p:cNvSpPr txBox="1"/>
          <p:nvPr/>
        </p:nvSpPr>
        <p:spPr>
          <a:xfrm>
            <a:off x="276225" y="5612510"/>
            <a:ext cx="3643300" cy="194310"/>
          </a:xfrm>
          <a:prstGeom prst="rect">
            <a:avLst/>
          </a:prstGeom>
          <a:noFill/>
        </p:spPr>
        <p:txBody>
          <a:bodyPr wrap="none" lIns="0" rIns="0" tIns="0" bIns="0">
            <a:spAutoFit/>
          </a:bodyPr>
          <a:lstStyle/>
          <a:p>
            <a:r>
              <a:rPr sz="1150" b="0">
                <a:solidFill>
                  <a:srgbClr val="2E2E2E"/>
                </a:solidFill>
                <a:latin typeface="Calibri"/>
              </a:rPr>
              <a:t>▪ Momentum in Retail Pharmacy within sales / procurement</a:t>
            </a:r>
          </a:p>
        </p:txBody>
      </p:sp>
      <p:sp>
        <p:nvSpPr>
          <p:cNvPr id="57" name="TextBox 56"/>
          <p:cNvSpPr txBox="1"/>
          <p:nvPr/>
        </p:nvSpPr>
        <p:spPr>
          <a:xfrm>
            <a:off x="276225" y="5787770"/>
            <a:ext cx="621890" cy="194310"/>
          </a:xfrm>
          <a:prstGeom prst="rect">
            <a:avLst/>
          </a:prstGeom>
          <a:noFill/>
        </p:spPr>
        <p:txBody>
          <a:bodyPr wrap="none" lIns="0" rIns="0" tIns="0" bIns="0">
            <a:spAutoFit/>
          </a:bodyPr>
          <a:lstStyle/>
          <a:p>
            <a:r>
              <a:rPr sz="1150" b="0">
                <a:solidFill>
                  <a:srgbClr val="2E2E2E"/>
                </a:solidFill>
                <a:latin typeface="Calibri"/>
              </a:rPr>
              <a:t>channel (</a:t>
            </a:r>
          </a:p>
        </p:txBody>
      </p:sp>
      <p:pic>
        <p:nvPicPr>
          <p:cNvPr id="58" name="Picture 57" descr="lock.png"/>
          <p:cNvPicPr>
            <a:picLocks noChangeAspect="1"/>
          </p:cNvPicPr>
          <p:nvPr/>
        </p:nvPicPr>
        <p:blipFill>
          <a:blip r:embed="rId4"/>
          <a:stretch>
            <a:fillRect/>
          </a:stretch>
        </p:blipFill>
        <p:spPr>
          <a:xfrm>
            <a:off x="847269" y="5777547"/>
            <a:ext cx="134549" cy="195707"/>
          </a:xfrm>
          <a:prstGeom prst="rect">
            <a:avLst/>
          </a:prstGeom>
        </p:spPr>
      </p:pic>
      <p:sp>
        <p:nvSpPr>
          <p:cNvPr id="59" name="TextBox 58"/>
          <p:cNvSpPr txBox="1"/>
          <p:nvPr/>
        </p:nvSpPr>
        <p:spPr>
          <a:xfrm>
            <a:off x="1022378" y="578777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0" name="TextBox 59"/>
          <p:cNvSpPr txBox="1"/>
          <p:nvPr/>
        </p:nvSpPr>
        <p:spPr>
          <a:xfrm>
            <a:off x="4371975" y="4981575"/>
            <a:ext cx="3443051" cy="194310"/>
          </a:xfrm>
          <a:prstGeom prst="rect">
            <a:avLst/>
          </a:prstGeom>
          <a:noFill/>
        </p:spPr>
        <p:txBody>
          <a:bodyPr wrap="none" lIns="0" rIns="0" tIns="0" bIns="0">
            <a:spAutoFit/>
          </a:bodyPr>
          <a:lstStyle/>
          <a:p>
            <a:r>
              <a:rPr sz="1150" b="0">
                <a:solidFill>
                  <a:srgbClr val="2E2E2E"/>
                </a:solidFill>
                <a:latin typeface="Calibri"/>
              </a:rPr>
              <a:t>▪ Slower momentum in 'Individual-Prescription Products'</a:t>
            </a:r>
          </a:p>
        </p:txBody>
      </p:sp>
      <p:sp>
        <p:nvSpPr>
          <p:cNvPr id="61" name="TextBox 60"/>
          <p:cNvSpPr txBox="1"/>
          <p:nvPr/>
        </p:nvSpPr>
        <p:spPr>
          <a:xfrm>
            <a:off x="4371975" y="5156835"/>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2" name="Picture 61" descr="lock.png"/>
          <p:cNvPicPr>
            <a:picLocks noChangeAspect="1"/>
          </p:cNvPicPr>
          <p:nvPr/>
        </p:nvPicPr>
        <p:blipFill>
          <a:blip r:embed="rId4"/>
          <a:stretch>
            <a:fillRect/>
          </a:stretch>
        </p:blipFill>
        <p:spPr>
          <a:xfrm>
            <a:off x="4441543" y="5146611"/>
            <a:ext cx="134549" cy="195707"/>
          </a:xfrm>
          <a:prstGeom prst="rect">
            <a:avLst/>
          </a:prstGeom>
        </p:spPr>
      </p:pic>
      <p:sp>
        <p:nvSpPr>
          <p:cNvPr id="63" name="TextBox 62"/>
          <p:cNvSpPr txBox="1"/>
          <p:nvPr/>
        </p:nvSpPr>
        <p:spPr>
          <a:xfrm>
            <a:off x="4616652" y="515683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4" name="TextBox 63"/>
          <p:cNvSpPr txBox="1"/>
          <p:nvPr/>
        </p:nvSpPr>
        <p:spPr>
          <a:xfrm>
            <a:off x="4371975" y="5384672"/>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5" name="TextBox 64"/>
          <p:cNvSpPr txBox="1"/>
          <p:nvPr/>
        </p:nvSpPr>
        <p:spPr>
          <a:xfrm>
            <a:off x="4371975" y="555993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6" name="Picture 65" descr="lock.png"/>
          <p:cNvPicPr>
            <a:picLocks noChangeAspect="1"/>
          </p:cNvPicPr>
          <p:nvPr/>
        </p:nvPicPr>
        <p:blipFill>
          <a:blip r:embed="rId4"/>
          <a:stretch>
            <a:fillRect/>
          </a:stretch>
        </p:blipFill>
        <p:spPr>
          <a:xfrm>
            <a:off x="4883401" y="5549709"/>
            <a:ext cx="134549" cy="195707"/>
          </a:xfrm>
          <a:prstGeom prst="rect">
            <a:avLst/>
          </a:prstGeom>
        </p:spPr>
      </p:pic>
      <p:sp>
        <p:nvSpPr>
          <p:cNvPr id="67" name="TextBox 66"/>
          <p:cNvSpPr txBox="1"/>
          <p:nvPr/>
        </p:nvSpPr>
        <p:spPr>
          <a:xfrm>
            <a:off x="5058510" y="555993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4371975" y="5787770"/>
            <a:ext cx="3428789" cy="194310"/>
          </a:xfrm>
          <a:prstGeom prst="rect">
            <a:avLst/>
          </a:prstGeom>
          <a:noFill/>
        </p:spPr>
        <p:txBody>
          <a:bodyPr wrap="none" lIns="0" rIns="0" tIns="0" bIns="0">
            <a:spAutoFit/>
          </a:bodyPr>
          <a:lstStyle/>
          <a:p>
            <a:r>
              <a:rPr sz="1150" b="0">
                <a:solidFill>
                  <a:srgbClr val="2E2E2E"/>
                </a:solidFill>
                <a:latin typeface="Calibri"/>
              </a:rPr>
              <a:t>▪ Value concentration in 'Licensed Finished AIT Products'</a:t>
            </a:r>
          </a:p>
        </p:txBody>
      </p:sp>
      <p:sp>
        <p:nvSpPr>
          <p:cNvPr id="69" name="TextBox 68"/>
          <p:cNvSpPr txBox="1"/>
          <p:nvPr/>
        </p:nvSpPr>
        <p:spPr>
          <a:xfrm>
            <a:off x="4371975" y="5963030"/>
            <a:ext cx="1978843" cy="194310"/>
          </a:xfrm>
          <a:prstGeom prst="rect">
            <a:avLst/>
          </a:prstGeom>
          <a:noFill/>
        </p:spPr>
        <p:txBody>
          <a:bodyPr wrap="none" lIns="0" rIns="0" tIns="0" bIns="0">
            <a:spAutoFit/>
          </a:bodyPr>
          <a:lstStyle/>
          <a:p>
            <a:r>
              <a:rPr sz="1150" b="0">
                <a:solidFill>
                  <a:srgbClr val="2E2E2E"/>
                </a:solidFill>
                <a:latin typeface="Calibri"/>
              </a:rPr>
              <a:t>raises barriers for new entrants.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52600"/>
          </a:xfrm>
          <a:prstGeom prst="roundRect">
            <a:avLst>
              <a:gd name="adj" fmla="val 434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668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4" name="Rounded Rectangle 13"/>
          <p:cNvSpPr/>
          <p:nvPr/>
        </p:nvSpPr>
        <p:spPr>
          <a:xfrm>
            <a:off x="6172200" y="981075"/>
            <a:ext cx="5876925" cy="1752600"/>
          </a:xfrm>
          <a:prstGeom prst="roundRect">
            <a:avLst>
              <a:gd name="adj" fmla="val 434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668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67025"/>
            <a:ext cx="5876925"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52750"/>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19087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76600"/>
            <a:ext cx="5610225" cy="11906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2" name="Rounded Rectangle 21"/>
          <p:cNvSpPr/>
          <p:nvPr/>
        </p:nvSpPr>
        <p:spPr>
          <a:xfrm>
            <a:off x="6172200" y="2867025"/>
            <a:ext cx="5876925"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52750"/>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19087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76600"/>
            <a:ext cx="5610225" cy="11906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6" name="Rounded Rectangle 25"/>
          <p:cNvSpPr/>
          <p:nvPr/>
        </p:nvSpPr>
        <p:spPr>
          <a:xfrm>
            <a:off x="142875" y="4676775"/>
            <a:ext cx="11906250" cy="1933575"/>
          </a:xfrm>
          <a:prstGeom prst="roundRect">
            <a:avLst>
              <a:gd name="adj" fmla="val 39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7339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Commercial Product Model Share (2036)</a:t>
            </a:r>
          </a:p>
        </p:txBody>
      </p:sp>
      <p:graphicFrame>
        <p:nvGraphicFramePr>
          <p:cNvPr id="28" name="Chart 27"/>
          <p:cNvGraphicFramePr>
            <a:graphicFrameLocks noGrp="1"/>
          </p:cNvGraphicFramePr>
          <p:nvPr/>
        </p:nvGraphicFramePr>
        <p:xfrm>
          <a:off x="238125" y="4962525"/>
          <a:ext cx="11715750" cy="1590675"/>
        </p:xfrm>
        <a:graphic>
          <a:graphicData uri="http://schemas.openxmlformats.org/drawingml/2006/chart">
            <c:chart xmlns:c="http://schemas.openxmlformats.org/drawingml/2006/chart" r:id="rId3"/>
          </a:graphicData>
        </a:graphic>
      </p:graphicFrame>
      <p:sp>
        <p:nvSpPr>
          <p:cNvPr id="29" name="TextBox 28"/>
          <p:cNvSpPr txBox="1"/>
          <p:nvPr/>
        </p:nvSpPr>
        <p:spPr>
          <a:xfrm>
            <a:off x="3958148" y="5643562"/>
            <a:ext cx="760979"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72768" y="5519690"/>
            <a:ext cx="311891" cy="453660"/>
          </a:xfrm>
          <a:prstGeom prst="rect">
            <a:avLst/>
          </a:prstGeom>
        </p:spPr>
      </p:pic>
      <p:sp>
        <p:nvSpPr>
          <p:cNvPr id="32" name="TextBox 31"/>
          <p:cNvSpPr txBox="1"/>
          <p:nvPr/>
        </p:nvSpPr>
        <p:spPr>
          <a:xfrm>
            <a:off x="276225" y="1400175"/>
            <a:ext cx="5550148" cy="186689"/>
          </a:xfrm>
          <a:prstGeom prst="rect">
            <a:avLst/>
          </a:prstGeom>
          <a:noFill/>
        </p:spPr>
        <p:txBody>
          <a:bodyPr wrap="none" lIns="0" rIns="0" tIns="0" bIns="0">
            <a:spAutoFit/>
          </a:bodyPr>
          <a:lstStyle/>
          <a:p>
            <a:r>
              <a:rPr sz="1100" b="0">
                <a:solidFill>
                  <a:srgbClr val="2E2E2E"/>
                </a:solidFill>
                <a:latin typeface="Calibri"/>
              </a:rPr>
              <a:t>▪ Capacity and product development are concentrating in 'Licensed Finished AIT Products' and in</a:t>
            </a:r>
          </a:p>
        </p:txBody>
      </p:sp>
      <p:sp>
        <p:nvSpPr>
          <p:cNvPr id="33" name="TextBox 32"/>
          <p:cNvSpPr txBox="1"/>
          <p:nvPr/>
        </p:nvSpPr>
        <p:spPr>
          <a:xfrm>
            <a:off x="276225" y="1567815"/>
            <a:ext cx="2799531" cy="186689"/>
          </a:xfrm>
          <a:prstGeom prst="rect">
            <a:avLst/>
          </a:prstGeom>
          <a:noFill/>
        </p:spPr>
        <p:txBody>
          <a:bodyPr wrap="none" lIns="0" rIns="0" tIns="0" bIns="0">
            <a:spAutoFit/>
          </a:bodyPr>
          <a:lstStyle/>
          <a:p>
            <a:r>
              <a:rPr sz="1100" b="0">
                <a:solidFill>
                  <a:srgbClr val="2E2E2E"/>
                </a:solidFill>
                <a:latin typeface="Calibri"/>
              </a:rPr>
              <a:t>South Asia &amp; Pacific, the fastest-growing region.</a:t>
            </a:r>
          </a:p>
        </p:txBody>
      </p:sp>
      <p:sp>
        <p:nvSpPr>
          <p:cNvPr id="34" name="TextBox 33"/>
          <p:cNvSpPr txBox="1"/>
          <p:nvPr/>
        </p:nvSpPr>
        <p:spPr>
          <a:xfrm>
            <a:off x="276225" y="1785747"/>
            <a:ext cx="5228728" cy="186689"/>
          </a:xfrm>
          <a:prstGeom prst="rect">
            <a:avLst/>
          </a:prstGeom>
          <a:noFill/>
        </p:spPr>
        <p:txBody>
          <a:bodyPr wrap="none" lIns="0" rIns="0" tIns="0" bIns="0">
            <a:spAutoFit/>
          </a:bodyPr>
          <a:lstStyle/>
          <a:p>
            <a:r>
              <a:rPr sz="1100" b="0">
                <a:solidFill>
                  <a:srgbClr val="2E2E2E"/>
                </a:solidFill>
                <a:latin typeface="Calibri"/>
              </a:rPr>
              <a:t>▪ Portfolio expansion is tracking the shift toward higher-growth commercial product model</a:t>
            </a:r>
          </a:p>
        </p:txBody>
      </p:sp>
      <p:sp>
        <p:nvSpPr>
          <p:cNvPr id="35" name="TextBox 34"/>
          <p:cNvSpPr txBox="1"/>
          <p:nvPr/>
        </p:nvSpPr>
        <p:spPr>
          <a:xfrm>
            <a:off x="276225" y="1953386"/>
            <a:ext cx="698574" cy="186689"/>
          </a:xfrm>
          <a:prstGeom prst="rect">
            <a:avLst/>
          </a:prstGeom>
          <a:noFill/>
        </p:spPr>
        <p:txBody>
          <a:bodyPr wrap="none" lIns="0" rIns="0" tIns="0" bIns="0">
            <a:spAutoFit/>
          </a:bodyPr>
          <a:lstStyle/>
          <a:p>
            <a:r>
              <a:rPr sz="1100" b="0">
                <a:solidFill>
                  <a:srgbClr val="2E2E2E"/>
                </a:solidFill>
                <a:latin typeface="Calibri"/>
              </a:rPr>
              <a:t>categories.</a:t>
            </a:r>
          </a:p>
        </p:txBody>
      </p:sp>
      <p:sp>
        <p:nvSpPr>
          <p:cNvPr id="36" name="TextBox 35"/>
          <p:cNvSpPr txBox="1"/>
          <p:nvPr/>
        </p:nvSpPr>
        <p:spPr>
          <a:xfrm>
            <a:off x="276225" y="2171319"/>
            <a:ext cx="5313312" cy="186689"/>
          </a:xfrm>
          <a:prstGeom prst="rect">
            <a:avLst/>
          </a:prstGeom>
          <a:noFill/>
        </p:spPr>
        <p:txBody>
          <a:bodyPr wrap="none" lIns="0" rIns="0" tIns="0" bIns="0">
            <a:spAutoFit/>
          </a:bodyPr>
          <a:lstStyle/>
          <a:p>
            <a:r>
              <a:rPr sz="1100" b="0">
                <a:solidFill>
                  <a:srgbClr val="2E2E2E"/>
                </a:solidFill>
                <a:latin typeface="Calibri"/>
              </a:rPr>
              <a:t>▪ Commercial focus is intensifying in North America and South Asia &amp; Pacific, which together</a:t>
            </a:r>
          </a:p>
        </p:txBody>
      </p:sp>
      <p:sp>
        <p:nvSpPr>
          <p:cNvPr id="37" name="TextBox 36"/>
          <p:cNvSpPr txBox="1"/>
          <p:nvPr/>
        </p:nvSpPr>
        <p:spPr>
          <a:xfrm>
            <a:off x="276225" y="2338958"/>
            <a:ext cx="725586" cy="186689"/>
          </a:xfrm>
          <a:prstGeom prst="rect">
            <a:avLst/>
          </a:prstGeom>
          <a:noFill/>
        </p:spPr>
        <p:txBody>
          <a:bodyPr wrap="none" lIns="0" rIns="0" tIns="0" bIns="0">
            <a:spAutoFit/>
          </a:bodyPr>
          <a:lstStyle/>
          <a:p>
            <a:r>
              <a:rPr sz="1100" b="0">
                <a:solidFill>
                  <a:srgbClr val="2E2E2E"/>
                </a:solidFill>
                <a:latin typeface="Calibri"/>
              </a:rPr>
              <a:t>account for</a:t>
            </a:r>
          </a:p>
        </p:txBody>
      </p:sp>
      <p:pic>
        <p:nvPicPr>
          <p:cNvPr id="38" name="Picture 37" descr="lock.png"/>
          <p:cNvPicPr>
            <a:picLocks noChangeAspect="1"/>
          </p:cNvPicPr>
          <p:nvPr/>
        </p:nvPicPr>
        <p:blipFill>
          <a:blip r:embed="rId5"/>
          <a:stretch>
            <a:fillRect/>
          </a:stretch>
        </p:blipFill>
        <p:spPr>
          <a:xfrm>
            <a:off x="949863" y="2329180"/>
            <a:ext cx="128699" cy="187198"/>
          </a:xfrm>
          <a:prstGeom prst="rect">
            <a:avLst/>
          </a:prstGeom>
        </p:spPr>
      </p:pic>
      <p:sp>
        <p:nvSpPr>
          <p:cNvPr id="39" name="TextBox 38"/>
          <p:cNvSpPr txBox="1"/>
          <p:nvPr/>
        </p:nvSpPr>
        <p:spPr>
          <a:xfrm>
            <a:off x="1117359" y="2338958"/>
            <a:ext cx="879747"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40" name="TextBox 39"/>
          <p:cNvSpPr txBox="1"/>
          <p:nvPr/>
        </p:nvSpPr>
        <p:spPr>
          <a:xfrm>
            <a:off x="6305550" y="1400175"/>
            <a:ext cx="1451633" cy="179984"/>
          </a:xfrm>
          <a:prstGeom prst="rect">
            <a:avLst/>
          </a:prstGeom>
          <a:noFill/>
        </p:spPr>
        <p:txBody>
          <a:bodyPr wrap="none" lIns="0" rIns="0" tIns="0" bIns="0">
            <a:spAutoFit/>
          </a:bodyPr>
          <a:lstStyle/>
          <a:p>
            <a:r>
              <a:rPr sz="1055" b="0">
                <a:solidFill>
                  <a:srgbClr val="2E2E2E"/>
                </a:solidFill>
                <a:latin typeface="Calibri"/>
              </a:rPr>
              <a:t>▪ Market value rises from</a:t>
            </a:r>
          </a:p>
        </p:txBody>
      </p:sp>
      <p:pic>
        <p:nvPicPr>
          <p:cNvPr id="41" name="Picture 40" descr="lock.png"/>
          <p:cNvPicPr>
            <a:picLocks noChangeAspect="1"/>
          </p:cNvPicPr>
          <p:nvPr/>
        </p:nvPicPr>
        <p:blipFill>
          <a:blip r:embed="rId5"/>
          <a:stretch>
            <a:fillRect/>
          </a:stretch>
        </p:blipFill>
        <p:spPr>
          <a:xfrm>
            <a:off x="7704265" y="1390787"/>
            <a:ext cx="123551" cy="179710"/>
          </a:xfrm>
          <a:prstGeom prst="rect">
            <a:avLst/>
          </a:prstGeom>
        </p:spPr>
      </p:pic>
      <p:sp>
        <p:nvSpPr>
          <p:cNvPr id="42" name="TextBox 41"/>
          <p:cNvSpPr txBox="1"/>
          <p:nvPr/>
        </p:nvSpPr>
        <p:spPr>
          <a:xfrm>
            <a:off x="7865061" y="1400175"/>
            <a:ext cx="1088326" cy="179984"/>
          </a:xfrm>
          <a:prstGeom prst="rect">
            <a:avLst/>
          </a:prstGeom>
          <a:noFill/>
        </p:spPr>
        <p:txBody>
          <a:bodyPr wrap="none" lIns="0" rIns="0" tIns="0" bIns="0">
            <a:spAutoFit/>
          </a:bodyPr>
          <a:lstStyle/>
          <a:p>
            <a:r>
              <a:rPr sz="1055" b="0">
                <a:solidFill>
                  <a:srgbClr val="2E2E2E"/>
                </a:solidFill>
                <a:latin typeface="Calibri"/>
              </a:rPr>
              <a:t>US$ Mn in 2026 to</a:t>
            </a:r>
          </a:p>
        </p:txBody>
      </p:sp>
      <p:pic>
        <p:nvPicPr>
          <p:cNvPr id="43" name="Picture 42" descr="lock.png"/>
          <p:cNvPicPr>
            <a:picLocks noChangeAspect="1"/>
          </p:cNvPicPr>
          <p:nvPr/>
        </p:nvPicPr>
        <p:blipFill>
          <a:blip r:embed="rId5"/>
          <a:stretch>
            <a:fillRect/>
          </a:stretch>
        </p:blipFill>
        <p:spPr>
          <a:xfrm>
            <a:off x="8900469" y="1390787"/>
            <a:ext cx="123551" cy="179710"/>
          </a:xfrm>
          <a:prstGeom prst="rect">
            <a:avLst/>
          </a:prstGeom>
        </p:spPr>
      </p:pic>
      <p:sp>
        <p:nvSpPr>
          <p:cNvPr id="44" name="TextBox 43"/>
          <p:cNvSpPr txBox="1"/>
          <p:nvPr/>
        </p:nvSpPr>
        <p:spPr>
          <a:xfrm>
            <a:off x="9061265" y="1400175"/>
            <a:ext cx="975955" cy="179984"/>
          </a:xfrm>
          <a:prstGeom prst="rect">
            <a:avLst/>
          </a:prstGeom>
          <a:noFill/>
        </p:spPr>
        <p:txBody>
          <a:bodyPr wrap="none" lIns="0" rIns="0" tIns="0" bIns="0">
            <a:spAutoFit/>
          </a:bodyPr>
          <a:lstStyle/>
          <a:p>
            <a:r>
              <a:rPr sz="1055" b="0">
                <a:solidFill>
                  <a:srgbClr val="2E2E2E"/>
                </a:solidFill>
                <a:latin typeface="Calibri"/>
              </a:rPr>
              <a:t>US$ Mn in 2036.</a:t>
            </a:r>
          </a:p>
        </p:txBody>
      </p:sp>
      <p:sp>
        <p:nvSpPr>
          <p:cNvPr id="45" name="TextBox 44"/>
          <p:cNvSpPr txBox="1"/>
          <p:nvPr/>
        </p:nvSpPr>
        <p:spPr>
          <a:xfrm>
            <a:off x="6305550" y="1609389"/>
            <a:ext cx="1281358" cy="179984"/>
          </a:xfrm>
          <a:prstGeom prst="rect">
            <a:avLst/>
          </a:prstGeom>
          <a:noFill/>
        </p:spPr>
        <p:txBody>
          <a:bodyPr wrap="none" lIns="0" rIns="0" tIns="0" bIns="0">
            <a:spAutoFit/>
          </a:bodyPr>
          <a:lstStyle/>
          <a:p>
            <a:r>
              <a:rPr sz="1055" b="0">
                <a:solidFill>
                  <a:srgbClr val="2E2E2E"/>
                </a:solidFill>
                <a:latin typeface="Calibri"/>
              </a:rPr>
              <a:t>▪ The forecast CAGR is</a:t>
            </a:r>
          </a:p>
        </p:txBody>
      </p:sp>
      <p:pic>
        <p:nvPicPr>
          <p:cNvPr id="46" name="Picture 45" descr="lock.png"/>
          <p:cNvPicPr>
            <a:picLocks noChangeAspect="1"/>
          </p:cNvPicPr>
          <p:nvPr/>
        </p:nvPicPr>
        <p:blipFill>
          <a:blip r:embed="rId5"/>
          <a:stretch>
            <a:fillRect/>
          </a:stretch>
        </p:blipFill>
        <p:spPr>
          <a:xfrm>
            <a:off x="7533989" y="1600001"/>
            <a:ext cx="123551" cy="179710"/>
          </a:xfrm>
          <a:prstGeom prst="rect">
            <a:avLst/>
          </a:prstGeom>
        </p:spPr>
      </p:pic>
      <p:sp>
        <p:nvSpPr>
          <p:cNvPr id="47" name="TextBox 46"/>
          <p:cNvSpPr txBox="1"/>
          <p:nvPr/>
        </p:nvSpPr>
        <p:spPr>
          <a:xfrm>
            <a:off x="7694785" y="1609389"/>
            <a:ext cx="971240" cy="179984"/>
          </a:xfrm>
          <a:prstGeom prst="rect">
            <a:avLst/>
          </a:prstGeom>
          <a:noFill/>
        </p:spPr>
        <p:txBody>
          <a:bodyPr wrap="none" lIns="0" rIns="0" tIns="0" bIns="0">
            <a:spAutoFit/>
          </a:bodyPr>
          <a:lstStyle/>
          <a:p>
            <a:r>
              <a:rPr sz="1055" b="0">
                <a:solidFill>
                  <a:srgbClr val="2E2E2E"/>
                </a:solidFill>
                <a:latin typeface="Calibri"/>
              </a:rPr>
              <a:t>over 2026-2036.</a:t>
            </a:r>
          </a:p>
        </p:txBody>
      </p:sp>
      <p:sp>
        <p:nvSpPr>
          <p:cNvPr id="48" name="TextBox 47"/>
          <p:cNvSpPr txBox="1"/>
          <p:nvPr/>
        </p:nvSpPr>
        <p:spPr>
          <a:xfrm>
            <a:off x="6305550" y="1818604"/>
            <a:ext cx="4761214" cy="179984"/>
          </a:xfrm>
          <a:prstGeom prst="rect">
            <a:avLst/>
          </a:prstGeom>
          <a:noFill/>
        </p:spPr>
        <p:txBody>
          <a:bodyPr wrap="none" lIns="0" rIns="0" tIns="0" bIns="0">
            <a:spAutoFit/>
          </a:bodyPr>
          <a:lstStyle/>
          <a:p>
            <a:r>
              <a:rPr sz="1055" b="0">
                <a:solidFill>
                  <a:srgbClr val="2E2E2E"/>
                </a:solidFill>
                <a:latin typeface="Calibri"/>
              </a:rPr>
              <a:t>▪ 'Licensed Finished AIT Products' is the lead commercial product model category with</a:t>
            </a:r>
          </a:p>
        </p:txBody>
      </p:sp>
      <p:pic>
        <p:nvPicPr>
          <p:cNvPr id="49" name="Picture 48" descr="lock.png"/>
          <p:cNvPicPr>
            <a:picLocks noChangeAspect="1"/>
          </p:cNvPicPr>
          <p:nvPr/>
        </p:nvPicPr>
        <p:blipFill>
          <a:blip r:embed="rId5"/>
          <a:stretch>
            <a:fillRect/>
          </a:stretch>
        </p:blipFill>
        <p:spPr>
          <a:xfrm>
            <a:off x="11013845" y="1809216"/>
            <a:ext cx="123551" cy="179710"/>
          </a:xfrm>
          <a:prstGeom prst="rect">
            <a:avLst/>
          </a:prstGeom>
        </p:spPr>
      </p:pic>
      <p:sp>
        <p:nvSpPr>
          <p:cNvPr id="50" name="TextBox 49"/>
          <p:cNvSpPr txBox="1"/>
          <p:nvPr/>
        </p:nvSpPr>
        <p:spPr>
          <a:xfrm>
            <a:off x="11174641" y="1818604"/>
            <a:ext cx="490585" cy="179984"/>
          </a:xfrm>
          <a:prstGeom prst="rect">
            <a:avLst/>
          </a:prstGeom>
          <a:noFill/>
        </p:spPr>
        <p:txBody>
          <a:bodyPr wrap="none" lIns="0" rIns="0" tIns="0" bIns="0">
            <a:spAutoFit/>
          </a:bodyPr>
          <a:lstStyle/>
          <a:p>
            <a:r>
              <a:rPr sz="1055" b="0">
                <a:solidFill>
                  <a:srgbClr val="2E2E2E"/>
                </a:solidFill>
                <a:latin typeface="Calibri"/>
              </a:rPr>
              <a:t>of 2036</a:t>
            </a:r>
          </a:p>
        </p:txBody>
      </p:sp>
      <p:sp>
        <p:nvSpPr>
          <p:cNvPr id="51" name="TextBox 50"/>
          <p:cNvSpPr txBox="1"/>
          <p:nvPr/>
        </p:nvSpPr>
        <p:spPr>
          <a:xfrm>
            <a:off x="6305550" y="1979538"/>
            <a:ext cx="402836" cy="179984"/>
          </a:xfrm>
          <a:prstGeom prst="rect">
            <a:avLst/>
          </a:prstGeom>
          <a:noFill/>
        </p:spPr>
        <p:txBody>
          <a:bodyPr wrap="none" lIns="0" rIns="0" tIns="0" bIns="0">
            <a:spAutoFit/>
          </a:bodyPr>
          <a:lstStyle/>
          <a:p>
            <a:r>
              <a:rPr sz="1055" b="0">
                <a:solidFill>
                  <a:srgbClr val="2E2E2E"/>
                </a:solidFill>
                <a:latin typeface="Calibri"/>
              </a:rPr>
              <a:t>value.</a:t>
            </a:r>
          </a:p>
        </p:txBody>
      </p:sp>
      <p:sp>
        <p:nvSpPr>
          <p:cNvPr id="52" name="TextBox 51"/>
          <p:cNvSpPr txBox="1"/>
          <p:nvPr/>
        </p:nvSpPr>
        <p:spPr>
          <a:xfrm>
            <a:off x="6305550" y="2188753"/>
            <a:ext cx="2195536" cy="179984"/>
          </a:xfrm>
          <a:prstGeom prst="rect">
            <a:avLst/>
          </a:prstGeom>
          <a:noFill/>
        </p:spPr>
        <p:txBody>
          <a:bodyPr wrap="none" lIns="0" rIns="0" tIns="0" bIns="0">
            <a:spAutoFit/>
          </a:bodyPr>
          <a:lstStyle/>
          <a:p>
            <a:r>
              <a:rPr sz="1055" b="0">
                <a:solidFill>
                  <a:srgbClr val="2E2E2E"/>
                </a:solidFill>
                <a:latin typeface="Calibri"/>
              </a:rPr>
              <a:t>▪ North America is the lead region with</a:t>
            </a:r>
          </a:p>
        </p:txBody>
      </p:sp>
      <p:pic>
        <p:nvPicPr>
          <p:cNvPr id="53" name="Picture 52" descr="lock.png"/>
          <p:cNvPicPr>
            <a:picLocks noChangeAspect="1"/>
          </p:cNvPicPr>
          <p:nvPr/>
        </p:nvPicPr>
        <p:blipFill>
          <a:blip r:embed="rId5"/>
          <a:stretch>
            <a:fillRect/>
          </a:stretch>
        </p:blipFill>
        <p:spPr>
          <a:xfrm>
            <a:off x="8448167" y="2179365"/>
            <a:ext cx="123551" cy="179710"/>
          </a:xfrm>
          <a:prstGeom prst="rect">
            <a:avLst/>
          </a:prstGeom>
        </p:spPr>
      </p:pic>
      <p:sp>
        <p:nvSpPr>
          <p:cNvPr id="54" name="TextBox 53"/>
          <p:cNvSpPr txBox="1"/>
          <p:nvPr/>
        </p:nvSpPr>
        <p:spPr>
          <a:xfrm>
            <a:off x="8608963" y="2188753"/>
            <a:ext cx="847605" cy="179984"/>
          </a:xfrm>
          <a:prstGeom prst="rect">
            <a:avLst/>
          </a:prstGeom>
          <a:noFill/>
        </p:spPr>
        <p:txBody>
          <a:bodyPr wrap="none" lIns="0" rIns="0" tIns="0" bIns="0">
            <a:spAutoFit/>
          </a:bodyPr>
          <a:lstStyle/>
          <a:p>
            <a:r>
              <a:rPr sz="1055" b="0">
                <a:solidFill>
                  <a:srgbClr val="2E2E2E"/>
                </a:solidFill>
                <a:latin typeface="Calibri"/>
              </a:rPr>
              <a:t>of 2036 value.</a:t>
            </a:r>
          </a:p>
        </p:txBody>
      </p:sp>
      <p:sp>
        <p:nvSpPr>
          <p:cNvPr id="55" name="TextBox 54"/>
          <p:cNvSpPr txBox="1"/>
          <p:nvPr/>
        </p:nvSpPr>
        <p:spPr>
          <a:xfrm>
            <a:off x="6305550" y="2397968"/>
            <a:ext cx="2731198" cy="179984"/>
          </a:xfrm>
          <a:prstGeom prst="rect">
            <a:avLst/>
          </a:prstGeom>
          <a:noFill/>
        </p:spPr>
        <p:txBody>
          <a:bodyPr wrap="none" lIns="0" rIns="0" tIns="0" bIns="0">
            <a:spAutoFit/>
          </a:bodyPr>
          <a:lstStyle/>
          <a:p>
            <a:r>
              <a:rPr sz="1055" b="0">
                <a:solidFill>
                  <a:srgbClr val="2E2E2E"/>
                </a:solidFill>
                <a:latin typeface="Calibri"/>
              </a:rPr>
              <a:t>▪ The incremental opportunity over 2026-2036 is</a:t>
            </a:r>
          </a:p>
        </p:txBody>
      </p:sp>
      <p:pic>
        <p:nvPicPr>
          <p:cNvPr id="56" name="Picture 55" descr="lock.png"/>
          <p:cNvPicPr>
            <a:picLocks noChangeAspect="1"/>
          </p:cNvPicPr>
          <p:nvPr/>
        </p:nvPicPr>
        <p:blipFill>
          <a:blip r:embed="rId5"/>
          <a:stretch>
            <a:fillRect/>
          </a:stretch>
        </p:blipFill>
        <p:spPr>
          <a:xfrm>
            <a:off x="8983830" y="2388580"/>
            <a:ext cx="123551" cy="179710"/>
          </a:xfrm>
          <a:prstGeom prst="rect">
            <a:avLst/>
          </a:prstGeom>
        </p:spPr>
      </p:pic>
      <p:sp>
        <p:nvSpPr>
          <p:cNvPr id="57" name="TextBox 56"/>
          <p:cNvSpPr txBox="1"/>
          <p:nvPr/>
        </p:nvSpPr>
        <p:spPr>
          <a:xfrm>
            <a:off x="9144626" y="2397968"/>
            <a:ext cx="5414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58" name="TextBox 57"/>
          <p:cNvSpPr txBox="1"/>
          <p:nvPr/>
        </p:nvSpPr>
        <p:spPr>
          <a:xfrm>
            <a:off x="276225" y="3286125"/>
            <a:ext cx="5519588" cy="186689"/>
          </a:xfrm>
          <a:prstGeom prst="rect">
            <a:avLst/>
          </a:prstGeom>
          <a:noFill/>
        </p:spPr>
        <p:txBody>
          <a:bodyPr wrap="none" lIns="0" rIns="0" tIns="0" bIns="0">
            <a:spAutoFit/>
          </a:bodyPr>
          <a:lstStyle/>
          <a:p>
            <a:r>
              <a:rPr sz="1100" b="0">
                <a:solidFill>
                  <a:srgbClr val="2E2E2E"/>
                </a:solidFill>
                <a:latin typeface="Calibri"/>
              </a:rPr>
              <a:t>▪ Investment is flowing toward 'Licensed Finished AIT Products', the fastest-growing commercial</a:t>
            </a:r>
          </a:p>
        </p:txBody>
      </p:sp>
      <p:sp>
        <p:nvSpPr>
          <p:cNvPr id="59" name="TextBox 58"/>
          <p:cNvSpPr txBox="1"/>
          <p:nvPr/>
        </p:nvSpPr>
        <p:spPr>
          <a:xfrm>
            <a:off x="276225" y="3453765"/>
            <a:ext cx="1588343" cy="186689"/>
          </a:xfrm>
          <a:prstGeom prst="rect">
            <a:avLst/>
          </a:prstGeom>
          <a:noFill/>
        </p:spPr>
        <p:txBody>
          <a:bodyPr wrap="none" lIns="0" rIns="0" tIns="0" bIns="0">
            <a:spAutoFit/>
          </a:bodyPr>
          <a:lstStyle/>
          <a:p>
            <a:r>
              <a:rPr sz="1100" b="0">
                <a:solidFill>
                  <a:srgbClr val="2E2E2E"/>
                </a:solidFill>
                <a:latin typeface="Calibri"/>
              </a:rPr>
              <a:t>product model category at</a:t>
            </a:r>
          </a:p>
        </p:txBody>
      </p:sp>
      <p:pic>
        <p:nvPicPr>
          <p:cNvPr id="60" name="Picture 59" descr="lock.png"/>
          <p:cNvPicPr>
            <a:picLocks noChangeAspect="1"/>
          </p:cNvPicPr>
          <p:nvPr/>
        </p:nvPicPr>
        <p:blipFill>
          <a:blip r:embed="rId5"/>
          <a:stretch>
            <a:fillRect/>
          </a:stretch>
        </p:blipFill>
        <p:spPr>
          <a:xfrm>
            <a:off x="1812619" y="3443986"/>
            <a:ext cx="128699" cy="187198"/>
          </a:xfrm>
          <a:prstGeom prst="rect">
            <a:avLst/>
          </a:prstGeom>
        </p:spPr>
      </p:pic>
      <p:sp>
        <p:nvSpPr>
          <p:cNvPr id="61" name="TextBox 60"/>
          <p:cNvSpPr txBox="1"/>
          <p:nvPr/>
        </p:nvSpPr>
        <p:spPr>
          <a:xfrm>
            <a:off x="1980115" y="3453765"/>
            <a:ext cx="430617"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62" name="TextBox 61"/>
          <p:cNvSpPr txBox="1"/>
          <p:nvPr/>
        </p:nvSpPr>
        <p:spPr>
          <a:xfrm>
            <a:off x="276225" y="3671697"/>
            <a:ext cx="1351781" cy="186689"/>
          </a:xfrm>
          <a:prstGeom prst="rect">
            <a:avLst/>
          </a:prstGeom>
          <a:noFill/>
        </p:spPr>
        <p:txBody>
          <a:bodyPr wrap="none" lIns="0" rIns="0" tIns="0" bIns="0">
            <a:spAutoFit/>
          </a:bodyPr>
          <a:lstStyle/>
          <a:p>
            <a:r>
              <a:rPr sz="1100" b="0">
                <a:solidFill>
                  <a:srgbClr val="2E2E2E"/>
                </a:solidFill>
                <a:latin typeface="Calibri"/>
              </a:rPr>
              <a:t>▪ South Asia &amp; Pacific (</a:t>
            </a:r>
          </a:p>
        </p:txBody>
      </p:sp>
      <p:pic>
        <p:nvPicPr>
          <p:cNvPr id="63" name="Picture 62" descr="lock.png"/>
          <p:cNvPicPr>
            <a:picLocks noChangeAspect="1"/>
          </p:cNvPicPr>
          <p:nvPr/>
        </p:nvPicPr>
        <p:blipFill>
          <a:blip r:embed="rId5"/>
          <a:stretch>
            <a:fillRect/>
          </a:stretch>
        </p:blipFill>
        <p:spPr>
          <a:xfrm>
            <a:off x="1576057" y="3661918"/>
            <a:ext cx="128699" cy="187198"/>
          </a:xfrm>
          <a:prstGeom prst="rect">
            <a:avLst/>
          </a:prstGeom>
        </p:spPr>
      </p:pic>
      <p:sp>
        <p:nvSpPr>
          <p:cNvPr id="64" name="TextBox 63"/>
          <p:cNvSpPr txBox="1"/>
          <p:nvPr/>
        </p:nvSpPr>
        <p:spPr>
          <a:xfrm>
            <a:off x="1743553" y="3671697"/>
            <a:ext cx="3444808" cy="186689"/>
          </a:xfrm>
          <a:prstGeom prst="rect">
            <a:avLst/>
          </a:prstGeom>
          <a:noFill/>
        </p:spPr>
        <p:txBody>
          <a:bodyPr wrap="none" lIns="0" rIns="0" tIns="0" bIns="0">
            <a:spAutoFit/>
          </a:bodyPr>
          <a:lstStyle/>
          <a:p>
            <a:r>
              <a:rPr sz="1100" b="0">
                <a:solidFill>
                  <a:srgbClr val="2E2E2E"/>
                </a:solidFill>
                <a:latin typeface="Calibri"/>
              </a:rPr>
              <a:t>CAGR) is a priority region for new capacity and distribution.</a:t>
            </a:r>
          </a:p>
        </p:txBody>
      </p:sp>
      <p:sp>
        <p:nvSpPr>
          <p:cNvPr id="65" name="TextBox 64"/>
          <p:cNvSpPr txBox="1"/>
          <p:nvPr/>
        </p:nvSpPr>
        <p:spPr>
          <a:xfrm>
            <a:off x="276225" y="3889629"/>
            <a:ext cx="5591175" cy="186689"/>
          </a:xfrm>
          <a:prstGeom prst="rect">
            <a:avLst/>
          </a:prstGeom>
          <a:noFill/>
        </p:spPr>
        <p:txBody>
          <a:bodyPr wrap="none" lIns="0" rIns="0" tIns="0" bIns="0">
            <a:spAutoFit/>
          </a:bodyPr>
          <a:lstStyle/>
          <a:p>
            <a:r>
              <a:rPr sz="1100" b="0">
                <a:solidFill>
                  <a:srgbClr val="2E2E2E"/>
                </a:solidFill>
                <a:latin typeface="Calibri"/>
              </a:rPr>
              <a:t>▪ Scale players are anchoring their portfolios around 'Licensed Finished AIT Products', which holds</a:t>
            </a:r>
          </a:p>
        </p:txBody>
      </p:sp>
      <p:pic>
        <p:nvPicPr>
          <p:cNvPr id="66" name="Picture 65" descr="lock.png"/>
          <p:cNvPicPr>
            <a:picLocks noChangeAspect="1"/>
          </p:cNvPicPr>
          <p:nvPr/>
        </p:nvPicPr>
        <p:blipFill>
          <a:blip r:embed="rId5"/>
          <a:stretch>
            <a:fillRect/>
          </a:stretch>
        </p:blipFill>
        <p:spPr>
          <a:xfrm>
            <a:off x="262757" y="4047490"/>
            <a:ext cx="128699" cy="187198"/>
          </a:xfrm>
          <a:prstGeom prst="rect">
            <a:avLst/>
          </a:prstGeom>
        </p:spPr>
      </p:pic>
      <p:sp>
        <p:nvSpPr>
          <p:cNvPr id="67" name="TextBox 66"/>
          <p:cNvSpPr txBox="1"/>
          <p:nvPr/>
        </p:nvSpPr>
        <p:spPr>
          <a:xfrm>
            <a:off x="430253" y="4057269"/>
            <a:ext cx="424631"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68" name="TextBox 67"/>
          <p:cNvSpPr txBox="1"/>
          <p:nvPr/>
        </p:nvSpPr>
        <p:spPr>
          <a:xfrm>
            <a:off x="6305550" y="3286125"/>
            <a:ext cx="5569520" cy="186689"/>
          </a:xfrm>
          <a:prstGeom prst="rect">
            <a:avLst/>
          </a:prstGeom>
          <a:noFill/>
        </p:spPr>
        <p:txBody>
          <a:bodyPr wrap="none" lIns="0" rIns="0" tIns="0" bIns="0">
            <a:spAutoFit/>
          </a:bodyPr>
          <a:lstStyle/>
          <a:p>
            <a:r>
              <a:rPr sz="1100" b="0">
                <a:solidFill>
                  <a:srgbClr val="2E2E2E"/>
                </a:solidFill>
                <a:latin typeface="Calibri"/>
              </a:rPr>
              <a:t>▪ R&amp;D programmes are focused on next-generation product design and digital integration, in line</a:t>
            </a:r>
          </a:p>
        </p:txBody>
      </p:sp>
      <p:sp>
        <p:nvSpPr>
          <p:cNvPr id="69" name="TextBox 68"/>
          <p:cNvSpPr txBox="1"/>
          <p:nvPr/>
        </p:nvSpPr>
        <p:spPr>
          <a:xfrm>
            <a:off x="6305550" y="3453765"/>
            <a:ext cx="3447826" cy="186689"/>
          </a:xfrm>
          <a:prstGeom prst="rect">
            <a:avLst/>
          </a:prstGeom>
          <a:noFill/>
        </p:spPr>
        <p:txBody>
          <a:bodyPr wrap="none" lIns="0" rIns="0" tIns="0" bIns="0">
            <a:spAutoFit/>
          </a:bodyPr>
          <a:lstStyle/>
          <a:p>
            <a:r>
              <a:rPr sz="1100" b="0">
                <a:solidFill>
                  <a:srgbClr val="2E2E2E"/>
                </a:solidFill>
                <a:latin typeface="Calibri"/>
              </a:rPr>
              <a:t>with the migration toward 'Licensed Finished AIT Products'.</a:t>
            </a:r>
          </a:p>
        </p:txBody>
      </p:sp>
      <p:sp>
        <p:nvSpPr>
          <p:cNvPr id="70" name="TextBox 69"/>
          <p:cNvSpPr txBox="1"/>
          <p:nvPr/>
        </p:nvSpPr>
        <p:spPr>
          <a:xfrm>
            <a:off x="6305550" y="3671697"/>
            <a:ext cx="5258469" cy="186689"/>
          </a:xfrm>
          <a:prstGeom prst="rect">
            <a:avLst/>
          </a:prstGeom>
          <a:noFill/>
        </p:spPr>
        <p:txBody>
          <a:bodyPr wrap="none" lIns="0" rIns="0" tIns="0" bIns="0">
            <a:spAutoFit/>
          </a:bodyPr>
          <a:lstStyle/>
          <a:p>
            <a:r>
              <a:rPr sz="1100" b="0">
                <a:solidFill>
                  <a:srgbClr val="2E2E2E"/>
                </a:solidFill>
                <a:latin typeface="Calibri"/>
              </a:rPr>
              <a:t>▪ Development spend is targeting the commercial product model categories that gain share</a:t>
            </a:r>
          </a:p>
        </p:txBody>
      </p:sp>
      <p:sp>
        <p:nvSpPr>
          <p:cNvPr id="71" name="TextBox 70"/>
          <p:cNvSpPr txBox="1"/>
          <p:nvPr/>
        </p:nvSpPr>
        <p:spPr>
          <a:xfrm>
            <a:off x="6305550" y="3839337"/>
            <a:ext cx="882203" cy="186689"/>
          </a:xfrm>
          <a:prstGeom prst="rect">
            <a:avLst/>
          </a:prstGeom>
          <a:noFill/>
        </p:spPr>
        <p:txBody>
          <a:bodyPr wrap="none" lIns="0" rIns="0" tIns="0" bIns="0">
            <a:spAutoFit/>
          </a:bodyPr>
          <a:lstStyle/>
          <a:p>
            <a:r>
              <a:rPr sz="1100" b="0">
                <a:solidFill>
                  <a:srgbClr val="2E2E2E"/>
                </a:solidFill>
                <a:latin typeface="Calibri"/>
              </a:rPr>
              <a:t>through 2036.</a:t>
            </a:r>
          </a:p>
        </p:txBody>
      </p:sp>
      <p:sp>
        <p:nvSpPr>
          <p:cNvPr id="72" name="TextBox 71"/>
          <p:cNvSpPr txBox="1"/>
          <p:nvPr/>
        </p:nvSpPr>
        <p:spPr>
          <a:xfrm>
            <a:off x="6305550" y="4057269"/>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73" name="Picture 72" descr="lock.png"/>
          <p:cNvPicPr>
            <a:picLocks noChangeAspect="1"/>
          </p:cNvPicPr>
          <p:nvPr/>
        </p:nvPicPr>
        <p:blipFill>
          <a:blip r:embed="rId5"/>
          <a:stretch>
            <a:fillRect/>
          </a:stretch>
        </p:blipFill>
        <p:spPr>
          <a:xfrm>
            <a:off x="7847947" y="4047490"/>
            <a:ext cx="128699" cy="187198"/>
          </a:xfrm>
          <a:prstGeom prst="rect">
            <a:avLst/>
          </a:prstGeom>
        </p:spPr>
      </p:pic>
      <p:sp>
        <p:nvSpPr>
          <p:cNvPr id="74" name="TextBox 73"/>
          <p:cNvSpPr txBox="1"/>
          <p:nvPr/>
        </p:nvSpPr>
        <p:spPr>
          <a:xfrm>
            <a:off x="8015443" y="4057269"/>
            <a:ext cx="3416977" cy="186689"/>
          </a:xfrm>
          <a:prstGeom prst="rect">
            <a:avLst/>
          </a:prstGeom>
          <a:noFill/>
        </p:spPr>
        <p:txBody>
          <a:bodyPr wrap="none" lIns="0" rIns="0" tIns="0" bIns="0">
            <a:spAutoFit/>
          </a:bodyPr>
          <a:lstStyle/>
          <a:p>
            <a:r>
              <a:rPr sz="1100" b="0">
                <a:solidFill>
                  <a:srgbClr val="2E2E2E"/>
                </a:solidFill>
                <a:latin typeface="Calibri"/>
              </a:rPr>
              <a:t>forecast CAGR by sustaining both volume growth and price</a:t>
            </a:r>
          </a:p>
        </p:txBody>
      </p:sp>
      <p:sp>
        <p:nvSpPr>
          <p:cNvPr id="75" name="TextBox 74"/>
          <p:cNvSpPr txBox="1"/>
          <p:nvPr/>
        </p:nvSpPr>
        <p:spPr>
          <a:xfrm>
            <a:off x="6305550" y="4224909"/>
            <a:ext cx="708669" cy="186689"/>
          </a:xfrm>
          <a:prstGeom prst="rect">
            <a:avLst/>
          </a:prstGeom>
          <a:noFill/>
        </p:spPr>
        <p:txBody>
          <a:bodyPr wrap="none" lIns="0" rIns="0" tIns="0" bIns="0">
            <a:spAutoFit/>
          </a:bodyPr>
          <a:lstStyle/>
          <a:p>
            <a:r>
              <a:rPr sz="1100" b="0">
                <a:solidFill>
                  <a:srgbClr val="2E2E2E"/>
                </a:solidFill>
                <a:latin typeface="Calibri"/>
              </a:rPr>
              <a:t>realisation.</a:t>
            </a:r>
          </a:p>
        </p:txBody>
      </p:sp>
      <p:sp>
        <p:nvSpPr>
          <p:cNvPr id="76" name="lockshield_28"/>
          <p:cNvSpPr/>
          <p:nvPr/>
        </p:nvSpPr>
        <p:spPr>
          <a:xfrm>
            <a:off x="238125" y="4962525"/>
            <a:ext cx="11715750" cy="15906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'Licensed Finished AIT Products' category and the 'Retail Pharmacy' sales / procurement channel route, where growth outpaces the market.</a:t>
            </a:r>
          </a:p>
        </p:txBody>
      </p:sp>
      <p:sp>
        <p:nvSpPr>
          <p:cNvPr id="18" name="Rounded Rectangle 17"/>
          <p:cNvSpPr/>
          <p:nvPr/>
        </p:nvSpPr>
        <p:spPr>
          <a:xfrm>
            <a:off x="142875" y="2962275"/>
            <a:ext cx="5876925"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048000"/>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2861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71850"/>
            <a:ext cx="5610225"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962275"/>
            <a:ext cx="5876925"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048000"/>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Region</a:t>
            </a:r>
          </a:p>
        </p:txBody>
      </p:sp>
      <p:sp>
        <p:nvSpPr>
          <p:cNvPr id="24" name="Rectangle 23"/>
          <p:cNvSpPr/>
          <p:nvPr/>
        </p:nvSpPr>
        <p:spPr>
          <a:xfrm>
            <a:off x="6305550" y="32861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71850"/>
            <a:ext cx="5610225"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695825"/>
            <a:ext cx="11906250" cy="1914525"/>
          </a:xfrm>
          <a:prstGeom prst="roundRect">
            <a:avLst>
              <a:gd name="adj" fmla="val 39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781550"/>
            <a:ext cx="11639550" cy="209550"/>
          </a:xfrm>
          <a:prstGeom prst="rect">
            <a:avLst/>
          </a:prstGeom>
          <a:noFill/>
        </p:spPr>
        <p:txBody>
          <a:bodyPr wrap="square" lIns="0" rIns="19050" tIns="9525" bIns="9525">
            <a:spAutoFit/>
          </a:bodyPr>
          <a:lstStyle/>
          <a:p>
            <a:pPr algn="l"/>
            <a:r>
              <a:rPr sz="1300" b="1">
                <a:solidFill>
                  <a:srgbClr val="0B2E4A"/>
                </a:solidFill>
                <a:latin typeface="Calibri"/>
              </a:rPr>
              <a:t>FMI Analysis and Recommendation</a:t>
            </a:r>
          </a:p>
        </p:txBody>
      </p:sp>
      <p:sp>
        <p:nvSpPr>
          <p:cNvPr id="28" name="Rectangle 27"/>
          <p:cNvSpPr/>
          <p:nvPr/>
        </p:nvSpPr>
        <p:spPr>
          <a:xfrm>
            <a:off x="276225" y="5019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105400"/>
            <a:ext cx="11639550" cy="14287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Concentrate resources on the leading segment and region while seeding the fastest-growing pockets early.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Defend share in 'Licensed Finished AIT Products' as the value anchor of the portfolio.</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regulatory clearance and clinical evidence into the offer to protect pricing as competition intensifies.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4869321" cy="194310"/>
          </a:xfrm>
          <a:prstGeom prst="rect">
            <a:avLst/>
          </a:prstGeom>
          <a:noFill/>
        </p:spPr>
        <p:txBody>
          <a:bodyPr wrap="none" lIns="0" rIns="0" tIns="0" bIns="0">
            <a:spAutoFit/>
          </a:bodyPr>
          <a:lstStyle/>
          <a:p>
            <a:r>
              <a:rPr sz="1150" b="0">
                <a:solidFill>
                  <a:srgbClr val="2E2E2E"/>
                </a:solidFill>
                <a:latin typeface="Calibri"/>
              </a:rPr>
              <a:t>▪ Build scale in 'Licensed Finished AIT Products', which is both the largest and the</a:t>
            </a:r>
          </a:p>
        </p:txBody>
      </p:sp>
      <p:sp>
        <p:nvSpPr>
          <p:cNvPr id="32" name="TextBox 31"/>
          <p:cNvSpPr txBox="1"/>
          <p:nvPr/>
        </p:nvSpPr>
        <p:spPr>
          <a:xfrm>
            <a:off x="276225" y="1575435"/>
            <a:ext cx="4109404" cy="194310"/>
          </a:xfrm>
          <a:prstGeom prst="rect">
            <a:avLst/>
          </a:prstGeom>
          <a:noFill/>
        </p:spPr>
        <p:txBody>
          <a:bodyPr wrap="none" lIns="0" rIns="0" tIns="0" bIns="0">
            <a:spAutoFit/>
          </a:bodyPr>
          <a:lstStyle/>
          <a:p>
            <a:r>
              <a:rPr sz="1150" b="0">
                <a:solidFill>
                  <a:srgbClr val="2E2E2E"/>
                </a:solidFill>
                <a:latin typeface="Calibri"/>
              </a:rPr>
              <a:t>fastest-growing commercial product model category, to capture the</a:t>
            </a:r>
          </a:p>
        </p:txBody>
      </p:sp>
      <p:pic>
        <p:nvPicPr>
          <p:cNvPr id="33" name="Picture 32" descr="lock.png"/>
          <p:cNvPicPr>
            <a:picLocks noChangeAspect="1"/>
          </p:cNvPicPr>
          <p:nvPr/>
        </p:nvPicPr>
        <p:blipFill>
          <a:blip r:embed="rId4"/>
          <a:stretch>
            <a:fillRect/>
          </a:stretch>
        </p:blipFill>
        <p:spPr>
          <a:xfrm>
            <a:off x="4334783" y="1565211"/>
            <a:ext cx="134549" cy="195707"/>
          </a:xfrm>
          <a:prstGeom prst="rect">
            <a:avLst/>
          </a:prstGeom>
        </p:spPr>
      </p:pic>
      <p:sp>
        <p:nvSpPr>
          <p:cNvPr id="34" name="TextBox 33"/>
          <p:cNvSpPr txBox="1"/>
          <p:nvPr/>
        </p:nvSpPr>
        <p:spPr>
          <a:xfrm>
            <a:off x="4509893" y="1575435"/>
            <a:ext cx="1185249" cy="194310"/>
          </a:xfrm>
          <a:prstGeom prst="rect">
            <a:avLst/>
          </a:prstGeom>
          <a:noFill/>
        </p:spPr>
        <p:txBody>
          <a:bodyPr wrap="none" lIns="0" rIns="0" tIns="0" bIns="0">
            <a:spAutoFit/>
          </a:bodyPr>
          <a:lstStyle/>
          <a:p>
            <a:r>
              <a:rPr sz="1150" b="0">
                <a:solidFill>
                  <a:srgbClr val="2E2E2E"/>
                </a:solidFill>
                <a:latin typeface="Calibri"/>
              </a:rPr>
              <a:t>CAGR trajectory to</a:t>
            </a:r>
          </a:p>
        </p:txBody>
      </p:sp>
      <p:sp>
        <p:nvSpPr>
          <p:cNvPr id="35" name="TextBox 34"/>
          <p:cNvSpPr txBox="1"/>
          <p:nvPr/>
        </p:nvSpPr>
        <p:spPr>
          <a:xfrm>
            <a:off x="276225" y="1750695"/>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36" name="TextBox 35"/>
          <p:cNvSpPr txBox="1"/>
          <p:nvPr/>
        </p:nvSpPr>
        <p:spPr>
          <a:xfrm>
            <a:off x="276225" y="1978533"/>
            <a:ext cx="1154174" cy="194310"/>
          </a:xfrm>
          <a:prstGeom prst="rect">
            <a:avLst/>
          </a:prstGeom>
          <a:noFill/>
        </p:spPr>
        <p:txBody>
          <a:bodyPr wrap="none" lIns="0" rIns="0" tIns="0" bIns="0">
            <a:spAutoFit/>
          </a:bodyPr>
          <a:lstStyle/>
          <a:p>
            <a:r>
              <a:rPr sz="1150" b="0">
                <a:solidFill>
                  <a:srgbClr val="2E2E2E"/>
                </a:solidFill>
                <a:latin typeface="Calibri"/>
              </a:rPr>
              <a:t>▪ The market adds</a:t>
            </a:r>
          </a:p>
        </p:txBody>
      </p:sp>
      <p:pic>
        <p:nvPicPr>
          <p:cNvPr id="37" name="Picture 36" descr="lock.png"/>
          <p:cNvPicPr>
            <a:picLocks noChangeAspect="1"/>
          </p:cNvPicPr>
          <p:nvPr/>
        </p:nvPicPr>
        <p:blipFill>
          <a:blip r:embed="rId4"/>
          <a:stretch>
            <a:fillRect/>
          </a:stretch>
        </p:blipFill>
        <p:spPr>
          <a:xfrm>
            <a:off x="1379553" y="1968309"/>
            <a:ext cx="134549" cy="195707"/>
          </a:xfrm>
          <a:prstGeom prst="rect">
            <a:avLst/>
          </a:prstGeom>
        </p:spPr>
      </p:pic>
      <p:sp>
        <p:nvSpPr>
          <p:cNvPr id="38" name="TextBox 37"/>
          <p:cNvSpPr txBox="1"/>
          <p:nvPr/>
        </p:nvSpPr>
        <p:spPr>
          <a:xfrm>
            <a:off x="1554662" y="1978533"/>
            <a:ext cx="1851620"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39" name="Picture 38" descr="lock.png"/>
          <p:cNvPicPr>
            <a:picLocks noChangeAspect="1"/>
          </p:cNvPicPr>
          <p:nvPr/>
        </p:nvPicPr>
        <p:blipFill>
          <a:blip r:embed="rId4"/>
          <a:stretch>
            <a:fillRect/>
          </a:stretch>
        </p:blipFill>
        <p:spPr>
          <a:xfrm>
            <a:off x="3355436" y="1968309"/>
            <a:ext cx="134549" cy="195707"/>
          </a:xfrm>
          <a:prstGeom prst="rect">
            <a:avLst/>
          </a:prstGeom>
        </p:spPr>
      </p:pic>
      <p:sp>
        <p:nvSpPr>
          <p:cNvPr id="40" name="TextBox 39"/>
          <p:cNvSpPr txBox="1"/>
          <p:nvPr/>
        </p:nvSpPr>
        <p:spPr>
          <a:xfrm>
            <a:off x="3530546" y="1978533"/>
            <a:ext cx="1871017" cy="194310"/>
          </a:xfrm>
          <a:prstGeom prst="rect">
            <a:avLst/>
          </a:prstGeom>
          <a:noFill/>
        </p:spPr>
        <p:txBody>
          <a:bodyPr wrap="none" lIns="0" rIns="0" tIns="0" bIns="0">
            <a:spAutoFit/>
          </a:bodyPr>
          <a:lstStyle/>
          <a:p>
            <a:r>
              <a:rPr sz="1150" b="0">
                <a:solidFill>
                  <a:srgbClr val="2E2E2E"/>
                </a:solidFill>
                <a:latin typeface="Calibri"/>
              </a:rPr>
              <a:t>x expansion on the 2026 base.</a:t>
            </a:r>
          </a:p>
        </p:txBody>
      </p:sp>
      <p:sp>
        <p:nvSpPr>
          <p:cNvPr id="41" name="TextBox 40"/>
          <p:cNvSpPr txBox="1"/>
          <p:nvPr/>
        </p:nvSpPr>
        <p:spPr>
          <a:xfrm>
            <a:off x="276225" y="3381375"/>
            <a:ext cx="3543746" cy="194310"/>
          </a:xfrm>
          <a:prstGeom prst="rect">
            <a:avLst/>
          </a:prstGeom>
          <a:noFill/>
        </p:spPr>
        <p:txBody>
          <a:bodyPr wrap="none" lIns="0" rIns="0" tIns="0" bIns="0">
            <a:spAutoFit/>
          </a:bodyPr>
          <a:lstStyle/>
          <a:p>
            <a:r>
              <a:rPr sz="1150" b="0">
                <a:solidFill>
                  <a:srgbClr val="2E2E2E"/>
                </a:solidFill>
                <a:latin typeface="Calibri"/>
              </a:rPr>
              <a:t>▪ Prioritise 'Licensed Finished AIT Products', which anchors</a:t>
            </a:r>
          </a:p>
        </p:txBody>
      </p:sp>
      <p:pic>
        <p:nvPicPr>
          <p:cNvPr id="42" name="Picture 41" descr="lock.png"/>
          <p:cNvPicPr>
            <a:picLocks noChangeAspect="1"/>
          </p:cNvPicPr>
          <p:nvPr/>
        </p:nvPicPr>
        <p:blipFill>
          <a:blip r:embed="rId4"/>
          <a:stretch>
            <a:fillRect/>
          </a:stretch>
        </p:blipFill>
        <p:spPr>
          <a:xfrm>
            <a:off x="3769125" y="3371151"/>
            <a:ext cx="134549" cy="195707"/>
          </a:xfrm>
          <a:prstGeom prst="rect">
            <a:avLst/>
          </a:prstGeom>
        </p:spPr>
      </p:pic>
      <p:sp>
        <p:nvSpPr>
          <p:cNvPr id="43" name="TextBox 42"/>
          <p:cNvSpPr txBox="1"/>
          <p:nvPr/>
        </p:nvSpPr>
        <p:spPr>
          <a:xfrm>
            <a:off x="3944234" y="3381375"/>
            <a:ext cx="1349573" cy="194310"/>
          </a:xfrm>
          <a:prstGeom prst="rect">
            <a:avLst/>
          </a:prstGeom>
          <a:noFill/>
        </p:spPr>
        <p:txBody>
          <a:bodyPr wrap="none" lIns="0" rIns="0" tIns="0" bIns="0">
            <a:spAutoFit/>
          </a:bodyPr>
          <a:lstStyle/>
          <a:p>
            <a:r>
              <a:rPr sz="1150" b="0">
                <a:solidFill>
                  <a:srgbClr val="2E2E2E"/>
                </a:solidFill>
                <a:latin typeface="Calibri"/>
              </a:rPr>
              <a:t>of value and grows at</a:t>
            </a:r>
          </a:p>
        </p:txBody>
      </p:sp>
      <p:pic>
        <p:nvPicPr>
          <p:cNvPr id="44" name="Picture 43" descr="lock.png"/>
          <p:cNvPicPr>
            <a:picLocks noChangeAspect="1"/>
          </p:cNvPicPr>
          <p:nvPr/>
        </p:nvPicPr>
        <p:blipFill>
          <a:blip r:embed="rId4"/>
          <a:stretch>
            <a:fillRect/>
          </a:stretch>
        </p:blipFill>
        <p:spPr>
          <a:xfrm>
            <a:off x="5242962" y="3371151"/>
            <a:ext cx="134549" cy="195707"/>
          </a:xfrm>
          <a:prstGeom prst="rect">
            <a:avLst/>
          </a:prstGeom>
        </p:spPr>
      </p:pic>
      <p:sp>
        <p:nvSpPr>
          <p:cNvPr id="45" name="TextBox 44"/>
          <p:cNvSpPr txBox="1"/>
          <p:nvPr/>
        </p:nvSpPr>
        <p:spPr>
          <a:xfrm>
            <a:off x="276225" y="3556635"/>
            <a:ext cx="3597071" cy="194310"/>
          </a:xfrm>
          <a:prstGeom prst="rect">
            <a:avLst/>
          </a:prstGeom>
          <a:noFill/>
        </p:spPr>
        <p:txBody>
          <a:bodyPr wrap="none" lIns="0" rIns="0" tIns="0" bIns="0">
            <a:spAutoFit/>
          </a:bodyPr>
          <a:lstStyle/>
          <a:p>
            <a:r>
              <a:rPr sz="1150" b="0">
                <a:solidFill>
                  <a:srgbClr val="2E2E2E"/>
                </a:solidFill>
                <a:latin typeface="Calibri"/>
              </a:rPr>
              <a:t>CAGR, while seeding adjacent categories for diversification.</a:t>
            </a:r>
          </a:p>
        </p:txBody>
      </p:sp>
      <p:sp>
        <p:nvSpPr>
          <p:cNvPr id="46" name="TextBox 45"/>
          <p:cNvSpPr txBox="1"/>
          <p:nvPr/>
        </p:nvSpPr>
        <p:spPr>
          <a:xfrm>
            <a:off x="6305550" y="3381375"/>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47" name="Picture 46" descr="lock.png"/>
          <p:cNvPicPr>
            <a:picLocks noChangeAspect="1"/>
          </p:cNvPicPr>
          <p:nvPr/>
        </p:nvPicPr>
        <p:blipFill>
          <a:blip r:embed="rId4"/>
          <a:stretch>
            <a:fillRect/>
          </a:stretch>
        </p:blipFill>
        <p:spPr>
          <a:xfrm>
            <a:off x="7975392" y="3371151"/>
            <a:ext cx="134549" cy="195707"/>
          </a:xfrm>
          <a:prstGeom prst="rect">
            <a:avLst/>
          </a:prstGeom>
        </p:spPr>
      </p:pic>
      <p:sp>
        <p:nvSpPr>
          <p:cNvPr id="48" name="TextBox 47"/>
          <p:cNvSpPr txBox="1"/>
          <p:nvPr/>
        </p:nvSpPr>
        <p:spPr>
          <a:xfrm>
            <a:off x="8150501" y="3381375"/>
            <a:ext cx="3193739" cy="194310"/>
          </a:xfrm>
          <a:prstGeom prst="rect">
            <a:avLst/>
          </a:prstGeom>
          <a:noFill/>
        </p:spPr>
        <p:txBody>
          <a:bodyPr wrap="none" lIns="0" rIns="0" tIns="0" bIns="0">
            <a:spAutoFit/>
          </a:bodyPr>
          <a:lstStyle/>
          <a:p>
            <a:r>
              <a:rPr sz="1150" b="0">
                <a:solidFill>
                  <a:srgbClr val="2E2E2E"/>
                </a:solidFill>
                <a:latin typeface="Calibri"/>
              </a:rPr>
              <a:t>of value) and capture upside in South Asia &amp; Pacific (</a:t>
            </a:r>
          </a:p>
        </p:txBody>
      </p:sp>
      <p:pic>
        <p:nvPicPr>
          <p:cNvPr id="49" name="Picture 48" descr="lock.png"/>
          <p:cNvPicPr>
            <a:picLocks noChangeAspect="1"/>
          </p:cNvPicPr>
          <p:nvPr/>
        </p:nvPicPr>
        <p:blipFill>
          <a:blip r:embed="rId4"/>
          <a:stretch>
            <a:fillRect/>
          </a:stretch>
        </p:blipFill>
        <p:spPr>
          <a:xfrm>
            <a:off x="11293395" y="3371151"/>
            <a:ext cx="134549" cy="195707"/>
          </a:xfrm>
          <a:prstGeom prst="rect">
            <a:avLst/>
          </a:prstGeom>
        </p:spPr>
      </p:pic>
      <p:sp>
        <p:nvSpPr>
          <p:cNvPr id="50" name="TextBox 49"/>
          <p:cNvSpPr txBox="1"/>
          <p:nvPr/>
        </p:nvSpPr>
        <p:spPr>
          <a:xfrm>
            <a:off x="6305550" y="3556635"/>
            <a:ext cx="490941" cy="194310"/>
          </a:xfrm>
          <a:prstGeom prst="rect">
            <a:avLst/>
          </a:prstGeom>
          <a:noFill/>
        </p:spPr>
        <p:txBody>
          <a:bodyPr wrap="none" lIns="0" rIns="0" tIns="0" bIns="0">
            <a:spAutoFit/>
          </a:bodyPr>
          <a:lstStyle/>
          <a:p>
            <a:r>
              <a:rPr sz="1150" b="0">
                <a:solidFill>
                  <a:srgbClr val="2E2E2E"/>
                </a:solidFill>
                <a:latin typeface="Calibri"/>
              </a:rPr>
              <a:t>CAGR).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724025"/>
            <a:ext cx="5876925"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78117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Allergy Immunotherapy Market Value (US$ Mn): Scenario Forecast, 2025 and 2036</a:t>
            </a:r>
          </a:p>
        </p:txBody>
      </p:sp>
      <p:cxnSp>
        <p:nvCxnSpPr>
          <p:cNvPr id="15" name="Connector 14"/>
          <p:cNvCxnSpPr/>
          <p:nvPr/>
        </p:nvCxnSpPr>
        <p:spPr>
          <a:xfrm>
            <a:off x="238125" y="413385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590000"/>
            <a:ext cx="635826" cy="543850"/>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070365"/>
            <a:ext cx="635826" cy="1063485"/>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815597"/>
            <a:ext cx="635826" cy="1318253"/>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506504"/>
            <a:ext cx="635826" cy="1627346"/>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937015"/>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32240"/>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679840"/>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575065"/>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373154"/>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268379"/>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16242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16242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40055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40055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40055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724025"/>
            <a:ext cx="5876925"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78117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Allergy Immunotherapy Market Attractiveness Analysis By Region, 2026–2036</a:t>
            </a:r>
          </a:p>
        </p:txBody>
      </p:sp>
      <p:graphicFrame>
        <p:nvGraphicFramePr>
          <p:cNvPr id="36" name="Chart 35"/>
          <p:cNvGraphicFramePr>
            <a:graphicFrameLocks noGrp="1"/>
          </p:cNvGraphicFramePr>
          <p:nvPr/>
        </p:nvGraphicFramePr>
        <p:xfrm>
          <a:off x="6267450" y="2181225"/>
          <a:ext cx="5686425" cy="2409825"/>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781550"/>
            <a:ext cx="11906250"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191125"/>
            <a:ext cx="11639550" cy="135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171575"/>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171575"/>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171575"/>
            <a:ext cx="157162" cy="228600"/>
          </a:xfrm>
          <a:prstGeom prst="rect">
            <a:avLst/>
          </a:prstGeom>
        </p:spPr>
      </p:pic>
      <p:sp>
        <p:nvSpPr>
          <p:cNvPr id="45" name="TextBox 44"/>
          <p:cNvSpPr txBox="1"/>
          <p:nvPr/>
        </p:nvSpPr>
        <p:spPr>
          <a:xfrm>
            <a:off x="1702407" y="1026429"/>
            <a:ext cx="900484" cy="146456"/>
          </a:xfrm>
          <a:prstGeom prst="rect">
            <a:avLst/>
          </a:prstGeom>
          <a:noFill/>
        </p:spPr>
        <p:txBody>
          <a:bodyPr wrap="none" lIns="0" rIns="0" tIns="0" bIns="0">
            <a:spAutoFit/>
          </a:bodyPr>
          <a:lstStyle/>
          <a:p>
            <a:r>
              <a:rPr sz="835" b="1">
                <a:solidFill>
                  <a:srgbClr val="6C7A89"/>
                </a:solidFill>
                <a:latin typeface="Calibri"/>
              </a:rPr>
              <a:t>OPTIMISTIC (2036)</a:t>
            </a:r>
          </a:p>
        </p:txBody>
      </p:sp>
      <p:sp>
        <p:nvSpPr>
          <p:cNvPr id="46" name="TextBox 45"/>
          <p:cNvSpPr txBox="1"/>
          <p:nvPr/>
        </p:nvSpPr>
        <p:spPr>
          <a:xfrm>
            <a:off x="1934715" y="1417914"/>
            <a:ext cx="318806" cy="146456"/>
          </a:xfrm>
          <a:prstGeom prst="rect">
            <a:avLst/>
          </a:prstGeom>
          <a:noFill/>
        </p:spPr>
        <p:txBody>
          <a:bodyPr wrap="none" lIns="0" rIns="0" tIns="0" bIns="0">
            <a:spAutoFit/>
          </a:bodyPr>
          <a:lstStyle/>
          <a:p>
            <a:r>
              <a:rPr sz="835"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195753" y="1410482"/>
            <a:ext cx="97811" cy="142270"/>
          </a:xfrm>
          <a:prstGeom prst="rect">
            <a:avLst/>
          </a:prstGeom>
        </p:spPr>
      </p:pic>
      <p:sp>
        <p:nvSpPr>
          <p:cNvPr id="48" name="TextBox 47"/>
          <p:cNvSpPr txBox="1"/>
          <p:nvPr/>
        </p:nvSpPr>
        <p:spPr>
          <a:xfrm>
            <a:off x="5853687" y="1026429"/>
            <a:ext cx="665599" cy="146456"/>
          </a:xfrm>
          <a:prstGeom prst="rect">
            <a:avLst/>
          </a:prstGeom>
          <a:noFill/>
        </p:spPr>
        <p:txBody>
          <a:bodyPr wrap="none" lIns="0" rIns="0" tIns="0" bIns="0">
            <a:spAutoFit/>
          </a:bodyPr>
          <a:lstStyle/>
          <a:p>
            <a:r>
              <a:rPr sz="835" b="1">
                <a:solidFill>
                  <a:srgbClr val="6C7A89"/>
                </a:solidFill>
                <a:latin typeface="Calibri"/>
              </a:rPr>
              <a:t>LIKELY (2036)</a:t>
            </a:r>
          </a:p>
        </p:txBody>
      </p:sp>
      <p:sp>
        <p:nvSpPr>
          <p:cNvPr id="49" name="TextBox 48"/>
          <p:cNvSpPr txBox="1"/>
          <p:nvPr/>
        </p:nvSpPr>
        <p:spPr>
          <a:xfrm>
            <a:off x="5968553" y="1417914"/>
            <a:ext cx="318806" cy="146456"/>
          </a:xfrm>
          <a:prstGeom prst="rect">
            <a:avLst/>
          </a:prstGeom>
          <a:noFill/>
        </p:spPr>
        <p:txBody>
          <a:bodyPr wrap="none" lIns="0" rIns="0" tIns="0" bIns="0">
            <a:spAutoFit/>
          </a:bodyPr>
          <a:lstStyle/>
          <a:p>
            <a:r>
              <a:rPr sz="835"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29591" y="1410482"/>
            <a:ext cx="97811" cy="142270"/>
          </a:xfrm>
          <a:prstGeom prst="rect">
            <a:avLst/>
          </a:prstGeom>
        </p:spPr>
      </p:pic>
      <p:sp>
        <p:nvSpPr>
          <p:cNvPr id="51" name="TextBox 50"/>
          <p:cNvSpPr txBox="1"/>
          <p:nvPr/>
        </p:nvSpPr>
        <p:spPr>
          <a:xfrm>
            <a:off x="9626124" y="1026429"/>
            <a:ext cx="1064576" cy="146456"/>
          </a:xfrm>
          <a:prstGeom prst="rect">
            <a:avLst/>
          </a:prstGeom>
          <a:noFill/>
        </p:spPr>
        <p:txBody>
          <a:bodyPr wrap="none" lIns="0" rIns="0" tIns="0" bIns="0">
            <a:spAutoFit/>
          </a:bodyPr>
          <a:lstStyle/>
          <a:p>
            <a:r>
              <a:rPr sz="835" b="1">
                <a:solidFill>
                  <a:srgbClr val="6C7A89"/>
                </a:solidFill>
                <a:latin typeface="Calibri"/>
              </a:rPr>
              <a:t>CONSERVATIVE (2036)</a:t>
            </a:r>
          </a:p>
        </p:txBody>
      </p:sp>
      <p:sp>
        <p:nvSpPr>
          <p:cNvPr id="52" name="TextBox 51"/>
          <p:cNvSpPr txBox="1"/>
          <p:nvPr/>
        </p:nvSpPr>
        <p:spPr>
          <a:xfrm>
            <a:off x="9940478" y="1417914"/>
            <a:ext cx="318806" cy="146456"/>
          </a:xfrm>
          <a:prstGeom prst="rect">
            <a:avLst/>
          </a:prstGeom>
          <a:noFill/>
        </p:spPr>
        <p:txBody>
          <a:bodyPr wrap="none" lIns="0" rIns="0" tIns="0" bIns="0">
            <a:spAutoFit/>
          </a:bodyPr>
          <a:lstStyle/>
          <a:p>
            <a:r>
              <a:rPr sz="835"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01516" y="1410482"/>
            <a:ext cx="97811" cy="142270"/>
          </a:xfrm>
          <a:prstGeom prst="rect">
            <a:avLst/>
          </a:prstGeom>
        </p:spPr>
      </p:pic>
      <p:sp>
        <p:nvSpPr>
          <p:cNvPr id="54" name="TextBox 53"/>
          <p:cNvSpPr txBox="1"/>
          <p:nvPr/>
        </p:nvSpPr>
        <p:spPr>
          <a:xfrm>
            <a:off x="2032418" y="286660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858391"/>
            <a:ext cx="108107" cy="157246"/>
          </a:xfrm>
          <a:prstGeom prst="rect">
            <a:avLst/>
          </a:prstGeom>
        </p:spPr>
      </p:pic>
      <p:sp>
        <p:nvSpPr>
          <p:cNvPr id="56" name="TextBox 55"/>
          <p:cNvSpPr txBox="1"/>
          <p:nvPr/>
        </p:nvSpPr>
        <p:spPr>
          <a:xfrm>
            <a:off x="2032418" y="2609431"/>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601216"/>
            <a:ext cx="108107" cy="157246"/>
          </a:xfrm>
          <a:prstGeom prst="rect">
            <a:avLst/>
          </a:prstGeom>
        </p:spPr>
      </p:pic>
      <p:sp>
        <p:nvSpPr>
          <p:cNvPr id="58" name="TextBox 57"/>
          <p:cNvSpPr txBox="1"/>
          <p:nvPr/>
        </p:nvSpPr>
        <p:spPr>
          <a:xfrm>
            <a:off x="2032418" y="2302745"/>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294530"/>
            <a:ext cx="108107" cy="157246"/>
          </a:xfrm>
          <a:prstGeom prst="rect">
            <a:avLst/>
          </a:prstGeom>
        </p:spPr>
      </p:pic>
      <p:sp>
        <p:nvSpPr>
          <p:cNvPr id="60" name="TextBox 59"/>
          <p:cNvSpPr txBox="1"/>
          <p:nvPr/>
        </p:nvSpPr>
        <p:spPr>
          <a:xfrm>
            <a:off x="276225" y="5200650"/>
            <a:ext cx="1993962" cy="194310"/>
          </a:xfrm>
          <a:prstGeom prst="rect">
            <a:avLst/>
          </a:prstGeom>
          <a:noFill/>
        </p:spPr>
        <p:txBody>
          <a:bodyPr wrap="none" lIns="0" rIns="0" tIns="0" bIns="0">
            <a:spAutoFit/>
          </a:bodyPr>
          <a:lstStyle/>
          <a:p>
            <a:r>
              <a:rPr sz="1150" b="0">
                <a:solidFill>
                  <a:srgbClr val="2E2E2E"/>
                </a:solidFill>
                <a:latin typeface="Calibri"/>
              </a:rPr>
              <a:t>▪ Optimistic: the market reaches</a:t>
            </a:r>
          </a:p>
        </p:txBody>
      </p:sp>
      <p:pic>
        <p:nvPicPr>
          <p:cNvPr id="61" name="Picture 60" descr="lock.png"/>
          <p:cNvPicPr>
            <a:picLocks noChangeAspect="1"/>
          </p:cNvPicPr>
          <p:nvPr/>
        </p:nvPicPr>
        <p:blipFill>
          <a:blip r:embed="rId5"/>
          <a:stretch>
            <a:fillRect/>
          </a:stretch>
        </p:blipFill>
        <p:spPr>
          <a:xfrm>
            <a:off x="2219340" y="5190426"/>
            <a:ext cx="134549" cy="195707"/>
          </a:xfrm>
          <a:prstGeom prst="rect">
            <a:avLst/>
          </a:prstGeom>
        </p:spPr>
      </p:pic>
      <p:sp>
        <p:nvSpPr>
          <p:cNvPr id="62" name="TextBox 61"/>
          <p:cNvSpPr txBox="1"/>
          <p:nvPr/>
        </p:nvSpPr>
        <p:spPr>
          <a:xfrm>
            <a:off x="2394450" y="520065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3547412" y="5190426"/>
            <a:ext cx="134549" cy="195707"/>
          </a:xfrm>
          <a:prstGeom prst="rect">
            <a:avLst/>
          </a:prstGeom>
        </p:spPr>
      </p:pic>
      <p:sp>
        <p:nvSpPr>
          <p:cNvPr id="64" name="TextBox 63"/>
          <p:cNvSpPr txBox="1"/>
          <p:nvPr/>
        </p:nvSpPr>
        <p:spPr>
          <a:xfrm>
            <a:off x="3722522" y="5200650"/>
            <a:ext cx="3799886" cy="194310"/>
          </a:xfrm>
          <a:prstGeom prst="rect">
            <a:avLst/>
          </a:prstGeom>
          <a:noFill/>
        </p:spPr>
        <p:txBody>
          <a:bodyPr wrap="none" lIns="0" rIns="0" tIns="0" bIns="0">
            <a:spAutoFit/>
          </a:bodyPr>
          <a:lstStyle/>
          <a:p>
            <a:r>
              <a:rPr sz="1150" b="0">
                <a:solidFill>
                  <a:srgbClr val="2E2E2E"/>
                </a:solidFill>
                <a:latin typeface="Calibri"/>
              </a:rPr>
              <a:t>CAGR, assuming faster adoption and stronger price realisation.</a:t>
            </a:r>
          </a:p>
        </p:txBody>
      </p:sp>
      <p:sp>
        <p:nvSpPr>
          <p:cNvPr id="65" name="TextBox 64"/>
          <p:cNvSpPr txBox="1"/>
          <p:nvPr/>
        </p:nvSpPr>
        <p:spPr>
          <a:xfrm>
            <a:off x="276225" y="5428488"/>
            <a:ext cx="2634071" cy="194310"/>
          </a:xfrm>
          <a:prstGeom prst="rect">
            <a:avLst/>
          </a:prstGeom>
          <a:noFill/>
        </p:spPr>
        <p:txBody>
          <a:bodyPr wrap="none" lIns="0" rIns="0" tIns="0" bIns="0">
            <a:spAutoFit/>
          </a:bodyPr>
          <a:lstStyle/>
          <a:p>
            <a:r>
              <a:rPr sz="1150" b="0">
                <a:solidFill>
                  <a:srgbClr val="2E2E2E"/>
                </a:solidFill>
                <a:latin typeface="Calibri"/>
              </a:rPr>
              <a:t>▪ Likely (base forecast): the market reaches</a:t>
            </a:r>
          </a:p>
        </p:txBody>
      </p:sp>
      <p:pic>
        <p:nvPicPr>
          <p:cNvPr id="66" name="Picture 65" descr="lock.png"/>
          <p:cNvPicPr>
            <a:picLocks noChangeAspect="1"/>
          </p:cNvPicPr>
          <p:nvPr/>
        </p:nvPicPr>
        <p:blipFill>
          <a:blip r:embed="rId5"/>
          <a:stretch>
            <a:fillRect/>
          </a:stretch>
        </p:blipFill>
        <p:spPr>
          <a:xfrm>
            <a:off x="2859450" y="5418264"/>
            <a:ext cx="134549" cy="195707"/>
          </a:xfrm>
          <a:prstGeom prst="rect">
            <a:avLst/>
          </a:prstGeom>
        </p:spPr>
      </p:pic>
      <p:sp>
        <p:nvSpPr>
          <p:cNvPr id="67" name="TextBox 66"/>
          <p:cNvSpPr txBox="1"/>
          <p:nvPr/>
        </p:nvSpPr>
        <p:spPr>
          <a:xfrm>
            <a:off x="3034559" y="5428488"/>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8" name="Picture 67" descr="lock.png"/>
          <p:cNvPicPr>
            <a:picLocks noChangeAspect="1"/>
          </p:cNvPicPr>
          <p:nvPr/>
        </p:nvPicPr>
        <p:blipFill>
          <a:blip r:embed="rId5"/>
          <a:stretch>
            <a:fillRect/>
          </a:stretch>
        </p:blipFill>
        <p:spPr>
          <a:xfrm>
            <a:off x="4187522" y="5418264"/>
            <a:ext cx="134549" cy="195707"/>
          </a:xfrm>
          <a:prstGeom prst="rect">
            <a:avLst/>
          </a:prstGeom>
        </p:spPr>
      </p:pic>
      <p:sp>
        <p:nvSpPr>
          <p:cNvPr id="69" name="TextBox 68"/>
          <p:cNvSpPr txBox="1"/>
          <p:nvPr/>
        </p:nvSpPr>
        <p:spPr>
          <a:xfrm>
            <a:off x="4362631" y="542848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656325"/>
            <a:ext cx="2155415" cy="194310"/>
          </a:xfrm>
          <a:prstGeom prst="rect">
            <a:avLst/>
          </a:prstGeom>
          <a:noFill/>
        </p:spPr>
        <p:txBody>
          <a:bodyPr wrap="none" lIns="0" rIns="0" tIns="0" bIns="0">
            <a:spAutoFit/>
          </a:bodyPr>
          <a:lstStyle/>
          <a:p>
            <a:r>
              <a:rPr sz="1150" b="0">
                <a:solidFill>
                  <a:srgbClr val="2E2E2E"/>
                </a:solidFill>
                <a:latin typeface="Calibri"/>
              </a:rPr>
              <a:t>▪ Conservative: the market reaches</a:t>
            </a:r>
          </a:p>
        </p:txBody>
      </p:sp>
      <p:pic>
        <p:nvPicPr>
          <p:cNvPr id="71" name="Picture 70" descr="lock.png"/>
          <p:cNvPicPr>
            <a:picLocks noChangeAspect="1"/>
          </p:cNvPicPr>
          <p:nvPr/>
        </p:nvPicPr>
        <p:blipFill>
          <a:blip r:embed="rId5"/>
          <a:stretch>
            <a:fillRect/>
          </a:stretch>
        </p:blipFill>
        <p:spPr>
          <a:xfrm>
            <a:off x="2380794" y="5646102"/>
            <a:ext cx="134549" cy="195707"/>
          </a:xfrm>
          <a:prstGeom prst="rect">
            <a:avLst/>
          </a:prstGeom>
        </p:spPr>
      </p:pic>
      <p:sp>
        <p:nvSpPr>
          <p:cNvPr id="72" name="TextBox 71"/>
          <p:cNvSpPr txBox="1"/>
          <p:nvPr/>
        </p:nvSpPr>
        <p:spPr>
          <a:xfrm>
            <a:off x="2555903" y="5656325"/>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73" name="Picture 72" descr="lock.png"/>
          <p:cNvPicPr>
            <a:picLocks noChangeAspect="1"/>
          </p:cNvPicPr>
          <p:nvPr/>
        </p:nvPicPr>
        <p:blipFill>
          <a:blip r:embed="rId5"/>
          <a:stretch>
            <a:fillRect/>
          </a:stretch>
        </p:blipFill>
        <p:spPr>
          <a:xfrm>
            <a:off x="3708866" y="5646102"/>
            <a:ext cx="134549" cy="195707"/>
          </a:xfrm>
          <a:prstGeom prst="rect">
            <a:avLst/>
          </a:prstGeom>
        </p:spPr>
      </p:pic>
      <p:sp>
        <p:nvSpPr>
          <p:cNvPr id="74" name="TextBox 73"/>
          <p:cNvSpPr txBox="1"/>
          <p:nvPr/>
        </p:nvSpPr>
        <p:spPr>
          <a:xfrm>
            <a:off x="3883975" y="5656325"/>
            <a:ext cx="3198000" cy="194310"/>
          </a:xfrm>
          <a:prstGeom prst="rect">
            <a:avLst/>
          </a:prstGeom>
          <a:noFill/>
        </p:spPr>
        <p:txBody>
          <a:bodyPr wrap="none" lIns="0" rIns="0" tIns="0" bIns="0">
            <a:spAutoFit/>
          </a:bodyPr>
          <a:lstStyle/>
          <a:p>
            <a:r>
              <a:rPr sz="1150" b="0">
                <a:solidFill>
                  <a:srgbClr val="2E2E2E"/>
                </a:solidFill>
                <a:latin typeface="Calibri"/>
              </a:rPr>
              <a:t>CAGR, assuming slower adoption and tighter pricing.</a:t>
            </a:r>
          </a:p>
        </p:txBody>
      </p:sp>
      <p:sp>
        <p:nvSpPr>
          <p:cNvPr id="75" name="TextBox 74"/>
          <p:cNvSpPr txBox="1"/>
          <p:nvPr/>
        </p:nvSpPr>
        <p:spPr>
          <a:xfrm>
            <a:off x="276225" y="5884163"/>
            <a:ext cx="4386671"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plus or minus</a:t>
            </a:r>
          </a:p>
        </p:txBody>
      </p:sp>
      <p:pic>
        <p:nvPicPr>
          <p:cNvPr id="76" name="Picture 75" descr="lock.png"/>
          <p:cNvPicPr>
            <a:picLocks noChangeAspect="1"/>
          </p:cNvPicPr>
          <p:nvPr/>
        </p:nvPicPr>
        <p:blipFill>
          <a:blip r:embed="rId5"/>
          <a:stretch>
            <a:fillRect/>
          </a:stretch>
        </p:blipFill>
        <p:spPr>
          <a:xfrm>
            <a:off x="4612050" y="5873940"/>
            <a:ext cx="134549" cy="195707"/>
          </a:xfrm>
          <a:prstGeom prst="rect">
            <a:avLst/>
          </a:prstGeom>
        </p:spPr>
      </p:pic>
      <p:sp>
        <p:nvSpPr>
          <p:cNvPr id="77" name="TextBox 76"/>
          <p:cNvSpPr txBox="1"/>
          <p:nvPr/>
        </p:nvSpPr>
        <p:spPr>
          <a:xfrm>
            <a:off x="4787159" y="5884163"/>
            <a:ext cx="1158168" cy="194310"/>
          </a:xfrm>
          <a:prstGeom prst="rect">
            <a:avLst/>
          </a:prstGeom>
          <a:noFill/>
        </p:spPr>
        <p:txBody>
          <a:bodyPr wrap="none" lIns="0" rIns="0" tIns="0" bIns="0">
            <a:spAutoFit/>
          </a:bodyPr>
          <a:lstStyle/>
          <a:p>
            <a:r>
              <a:rPr sz="1150" b="0">
                <a:solidFill>
                  <a:srgbClr val="2E2E2E"/>
                </a:solidFill>
                <a:latin typeface="Calibri"/>
              </a:rPr>
              <a:t>across 2026-2036.</a:t>
            </a:r>
          </a:p>
        </p:txBody>
      </p:sp>
      <p:sp>
        <p:nvSpPr>
          <p:cNvPr id="78" name="TextBox 77"/>
          <p:cNvSpPr txBox="1"/>
          <p:nvPr/>
        </p:nvSpPr>
        <p:spPr>
          <a:xfrm>
            <a:off x="276225" y="6112001"/>
            <a:ext cx="3829856" cy="194310"/>
          </a:xfrm>
          <a:prstGeom prst="rect">
            <a:avLst/>
          </a:prstGeom>
          <a:noFill/>
        </p:spPr>
        <p:txBody>
          <a:bodyPr wrap="none" lIns="0" rIns="0" tIns="0" bIns="0">
            <a:spAutoFit/>
          </a:bodyPr>
          <a:lstStyle/>
          <a:p>
            <a:r>
              <a:rPr sz="1150" b="0">
                <a:solidFill>
                  <a:srgbClr val="2E2E2E"/>
                </a:solidFill>
                <a:latin typeface="Calibri"/>
              </a:rPr>
              <a:t>▪ The gap between the optimistic and conservative outcomes is</a:t>
            </a:r>
          </a:p>
        </p:txBody>
      </p:sp>
      <p:pic>
        <p:nvPicPr>
          <p:cNvPr id="79" name="Picture 78" descr="lock.png"/>
          <p:cNvPicPr>
            <a:picLocks noChangeAspect="1"/>
          </p:cNvPicPr>
          <p:nvPr/>
        </p:nvPicPr>
        <p:blipFill>
          <a:blip r:embed="rId5"/>
          <a:stretch>
            <a:fillRect/>
          </a:stretch>
        </p:blipFill>
        <p:spPr>
          <a:xfrm>
            <a:off x="4055235" y="6101778"/>
            <a:ext cx="134549" cy="195707"/>
          </a:xfrm>
          <a:prstGeom prst="rect">
            <a:avLst/>
          </a:prstGeom>
        </p:spPr>
      </p:pic>
      <p:sp>
        <p:nvSpPr>
          <p:cNvPr id="80" name="TextBox 79"/>
          <p:cNvSpPr txBox="1"/>
          <p:nvPr/>
        </p:nvSpPr>
        <p:spPr>
          <a:xfrm>
            <a:off x="4230344" y="6112001"/>
            <a:ext cx="5341416" cy="194310"/>
          </a:xfrm>
          <a:prstGeom prst="rect">
            <a:avLst/>
          </a:prstGeom>
          <a:noFill/>
        </p:spPr>
        <p:txBody>
          <a:bodyPr wrap="none" lIns="0" rIns="0" tIns="0" bIns="0">
            <a:spAutoFit/>
          </a:bodyPr>
          <a:lstStyle/>
          <a:p>
            <a:r>
              <a:rPr sz="1150" b="0">
                <a:solidFill>
                  <a:srgbClr val="2E2E2E"/>
                </a:solidFill>
                <a:latin typeface="Calibri"/>
              </a:rPr>
              <a:t>US$ Mn in 2036, which frames the planning range for capacity and investment decisions.</a:t>
            </a:r>
          </a:p>
        </p:txBody>
      </p:sp>
      <p:sp>
        <p:nvSpPr>
          <p:cNvPr id="81" name="lockshield_36"/>
          <p:cNvSpPr/>
          <p:nvPr/>
        </p:nvSpPr>
        <p:spPr>
          <a:xfrm>
            <a:off x="6267450" y="21812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Allergy Immunotherapy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 Regional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6 regions, highlighting where value concentrates,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23" name="Rectangle 22"/>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Europe</a:t>
            </a:r>
          </a:p>
        </p:txBody>
      </p:sp>
      <p:sp>
        <p:nvSpPr>
          <p:cNvPr id="30" name="Rectangle 29"/>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37" name="Rectangle 36"/>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44" name="Rectangle 43"/>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51" name="Rectangle 50"/>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Rectangle 52"/>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4" name="Oval 53"/>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&amp; Africa</a:t>
            </a:r>
          </a:p>
        </p:txBody>
      </p:sp>
      <p:sp>
        <p:nvSpPr>
          <p:cNvPr id="58" name="Rectangle 57"/>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Rectangle 59"/>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1" name="Oval 60"/>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2" name="Rounded Rectangle 61"/>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4" name="Rectangle 63"/>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6" name="Rounded Rectangle 65"/>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68" name="Rectangle 67"/>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70" name="Rounded Rectangle 69"/>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72" name="Rectangle 71"/>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74" name="Rectangle 73"/>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Global market is projected to grow at a CAGR of 8.4% from 2026 to 2036.</a:t>
            </a:r>
          </a:p>
        </p:txBody>
      </p:sp>
      <p:sp>
        <p:nvSpPr>
          <p:cNvPr id="76" name="TextBox 75"/>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7" name="TextBox 7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8" name="Picture 77" descr="801_1_605E5C.png"/>
          <p:cNvPicPr>
            <a:picLocks noChangeAspect="1"/>
          </p:cNvPicPr>
          <p:nvPr/>
        </p:nvPicPr>
        <p:blipFill>
          <a:blip r:embed="rId4"/>
          <a:stretch>
            <a:fillRect/>
          </a:stretch>
        </p:blipFill>
        <p:spPr>
          <a:xfrm>
            <a:off x="2054848" y="2286582"/>
            <a:ext cx="1195728" cy="361950"/>
          </a:xfrm>
          <a:prstGeom prst="rect">
            <a:avLst/>
          </a:prstGeom>
        </p:spPr>
      </p:pic>
      <p:pic>
        <p:nvPicPr>
          <p:cNvPr id="79" name="Picture 78" descr="1_646_605E5C.png"/>
          <p:cNvPicPr>
            <a:picLocks noChangeAspect="1"/>
          </p:cNvPicPr>
          <p:nvPr/>
        </p:nvPicPr>
        <p:blipFill>
          <a:blip r:embed="rId5"/>
          <a:stretch>
            <a:fillRect/>
          </a:stretch>
        </p:blipFill>
        <p:spPr>
          <a:xfrm>
            <a:off x="2054848" y="2779432"/>
            <a:ext cx="1195728" cy="361950"/>
          </a:xfrm>
          <a:prstGeom prst="rect">
            <a:avLst/>
          </a:prstGeom>
        </p:spPr>
      </p:pic>
      <p:pic>
        <p:nvPicPr>
          <p:cNvPr id="80" name="Picture 79" descr="7_5__605E5C.png"/>
          <p:cNvPicPr>
            <a:picLocks noChangeAspect="1"/>
          </p:cNvPicPr>
          <p:nvPr/>
        </p:nvPicPr>
        <p:blipFill>
          <a:blip r:embed="rId6"/>
          <a:stretch>
            <a:fillRect/>
          </a:stretch>
        </p:blipFill>
        <p:spPr>
          <a:xfrm>
            <a:off x="2161494" y="3272281"/>
            <a:ext cx="982436" cy="361950"/>
          </a:xfrm>
          <a:prstGeom prst="rect">
            <a:avLst/>
          </a:prstGeom>
        </p:spPr>
      </p:pic>
      <p:pic>
        <p:nvPicPr>
          <p:cNvPr id="81" name="Picture 80" descr="655_5_605E5C.png"/>
          <p:cNvPicPr>
            <a:picLocks noChangeAspect="1"/>
          </p:cNvPicPr>
          <p:nvPr/>
        </p:nvPicPr>
        <p:blipFill>
          <a:blip r:embed="rId7"/>
          <a:stretch>
            <a:fillRect/>
          </a:stretch>
        </p:blipFill>
        <p:spPr>
          <a:xfrm>
            <a:off x="3740773" y="2286582"/>
            <a:ext cx="1195728" cy="361950"/>
          </a:xfrm>
          <a:prstGeom prst="rect">
            <a:avLst/>
          </a:prstGeom>
        </p:spPr>
      </p:pic>
      <p:pic>
        <p:nvPicPr>
          <p:cNvPr id="82" name="Picture 81" descr="1_557_605E5C.png"/>
          <p:cNvPicPr>
            <a:picLocks noChangeAspect="1"/>
          </p:cNvPicPr>
          <p:nvPr/>
        </p:nvPicPr>
        <p:blipFill>
          <a:blip r:embed="rId8"/>
          <a:stretch>
            <a:fillRect/>
          </a:stretch>
        </p:blipFill>
        <p:spPr>
          <a:xfrm>
            <a:off x="3740773" y="2779432"/>
            <a:ext cx="1195728" cy="361950"/>
          </a:xfrm>
          <a:prstGeom prst="rect">
            <a:avLst/>
          </a:prstGeom>
        </p:spPr>
      </p:pic>
      <p:pic>
        <p:nvPicPr>
          <p:cNvPr id="83" name="Picture 82" descr="9_0__605E5C.png"/>
          <p:cNvPicPr>
            <a:picLocks noChangeAspect="1"/>
          </p:cNvPicPr>
          <p:nvPr/>
        </p:nvPicPr>
        <p:blipFill>
          <a:blip r:embed="rId9"/>
          <a:stretch>
            <a:fillRect/>
          </a:stretch>
        </p:blipFill>
        <p:spPr>
          <a:xfrm>
            <a:off x="3847419" y="3272281"/>
            <a:ext cx="982436" cy="361950"/>
          </a:xfrm>
          <a:prstGeom prst="rect">
            <a:avLst/>
          </a:prstGeom>
        </p:spPr>
      </p:pic>
      <p:pic>
        <p:nvPicPr>
          <p:cNvPr id="84" name="Picture 83" descr="315_6_605E5C.png"/>
          <p:cNvPicPr>
            <a:picLocks noChangeAspect="1"/>
          </p:cNvPicPr>
          <p:nvPr/>
        </p:nvPicPr>
        <p:blipFill>
          <a:blip r:embed="rId10"/>
          <a:stretch>
            <a:fillRect/>
          </a:stretch>
        </p:blipFill>
        <p:spPr>
          <a:xfrm>
            <a:off x="5426698" y="2286582"/>
            <a:ext cx="1195728" cy="361950"/>
          </a:xfrm>
          <a:prstGeom prst="rect">
            <a:avLst/>
          </a:prstGeom>
        </p:spPr>
      </p:pic>
      <p:pic>
        <p:nvPicPr>
          <p:cNvPr id="85" name="Picture 84" descr="696_1_605E5C.png"/>
          <p:cNvPicPr>
            <a:picLocks noChangeAspect="1"/>
          </p:cNvPicPr>
          <p:nvPr/>
        </p:nvPicPr>
        <p:blipFill>
          <a:blip r:embed="rId11"/>
          <a:stretch>
            <a:fillRect/>
          </a:stretch>
        </p:blipFill>
        <p:spPr>
          <a:xfrm>
            <a:off x="5426698" y="2779432"/>
            <a:ext cx="1195728" cy="361950"/>
          </a:xfrm>
          <a:prstGeom prst="rect">
            <a:avLst/>
          </a:prstGeom>
        </p:spPr>
      </p:pic>
      <p:pic>
        <p:nvPicPr>
          <p:cNvPr id="86" name="Picture 85" descr="8_2__605E5C.png"/>
          <p:cNvPicPr>
            <a:picLocks noChangeAspect="1"/>
          </p:cNvPicPr>
          <p:nvPr/>
        </p:nvPicPr>
        <p:blipFill>
          <a:blip r:embed="rId12"/>
          <a:stretch>
            <a:fillRect/>
          </a:stretch>
        </p:blipFill>
        <p:spPr>
          <a:xfrm>
            <a:off x="5533344" y="3272281"/>
            <a:ext cx="982436" cy="361950"/>
          </a:xfrm>
          <a:prstGeom prst="rect">
            <a:avLst/>
          </a:prstGeom>
        </p:spPr>
      </p:pic>
      <p:pic>
        <p:nvPicPr>
          <p:cNvPr id="87" name="Picture 86" descr="291_3_605E5C.png"/>
          <p:cNvPicPr>
            <a:picLocks noChangeAspect="1"/>
          </p:cNvPicPr>
          <p:nvPr/>
        </p:nvPicPr>
        <p:blipFill>
          <a:blip r:embed="rId13"/>
          <a:stretch>
            <a:fillRect/>
          </a:stretch>
        </p:blipFill>
        <p:spPr>
          <a:xfrm>
            <a:off x="7112623" y="2286582"/>
            <a:ext cx="1195728" cy="361950"/>
          </a:xfrm>
          <a:prstGeom prst="rect">
            <a:avLst/>
          </a:prstGeom>
        </p:spPr>
      </p:pic>
      <p:pic>
        <p:nvPicPr>
          <p:cNvPr id="88" name="Picture 87" descr="710_3_605E5C.png"/>
          <p:cNvPicPr>
            <a:picLocks noChangeAspect="1"/>
          </p:cNvPicPr>
          <p:nvPr/>
        </p:nvPicPr>
        <p:blipFill>
          <a:blip r:embed="rId14"/>
          <a:stretch>
            <a:fillRect/>
          </a:stretch>
        </p:blipFill>
        <p:spPr>
          <a:xfrm>
            <a:off x="7112623" y="2779432"/>
            <a:ext cx="1195728" cy="361950"/>
          </a:xfrm>
          <a:prstGeom prst="rect">
            <a:avLst/>
          </a:prstGeom>
        </p:spPr>
      </p:pic>
      <p:pic>
        <p:nvPicPr>
          <p:cNvPr id="89" name="Picture 88" descr="9_3__605E5C.png"/>
          <p:cNvPicPr>
            <a:picLocks noChangeAspect="1"/>
          </p:cNvPicPr>
          <p:nvPr/>
        </p:nvPicPr>
        <p:blipFill>
          <a:blip r:embed="rId15"/>
          <a:stretch>
            <a:fillRect/>
          </a:stretch>
        </p:blipFill>
        <p:spPr>
          <a:xfrm>
            <a:off x="7219269" y="3272281"/>
            <a:ext cx="982436" cy="361950"/>
          </a:xfrm>
          <a:prstGeom prst="rect">
            <a:avLst/>
          </a:prstGeom>
        </p:spPr>
      </p:pic>
      <p:pic>
        <p:nvPicPr>
          <p:cNvPr id="90" name="Picture 89" descr="194_2_605E5C.png"/>
          <p:cNvPicPr>
            <a:picLocks noChangeAspect="1"/>
          </p:cNvPicPr>
          <p:nvPr/>
        </p:nvPicPr>
        <p:blipFill>
          <a:blip r:embed="rId16"/>
          <a:stretch>
            <a:fillRect/>
          </a:stretch>
        </p:blipFill>
        <p:spPr>
          <a:xfrm>
            <a:off x="8798548" y="2286582"/>
            <a:ext cx="1195728" cy="361950"/>
          </a:xfrm>
          <a:prstGeom prst="rect">
            <a:avLst/>
          </a:prstGeom>
        </p:spPr>
      </p:pic>
      <p:pic>
        <p:nvPicPr>
          <p:cNvPr id="91" name="Picture 90" descr="452_2_605E5C.png"/>
          <p:cNvPicPr>
            <a:picLocks noChangeAspect="1"/>
          </p:cNvPicPr>
          <p:nvPr/>
        </p:nvPicPr>
        <p:blipFill>
          <a:blip r:embed="rId17"/>
          <a:stretch>
            <a:fillRect/>
          </a:stretch>
        </p:blipFill>
        <p:spPr>
          <a:xfrm>
            <a:off x="8798548" y="2779432"/>
            <a:ext cx="1195728" cy="361950"/>
          </a:xfrm>
          <a:prstGeom prst="rect">
            <a:avLst/>
          </a:prstGeom>
        </p:spPr>
      </p:pic>
      <p:pic>
        <p:nvPicPr>
          <p:cNvPr id="92" name="Picture 91" descr="8_8__605E5C.png"/>
          <p:cNvPicPr>
            <a:picLocks noChangeAspect="1"/>
          </p:cNvPicPr>
          <p:nvPr/>
        </p:nvPicPr>
        <p:blipFill>
          <a:blip r:embed="rId18"/>
          <a:stretch>
            <a:fillRect/>
          </a:stretch>
        </p:blipFill>
        <p:spPr>
          <a:xfrm>
            <a:off x="8905194" y="3272281"/>
            <a:ext cx="982436" cy="361950"/>
          </a:xfrm>
          <a:prstGeom prst="rect">
            <a:avLst/>
          </a:prstGeom>
        </p:spPr>
      </p:pic>
      <p:pic>
        <p:nvPicPr>
          <p:cNvPr id="93" name="Picture 92" descr="169_9_605E5C.png"/>
          <p:cNvPicPr>
            <a:picLocks noChangeAspect="1"/>
          </p:cNvPicPr>
          <p:nvPr/>
        </p:nvPicPr>
        <p:blipFill>
          <a:blip r:embed="rId19"/>
          <a:stretch>
            <a:fillRect/>
          </a:stretch>
        </p:blipFill>
        <p:spPr>
          <a:xfrm>
            <a:off x="10484473" y="2286582"/>
            <a:ext cx="1195728" cy="361950"/>
          </a:xfrm>
          <a:prstGeom prst="rect">
            <a:avLst/>
          </a:prstGeom>
        </p:spPr>
      </p:pic>
      <p:pic>
        <p:nvPicPr>
          <p:cNvPr id="94" name="Picture 93" descr="376_8_605E5C.png"/>
          <p:cNvPicPr>
            <a:picLocks noChangeAspect="1"/>
          </p:cNvPicPr>
          <p:nvPr/>
        </p:nvPicPr>
        <p:blipFill>
          <a:blip r:embed="rId20"/>
          <a:stretch>
            <a:fillRect/>
          </a:stretch>
        </p:blipFill>
        <p:spPr>
          <a:xfrm>
            <a:off x="10484473" y="2779432"/>
            <a:ext cx="1195728" cy="361950"/>
          </a:xfrm>
          <a:prstGeom prst="rect">
            <a:avLst/>
          </a:prstGeom>
        </p:spPr>
      </p:pic>
      <p:pic>
        <p:nvPicPr>
          <p:cNvPr id="95" name="Picture 94" descr="8_3__605E5C.png"/>
          <p:cNvPicPr>
            <a:picLocks noChangeAspect="1"/>
          </p:cNvPicPr>
          <p:nvPr/>
        </p:nvPicPr>
        <p:blipFill>
          <a:blip r:embed="rId21"/>
          <a:stretch>
            <a:fillRect/>
          </a:stretch>
        </p:blipFill>
        <p:spPr>
          <a:xfrm>
            <a:off x="10591119" y="3272281"/>
            <a:ext cx="982436" cy="361950"/>
          </a:xfrm>
          <a:prstGeom prst="rect">
            <a:avLst/>
          </a:prstGeom>
        </p:spPr>
      </p:pic>
      <p:pic>
        <p:nvPicPr>
          <p:cNvPr id="96" name="Picture 95" descr="lock.png"/>
          <p:cNvPicPr>
            <a:picLocks noChangeAspect="1"/>
          </p:cNvPicPr>
          <p:nvPr/>
        </p:nvPicPr>
        <p:blipFill>
          <a:blip r:embed="rId22"/>
          <a:stretch>
            <a:fillRect/>
          </a:stretch>
        </p:blipFill>
        <p:spPr>
          <a:xfrm>
            <a:off x="2559367"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4245292"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5931217"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7617142"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9303067" y="2827057"/>
            <a:ext cx="183356" cy="266700"/>
          </a:xfrm>
          <a:prstGeom prst="rect">
            <a:avLst/>
          </a:prstGeom>
        </p:spPr>
      </p:pic>
      <p:pic>
        <p:nvPicPr>
          <p:cNvPr id="101" name="Picture 100" descr="lock.png"/>
          <p:cNvPicPr>
            <a:picLocks noChangeAspect="1"/>
          </p:cNvPicPr>
          <p:nvPr/>
        </p:nvPicPr>
        <p:blipFill>
          <a:blip r:embed="rId22"/>
          <a:stretch>
            <a:fillRect/>
          </a:stretch>
        </p:blipFill>
        <p:spPr>
          <a:xfrm>
            <a:off x="10988992" y="2827057"/>
            <a:ext cx="183356" cy="266700"/>
          </a:xfrm>
          <a:prstGeom prst="rect">
            <a:avLst/>
          </a:prstGeom>
        </p:spPr>
      </p:pic>
      <p:sp>
        <p:nvSpPr>
          <p:cNvPr id="102" name="TextBox 101"/>
          <p:cNvSpPr txBox="1"/>
          <p:nvPr/>
        </p:nvSpPr>
        <p:spPr>
          <a:xfrm>
            <a:off x="485775" y="4229437"/>
            <a:ext cx="2827635" cy="186689"/>
          </a:xfrm>
          <a:prstGeom prst="rect">
            <a:avLst/>
          </a:prstGeom>
          <a:noFill/>
        </p:spPr>
        <p:txBody>
          <a:bodyPr wrap="none" lIns="0" rIns="0" tIns="0" bIns="0">
            <a:spAutoFit/>
          </a:bodyPr>
          <a:lstStyle/>
          <a:p>
            <a:r>
              <a:rPr sz="1100" b="0">
                <a:solidFill>
                  <a:srgbClr val="2E2E2E"/>
                </a:solidFill>
                <a:latin typeface="Calibri"/>
              </a:rPr>
              <a:t>North America allergy immunotherapy market is</a:t>
            </a:r>
          </a:p>
        </p:txBody>
      </p:sp>
      <p:sp>
        <p:nvSpPr>
          <p:cNvPr id="103" name="TextBox 102"/>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04" name="Picture 103" descr="lock.png"/>
          <p:cNvPicPr>
            <a:picLocks noChangeAspect="1"/>
          </p:cNvPicPr>
          <p:nvPr/>
        </p:nvPicPr>
        <p:blipFill>
          <a:blip r:embed="rId22"/>
          <a:stretch>
            <a:fillRect/>
          </a:stretch>
        </p:blipFill>
        <p:spPr>
          <a:xfrm>
            <a:off x="1678376" y="4387298"/>
            <a:ext cx="128699" cy="187198"/>
          </a:xfrm>
          <a:prstGeom prst="rect">
            <a:avLst/>
          </a:prstGeom>
        </p:spPr>
      </p:pic>
      <p:sp>
        <p:nvSpPr>
          <p:cNvPr id="105" name="TextBox 104"/>
          <p:cNvSpPr txBox="1"/>
          <p:nvPr/>
        </p:nvSpPr>
        <p:spPr>
          <a:xfrm>
            <a:off x="1845872" y="4397077"/>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06" name="TextBox 105"/>
          <p:cNvSpPr txBox="1"/>
          <p:nvPr/>
        </p:nvSpPr>
        <p:spPr>
          <a:xfrm>
            <a:off x="485775" y="4564717"/>
            <a:ext cx="2914650" cy="186689"/>
          </a:xfrm>
          <a:prstGeom prst="rect">
            <a:avLst/>
          </a:prstGeom>
          <a:noFill/>
        </p:spPr>
        <p:txBody>
          <a:bodyPr wrap="none" lIns="0" rIns="0" tIns="0" bIns="0">
            <a:spAutoFit/>
          </a:bodyPr>
          <a:lstStyle/>
          <a:p>
            <a:r>
              <a:rPr sz="1100" b="0">
                <a:solidFill>
                  <a:srgbClr val="2E2E2E"/>
                </a:solidFill>
                <a:latin typeface="Calibri"/>
              </a:rPr>
              <a:t>Europe in 2036. Among allergy immunotherapy by</a:t>
            </a:r>
          </a:p>
        </p:txBody>
      </p:sp>
      <p:sp>
        <p:nvSpPr>
          <p:cNvPr id="107" name="TextBox 106"/>
          <p:cNvSpPr txBox="1"/>
          <p:nvPr/>
        </p:nvSpPr>
        <p:spPr>
          <a:xfrm>
            <a:off x="485775" y="4732357"/>
            <a:ext cx="2914129" cy="186689"/>
          </a:xfrm>
          <a:prstGeom prst="rect">
            <a:avLst/>
          </a:prstGeom>
          <a:noFill/>
        </p:spPr>
        <p:txBody>
          <a:bodyPr wrap="none" lIns="0" rIns="0" tIns="0" bIns="0">
            <a:spAutoFit/>
          </a:bodyPr>
          <a:lstStyle/>
          <a:p>
            <a:r>
              <a:rPr sz="1100" b="0">
                <a:solidFill>
                  <a:srgbClr val="2E2E2E"/>
                </a:solidFill>
                <a:latin typeface="Calibri"/>
              </a:rPr>
              <a:t>region, South Asia &amp; Pacific is expected to witness</a:t>
            </a:r>
          </a:p>
        </p:txBody>
      </p:sp>
      <p:sp>
        <p:nvSpPr>
          <p:cNvPr id="108" name="TextBox 107"/>
          <p:cNvSpPr txBox="1"/>
          <p:nvPr/>
        </p:nvSpPr>
        <p:spPr>
          <a:xfrm>
            <a:off x="485775" y="489999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109" name="Picture 108" descr="lock.png"/>
          <p:cNvPicPr>
            <a:picLocks noChangeAspect="1"/>
          </p:cNvPicPr>
          <p:nvPr/>
        </p:nvPicPr>
        <p:blipFill>
          <a:blip r:embed="rId22"/>
          <a:stretch>
            <a:fillRect/>
          </a:stretch>
        </p:blipFill>
        <p:spPr>
          <a:xfrm>
            <a:off x="1646163" y="4890217"/>
            <a:ext cx="128699" cy="187198"/>
          </a:xfrm>
          <a:prstGeom prst="rect">
            <a:avLst/>
          </a:prstGeom>
        </p:spPr>
      </p:pic>
      <p:sp>
        <p:nvSpPr>
          <p:cNvPr id="110" name="TextBox 109"/>
          <p:cNvSpPr txBox="1"/>
          <p:nvPr/>
        </p:nvSpPr>
        <p:spPr>
          <a:xfrm>
            <a:off x="1813659" y="489999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111" name="TextBox 110"/>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12" name="TextBox 111"/>
          <p:cNvSpPr txBox="1"/>
          <p:nvPr/>
        </p:nvSpPr>
        <p:spPr>
          <a:xfrm>
            <a:off x="485775" y="528556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13" name="Picture 112" descr="lock.png"/>
          <p:cNvPicPr>
            <a:picLocks noChangeAspect="1"/>
          </p:cNvPicPr>
          <p:nvPr/>
        </p:nvPicPr>
        <p:blipFill>
          <a:blip r:embed="rId22"/>
          <a:stretch>
            <a:fillRect/>
          </a:stretch>
        </p:blipFill>
        <p:spPr>
          <a:xfrm>
            <a:off x="2822716" y="5275790"/>
            <a:ext cx="128699" cy="187198"/>
          </a:xfrm>
          <a:prstGeom prst="rect">
            <a:avLst/>
          </a:prstGeom>
        </p:spPr>
      </p:pic>
      <p:sp>
        <p:nvSpPr>
          <p:cNvPr id="114" name="TextBox 113"/>
          <p:cNvSpPr txBox="1"/>
          <p:nvPr/>
        </p:nvSpPr>
        <p:spPr>
          <a:xfrm>
            <a:off x="2990212" y="528556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5" name="TextBox 114"/>
          <p:cNvSpPr txBox="1"/>
          <p:nvPr/>
        </p:nvSpPr>
        <p:spPr>
          <a:xfrm>
            <a:off x="485775" y="545320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6" name="Picture 115" descr="lock.png"/>
          <p:cNvPicPr>
            <a:picLocks noChangeAspect="1"/>
          </p:cNvPicPr>
          <p:nvPr/>
        </p:nvPicPr>
        <p:blipFill>
          <a:blip r:embed="rId22"/>
          <a:stretch>
            <a:fillRect/>
          </a:stretch>
        </p:blipFill>
        <p:spPr>
          <a:xfrm>
            <a:off x="1576057" y="5443430"/>
            <a:ext cx="128699" cy="187198"/>
          </a:xfrm>
          <a:prstGeom prst="rect">
            <a:avLst/>
          </a:prstGeom>
        </p:spPr>
      </p:pic>
      <p:sp>
        <p:nvSpPr>
          <p:cNvPr id="117" name="TextBox 116"/>
          <p:cNvSpPr txBox="1"/>
          <p:nvPr/>
        </p:nvSpPr>
        <p:spPr>
          <a:xfrm>
            <a:off x="1743553"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8" name="TextBox 117"/>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19" name="Picture 118" descr="lock.png"/>
          <p:cNvPicPr>
            <a:picLocks noChangeAspect="1"/>
          </p:cNvPicPr>
          <p:nvPr/>
        </p:nvPicPr>
        <p:blipFill>
          <a:blip r:embed="rId22"/>
          <a:stretch>
            <a:fillRect/>
          </a:stretch>
        </p:blipFill>
        <p:spPr>
          <a:xfrm>
            <a:off x="4850003" y="4219658"/>
            <a:ext cx="128699" cy="187198"/>
          </a:xfrm>
          <a:prstGeom prst="rect">
            <a:avLst/>
          </a:prstGeom>
        </p:spPr>
      </p:pic>
      <p:sp>
        <p:nvSpPr>
          <p:cNvPr id="120" name="TextBox 119"/>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5876949" y="4219658"/>
            <a:ext cx="128699" cy="187198"/>
          </a:xfrm>
          <a:prstGeom prst="rect">
            <a:avLst/>
          </a:prstGeom>
        </p:spPr>
      </p:pic>
      <p:sp>
        <p:nvSpPr>
          <p:cNvPr id="122" name="TextBox 121"/>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23" name="TextBox 122"/>
          <p:cNvSpPr txBox="1"/>
          <p:nvPr/>
        </p:nvSpPr>
        <p:spPr>
          <a:xfrm>
            <a:off x="3838575" y="4447369"/>
            <a:ext cx="636637" cy="186689"/>
          </a:xfrm>
          <a:prstGeom prst="rect">
            <a:avLst/>
          </a:prstGeom>
          <a:noFill/>
        </p:spPr>
        <p:txBody>
          <a:bodyPr wrap="none" lIns="0" rIns="0" tIns="0" bIns="0">
            <a:spAutoFit/>
          </a:bodyPr>
          <a:lstStyle/>
          <a:p>
            <a:r>
              <a:rPr sz="1100" b="0">
                <a:solidFill>
                  <a:srgbClr val="2E2E2E"/>
                </a:solidFill>
                <a:latin typeface="Calibri"/>
              </a:rPr>
              <a:t>● Europe:</a:t>
            </a:r>
          </a:p>
        </p:txBody>
      </p:sp>
      <p:pic>
        <p:nvPicPr>
          <p:cNvPr id="124" name="Picture 123" descr="lock.png"/>
          <p:cNvPicPr>
            <a:picLocks noChangeAspect="1"/>
          </p:cNvPicPr>
          <p:nvPr/>
        </p:nvPicPr>
        <p:blipFill>
          <a:blip r:embed="rId22"/>
          <a:stretch>
            <a:fillRect/>
          </a:stretch>
        </p:blipFill>
        <p:spPr>
          <a:xfrm>
            <a:off x="4423263" y="4437590"/>
            <a:ext cx="128699" cy="187198"/>
          </a:xfrm>
          <a:prstGeom prst="rect">
            <a:avLst/>
          </a:prstGeom>
        </p:spPr>
      </p:pic>
      <p:sp>
        <p:nvSpPr>
          <p:cNvPr id="125" name="TextBox 124"/>
          <p:cNvSpPr txBox="1"/>
          <p:nvPr/>
        </p:nvSpPr>
        <p:spPr>
          <a:xfrm>
            <a:off x="459075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5450209" y="4437590"/>
            <a:ext cx="128699" cy="187198"/>
          </a:xfrm>
          <a:prstGeom prst="rect">
            <a:avLst/>
          </a:prstGeom>
        </p:spPr>
      </p:pic>
      <p:sp>
        <p:nvSpPr>
          <p:cNvPr id="127" name="TextBox 126"/>
          <p:cNvSpPr txBox="1"/>
          <p:nvPr/>
        </p:nvSpPr>
        <p:spPr>
          <a:xfrm>
            <a:off x="5617705"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28" name="TextBox 127"/>
          <p:cNvSpPr txBox="1"/>
          <p:nvPr/>
        </p:nvSpPr>
        <p:spPr>
          <a:xfrm>
            <a:off x="3838575" y="4665301"/>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29" name="Picture 128" descr="lock.png"/>
          <p:cNvPicPr>
            <a:picLocks noChangeAspect="1"/>
          </p:cNvPicPr>
          <p:nvPr/>
        </p:nvPicPr>
        <p:blipFill>
          <a:blip r:embed="rId22"/>
          <a:stretch>
            <a:fillRect/>
          </a:stretch>
        </p:blipFill>
        <p:spPr>
          <a:xfrm>
            <a:off x="4518727" y="4655522"/>
            <a:ext cx="128699" cy="187198"/>
          </a:xfrm>
          <a:prstGeom prst="rect">
            <a:avLst/>
          </a:prstGeom>
        </p:spPr>
      </p:pic>
      <p:sp>
        <p:nvSpPr>
          <p:cNvPr id="130" name="TextBox 129"/>
          <p:cNvSpPr txBox="1"/>
          <p:nvPr/>
        </p:nvSpPr>
        <p:spPr>
          <a:xfrm>
            <a:off x="4686223"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22"/>
          <a:stretch>
            <a:fillRect/>
          </a:stretch>
        </p:blipFill>
        <p:spPr>
          <a:xfrm>
            <a:off x="5545673" y="4655522"/>
            <a:ext cx="128699" cy="187198"/>
          </a:xfrm>
          <a:prstGeom prst="rect">
            <a:avLst/>
          </a:prstGeom>
        </p:spPr>
      </p:pic>
      <p:sp>
        <p:nvSpPr>
          <p:cNvPr id="132" name="TextBox 131"/>
          <p:cNvSpPr txBox="1"/>
          <p:nvPr/>
        </p:nvSpPr>
        <p:spPr>
          <a:xfrm>
            <a:off x="5713169" y="4665301"/>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3" name="TextBox 132"/>
          <p:cNvSpPr txBox="1"/>
          <p:nvPr/>
        </p:nvSpPr>
        <p:spPr>
          <a:xfrm>
            <a:off x="3838575" y="4883233"/>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34" name="Picture 133" descr="lock.png"/>
          <p:cNvPicPr>
            <a:picLocks noChangeAspect="1"/>
          </p:cNvPicPr>
          <p:nvPr/>
        </p:nvPicPr>
        <p:blipFill>
          <a:blip r:embed="rId22"/>
          <a:stretch>
            <a:fillRect/>
          </a:stretch>
        </p:blipFill>
        <p:spPr>
          <a:xfrm>
            <a:off x="5136770" y="4873454"/>
            <a:ext cx="128699" cy="187198"/>
          </a:xfrm>
          <a:prstGeom prst="rect">
            <a:avLst/>
          </a:prstGeom>
        </p:spPr>
      </p:pic>
      <p:sp>
        <p:nvSpPr>
          <p:cNvPr id="135" name="TextBox 134"/>
          <p:cNvSpPr txBox="1"/>
          <p:nvPr/>
        </p:nvSpPr>
        <p:spPr>
          <a:xfrm>
            <a:off x="5304266"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6" name="Picture 135" descr="lock.png"/>
          <p:cNvPicPr>
            <a:picLocks noChangeAspect="1"/>
          </p:cNvPicPr>
          <p:nvPr/>
        </p:nvPicPr>
        <p:blipFill>
          <a:blip r:embed="rId22"/>
          <a:stretch>
            <a:fillRect/>
          </a:stretch>
        </p:blipFill>
        <p:spPr>
          <a:xfrm>
            <a:off x="6163716" y="4873454"/>
            <a:ext cx="128699" cy="187198"/>
          </a:xfrm>
          <a:prstGeom prst="rect">
            <a:avLst/>
          </a:prstGeom>
        </p:spPr>
      </p:pic>
      <p:sp>
        <p:nvSpPr>
          <p:cNvPr id="137" name="TextBox 136"/>
          <p:cNvSpPr txBox="1"/>
          <p:nvPr/>
        </p:nvSpPr>
        <p:spPr>
          <a:xfrm>
            <a:off x="6331212"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8" name="TextBox 137"/>
          <p:cNvSpPr txBox="1"/>
          <p:nvPr/>
        </p:nvSpPr>
        <p:spPr>
          <a:xfrm>
            <a:off x="3838575" y="5101165"/>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39" name="Picture 138" descr="lock.png"/>
          <p:cNvPicPr>
            <a:picLocks noChangeAspect="1"/>
          </p:cNvPicPr>
          <p:nvPr/>
        </p:nvPicPr>
        <p:blipFill>
          <a:blip r:embed="rId22"/>
          <a:stretch>
            <a:fillRect/>
          </a:stretch>
        </p:blipFill>
        <p:spPr>
          <a:xfrm>
            <a:off x="4794887" y="5091385"/>
            <a:ext cx="128699" cy="187198"/>
          </a:xfrm>
          <a:prstGeom prst="rect">
            <a:avLst/>
          </a:prstGeom>
        </p:spPr>
      </p:pic>
      <p:sp>
        <p:nvSpPr>
          <p:cNvPr id="140" name="TextBox 139"/>
          <p:cNvSpPr txBox="1"/>
          <p:nvPr/>
        </p:nvSpPr>
        <p:spPr>
          <a:xfrm>
            <a:off x="4962383"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1" name="Picture 140" descr="lock.png"/>
          <p:cNvPicPr>
            <a:picLocks noChangeAspect="1"/>
          </p:cNvPicPr>
          <p:nvPr/>
        </p:nvPicPr>
        <p:blipFill>
          <a:blip r:embed="rId22"/>
          <a:stretch>
            <a:fillRect/>
          </a:stretch>
        </p:blipFill>
        <p:spPr>
          <a:xfrm>
            <a:off x="5821833" y="5091385"/>
            <a:ext cx="128699" cy="187198"/>
          </a:xfrm>
          <a:prstGeom prst="rect">
            <a:avLst/>
          </a:prstGeom>
        </p:spPr>
      </p:pic>
      <p:sp>
        <p:nvSpPr>
          <p:cNvPr id="142" name="TextBox 141"/>
          <p:cNvSpPr txBox="1"/>
          <p:nvPr/>
        </p:nvSpPr>
        <p:spPr>
          <a:xfrm>
            <a:off x="5989329"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3" name="TextBox 142"/>
          <p:cNvSpPr txBox="1"/>
          <p:nvPr/>
        </p:nvSpPr>
        <p:spPr>
          <a:xfrm>
            <a:off x="3838575" y="5319097"/>
            <a:ext cx="1386944" cy="186689"/>
          </a:xfrm>
          <a:prstGeom prst="rect">
            <a:avLst/>
          </a:prstGeom>
          <a:noFill/>
        </p:spPr>
        <p:txBody>
          <a:bodyPr wrap="none" lIns="0" rIns="0" tIns="0" bIns="0">
            <a:spAutoFit/>
          </a:bodyPr>
          <a:lstStyle/>
          <a:p>
            <a:r>
              <a:rPr sz="1100" b="0">
                <a:solidFill>
                  <a:srgbClr val="2E2E2E"/>
                </a:solidFill>
                <a:latin typeface="Calibri"/>
              </a:rPr>
              <a:t>● Middle East &amp; Africa:</a:t>
            </a:r>
          </a:p>
        </p:txBody>
      </p:sp>
      <p:pic>
        <p:nvPicPr>
          <p:cNvPr id="144" name="Picture 143" descr="lock.png"/>
          <p:cNvPicPr>
            <a:picLocks noChangeAspect="1"/>
          </p:cNvPicPr>
          <p:nvPr/>
        </p:nvPicPr>
        <p:blipFill>
          <a:blip r:embed="rId22"/>
          <a:stretch>
            <a:fillRect/>
          </a:stretch>
        </p:blipFill>
        <p:spPr>
          <a:xfrm>
            <a:off x="5173571" y="5309317"/>
            <a:ext cx="128699" cy="187198"/>
          </a:xfrm>
          <a:prstGeom prst="rect">
            <a:avLst/>
          </a:prstGeom>
        </p:spPr>
      </p:pic>
      <p:sp>
        <p:nvSpPr>
          <p:cNvPr id="145" name="TextBox 144"/>
          <p:cNvSpPr txBox="1"/>
          <p:nvPr/>
        </p:nvSpPr>
        <p:spPr>
          <a:xfrm>
            <a:off x="5341067"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2"/>
          <a:stretch>
            <a:fillRect/>
          </a:stretch>
        </p:blipFill>
        <p:spPr>
          <a:xfrm>
            <a:off x="6200517" y="5309317"/>
            <a:ext cx="128699" cy="187198"/>
          </a:xfrm>
          <a:prstGeom prst="rect">
            <a:avLst/>
          </a:prstGeom>
        </p:spPr>
      </p:pic>
      <p:sp>
        <p:nvSpPr>
          <p:cNvPr id="147" name="TextBox 146"/>
          <p:cNvSpPr txBox="1"/>
          <p:nvPr/>
        </p:nvSpPr>
        <p:spPr>
          <a:xfrm>
            <a:off x="6368013" y="5319097"/>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Analysis, By Region Volume (Patient Treatment Courses)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3" name="Chart 12"/>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4" name="TextBox 13"/>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5" name="FMI Lock Anchor"/>
          <p:cNvSpPr txBox="1"/>
          <p:nvPr/>
        </p:nvSpPr>
        <p:spPr>
          <a:xfrm>
            <a:off x="2489835" y="3352800"/>
            <a:ext cx="38100" cy="38100"/>
          </a:xfrm>
          <a:prstGeom prst="rect">
            <a:avLst/>
          </a:prstGeom>
          <a:noFill/>
        </p:spPr>
        <p:txBody>
          <a:bodyPr wrap="none">
            <a:spAutoFit/>
          </a:bodyPr>
          <a:lstStyle/>
          <a:p/>
        </p:txBody>
      </p:sp>
      <p:sp>
        <p:nvSpPr>
          <p:cNvPr id="16" name="FMI Legend Chip"/>
          <p:cNvSpPr/>
          <p:nvPr/>
        </p:nvSpPr>
        <p:spPr>
          <a:xfrm>
            <a:off x="4551045" y="160131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159654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4855845" y="152034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9" name="BPS Value 1"/>
          <p:cNvSpPr txBox="1"/>
          <p:nvPr/>
        </p:nvSpPr>
        <p:spPr>
          <a:xfrm>
            <a:off x="6305550" y="158226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551045" y="1899281"/>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4712970" y="189451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4855845" y="181831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3" name="BPS Value 2"/>
          <p:cNvSpPr txBox="1"/>
          <p:nvPr/>
        </p:nvSpPr>
        <p:spPr>
          <a:xfrm>
            <a:off x="6305550" y="188023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551045" y="240717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4712970" y="240241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4855845" y="232621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7" name="BPS Value 3"/>
          <p:cNvSpPr txBox="1"/>
          <p:nvPr/>
        </p:nvSpPr>
        <p:spPr>
          <a:xfrm>
            <a:off x="6305550" y="238812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551045" y="312862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4712970" y="312386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4855845" y="304766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1" name="BPS Value 4"/>
          <p:cNvSpPr txBox="1"/>
          <p:nvPr/>
        </p:nvSpPr>
        <p:spPr>
          <a:xfrm>
            <a:off x="6305550" y="310957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551045" y="390506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4712970" y="390030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4855845" y="382410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5" name="BPS Value 5"/>
          <p:cNvSpPr txBox="1"/>
          <p:nvPr/>
        </p:nvSpPr>
        <p:spPr>
          <a:xfrm>
            <a:off x="6305550" y="388601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FMI Legend Chip"/>
          <p:cNvSpPr/>
          <p:nvPr/>
        </p:nvSpPr>
        <p:spPr>
          <a:xfrm>
            <a:off x="4551045" y="471920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4712970" y="471444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4855845" y="463824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9" name="BPS Value 6"/>
          <p:cNvSpPr txBox="1"/>
          <p:nvPr/>
        </p:nvSpPr>
        <p:spPr>
          <a:xfrm>
            <a:off x="6305550" y="470015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0" name="Rounded Rectangle 39"/>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2" name="Rectangle 41"/>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4" name="Rounded Rectangle 43"/>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(PATIENT TREATMENT COURSES)</a:t>
            </a:r>
          </a:p>
          <a:p>
            <a:pPr algn="ctr">
              <a:lnSpc>
                <a:spcPct val="95000"/>
              </a:lnSpc>
            </a:pPr>
            <a:r>
              <a:rPr sz="2000" b="1">
                <a:solidFill>
                  <a:srgbClr val="0E72AE"/>
                </a:solidFill>
                <a:latin typeface="Calibri"/>
              </a:rPr>
              <a:t/>
            </a:r>
          </a:p>
        </p:txBody>
      </p:sp>
      <p:sp>
        <p:nvSpPr>
          <p:cNvPr id="45" name="Rounded Rectangle 44"/>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(PATIENT TREATMENT COURSES)</a:t>
            </a:r>
          </a:p>
          <a:p>
            <a:pPr algn="ctr">
              <a:lnSpc>
                <a:spcPct val="95000"/>
              </a:lnSpc>
            </a:pPr>
            <a:r>
              <a:rPr sz="2000" b="1">
                <a:solidFill>
                  <a:srgbClr val="0E72AE"/>
                </a:solidFill>
                <a:latin typeface="Calibri"/>
              </a:rPr>
              <a:t/>
            </a:r>
          </a:p>
        </p:txBody>
      </p:sp>
      <p:sp>
        <p:nvSpPr>
          <p:cNvPr id="46" name="Rounded Rectangle 45"/>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47" name="TextBox 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8" name="Picture 47" descr="lock.png"/>
          <p:cNvPicPr>
            <a:picLocks noChangeAspect="1"/>
          </p:cNvPicPr>
          <p:nvPr/>
        </p:nvPicPr>
        <p:blipFill>
          <a:blip r:embed="rId5"/>
          <a:stretch>
            <a:fillRect/>
          </a:stretch>
        </p:blipFill>
        <p:spPr>
          <a:xfrm>
            <a:off x="2333863" y="3121818"/>
            <a:ext cx="343793" cy="500062"/>
          </a:xfrm>
          <a:prstGeom prst="rect">
            <a:avLst/>
          </a:prstGeom>
        </p:spPr>
      </p:pic>
      <p:pic>
        <p:nvPicPr>
          <p:cNvPr id="49" name="Picture 48" descr="2_207_000_605E5C.png"/>
          <p:cNvPicPr>
            <a:picLocks noChangeAspect="1"/>
          </p:cNvPicPr>
          <p:nvPr/>
        </p:nvPicPr>
        <p:blipFill>
          <a:blip r:embed="rId6"/>
          <a:stretch>
            <a:fillRect/>
          </a:stretch>
        </p:blipFill>
        <p:spPr>
          <a:xfrm>
            <a:off x="744310" y="5897562"/>
            <a:ext cx="2740473" cy="482599"/>
          </a:xfrm>
          <a:prstGeom prst="rect">
            <a:avLst/>
          </a:prstGeom>
        </p:spPr>
      </p:pic>
      <p:pic>
        <p:nvPicPr>
          <p:cNvPr id="50" name="Picture 49" descr="4_673_164_605E5C.png"/>
          <p:cNvPicPr>
            <a:picLocks noChangeAspect="1"/>
          </p:cNvPicPr>
          <p:nvPr/>
        </p:nvPicPr>
        <p:blipFill>
          <a:blip r:embed="rId7"/>
          <a:stretch>
            <a:fillRect/>
          </a:stretch>
        </p:blipFill>
        <p:spPr>
          <a:xfrm>
            <a:off x="4778148" y="5897562"/>
            <a:ext cx="2740473" cy="482599"/>
          </a:xfrm>
          <a:prstGeom prst="rect">
            <a:avLst/>
          </a:prstGeom>
        </p:spPr>
      </p:pic>
      <p:pic>
        <p:nvPicPr>
          <p:cNvPr id="51" name="Picture 50" descr="7_8__605E5C.png"/>
          <p:cNvPicPr>
            <a:picLocks noChangeAspect="1"/>
          </p:cNvPicPr>
          <p:nvPr/>
        </p:nvPicPr>
        <p:blipFill>
          <a:blip r:embed="rId8"/>
          <a:stretch>
            <a:fillRect/>
          </a:stretch>
        </p:blipFill>
        <p:spPr>
          <a:xfrm>
            <a:off x="9465355" y="5897562"/>
            <a:ext cx="1309912" cy="482599"/>
          </a:xfrm>
          <a:prstGeom prst="rect">
            <a:avLst/>
          </a:prstGeom>
        </p:spPr>
      </p:pic>
      <p:pic>
        <p:nvPicPr>
          <p:cNvPr id="52" name="Picture 51" descr="lock.png"/>
          <p:cNvPicPr>
            <a:picLocks noChangeAspect="1"/>
          </p:cNvPicPr>
          <p:nvPr/>
        </p:nvPicPr>
        <p:blipFill>
          <a:blip r:embed="rId5"/>
          <a:stretch>
            <a:fillRect/>
          </a:stretch>
        </p:blipFill>
        <p:spPr>
          <a:xfrm>
            <a:off x="5914657" y="5893409"/>
            <a:ext cx="337498" cy="490906"/>
          </a:xfrm>
          <a:prstGeom prst="rect">
            <a:avLst/>
          </a:prstGeom>
        </p:spPr>
      </p:pic>
      <p:sp>
        <p:nvSpPr>
          <p:cNvPr id="53" name="TextBox 52"/>
          <p:cNvSpPr txBox="1"/>
          <p:nvPr/>
        </p:nvSpPr>
        <p:spPr>
          <a:xfrm>
            <a:off x="7239000" y="1400175"/>
            <a:ext cx="4507048" cy="194310"/>
          </a:xfrm>
          <a:prstGeom prst="rect">
            <a:avLst/>
          </a:prstGeom>
          <a:noFill/>
        </p:spPr>
        <p:txBody>
          <a:bodyPr wrap="none" lIns="0" rIns="0" tIns="0" bIns="0">
            <a:spAutoFit/>
          </a:bodyPr>
          <a:lstStyle/>
          <a:p>
            <a:r>
              <a:rPr sz="1150" b="0">
                <a:solidFill>
                  <a:srgbClr val="2E2E2E"/>
                </a:solidFill>
                <a:latin typeface="Calibri"/>
              </a:rPr>
              <a:t>South Asia &amp; Pacific allergy immunotherapy market is projected to register</a:t>
            </a:r>
          </a:p>
        </p:txBody>
      </p:sp>
      <p:pic>
        <p:nvPicPr>
          <p:cNvPr id="54" name="Picture 53" descr="lock.png"/>
          <p:cNvPicPr>
            <a:picLocks noChangeAspect="1"/>
          </p:cNvPicPr>
          <p:nvPr/>
        </p:nvPicPr>
        <p:blipFill>
          <a:blip r:embed="rId5"/>
          <a:stretch>
            <a:fillRect/>
          </a:stretch>
        </p:blipFill>
        <p:spPr>
          <a:xfrm>
            <a:off x="7224920" y="1565211"/>
            <a:ext cx="134549" cy="195707"/>
          </a:xfrm>
          <a:prstGeom prst="rect">
            <a:avLst/>
          </a:prstGeom>
        </p:spPr>
      </p:pic>
      <p:sp>
        <p:nvSpPr>
          <p:cNvPr id="55" name="TextBox 54"/>
          <p:cNvSpPr txBox="1"/>
          <p:nvPr/>
        </p:nvSpPr>
        <p:spPr>
          <a:xfrm>
            <a:off x="7400029" y="1575435"/>
            <a:ext cx="4369556" cy="194310"/>
          </a:xfrm>
          <a:prstGeom prst="rect">
            <a:avLst/>
          </a:prstGeom>
          <a:noFill/>
        </p:spPr>
        <p:txBody>
          <a:bodyPr wrap="none" lIns="0" rIns="0" tIns="0" bIns="0">
            <a:spAutoFit/>
          </a:bodyPr>
          <a:lstStyle/>
          <a:p>
            <a:r>
              <a:rPr sz="1150" b="0">
                <a:solidFill>
                  <a:srgbClr val="2E2E2E"/>
                </a:solidFill>
                <a:latin typeface="Calibri"/>
              </a:rPr>
              <a:t>X higher volume than Europe in 2036. Among allergy immunotherapy by</a:t>
            </a:r>
          </a:p>
        </p:txBody>
      </p:sp>
      <p:sp>
        <p:nvSpPr>
          <p:cNvPr id="56" name="TextBox 55"/>
          <p:cNvSpPr txBox="1"/>
          <p:nvPr/>
        </p:nvSpPr>
        <p:spPr>
          <a:xfrm>
            <a:off x="7239000" y="1750695"/>
            <a:ext cx="4263994" cy="194310"/>
          </a:xfrm>
          <a:prstGeom prst="rect">
            <a:avLst/>
          </a:prstGeom>
          <a:noFill/>
        </p:spPr>
        <p:txBody>
          <a:bodyPr wrap="none" lIns="0" rIns="0" tIns="0" bIns="0">
            <a:spAutoFit/>
          </a:bodyPr>
          <a:lstStyle/>
          <a:p>
            <a:r>
              <a:rPr sz="1150" b="0">
                <a:solidFill>
                  <a:srgbClr val="2E2E2E"/>
                </a:solidFill>
                <a:latin typeface="Calibri"/>
              </a:rPr>
              <a:t>region, South Asia &amp; Pacific is expected to witness the highest CAGR of</a:t>
            </a:r>
          </a:p>
        </p:txBody>
      </p:sp>
      <p:pic>
        <p:nvPicPr>
          <p:cNvPr id="57" name="Picture 56" descr="lock.png"/>
          <p:cNvPicPr>
            <a:picLocks noChangeAspect="1"/>
          </p:cNvPicPr>
          <p:nvPr/>
        </p:nvPicPr>
        <p:blipFill>
          <a:blip r:embed="rId5"/>
          <a:stretch>
            <a:fillRect/>
          </a:stretch>
        </p:blipFill>
        <p:spPr>
          <a:xfrm>
            <a:off x="11452148" y="1740471"/>
            <a:ext cx="134549" cy="195707"/>
          </a:xfrm>
          <a:prstGeom prst="rect">
            <a:avLst/>
          </a:prstGeom>
        </p:spPr>
      </p:pic>
      <p:sp>
        <p:nvSpPr>
          <p:cNvPr id="58" name="TextBox 57"/>
          <p:cNvSpPr txBox="1"/>
          <p:nvPr/>
        </p:nvSpPr>
        <p:spPr>
          <a:xfrm>
            <a:off x="72390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59" name="TextBox 58"/>
          <p:cNvSpPr txBox="1"/>
          <p:nvPr/>
        </p:nvSpPr>
        <p:spPr>
          <a:xfrm>
            <a:off x="7239000" y="2153793"/>
            <a:ext cx="4252602"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a:t>
            </a:r>
          </a:p>
        </p:txBody>
      </p:sp>
      <p:sp>
        <p:nvSpPr>
          <p:cNvPr id="60" name="TextBox 59"/>
          <p:cNvSpPr txBox="1"/>
          <p:nvPr/>
        </p:nvSpPr>
        <p:spPr>
          <a:xfrm>
            <a:off x="7239000" y="2329053"/>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61" name="Picture 60" descr="lock.png"/>
          <p:cNvPicPr>
            <a:picLocks noChangeAspect="1"/>
          </p:cNvPicPr>
          <p:nvPr/>
        </p:nvPicPr>
        <p:blipFill>
          <a:blip r:embed="rId5"/>
          <a:stretch>
            <a:fillRect/>
          </a:stretch>
        </p:blipFill>
        <p:spPr>
          <a:xfrm>
            <a:off x="9025226" y="2318829"/>
            <a:ext cx="134549" cy="195707"/>
          </a:xfrm>
          <a:prstGeom prst="rect">
            <a:avLst/>
          </a:prstGeom>
        </p:spPr>
      </p:pic>
      <p:sp>
        <p:nvSpPr>
          <p:cNvPr id="62" name="TextBox 61"/>
          <p:cNvSpPr txBox="1"/>
          <p:nvPr/>
        </p:nvSpPr>
        <p:spPr>
          <a:xfrm>
            <a:off x="920033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3" name="Picture 62" descr="lock.png"/>
          <p:cNvPicPr>
            <a:picLocks noChangeAspect="1"/>
          </p:cNvPicPr>
          <p:nvPr/>
        </p:nvPicPr>
        <p:blipFill>
          <a:blip r:embed="rId5"/>
          <a:stretch>
            <a:fillRect/>
          </a:stretch>
        </p:blipFill>
        <p:spPr>
          <a:xfrm>
            <a:off x="10595478" y="2318829"/>
            <a:ext cx="134549" cy="195707"/>
          </a:xfrm>
          <a:prstGeom prst="rect">
            <a:avLst/>
          </a:prstGeom>
        </p:spPr>
      </p:pic>
      <p:sp>
        <p:nvSpPr>
          <p:cNvPr id="64" name="TextBox 63"/>
          <p:cNvSpPr txBox="1"/>
          <p:nvPr/>
        </p:nvSpPr>
        <p:spPr>
          <a:xfrm>
            <a:off x="10770588"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5" name="TextBox 64"/>
          <p:cNvSpPr txBox="1"/>
          <p:nvPr/>
        </p:nvSpPr>
        <p:spPr>
          <a:xfrm>
            <a:off x="7239000" y="2504313"/>
            <a:ext cx="2083531" cy="194310"/>
          </a:xfrm>
          <a:prstGeom prst="rect">
            <a:avLst/>
          </a:prstGeom>
          <a:noFill/>
        </p:spPr>
        <p:txBody>
          <a:bodyPr wrap="none" lIns="0" rIns="0" tIns="0" bIns="0">
            <a:spAutoFit/>
          </a:bodyPr>
          <a:lstStyle/>
          <a:p>
            <a:r>
              <a:rPr sz="1150" b="0">
                <a:solidFill>
                  <a:srgbClr val="2E2E2E"/>
                </a:solidFill>
                <a:latin typeface="Calibri"/>
              </a:rPr>
              <a:t>North America is expected to lose</a:t>
            </a:r>
          </a:p>
        </p:txBody>
      </p:sp>
      <p:pic>
        <p:nvPicPr>
          <p:cNvPr id="66" name="Picture 65" descr="lock.png"/>
          <p:cNvPicPr>
            <a:picLocks noChangeAspect="1"/>
          </p:cNvPicPr>
          <p:nvPr/>
        </p:nvPicPr>
        <p:blipFill>
          <a:blip r:embed="rId5"/>
          <a:stretch>
            <a:fillRect/>
          </a:stretch>
        </p:blipFill>
        <p:spPr>
          <a:xfrm>
            <a:off x="9271685" y="2494089"/>
            <a:ext cx="134549" cy="195707"/>
          </a:xfrm>
          <a:prstGeom prst="rect">
            <a:avLst/>
          </a:prstGeom>
        </p:spPr>
      </p:pic>
      <p:sp>
        <p:nvSpPr>
          <p:cNvPr id="67" name="TextBox 66"/>
          <p:cNvSpPr txBox="1"/>
          <p:nvPr/>
        </p:nvSpPr>
        <p:spPr>
          <a:xfrm>
            <a:off x="9446794" y="2504313"/>
            <a:ext cx="1926356" cy="194310"/>
          </a:xfrm>
          <a:prstGeom prst="rect">
            <a:avLst/>
          </a:prstGeom>
          <a:noFill/>
        </p:spPr>
        <p:txBody>
          <a:bodyPr wrap="none" lIns="0" rIns="0" tIns="0" bIns="0">
            <a:spAutoFit/>
          </a:bodyPr>
          <a:lstStyle/>
          <a:p>
            <a:r>
              <a:rPr sz="1150" b="0">
                <a:solidFill>
                  <a:srgbClr val="2E2E2E"/>
                </a:solidFill>
                <a:latin typeface="Calibri"/>
              </a:rPr>
              <a:t>BPS over the forecast period to</a:t>
            </a:r>
          </a:p>
        </p:txBody>
      </p:sp>
      <p:sp>
        <p:nvSpPr>
          <p:cNvPr id="68" name="TextBox 67"/>
          <p:cNvSpPr txBox="1"/>
          <p:nvPr/>
        </p:nvSpPr>
        <p:spPr>
          <a:xfrm>
            <a:off x="7239000" y="2679573"/>
            <a:ext cx="755104" cy="194310"/>
          </a:xfrm>
          <a:prstGeom prst="rect">
            <a:avLst/>
          </a:prstGeom>
          <a:noFill/>
        </p:spPr>
        <p:txBody>
          <a:bodyPr wrap="none" lIns="0" rIns="0" tIns="0" bIns="0">
            <a:spAutoFit/>
          </a:bodyPr>
          <a:lstStyle/>
          <a:p>
            <a:r>
              <a:rPr sz="1150" b="0">
                <a:solidFill>
                  <a:srgbClr val="2E2E2E"/>
                </a:solidFill>
                <a:latin typeface="Calibri"/>
              </a:rPr>
              <a:t>account for</a:t>
            </a:r>
          </a:p>
        </p:txBody>
      </p:sp>
      <p:pic>
        <p:nvPicPr>
          <p:cNvPr id="69" name="Picture 68" descr="lock.png"/>
          <p:cNvPicPr>
            <a:picLocks noChangeAspect="1"/>
          </p:cNvPicPr>
          <p:nvPr/>
        </p:nvPicPr>
        <p:blipFill>
          <a:blip r:embed="rId5"/>
          <a:stretch>
            <a:fillRect/>
          </a:stretch>
        </p:blipFill>
        <p:spPr>
          <a:xfrm>
            <a:off x="7943258" y="2669349"/>
            <a:ext cx="134549" cy="195707"/>
          </a:xfrm>
          <a:prstGeom prst="rect">
            <a:avLst/>
          </a:prstGeom>
        </p:spPr>
      </p:pic>
      <p:sp>
        <p:nvSpPr>
          <p:cNvPr id="70" name="TextBox 69"/>
          <p:cNvSpPr txBox="1"/>
          <p:nvPr/>
        </p:nvSpPr>
        <p:spPr>
          <a:xfrm>
            <a:off x="8118367"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1" name="lockshield_13"/>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3" name="Chart 12"/>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4" name="TextBox 13"/>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5" name="FMI Lock Anchor"/>
          <p:cNvSpPr txBox="1"/>
          <p:nvPr/>
        </p:nvSpPr>
        <p:spPr>
          <a:xfrm>
            <a:off x="2489835" y="3352800"/>
            <a:ext cx="38100" cy="38100"/>
          </a:xfrm>
          <a:prstGeom prst="rect">
            <a:avLst/>
          </a:prstGeom>
          <a:noFill/>
        </p:spPr>
        <p:txBody>
          <a:bodyPr wrap="none">
            <a:spAutoFit/>
          </a:bodyPr>
          <a:lstStyle/>
          <a:p/>
        </p:txBody>
      </p:sp>
      <p:sp>
        <p:nvSpPr>
          <p:cNvPr id="16" name="FMI Legend Chip"/>
          <p:cNvSpPr/>
          <p:nvPr/>
        </p:nvSpPr>
        <p:spPr>
          <a:xfrm>
            <a:off x="4551045" y="1589120"/>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4712970" y="158435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4855845" y="150815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9" name="BPS Value 1"/>
          <p:cNvSpPr txBox="1"/>
          <p:nvPr/>
        </p:nvSpPr>
        <p:spPr>
          <a:xfrm>
            <a:off x="6305550" y="157007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551045" y="1868604"/>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4712970" y="186384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4855845" y="178764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3" name="BPS Value 2"/>
          <p:cNvSpPr txBox="1"/>
          <p:nvPr/>
        </p:nvSpPr>
        <p:spPr>
          <a:xfrm>
            <a:off x="6305550" y="184955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551045" y="225573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4712970" y="225097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4855845" y="217477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7" name="BPS Value 3"/>
          <p:cNvSpPr txBox="1"/>
          <p:nvPr/>
        </p:nvSpPr>
        <p:spPr>
          <a:xfrm>
            <a:off x="6305550" y="223668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FMI Legend Chip"/>
          <p:cNvSpPr/>
          <p:nvPr/>
        </p:nvSpPr>
        <p:spPr>
          <a:xfrm>
            <a:off x="4551045" y="2729876"/>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4712970" y="272511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4855845" y="264891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1" name="BPS Value 4"/>
          <p:cNvSpPr txBox="1"/>
          <p:nvPr/>
        </p:nvSpPr>
        <p:spPr>
          <a:xfrm>
            <a:off x="6305550" y="271082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FMI Legend Chip"/>
          <p:cNvSpPr/>
          <p:nvPr/>
        </p:nvSpPr>
        <p:spPr>
          <a:xfrm>
            <a:off x="4551045" y="349426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4712970" y="348950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4855845" y="341330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5" name="BPS Value 5"/>
          <p:cNvSpPr txBox="1"/>
          <p:nvPr/>
        </p:nvSpPr>
        <p:spPr>
          <a:xfrm>
            <a:off x="6305550" y="347521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FMI Legend Chip"/>
          <p:cNvSpPr/>
          <p:nvPr/>
        </p:nvSpPr>
        <p:spPr>
          <a:xfrm>
            <a:off x="4551045" y="457420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rot="10800000">
            <a:off x="4712970" y="456943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4855845" y="449323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9" name="BPS Value 6"/>
          <p:cNvSpPr txBox="1"/>
          <p:nvPr/>
        </p:nvSpPr>
        <p:spPr>
          <a:xfrm>
            <a:off x="6305550" y="455515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0" name="Rounded Rectangle 39"/>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2" name="Rectangle 41"/>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4" name="Rounded Rectangle 43"/>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2,428</a:t>
            </a:r>
          </a:p>
        </p:txBody>
      </p:sp>
      <p:sp>
        <p:nvSpPr>
          <p:cNvPr id="45" name="Rounded Rectangle 44"/>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5,439</a:t>
            </a:r>
          </a:p>
        </p:txBody>
      </p:sp>
      <p:sp>
        <p:nvSpPr>
          <p:cNvPr id="46" name="Rounded Rectangle 45"/>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8.4%</a:t>
            </a:r>
          </a:p>
        </p:txBody>
      </p:sp>
      <p:sp>
        <p:nvSpPr>
          <p:cNvPr id="47" name="TextBox 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8" name="Picture 47" descr="lock.png"/>
          <p:cNvPicPr>
            <a:picLocks noChangeAspect="1"/>
          </p:cNvPicPr>
          <p:nvPr/>
        </p:nvPicPr>
        <p:blipFill>
          <a:blip r:embed="rId5"/>
          <a:stretch>
            <a:fillRect/>
          </a:stretch>
        </p:blipFill>
        <p:spPr>
          <a:xfrm>
            <a:off x="2333863" y="3121818"/>
            <a:ext cx="343793" cy="500062"/>
          </a:xfrm>
          <a:prstGeom prst="rect">
            <a:avLst/>
          </a:prstGeom>
        </p:spPr>
      </p:pic>
      <p:sp>
        <p:nvSpPr>
          <p:cNvPr id="49" name="TextBox 48"/>
          <p:cNvSpPr txBox="1"/>
          <p:nvPr/>
        </p:nvSpPr>
        <p:spPr>
          <a:xfrm>
            <a:off x="7239000" y="1400175"/>
            <a:ext cx="4207247" cy="194310"/>
          </a:xfrm>
          <a:prstGeom prst="rect">
            <a:avLst/>
          </a:prstGeom>
          <a:noFill/>
        </p:spPr>
        <p:txBody>
          <a:bodyPr wrap="none" lIns="0" rIns="0" tIns="0" bIns="0">
            <a:spAutoFit/>
          </a:bodyPr>
          <a:lstStyle/>
          <a:p>
            <a:r>
              <a:rPr sz="1150" b="0">
                <a:solidFill>
                  <a:srgbClr val="2E2E2E"/>
                </a:solidFill>
                <a:latin typeface="Calibri"/>
              </a:rPr>
              <a:t>North America allergy immunotherapy market is projected to register</a:t>
            </a:r>
          </a:p>
        </p:txBody>
      </p:sp>
      <p:pic>
        <p:nvPicPr>
          <p:cNvPr id="50" name="Picture 49" descr="lock.png"/>
          <p:cNvPicPr>
            <a:picLocks noChangeAspect="1"/>
          </p:cNvPicPr>
          <p:nvPr/>
        </p:nvPicPr>
        <p:blipFill>
          <a:blip r:embed="rId5"/>
          <a:stretch>
            <a:fillRect/>
          </a:stretch>
        </p:blipFill>
        <p:spPr>
          <a:xfrm>
            <a:off x="11395401" y="1389951"/>
            <a:ext cx="134549" cy="195707"/>
          </a:xfrm>
          <a:prstGeom prst="rect">
            <a:avLst/>
          </a:prstGeom>
        </p:spPr>
      </p:pic>
      <p:sp>
        <p:nvSpPr>
          <p:cNvPr id="51" name="TextBox 50"/>
          <p:cNvSpPr txBox="1"/>
          <p:nvPr/>
        </p:nvSpPr>
        <p:spPr>
          <a:xfrm>
            <a:off x="11570510"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52" name="TextBox 51"/>
          <p:cNvSpPr txBox="1"/>
          <p:nvPr/>
        </p:nvSpPr>
        <p:spPr>
          <a:xfrm>
            <a:off x="7239000" y="1575435"/>
            <a:ext cx="4586349" cy="194310"/>
          </a:xfrm>
          <a:prstGeom prst="rect">
            <a:avLst/>
          </a:prstGeom>
          <a:noFill/>
        </p:spPr>
        <p:txBody>
          <a:bodyPr wrap="none" lIns="0" rIns="0" tIns="0" bIns="0">
            <a:spAutoFit/>
          </a:bodyPr>
          <a:lstStyle/>
          <a:p>
            <a:r>
              <a:rPr sz="1150" b="0">
                <a:solidFill>
                  <a:srgbClr val="2E2E2E"/>
                </a:solidFill>
                <a:latin typeface="Calibri"/>
              </a:rPr>
              <a:t>higher value than Europe in 2036. Among allergy immunotherapy by region,</a:t>
            </a:r>
          </a:p>
        </p:txBody>
      </p:sp>
      <p:sp>
        <p:nvSpPr>
          <p:cNvPr id="53" name="TextBox 52"/>
          <p:cNvSpPr txBox="1"/>
          <p:nvPr/>
        </p:nvSpPr>
        <p:spPr>
          <a:xfrm>
            <a:off x="7239000" y="1750695"/>
            <a:ext cx="3814434" cy="194310"/>
          </a:xfrm>
          <a:prstGeom prst="rect">
            <a:avLst/>
          </a:prstGeom>
          <a:noFill/>
        </p:spPr>
        <p:txBody>
          <a:bodyPr wrap="none" lIns="0" rIns="0" tIns="0" bIns="0">
            <a:spAutoFit/>
          </a:bodyPr>
          <a:lstStyle/>
          <a:p>
            <a:r>
              <a:rPr sz="1150" b="0">
                <a:solidFill>
                  <a:srgbClr val="2E2E2E"/>
                </a:solidFill>
                <a:latin typeface="Calibri"/>
              </a:rPr>
              <a:t>South Asia &amp; Pacific is expected to witness the highest CAGR of</a:t>
            </a:r>
          </a:p>
        </p:txBody>
      </p:sp>
      <p:pic>
        <p:nvPicPr>
          <p:cNvPr id="54" name="Picture 53" descr="lock.png"/>
          <p:cNvPicPr>
            <a:picLocks noChangeAspect="1"/>
          </p:cNvPicPr>
          <p:nvPr/>
        </p:nvPicPr>
        <p:blipFill>
          <a:blip r:embed="rId5"/>
          <a:stretch>
            <a:fillRect/>
          </a:stretch>
        </p:blipFill>
        <p:spPr>
          <a:xfrm>
            <a:off x="11002588" y="1740471"/>
            <a:ext cx="134549" cy="195707"/>
          </a:xfrm>
          <a:prstGeom prst="rect">
            <a:avLst/>
          </a:prstGeom>
        </p:spPr>
      </p:pic>
      <p:sp>
        <p:nvSpPr>
          <p:cNvPr id="55" name="TextBox 54"/>
          <p:cNvSpPr txBox="1"/>
          <p:nvPr/>
        </p:nvSpPr>
        <p:spPr>
          <a:xfrm>
            <a:off x="11177697" y="175069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56" name="TextBox 55"/>
          <p:cNvSpPr txBox="1"/>
          <p:nvPr/>
        </p:nvSpPr>
        <p:spPr>
          <a:xfrm>
            <a:off x="7239000" y="192595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57" name="TextBox 56"/>
          <p:cNvSpPr txBox="1"/>
          <p:nvPr/>
        </p:nvSpPr>
        <p:spPr>
          <a:xfrm>
            <a:off x="7239000" y="215379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58" name="TextBox 57"/>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59" name="Picture 58" descr="lock.png"/>
          <p:cNvPicPr>
            <a:picLocks noChangeAspect="1"/>
          </p:cNvPicPr>
          <p:nvPr/>
        </p:nvPicPr>
        <p:blipFill>
          <a:blip r:embed="rId5"/>
          <a:stretch>
            <a:fillRect/>
          </a:stretch>
        </p:blipFill>
        <p:spPr>
          <a:xfrm>
            <a:off x="8106708" y="2318829"/>
            <a:ext cx="134549" cy="195707"/>
          </a:xfrm>
          <a:prstGeom prst="rect">
            <a:avLst/>
          </a:prstGeom>
        </p:spPr>
      </p:pic>
      <p:sp>
        <p:nvSpPr>
          <p:cNvPr id="60" name="TextBox 59"/>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1" name="Picture 60" descr="lock.png"/>
          <p:cNvPicPr>
            <a:picLocks noChangeAspect="1"/>
          </p:cNvPicPr>
          <p:nvPr/>
        </p:nvPicPr>
        <p:blipFill>
          <a:blip r:embed="rId5"/>
          <a:stretch>
            <a:fillRect/>
          </a:stretch>
        </p:blipFill>
        <p:spPr>
          <a:xfrm>
            <a:off x="9676961" y="2318829"/>
            <a:ext cx="134549" cy="195707"/>
          </a:xfrm>
          <a:prstGeom prst="rect">
            <a:avLst/>
          </a:prstGeom>
        </p:spPr>
      </p:pic>
      <p:sp>
        <p:nvSpPr>
          <p:cNvPr id="62" name="TextBox 61"/>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3" name="lockshield_13"/>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Share Analysis, By Region Volume (Patient Treatment Courses)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019425"/>
          </a:xfrm>
          <a:prstGeom prst="roundRect">
            <a:avLst>
              <a:gd name="adj" fmla="val 25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(Patient Treatment Courses)</a:t>
            </a:r>
          </a:p>
        </p:txBody>
      </p:sp>
      <p:graphicFrame>
        <p:nvGraphicFramePr>
          <p:cNvPr id="13" name="Table 12"/>
          <p:cNvGraphicFramePr>
            <a:graphicFrameLocks noGrp="1"/>
          </p:cNvGraphicFramePr>
          <p:nvPr/>
        </p:nvGraphicFramePr>
        <p:xfrm>
          <a:off x="152400" y="1238250"/>
          <a:ext cx="11892680" cy="2552698"/>
        </p:xfrm>
        <a:graphic>
          <a:graphicData uri="http://schemas.openxmlformats.org/drawingml/2006/table">
            <a:tbl>
              <a:tblPr>
                <a:tableStyleId>{5C22544A-7EE6-4342-B048-85BDC9FD1C3A}</a:tableStyleId>
              </a:tblPr>
              <a:tblGrid>
                <a:gridCol w="1388836"/>
                <a:gridCol w="632064"/>
                <a:gridCol w="632064"/>
                <a:gridCol w="632064"/>
                <a:gridCol w="632064"/>
                <a:gridCol w="632064"/>
                <a:gridCol w="632064"/>
                <a:gridCol w="632064"/>
                <a:gridCol w="632064"/>
                <a:gridCol w="632064"/>
                <a:gridCol w="632064"/>
                <a:gridCol w="632064"/>
                <a:gridCol w="632064"/>
                <a:gridCol w="632064"/>
                <a:gridCol w="632064"/>
                <a:gridCol w="632064"/>
                <a:gridCol w="632064"/>
                <a:gridCol w="390820"/>
              </a:tblGrid>
              <a:tr h="438912">
                <a:tc>
                  <a:txBody>
                    <a:bodyPr wrap="none"/>
                    <a:lstStyle/>
                    <a:p>
                      <a:pPr algn="l"/>
                      <a:r>
                        <a:rPr sz="1100" b="1">
                          <a:solidFill>
                            <a:srgbClr val="0B2E4A"/>
                          </a:solidFill>
                          <a:latin typeface="Calibri"/>
                        </a:rPr>
                        <a:t>Region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2021A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2022A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2023A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2024A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2025A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2027F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2028F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2029F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2030F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2031F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2032F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2033F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2034F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2035F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F-CAGR</a:t>
                      </a:r>
                      <a:endParaRPr sz="1100"/>
                    </a:p>
                  </a:txBody>
                  <a:tcPr marL="19050" marR="14288" marT="19050" marB="19050" anchor="ctr">
                    <a:solidFill>
                      <a:srgbClr val="E0E8EF"/>
                    </a:solidFill>
                  </a:tcPr>
                </a:tc>
              </a:tr>
              <a:tr h="246888">
                <a:tc>
                  <a:txBody>
                    <a:bodyPr wrap="none"/>
                    <a:lstStyle/>
                    <a:p>
                      <a:pPr algn="l"/>
                      <a:r>
                        <a:rPr sz="1100" b="1">
                          <a:solidFill>
                            <a:srgbClr val="2E2E2E"/>
                          </a:solidFill>
                          <a:latin typeface="Calibri"/>
                        </a:rPr>
                        <a:t>North America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888">
                <a:tc>
                  <a:txBody>
                    <a:bodyPr wrap="none"/>
                    <a:lstStyle/>
                    <a:p>
                      <a:pPr algn="l"/>
                      <a:r>
                        <a:rPr sz="1100" b="1">
                          <a:solidFill>
                            <a:srgbClr val="2E2E2E"/>
                          </a:solidFill>
                          <a:latin typeface="Calibri"/>
                        </a:rPr>
                        <a:t>Latin America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888">
                <a:tc>
                  <a:txBody>
                    <a:bodyPr wrap="none"/>
                    <a:lstStyle/>
                    <a:p>
                      <a:pPr algn="l"/>
                      <a:r>
                        <a:rPr sz="1100" b="1">
                          <a:solidFill>
                            <a:srgbClr val="2E2E2E"/>
                          </a:solidFill>
                          <a:latin typeface="Calibri"/>
                        </a:rPr>
                        <a:t>Europe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888">
                <a:tc>
                  <a:txBody>
                    <a:bodyPr wrap="none"/>
                    <a:lstStyle/>
                    <a:p>
                      <a:pPr algn="l"/>
                      <a:r>
                        <a:rPr sz="1100" b="1">
                          <a:solidFill>
                            <a:srgbClr val="2E2E2E"/>
                          </a:solidFill>
                          <a:latin typeface="Calibri"/>
                        </a:rPr>
                        <a:t>East Asia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439673">
                <a:tc>
                  <a:txBody>
                    <a:bodyPr wrap="none"/>
                    <a:lstStyle/>
                    <a:p>
                      <a:pPr algn="l"/>
                      <a:r>
                        <a:rPr sz="1100" b="1">
                          <a:solidFill>
                            <a:srgbClr val="2E2E2E"/>
                          </a:solidFill>
                          <a:latin typeface="Calibri"/>
                        </a:rPr>
                        <a:t>South Asia &amp;</a:t>
                      </a:r>
                      <a:endParaRPr sz="1100"/>
                    </a:p>
                    <a:p>
                      <a:pPr algn="l"/>
                      <a:r>
                        <a:rPr sz="1100" b="1">
                          <a:solidFill>
                            <a:srgbClr val="2E2E2E"/>
                          </a:solidFill>
                          <a:latin typeface="Calibri"/>
                        </a:rPr>
                        <a:t>Pacific</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673">
                <a:tc>
                  <a:txBody>
                    <a:bodyPr wrap="none"/>
                    <a:lstStyle/>
                    <a:p>
                      <a:pPr algn="l"/>
                      <a:r>
                        <a:rPr sz="1100" b="1">
                          <a:solidFill>
                            <a:srgbClr val="2E2E2E"/>
                          </a:solidFill>
                          <a:latin typeface="Calibri"/>
                        </a:rPr>
                        <a:t>Middle East &amp;</a:t>
                      </a:r>
                      <a:endParaRPr sz="1100"/>
                    </a:p>
                    <a:p>
                      <a:pPr algn="l"/>
                      <a:r>
                        <a:rPr sz="1100" b="1">
                          <a:solidFill>
                            <a:srgbClr val="2E2E2E"/>
                          </a:solidFill>
                          <a:latin typeface="Calibri"/>
                        </a:rPr>
                        <a:t>Africa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888">
                <a:tc>
                  <a:txBody>
                    <a:bodyPr wrap="none"/>
                    <a:lstStyle/>
                    <a:p>
                      <a:pPr algn="l"/>
                      <a:r>
                        <a:rPr sz="1100" b="1">
                          <a:solidFill>
                            <a:srgbClr val="2E2E2E"/>
                          </a:solidFill>
                          <a:latin typeface="Calibri"/>
                        </a:rPr>
                        <a:t>Total</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r>
            </a:tbl>
          </a:graphicData>
        </a:graphic>
      </p:graphicFrame>
      <p:sp>
        <p:nvSpPr>
          <p:cNvPr id="14" name="TextBox 13"/>
          <p:cNvSpPr txBox="1"/>
          <p:nvPr/>
        </p:nvSpPr>
        <p:spPr>
          <a:xfrm>
            <a:off x="219075" y="3800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133850"/>
            <a:ext cx="11906250" cy="2495550"/>
          </a:xfrm>
          <a:prstGeom prst="roundRect">
            <a:avLst>
              <a:gd name="adj" fmla="val 305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2195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Share Read-out, By Region</a:t>
            </a:r>
          </a:p>
        </p:txBody>
      </p:sp>
      <p:sp>
        <p:nvSpPr>
          <p:cNvPr id="17" name="Rectangle 16"/>
          <p:cNvSpPr/>
          <p:nvPr/>
        </p:nvSpPr>
        <p:spPr>
          <a:xfrm>
            <a:off x="276225" y="4457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543425"/>
            <a:ext cx="11639550" cy="20097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529244" y="2467355"/>
            <a:ext cx="366712" cy="533400"/>
          </a:xfrm>
          <a:prstGeom prst="rect">
            <a:avLst/>
          </a:prstGeom>
        </p:spPr>
      </p:pic>
      <p:sp>
        <p:nvSpPr>
          <p:cNvPr id="21" name="TextBox 20"/>
          <p:cNvSpPr txBox="1"/>
          <p:nvPr/>
        </p:nvSpPr>
        <p:spPr>
          <a:xfrm>
            <a:off x="276225" y="4552950"/>
            <a:ext cx="4507048" cy="194310"/>
          </a:xfrm>
          <a:prstGeom prst="rect">
            <a:avLst/>
          </a:prstGeom>
          <a:noFill/>
        </p:spPr>
        <p:txBody>
          <a:bodyPr wrap="none" lIns="0" rIns="0" tIns="0" bIns="0">
            <a:spAutoFit/>
          </a:bodyPr>
          <a:lstStyle/>
          <a:p>
            <a:r>
              <a:rPr sz="1150" b="0">
                <a:solidFill>
                  <a:srgbClr val="2E2E2E"/>
                </a:solidFill>
                <a:latin typeface="Calibri"/>
              </a:rPr>
              <a:t>South Asia &amp; Pacific allergy immunotherapy market is projected to register</a:t>
            </a:r>
          </a:p>
        </p:txBody>
      </p:sp>
      <p:pic>
        <p:nvPicPr>
          <p:cNvPr id="22" name="Picture 21" descr="lock.png"/>
          <p:cNvPicPr>
            <a:picLocks noChangeAspect="1"/>
          </p:cNvPicPr>
          <p:nvPr/>
        </p:nvPicPr>
        <p:blipFill>
          <a:blip r:embed="rId4"/>
          <a:stretch>
            <a:fillRect/>
          </a:stretch>
        </p:blipFill>
        <p:spPr>
          <a:xfrm>
            <a:off x="4732427" y="4542726"/>
            <a:ext cx="134549" cy="195707"/>
          </a:xfrm>
          <a:prstGeom prst="rect">
            <a:avLst/>
          </a:prstGeom>
        </p:spPr>
      </p:pic>
      <p:sp>
        <p:nvSpPr>
          <p:cNvPr id="23" name="TextBox 22"/>
          <p:cNvSpPr txBox="1"/>
          <p:nvPr/>
        </p:nvSpPr>
        <p:spPr>
          <a:xfrm>
            <a:off x="4907537" y="4552950"/>
            <a:ext cx="6885781" cy="194310"/>
          </a:xfrm>
          <a:prstGeom prst="rect">
            <a:avLst/>
          </a:prstGeom>
          <a:noFill/>
        </p:spPr>
        <p:txBody>
          <a:bodyPr wrap="none" lIns="0" rIns="0" tIns="0" bIns="0">
            <a:spAutoFit/>
          </a:bodyPr>
          <a:lstStyle/>
          <a:p>
            <a:r>
              <a:rPr sz="1150" b="0">
                <a:solidFill>
                  <a:srgbClr val="2E2E2E"/>
                </a:solidFill>
                <a:latin typeface="Calibri"/>
              </a:rPr>
              <a:t>X higher volume than Europe in 2036. Among allergy immunotherapy by region, South Asia &amp; Pacific is expected to</a:t>
            </a:r>
          </a:p>
        </p:txBody>
      </p:sp>
      <p:sp>
        <p:nvSpPr>
          <p:cNvPr id="24" name="TextBox 23"/>
          <p:cNvSpPr txBox="1"/>
          <p:nvPr/>
        </p:nvSpPr>
        <p:spPr>
          <a:xfrm>
            <a:off x="276225" y="4728210"/>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5" name="Picture 24" descr="lock.png"/>
          <p:cNvPicPr>
            <a:picLocks noChangeAspect="1"/>
          </p:cNvPicPr>
          <p:nvPr/>
        </p:nvPicPr>
        <p:blipFill>
          <a:blip r:embed="rId4"/>
          <a:stretch>
            <a:fillRect/>
          </a:stretch>
        </p:blipFill>
        <p:spPr>
          <a:xfrm>
            <a:off x="1973149" y="4717986"/>
            <a:ext cx="134549" cy="195707"/>
          </a:xfrm>
          <a:prstGeom prst="rect">
            <a:avLst/>
          </a:prstGeom>
        </p:spPr>
      </p:pic>
      <p:sp>
        <p:nvSpPr>
          <p:cNvPr id="26" name="TextBox 25"/>
          <p:cNvSpPr txBox="1"/>
          <p:nvPr/>
        </p:nvSpPr>
        <p:spPr>
          <a:xfrm>
            <a:off x="2148258" y="47282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956047"/>
            <a:ext cx="6046564"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 dominate the market, gaining</a:t>
            </a:r>
          </a:p>
        </p:txBody>
      </p:sp>
      <p:pic>
        <p:nvPicPr>
          <p:cNvPr id="28" name="Picture 27" descr="lock.png"/>
          <p:cNvPicPr>
            <a:picLocks noChangeAspect="1"/>
          </p:cNvPicPr>
          <p:nvPr/>
        </p:nvPicPr>
        <p:blipFill>
          <a:blip r:embed="rId4"/>
          <a:stretch>
            <a:fillRect/>
          </a:stretch>
        </p:blipFill>
        <p:spPr>
          <a:xfrm>
            <a:off x="6271943" y="4945824"/>
            <a:ext cx="134549" cy="195707"/>
          </a:xfrm>
          <a:prstGeom prst="rect">
            <a:avLst/>
          </a:prstGeom>
        </p:spPr>
      </p:pic>
      <p:sp>
        <p:nvSpPr>
          <p:cNvPr id="29" name="TextBox 28"/>
          <p:cNvSpPr txBox="1"/>
          <p:nvPr/>
        </p:nvSpPr>
        <p:spPr>
          <a:xfrm>
            <a:off x="6447052" y="49560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7842195" y="4945824"/>
            <a:ext cx="134549" cy="195707"/>
          </a:xfrm>
          <a:prstGeom prst="rect">
            <a:avLst/>
          </a:prstGeom>
        </p:spPr>
      </p:pic>
      <p:sp>
        <p:nvSpPr>
          <p:cNvPr id="31" name="TextBox 30"/>
          <p:cNvSpPr txBox="1"/>
          <p:nvPr/>
        </p:nvSpPr>
        <p:spPr>
          <a:xfrm>
            <a:off x="8017304" y="4956047"/>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32" name="Picture 31" descr="lock.png"/>
          <p:cNvPicPr>
            <a:picLocks noChangeAspect="1"/>
          </p:cNvPicPr>
          <p:nvPr/>
        </p:nvPicPr>
        <p:blipFill>
          <a:blip r:embed="rId4"/>
          <a:stretch>
            <a:fillRect/>
          </a:stretch>
        </p:blipFill>
        <p:spPr>
          <a:xfrm>
            <a:off x="10953104" y="4945824"/>
            <a:ext cx="134549" cy="195707"/>
          </a:xfrm>
          <a:prstGeom prst="rect">
            <a:avLst/>
          </a:prstGeom>
        </p:spPr>
      </p:pic>
      <p:sp>
        <p:nvSpPr>
          <p:cNvPr id="33" name="TextBox 32"/>
          <p:cNvSpPr txBox="1"/>
          <p:nvPr/>
        </p:nvSpPr>
        <p:spPr>
          <a:xfrm>
            <a:off x="11128213" y="4956047"/>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34" name="TextBox 33"/>
          <p:cNvSpPr txBox="1"/>
          <p:nvPr/>
        </p:nvSpPr>
        <p:spPr>
          <a:xfrm>
            <a:off x="276225" y="5131307"/>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35" name="Picture 34" descr="lock.png"/>
          <p:cNvPicPr>
            <a:picLocks noChangeAspect="1"/>
          </p:cNvPicPr>
          <p:nvPr/>
        </p:nvPicPr>
        <p:blipFill>
          <a:blip r:embed="rId4"/>
          <a:stretch>
            <a:fillRect/>
          </a:stretch>
        </p:blipFill>
        <p:spPr>
          <a:xfrm>
            <a:off x="2608427" y="5121084"/>
            <a:ext cx="134549" cy="195707"/>
          </a:xfrm>
          <a:prstGeom prst="rect">
            <a:avLst/>
          </a:prstGeom>
        </p:spPr>
      </p:pic>
      <p:sp>
        <p:nvSpPr>
          <p:cNvPr id="36" name="TextBox 35"/>
          <p:cNvSpPr txBox="1"/>
          <p:nvPr/>
        </p:nvSpPr>
        <p:spPr>
          <a:xfrm>
            <a:off x="2783536" y="51313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Share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13" name="Table 12"/>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475375"/>
                <a:gridCol w="612460"/>
                <a:gridCol w="612460"/>
                <a:gridCol w="612460"/>
                <a:gridCol w="612460"/>
                <a:gridCol w="612460"/>
                <a:gridCol w="612460"/>
                <a:gridCol w="612460"/>
                <a:gridCol w="612460"/>
                <a:gridCol w="612460"/>
                <a:gridCol w="612460"/>
                <a:gridCol w="612460"/>
                <a:gridCol w="612460"/>
                <a:gridCol w="612460"/>
                <a:gridCol w="612460"/>
                <a:gridCol w="612460"/>
                <a:gridCol w="612460"/>
                <a:gridCol w="61246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2,428</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5,439</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8.4%</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Share Read-out, By Region</a:t>
            </a:r>
          </a:p>
        </p:txBody>
      </p:sp>
      <p:sp>
        <p:nvSpPr>
          <p:cNvPr id="17" name="Rectangle 16"/>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46995" y="2080450"/>
            <a:ext cx="366712" cy="533400"/>
          </a:xfrm>
          <a:prstGeom prst="rect">
            <a:avLst/>
          </a:prstGeom>
        </p:spPr>
      </p:pic>
      <p:sp>
        <p:nvSpPr>
          <p:cNvPr id="21" name="TextBox 20"/>
          <p:cNvSpPr txBox="1"/>
          <p:nvPr/>
        </p:nvSpPr>
        <p:spPr>
          <a:xfrm>
            <a:off x="276225" y="3971925"/>
            <a:ext cx="4207247" cy="194310"/>
          </a:xfrm>
          <a:prstGeom prst="rect">
            <a:avLst/>
          </a:prstGeom>
          <a:noFill/>
        </p:spPr>
        <p:txBody>
          <a:bodyPr wrap="none" lIns="0" rIns="0" tIns="0" bIns="0">
            <a:spAutoFit/>
          </a:bodyPr>
          <a:lstStyle/>
          <a:p>
            <a:r>
              <a:rPr sz="1150" b="0">
                <a:solidFill>
                  <a:srgbClr val="2E2E2E"/>
                </a:solidFill>
                <a:latin typeface="Calibri"/>
              </a:rPr>
              <a:t>North America allergy immunotherapy market is projected to register</a:t>
            </a:r>
          </a:p>
        </p:txBody>
      </p:sp>
      <p:pic>
        <p:nvPicPr>
          <p:cNvPr id="22" name="Picture 21" descr="lock.png"/>
          <p:cNvPicPr>
            <a:picLocks noChangeAspect="1"/>
          </p:cNvPicPr>
          <p:nvPr/>
        </p:nvPicPr>
        <p:blipFill>
          <a:blip r:embed="rId4"/>
          <a:stretch>
            <a:fillRect/>
          </a:stretch>
        </p:blipFill>
        <p:spPr>
          <a:xfrm>
            <a:off x="4432626" y="3961701"/>
            <a:ext cx="134549" cy="195707"/>
          </a:xfrm>
          <a:prstGeom prst="rect">
            <a:avLst/>
          </a:prstGeom>
        </p:spPr>
      </p:pic>
      <p:sp>
        <p:nvSpPr>
          <p:cNvPr id="23" name="TextBox 22"/>
          <p:cNvSpPr txBox="1"/>
          <p:nvPr/>
        </p:nvSpPr>
        <p:spPr>
          <a:xfrm>
            <a:off x="4607735" y="3971925"/>
            <a:ext cx="7245771" cy="194310"/>
          </a:xfrm>
          <a:prstGeom prst="rect">
            <a:avLst/>
          </a:prstGeom>
          <a:noFill/>
        </p:spPr>
        <p:txBody>
          <a:bodyPr wrap="none" lIns="0" rIns="0" tIns="0" bIns="0">
            <a:spAutoFit/>
          </a:bodyPr>
          <a:lstStyle/>
          <a:p>
            <a:r>
              <a:rPr sz="1150" b="0">
                <a:solidFill>
                  <a:srgbClr val="2E2E2E"/>
                </a:solidFill>
                <a:latin typeface="Calibri"/>
              </a:rPr>
              <a:t>X higher value than Europe in 2036. Among allergy immunotherapy by region, South Asia &amp; Pacific is expected to witness</a:t>
            </a:r>
          </a:p>
        </p:txBody>
      </p:sp>
      <p:sp>
        <p:nvSpPr>
          <p:cNvPr id="24" name="TextBox 23"/>
          <p:cNvSpPr txBox="1"/>
          <p:nvPr/>
        </p:nvSpPr>
        <p:spPr>
          <a:xfrm>
            <a:off x="276225" y="414718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25" name="Picture 24" descr="lock.png"/>
          <p:cNvPicPr>
            <a:picLocks noChangeAspect="1"/>
          </p:cNvPicPr>
          <p:nvPr/>
        </p:nvPicPr>
        <p:blipFill>
          <a:blip r:embed="rId4"/>
          <a:stretch>
            <a:fillRect/>
          </a:stretch>
        </p:blipFill>
        <p:spPr>
          <a:xfrm>
            <a:off x="1489358" y="4136961"/>
            <a:ext cx="134549" cy="195707"/>
          </a:xfrm>
          <a:prstGeom prst="rect">
            <a:avLst/>
          </a:prstGeom>
        </p:spPr>
      </p:pic>
      <p:sp>
        <p:nvSpPr>
          <p:cNvPr id="26" name="TextBox 25"/>
          <p:cNvSpPr txBox="1"/>
          <p:nvPr/>
        </p:nvSpPr>
        <p:spPr>
          <a:xfrm>
            <a:off x="1664467"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37502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8" name="Picture 27" descr="lock.png"/>
          <p:cNvPicPr>
            <a:picLocks noChangeAspect="1"/>
          </p:cNvPicPr>
          <p:nvPr/>
        </p:nvPicPr>
        <p:blipFill>
          <a:blip r:embed="rId4"/>
          <a:stretch>
            <a:fillRect/>
          </a:stretch>
        </p:blipFill>
        <p:spPr>
          <a:xfrm>
            <a:off x="5767043" y="4364799"/>
            <a:ext cx="134549" cy="195707"/>
          </a:xfrm>
          <a:prstGeom prst="rect">
            <a:avLst/>
          </a:prstGeom>
        </p:spPr>
      </p:pic>
      <p:sp>
        <p:nvSpPr>
          <p:cNvPr id="29" name="TextBox 28"/>
          <p:cNvSpPr txBox="1"/>
          <p:nvPr/>
        </p:nvSpPr>
        <p:spPr>
          <a:xfrm>
            <a:off x="594215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7337296" y="4364799"/>
            <a:ext cx="134549" cy="195707"/>
          </a:xfrm>
          <a:prstGeom prst="rect">
            <a:avLst/>
          </a:prstGeom>
        </p:spPr>
      </p:pic>
      <p:sp>
        <p:nvSpPr>
          <p:cNvPr id="31" name="TextBox 30"/>
          <p:cNvSpPr txBox="1"/>
          <p:nvPr/>
        </p:nvSpPr>
        <p:spPr>
          <a:xfrm>
            <a:off x="7512405"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Trends,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(Patient Treatment Courses)</a:t>
            </a:r>
          </a:p>
        </p:txBody>
      </p:sp>
      <p:graphicFrame>
        <p:nvGraphicFramePr>
          <p:cNvPr id="13" name="Chart 12"/>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MI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6"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8189"/>
                </a:solidFill>
                <a:latin typeface="Calibri"/>
              </a:rPr>
              <a:t>■  </a:t>
            </a:r>
            <a:r>
              <a:rPr sz="750">
                <a:solidFill>
                  <a:srgbClr val="2E2E2E"/>
                </a:solidFill>
                <a:latin typeface="Calibri"/>
              </a:rPr>
              <a:t>   South Asia &amp; Pacific</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40315E"/>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9" name="Chart 18"/>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20" name="Rounded Rectangle 19"/>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MI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22"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40315E"/>
                </a:solidFill>
                <a:latin typeface="Calibri"/>
              </a:rPr>
              <a:t>■  </a:t>
            </a:r>
            <a:r>
              <a:rPr sz="750">
                <a:solidFill>
                  <a:srgbClr val="2E2E2E"/>
                </a:solidFill>
                <a:latin typeface="Calibri"/>
              </a:rPr>
              <a:t>   South Asia &amp; Pacific</a:t>
            </a:r>
          </a:p>
          <a:p>
            <a:pPr>
              <a:spcBef>
                <a:spcPts val="500"/>
              </a:spcBef>
            </a:pPr>
            <a:r>
              <a:rPr sz="900">
                <a:solidFill>
                  <a:srgbClr val="008189"/>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4" name="TextBox 23"/>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5" name="TextBox 24"/>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6" name="lockshield_13"/>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9"/>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Top 10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13" name="Rectangle 12"/>
          <p:cNvSpPr/>
          <p:nvPr/>
        </p:nvSpPr>
        <p:spPr>
          <a:xfrm>
            <a:off x="238125" y="1266825"/>
            <a:ext cx="3246540"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4" name="Rectangle 13"/>
          <p:cNvSpPr/>
          <p:nvPr/>
        </p:nvSpPr>
        <p:spPr>
          <a:xfrm>
            <a:off x="3484665" y="1266825"/>
            <a:ext cx="3441008" cy="2887119"/>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5" name="Rectangle 14"/>
          <p:cNvSpPr/>
          <p:nvPr/>
        </p:nvSpPr>
        <p:spPr>
          <a:xfrm>
            <a:off x="3484665" y="4153944"/>
            <a:ext cx="3441008" cy="2418306"/>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6" name="Rectangle 15"/>
          <p:cNvSpPr/>
          <p:nvPr/>
        </p:nvSpPr>
        <p:spPr>
          <a:xfrm>
            <a:off x="6925673" y="1266825"/>
            <a:ext cx="2853834" cy="2242475"/>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7" name="Rectangle 16"/>
          <p:cNvSpPr/>
          <p:nvPr/>
        </p:nvSpPr>
        <p:spPr>
          <a:xfrm>
            <a:off x="9779507" y="1266825"/>
            <a:ext cx="2174368" cy="2242475"/>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8" name="Rectangle 17"/>
          <p:cNvSpPr/>
          <p:nvPr/>
        </p:nvSpPr>
        <p:spPr>
          <a:xfrm>
            <a:off x="6925673" y="3509300"/>
            <a:ext cx="2443083" cy="1641054"/>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19" name="Rectangle 18"/>
          <p:cNvSpPr/>
          <p:nvPr/>
        </p:nvSpPr>
        <p:spPr>
          <a:xfrm>
            <a:off x="6925673" y="5150353"/>
            <a:ext cx="2443083" cy="1421897"/>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0" name="Rectangle 19"/>
          <p:cNvSpPr/>
          <p:nvPr/>
        </p:nvSpPr>
        <p:spPr>
          <a:xfrm>
            <a:off x="9368756" y="3509300"/>
            <a:ext cx="1303923" cy="2110515"/>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1" name="Rectangle 20"/>
          <p:cNvSpPr/>
          <p:nvPr/>
        </p:nvSpPr>
        <p:spPr>
          <a:xfrm>
            <a:off x="10672679" y="3509300"/>
            <a:ext cx="1281196" cy="2110515"/>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2" name="Rectangle 21"/>
          <p:cNvSpPr/>
          <p:nvPr/>
        </p:nvSpPr>
        <p:spPr>
          <a:xfrm>
            <a:off x="9368756" y="5619815"/>
            <a:ext cx="2585119" cy="952435"/>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Turkey</a:t>
            </a:r>
          </a:p>
          <a:p>
            <a:pPr algn="ctr"/>
            <a:r>
              <a:rPr sz="1100" b="0">
                <a:solidFill>
                  <a:srgbClr val="FFFFFF"/>
                </a:solidFill>
                <a:latin typeface="Calibri"/>
              </a:rPr>
              <a:t>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1706956" y="3919537"/>
            <a:ext cx="308877" cy="449275"/>
          </a:xfrm>
          <a:prstGeom prst="rect">
            <a:avLst/>
          </a:prstGeom>
        </p:spPr>
      </p:pic>
      <p:pic>
        <p:nvPicPr>
          <p:cNvPr id="25" name="Picture 24" descr="lock.png"/>
          <p:cNvPicPr>
            <a:picLocks noChangeAspect="1"/>
          </p:cNvPicPr>
          <p:nvPr/>
        </p:nvPicPr>
        <p:blipFill>
          <a:blip r:embed="rId4"/>
          <a:stretch>
            <a:fillRect/>
          </a:stretch>
        </p:blipFill>
        <p:spPr>
          <a:xfrm>
            <a:off x="5050730" y="2710384"/>
            <a:ext cx="308877" cy="449275"/>
          </a:xfrm>
          <a:prstGeom prst="rect">
            <a:avLst/>
          </a:prstGeom>
        </p:spPr>
      </p:pic>
      <p:pic>
        <p:nvPicPr>
          <p:cNvPr id="26" name="Picture 25" descr="lock.png"/>
          <p:cNvPicPr>
            <a:picLocks noChangeAspect="1"/>
          </p:cNvPicPr>
          <p:nvPr/>
        </p:nvPicPr>
        <p:blipFill>
          <a:blip r:embed="rId4"/>
          <a:stretch>
            <a:fillRect/>
          </a:stretch>
        </p:blipFill>
        <p:spPr>
          <a:xfrm>
            <a:off x="5050730" y="5363097"/>
            <a:ext cx="308877" cy="449275"/>
          </a:xfrm>
          <a:prstGeom prst="rect">
            <a:avLst/>
          </a:prstGeom>
        </p:spPr>
      </p:pic>
      <p:pic>
        <p:nvPicPr>
          <p:cNvPr id="27" name="Picture 26" descr="lock.png"/>
          <p:cNvPicPr>
            <a:picLocks noChangeAspect="1"/>
          </p:cNvPicPr>
          <p:nvPr/>
        </p:nvPicPr>
        <p:blipFill>
          <a:blip r:embed="rId4"/>
          <a:stretch>
            <a:fillRect/>
          </a:stretch>
        </p:blipFill>
        <p:spPr>
          <a:xfrm>
            <a:off x="8198151" y="2388062"/>
            <a:ext cx="308877" cy="449275"/>
          </a:xfrm>
          <a:prstGeom prst="rect">
            <a:avLst/>
          </a:prstGeom>
        </p:spPr>
      </p:pic>
      <p:pic>
        <p:nvPicPr>
          <p:cNvPr id="28" name="Picture 27" descr="lock.png"/>
          <p:cNvPicPr>
            <a:picLocks noChangeAspect="1"/>
          </p:cNvPicPr>
          <p:nvPr/>
        </p:nvPicPr>
        <p:blipFill>
          <a:blip r:embed="rId4"/>
          <a:stretch>
            <a:fillRect/>
          </a:stretch>
        </p:blipFill>
        <p:spPr>
          <a:xfrm>
            <a:off x="10712252" y="2388062"/>
            <a:ext cx="308877" cy="449275"/>
          </a:xfrm>
          <a:prstGeom prst="rect">
            <a:avLst/>
          </a:prstGeom>
        </p:spPr>
      </p:pic>
      <p:pic>
        <p:nvPicPr>
          <p:cNvPr id="29" name="Picture 28" descr="lock.png"/>
          <p:cNvPicPr>
            <a:picLocks noChangeAspect="1"/>
          </p:cNvPicPr>
          <p:nvPr/>
        </p:nvPicPr>
        <p:blipFill>
          <a:blip r:embed="rId4"/>
          <a:stretch>
            <a:fillRect/>
          </a:stretch>
        </p:blipFill>
        <p:spPr>
          <a:xfrm>
            <a:off x="7992776" y="4329827"/>
            <a:ext cx="308877" cy="449275"/>
          </a:xfrm>
          <a:prstGeom prst="rect">
            <a:avLst/>
          </a:prstGeom>
        </p:spPr>
      </p:pic>
      <p:pic>
        <p:nvPicPr>
          <p:cNvPr id="30" name="Picture 29" descr="lock.png"/>
          <p:cNvPicPr>
            <a:picLocks noChangeAspect="1"/>
          </p:cNvPicPr>
          <p:nvPr/>
        </p:nvPicPr>
        <p:blipFill>
          <a:blip r:embed="rId4"/>
          <a:stretch>
            <a:fillRect/>
          </a:stretch>
        </p:blipFill>
        <p:spPr>
          <a:xfrm>
            <a:off x="7992776" y="5861301"/>
            <a:ext cx="308877" cy="449275"/>
          </a:xfrm>
          <a:prstGeom prst="rect">
            <a:avLst/>
          </a:prstGeom>
        </p:spPr>
      </p:pic>
      <p:pic>
        <p:nvPicPr>
          <p:cNvPr id="31" name="Picture 30" descr="lock.png"/>
          <p:cNvPicPr>
            <a:picLocks noChangeAspect="1"/>
          </p:cNvPicPr>
          <p:nvPr/>
        </p:nvPicPr>
        <p:blipFill>
          <a:blip r:embed="rId4"/>
          <a:stretch>
            <a:fillRect/>
          </a:stretch>
        </p:blipFill>
        <p:spPr>
          <a:xfrm>
            <a:off x="9866279" y="4564557"/>
            <a:ext cx="308877" cy="449275"/>
          </a:xfrm>
          <a:prstGeom prst="rect">
            <a:avLst/>
          </a:prstGeom>
        </p:spPr>
      </p:pic>
      <p:pic>
        <p:nvPicPr>
          <p:cNvPr id="32" name="Picture 31" descr="lock.png"/>
          <p:cNvPicPr>
            <a:picLocks noChangeAspect="1"/>
          </p:cNvPicPr>
          <p:nvPr/>
        </p:nvPicPr>
        <p:blipFill>
          <a:blip r:embed="rId4"/>
          <a:stretch>
            <a:fillRect/>
          </a:stretch>
        </p:blipFill>
        <p:spPr>
          <a:xfrm>
            <a:off x="11158838" y="4564557"/>
            <a:ext cx="308877" cy="449275"/>
          </a:xfrm>
          <a:prstGeom prst="rect">
            <a:avLst/>
          </a:prstGeom>
        </p:spPr>
      </p:pic>
      <p:pic>
        <p:nvPicPr>
          <p:cNvPr id="33" name="Picture 32" descr="lock.png"/>
          <p:cNvPicPr>
            <a:picLocks noChangeAspect="1"/>
          </p:cNvPicPr>
          <p:nvPr/>
        </p:nvPicPr>
        <p:blipFill>
          <a:blip r:embed="rId4"/>
          <a:stretch>
            <a:fillRect/>
          </a:stretch>
        </p:blipFill>
        <p:spPr>
          <a:xfrm>
            <a:off x="10506877" y="6096032"/>
            <a:ext cx="308877" cy="449275"/>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505075"/>
            <a:ext cx="8572500" cy="514350"/>
          </a:xfrm>
          <a:prstGeom prst="rect">
            <a:avLst/>
          </a:prstGeom>
          <a:noFill/>
        </p:spPr>
        <p:txBody>
          <a:bodyPr wrap="square" lIns="0" rIns="0" tIns="0">
            <a:spAutoFit/>
          </a:bodyPr>
          <a:lstStyle/>
          <a:p>
            <a:r>
              <a:rPr sz="3000" b="1">
                <a:solidFill>
                  <a:srgbClr val="0B3C8C"/>
                </a:solidFill>
                <a:latin typeface="Calibri"/>
              </a:rPr>
              <a:t>Global Market Analysis By Segments</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Therapy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Allergen Class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Commercial Product Model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Allergen Preparation Technology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Allergen Composition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 Procurement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Therapy Format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Therapy Format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Therapy Format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Therapy Format,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Therapy Format segment categorizes the market by therapy format.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Sublingual Immunotherapy</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Subcutaneous Immunotherapy</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Oral Immunotherapy</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Therapy Format split shows how demand is distributed across therapy format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Therapy Format segment is projected to grow at a CAGR of 8.4% from 2026 to 2036.</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1_147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2_664_605E5C.png"/>
          <p:cNvPicPr>
            <a:picLocks noChangeAspect="1"/>
          </p:cNvPicPr>
          <p:nvPr/>
        </p:nvPicPr>
        <p:blipFill>
          <a:blip r:embed="rId5"/>
          <a:stretch>
            <a:fillRect/>
          </a:stretch>
        </p:blipFill>
        <p:spPr>
          <a:xfrm>
            <a:off x="2897811" y="2779432"/>
            <a:ext cx="1195728" cy="361950"/>
          </a:xfrm>
          <a:prstGeom prst="rect">
            <a:avLst/>
          </a:prstGeom>
        </p:spPr>
      </p:pic>
      <p:pic>
        <p:nvPicPr>
          <p:cNvPr id="59" name="Picture 58" descr="8_8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1_073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2_419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8_5__605E5C.png"/>
          <p:cNvPicPr>
            <a:picLocks noChangeAspect="1"/>
          </p:cNvPicPr>
          <p:nvPr/>
        </p:nvPicPr>
        <p:blipFill>
          <a:blip r:embed="rId9"/>
          <a:stretch>
            <a:fillRect/>
          </a:stretch>
        </p:blipFill>
        <p:spPr>
          <a:xfrm>
            <a:off x="6376307" y="3272281"/>
            <a:ext cx="982436" cy="361950"/>
          </a:xfrm>
          <a:prstGeom prst="rect">
            <a:avLst/>
          </a:prstGeom>
        </p:spPr>
      </p:pic>
      <p:pic>
        <p:nvPicPr>
          <p:cNvPr id="63" name="Picture 62" descr="207_6_605E5C.png"/>
          <p:cNvPicPr>
            <a:picLocks noChangeAspect="1"/>
          </p:cNvPicPr>
          <p:nvPr/>
        </p:nvPicPr>
        <p:blipFill>
          <a:blip r:embed="rId10"/>
          <a:stretch>
            <a:fillRect/>
          </a:stretch>
        </p:blipFill>
        <p:spPr>
          <a:xfrm>
            <a:off x="9641511" y="2286582"/>
            <a:ext cx="1195728" cy="361950"/>
          </a:xfrm>
          <a:prstGeom prst="rect">
            <a:avLst/>
          </a:prstGeom>
        </p:spPr>
      </p:pic>
      <p:pic>
        <p:nvPicPr>
          <p:cNvPr id="64" name="Picture 63" descr="355_7_605E5C.png"/>
          <p:cNvPicPr>
            <a:picLocks noChangeAspect="1"/>
          </p:cNvPicPr>
          <p:nvPr/>
        </p:nvPicPr>
        <p:blipFill>
          <a:blip r:embed="rId11"/>
          <a:stretch>
            <a:fillRect/>
          </a:stretch>
        </p:blipFill>
        <p:spPr>
          <a:xfrm>
            <a:off x="9641511" y="2779432"/>
            <a:ext cx="1195728" cy="361950"/>
          </a:xfrm>
          <a:prstGeom prst="rect">
            <a:avLst/>
          </a:prstGeom>
        </p:spPr>
      </p:pic>
      <p:pic>
        <p:nvPicPr>
          <p:cNvPr id="65" name="Picture 64" descr="5_5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826281" cy="179984"/>
          </a:xfrm>
          <a:prstGeom prst="rect">
            <a:avLst/>
          </a:prstGeom>
          <a:noFill/>
        </p:spPr>
        <p:txBody>
          <a:bodyPr wrap="none" lIns="0" rIns="0" tIns="0" bIns="0">
            <a:spAutoFit/>
          </a:bodyPr>
          <a:lstStyle/>
          <a:p>
            <a:r>
              <a:rPr sz="1055" b="0">
                <a:solidFill>
                  <a:srgbClr val="2E2E2E"/>
                </a:solidFill>
                <a:latin typeface="Calibri"/>
              </a:rPr>
              <a:t>Among allergy immunotherapy by therapy format,</a:t>
            </a:r>
          </a:p>
        </p:txBody>
      </p:sp>
      <p:sp>
        <p:nvSpPr>
          <p:cNvPr id="70" name="TextBox 69"/>
          <p:cNvSpPr txBox="1"/>
          <p:nvPr/>
        </p:nvSpPr>
        <p:spPr>
          <a:xfrm>
            <a:off x="485775" y="4390371"/>
            <a:ext cx="2486810" cy="179984"/>
          </a:xfrm>
          <a:prstGeom prst="rect">
            <a:avLst/>
          </a:prstGeom>
          <a:noFill/>
        </p:spPr>
        <p:txBody>
          <a:bodyPr wrap="none" lIns="0" rIns="0" tIns="0" bIns="0">
            <a:spAutoFit/>
          </a:bodyPr>
          <a:lstStyle/>
          <a:p>
            <a:r>
              <a:rPr sz="1055" b="0">
                <a:solidFill>
                  <a:srgbClr val="2E2E2E"/>
                </a:solidFill>
                <a:latin typeface="Calibri"/>
              </a:rPr>
              <a:t>sublingual immunotherapy (SLIT) segment is</a:t>
            </a:r>
          </a:p>
        </p:txBody>
      </p:sp>
      <p:sp>
        <p:nvSpPr>
          <p:cNvPr id="71" name="TextBox 70"/>
          <p:cNvSpPr txBox="1"/>
          <p:nvPr/>
        </p:nvSpPr>
        <p:spPr>
          <a:xfrm>
            <a:off x="485775" y="4551305"/>
            <a:ext cx="2289031" cy="179984"/>
          </a:xfrm>
          <a:prstGeom prst="rect">
            <a:avLst/>
          </a:prstGeom>
          <a:noFill/>
        </p:spPr>
        <p:txBody>
          <a:bodyPr wrap="none" lIns="0" rIns="0" tIns="0" bIns="0">
            <a:spAutoFit/>
          </a:bodyPr>
          <a:lstStyle/>
          <a:p>
            <a:r>
              <a:rPr sz="1055" b="0">
                <a:solidFill>
                  <a:srgbClr val="2E2E2E"/>
                </a:solidFill>
                <a:latin typeface="Calibri"/>
              </a:rPr>
              <a:t>expected to witness the highest CAGR of</a:t>
            </a:r>
          </a:p>
        </p:txBody>
      </p:sp>
      <p:pic>
        <p:nvPicPr>
          <p:cNvPr id="72" name="Picture 71" descr="lock.png"/>
          <p:cNvPicPr>
            <a:picLocks noChangeAspect="1"/>
          </p:cNvPicPr>
          <p:nvPr/>
        </p:nvPicPr>
        <p:blipFill>
          <a:blip r:embed="rId13"/>
          <a:stretch>
            <a:fillRect/>
          </a:stretch>
        </p:blipFill>
        <p:spPr>
          <a:xfrm>
            <a:off x="2721888" y="4541917"/>
            <a:ext cx="123551" cy="179710"/>
          </a:xfrm>
          <a:prstGeom prst="rect">
            <a:avLst/>
          </a:prstGeom>
        </p:spPr>
      </p:pic>
      <p:sp>
        <p:nvSpPr>
          <p:cNvPr id="73" name="TextBox 72"/>
          <p:cNvSpPr txBox="1"/>
          <p:nvPr/>
        </p:nvSpPr>
        <p:spPr>
          <a:xfrm>
            <a:off x="2882684" y="4551305"/>
            <a:ext cx="321111" cy="179984"/>
          </a:xfrm>
          <a:prstGeom prst="rect">
            <a:avLst/>
          </a:prstGeom>
          <a:noFill/>
        </p:spPr>
        <p:txBody>
          <a:bodyPr wrap="none" lIns="0" rIns="0" tIns="0" bIns="0">
            <a:spAutoFit/>
          </a:bodyPr>
          <a:lstStyle/>
          <a:p>
            <a:r>
              <a:rPr sz="1055" b="0">
                <a:solidFill>
                  <a:srgbClr val="2E2E2E"/>
                </a:solidFill>
                <a:latin typeface="Calibri"/>
              </a:rPr>
              <a:t>over</a:t>
            </a:r>
          </a:p>
        </p:txBody>
      </p:sp>
      <p:sp>
        <p:nvSpPr>
          <p:cNvPr id="74" name="TextBox 73"/>
          <p:cNvSpPr txBox="1"/>
          <p:nvPr/>
        </p:nvSpPr>
        <p:spPr>
          <a:xfrm>
            <a:off x="485775" y="4712240"/>
            <a:ext cx="2594205" cy="179984"/>
          </a:xfrm>
          <a:prstGeom prst="rect">
            <a:avLst/>
          </a:prstGeom>
          <a:noFill/>
        </p:spPr>
        <p:txBody>
          <a:bodyPr wrap="none" lIns="0" rIns="0" tIns="0" bIns="0">
            <a:spAutoFit/>
          </a:bodyPr>
          <a:lstStyle/>
          <a:p>
            <a:r>
              <a:rPr sz="1055" b="0">
                <a:solidFill>
                  <a:srgbClr val="2E2E2E"/>
                </a:solidFill>
                <a:latin typeface="Calibri"/>
              </a:rPr>
              <a:t>the forecast period. In terms of value share by</a:t>
            </a:r>
          </a:p>
        </p:txBody>
      </p:sp>
      <p:sp>
        <p:nvSpPr>
          <p:cNvPr id="75" name="TextBox 74"/>
          <p:cNvSpPr txBox="1"/>
          <p:nvPr/>
        </p:nvSpPr>
        <p:spPr>
          <a:xfrm>
            <a:off x="485775" y="4873174"/>
            <a:ext cx="2914650" cy="179984"/>
          </a:xfrm>
          <a:prstGeom prst="rect">
            <a:avLst/>
          </a:prstGeom>
          <a:noFill/>
        </p:spPr>
        <p:txBody>
          <a:bodyPr wrap="none" lIns="0" rIns="0" tIns="0" bIns="0">
            <a:spAutoFit/>
          </a:bodyPr>
          <a:lstStyle/>
          <a:p>
            <a:r>
              <a:rPr sz="1055" b="0">
                <a:solidFill>
                  <a:srgbClr val="2E2E2E"/>
                </a:solidFill>
                <a:latin typeface="Calibri"/>
              </a:rPr>
              <a:t>therapy format, the sublingual immunotherapy (SLIT)</a:t>
            </a:r>
          </a:p>
        </p:txBody>
      </p:sp>
      <p:sp>
        <p:nvSpPr>
          <p:cNvPr id="76" name="TextBox 75"/>
          <p:cNvSpPr txBox="1"/>
          <p:nvPr/>
        </p:nvSpPr>
        <p:spPr>
          <a:xfrm>
            <a:off x="485775" y="5034109"/>
            <a:ext cx="2914650" cy="179984"/>
          </a:xfrm>
          <a:prstGeom prst="rect">
            <a:avLst/>
          </a:prstGeom>
          <a:noFill/>
        </p:spPr>
        <p:txBody>
          <a:bodyPr wrap="none" lIns="0" rIns="0" tIns="0" bIns="0">
            <a:spAutoFit/>
          </a:bodyPr>
          <a:lstStyle/>
          <a:p>
            <a:r>
              <a:rPr sz="1055" b="0">
                <a:solidFill>
                  <a:srgbClr val="2E2E2E"/>
                </a:solidFill>
                <a:latin typeface="Calibri"/>
              </a:rPr>
              <a:t>segment is expected to dominate the market, gaining</a:t>
            </a:r>
          </a:p>
        </p:txBody>
      </p:sp>
      <p:pic>
        <p:nvPicPr>
          <p:cNvPr id="77" name="Picture 76" descr="lock.png"/>
          <p:cNvPicPr>
            <a:picLocks noChangeAspect="1"/>
          </p:cNvPicPr>
          <p:nvPr/>
        </p:nvPicPr>
        <p:blipFill>
          <a:blip r:embed="rId13"/>
          <a:stretch>
            <a:fillRect/>
          </a:stretch>
        </p:blipFill>
        <p:spPr>
          <a:xfrm>
            <a:off x="472846" y="5185655"/>
            <a:ext cx="123551" cy="179710"/>
          </a:xfrm>
          <a:prstGeom prst="rect">
            <a:avLst/>
          </a:prstGeom>
        </p:spPr>
      </p:pic>
      <p:sp>
        <p:nvSpPr>
          <p:cNvPr id="78" name="TextBox 77"/>
          <p:cNvSpPr txBox="1"/>
          <p:nvPr/>
        </p:nvSpPr>
        <p:spPr>
          <a:xfrm>
            <a:off x="633642" y="5195043"/>
            <a:ext cx="1334023" cy="179984"/>
          </a:xfrm>
          <a:prstGeom prst="rect">
            <a:avLst/>
          </a:prstGeom>
          <a:noFill/>
        </p:spPr>
        <p:txBody>
          <a:bodyPr wrap="none" lIns="0" rIns="0" tIns="0" bIns="0">
            <a:spAutoFit/>
          </a:bodyPr>
          <a:lstStyle/>
          <a:p>
            <a:r>
              <a:rPr sz="1055" b="0">
                <a:solidFill>
                  <a:srgbClr val="2E2E2E"/>
                </a:solidFill>
                <a:latin typeface="Calibri"/>
              </a:rPr>
              <a:t>BPS and accounting for</a:t>
            </a:r>
          </a:p>
        </p:txBody>
      </p:sp>
      <p:pic>
        <p:nvPicPr>
          <p:cNvPr id="79" name="Picture 78" descr="lock.png"/>
          <p:cNvPicPr>
            <a:picLocks noChangeAspect="1"/>
          </p:cNvPicPr>
          <p:nvPr/>
        </p:nvPicPr>
        <p:blipFill>
          <a:blip r:embed="rId13"/>
          <a:stretch>
            <a:fillRect/>
          </a:stretch>
        </p:blipFill>
        <p:spPr>
          <a:xfrm>
            <a:off x="1914747" y="5185655"/>
            <a:ext cx="123551" cy="179710"/>
          </a:xfrm>
          <a:prstGeom prst="rect">
            <a:avLst/>
          </a:prstGeom>
        </p:spPr>
      </p:pic>
      <p:sp>
        <p:nvSpPr>
          <p:cNvPr id="80" name="TextBox 79"/>
          <p:cNvSpPr txBox="1"/>
          <p:nvPr/>
        </p:nvSpPr>
        <p:spPr>
          <a:xfrm>
            <a:off x="2075543" y="5195043"/>
            <a:ext cx="875109" cy="179984"/>
          </a:xfrm>
          <a:prstGeom prst="rect">
            <a:avLst/>
          </a:prstGeom>
          <a:noFill/>
        </p:spPr>
        <p:txBody>
          <a:bodyPr wrap="none" lIns="0" rIns="0" tIns="0" bIns="0">
            <a:spAutoFit/>
          </a:bodyPr>
          <a:lstStyle/>
          <a:p>
            <a:r>
              <a:rPr sz="1055" b="0">
                <a:solidFill>
                  <a:srgbClr val="2E2E2E"/>
                </a:solidFill>
                <a:latin typeface="Calibri"/>
              </a:rPr>
              <a:t>share by 2036.</a:t>
            </a:r>
          </a:p>
        </p:txBody>
      </p:sp>
      <p:sp>
        <p:nvSpPr>
          <p:cNvPr id="81" name="TextBox 80"/>
          <p:cNvSpPr txBox="1"/>
          <p:nvPr/>
        </p:nvSpPr>
        <p:spPr>
          <a:xfrm>
            <a:off x="485775" y="5404258"/>
            <a:ext cx="2495978" cy="179984"/>
          </a:xfrm>
          <a:prstGeom prst="rect">
            <a:avLst/>
          </a:prstGeom>
          <a:noFill/>
        </p:spPr>
        <p:txBody>
          <a:bodyPr wrap="none" lIns="0" rIns="0" tIns="0" bIns="0">
            <a:spAutoFit/>
          </a:bodyPr>
          <a:lstStyle/>
          <a:p>
            <a:r>
              <a:rPr sz="1055" b="0">
                <a:solidFill>
                  <a:srgbClr val="2E2E2E"/>
                </a:solidFill>
                <a:latin typeface="Calibri"/>
              </a:rPr>
              <a:t>Sublingual immunotherapy (SLIT) segment is</a:t>
            </a:r>
          </a:p>
        </p:txBody>
      </p:sp>
      <p:sp>
        <p:nvSpPr>
          <p:cNvPr id="82" name="TextBox 81"/>
          <p:cNvSpPr txBox="1"/>
          <p:nvPr/>
        </p:nvSpPr>
        <p:spPr>
          <a:xfrm>
            <a:off x="485775" y="5565192"/>
            <a:ext cx="1197816" cy="179984"/>
          </a:xfrm>
          <a:prstGeom prst="rect">
            <a:avLst/>
          </a:prstGeom>
          <a:noFill/>
        </p:spPr>
        <p:txBody>
          <a:bodyPr wrap="none" lIns="0" rIns="0" tIns="0" bIns="0">
            <a:spAutoFit/>
          </a:bodyPr>
          <a:lstStyle/>
          <a:p>
            <a:r>
              <a:rPr sz="1055" b="0">
                <a:solidFill>
                  <a:srgbClr val="2E2E2E"/>
                </a:solidFill>
                <a:latin typeface="Calibri"/>
              </a:rPr>
              <a:t>projected to register</a:t>
            </a:r>
          </a:p>
        </p:txBody>
      </p:sp>
      <p:pic>
        <p:nvPicPr>
          <p:cNvPr id="83" name="Picture 82" descr="lock.png"/>
          <p:cNvPicPr>
            <a:picLocks noChangeAspect="1"/>
          </p:cNvPicPr>
          <p:nvPr/>
        </p:nvPicPr>
        <p:blipFill>
          <a:blip r:embed="rId13"/>
          <a:stretch>
            <a:fillRect/>
          </a:stretch>
        </p:blipFill>
        <p:spPr>
          <a:xfrm>
            <a:off x="1630672" y="5555804"/>
            <a:ext cx="123551" cy="179710"/>
          </a:xfrm>
          <a:prstGeom prst="rect">
            <a:avLst/>
          </a:prstGeom>
        </p:spPr>
      </p:pic>
      <p:sp>
        <p:nvSpPr>
          <p:cNvPr id="84" name="TextBox 83"/>
          <p:cNvSpPr txBox="1"/>
          <p:nvPr/>
        </p:nvSpPr>
        <p:spPr>
          <a:xfrm>
            <a:off x="1791468" y="5565192"/>
            <a:ext cx="1128664" cy="179984"/>
          </a:xfrm>
          <a:prstGeom prst="rect">
            <a:avLst/>
          </a:prstGeom>
          <a:noFill/>
        </p:spPr>
        <p:txBody>
          <a:bodyPr wrap="none" lIns="0" rIns="0" tIns="0" bIns="0">
            <a:spAutoFit/>
          </a:bodyPr>
          <a:lstStyle/>
          <a:p>
            <a:r>
              <a:rPr sz="1055" b="0">
                <a:solidFill>
                  <a:srgbClr val="2E2E2E"/>
                </a:solidFill>
                <a:latin typeface="Calibri"/>
              </a:rPr>
              <a:t>X higher value than</a:t>
            </a:r>
          </a:p>
        </p:txBody>
      </p:sp>
      <p:sp>
        <p:nvSpPr>
          <p:cNvPr id="85" name="TextBox 84"/>
          <p:cNvSpPr txBox="1"/>
          <p:nvPr/>
        </p:nvSpPr>
        <p:spPr>
          <a:xfrm>
            <a:off x="485775" y="5726126"/>
            <a:ext cx="2726483" cy="179984"/>
          </a:xfrm>
          <a:prstGeom prst="rect">
            <a:avLst/>
          </a:prstGeom>
          <a:noFill/>
        </p:spPr>
        <p:txBody>
          <a:bodyPr wrap="none" lIns="0" rIns="0" tIns="0" bIns="0">
            <a:spAutoFit/>
          </a:bodyPr>
          <a:lstStyle/>
          <a:p>
            <a:r>
              <a:rPr sz="1055" b="0">
                <a:solidFill>
                  <a:srgbClr val="2E2E2E"/>
                </a:solidFill>
                <a:latin typeface="Calibri"/>
              </a:rPr>
              <a:t>subcutaneous immunotherapy (SCIT) segment in</a:t>
            </a:r>
          </a:p>
        </p:txBody>
      </p:sp>
      <p:sp>
        <p:nvSpPr>
          <p:cNvPr id="86" name="TextBox 85"/>
          <p:cNvSpPr txBox="1"/>
          <p:nvPr/>
        </p:nvSpPr>
        <p:spPr>
          <a:xfrm>
            <a:off x="485775" y="5887061"/>
            <a:ext cx="382404" cy="179984"/>
          </a:xfrm>
          <a:prstGeom prst="rect">
            <a:avLst/>
          </a:prstGeom>
          <a:noFill/>
        </p:spPr>
        <p:txBody>
          <a:bodyPr wrap="none" lIns="0" rIns="0" tIns="0" bIns="0">
            <a:spAutoFit/>
          </a:bodyPr>
          <a:lstStyle/>
          <a:p>
            <a:r>
              <a:rPr sz="1055" b="0">
                <a:solidFill>
                  <a:srgbClr val="2E2E2E"/>
                </a:solidFill>
                <a:latin typeface="Calibri"/>
              </a:rPr>
              <a:t>2036.</a:t>
            </a:r>
          </a:p>
        </p:txBody>
      </p:sp>
      <p:sp>
        <p:nvSpPr>
          <p:cNvPr id="87" name="TextBox 86"/>
          <p:cNvSpPr txBox="1"/>
          <p:nvPr/>
        </p:nvSpPr>
        <p:spPr>
          <a:xfrm>
            <a:off x="3838575" y="4229437"/>
            <a:ext cx="2111672" cy="186689"/>
          </a:xfrm>
          <a:prstGeom prst="rect">
            <a:avLst/>
          </a:prstGeom>
          <a:noFill/>
        </p:spPr>
        <p:txBody>
          <a:bodyPr wrap="none" lIns="0" rIns="0" tIns="0" bIns="0">
            <a:spAutoFit/>
          </a:bodyPr>
          <a:lstStyle/>
          <a:p>
            <a:r>
              <a:rPr sz="1100" b="0">
                <a:solidFill>
                  <a:srgbClr val="2E2E2E"/>
                </a:solidFill>
                <a:latin typeface="Calibri"/>
              </a:rPr>
              <a:t>● Sublingual Immunotherapy (SLIT):</a:t>
            </a:r>
          </a:p>
        </p:txBody>
      </p:sp>
      <p:pic>
        <p:nvPicPr>
          <p:cNvPr id="88" name="Picture 87" descr="lock.png"/>
          <p:cNvPicPr>
            <a:picLocks noChangeAspect="1"/>
          </p:cNvPicPr>
          <p:nvPr/>
        </p:nvPicPr>
        <p:blipFill>
          <a:blip r:embed="rId13"/>
          <a:stretch>
            <a:fillRect/>
          </a:stretch>
        </p:blipFill>
        <p:spPr>
          <a:xfrm>
            <a:off x="5898299" y="4219658"/>
            <a:ext cx="128699" cy="187198"/>
          </a:xfrm>
          <a:prstGeom prst="rect">
            <a:avLst/>
          </a:prstGeom>
        </p:spPr>
      </p:pic>
      <p:sp>
        <p:nvSpPr>
          <p:cNvPr id="89" name="TextBox 88"/>
          <p:cNvSpPr txBox="1"/>
          <p:nvPr/>
        </p:nvSpPr>
        <p:spPr>
          <a:xfrm>
            <a:off x="606579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0" name="Picture 89" descr="lock.png"/>
          <p:cNvPicPr>
            <a:picLocks noChangeAspect="1"/>
          </p:cNvPicPr>
          <p:nvPr/>
        </p:nvPicPr>
        <p:blipFill>
          <a:blip r:embed="rId13"/>
          <a:stretch>
            <a:fillRect/>
          </a:stretch>
        </p:blipFill>
        <p:spPr>
          <a:xfrm>
            <a:off x="6925245" y="4219658"/>
            <a:ext cx="128699" cy="187198"/>
          </a:xfrm>
          <a:prstGeom prst="rect">
            <a:avLst/>
          </a:prstGeom>
        </p:spPr>
      </p:pic>
      <p:sp>
        <p:nvSpPr>
          <p:cNvPr id="91" name="TextBox 90"/>
          <p:cNvSpPr txBox="1"/>
          <p:nvPr/>
        </p:nvSpPr>
        <p:spPr>
          <a:xfrm>
            <a:off x="7092741"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92" name="TextBox 91"/>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93" name="TextBox 92"/>
          <p:cNvSpPr txBox="1"/>
          <p:nvPr/>
        </p:nvSpPr>
        <p:spPr>
          <a:xfrm>
            <a:off x="3838575" y="4615009"/>
            <a:ext cx="2342505" cy="186689"/>
          </a:xfrm>
          <a:prstGeom prst="rect">
            <a:avLst/>
          </a:prstGeom>
          <a:noFill/>
        </p:spPr>
        <p:txBody>
          <a:bodyPr wrap="none" lIns="0" rIns="0" tIns="0" bIns="0">
            <a:spAutoFit/>
          </a:bodyPr>
          <a:lstStyle/>
          <a:p>
            <a:r>
              <a:rPr sz="1100" b="0">
                <a:solidFill>
                  <a:srgbClr val="2E2E2E"/>
                </a:solidFill>
                <a:latin typeface="Calibri"/>
              </a:rPr>
              <a:t>● Subcutaneous Immunotherapy (SCIT):</a:t>
            </a:r>
          </a:p>
        </p:txBody>
      </p:sp>
      <p:pic>
        <p:nvPicPr>
          <p:cNvPr id="94" name="Picture 93" descr="lock.png"/>
          <p:cNvPicPr>
            <a:picLocks noChangeAspect="1"/>
          </p:cNvPicPr>
          <p:nvPr/>
        </p:nvPicPr>
        <p:blipFill>
          <a:blip r:embed="rId13"/>
          <a:stretch>
            <a:fillRect/>
          </a:stretch>
        </p:blipFill>
        <p:spPr>
          <a:xfrm>
            <a:off x="6129131" y="4605230"/>
            <a:ext cx="128699" cy="187198"/>
          </a:xfrm>
          <a:prstGeom prst="rect">
            <a:avLst/>
          </a:prstGeom>
        </p:spPr>
      </p:pic>
      <p:sp>
        <p:nvSpPr>
          <p:cNvPr id="95" name="TextBox 94"/>
          <p:cNvSpPr txBox="1"/>
          <p:nvPr/>
        </p:nvSpPr>
        <p:spPr>
          <a:xfrm>
            <a:off x="6296627"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6" name="Picture 95" descr="lock.png"/>
          <p:cNvPicPr>
            <a:picLocks noChangeAspect="1"/>
          </p:cNvPicPr>
          <p:nvPr/>
        </p:nvPicPr>
        <p:blipFill>
          <a:blip r:embed="rId13"/>
          <a:stretch>
            <a:fillRect/>
          </a:stretch>
        </p:blipFill>
        <p:spPr>
          <a:xfrm>
            <a:off x="7156077" y="4605230"/>
            <a:ext cx="128699" cy="187198"/>
          </a:xfrm>
          <a:prstGeom prst="rect">
            <a:avLst/>
          </a:prstGeom>
        </p:spPr>
      </p:pic>
      <p:sp>
        <p:nvSpPr>
          <p:cNvPr id="97" name="TextBox 96"/>
          <p:cNvSpPr txBox="1"/>
          <p:nvPr/>
        </p:nvSpPr>
        <p:spPr>
          <a:xfrm>
            <a:off x="7323573"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98" name="TextBox 97"/>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99" name="TextBox 98"/>
          <p:cNvSpPr txBox="1"/>
          <p:nvPr/>
        </p:nvSpPr>
        <p:spPr>
          <a:xfrm>
            <a:off x="3838575" y="5000581"/>
            <a:ext cx="1734864" cy="186689"/>
          </a:xfrm>
          <a:prstGeom prst="rect">
            <a:avLst/>
          </a:prstGeom>
          <a:noFill/>
        </p:spPr>
        <p:txBody>
          <a:bodyPr wrap="none" lIns="0" rIns="0" tIns="0" bIns="0">
            <a:spAutoFit/>
          </a:bodyPr>
          <a:lstStyle/>
          <a:p>
            <a:r>
              <a:rPr sz="1100" b="0">
                <a:solidFill>
                  <a:srgbClr val="2E2E2E"/>
                </a:solidFill>
                <a:latin typeface="Calibri"/>
              </a:rPr>
              <a:t>● Oral Immunotherapy (OIT):</a:t>
            </a:r>
          </a:p>
        </p:txBody>
      </p:sp>
      <p:pic>
        <p:nvPicPr>
          <p:cNvPr id="100" name="Picture 99" descr="lock.png"/>
          <p:cNvPicPr>
            <a:picLocks noChangeAspect="1"/>
          </p:cNvPicPr>
          <p:nvPr/>
        </p:nvPicPr>
        <p:blipFill>
          <a:blip r:embed="rId13"/>
          <a:stretch>
            <a:fillRect/>
          </a:stretch>
        </p:blipFill>
        <p:spPr>
          <a:xfrm>
            <a:off x="5521491" y="4990801"/>
            <a:ext cx="128699" cy="187198"/>
          </a:xfrm>
          <a:prstGeom prst="rect">
            <a:avLst/>
          </a:prstGeom>
        </p:spPr>
      </p:pic>
      <p:sp>
        <p:nvSpPr>
          <p:cNvPr id="101" name="TextBox 100"/>
          <p:cNvSpPr txBox="1"/>
          <p:nvPr/>
        </p:nvSpPr>
        <p:spPr>
          <a:xfrm>
            <a:off x="5688987"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2" name="Picture 101" descr="lock.png"/>
          <p:cNvPicPr>
            <a:picLocks noChangeAspect="1"/>
          </p:cNvPicPr>
          <p:nvPr/>
        </p:nvPicPr>
        <p:blipFill>
          <a:blip r:embed="rId13"/>
          <a:stretch>
            <a:fillRect/>
          </a:stretch>
        </p:blipFill>
        <p:spPr>
          <a:xfrm>
            <a:off x="6548437" y="4990801"/>
            <a:ext cx="128699" cy="187198"/>
          </a:xfrm>
          <a:prstGeom prst="rect">
            <a:avLst/>
          </a:prstGeom>
        </p:spPr>
      </p:pic>
      <p:sp>
        <p:nvSpPr>
          <p:cNvPr id="103" name="TextBox 102"/>
          <p:cNvSpPr txBox="1"/>
          <p:nvPr/>
        </p:nvSpPr>
        <p:spPr>
          <a:xfrm>
            <a:off x="6715933" y="5000581"/>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04" name="TextBox 103"/>
          <p:cNvSpPr txBox="1"/>
          <p:nvPr/>
        </p:nvSpPr>
        <p:spPr>
          <a:xfrm>
            <a:off x="3838575" y="5168221"/>
            <a:ext cx="419174" cy="186689"/>
          </a:xfrm>
          <a:prstGeom prst="rect">
            <a:avLst/>
          </a:prstGeom>
          <a:noFill/>
        </p:spPr>
        <p:txBody>
          <a:bodyPr wrap="none" lIns="0" rIns="0" tIns="0" bIns="0">
            <a:spAutoFit/>
          </a:bodyPr>
          <a:lstStyle/>
          <a:p>
            <a:r>
              <a:rPr sz="1100" b="0">
                <a:solidFill>
                  <a:srgbClr val="2E2E2E"/>
                </a:solidFill>
                <a:latin typeface="Calibri"/>
              </a:rPr>
              <a:t>niche.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Therapy Format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Therapy Format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Therapy Format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Therapy Format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397902" cy="186689"/>
          </a:xfrm>
          <a:prstGeom prst="rect">
            <a:avLst/>
          </a:prstGeom>
          <a:noFill/>
        </p:spPr>
        <p:txBody>
          <a:bodyPr wrap="none" lIns="0" rIns="0" tIns="0" bIns="0">
            <a:spAutoFit/>
          </a:bodyPr>
          <a:lstStyle/>
          <a:p>
            <a:r>
              <a:rPr sz="1100" b="0">
                <a:solidFill>
                  <a:srgbClr val="2E2E2E"/>
                </a:solidFill>
                <a:latin typeface="Calibri"/>
              </a:rPr>
              <a:t>Sublingual immunotherapy (SLIT) followed by subcutaneous immunotherapy (SCIT) are expected to be the two most attractive therapy format segments in the global allergy immunotherapy market in</a:t>
            </a:r>
          </a:p>
        </p:txBody>
      </p:sp>
      <p:sp>
        <p:nvSpPr>
          <p:cNvPr id="21" name="TextBox 20"/>
          <p:cNvSpPr txBox="1"/>
          <p:nvPr/>
        </p:nvSpPr>
        <p:spPr>
          <a:xfrm>
            <a:off x="257175" y="5861685"/>
            <a:ext cx="7978509" cy="186689"/>
          </a:xfrm>
          <a:prstGeom prst="rect">
            <a:avLst/>
          </a:prstGeom>
          <a:noFill/>
        </p:spPr>
        <p:txBody>
          <a:bodyPr wrap="none" lIns="0" rIns="0" tIns="0" bIns="0">
            <a:spAutoFit/>
          </a:bodyPr>
          <a:lstStyle/>
          <a:p>
            <a:r>
              <a:rPr sz="1100" b="0">
                <a:solidFill>
                  <a:srgbClr val="2E2E2E"/>
                </a:solidFill>
                <a:latin typeface="Calibri"/>
              </a:rPr>
              <a:t>terms of value over the forecast period. Sublingual immunotherapy (SLIT) and subcutaneous immunotherapy (SCIT) exhibit a CAGR index of</a:t>
            </a:r>
          </a:p>
        </p:txBody>
      </p:sp>
      <p:pic>
        <p:nvPicPr>
          <p:cNvPr id="22" name="Picture 21" descr="lock.png"/>
          <p:cNvPicPr>
            <a:picLocks noChangeAspect="1"/>
          </p:cNvPicPr>
          <p:nvPr/>
        </p:nvPicPr>
        <p:blipFill>
          <a:blip r:embed="rId6"/>
          <a:stretch>
            <a:fillRect/>
          </a:stretch>
        </p:blipFill>
        <p:spPr>
          <a:xfrm>
            <a:off x="8183736" y="5851905"/>
            <a:ext cx="128699" cy="187198"/>
          </a:xfrm>
          <a:prstGeom prst="rect">
            <a:avLst/>
          </a:prstGeom>
        </p:spPr>
      </p:pic>
      <p:sp>
        <p:nvSpPr>
          <p:cNvPr id="23" name="TextBox 22"/>
          <p:cNvSpPr txBox="1"/>
          <p:nvPr/>
        </p:nvSpPr>
        <p:spPr>
          <a:xfrm>
            <a:off x="835123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8589126" y="5851905"/>
            <a:ext cx="128699" cy="187198"/>
          </a:xfrm>
          <a:prstGeom prst="rect">
            <a:avLst/>
          </a:prstGeom>
        </p:spPr>
      </p:pic>
      <p:sp>
        <p:nvSpPr>
          <p:cNvPr id="25" name="TextBox 24"/>
          <p:cNvSpPr txBox="1"/>
          <p:nvPr/>
        </p:nvSpPr>
        <p:spPr>
          <a:xfrm>
            <a:off x="875662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10365595" y="5851905"/>
            <a:ext cx="128699" cy="187198"/>
          </a:xfrm>
          <a:prstGeom prst="rect">
            <a:avLst/>
          </a:prstGeom>
        </p:spPr>
      </p:pic>
      <p:sp>
        <p:nvSpPr>
          <p:cNvPr id="27" name="TextBox 26"/>
          <p:cNvSpPr txBox="1"/>
          <p:nvPr/>
        </p:nvSpPr>
        <p:spPr>
          <a:xfrm>
            <a:off x="1053309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10770986" y="5851905"/>
            <a:ext cx="128699" cy="187198"/>
          </a:xfrm>
          <a:prstGeom prst="rect">
            <a:avLst/>
          </a:prstGeom>
        </p:spPr>
      </p:pic>
      <p:sp>
        <p:nvSpPr>
          <p:cNvPr id="29" name="TextBox 28"/>
          <p:cNvSpPr txBox="1"/>
          <p:nvPr/>
        </p:nvSpPr>
        <p:spPr>
          <a:xfrm>
            <a:off x="257175" y="602932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2811579" y="6019545"/>
            <a:ext cx="128699" cy="187198"/>
          </a:xfrm>
          <a:prstGeom prst="rect">
            <a:avLst/>
          </a:prstGeom>
        </p:spPr>
      </p:pic>
      <p:sp>
        <p:nvSpPr>
          <p:cNvPr id="31" name="TextBox 30"/>
          <p:cNvSpPr txBox="1"/>
          <p:nvPr/>
        </p:nvSpPr>
        <p:spPr>
          <a:xfrm>
            <a:off x="2979074" y="6029325"/>
            <a:ext cx="8889015" cy="186689"/>
          </a:xfrm>
          <a:prstGeom prst="rect">
            <a:avLst/>
          </a:prstGeom>
          <a:noFill/>
        </p:spPr>
        <p:txBody>
          <a:bodyPr wrap="none" lIns="0" rIns="0" tIns="0" bIns="0">
            <a:spAutoFit/>
          </a:bodyPr>
          <a:lstStyle/>
          <a:p>
            <a:r>
              <a:rPr sz="1100" b="0">
                <a:solidFill>
                  <a:srgbClr val="2E2E2E"/>
                </a:solidFill>
                <a:latin typeface="Calibri"/>
              </a:rPr>
              <a:t>. The oral immunotherapy (OIT) segment is expected to be less attractive as compared to other segments over the forecast period, owing to its lower CAGR</a:t>
            </a:r>
          </a:p>
        </p:txBody>
      </p:sp>
      <p:sp>
        <p:nvSpPr>
          <p:cNvPr id="32" name="TextBox 31"/>
          <p:cNvSpPr txBox="1"/>
          <p:nvPr/>
        </p:nvSpPr>
        <p:spPr>
          <a:xfrm>
            <a:off x="257175" y="6196965"/>
            <a:ext cx="6083555" cy="186689"/>
          </a:xfrm>
          <a:prstGeom prst="rect">
            <a:avLst/>
          </a:prstGeom>
          <a:noFill/>
        </p:spPr>
        <p:txBody>
          <a:bodyPr wrap="none" lIns="0" rIns="0" tIns="0" bIns="0">
            <a:spAutoFit/>
          </a:bodyPr>
          <a:lstStyle/>
          <a:p>
            <a:r>
              <a:rPr sz="1100" b="0">
                <a:solidFill>
                  <a:srgbClr val="2E2E2E"/>
                </a:solidFill>
                <a:latin typeface="Calibri"/>
              </a:rPr>
              <a:t>and incremental opportunity. Bubbles right of the CAGR-Index line grow faster than the segment average.</a:t>
            </a:r>
          </a:p>
        </p:txBody>
      </p:sp>
      <p:sp>
        <p:nvSpPr>
          <p:cNvPr id="33"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Therapy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Therapy Format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Subcutaneous Immunotherapy (SCIT)</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Sublingual Immunotherapy (SLIT)</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Oral Immunotherapy (OIT)</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Therapy Format</a:t>
            </a:r>
          </a:p>
        </p:txBody>
      </p:sp>
      <p:sp>
        <p:nvSpPr>
          <p:cNvPr id="22" name="Rectangle 21"/>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3100230"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9129555" y="2330679"/>
            <a:ext cx="252890" cy="367840"/>
          </a:xfrm>
          <a:prstGeom prst="rect">
            <a:avLst/>
          </a:prstGeom>
        </p:spPr>
      </p:pic>
      <p:pic>
        <p:nvPicPr>
          <p:cNvPr id="27" name="Picture 26" descr="lock.png"/>
          <p:cNvPicPr>
            <a:picLocks noChangeAspect="1"/>
          </p:cNvPicPr>
          <p:nvPr/>
        </p:nvPicPr>
        <p:blipFill>
          <a:blip r:embed="rId7"/>
          <a:stretch>
            <a:fillRect/>
          </a:stretch>
        </p:blipFill>
        <p:spPr>
          <a:xfrm>
            <a:off x="3100230" y="5216754"/>
            <a:ext cx="252890" cy="367840"/>
          </a:xfrm>
          <a:prstGeom prst="rect">
            <a:avLst/>
          </a:prstGeom>
        </p:spPr>
      </p:pic>
      <p:sp>
        <p:nvSpPr>
          <p:cNvPr id="28" name="TextBox 27"/>
          <p:cNvSpPr txBox="1"/>
          <p:nvPr/>
        </p:nvSpPr>
        <p:spPr>
          <a:xfrm>
            <a:off x="6305550" y="4286250"/>
            <a:ext cx="5455781" cy="194310"/>
          </a:xfrm>
          <a:prstGeom prst="rect">
            <a:avLst/>
          </a:prstGeom>
          <a:noFill/>
        </p:spPr>
        <p:txBody>
          <a:bodyPr wrap="none" lIns="0" rIns="0" tIns="0" bIns="0">
            <a:spAutoFit/>
          </a:bodyPr>
          <a:lstStyle/>
          <a:p>
            <a:r>
              <a:rPr sz="1150" b="0">
                <a:solidFill>
                  <a:srgbClr val="2E2E2E"/>
                </a:solidFill>
                <a:latin typeface="Calibri"/>
              </a:rPr>
              <a:t>By 2036, sublingual immunotherapy (SLIT) segment is anticipated to witness an increase of</a:t>
            </a:r>
          </a:p>
        </p:txBody>
      </p:sp>
      <p:pic>
        <p:nvPicPr>
          <p:cNvPr id="29" name="Picture 28" descr="lock.png"/>
          <p:cNvPicPr>
            <a:picLocks noChangeAspect="1"/>
          </p:cNvPicPr>
          <p:nvPr/>
        </p:nvPicPr>
        <p:blipFill>
          <a:blip r:embed="rId7"/>
          <a:stretch>
            <a:fillRect/>
          </a:stretch>
        </p:blipFill>
        <p:spPr>
          <a:xfrm>
            <a:off x="6291470" y="4451286"/>
            <a:ext cx="134549" cy="195707"/>
          </a:xfrm>
          <a:prstGeom prst="rect">
            <a:avLst/>
          </a:prstGeom>
        </p:spPr>
      </p:pic>
      <p:sp>
        <p:nvSpPr>
          <p:cNvPr id="30" name="TextBox 29"/>
          <p:cNvSpPr txBox="1"/>
          <p:nvPr/>
        </p:nvSpPr>
        <p:spPr>
          <a:xfrm>
            <a:off x="6466579" y="4461510"/>
            <a:ext cx="5415582" cy="194310"/>
          </a:xfrm>
          <a:prstGeom prst="rect">
            <a:avLst/>
          </a:prstGeom>
          <a:noFill/>
        </p:spPr>
        <p:txBody>
          <a:bodyPr wrap="none" lIns="0" rIns="0" tIns="0" bIns="0">
            <a:spAutoFit/>
          </a:bodyPr>
          <a:lstStyle/>
          <a:p>
            <a:r>
              <a:rPr sz="1150" b="0">
                <a:solidFill>
                  <a:srgbClr val="2E2E2E"/>
                </a:solidFill>
                <a:latin typeface="Calibri"/>
              </a:rPr>
              <a:t>X in terms of value as compared to 2026. The sublingual immunotherapy (SLIT) segment is</a:t>
            </a:r>
          </a:p>
        </p:txBody>
      </p:sp>
      <p:sp>
        <p:nvSpPr>
          <p:cNvPr id="31" name="TextBox 30"/>
          <p:cNvSpPr txBox="1"/>
          <p:nvPr/>
        </p:nvSpPr>
        <p:spPr>
          <a:xfrm>
            <a:off x="6305550" y="4636770"/>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32" name="Picture 31" descr="lock.png"/>
          <p:cNvPicPr>
            <a:picLocks noChangeAspect="1"/>
          </p:cNvPicPr>
          <p:nvPr/>
        </p:nvPicPr>
        <p:blipFill>
          <a:blip r:embed="rId7"/>
          <a:stretch>
            <a:fillRect/>
          </a:stretch>
        </p:blipFill>
        <p:spPr>
          <a:xfrm>
            <a:off x="9540010" y="4626546"/>
            <a:ext cx="134549" cy="195707"/>
          </a:xfrm>
          <a:prstGeom prst="rect">
            <a:avLst/>
          </a:prstGeom>
        </p:spPr>
      </p:pic>
      <p:sp>
        <p:nvSpPr>
          <p:cNvPr id="33" name="TextBox 32"/>
          <p:cNvSpPr txBox="1"/>
          <p:nvPr/>
        </p:nvSpPr>
        <p:spPr>
          <a:xfrm>
            <a:off x="9715119" y="4636770"/>
            <a:ext cx="1581199" cy="194310"/>
          </a:xfrm>
          <a:prstGeom prst="rect">
            <a:avLst/>
          </a:prstGeom>
          <a:noFill/>
        </p:spPr>
        <p:txBody>
          <a:bodyPr wrap="none" lIns="0" rIns="0" tIns="0" bIns="0">
            <a:spAutoFit/>
          </a:bodyPr>
          <a:lstStyle/>
          <a:p>
            <a:r>
              <a:rPr sz="1150" b="0">
                <a:solidFill>
                  <a:srgbClr val="2E2E2E"/>
                </a:solidFill>
                <a:latin typeface="Calibri"/>
              </a:rPr>
              <a:t>Mn for the overall allergy</a:t>
            </a:r>
          </a:p>
        </p:txBody>
      </p:sp>
      <p:sp>
        <p:nvSpPr>
          <p:cNvPr id="34" name="TextBox 33"/>
          <p:cNvSpPr txBox="1"/>
          <p:nvPr/>
        </p:nvSpPr>
        <p:spPr>
          <a:xfrm>
            <a:off x="6305550" y="4812029"/>
            <a:ext cx="2672866" cy="194310"/>
          </a:xfrm>
          <a:prstGeom prst="rect">
            <a:avLst/>
          </a:prstGeom>
          <a:noFill/>
        </p:spPr>
        <p:txBody>
          <a:bodyPr wrap="none" lIns="0" rIns="0" tIns="0" bIns="0">
            <a:spAutoFit/>
          </a:bodyPr>
          <a:lstStyle/>
          <a:p>
            <a:r>
              <a:rPr sz="1150" b="0">
                <a:solidFill>
                  <a:srgbClr val="2E2E2E"/>
                </a:solidFill>
                <a:latin typeface="Calibri"/>
              </a:rPr>
              <a:t>immunotherapy market from 2026 to 2036.</a:t>
            </a:r>
          </a:p>
        </p:txBody>
      </p:sp>
      <p:sp>
        <p:nvSpPr>
          <p:cNvPr id="35" name="TextBox 34"/>
          <p:cNvSpPr txBox="1"/>
          <p:nvPr/>
        </p:nvSpPr>
        <p:spPr>
          <a:xfrm>
            <a:off x="6305550" y="5039867"/>
            <a:ext cx="5272955" cy="194310"/>
          </a:xfrm>
          <a:prstGeom prst="rect">
            <a:avLst/>
          </a:prstGeom>
          <a:noFill/>
        </p:spPr>
        <p:txBody>
          <a:bodyPr wrap="none" lIns="0" rIns="0" tIns="0" bIns="0">
            <a:spAutoFit/>
          </a:bodyPr>
          <a:lstStyle/>
          <a:p>
            <a:r>
              <a:rPr sz="1150" b="0">
                <a:solidFill>
                  <a:srgbClr val="2E2E2E"/>
                </a:solidFill>
                <a:latin typeface="Calibri"/>
              </a:rPr>
              <a:t>The subcutaneous immunotherapy (SCIT) segment is expected to create an incremental</a:t>
            </a:r>
          </a:p>
        </p:txBody>
      </p:sp>
      <p:sp>
        <p:nvSpPr>
          <p:cNvPr id="36" name="TextBox 35"/>
          <p:cNvSpPr txBox="1"/>
          <p:nvPr/>
        </p:nvSpPr>
        <p:spPr>
          <a:xfrm>
            <a:off x="6305550" y="5215127"/>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7" name="Picture 36" descr="lock.png"/>
          <p:cNvPicPr>
            <a:picLocks noChangeAspect="1"/>
          </p:cNvPicPr>
          <p:nvPr/>
        </p:nvPicPr>
        <p:blipFill>
          <a:blip r:embed="rId7"/>
          <a:stretch>
            <a:fillRect/>
          </a:stretch>
        </p:blipFill>
        <p:spPr>
          <a:xfrm>
            <a:off x="7463647" y="5204904"/>
            <a:ext cx="134549" cy="195707"/>
          </a:xfrm>
          <a:prstGeom prst="rect">
            <a:avLst/>
          </a:prstGeom>
        </p:spPr>
      </p:pic>
      <p:sp>
        <p:nvSpPr>
          <p:cNvPr id="38" name="TextBox 37"/>
          <p:cNvSpPr txBox="1"/>
          <p:nvPr/>
        </p:nvSpPr>
        <p:spPr>
          <a:xfrm>
            <a:off x="7638756" y="5215127"/>
            <a:ext cx="4210955"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a:t>
            </a:r>
          </a:p>
        </p:txBody>
      </p:sp>
      <p:sp>
        <p:nvSpPr>
          <p:cNvPr id="39" name="TextBox 38"/>
          <p:cNvSpPr txBox="1"/>
          <p:nvPr/>
        </p:nvSpPr>
        <p:spPr>
          <a:xfrm>
            <a:off x="6305550" y="5390387"/>
            <a:ext cx="5525690" cy="194310"/>
          </a:xfrm>
          <a:prstGeom prst="rect">
            <a:avLst/>
          </a:prstGeom>
          <a:noFill/>
        </p:spPr>
        <p:txBody>
          <a:bodyPr wrap="none" lIns="0" rIns="0" tIns="0" bIns="0">
            <a:spAutoFit/>
          </a:bodyPr>
          <a:lstStyle/>
          <a:p>
            <a:r>
              <a:rPr sz="1150" b="0">
                <a:solidFill>
                  <a:srgbClr val="2E2E2E"/>
                </a:solidFill>
                <a:latin typeface="Calibri"/>
              </a:rPr>
              <a:t>The oral immunotherapy (OIT) segment is expected to create an incremental opportunity of</a:t>
            </a:r>
          </a:p>
        </p:txBody>
      </p:sp>
      <p:sp>
        <p:nvSpPr>
          <p:cNvPr id="40" name="TextBox 39"/>
          <p:cNvSpPr txBox="1"/>
          <p:nvPr/>
        </p:nvSpPr>
        <p:spPr>
          <a:xfrm>
            <a:off x="6305550" y="5565647"/>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41" name="Picture 40" descr="lock.png"/>
          <p:cNvPicPr>
            <a:picLocks noChangeAspect="1"/>
          </p:cNvPicPr>
          <p:nvPr/>
        </p:nvPicPr>
        <p:blipFill>
          <a:blip r:embed="rId7"/>
          <a:stretch>
            <a:fillRect/>
          </a:stretch>
        </p:blipFill>
        <p:spPr>
          <a:xfrm>
            <a:off x="6565953" y="5555424"/>
            <a:ext cx="134549" cy="195707"/>
          </a:xfrm>
          <a:prstGeom prst="rect">
            <a:avLst/>
          </a:prstGeom>
        </p:spPr>
      </p:pic>
      <p:sp>
        <p:nvSpPr>
          <p:cNvPr id="42" name="TextBox 41"/>
          <p:cNvSpPr txBox="1"/>
          <p:nvPr/>
        </p:nvSpPr>
        <p:spPr>
          <a:xfrm>
            <a:off x="6741062" y="5565647"/>
            <a:ext cx="4210955"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a:t>
            </a:r>
          </a:p>
        </p:txBody>
      </p:sp>
      <p:sp>
        <p:nvSpPr>
          <p:cNvPr id="43"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Therapy Format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Therapy Format,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Therapy Format (US$ Mn)</a:t>
            </a:r>
          </a:p>
        </p:txBody>
      </p:sp>
      <p:graphicFrame>
        <p:nvGraphicFramePr>
          <p:cNvPr id="13" name="Table 12"/>
          <p:cNvGraphicFramePr>
            <a:graphicFrameLocks noGrp="1"/>
          </p:cNvGraphicFramePr>
          <p:nvPr/>
        </p:nvGraphicFramePr>
        <p:xfrm>
          <a:off x="152400" y="1238250"/>
          <a:ext cx="11887196" cy="1724028"/>
        </p:xfrm>
        <a:graphic>
          <a:graphicData uri="http://schemas.openxmlformats.org/drawingml/2006/table">
            <a:tbl>
              <a:tblPr>
                <a:tableStyleId>{5C22544A-7EE6-4342-B048-85BDC9FD1C3A}</a:tableStyleId>
              </a:tblPr>
              <a:tblGrid>
                <a:gridCol w="2058748"/>
                <a:gridCol w="578144"/>
                <a:gridCol w="578144"/>
                <a:gridCol w="578144"/>
                <a:gridCol w="578144"/>
                <a:gridCol w="578144"/>
                <a:gridCol w="578144"/>
                <a:gridCol w="578144"/>
                <a:gridCol w="578144"/>
                <a:gridCol w="578144"/>
                <a:gridCol w="578144"/>
                <a:gridCol w="578144"/>
                <a:gridCol w="578144"/>
                <a:gridCol w="578144"/>
                <a:gridCol w="578144"/>
                <a:gridCol w="578144"/>
                <a:gridCol w="578144"/>
                <a:gridCol w="578144"/>
              </a:tblGrid>
              <a:tr h="246126">
                <a:tc>
                  <a:txBody>
                    <a:bodyPr wrap="none"/>
                    <a:lstStyle/>
                    <a:p>
                      <a:pPr algn="l"/>
                      <a:r>
                        <a:rPr sz="1100" b="1">
                          <a:solidFill>
                            <a:srgbClr val="0B2E4A"/>
                          </a:solidFill>
                          <a:latin typeface="Calibri"/>
                        </a:rPr>
                        <a:t>Therapy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Subcutaneous Immunotherapy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Sublingual Immunotherapy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 SLIT Tablets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SLIT Solutions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Oral Immunotherapy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2,428</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5,439</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8.4%</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Therapy Format</a:t>
            </a:r>
          </a:p>
        </p:txBody>
      </p:sp>
      <p:sp>
        <p:nvSpPr>
          <p:cNvPr id="17" name="Rectangle 16"/>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938682" y="1956627"/>
            <a:ext cx="366712" cy="533400"/>
          </a:xfrm>
          <a:prstGeom prst="rect">
            <a:avLst/>
          </a:prstGeom>
        </p:spPr>
      </p:pic>
      <p:sp>
        <p:nvSpPr>
          <p:cNvPr id="21" name="TextBox 20"/>
          <p:cNvSpPr txBox="1"/>
          <p:nvPr/>
        </p:nvSpPr>
        <p:spPr>
          <a:xfrm>
            <a:off x="276225" y="3724275"/>
            <a:ext cx="3965922" cy="194310"/>
          </a:xfrm>
          <a:prstGeom prst="rect">
            <a:avLst/>
          </a:prstGeom>
          <a:noFill/>
        </p:spPr>
        <p:txBody>
          <a:bodyPr wrap="none" lIns="0" rIns="0" tIns="0" bIns="0">
            <a:spAutoFit/>
          </a:bodyPr>
          <a:lstStyle/>
          <a:p>
            <a:r>
              <a:rPr sz="1150" b="0">
                <a:solidFill>
                  <a:srgbClr val="2E2E2E"/>
                </a:solidFill>
                <a:latin typeface="Calibri"/>
              </a:rPr>
              <a:t>Sublingual immunotherapy (SLIT) segment is projected to register</a:t>
            </a:r>
          </a:p>
        </p:txBody>
      </p:sp>
      <p:pic>
        <p:nvPicPr>
          <p:cNvPr id="22" name="Picture 21" descr="lock.png"/>
          <p:cNvPicPr>
            <a:picLocks noChangeAspect="1"/>
          </p:cNvPicPr>
          <p:nvPr/>
        </p:nvPicPr>
        <p:blipFill>
          <a:blip r:embed="rId4"/>
          <a:stretch>
            <a:fillRect/>
          </a:stretch>
        </p:blipFill>
        <p:spPr>
          <a:xfrm>
            <a:off x="4191301" y="3714051"/>
            <a:ext cx="134549" cy="195707"/>
          </a:xfrm>
          <a:prstGeom prst="rect">
            <a:avLst/>
          </a:prstGeom>
        </p:spPr>
      </p:pic>
      <p:sp>
        <p:nvSpPr>
          <p:cNvPr id="23" name="TextBox 22"/>
          <p:cNvSpPr txBox="1"/>
          <p:nvPr/>
        </p:nvSpPr>
        <p:spPr>
          <a:xfrm>
            <a:off x="4366410" y="3724275"/>
            <a:ext cx="7058359" cy="194310"/>
          </a:xfrm>
          <a:prstGeom prst="rect">
            <a:avLst/>
          </a:prstGeom>
          <a:noFill/>
        </p:spPr>
        <p:txBody>
          <a:bodyPr wrap="none" lIns="0" rIns="0" tIns="0" bIns="0">
            <a:spAutoFit/>
          </a:bodyPr>
          <a:lstStyle/>
          <a:p>
            <a:r>
              <a:rPr sz="1150" b="0">
                <a:solidFill>
                  <a:srgbClr val="2E2E2E"/>
                </a:solidFill>
                <a:latin typeface="Calibri"/>
              </a:rPr>
              <a:t>X higher value than subcutaneous immunotherapy (SCIT) segment in 2036. Among allergy immunotherapy by therapy</a:t>
            </a:r>
          </a:p>
        </p:txBody>
      </p:sp>
      <p:sp>
        <p:nvSpPr>
          <p:cNvPr id="24" name="TextBox 23"/>
          <p:cNvSpPr txBox="1"/>
          <p:nvPr/>
        </p:nvSpPr>
        <p:spPr>
          <a:xfrm>
            <a:off x="276225" y="3899535"/>
            <a:ext cx="5622088" cy="194310"/>
          </a:xfrm>
          <a:prstGeom prst="rect">
            <a:avLst/>
          </a:prstGeom>
          <a:noFill/>
        </p:spPr>
        <p:txBody>
          <a:bodyPr wrap="none" lIns="0" rIns="0" tIns="0" bIns="0">
            <a:spAutoFit/>
          </a:bodyPr>
          <a:lstStyle/>
          <a:p>
            <a:r>
              <a:rPr sz="1150" b="0">
                <a:solidFill>
                  <a:srgbClr val="2E2E2E"/>
                </a:solidFill>
                <a:latin typeface="Calibri"/>
              </a:rPr>
              <a:t>format, sublingual immunotherapy (SLIT) segment is expected to witness the highest CAGR of</a:t>
            </a:r>
          </a:p>
        </p:txBody>
      </p:sp>
      <p:pic>
        <p:nvPicPr>
          <p:cNvPr id="25" name="Picture 24" descr="lock.png"/>
          <p:cNvPicPr>
            <a:picLocks noChangeAspect="1"/>
          </p:cNvPicPr>
          <p:nvPr/>
        </p:nvPicPr>
        <p:blipFill>
          <a:blip r:embed="rId4"/>
          <a:stretch>
            <a:fillRect/>
          </a:stretch>
        </p:blipFill>
        <p:spPr>
          <a:xfrm>
            <a:off x="5847467" y="3889311"/>
            <a:ext cx="134549" cy="195707"/>
          </a:xfrm>
          <a:prstGeom prst="rect">
            <a:avLst/>
          </a:prstGeom>
        </p:spPr>
      </p:pic>
      <p:sp>
        <p:nvSpPr>
          <p:cNvPr id="26" name="TextBox 25"/>
          <p:cNvSpPr txBox="1"/>
          <p:nvPr/>
        </p:nvSpPr>
        <p:spPr>
          <a:xfrm>
            <a:off x="6022576"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127372"/>
            <a:ext cx="8007970" cy="194310"/>
          </a:xfrm>
          <a:prstGeom prst="rect">
            <a:avLst/>
          </a:prstGeom>
          <a:noFill/>
        </p:spPr>
        <p:txBody>
          <a:bodyPr wrap="none" lIns="0" rIns="0" tIns="0" bIns="0">
            <a:spAutoFit/>
          </a:bodyPr>
          <a:lstStyle/>
          <a:p>
            <a:r>
              <a:rPr sz="1150" b="0">
                <a:solidFill>
                  <a:srgbClr val="2E2E2E"/>
                </a:solidFill>
                <a:latin typeface="Calibri"/>
              </a:rPr>
              <a:t>In terms of value share by therapy format, the sublingual immunotherapy (SLIT) segment is expected to dominate the market, gaining</a:t>
            </a:r>
          </a:p>
        </p:txBody>
      </p:sp>
      <p:pic>
        <p:nvPicPr>
          <p:cNvPr id="28" name="Picture 27" descr="lock.png"/>
          <p:cNvPicPr>
            <a:picLocks noChangeAspect="1"/>
          </p:cNvPicPr>
          <p:nvPr/>
        </p:nvPicPr>
        <p:blipFill>
          <a:blip r:embed="rId4"/>
          <a:stretch>
            <a:fillRect/>
          </a:stretch>
        </p:blipFill>
        <p:spPr>
          <a:xfrm>
            <a:off x="8233349" y="4117149"/>
            <a:ext cx="134549" cy="195707"/>
          </a:xfrm>
          <a:prstGeom prst="rect">
            <a:avLst/>
          </a:prstGeom>
        </p:spPr>
      </p:pic>
      <p:sp>
        <p:nvSpPr>
          <p:cNvPr id="29" name="TextBox 28"/>
          <p:cNvSpPr txBox="1"/>
          <p:nvPr/>
        </p:nvSpPr>
        <p:spPr>
          <a:xfrm>
            <a:off x="8408458"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9803601" y="4117149"/>
            <a:ext cx="134549" cy="195707"/>
          </a:xfrm>
          <a:prstGeom prst="rect">
            <a:avLst/>
          </a:prstGeom>
        </p:spPr>
      </p:pic>
      <p:sp>
        <p:nvSpPr>
          <p:cNvPr id="31" name="TextBox 30"/>
          <p:cNvSpPr txBox="1"/>
          <p:nvPr/>
        </p:nvSpPr>
        <p:spPr>
          <a:xfrm>
            <a:off x="9978710" y="4127372"/>
            <a:ext cx="1464816" cy="194310"/>
          </a:xfrm>
          <a:prstGeom prst="rect">
            <a:avLst/>
          </a:prstGeom>
          <a:noFill/>
        </p:spPr>
        <p:txBody>
          <a:bodyPr wrap="none" lIns="0" rIns="0" tIns="0" bIns="0">
            <a:spAutoFit/>
          </a:bodyPr>
          <a:lstStyle/>
          <a:p>
            <a:r>
              <a:rPr sz="1150" b="0">
                <a:solidFill>
                  <a:srgbClr val="2E2E2E"/>
                </a:solidFill>
                <a:latin typeface="Calibri"/>
              </a:rPr>
              <a:t>share by 2036. The oral</a:t>
            </a:r>
          </a:p>
        </p:txBody>
      </p:sp>
      <p:sp>
        <p:nvSpPr>
          <p:cNvPr id="32" name="TextBox 31"/>
          <p:cNvSpPr txBox="1"/>
          <p:nvPr/>
        </p:nvSpPr>
        <p:spPr>
          <a:xfrm>
            <a:off x="276225" y="4302632"/>
            <a:ext cx="3044837" cy="194310"/>
          </a:xfrm>
          <a:prstGeom prst="rect">
            <a:avLst/>
          </a:prstGeom>
          <a:noFill/>
        </p:spPr>
        <p:txBody>
          <a:bodyPr wrap="none" lIns="0" rIns="0" tIns="0" bIns="0">
            <a:spAutoFit/>
          </a:bodyPr>
          <a:lstStyle/>
          <a:p>
            <a:r>
              <a:rPr sz="1150" b="0">
                <a:solidFill>
                  <a:srgbClr val="2E2E2E"/>
                </a:solidFill>
                <a:latin typeface="Calibri"/>
              </a:rPr>
              <a:t>immunotherapy (OIT) segment is expected to lose</a:t>
            </a:r>
          </a:p>
        </p:txBody>
      </p:sp>
      <p:pic>
        <p:nvPicPr>
          <p:cNvPr id="33" name="Picture 32" descr="lock.png"/>
          <p:cNvPicPr>
            <a:picLocks noChangeAspect="1"/>
          </p:cNvPicPr>
          <p:nvPr/>
        </p:nvPicPr>
        <p:blipFill>
          <a:blip r:embed="rId4"/>
          <a:stretch>
            <a:fillRect/>
          </a:stretch>
        </p:blipFill>
        <p:spPr>
          <a:xfrm>
            <a:off x="3270216" y="4292409"/>
            <a:ext cx="134549" cy="195707"/>
          </a:xfrm>
          <a:prstGeom prst="rect">
            <a:avLst/>
          </a:prstGeom>
        </p:spPr>
      </p:pic>
      <p:sp>
        <p:nvSpPr>
          <p:cNvPr id="34" name="TextBox 33"/>
          <p:cNvSpPr txBox="1"/>
          <p:nvPr/>
        </p:nvSpPr>
        <p:spPr>
          <a:xfrm>
            <a:off x="3445325"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6032830" y="4292409"/>
            <a:ext cx="134549" cy="195707"/>
          </a:xfrm>
          <a:prstGeom prst="rect">
            <a:avLst/>
          </a:prstGeom>
        </p:spPr>
      </p:pic>
      <p:sp>
        <p:nvSpPr>
          <p:cNvPr id="36" name="TextBox 35"/>
          <p:cNvSpPr txBox="1"/>
          <p:nvPr/>
        </p:nvSpPr>
        <p:spPr>
          <a:xfrm>
            <a:off x="6207939"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Therapy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Therapy Format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Therapy Format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82078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181602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7398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Oral Immunotherapy</a:t>
            </a:r>
          </a:p>
        </p:txBody>
      </p:sp>
      <p:sp>
        <p:nvSpPr>
          <p:cNvPr id="19" name="BPS Value 1"/>
          <p:cNvSpPr txBox="1"/>
          <p:nvPr/>
        </p:nvSpPr>
        <p:spPr>
          <a:xfrm>
            <a:off x="6896100" y="180173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98718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98242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90622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Subcutaneous Immunotherapy</a:t>
            </a:r>
          </a:p>
        </p:txBody>
      </p:sp>
      <p:sp>
        <p:nvSpPr>
          <p:cNvPr id="23" name="BPS Value 2"/>
          <p:cNvSpPr txBox="1"/>
          <p:nvPr/>
        </p:nvSpPr>
        <p:spPr>
          <a:xfrm>
            <a:off x="6896100" y="296813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928997" y="512384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511908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504288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Sublingual Immunotherapy</a:t>
            </a:r>
          </a:p>
        </p:txBody>
      </p:sp>
      <p:sp>
        <p:nvSpPr>
          <p:cNvPr id="27" name="BPS Value 3"/>
          <p:cNvSpPr txBox="1"/>
          <p:nvPr/>
        </p:nvSpPr>
        <p:spPr>
          <a:xfrm>
            <a:off x="6896100" y="510479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Therapy Format</a:t>
            </a:r>
          </a:p>
        </p:txBody>
      </p:sp>
      <p:sp>
        <p:nvSpPr>
          <p:cNvPr id="30" name="Rectangle 29"/>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5"/>
          <a:stretch>
            <a:fillRect/>
          </a:stretch>
        </p:blipFill>
        <p:spPr>
          <a:xfrm>
            <a:off x="2557843" y="3833622"/>
            <a:ext cx="275034" cy="400050"/>
          </a:xfrm>
          <a:prstGeom prst="rect">
            <a:avLst/>
          </a:prstGeom>
        </p:spPr>
      </p:pic>
      <p:sp>
        <p:nvSpPr>
          <p:cNvPr id="34" name="TextBox 33"/>
          <p:cNvSpPr txBox="1"/>
          <p:nvPr/>
        </p:nvSpPr>
        <p:spPr>
          <a:xfrm>
            <a:off x="7829550" y="1400175"/>
            <a:ext cx="3707767" cy="194310"/>
          </a:xfrm>
          <a:prstGeom prst="rect">
            <a:avLst/>
          </a:prstGeom>
          <a:noFill/>
        </p:spPr>
        <p:txBody>
          <a:bodyPr wrap="none" lIns="0" rIns="0" tIns="0" bIns="0">
            <a:spAutoFit/>
          </a:bodyPr>
          <a:lstStyle/>
          <a:p>
            <a:r>
              <a:rPr sz="1150" b="0">
                <a:solidFill>
                  <a:srgbClr val="2E2E2E"/>
                </a:solidFill>
                <a:latin typeface="Calibri"/>
              </a:rPr>
              <a:t>Among allergy immunotherapy by therapy format, sublingual</a:t>
            </a:r>
          </a:p>
        </p:txBody>
      </p:sp>
      <p:sp>
        <p:nvSpPr>
          <p:cNvPr id="35" name="TextBox 34"/>
          <p:cNvSpPr txBox="1"/>
          <p:nvPr/>
        </p:nvSpPr>
        <p:spPr>
          <a:xfrm>
            <a:off x="7829550" y="1575435"/>
            <a:ext cx="3986175" cy="194310"/>
          </a:xfrm>
          <a:prstGeom prst="rect">
            <a:avLst/>
          </a:prstGeom>
          <a:noFill/>
        </p:spPr>
        <p:txBody>
          <a:bodyPr wrap="none" lIns="0" rIns="0" tIns="0" bIns="0">
            <a:spAutoFit/>
          </a:bodyPr>
          <a:lstStyle/>
          <a:p>
            <a:r>
              <a:rPr sz="1150" b="0">
                <a:solidFill>
                  <a:srgbClr val="2E2E2E"/>
                </a:solidFill>
                <a:latin typeface="Calibri"/>
              </a:rPr>
              <a:t>immunotherapy (SLIT) segment is expected to witness the highest</a:t>
            </a:r>
          </a:p>
        </p:txBody>
      </p:sp>
      <p:sp>
        <p:nvSpPr>
          <p:cNvPr id="36" name="TextBox 35"/>
          <p:cNvSpPr txBox="1"/>
          <p:nvPr/>
        </p:nvSpPr>
        <p:spPr>
          <a:xfrm>
            <a:off x="7829550" y="175069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37" name="Picture 36" descr="lock.png"/>
          <p:cNvPicPr>
            <a:picLocks noChangeAspect="1"/>
          </p:cNvPicPr>
          <p:nvPr/>
        </p:nvPicPr>
        <p:blipFill>
          <a:blip r:embed="rId5"/>
          <a:stretch>
            <a:fillRect/>
          </a:stretch>
        </p:blipFill>
        <p:spPr>
          <a:xfrm>
            <a:off x="8343240" y="1740471"/>
            <a:ext cx="134549" cy="195707"/>
          </a:xfrm>
          <a:prstGeom prst="rect">
            <a:avLst/>
          </a:prstGeom>
        </p:spPr>
      </p:pic>
      <p:sp>
        <p:nvSpPr>
          <p:cNvPr id="38" name="TextBox 37"/>
          <p:cNvSpPr txBox="1"/>
          <p:nvPr/>
        </p:nvSpPr>
        <p:spPr>
          <a:xfrm>
            <a:off x="8518350" y="175069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39" name="TextBox 38"/>
          <p:cNvSpPr txBox="1"/>
          <p:nvPr/>
        </p:nvSpPr>
        <p:spPr>
          <a:xfrm>
            <a:off x="7829550" y="1925955"/>
            <a:ext cx="3906304" cy="194310"/>
          </a:xfrm>
          <a:prstGeom prst="rect">
            <a:avLst/>
          </a:prstGeom>
          <a:noFill/>
        </p:spPr>
        <p:txBody>
          <a:bodyPr wrap="none" lIns="0" rIns="0" tIns="0" bIns="0">
            <a:spAutoFit/>
          </a:bodyPr>
          <a:lstStyle/>
          <a:p>
            <a:r>
              <a:rPr sz="1150" b="0">
                <a:solidFill>
                  <a:srgbClr val="2E2E2E"/>
                </a:solidFill>
                <a:latin typeface="Calibri"/>
              </a:rPr>
              <a:t>therapy format, the sublingual immunotherapy (SLIT) segment is</a:t>
            </a:r>
          </a:p>
        </p:txBody>
      </p:sp>
      <p:sp>
        <p:nvSpPr>
          <p:cNvPr id="40" name="TextBox 39"/>
          <p:cNvSpPr txBox="1"/>
          <p:nvPr/>
        </p:nvSpPr>
        <p:spPr>
          <a:xfrm>
            <a:off x="7829550" y="2101215"/>
            <a:ext cx="2575309" cy="194310"/>
          </a:xfrm>
          <a:prstGeom prst="rect">
            <a:avLst/>
          </a:prstGeom>
          <a:noFill/>
        </p:spPr>
        <p:txBody>
          <a:bodyPr wrap="none" lIns="0" rIns="0" tIns="0" bIns="0">
            <a:spAutoFit/>
          </a:bodyPr>
          <a:lstStyle/>
          <a:p>
            <a:r>
              <a:rPr sz="1150" b="0">
                <a:solidFill>
                  <a:srgbClr val="2E2E2E"/>
                </a:solidFill>
                <a:latin typeface="Calibri"/>
              </a:rPr>
              <a:t>expected to dominate the market, gaining</a:t>
            </a:r>
          </a:p>
        </p:txBody>
      </p:sp>
      <p:pic>
        <p:nvPicPr>
          <p:cNvPr id="41" name="Picture 40" descr="lock.png"/>
          <p:cNvPicPr>
            <a:picLocks noChangeAspect="1"/>
          </p:cNvPicPr>
          <p:nvPr/>
        </p:nvPicPr>
        <p:blipFill>
          <a:blip r:embed="rId5"/>
          <a:stretch>
            <a:fillRect/>
          </a:stretch>
        </p:blipFill>
        <p:spPr>
          <a:xfrm>
            <a:off x="10354013" y="2090991"/>
            <a:ext cx="134549" cy="195707"/>
          </a:xfrm>
          <a:prstGeom prst="rect">
            <a:avLst/>
          </a:prstGeom>
        </p:spPr>
      </p:pic>
      <p:sp>
        <p:nvSpPr>
          <p:cNvPr id="42" name="TextBox 41"/>
          <p:cNvSpPr txBox="1"/>
          <p:nvPr/>
        </p:nvSpPr>
        <p:spPr>
          <a:xfrm>
            <a:off x="10529122" y="210121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43" name="TextBox 42"/>
          <p:cNvSpPr txBox="1"/>
          <p:nvPr/>
        </p:nvSpPr>
        <p:spPr>
          <a:xfrm>
            <a:off x="7829550" y="227647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44" name="Picture 43" descr="lock.png"/>
          <p:cNvPicPr>
            <a:picLocks noChangeAspect="1"/>
          </p:cNvPicPr>
          <p:nvPr/>
        </p:nvPicPr>
        <p:blipFill>
          <a:blip r:embed="rId5"/>
          <a:stretch>
            <a:fillRect/>
          </a:stretch>
        </p:blipFill>
        <p:spPr>
          <a:xfrm>
            <a:off x="8027482" y="2266251"/>
            <a:ext cx="134549" cy="195707"/>
          </a:xfrm>
          <a:prstGeom prst="rect">
            <a:avLst/>
          </a:prstGeom>
        </p:spPr>
      </p:pic>
      <p:sp>
        <p:nvSpPr>
          <p:cNvPr id="45" name="TextBox 44"/>
          <p:cNvSpPr txBox="1"/>
          <p:nvPr/>
        </p:nvSpPr>
        <p:spPr>
          <a:xfrm>
            <a:off x="8202591"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6" name="TextBox 45"/>
          <p:cNvSpPr txBox="1"/>
          <p:nvPr/>
        </p:nvSpPr>
        <p:spPr>
          <a:xfrm>
            <a:off x="7829550" y="2504313"/>
            <a:ext cx="3563429" cy="194310"/>
          </a:xfrm>
          <a:prstGeom prst="rect">
            <a:avLst/>
          </a:prstGeom>
          <a:noFill/>
        </p:spPr>
        <p:txBody>
          <a:bodyPr wrap="none" lIns="0" rIns="0" tIns="0" bIns="0">
            <a:spAutoFit/>
          </a:bodyPr>
          <a:lstStyle/>
          <a:p>
            <a:r>
              <a:rPr sz="1150" b="0">
                <a:solidFill>
                  <a:srgbClr val="2E2E2E"/>
                </a:solidFill>
                <a:latin typeface="Calibri"/>
              </a:rPr>
              <a:t>The oral immunotherapy (OIT) segment is expected to lose</a:t>
            </a:r>
          </a:p>
        </p:txBody>
      </p:sp>
      <p:pic>
        <p:nvPicPr>
          <p:cNvPr id="47" name="Picture 46" descr="lock.png"/>
          <p:cNvPicPr>
            <a:picLocks noChangeAspect="1"/>
          </p:cNvPicPr>
          <p:nvPr/>
        </p:nvPicPr>
        <p:blipFill>
          <a:blip r:embed="rId5"/>
          <a:stretch>
            <a:fillRect/>
          </a:stretch>
        </p:blipFill>
        <p:spPr>
          <a:xfrm>
            <a:off x="11342132" y="2494089"/>
            <a:ext cx="134549" cy="195707"/>
          </a:xfrm>
          <a:prstGeom prst="rect">
            <a:avLst/>
          </a:prstGeom>
        </p:spPr>
      </p:pic>
      <p:sp>
        <p:nvSpPr>
          <p:cNvPr id="48" name="TextBox 47"/>
          <p:cNvSpPr txBox="1"/>
          <p:nvPr/>
        </p:nvSpPr>
        <p:spPr>
          <a:xfrm>
            <a:off x="11517242" y="250431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49" name="TextBox 48"/>
          <p:cNvSpPr txBox="1"/>
          <p:nvPr/>
        </p:nvSpPr>
        <p:spPr>
          <a:xfrm>
            <a:off x="7829550" y="267957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0" name="Picture 49" descr="lock.png"/>
          <p:cNvPicPr>
            <a:picLocks noChangeAspect="1"/>
          </p:cNvPicPr>
          <p:nvPr/>
        </p:nvPicPr>
        <p:blipFill>
          <a:blip r:embed="rId5"/>
          <a:stretch>
            <a:fillRect/>
          </a:stretch>
        </p:blipFill>
        <p:spPr>
          <a:xfrm>
            <a:off x="10161752" y="2669349"/>
            <a:ext cx="134549" cy="195707"/>
          </a:xfrm>
          <a:prstGeom prst="rect">
            <a:avLst/>
          </a:prstGeom>
        </p:spPr>
      </p:pic>
      <p:sp>
        <p:nvSpPr>
          <p:cNvPr id="51" name="TextBox 50"/>
          <p:cNvSpPr txBox="1"/>
          <p:nvPr/>
        </p:nvSpPr>
        <p:spPr>
          <a:xfrm>
            <a:off x="10336861"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Allergen Class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Allergen Class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Allergen Class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Allergen Class,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Allergen Class segment categorizes the market by allergen class.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Inhalant Allergens</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Food Allergens</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Venom Allergens</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Allergen Class split shows how demand is distributed across allergen class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Allergen Class segment is projected to grow at a CAGR of 8.4% from 2026 to 2036.</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1_444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3_476_605E5C.png"/>
          <p:cNvPicPr>
            <a:picLocks noChangeAspect="1"/>
          </p:cNvPicPr>
          <p:nvPr/>
        </p:nvPicPr>
        <p:blipFill>
          <a:blip r:embed="rId5"/>
          <a:stretch>
            <a:fillRect/>
          </a:stretch>
        </p:blipFill>
        <p:spPr>
          <a:xfrm>
            <a:off x="2897811" y="2779432"/>
            <a:ext cx="1195728" cy="361950"/>
          </a:xfrm>
          <a:prstGeom prst="rect">
            <a:avLst/>
          </a:prstGeom>
        </p:spPr>
      </p:pic>
      <p:pic>
        <p:nvPicPr>
          <p:cNvPr id="59" name="Picture 58" descr="9_2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550_8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1_085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7_0__605E5C.png"/>
          <p:cNvPicPr>
            <a:picLocks noChangeAspect="1"/>
          </p:cNvPicPr>
          <p:nvPr/>
        </p:nvPicPr>
        <p:blipFill>
          <a:blip r:embed="rId9"/>
          <a:stretch>
            <a:fillRect/>
          </a:stretch>
        </p:blipFill>
        <p:spPr>
          <a:xfrm>
            <a:off x="6376307" y="3272281"/>
            <a:ext cx="982436" cy="361950"/>
          </a:xfrm>
          <a:prstGeom prst="rect">
            <a:avLst/>
          </a:prstGeom>
        </p:spPr>
      </p:pic>
      <p:pic>
        <p:nvPicPr>
          <p:cNvPr id="63" name="Picture 62" descr="432_5_605E5C.png"/>
          <p:cNvPicPr>
            <a:picLocks noChangeAspect="1"/>
          </p:cNvPicPr>
          <p:nvPr/>
        </p:nvPicPr>
        <p:blipFill>
          <a:blip r:embed="rId10"/>
          <a:stretch>
            <a:fillRect/>
          </a:stretch>
        </p:blipFill>
        <p:spPr>
          <a:xfrm>
            <a:off x="9641511" y="2286582"/>
            <a:ext cx="1195728" cy="361950"/>
          </a:xfrm>
          <a:prstGeom prst="rect">
            <a:avLst/>
          </a:prstGeom>
        </p:spPr>
      </p:pic>
      <p:pic>
        <p:nvPicPr>
          <p:cNvPr id="64" name="Picture 63" descr="878_2_605E5C.png"/>
          <p:cNvPicPr>
            <a:picLocks noChangeAspect="1"/>
          </p:cNvPicPr>
          <p:nvPr/>
        </p:nvPicPr>
        <p:blipFill>
          <a:blip r:embed="rId11"/>
          <a:stretch>
            <a:fillRect/>
          </a:stretch>
        </p:blipFill>
        <p:spPr>
          <a:xfrm>
            <a:off x="9641511" y="2779432"/>
            <a:ext cx="1195728" cy="361950"/>
          </a:xfrm>
          <a:prstGeom prst="rect">
            <a:avLst/>
          </a:prstGeom>
        </p:spPr>
      </p:pic>
      <p:pic>
        <p:nvPicPr>
          <p:cNvPr id="65" name="Picture 64" descr="7_3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833910" cy="186689"/>
          </a:xfrm>
          <a:prstGeom prst="rect">
            <a:avLst/>
          </a:prstGeom>
          <a:noFill/>
        </p:spPr>
        <p:txBody>
          <a:bodyPr wrap="none" lIns="0" rIns="0" tIns="0" bIns="0">
            <a:spAutoFit/>
          </a:bodyPr>
          <a:lstStyle/>
          <a:p>
            <a:r>
              <a:rPr sz="1100" b="0">
                <a:solidFill>
                  <a:srgbClr val="2E2E2E"/>
                </a:solidFill>
                <a:latin typeface="Calibri"/>
              </a:rPr>
              <a:t>Among allergy immunotherapy by allergen class,</a:t>
            </a:r>
          </a:p>
        </p:txBody>
      </p:sp>
      <p:sp>
        <p:nvSpPr>
          <p:cNvPr id="70" name="TextBox 69"/>
          <p:cNvSpPr txBox="1"/>
          <p:nvPr/>
        </p:nvSpPr>
        <p:spPr>
          <a:xfrm>
            <a:off x="485775" y="4397077"/>
            <a:ext cx="2896393" cy="186689"/>
          </a:xfrm>
          <a:prstGeom prst="rect">
            <a:avLst/>
          </a:prstGeom>
          <a:noFill/>
        </p:spPr>
        <p:txBody>
          <a:bodyPr wrap="none" lIns="0" rIns="0" tIns="0" bIns="0">
            <a:spAutoFit/>
          </a:bodyPr>
          <a:lstStyle/>
          <a:p>
            <a:r>
              <a:rPr sz="1100" b="0">
                <a:solidFill>
                  <a:srgbClr val="2E2E2E"/>
                </a:solidFill>
                <a:latin typeface="Calibri"/>
              </a:rPr>
              <a:t>inhalant allergens segment is expected to witness</a:t>
            </a:r>
          </a:p>
        </p:txBody>
      </p:sp>
      <p:sp>
        <p:nvSpPr>
          <p:cNvPr id="71" name="TextBox 70"/>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72" name="Picture 71" descr="lock.png"/>
          <p:cNvPicPr>
            <a:picLocks noChangeAspect="1"/>
          </p:cNvPicPr>
          <p:nvPr/>
        </p:nvPicPr>
        <p:blipFill>
          <a:blip r:embed="rId13"/>
          <a:stretch>
            <a:fillRect/>
          </a:stretch>
        </p:blipFill>
        <p:spPr>
          <a:xfrm>
            <a:off x="1646163" y="4554938"/>
            <a:ext cx="128699" cy="187198"/>
          </a:xfrm>
          <a:prstGeom prst="rect">
            <a:avLst/>
          </a:prstGeom>
        </p:spPr>
      </p:pic>
      <p:sp>
        <p:nvSpPr>
          <p:cNvPr id="73" name="TextBox 72"/>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74" name="TextBox 73"/>
          <p:cNvSpPr txBox="1"/>
          <p:nvPr/>
        </p:nvSpPr>
        <p:spPr>
          <a:xfrm>
            <a:off x="485775" y="4732357"/>
            <a:ext cx="2591345" cy="186689"/>
          </a:xfrm>
          <a:prstGeom prst="rect">
            <a:avLst/>
          </a:prstGeom>
          <a:noFill/>
        </p:spPr>
        <p:txBody>
          <a:bodyPr wrap="none" lIns="0" rIns="0" tIns="0" bIns="0">
            <a:spAutoFit/>
          </a:bodyPr>
          <a:lstStyle/>
          <a:p>
            <a:r>
              <a:rPr sz="1100" b="0">
                <a:solidFill>
                  <a:srgbClr val="2E2E2E"/>
                </a:solidFill>
                <a:latin typeface="Calibri"/>
              </a:rPr>
              <a:t>In terms of value share by allergen class, the</a:t>
            </a:r>
          </a:p>
        </p:txBody>
      </p:sp>
      <p:sp>
        <p:nvSpPr>
          <p:cNvPr id="75" name="TextBox 74"/>
          <p:cNvSpPr txBox="1"/>
          <p:nvPr/>
        </p:nvSpPr>
        <p:spPr>
          <a:xfrm>
            <a:off x="485775" y="4899997"/>
            <a:ext cx="2433637" cy="186689"/>
          </a:xfrm>
          <a:prstGeom prst="rect">
            <a:avLst/>
          </a:prstGeom>
          <a:noFill/>
        </p:spPr>
        <p:txBody>
          <a:bodyPr wrap="none" lIns="0" rIns="0" tIns="0" bIns="0">
            <a:spAutoFit/>
          </a:bodyPr>
          <a:lstStyle/>
          <a:p>
            <a:r>
              <a:rPr sz="1100" b="0">
                <a:solidFill>
                  <a:srgbClr val="2E2E2E"/>
                </a:solidFill>
                <a:latin typeface="Calibri"/>
              </a:rPr>
              <a:t>inhalant allergens segment is expected to</a:t>
            </a:r>
          </a:p>
        </p:txBody>
      </p:sp>
      <p:sp>
        <p:nvSpPr>
          <p:cNvPr id="76" name="TextBox 75"/>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77" name="Picture 76" descr="lock.png"/>
          <p:cNvPicPr>
            <a:picLocks noChangeAspect="1"/>
          </p:cNvPicPr>
          <p:nvPr/>
        </p:nvPicPr>
        <p:blipFill>
          <a:blip r:embed="rId13"/>
          <a:stretch>
            <a:fillRect/>
          </a:stretch>
        </p:blipFill>
        <p:spPr>
          <a:xfrm>
            <a:off x="2194339" y="5057858"/>
            <a:ext cx="128699" cy="187198"/>
          </a:xfrm>
          <a:prstGeom prst="rect">
            <a:avLst/>
          </a:prstGeom>
        </p:spPr>
      </p:pic>
      <p:sp>
        <p:nvSpPr>
          <p:cNvPr id="78" name="TextBox 77"/>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79" name="TextBox 78"/>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80" name="Picture 79" descr="lock.png"/>
          <p:cNvPicPr>
            <a:picLocks noChangeAspect="1"/>
          </p:cNvPicPr>
          <p:nvPr/>
        </p:nvPicPr>
        <p:blipFill>
          <a:blip r:embed="rId13"/>
          <a:stretch>
            <a:fillRect/>
          </a:stretch>
        </p:blipFill>
        <p:spPr>
          <a:xfrm>
            <a:off x="1330764" y="5225498"/>
            <a:ext cx="128699" cy="187198"/>
          </a:xfrm>
          <a:prstGeom prst="rect">
            <a:avLst/>
          </a:prstGeom>
        </p:spPr>
      </p:pic>
      <p:sp>
        <p:nvSpPr>
          <p:cNvPr id="81" name="TextBox 80"/>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2" name="TextBox 81"/>
          <p:cNvSpPr txBox="1"/>
          <p:nvPr/>
        </p:nvSpPr>
        <p:spPr>
          <a:xfrm>
            <a:off x="485775" y="5453209"/>
            <a:ext cx="2914650" cy="186689"/>
          </a:xfrm>
          <a:prstGeom prst="rect">
            <a:avLst/>
          </a:prstGeom>
          <a:noFill/>
        </p:spPr>
        <p:txBody>
          <a:bodyPr wrap="none" lIns="0" rIns="0" tIns="0" bIns="0">
            <a:spAutoFit/>
          </a:bodyPr>
          <a:lstStyle/>
          <a:p>
            <a:r>
              <a:rPr sz="1100" b="0">
                <a:solidFill>
                  <a:srgbClr val="2E2E2E"/>
                </a:solidFill>
                <a:latin typeface="Calibri"/>
              </a:rPr>
              <a:t>Inhalant allergens segment is projected to register</a:t>
            </a:r>
          </a:p>
        </p:txBody>
      </p:sp>
      <p:pic>
        <p:nvPicPr>
          <p:cNvPr id="83" name="Picture 82" descr="lock.png"/>
          <p:cNvPicPr>
            <a:picLocks noChangeAspect="1"/>
          </p:cNvPicPr>
          <p:nvPr/>
        </p:nvPicPr>
        <p:blipFill>
          <a:blip r:embed="rId13"/>
          <a:stretch>
            <a:fillRect/>
          </a:stretch>
        </p:blipFill>
        <p:spPr>
          <a:xfrm>
            <a:off x="472307" y="5611070"/>
            <a:ext cx="128699" cy="187198"/>
          </a:xfrm>
          <a:prstGeom prst="rect">
            <a:avLst/>
          </a:prstGeom>
        </p:spPr>
      </p:pic>
      <p:sp>
        <p:nvSpPr>
          <p:cNvPr id="84" name="TextBox 83"/>
          <p:cNvSpPr txBox="1"/>
          <p:nvPr/>
        </p:nvSpPr>
        <p:spPr>
          <a:xfrm>
            <a:off x="639803" y="5620849"/>
            <a:ext cx="2672382" cy="186689"/>
          </a:xfrm>
          <a:prstGeom prst="rect">
            <a:avLst/>
          </a:prstGeom>
          <a:noFill/>
        </p:spPr>
        <p:txBody>
          <a:bodyPr wrap="none" lIns="0" rIns="0" tIns="0" bIns="0">
            <a:spAutoFit/>
          </a:bodyPr>
          <a:lstStyle/>
          <a:p>
            <a:r>
              <a:rPr sz="1100" b="0">
                <a:solidFill>
                  <a:srgbClr val="2E2E2E"/>
                </a:solidFill>
                <a:latin typeface="Calibri"/>
              </a:rPr>
              <a:t>X higher value than food allergens segment in</a:t>
            </a:r>
          </a:p>
        </p:txBody>
      </p:sp>
      <p:sp>
        <p:nvSpPr>
          <p:cNvPr id="85" name="TextBox 84"/>
          <p:cNvSpPr txBox="1"/>
          <p:nvPr/>
        </p:nvSpPr>
        <p:spPr>
          <a:xfrm>
            <a:off x="485775" y="578848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86" name="TextBox 85"/>
          <p:cNvSpPr txBox="1"/>
          <p:nvPr/>
        </p:nvSpPr>
        <p:spPr>
          <a:xfrm>
            <a:off x="3838575" y="4229437"/>
            <a:ext cx="1256283" cy="186689"/>
          </a:xfrm>
          <a:prstGeom prst="rect">
            <a:avLst/>
          </a:prstGeom>
          <a:noFill/>
        </p:spPr>
        <p:txBody>
          <a:bodyPr wrap="none" lIns="0" rIns="0" tIns="0" bIns="0">
            <a:spAutoFit/>
          </a:bodyPr>
          <a:lstStyle/>
          <a:p>
            <a:r>
              <a:rPr sz="1100" b="0">
                <a:solidFill>
                  <a:srgbClr val="2E2E2E"/>
                </a:solidFill>
                <a:latin typeface="Calibri"/>
              </a:rPr>
              <a:t>● Inhalant Allergens:</a:t>
            </a:r>
          </a:p>
        </p:txBody>
      </p:sp>
      <p:pic>
        <p:nvPicPr>
          <p:cNvPr id="87" name="Picture 86" descr="lock.png"/>
          <p:cNvPicPr>
            <a:picLocks noChangeAspect="1"/>
          </p:cNvPicPr>
          <p:nvPr/>
        </p:nvPicPr>
        <p:blipFill>
          <a:blip r:embed="rId13"/>
          <a:stretch>
            <a:fillRect/>
          </a:stretch>
        </p:blipFill>
        <p:spPr>
          <a:xfrm>
            <a:off x="5042909" y="4219658"/>
            <a:ext cx="128699" cy="187198"/>
          </a:xfrm>
          <a:prstGeom prst="rect">
            <a:avLst/>
          </a:prstGeom>
        </p:spPr>
      </p:pic>
      <p:sp>
        <p:nvSpPr>
          <p:cNvPr id="88" name="TextBox 87"/>
          <p:cNvSpPr txBox="1"/>
          <p:nvPr/>
        </p:nvSpPr>
        <p:spPr>
          <a:xfrm>
            <a:off x="521040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9" name="Picture 88" descr="lock.png"/>
          <p:cNvPicPr>
            <a:picLocks noChangeAspect="1"/>
          </p:cNvPicPr>
          <p:nvPr/>
        </p:nvPicPr>
        <p:blipFill>
          <a:blip r:embed="rId13"/>
          <a:stretch>
            <a:fillRect/>
          </a:stretch>
        </p:blipFill>
        <p:spPr>
          <a:xfrm>
            <a:off x="6069855" y="4219658"/>
            <a:ext cx="128699" cy="187198"/>
          </a:xfrm>
          <a:prstGeom prst="rect">
            <a:avLst/>
          </a:prstGeom>
        </p:spPr>
      </p:pic>
      <p:sp>
        <p:nvSpPr>
          <p:cNvPr id="90" name="TextBox 89"/>
          <p:cNvSpPr txBox="1"/>
          <p:nvPr/>
        </p:nvSpPr>
        <p:spPr>
          <a:xfrm>
            <a:off x="6237351"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91" name="TextBox 90"/>
          <p:cNvSpPr txBox="1"/>
          <p:nvPr/>
        </p:nvSpPr>
        <p:spPr>
          <a:xfrm>
            <a:off x="3838575" y="4447369"/>
            <a:ext cx="1072896" cy="186689"/>
          </a:xfrm>
          <a:prstGeom prst="rect">
            <a:avLst/>
          </a:prstGeom>
          <a:noFill/>
        </p:spPr>
        <p:txBody>
          <a:bodyPr wrap="none" lIns="0" rIns="0" tIns="0" bIns="0">
            <a:spAutoFit/>
          </a:bodyPr>
          <a:lstStyle/>
          <a:p>
            <a:r>
              <a:rPr sz="1100" b="0">
                <a:solidFill>
                  <a:srgbClr val="2E2E2E"/>
                </a:solidFill>
                <a:latin typeface="Calibri"/>
              </a:rPr>
              <a:t>● Food Allergens:</a:t>
            </a:r>
          </a:p>
        </p:txBody>
      </p:sp>
      <p:pic>
        <p:nvPicPr>
          <p:cNvPr id="92" name="Picture 91" descr="lock.png"/>
          <p:cNvPicPr>
            <a:picLocks noChangeAspect="1"/>
          </p:cNvPicPr>
          <p:nvPr/>
        </p:nvPicPr>
        <p:blipFill>
          <a:blip r:embed="rId13"/>
          <a:stretch>
            <a:fillRect/>
          </a:stretch>
        </p:blipFill>
        <p:spPr>
          <a:xfrm>
            <a:off x="4859523" y="4437590"/>
            <a:ext cx="128699" cy="187198"/>
          </a:xfrm>
          <a:prstGeom prst="rect">
            <a:avLst/>
          </a:prstGeom>
        </p:spPr>
      </p:pic>
      <p:sp>
        <p:nvSpPr>
          <p:cNvPr id="93" name="TextBox 92"/>
          <p:cNvSpPr txBox="1"/>
          <p:nvPr/>
        </p:nvSpPr>
        <p:spPr>
          <a:xfrm>
            <a:off x="502701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4" name="Picture 93" descr="lock.png"/>
          <p:cNvPicPr>
            <a:picLocks noChangeAspect="1"/>
          </p:cNvPicPr>
          <p:nvPr/>
        </p:nvPicPr>
        <p:blipFill>
          <a:blip r:embed="rId13"/>
          <a:stretch>
            <a:fillRect/>
          </a:stretch>
        </p:blipFill>
        <p:spPr>
          <a:xfrm>
            <a:off x="5886469" y="4437590"/>
            <a:ext cx="128699" cy="187198"/>
          </a:xfrm>
          <a:prstGeom prst="rect">
            <a:avLst/>
          </a:prstGeom>
        </p:spPr>
      </p:pic>
      <p:sp>
        <p:nvSpPr>
          <p:cNvPr id="95" name="TextBox 94"/>
          <p:cNvSpPr txBox="1"/>
          <p:nvPr/>
        </p:nvSpPr>
        <p:spPr>
          <a:xfrm>
            <a:off x="6053965"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96" name="TextBox 95"/>
          <p:cNvSpPr txBox="1"/>
          <p:nvPr/>
        </p:nvSpPr>
        <p:spPr>
          <a:xfrm>
            <a:off x="3838575" y="4665301"/>
            <a:ext cx="1195709" cy="186689"/>
          </a:xfrm>
          <a:prstGeom prst="rect">
            <a:avLst/>
          </a:prstGeom>
          <a:noFill/>
        </p:spPr>
        <p:txBody>
          <a:bodyPr wrap="none" lIns="0" rIns="0" tIns="0" bIns="0">
            <a:spAutoFit/>
          </a:bodyPr>
          <a:lstStyle/>
          <a:p>
            <a:r>
              <a:rPr sz="1100" b="0">
                <a:solidFill>
                  <a:srgbClr val="2E2E2E"/>
                </a:solidFill>
                <a:latin typeface="Calibri"/>
              </a:rPr>
              <a:t>● Venom Allergens:</a:t>
            </a:r>
          </a:p>
        </p:txBody>
      </p:sp>
      <p:pic>
        <p:nvPicPr>
          <p:cNvPr id="97" name="Picture 96" descr="lock.png"/>
          <p:cNvPicPr>
            <a:picLocks noChangeAspect="1"/>
          </p:cNvPicPr>
          <p:nvPr/>
        </p:nvPicPr>
        <p:blipFill>
          <a:blip r:embed="rId13"/>
          <a:stretch>
            <a:fillRect/>
          </a:stretch>
        </p:blipFill>
        <p:spPr>
          <a:xfrm>
            <a:off x="4982336" y="4655522"/>
            <a:ext cx="128699" cy="187198"/>
          </a:xfrm>
          <a:prstGeom prst="rect">
            <a:avLst/>
          </a:prstGeom>
        </p:spPr>
      </p:pic>
      <p:sp>
        <p:nvSpPr>
          <p:cNvPr id="98" name="TextBox 97"/>
          <p:cNvSpPr txBox="1"/>
          <p:nvPr/>
        </p:nvSpPr>
        <p:spPr>
          <a:xfrm>
            <a:off x="5149832"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3"/>
          <a:stretch>
            <a:fillRect/>
          </a:stretch>
        </p:blipFill>
        <p:spPr>
          <a:xfrm>
            <a:off x="6009282" y="4655522"/>
            <a:ext cx="128699" cy="187198"/>
          </a:xfrm>
          <a:prstGeom prst="rect">
            <a:avLst/>
          </a:prstGeom>
        </p:spPr>
      </p:pic>
      <p:sp>
        <p:nvSpPr>
          <p:cNvPr id="100" name="TextBox 99"/>
          <p:cNvSpPr txBox="1"/>
          <p:nvPr/>
        </p:nvSpPr>
        <p:spPr>
          <a:xfrm>
            <a:off x="6176778"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Allergen Class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Allergen Class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Allergen Class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Allergen Class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420003" cy="186689"/>
          </a:xfrm>
          <a:prstGeom prst="rect">
            <a:avLst/>
          </a:prstGeom>
          <a:noFill/>
        </p:spPr>
        <p:txBody>
          <a:bodyPr wrap="none" lIns="0" rIns="0" tIns="0" bIns="0">
            <a:spAutoFit/>
          </a:bodyPr>
          <a:lstStyle/>
          <a:p>
            <a:r>
              <a:rPr sz="1100" b="0">
                <a:solidFill>
                  <a:srgbClr val="2E2E2E"/>
                </a:solidFill>
                <a:latin typeface="Calibri"/>
              </a:rPr>
              <a:t>Inhalant allergens followed by food allergens are expected to be the two most attractive allergen class segments in the global allergy immunotherapy market in terms of value over the forecast period.</a:t>
            </a:r>
          </a:p>
        </p:txBody>
      </p:sp>
      <p:sp>
        <p:nvSpPr>
          <p:cNvPr id="21" name="TextBox 20"/>
          <p:cNvSpPr txBox="1"/>
          <p:nvPr/>
        </p:nvSpPr>
        <p:spPr>
          <a:xfrm>
            <a:off x="257175" y="5861685"/>
            <a:ext cx="3531847" cy="186689"/>
          </a:xfrm>
          <a:prstGeom prst="rect">
            <a:avLst/>
          </a:prstGeom>
          <a:noFill/>
        </p:spPr>
        <p:txBody>
          <a:bodyPr wrap="none" lIns="0" rIns="0" tIns="0" bIns="0">
            <a:spAutoFit/>
          </a:bodyPr>
          <a:lstStyle/>
          <a:p>
            <a:r>
              <a:rPr sz="1100" b="0">
                <a:solidFill>
                  <a:srgbClr val="2E2E2E"/>
                </a:solidFill>
                <a:latin typeface="Calibri"/>
              </a:rPr>
              <a:t>Inhalant allergens and food allergens exhibit a CAGR index of</a:t>
            </a:r>
          </a:p>
        </p:txBody>
      </p:sp>
      <p:pic>
        <p:nvPicPr>
          <p:cNvPr id="22" name="Picture 21" descr="lock.png"/>
          <p:cNvPicPr>
            <a:picLocks noChangeAspect="1"/>
          </p:cNvPicPr>
          <p:nvPr/>
        </p:nvPicPr>
        <p:blipFill>
          <a:blip r:embed="rId6"/>
          <a:stretch>
            <a:fillRect/>
          </a:stretch>
        </p:blipFill>
        <p:spPr>
          <a:xfrm>
            <a:off x="3737074" y="5851905"/>
            <a:ext cx="128699" cy="187198"/>
          </a:xfrm>
          <a:prstGeom prst="rect">
            <a:avLst/>
          </a:prstGeom>
        </p:spPr>
      </p:pic>
      <p:sp>
        <p:nvSpPr>
          <p:cNvPr id="23" name="TextBox 22"/>
          <p:cNvSpPr txBox="1"/>
          <p:nvPr/>
        </p:nvSpPr>
        <p:spPr>
          <a:xfrm>
            <a:off x="3904570"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4142464" y="5851905"/>
            <a:ext cx="128699" cy="187198"/>
          </a:xfrm>
          <a:prstGeom prst="rect">
            <a:avLst/>
          </a:prstGeom>
        </p:spPr>
      </p:pic>
      <p:sp>
        <p:nvSpPr>
          <p:cNvPr id="25" name="TextBox 24"/>
          <p:cNvSpPr txBox="1"/>
          <p:nvPr/>
        </p:nvSpPr>
        <p:spPr>
          <a:xfrm>
            <a:off x="4309960"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5918934" y="5851905"/>
            <a:ext cx="128699" cy="187198"/>
          </a:xfrm>
          <a:prstGeom prst="rect">
            <a:avLst/>
          </a:prstGeom>
        </p:spPr>
      </p:pic>
      <p:sp>
        <p:nvSpPr>
          <p:cNvPr id="27" name="TextBox 26"/>
          <p:cNvSpPr txBox="1"/>
          <p:nvPr/>
        </p:nvSpPr>
        <p:spPr>
          <a:xfrm>
            <a:off x="608642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6324324" y="5851905"/>
            <a:ext cx="128699" cy="187198"/>
          </a:xfrm>
          <a:prstGeom prst="rect">
            <a:avLst/>
          </a:prstGeom>
        </p:spPr>
      </p:pic>
      <p:sp>
        <p:nvSpPr>
          <p:cNvPr id="29" name="TextBox 28"/>
          <p:cNvSpPr txBox="1"/>
          <p:nvPr/>
        </p:nvSpPr>
        <p:spPr>
          <a:xfrm>
            <a:off x="6491820"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9046224" y="5851905"/>
            <a:ext cx="128699" cy="187198"/>
          </a:xfrm>
          <a:prstGeom prst="rect">
            <a:avLst/>
          </a:prstGeom>
        </p:spPr>
      </p:pic>
      <p:sp>
        <p:nvSpPr>
          <p:cNvPr id="31" name="TextBox 30"/>
          <p:cNvSpPr txBox="1"/>
          <p:nvPr/>
        </p:nvSpPr>
        <p:spPr>
          <a:xfrm>
            <a:off x="9213720" y="5861685"/>
            <a:ext cx="1963241" cy="186689"/>
          </a:xfrm>
          <a:prstGeom prst="rect">
            <a:avLst/>
          </a:prstGeom>
          <a:noFill/>
        </p:spPr>
        <p:txBody>
          <a:bodyPr wrap="none" lIns="0" rIns="0" tIns="0" bIns="0">
            <a:spAutoFit/>
          </a:bodyPr>
          <a:lstStyle/>
          <a:p>
            <a:r>
              <a:rPr sz="1100" b="0">
                <a:solidFill>
                  <a:srgbClr val="2E2E2E"/>
                </a:solidFill>
                <a:latin typeface="Calibri"/>
              </a:rPr>
              <a:t>. The venom allergens segment is</a:t>
            </a:r>
          </a:p>
        </p:txBody>
      </p:sp>
      <p:sp>
        <p:nvSpPr>
          <p:cNvPr id="32" name="TextBox 31"/>
          <p:cNvSpPr txBox="1"/>
          <p:nvPr/>
        </p:nvSpPr>
        <p:spPr>
          <a:xfrm>
            <a:off x="257175" y="6029325"/>
            <a:ext cx="11421333" cy="186689"/>
          </a:xfrm>
          <a:prstGeom prst="rect">
            <a:avLst/>
          </a:prstGeom>
          <a:noFill/>
        </p:spPr>
        <p:txBody>
          <a:bodyPr wrap="none" lIns="0" rIns="0" t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3" name="TextBox 32"/>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Allergen Class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Allergen Class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Inhalant Allergens</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Venom Allergens</a:t>
            </a:r>
          </a:p>
        </p:txBody>
      </p:sp>
      <p:graphicFrame>
        <p:nvGraphicFramePr>
          <p:cNvPr id="16" name="Chart 15"/>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Food Allergens</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Allergen Class</a:t>
            </a:r>
          </a:p>
        </p:txBody>
      </p:sp>
      <p:sp>
        <p:nvSpPr>
          <p:cNvPr id="22" name="Rectangle 21"/>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7"/>
          <a:stretch>
            <a:fillRect/>
          </a:stretch>
        </p:blipFill>
        <p:spPr>
          <a:xfrm>
            <a:off x="9124151" y="2237234"/>
            <a:ext cx="263506" cy="383281"/>
          </a:xfrm>
          <a:prstGeom prst="rect">
            <a:avLst/>
          </a:prstGeom>
        </p:spPr>
      </p:pic>
      <p:pic>
        <p:nvPicPr>
          <p:cNvPr id="27" name="Picture 26" descr="lock.png"/>
          <p:cNvPicPr>
            <a:picLocks noChangeAspect="1"/>
          </p:cNvPicPr>
          <p:nvPr/>
        </p:nvPicPr>
        <p:blipFill>
          <a:blip r:embed="rId7"/>
          <a:stretch>
            <a:fillRect/>
          </a:stretch>
        </p:blipFill>
        <p:spPr>
          <a:xfrm>
            <a:off x="3094826" y="5123309"/>
            <a:ext cx="263506" cy="383281"/>
          </a:xfrm>
          <a:prstGeom prst="rect">
            <a:avLst/>
          </a:prstGeom>
        </p:spPr>
      </p:pic>
      <p:sp>
        <p:nvSpPr>
          <p:cNvPr id="28" name="TextBox 27"/>
          <p:cNvSpPr txBox="1"/>
          <p:nvPr/>
        </p:nvSpPr>
        <p:spPr>
          <a:xfrm>
            <a:off x="6305550" y="4286250"/>
            <a:ext cx="4556946" cy="194310"/>
          </a:xfrm>
          <a:prstGeom prst="rect">
            <a:avLst/>
          </a:prstGeom>
          <a:noFill/>
        </p:spPr>
        <p:txBody>
          <a:bodyPr wrap="none" lIns="0" rIns="0" tIns="0" bIns="0">
            <a:spAutoFit/>
          </a:bodyPr>
          <a:lstStyle/>
          <a:p>
            <a:r>
              <a:rPr sz="1150" b="0">
                <a:solidFill>
                  <a:srgbClr val="2E2E2E"/>
                </a:solidFill>
                <a:latin typeface="Calibri"/>
              </a:rPr>
              <a:t>By 2036, inhalant allergens segment is anticipated to witness an increase of</a:t>
            </a:r>
          </a:p>
        </p:txBody>
      </p:sp>
      <p:pic>
        <p:nvPicPr>
          <p:cNvPr id="29" name="Picture 28" descr="lock.png"/>
          <p:cNvPicPr>
            <a:picLocks noChangeAspect="1"/>
          </p:cNvPicPr>
          <p:nvPr/>
        </p:nvPicPr>
        <p:blipFill>
          <a:blip r:embed="rId7"/>
          <a:stretch>
            <a:fillRect/>
          </a:stretch>
        </p:blipFill>
        <p:spPr>
          <a:xfrm>
            <a:off x="10811650" y="4276026"/>
            <a:ext cx="134549" cy="195707"/>
          </a:xfrm>
          <a:prstGeom prst="rect">
            <a:avLst/>
          </a:prstGeom>
        </p:spPr>
      </p:pic>
      <p:sp>
        <p:nvSpPr>
          <p:cNvPr id="30" name="TextBox 29"/>
          <p:cNvSpPr txBox="1"/>
          <p:nvPr/>
        </p:nvSpPr>
        <p:spPr>
          <a:xfrm>
            <a:off x="10986759" y="4286250"/>
            <a:ext cx="829840" cy="194310"/>
          </a:xfrm>
          <a:prstGeom prst="rect">
            <a:avLst/>
          </a:prstGeom>
          <a:noFill/>
        </p:spPr>
        <p:txBody>
          <a:bodyPr wrap="none" lIns="0" rIns="0" tIns="0" bIns="0">
            <a:spAutoFit/>
          </a:bodyPr>
          <a:lstStyle/>
          <a:p>
            <a:r>
              <a:rPr sz="1150" b="0">
                <a:solidFill>
                  <a:srgbClr val="2E2E2E"/>
                </a:solidFill>
                <a:latin typeface="Calibri"/>
              </a:rPr>
              <a:t>X in terms of</a:t>
            </a:r>
          </a:p>
        </p:txBody>
      </p:sp>
      <p:sp>
        <p:nvSpPr>
          <p:cNvPr id="31" name="TextBox 30"/>
          <p:cNvSpPr txBox="1"/>
          <p:nvPr/>
        </p:nvSpPr>
        <p:spPr>
          <a:xfrm>
            <a:off x="6305550" y="4461510"/>
            <a:ext cx="5058444" cy="194310"/>
          </a:xfrm>
          <a:prstGeom prst="rect">
            <a:avLst/>
          </a:prstGeom>
          <a:noFill/>
        </p:spPr>
        <p:txBody>
          <a:bodyPr wrap="none" lIns="0" rIns="0" tIns="0" bIns="0">
            <a:spAutoFit/>
          </a:bodyPr>
          <a:lstStyle/>
          <a:p>
            <a:r>
              <a:rPr sz="1150" b="0">
                <a:solidFill>
                  <a:srgbClr val="2E2E2E"/>
                </a:solidFill>
                <a:latin typeface="Calibri"/>
              </a:rPr>
              <a:t>value as compared to 2026. The inhalant allergens segment is expected to create an</a:t>
            </a:r>
          </a:p>
        </p:txBody>
      </p:sp>
      <p:sp>
        <p:nvSpPr>
          <p:cNvPr id="32" name="TextBox 31"/>
          <p:cNvSpPr txBox="1"/>
          <p:nvPr/>
        </p:nvSpPr>
        <p:spPr>
          <a:xfrm>
            <a:off x="6305550" y="4636770"/>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33" name="Picture 32" descr="lock.png"/>
          <p:cNvPicPr>
            <a:picLocks noChangeAspect="1"/>
          </p:cNvPicPr>
          <p:nvPr/>
        </p:nvPicPr>
        <p:blipFill>
          <a:blip r:embed="rId7"/>
          <a:stretch>
            <a:fillRect/>
          </a:stretch>
        </p:blipFill>
        <p:spPr>
          <a:xfrm>
            <a:off x="8211582" y="4626546"/>
            <a:ext cx="134549" cy="195707"/>
          </a:xfrm>
          <a:prstGeom prst="rect">
            <a:avLst/>
          </a:prstGeom>
        </p:spPr>
      </p:pic>
      <p:sp>
        <p:nvSpPr>
          <p:cNvPr id="34" name="TextBox 33"/>
          <p:cNvSpPr txBox="1"/>
          <p:nvPr/>
        </p:nvSpPr>
        <p:spPr>
          <a:xfrm>
            <a:off x="8386692" y="4636770"/>
            <a:ext cx="3355478"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a:t>
            </a:r>
          </a:p>
        </p:txBody>
      </p:sp>
      <p:sp>
        <p:nvSpPr>
          <p:cNvPr id="35" name="TextBox 34"/>
          <p:cNvSpPr txBox="1"/>
          <p:nvPr/>
        </p:nvSpPr>
        <p:spPr>
          <a:xfrm>
            <a:off x="6305550" y="4812029"/>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36" name="TextBox 35"/>
          <p:cNvSpPr txBox="1"/>
          <p:nvPr/>
        </p:nvSpPr>
        <p:spPr>
          <a:xfrm>
            <a:off x="6305550" y="5039867"/>
            <a:ext cx="5087540" cy="194310"/>
          </a:xfrm>
          <a:prstGeom prst="rect">
            <a:avLst/>
          </a:prstGeom>
          <a:noFill/>
        </p:spPr>
        <p:txBody>
          <a:bodyPr wrap="none" lIns="0" rIns="0" tIns="0" bIns="0">
            <a:spAutoFit/>
          </a:bodyPr>
          <a:lstStyle/>
          <a:p>
            <a:r>
              <a:rPr sz="1150" b="0">
                <a:solidFill>
                  <a:srgbClr val="2E2E2E"/>
                </a:solidFill>
                <a:latin typeface="Calibri"/>
              </a:rPr>
              <a:t>The food allergens segment is expected to create an incremental opportunity of US$</a:t>
            </a:r>
          </a:p>
        </p:txBody>
      </p:sp>
      <p:pic>
        <p:nvPicPr>
          <p:cNvPr id="37" name="Picture 36" descr="lock.png"/>
          <p:cNvPicPr>
            <a:picLocks noChangeAspect="1"/>
          </p:cNvPicPr>
          <p:nvPr/>
        </p:nvPicPr>
        <p:blipFill>
          <a:blip r:embed="rId7"/>
          <a:stretch>
            <a:fillRect/>
          </a:stretch>
        </p:blipFill>
        <p:spPr>
          <a:xfrm>
            <a:off x="11342244" y="5029644"/>
            <a:ext cx="134549" cy="195707"/>
          </a:xfrm>
          <a:prstGeom prst="rect">
            <a:avLst/>
          </a:prstGeom>
        </p:spPr>
      </p:pic>
      <p:sp>
        <p:nvSpPr>
          <p:cNvPr id="38" name="TextBox 37"/>
          <p:cNvSpPr txBox="1"/>
          <p:nvPr/>
        </p:nvSpPr>
        <p:spPr>
          <a:xfrm>
            <a:off x="11517353" y="5039867"/>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9" name="TextBox 38"/>
          <p:cNvSpPr txBox="1"/>
          <p:nvPr/>
        </p:nvSpPr>
        <p:spPr>
          <a:xfrm>
            <a:off x="6305550" y="5215127"/>
            <a:ext cx="5241577" cy="194310"/>
          </a:xfrm>
          <a:prstGeom prst="rect">
            <a:avLst/>
          </a:prstGeom>
          <a:noFill/>
        </p:spPr>
        <p:txBody>
          <a:bodyPr wrap="none" lIns="0" rIns="0" tIns="0" bIns="0">
            <a:spAutoFit/>
          </a:bodyPr>
          <a:lstStyle/>
          <a:p>
            <a:r>
              <a:rPr sz="1150" b="0">
                <a:solidFill>
                  <a:srgbClr val="2E2E2E"/>
                </a:solidFill>
                <a:latin typeface="Calibri"/>
              </a:rPr>
              <a:t>for the overall allergy immunotherapy market from 2026 to 2036. The venom allergens</a:t>
            </a:r>
          </a:p>
        </p:txBody>
      </p:sp>
      <p:sp>
        <p:nvSpPr>
          <p:cNvPr id="40" name="TextBox 39"/>
          <p:cNvSpPr txBox="1"/>
          <p:nvPr/>
        </p:nvSpPr>
        <p:spPr>
          <a:xfrm>
            <a:off x="6305550" y="5390387"/>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41" name="Picture 40" descr="lock.png"/>
          <p:cNvPicPr>
            <a:picLocks noChangeAspect="1"/>
          </p:cNvPicPr>
          <p:nvPr/>
        </p:nvPicPr>
        <p:blipFill>
          <a:blip r:embed="rId7"/>
          <a:stretch>
            <a:fillRect/>
          </a:stretch>
        </p:blipFill>
        <p:spPr>
          <a:xfrm>
            <a:off x="10210642" y="5380164"/>
            <a:ext cx="134549" cy="195707"/>
          </a:xfrm>
          <a:prstGeom prst="rect">
            <a:avLst/>
          </a:prstGeom>
        </p:spPr>
      </p:pic>
      <p:sp>
        <p:nvSpPr>
          <p:cNvPr id="42" name="TextBox 41"/>
          <p:cNvSpPr txBox="1"/>
          <p:nvPr/>
        </p:nvSpPr>
        <p:spPr>
          <a:xfrm>
            <a:off x="10385751" y="5390387"/>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43" name="TextBox 42"/>
          <p:cNvSpPr txBox="1"/>
          <p:nvPr/>
        </p:nvSpPr>
        <p:spPr>
          <a:xfrm>
            <a:off x="6305550" y="5565647"/>
            <a:ext cx="3101888" cy="194310"/>
          </a:xfrm>
          <a:prstGeom prst="rect">
            <a:avLst/>
          </a:prstGeom>
          <a:noFill/>
        </p:spPr>
        <p:txBody>
          <a:bodyPr wrap="none" lIns="0" rIns="0" tIns="0" bIns="0">
            <a:spAutoFit/>
          </a:bodyPr>
          <a:lstStyle/>
          <a:p>
            <a:r>
              <a:rPr sz="1150" b="0">
                <a:solidFill>
                  <a:srgbClr val="2E2E2E"/>
                </a:solidFill>
                <a:latin typeface="Calibri"/>
              </a:rPr>
              <a:t>allergy immunotherapy market from 2026 to 2036.</a:t>
            </a:r>
          </a:p>
        </p:txBody>
      </p:sp>
      <p:sp>
        <p:nvSpPr>
          <p:cNvPr id="44"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6"/>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ockshield_19"/>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Allergen Class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Allergen Class,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933825"/>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Allergen Class (US$ Mn)</a:t>
            </a:r>
          </a:p>
        </p:txBody>
      </p:sp>
      <p:graphicFrame>
        <p:nvGraphicFramePr>
          <p:cNvPr id="13" name="Table 12"/>
          <p:cNvGraphicFramePr>
            <a:graphicFrameLocks noGrp="1"/>
          </p:cNvGraphicFramePr>
          <p:nvPr/>
        </p:nvGraphicFramePr>
        <p:xfrm>
          <a:off x="152400" y="1238250"/>
          <a:ext cx="11923999" cy="3505200"/>
        </p:xfrm>
        <a:graphic>
          <a:graphicData uri="http://schemas.openxmlformats.org/drawingml/2006/table">
            <a:tbl>
              <a:tblPr>
                <a:tableStyleId>{5C22544A-7EE6-4342-B048-85BDC9FD1C3A}</a:tableStyleId>
              </a:tblPr>
              <a:tblGrid>
                <a:gridCol w="2496457"/>
                <a:gridCol w="552397"/>
                <a:gridCol w="552397"/>
                <a:gridCol w="552397"/>
                <a:gridCol w="552397"/>
                <a:gridCol w="552397"/>
                <a:gridCol w="552397"/>
                <a:gridCol w="552397"/>
                <a:gridCol w="552397"/>
                <a:gridCol w="552397"/>
                <a:gridCol w="552397"/>
                <a:gridCol w="552397"/>
                <a:gridCol w="552397"/>
                <a:gridCol w="552397"/>
                <a:gridCol w="552397"/>
                <a:gridCol w="552397"/>
                <a:gridCol w="552397"/>
                <a:gridCol w="589190"/>
              </a:tblGrid>
              <a:tr h="219075">
                <a:tc>
                  <a:txBody>
                    <a:bodyPr wrap="none"/>
                    <a:lstStyle/>
                    <a:p>
                      <a:pPr algn="l"/>
                      <a:r>
                        <a:rPr sz="1100" b="1">
                          <a:solidFill>
                            <a:srgbClr val="0B2E4A"/>
                          </a:solidFill>
                          <a:latin typeface="Calibri"/>
                        </a:rPr>
                        <a:t>Allergen Class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19075">
                <a:tc>
                  <a:txBody>
                    <a:bodyPr wrap="none"/>
                    <a:lstStyle/>
                    <a:p>
                      <a:pPr algn="l"/>
                      <a:r>
                        <a:rPr sz="1100" b="1">
                          <a:solidFill>
                            <a:srgbClr val="2E2E2E"/>
                          </a:solidFill>
                          <a:latin typeface="Calibri"/>
                        </a:rPr>
                        <a:t>Inhalant Allergens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Grass Pollen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Tree Pollen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Weed &amp; Ragweed Pollen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House Dust Mite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Animal Dander / Epithelia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Mold &amp; Fungal Allergens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Venom Allergens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Honeybee Venom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Wasp / Yellow Jacket / Hornet Venom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Mixed Vespid Venom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Food Allergens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Peanut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Other Food Allergens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2,428</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5,439</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8.4%</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762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6844794" y="2724150"/>
            <a:ext cx="366712" cy="533400"/>
          </a:xfrm>
          <a:prstGeom prst="rect">
            <a:avLst/>
          </a:prstGeom>
        </p:spPr>
      </p:pic>
      <p:sp>
        <p:nvSpPr>
          <p:cNvPr id="14" name="Rounded Rectangle 13"/>
          <p:cNvSpPr/>
          <p:nvPr/>
        </p:nvSpPr>
        <p:spPr>
          <a:xfrm>
            <a:off x="142875" y="5010150"/>
            <a:ext cx="11906250" cy="1619250"/>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0958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Allergen Class</a:t>
            </a:r>
          </a:p>
        </p:txBody>
      </p:sp>
      <p:sp>
        <p:nvSpPr>
          <p:cNvPr id="16" name="Rectangle 15"/>
          <p:cNvSpPr/>
          <p:nvPr/>
        </p:nvSpPr>
        <p:spPr>
          <a:xfrm>
            <a:off x="276225" y="53340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419725"/>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276225" y="5429250"/>
            <a:ext cx="3060241" cy="194310"/>
          </a:xfrm>
          <a:prstGeom prst="rect">
            <a:avLst/>
          </a:prstGeom>
          <a:noFill/>
        </p:spPr>
        <p:txBody>
          <a:bodyPr wrap="none" lIns="0" rIns="0" tIns="0" bIns="0">
            <a:spAutoFit/>
          </a:bodyPr>
          <a:lstStyle/>
          <a:p>
            <a:r>
              <a:rPr sz="1150" b="0">
                <a:solidFill>
                  <a:srgbClr val="2E2E2E"/>
                </a:solidFill>
                <a:latin typeface="Calibri"/>
              </a:rPr>
              <a:t>Inhalant allergens segment is projected to register</a:t>
            </a:r>
          </a:p>
        </p:txBody>
      </p:sp>
      <p:pic>
        <p:nvPicPr>
          <p:cNvPr id="21" name="Picture 20" descr="image.png"/>
          <p:cNvPicPr>
            <a:picLocks noChangeAspect="1"/>
          </p:cNvPicPr>
          <p:nvPr/>
        </p:nvPicPr>
        <p:blipFill>
          <a:blip r:embed="rId4"/>
          <a:stretch>
            <a:fillRect/>
          </a:stretch>
        </p:blipFill>
        <p:spPr>
          <a:xfrm>
            <a:off x="3285620" y="5419026"/>
            <a:ext cx="134549" cy="195707"/>
          </a:xfrm>
          <a:prstGeom prst="rect">
            <a:avLst/>
          </a:prstGeom>
        </p:spPr>
      </p:pic>
      <p:sp>
        <p:nvSpPr>
          <p:cNvPr id="22" name="TextBox 21"/>
          <p:cNvSpPr txBox="1"/>
          <p:nvPr/>
        </p:nvSpPr>
        <p:spPr>
          <a:xfrm>
            <a:off x="3460729" y="5429250"/>
            <a:ext cx="8411604" cy="194310"/>
          </a:xfrm>
          <a:prstGeom prst="rect">
            <a:avLst/>
          </a:prstGeom>
          <a:noFill/>
        </p:spPr>
        <p:txBody>
          <a:bodyPr wrap="none" lIns="0" rIns="0" tIns="0" bIns="0">
            <a:spAutoFit/>
          </a:bodyPr>
          <a:lstStyle/>
          <a:p>
            <a:r>
              <a:rPr sz="1150" b="0">
                <a:solidFill>
                  <a:srgbClr val="2E2E2E"/>
                </a:solidFill>
                <a:latin typeface="Calibri"/>
              </a:rPr>
              <a:t>X higher value than food allergens segment in 2036. Among allergy immunotherapy by allergen class, inhalant allergens segment is expected</a:t>
            </a:r>
          </a:p>
        </p:txBody>
      </p:sp>
      <p:sp>
        <p:nvSpPr>
          <p:cNvPr id="23" name="TextBox 22"/>
          <p:cNvSpPr txBox="1"/>
          <p:nvPr/>
        </p:nvSpPr>
        <p:spPr>
          <a:xfrm>
            <a:off x="276225" y="5604510"/>
            <a:ext cx="1906941" cy="194310"/>
          </a:xfrm>
          <a:prstGeom prst="rect">
            <a:avLst/>
          </a:prstGeom>
          <a:noFill/>
        </p:spPr>
        <p:txBody>
          <a:bodyPr wrap="none" lIns="0" rIns="0" tIns="0" bIns="0">
            <a:spAutoFit/>
          </a:bodyPr>
          <a:lstStyle/>
          <a:p>
            <a:r>
              <a:rPr sz="1150" b="0">
                <a:solidFill>
                  <a:srgbClr val="2E2E2E"/>
                </a:solidFill>
                <a:latin typeface="Calibri"/>
              </a:rPr>
              <a:t>to witness the highest CAGR of</a:t>
            </a:r>
          </a:p>
        </p:txBody>
      </p:sp>
      <p:pic>
        <p:nvPicPr>
          <p:cNvPr id="24" name="Picture 23" descr="image.png"/>
          <p:cNvPicPr>
            <a:picLocks noChangeAspect="1"/>
          </p:cNvPicPr>
          <p:nvPr/>
        </p:nvPicPr>
        <p:blipFill>
          <a:blip r:embed="rId4"/>
          <a:stretch>
            <a:fillRect/>
          </a:stretch>
        </p:blipFill>
        <p:spPr>
          <a:xfrm>
            <a:off x="2132320" y="5594286"/>
            <a:ext cx="134549" cy="195707"/>
          </a:xfrm>
          <a:prstGeom prst="rect">
            <a:avLst/>
          </a:prstGeom>
        </p:spPr>
      </p:pic>
      <p:sp>
        <p:nvSpPr>
          <p:cNvPr id="25" name="TextBox 24"/>
          <p:cNvSpPr txBox="1"/>
          <p:nvPr/>
        </p:nvSpPr>
        <p:spPr>
          <a:xfrm>
            <a:off x="2307429" y="56045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832347"/>
            <a:ext cx="6997315" cy="194310"/>
          </a:xfrm>
          <a:prstGeom prst="rect">
            <a:avLst/>
          </a:prstGeom>
          <a:noFill/>
        </p:spPr>
        <p:txBody>
          <a:bodyPr wrap="none" lIns="0" rIns="0" tIns="0" bIns="0">
            <a:spAutoFit/>
          </a:bodyPr>
          <a:lstStyle/>
          <a:p>
            <a:r>
              <a:rPr sz="1150" b="0">
                <a:solidFill>
                  <a:srgbClr val="2E2E2E"/>
                </a:solidFill>
                <a:latin typeface="Calibri"/>
              </a:rPr>
              <a:t>In terms of value share by allergen class, the inhalant allergens segment is expected to dominate the market, gaining</a:t>
            </a:r>
          </a:p>
        </p:txBody>
      </p:sp>
      <p:pic>
        <p:nvPicPr>
          <p:cNvPr id="27" name="Picture 26" descr="image.png"/>
          <p:cNvPicPr>
            <a:picLocks noChangeAspect="1"/>
          </p:cNvPicPr>
          <p:nvPr/>
        </p:nvPicPr>
        <p:blipFill>
          <a:blip r:embed="rId4"/>
          <a:stretch>
            <a:fillRect/>
          </a:stretch>
        </p:blipFill>
        <p:spPr>
          <a:xfrm>
            <a:off x="7222694" y="5822124"/>
            <a:ext cx="134549" cy="195707"/>
          </a:xfrm>
          <a:prstGeom prst="rect">
            <a:avLst/>
          </a:prstGeom>
        </p:spPr>
      </p:pic>
      <p:sp>
        <p:nvSpPr>
          <p:cNvPr id="28" name="TextBox 27"/>
          <p:cNvSpPr txBox="1"/>
          <p:nvPr/>
        </p:nvSpPr>
        <p:spPr>
          <a:xfrm>
            <a:off x="7397803" y="58323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image.png"/>
          <p:cNvPicPr>
            <a:picLocks noChangeAspect="1"/>
          </p:cNvPicPr>
          <p:nvPr/>
        </p:nvPicPr>
        <p:blipFill>
          <a:blip r:embed="rId4"/>
          <a:stretch>
            <a:fillRect/>
          </a:stretch>
        </p:blipFill>
        <p:spPr>
          <a:xfrm>
            <a:off x="8792946" y="5822124"/>
            <a:ext cx="134549" cy="195707"/>
          </a:xfrm>
          <a:prstGeom prst="rect">
            <a:avLst/>
          </a:prstGeom>
        </p:spPr>
      </p:pic>
      <p:sp>
        <p:nvSpPr>
          <p:cNvPr id="30" name="TextBox 29"/>
          <p:cNvSpPr txBox="1"/>
          <p:nvPr/>
        </p:nvSpPr>
        <p:spPr>
          <a:xfrm>
            <a:off x="8968056" y="5832347"/>
            <a:ext cx="2748458" cy="194310"/>
          </a:xfrm>
          <a:prstGeom prst="rect">
            <a:avLst/>
          </a:prstGeom>
          <a:noFill/>
        </p:spPr>
        <p:txBody>
          <a:bodyPr wrap="none" lIns="0" rIns="0" tIns="0" bIns="0">
            <a:spAutoFit/>
          </a:bodyPr>
          <a:lstStyle/>
          <a:p>
            <a:r>
              <a:rPr sz="1150" b="0">
                <a:solidFill>
                  <a:srgbClr val="2E2E2E"/>
                </a:solidFill>
                <a:latin typeface="Calibri"/>
              </a:rPr>
              <a:t>share by 2036. The food allergens segment is</a:t>
            </a:r>
          </a:p>
        </p:txBody>
      </p:sp>
      <p:sp>
        <p:nvSpPr>
          <p:cNvPr id="31" name="TextBox 30"/>
          <p:cNvSpPr txBox="1"/>
          <p:nvPr/>
        </p:nvSpPr>
        <p:spPr>
          <a:xfrm>
            <a:off x="276225" y="6007607"/>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2" name="Picture 31" descr="image.png"/>
          <p:cNvPicPr>
            <a:picLocks noChangeAspect="1"/>
          </p:cNvPicPr>
          <p:nvPr/>
        </p:nvPicPr>
        <p:blipFill>
          <a:blip r:embed="rId4"/>
          <a:stretch>
            <a:fillRect/>
          </a:stretch>
        </p:blipFill>
        <p:spPr>
          <a:xfrm>
            <a:off x="1280285" y="5997384"/>
            <a:ext cx="134549" cy="195707"/>
          </a:xfrm>
          <a:prstGeom prst="rect">
            <a:avLst/>
          </a:prstGeom>
        </p:spPr>
      </p:pic>
      <p:sp>
        <p:nvSpPr>
          <p:cNvPr id="33" name="TextBox 32"/>
          <p:cNvSpPr txBox="1"/>
          <p:nvPr/>
        </p:nvSpPr>
        <p:spPr>
          <a:xfrm>
            <a:off x="1455394" y="60076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image.png"/>
          <p:cNvPicPr>
            <a:picLocks noChangeAspect="1"/>
          </p:cNvPicPr>
          <p:nvPr/>
        </p:nvPicPr>
        <p:blipFill>
          <a:blip r:embed="rId4"/>
          <a:stretch>
            <a:fillRect/>
          </a:stretch>
        </p:blipFill>
        <p:spPr>
          <a:xfrm>
            <a:off x="4042898" y="5997384"/>
            <a:ext cx="134549" cy="195707"/>
          </a:xfrm>
          <a:prstGeom prst="rect">
            <a:avLst/>
          </a:prstGeom>
        </p:spPr>
      </p:pic>
      <p:sp>
        <p:nvSpPr>
          <p:cNvPr id="35" name="TextBox 34"/>
          <p:cNvSpPr txBox="1"/>
          <p:nvPr/>
        </p:nvSpPr>
        <p:spPr>
          <a:xfrm>
            <a:off x="4218008" y="60076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Allergen Class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Allergen Class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Allergen Class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204040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03563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95943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Venom Allergens</a:t>
            </a:r>
          </a:p>
        </p:txBody>
      </p:sp>
      <p:sp>
        <p:nvSpPr>
          <p:cNvPr id="19" name="BPS Value 1"/>
          <p:cNvSpPr txBox="1"/>
          <p:nvPr/>
        </p:nvSpPr>
        <p:spPr>
          <a:xfrm>
            <a:off x="6896100" y="202135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86556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86080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78460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Food Allergens</a:t>
            </a:r>
          </a:p>
        </p:txBody>
      </p:sp>
      <p:sp>
        <p:nvSpPr>
          <p:cNvPr id="23" name="BPS Value 2"/>
          <p:cNvSpPr txBox="1"/>
          <p:nvPr/>
        </p:nvSpPr>
        <p:spPr>
          <a:xfrm>
            <a:off x="6896100" y="284651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4782609"/>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477784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470164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Inhalant Allergens</a:t>
            </a:r>
          </a:p>
        </p:txBody>
      </p:sp>
      <p:sp>
        <p:nvSpPr>
          <p:cNvPr id="27" name="BPS Value 3"/>
          <p:cNvSpPr txBox="1"/>
          <p:nvPr/>
        </p:nvSpPr>
        <p:spPr>
          <a:xfrm>
            <a:off x="6896100" y="476355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Allergen Class</a:t>
            </a:r>
          </a:p>
        </p:txBody>
      </p:sp>
      <p:sp>
        <p:nvSpPr>
          <p:cNvPr id="30" name="Rectangle 29"/>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5"/>
          <a:stretch>
            <a:fillRect/>
          </a:stretch>
        </p:blipFill>
        <p:spPr>
          <a:xfrm>
            <a:off x="2557843" y="3833622"/>
            <a:ext cx="275034" cy="400050"/>
          </a:xfrm>
          <a:prstGeom prst="rect">
            <a:avLst/>
          </a:prstGeom>
        </p:spPr>
      </p:pic>
      <p:sp>
        <p:nvSpPr>
          <p:cNvPr id="34" name="TextBox 33"/>
          <p:cNvSpPr txBox="1"/>
          <p:nvPr/>
        </p:nvSpPr>
        <p:spPr>
          <a:xfrm>
            <a:off x="7829550" y="1400175"/>
            <a:ext cx="4048075" cy="194310"/>
          </a:xfrm>
          <a:prstGeom prst="rect">
            <a:avLst/>
          </a:prstGeom>
          <a:noFill/>
        </p:spPr>
        <p:txBody>
          <a:bodyPr wrap="none" lIns="0" rIns="0" tIns="0" bIns="0">
            <a:spAutoFit/>
          </a:bodyPr>
          <a:lstStyle/>
          <a:p>
            <a:r>
              <a:rPr sz="1150" b="0">
                <a:solidFill>
                  <a:srgbClr val="2E2E2E"/>
                </a:solidFill>
                <a:latin typeface="Calibri"/>
              </a:rPr>
              <a:t>Among allergy immunotherapy by allergen class, inhalant allergens</a:t>
            </a:r>
          </a:p>
        </p:txBody>
      </p:sp>
      <p:sp>
        <p:nvSpPr>
          <p:cNvPr id="35" name="TextBox 34"/>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36" name="Picture 35" descr="lock.png"/>
          <p:cNvPicPr>
            <a:picLocks noChangeAspect="1"/>
          </p:cNvPicPr>
          <p:nvPr/>
        </p:nvPicPr>
        <p:blipFill>
          <a:blip r:embed="rId5"/>
          <a:stretch>
            <a:fillRect/>
          </a:stretch>
        </p:blipFill>
        <p:spPr>
          <a:xfrm>
            <a:off x="10935343" y="1565211"/>
            <a:ext cx="134549" cy="195707"/>
          </a:xfrm>
          <a:prstGeom prst="rect">
            <a:avLst/>
          </a:prstGeom>
        </p:spPr>
      </p:pic>
      <p:sp>
        <p:nvSpPr>
          <p:cNvPr id="37" name="TextBox 36"/>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8" name="TextBox 37"/>
          <p:cNvSpPr txBox="1"/>
          <p:nvPr/>
        </p:nvSpPr>
        <p:spPr>
          <a:xfrm>
            <a:off x="7829550" y="1750695"/>
            <a:ext cx="3679812" cy="194310"/>
          </a:xfrm>
          <a:prstGeom prst="rect">
            <a:avLst/>
          </a:prstGeom>
          <a:noFill/>
        </p:spPr>
        <p:txBody>
          <a:bodyPr wrap="none" lIns="0" rIns="0" tIns="0" bIns="0">
            <a:spAutoFit/>
          </a:bodyPr>
          <a:lstStyle/>
          <a:p>
            <a:r>
              <a:rPr sz="1150" b="0">
                <a:solidFill>
                  <a:srgbClr val="2E2E2E"/>
                </a:solidFill>
                <a:latin typeface="Calibri"/>
              </a:rPr>
              <a:t>forecast period. In terms of value share by allergen class, the</a:t>
            </a:r>
          </a:p>
        </p:txBody>
      </p:sp>
      <p:sp>
        <p:nvSpPr>
          <p:cNvPr id="39" name="TextBox 38"/>
          <p:cNvSpPr txBox="1"/>
          <p:nvPr/>
        </p:nvSpPr>
        <p:spPr>
          <a:xfrm>
            <a:off x="7829550" y="1925955"/>
            <a:ext cx="3873499" cy="194310"/>
          </a:xfrm>
          <a:prstGeom prst="rect">
            <a:avLst/>
          </a:prstGeom>
          <a:noFill/>
        </p:spPr>
        <p:txBody>
          <a:bodyPr wrap="none" lIns="0" rIns="0" tIns="0" bIns="0">
            <a:spAutoFit/>
          </a:bodyPr>
          <a:lstStyle/>
          <a:p>
            <a:r>
              <a:rPr sz="1150" b="0">
                <a:solidFill>
                  <a:srgbClr val="2E2E2E"/>
                </a:solidFill>
                <a:latin typeface="Calibri"/>
              </a:rPr>
              <a:t>inhalant allergens segment is expected to dominate the market,</a:t>
            </a:r>
          </a:p>
        </p:txBody>
      </p:sp>
      <p:sp>
        <p:nvSpPr>
          <p:cNvPr id="40" name="TextBox 39"/>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41" name="Picture 40" descr="lock.png"/>
          <p:cNvPicPr>
            <a:picLocks noChangeAspect="1"/>
          </p:cNvPicPr>
          <p:nvPr/>
        </p:nvPicPr>
        <p:blipFill>
          <a:blip r:embed="rId5"/>
          <a:stretch>
            <a:fillRect/>
          </a:stretch>
        </p:blipFill>
        <p:spPr>
          <a:xfrm>
            <a:off x="8283070" y="2090991"/>
            <a:ext cx="134549" cy="195707"/>
          </a:xfrm>
          <a:prstGeom prst="rect">
            <a:avLst/>
          </a:prstGeom>
        </p:spPr>
      </p:pic>
      <p:sp>
        <p:nvSpPr>
          <p:cNvPr id="42" name="TextBox 41"/>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3" name="Picture 42" descr="lock.png"/>
          <p:cNvPicPr>
            <a:picLocks noChangeAspect="1"/>
          </p:cNvPicPr>
          <p:nvPr/>
        </p:nvPicPr>
        <p:blipFill>
          <a:blip r:embed="rId5"/>
          <a:stretch>
            <a:fillRect/>
          </a:stretch>
        </p:blipFill>
        <p:spPr>
          <a:xfrm>
            <a:off x="9853322" y="2090991"/>
            <a:ext cx="134549" cy="195707"/>
          </a:xfrm>
          <a:prstGeom prst="rect">
            <a:avLst/>
          </a:prstGeom>
        </p:spPr>
      </p:pic>
      <p:sp>
        <p:nvSpPr>
          <p:cNvPr id="44" name="TextBox 43"/>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TextBox 44"/>
          <p:cNvSpPr txBox="1"/>
          <p:nvPr/>
        </p:nvSpPr>
        <p:spPr>
          <a:xfrm>
            <a:off x="7829550" y="2329053"/>
            <a:ext cx="2857140" cy="194310"/>
          </a:xfrm>
          <a:prstGeom prst="rect">
            <a:avLst/>
          </a:prstGeom>
          <a:noFill/>
        </p:spPr>
        <p:txBody>
          <a:bodyPr wrap="none" lIns="0" rIns="0" tIns="0" bIns="0">
            <a:spAutoFit/>
          </a:bodyPr>
          <a:lstStyle/>
          <a:p>
            <a:r>
              <a:rPr sz="1150" b="0">
                <a:solidFill>
                  <a:srgbClr val="2E2E2E"/>
                </a:solidFill>
                <a:latin typeface="Calibri"/>
              </a:rPr>
              <a:t>The food allergens segment is expected to lose</a:t>
            </a:r>
          </a:p>
        </p:txBody>
      </p:sp>
      <p:pic>
        <p:nvPicPr>
          <p:cNvPr id="46" name="Picture 45" descr="lock.png"/>
          <p:cNvPicPr>
            <a:picLocks noChangeAspect="1"/>
          </p:cNvPicPr>
          <p:nvPr/>
        </p:nvPicPr>
        <p:blipFill>
          <a:blip r:embed="rId5"/>
          <a:stretch>
            <a:fillRect/>
          </a:stretch>
        </p:blipFill>
        <p:spPr>
          <a:xfrm>
            <a:off x="10635844" y="2318829"/>
            <a:ext cx="134549" cy="195707"/>
          </a:xfrm>
          <a:prstGeom prst="rect">
            <a:avLst/>
          </a:prstGeom>
        </p:spPr>
      </p:pic>
      <p:sp>
        <p:nvSpPr>
          <p:cNvPr id="47" name="TextBox 46"/>
          <p:cNvSpPr txBox="1"/>
          <p:nvPr/>
        </p:nvSpPr>
        <p:spPr>
          <a:xfrm>
            <a:off x="10810953"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48" name="TextBox 47"/>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49" name="Picture 48" descr="lock.png"/>
          <p:cNvPicPr>
            <a:picLocks noChangeAspect="1"/>
          </p:cNvPicPr>
          <p:nvPr/>
        </p:nvPicPr>
        <p:blipFill>
          <a:blip r:embed="rId5"/>
          <a:stretch>
            <a:fillRect/>
          </a:stretch>
        </p:blipFill>
        <p:spPr>
          <a:xfrm>
            <a:off x="9630324" y="2494089"/>
            <a:ext cx="134549" cy="195707"/>
          </a:xfrm>
          <a:prstGeom prst="rect">
            <a:avLst/>
          </a:prstGeom>
        </p:spPr>
      </p:pic>
      <p:sp>
        <p:nvSpPr>
          <p:cNvPr id="50" name="TextBox 49"/>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Commercial Product Model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Commercial Product Model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Commercial Product Model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Commercial Product Model,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Commercial Product Model segment categorizes the market by commercial product model.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Individual-Prescription Products</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Bulk Allergen Extracts</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Licensed Finished AIT Products</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Commercial Product Model split shows how demand is distributed across commercial product model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Commercial Product Model segment is projected to grow at a CAGR of 8.4% from 2026 to 2036.</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832_4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1_728_605E5C.png"/>
          <p:cNvPicPr>
            <a:picLocks noChangeAspect="1"/>
          </p:cNvPicPr>
          <p:nvPr/>
        </p:nvPicPr>
        <p:blipFill>
          <a:blip r:embed="rId5"/>
          <a:stretch>
            <a:fillRect/>
          </a:stretch>
        </p:blipFill>
        <p:spPr>
          <a:xfrm>
            <a:off x="2897811" y="2779432"/>
            <a:ext cx="1195728" cy="361950"/>
          </a:xfrm>
          <a:prstGeom prst="rect">
            <a:avLst/>
          </a:prstGeom>
        </p:spPr>
      </p:pic>
      <p:pic>
        <p:nvPicPr>
          <p:cNvPr id="59" name="Picture 58" descr="7_6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808_0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1_797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8_3__605E5C.png"/>
          <p:cNvPicPr>
            <a:picLocks noChangeAspect="1"/>
          </p:cNvPicPr>
          <p:nvPr/>
        </p:nvPicPr>
        <p:blipFill>
          <a:blip r:embed="rId9"/>
          <a:stretch>
            <a:fillRect/>
          </a:stretch>
        </p:blipFill>
        <p:spPr>
          <a:xfrm>
            <a:off x="6376307" y="3272281"/>
            <a:ext cx="982436" cy="361950"/>
          </a:xfrm>
          <a:prstGeom prst="rect">
            <a:avLst/>
          </a:prstGeom>
        </p:spPr>
      </p:pic>
      <p:pic>
        <p:nvPicPr>
          <p:cNvPr id="63" name="Picture 62" descr="787_3_605E5C.png"/>
          <p:cNvPicPr>
            <a:picLocks noChangeAspect="1"/>
          </p:cNvPicPr>
          <p:nvPr/>
        </p:nvPicPr>
        <p:blipFill>
          <a:blip r:embed="rId10"/>
          <a:stretch>
            <a:fillRect/>
          </a:stretch>
        </p:blipFill>
        <p:spPr>
          <a:xfrm>
            <a:off x="9641511" y="2286582"/>
            <a:ext cx="1195728" cy="361950"/>
          </a:xfrm>
          <a:prstGeom prst="rect">
            <a:avLst/>
          </a:prstGeom>
        </p:spPr>
      </p:pic>
      <p:pic>
        <p:nvPicPr>
          <p:cNvPr id="64" name="Picture 63" descr="1_914_605E5C.png"/>
          <p:cNvPicPr>
            <a:picLocks noChangeAspect="1"/>
          </p:cNvPicPr>
          <p:nvPr/>
        </p:nvPicPr>
        <p:blipFill>
          <a:blip r:embed="rId11"/>
          <a:stretch>
            <a:fillRect/>
          </a:stretch>
        </p:blipFill>
        <p:spPr>
          <a:xfrm>
            <a:off x="9641511" y="2779432"/>
            <a:ext cx="1195728" cy="361950"/>
          </a:xfrm>
          <a:prstGeom prst="rect">
            <a:avLst/>
          </a:prstGeom>
        </p:spPr>
      </p:pic>
      <p:pic>
        <p:nvPicPr>
          <p:cNvPr id="65" name="Picture 64" descr="9_3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706489" cy="186689"/>
          </a:xfrm>
          <a:prstGeom prst="rect">
            <a:avLst/>
          </a:prstGeom>
          <a:noFill/>
        </p:spPr>
        <p:txBody>
          <a:bodyPr wrap="none" lIns="0" rIns="0" tIns="0" bIns="0">
            <a:spAutoFit/>
          </a:bodyPr>
          <a:lstStyle/>
          <a:p>
            <a:r>
              <a:rPr sz="1100" b="0">
                <a:solidFill>
                  <a:srgbClr val="2E2E2E"/>
                </a:solidFill>
                <a:latin typeface="Calibri"/>
              </a:rPr>
              <a:t>Among allergy immunotherapy by commercial</a:t>
            </a:r>
          </a:p>
        </p:txBody>
      </p:sp>
      <p:sp>
        <p:nvSpPr>
          <p:cNvPr id="70" name="TextBox 69"/>
          <p:cNvSpPr txBox="1"/>
          <p:nvPr/>
        </p:nvSpPr>
        <p:spPr>
          <a:xfrm>
            <a:off x="485775" y="4397077"/>
            <a:ext cx="2681659" cy="186689"/>
          </a:xfrm>
          <a:prstGeom prst="rect">
            <a:avLst/>
          </a:prstGeom>
          <a:noFill/>
        </p:spPr>
        <p:txBody>
          <a:bodyPr wrap="none" lIns="0" rIns="0" tIns="0" bIns="0">
            <a:spAutoFit/>
          </a:bodyPr>
          <a:lstStyle/>
          <a:p>
            <a:r>
              <a:rPr sz="1100" b="0">
                <a:solidFill>
                  <a:srgbClr val="2E2E2E"/>
                </a:solidFill>
                <a:latin typeface="Calibri"/>
              </a:rPr>
              <a:t>product model, licensed finished AIT products</a:t>
            </a:r>
          </a:p>
        </p:txBody>
      </p:sp>
      <p:sp>
        <p:nvSpPr>
          <p:cNvPr id="71" name="TextBox 70"/>
          <p:cNvSpPr txBox="1"/>
          <p:nvPr/>
        </p:nvSpPr>
        <p:spPr>
          <a:xfrm>
            <a:off x="485775" y="456471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72" name="TextBox 71"/>
          <p:cNvSpPr txBox="1"/>
          <p:nvPr/>
        </p:nvSpPr>
        <p:spPr>
          <a:xfrm>
            <a:off x="485775" y="473235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73" name="Picture 72" descr="lock.png"/>
          <p:cNvPicPr>
            <a:picLocks noChangeAspect="1"/>
          </p:cNvPicPr>
          <p:nvPr/>
        </p:nvPicPr>
        <p:blipFill>
          <a:blip r:embed="rId13"/>
          <a:stretch>
            <a:fillRect/>
          </a:stretch>
        </p:blipFill>
        <p:spPr>
          <a:xfrm>
            <a:off x="626261" y="4722578"/>
            <a:ext cx="128699" cy="187198"/>
          </a:xfrm>
          <a:prstGeom prst="rect">
            <a:avLst/>
          </a:prstGeom>
        </p:spPr>
      </p:pic>
      <p:sp>
        <p:nvSpPr>
          <p:cNvPr id="74" name="TextBox 73"/>
          <p:cNvSpPr txBox="1"/>
          <p:nvPr/>
        </p:nvSpPr>
        <p:spPr>
          <a:xfrm>
            <a:off x="793757" y="473235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75" name="TextBox 74"/>
          <p:cNvSpPr txBox="1"/>
          <p:nvPr/>
        </p:nvSpPr>
        <p:spPr>
          <a:xfrm>
            <a:off x="485775" y="4899997"/>
            <a:ext cx="2879204" cy="186689"/>
          </a:xfrm>
          <a:prstGeom prst="rect">
            <a:avLst/>
          </a:prstGeom>
          <a:noFill/>
        </p:spPr>
        <p:txBody>
          <a:bodyPr wrap="none" lIns="0" rIns="0" tIns="0" bIns="0">
            <a:spAutoFit/>
          </a:bodyPr>
          <a:lstStyle/>
          <a:p>
            <a:r>
              <a:rPr sz="1100" b="0">
                <a:solidFill>
                  <a:srgbClr val="2E2E2E"/>
                </a:solidFill>
                <a:latin typeface="Calibri"/>
              </a:rPr>
              <a:t>share by commercial product model, the licensed</a:t>
            </a:r>
          </a:p>
        </p:txBody>
      </p:sp>
      <p:sp>
        <p:nvSpPr>
          <p:cNvPr id="76" name="TextBox 75"/>
          <p:cNvSpPr txBox="1"/>
          <p:nvPr/>
        </p:nvSpPr>
        <p:spPr>
          <a:xfrm>
            <a:off x="485775" y="5067637"/>
            <a:ext cx="2625997" cy="186689"/>
          </a:xfrm>
          <a:prstGeom prst="rect">
            <a:avLst/>
          </a:prstGeom>
          <a:noFill/>
        </p:spPr>
        <p:txBody>
          <a:bodyPr wrap="none" lIns="0" rIns="0" tIns="0" bIns="0">
            <a:spAutoFit/>
          </a:bodyPr>
          <a:lstStyle/>
          <a:p>
            <a:r>
              <a:rPr sz="1100" b="0">
                <a:solidFill>
                  <a:srgbClr val="2E2E2E"/>
                </a:solidFill>
                <a:latin typeface="Calibri"/>
              </a:rPr>
              <a:t>finished AIT products segment is expected to</a:t>
            </a:r>
          </a:p>
        </p:txBody>
      </p:sp>
      <p:sp>
        <p:nvSpPr>
          <p:cNvPr id="77" name="TextBox 76"/>
          <p:cNvSpPr txBox="1"/>
          <p:nvPr/>
        </p:nvSpPr>
        <p:spPr>
          <a:xfrm>
            <a:off x="485775" y="523527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78" name="Picture 77" descr="lock.png"/>
          <p:cNvPicPr>
            <a:picLocks noChangeAspect="1"/>
          </p:cNvPicPr>
          <p:nvPr/>
        </p:nvPicPr>
        <p:blipFill>
          <a:blip r:embed="rId13"/>
          <a:stretch>
            <a:fillRect/>
          </a:stretch>
        </p:blipFill>
        <p:spPr>
          <a:xfrm>
            <a:off x="2194339" y="5225498"/>
            <a:ext cx="128699" cy="187198"/>
          </a:xfrm>
          <a:prstGeom prst="rect">
            <a:avLst/>
          </a:prstGeom>
        </p:spPr>
      </p:pic>
      <p:sp>
        <p:nvSpPr>
          <p:cNvPr id="79" name="TextBox 78"/>
          <p:cNvSpPr txBox="1"/>
          <p:nvPr/>
        </p:nvSpPr>
        <p:spPr>
          <a:xfrm>
            <a:off x="2361835" y="523527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80" name="TextBox 79"/>
          <p:cNvSpPr txBox="1"/>
          <p:nvPr/>
        </p:nvSpPr>
        <p:spPr>
          <a:xfrm>
            <a:off x="485775" y="540291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81" name="Picture 80" descr="lock.png"/>
          <p:cNvPicPr>
            <a:picLocks noChangeAspect="1"/>
          </p:cNvPicPr>
          <p:nvPr/>
        </p:nvPicPr>
        <p:blipFill>
          <a:blip r:embed="rId13"/>
          <a:stretch>
            <a:fillRect/>
          </a:stretch>
        </p:blipFill>
        <p:spPr>
          <a:xfrm>
            <a:off x="1330764" y="5393138"/>
            <a:ext cx="128699" cy="187198"/>
          </a:xfrm>
          <a:prstGeom prst="rect">
            <a:avLst/>
          </a:prstGeom>
        </p:spPr>
      </p:pic>
      <p:sp>
        <p:nvSpPr>
          <p:cNvPr id="82" name="TextBox 81"/>
          <p:cNvSpPr txBox="1"/>
          <p:nvPr/>
        </p:nvSpPr>
        <p:spPr>
          <a:xfrm>
            <a:off x="1498259"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3" name="TextBox 82"/>
          <p:cNvSpPr txBox="1"/>
          <p:nvPr/>
        </p:nvSpPr>
        <p:spPr>
          <a:xfrm>
            <a:off x="485775" y="5620849"/>
            <a:ext cx="2442095" cy="186689"/>
          </a:xfrm>
          <a:prstGeom prst="rect">
            <a:avLst/>
          </a:prstGeom>
          <a:noFill/>
        </p:spPr>
        <p:txBody>
          <a:bodyPr wrap="none" lIns="0" rIns="0" tIns="0" bIns="0">
            <a:spAutoFit/>
          </a:bodyPr>
          <a:lstStyle/>
          <a:p>
            <a:r>
              <a:rPr sz="1100" b="0">
                <a:solidFill>
                  <a:srgbClr val="2E2E2E"/>
                </a:solidFill>
                <a:latin typeface="Calibri"/>
              </a:rPr>
              <a:t>Licensed finished AIT products segment is</a:t>
            </a:r>
          </a:p>
        </p:txBody>
      </p:sp>
      <p:sp>
        <p:nvSpPr>
          <p:cNvPr id="84" name="TextBox 83"/>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85" name="Picture 84" descr="lock.png"/>
          <p:cNvPicPr>
            <a:picLocks noChangeAspect="1"/>
          </p:cNvPicPr>
          <p:nvPr/>
        </p:nvPicPr>
        <p:blipFill>
          <a:blip r:embed="rId13"/>
          <a:stretch>
            <a:fillRect/>
          </a:stretch>
        </p:blipFill>
        <p:spPr>
          <a:xfrm>
            <a:off x="1678376" y="5778710"/>
            <a:ext cx="128699" cy="187198"/>
          </a:xfrm>
          <a:prstGeom prst="rect">
            <a:avLst/>
          </a:prstGeom>
        </p:spPr>
      </p:pic>
      <p:sp>
        <p:nvSpPr>
          <p:cNvPr id="86" name="TextBox 85"/>
          <p:cNvSpPr txBox="1"/>
          <p:nvPr/>
        </p:nvSpPr>
        <p:spPr>
          <a:xfrm>
            <a:off x="1845872" y="5788489"/>
            <a:ext cx="1446733" cy="186689"/>
          </a:xfrm>
          <a:prstGeom prst="rect">
            <a:avLst/>
          </a:prstGeom>
          <a:noFill/>
        </p:spPr>
        <p:txBody>
          <a:bodyPr wrap="none" lIns="0" rIns="0" tIns="0" bIns="0">
            <a:spAutoFit/>
          </a:bodyPr>
          <a:lstStyle/>
          <a:p>
            <a:r>
              <a:rPr sz="1100" b="0">
                <a:solidFill>
                  <a:srgbClr val="2E2E2E"/>
                </a:solidFill>
                <a:latin typeface="Calibri"/>
              </a:rPr>
              <a:t>X higher value than bulk</a:t>
            </a:r>
          </a:p>
        </p:txBody>
      </p:sp>
      <p:sp>
        <p:nvSpPr>
          <p:cNvPr id="87" name="TextBox 86"/>
          <p:cNvSpPr txBox="1"/>
          <p:nvPr/>
        </p:nvSpPr>
        <p:spPr>
          <a:xfrm>
            <a:off x="485775" y="5956129"/>
            <a:ext cx="2030635" cy="186689"/>
          </a:xfrm>
          <a:prstGeom prst="rect">
            <a:avLst/>
          </a:prstGeom>
          <a:noFill/>
        </p:spPr>
        <p:txBody>
          <a:bodyPr wrap="none" lIns="0" rIns="0" tIns="0" bIns="0">
            <a:spAutoFit/>
          </a:bodyPr>
          <a:lstStyle/>
          <a:p>
            <a:r>
              <a:rPr sz="1100" b="0">
                <a:solidFill>
                  <a:srgbClr val="2E2E2E"/>
                </a:solidFill>
                <a:latin typeface="Calibri"/>
              </a:rPr>
              <a:t>allergen extracts segment in 2036.</a:t>
            </a:r>
          </a:p>
        </p:txBody>
      </p:sp>
      <p:sp>
        <p:nvSpPr>
          <p:cNvPr id="88" name="TextBox 87"/>
          <p:cNvSpPr txBox="1"/>
          <p:nvPr/>
        </p:nvSpPr>
        <p:spPr>
          <a:xfrm>
            <a:off x="3838575" y="4229437"/>
            <a:ext cx="2046733" cy="186689"/>
          </a:xfrm>
          <a:prstGeom prst="rect">
            <a:avLst/>
          </a:prstGeom>
          <a:noFill/>
        </p:spPr>
        <p:txBody>
          <a:bodyPr wrap="none" lIns="0" rIns="0" tIns="0" bIns="0">
            <a:spAutoFit/>
          </a:bodyPr>
          <a:lstStyle/>
          <a:p>
            <a:r>
              <a:rPr sz="1100" b="0">
                <a:solidFill>
                  <a:srgbClr val="2E2E2E"/>
                </a:solidFill>
                <a:latin typeface="Calibri"/>
              </a:rPr>
              <a:t>● Individual-Prescription Products:</a:t>
            </a:r>
          </a:p>
        </p:txBody>
      </p:sp>
      <p:pic>
        <p:nvPicPr>
          <p:cNvPr id="89" name="Picture 88" descr="lock.png"/>
          <p:cNvPicPr>
            <a:picLocks noChangeAspect="1"/>
          </p:cNvPicPr>
          <p:nvPr/>
        </p:nvPicPr>
        <p:blipFill>
          <a:blip r:embed="rId13"/>
          <a:stretch>
            <a:fillRect/>
          </a:stretch>
        </p:blipFill>
        <p:spPr>
          <a:xfrm>
            <a:off x="5833360" y="4219658"/>
            <a:ext cx="128699" cy="187198"/>
          </a:xfrm>
          <a:prstGeom prst="rect">
            <a:avLst/>
          </a:prstGeom>
        </p:spPr>
      </p:pic>
      <p:sp>
        <p:nvSpPr>
          <p:cNvPr id="90" name="TextBox 89"/>
          <p:cNvSpPr txBox="1"/>
          <p:nvPr/>
        </p:nvSpPr>
        <p:spPr>
          <a:xfrm>
            <a:off x="6000856"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1" name="Picture 90" descr="lock.png"/>
          <p:cNvPicPr>
            <a:picLocks noChangeAspect="1"/>
          </p:cNvPicPr>
          <p:nvPr/>
        </p:nvPicPr>
        <p:blipFill>
          <a:blip r:embed="rId13"/>
          <a:stretch>
            <a:fillRect/>
          </a:stretch>
        </p:blipFill>
        <p:spPr>
          <a:xfrm>
            <a:off x="6860306" y="4219658"/>
            <a:ext cx="128699" cy="187198"/>
          </a:xfrm>
          <a:prstGeom prst="rect">
            <a:avLst/>
          </a:prstGeom>
        </p:spPr>
      </p:pic>
      <p:sp>
        <p:nvSpPr>
          <p:cNvPr id="92" name="TextBox 91"/>
          <p:cNvSpPr txBox="1"/>
          <p:nvPr/>
        </p:nvSpPr>
        <p:spPr>
          <a:xfrm>
            <a:off x="7027802"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93" name="TextBox 92"/>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94" name="TextBox 93"/>
          <p:cNvSpPr txBox="1"/>
          <p:nvPr/>
        </p:nvSpPr>
        <p:spPr>
          <a:xfrm>
            <a:off x="3838575" y="4615009"/>
            <a:ext cx="1462558" cy="186689"/>
          </a:xfrm>
          <a:prstGeom prst="rect">
            <a:avLst/>
          </a:prstGeom>
          <a:noFill/>
        </p:spPr>
        <p:txBody>
          <a:bodyPr wrap="none" lIns="0" rIns="0" tIns="0" bIns="0">
            <a:spAutoFit/>
          </a:bodyPr>
          <a:lstStyle/>
          <a:p>
            <a:r>
              <a:rPr sz="1100" b="0">
                <a:solidFill>
                  <a:srgbClr val="2E2E2E"/>
                </a:solidFill>
                <a:latin typeface="Calibri"/>
              </a:rPr>
              <a:t>● Bulk Allergen Extracts:</a:t>
            </a:r>
          </a:p>
        </p:txBody>
      </p:sp>
      <p:pic>
        <p:nvPicPr>
          <p:cNvPr id="95" name="Picture 94" descr="lock.png"/>
          <p:cNvPicPr>
            <a:picLocks noChangeAspect="1"/>
          </p:cNvPicPr>
          <p:nvPr/>
        </p:nvPicPr>
        <p:blipFill>
          <a:blip r:embed="rId13"/>
          <a:stretch>
            <a:fillRect/>
          </a:stretch>
        </p:blipFill>
        <p:spPr>
          <a:xfrm>
            <a:off x="5249185" y="4605230"/>
            <a:ext cx="128699" cy="187198"/>
          </a:xfrm>
          <a:prstGeom prst="rect">
            <a:avLst/>
          </a:prstGeom>
        </p:spPr>
      </p:pic>
      <p:sp>
        <p:nvSpPr>
          <p:cNvPr id="96" name="TextBox 95"/>
          <p:cNvSpPr txBox="1"/>
          <p:nvPr/>
        </p:nvSpPr>
        <p:spPr>
          <a:xfrm>
            <a:off x="5416681"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7" name="Picture 96" descr="lock.png"/>
          <p:cNvPicPr>
            <a:picLocks noChangeAspect="1"/>
          </p:cNvPicPr>
          <p:nvPr/>
        </p:nvPicPr>
        <p:blipFill>
          <a:blip r:embed="rId13"/>
          <a:stretch>
            <a:fillRect/>
          </a:stretch>
        </p:blipFill>
        <p:spPr>
          <a:xfrm>
            <a:off x="6276131" y="4605230"/>
            <a:ext cx="128699" cy="187198"/>
          </a:xfrm>
          <a:prstGeom prst="rect">
            <a:avLst/>
          </a:prstGeom>
        </p:spPr>
      </p:pic>
      <p:sp>
        <p:nvSpPr>
          <p:cNvPr id="98" name="TextBox 97"/>
          <p:cNvSpPr txBox="1"/>
          <p:nvPr/>
        </p:nvSpPr>
        <p:spPr>
          <a:xfrm>
            <a:off x="6443627"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99" name="TextBox 98"/>
          <p:cNvSpPr txBox="1"/>
          <p:nvPr/>
        </p:nvSpPr>
        <p:spPr>
          <a:xfrm>
            <a:off x="3838575" y="4832941"/>
            <a:ext cx="1974428" cy="186689"/>
          </a:xfrm>
          <a:prstGeom prst="rect">
            <a:avLst/>
          </a:prstGeom>
          <a:noFill/>
        </p:spPr>
        <p:txBody>
          <a:bodyPr wrap="none" lIns="0" rIns="0" tIns="0" bIns="0">
            <a:spAutoFit/>
          </a:bodyPr>
          <a:lstStyle/>
          <a:p>
            <a:r>
              <a:rPr sz="1100" b="0">
                <a:solidFill>
                  <a:srgbClr val="2E2E2E"/>
                </a:solidFill>
                <a:latin typeface="Calibri"/>
              </a:rPr>
              <a:t>● Licensed Finished AIT Products:</a:t>
            </a:r>
          </a:p>
        </p:txBody>
      </p:sp>
      <p:pic>
        <p:nvPicPr>
          <p:cNvPr id="100" name="Picture 99" descr="lock.png"/>
          <p:cNvPicPr>
            <a:picLocks noChangeAspect="1"/>
          </p:cNvPicPr>
          <p:nvPr/>
        </p:nvPicPr>
        <p:blipFill>
          <a:blip r:embed="rId13"/>
          <a:stretch>
            <a:fillRect/>
          </a:stretch>
        </p:blipFill>
        <p:spPr>
          <a:xfrm>
            <a:off x="5761054" y="4823162"/>
            <a:ext cx="128699" cy="187198"/>
          </a:xfrm>
          <a:prstGeom prst="rect">
            <a:avLst/>
          </a:prstGeom>
        </p:spPr>
      </p:pic>
      <p:sp>
        <p:nvSpPr>
          <p:cNvPr id="101" name="TextBox 100"/>
          <p:cNvSpPr txBox="1"/>
          <p:nvPr/>
        </p:nvSpPr>
        <p:spPr>
          <a:xfrm>
            <a:off x="5928550"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2" name="Picture 101" descr="lock.png"/>
          <p:cNvPicPr>
            <a:picLocks noChangeAspect="1"/>
          </p:cNvPicPr>
          <p:nvPr/>
        </p:nvPicPr>
        <p:blipFill>
          <a:blip r:embed="rId13"/>
          <a:stretch>
            <a:fillRect/>
          </a:stretch>
        </p:blipFill>
        <p:spPr>
          <a:xfrm>
            <a:off x="6788000" y="4823162"/>
            <a:ext cx="128699" cy="187198"/>
          </a:xfrm>
          <a:prstGeom prst="rect">
            <a:avLst/>
          </a:prstGeom>
        </p:spPr>
      </p:pic>
      <p:sp>
        <p:nvSpPr>
          <p:cNvPr id="103" name="TextBox 102"/>
          <p:cNvSpPr txBox="1"/>
          <p:nvPr/>
        </p:nvSpPr>
        <p:spPr>
          <a:xfrm>
            <a:off x="6955496" y="4832941"/>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04" name="TextBox 103"/>
          <p:cNvSpPr txBox="1"/>
          <p:nvPr/>
        </p:nvSpPr>
        <p:spPr>
          <a:xfrm>
            <a:off x="3838575" y="5000581"/>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Commercial Product Model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Commercial Product Model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Commercial Product Model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Commercial Product Model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544696" cy="186689"/>
          </a:xfrm>
          <a:prstGeom prst="rect">
            <a:avLst/>
          </a:prstGeom>
          <a:noFill/>
        </p:spPr>
        <p:txBody>
          <a:bodyPr wrap="none" lIns="0" rIns="0" tIns="0" bIns="0">
            <a:spAutoFit/>
          </a:bodyPr>
          <a:lstStyle/>
          <a:p>
            <a:r>
              <a:rPr sz="1100" b="0">
                <a:solidFill>
                  <a:srgbClr val="2E2E2E"/>
                </a:solidFill>
                <a:latin typeface="Calibri"/>
              </a:rPr>
              <a:t>Licensed finished AIT products followed by bulk allergen extracts are expected to be the two most attractive commercial product model segments in the global allergy immunotherapy market in terms of</a:t>
            </a:r>
          </a:p>
        </p:txBody>
      </p:sp>
      <p:sp>
        <p:nvSpPr>
          <p:cNvPr id="21" name="TextBox 20"/>
          <p:cNvSpPr txBox="1"/>
          <p:nvPr/>
        </p:nvSpPr>
        <p:spPr>
          <a:xfrm>
            <a:off x="257175" y="5861685"/>
            <a:ext cx="6430077" cy="186689"/>
          </a:xfrm>
          <a:prstGeom prst="rect">
            <a:avLst/>
          </a:prstGeom>
          <a:noFill/>
        </p:spPr>
        <p:txBody>
          <a:bodyPr wrap="none" lIns="0" rIns="0" tIns="0" bIns="0">
            <a:spAutoFit/>
          </a:bodyPr>
          <a:lstStyle/>
          <a:p>
            <a:r>
              <a:rPr sz="1100" b="0">
                <a:solidFill>
                  <a:srgbClr val="2E2E2E"/>
                </a:solidFill>
                <a:latin typeface="Calibri"/>
              </a:rPr>
              <a:t>value over the forecast period. Licensed finished AIT products and bulk allergen extracts exhibit a CAGR index of</a:t>
            </a:r>
          </a:p>
        </p:txBody>
      </p:sp>
      <p:pic>
        <p:nvPicPr>
          <p:cNvPr id="22" name="Picture 21" descr="lock.png"/>
          <p:cNvPicPr>
            <a:picLocks noChangeAspect="1"/>
          </p:cNvPicPr>
          <p:nvPr/>
        </p:nvPicPr>
        <p:blipFill>
          <a:blip r:embed="rId6"/>
          <a:stretch>
            <a:fillRect/>
          </a:stretch>
        </p:blipFill>
        <p:spPr>
          <a:xfrm>
            <a:off x="6635303" y="5851905"/>
            <a:ext cx="128699" cy="187198"/>
          </a:xfrm>
          <a:prstGeom prst="rect">
            <a:avLst/>
          </a:prstGeom>
        </p:spPr>
      </p:pic>
      <p:sp>
        <p:nvSpPr>
          <p:cNvPr id="23" name="TextBox 22"/>
          <p:cNvSpPr txBox="1"/>
          <p:nvPr/>
        </p:nvSpPr>
        <p:spPr>
          <a:xfrm>
            <a:off x="680279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7040694" y="5851905"/>
            <a:ext cx="128699" cy="187198"/>
          </a:xfrm>
          <a:prstGeom prst="rect">
            <a:avLst/>
          </a:prstGeom>
        </p:spPr>
      </p:pic>
      <p:sp>
        <p:nvSpPr>
          <p:cNvPr id="25" name="TextBox 24"/>
          <p:cNvSpPr txBox="1"/>
          <p:nvPr/>
        </p:nvSpPr>
        <p:spPr>
          <a:xfrm>
            <a:off x="720818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8817163" y="5851905"/>
            <a:ext cx="128699" cy="187198"/>
          </a:xfrm>
          <a:prstGeom prst="rect">
            <a:avLst/>
          </a:prstGeom>
        </p:spPr>
      </p:pic>
      <p:sp>
        <p:nvSpPr>
          <p:cNvPr id="27" name="TextBox 26"/>
          <p:cNvSpPr txBox="1"/>
          <p:nvPr/>
        </p:nvSpPr>
        <p:spPr>
          <a:xfrm>
            <a:off x="898465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9222553" y="5851905"/>
            <a:ext cx="128699" cy="187198"/>
          </a:xfrm>
          <a:prstGeom prst="rect">
            <a:avLst/>
          </a:prstGeom>
        </p:spPr>
      </p:pic>
      <p:sp>
        <p:nvSpPr>
          <p:cNvPr id="29" name="TextBox 28"/>
          <p:cNvSpPr txBox="1"/>
          <p:nvPr/>
        </p:nvSpPr>
        <p:spPr>
          <a:xfrm>
            <a:off x="9390049" y="586168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30" name="TextBox 29"/>
          <p:cNvSpPr txBox="1"/>
          <p:nvPr/>
        </p:nvSpPr>
        <p:spPr>
          <a:xfrm>
            <a:off x="257175" y="602932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31" name="Picture 30" descr="lock.png"/>
          <p:cNvPicPr>
            <a:picLocks noChangeAspect="1"/>
          </p:cNvPicPr>
          <p:nvPr/>
        </p:nvPicPr>
        <p:blipFill>
          <a:blip r:embed="rId6"/>
          <a:stretch>
            <a:fillRect/>
          </a:stretch>
        </p:blipFill>
        <p:spPr>
          <a:xfrm>
            <a:off x="879790" y="6019545"/>
            <a:ext cx="128699" cy="187198"/>
          </a:xfrm>
          <a:prstGeom prst="rect">
            <a:avLst/>
          </a:prstGeom>
        </p:spPr>
      </p:pic>
      <p:sp>
        <p:nvSpPr>
          <p:cNvPr id="32" name="TextBox 31"/>
          <p:cNvSpPr txBox="1"/>
          <p:nvPr/>
        </p:nvSpPr>
        <p:spPr>
          <a:xfrm>
            <a:off x="1047285" y="6029325"/>
            <a:ext cx="10182604" cy="186689"/>
          </a:xfrm>
          <a:prstGeom prst="rect">
            <a:avLst/>
          </a:prstGeom>
          <a:noFill/>
        </p:spPr>
        <p:txBody>
          <a:bodyPr wrap="none" lIns="0" rIns="0" tIns="0" bIns="0">
            <a:spAutoFit/>
          </a:bodyPr>
          <a:lstStyle/>
          <a:p>
            <a:r>
              <a:rPr sz="1100" b="0">
                <a:solidFill>
                  <a:srgbClr val="2E2E2E"/>
                </a:solidFill>
                <a:latin typeface="Calibri"/>
              </a:rPr>
              <a:t>. The individual-prescription products segment is expected to be less attractive as compared to other segments over the forecast period, owing to its lower CAGR and incremental</a:t>
            </a:r>
          </a:p>
        </p:txBody>
      </p:sp>
      <p:sp>
        <p:nvSpPr>
          <p:cNvPr id="33" name="TextBox 32"/>
          <p:cNvSpPr txBox="1"/>
          <p:nvPr/>
        </p:nvSpPr>
        <p:spPr>
          <a:xfrm>
            <a:off x="257175" y="6196965"/>
            <a:ext cx="5122845" cy="186689"/>
          </a:xfrm>
          <a:prstGeom prst="rect">
            <a:avLst/>
          </a:prstGeom>
          <a:noFill/>
        </p:spPr>
        <p:txBody>
          <a:bodyPr wrap="none" lIns="0" rIns="0" tIns="0" bIns="0">
            <a:spAutoFit/>
          </a:bodyPr>
          <a:lstStyle/>
          <a:p>
            <a:r>
              <a:rPr sz="1100" b="0">
                <a:solidFill>
                  <a:srgbClr val="2E2E2E"/>
                </a:solidFill>
                <a:latin typeface="Calibri"/>
              </a:rPr>
              <a:t>opportunity. Bubbles right of the CAGR-Index line 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Commercial Product Model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Commercial Product Model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Licensed Finished AIT Products</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Individual-Prescription Products</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Bulk Allergen Extracts</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Commercial Product Model</a:t>
            </a:r>
          </a:p>
        </p:txBody>
      </p:sp>
      <p:sp>
        <p:nvSpPr>
          <p:cNvPr id="22" name="Rectangle 21"/>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3100230"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9129555" y="2330679"/>
            <a:ext cx="252890" cy="367840"/>
          </a:xfrm>
          <a:prstGeom prst="rect">
            <a:avLst/>
          </a:prstGeom>
        </p:spPr>
      </p:pic>
      <p:pic>
        <p:nvPicPr>
          <p:cNvPr id="27" name="Picture 26" descr="lock.png"/>
          <p:cNvPicPr>
            <a:picLocks noChangeAspect="1"/>
          </p:cNvPicPr>
          <p:nvPr/>
        </p:nvPicPr>
        <p:blipFill>
          <a:blip r:embed="rId7"/>
          <a:stretch>
            <a:fillRect/>
          </a:stretch>
        </p:blipFill>
        <p:spPr>
          <a:xfrm>
            <a:off x="3100230" y="5216754"/>
            <a:ext cx="252890" cy="367840"/>
          </a:xfrm>
          <a:prstGeom prst="rect">
            <a:avLst/>
          </a:prstGeom>
        </p:spPr>
      </p:pic>
      <p:sp>
        <p:nvSpPr>
          <p:cNvPr id="28" name="TextBox 27"/>
          <p:cNvSpPr txBox="1"/>
          <p:nvPr/>
        </p:nvSpPr>
        <p:spPr>
          <a:xfrm>
            <a:off x="6305550" y="4484320"/>
            <a:ext cx="5276356" cy="194310"/>
          </a:xfrm>
          <a:prstGeom prst="rect">
            <a:avLst/>
          </a:prstGeom>
          <a:noFill/>
        </p:spPr>
        <p:txBody>
          <a:bodyPr wrap="none" lIns="0" rIns="0" tIns="0" bIns="0">
            <a:spAutoFit/>
          </a:bodyPr>
          <a:lstStyle/>
          <a:p>
            <a:r>
              <a:rPr sz="1150" b="0">
                <a:solidFill>
                  <a:srgbClr val="2E2E2E"/>
                </a:solidFill>
                <a:latin typeface="Calibri"/>
              </a:rPr>
              <a:t>By 2036, licensed finished AIT products segment is anticipated to witness an increase of</a:t>
            </a:r>
          </a:p>
        </p:txBody>
      </p:sp>
      <p:pic>
        <p:nvPicPr>
          <p:cNvPr id="29" name="Picture 28" descr="lock.png"/>
          <p:cNvPicPr>
            <a:picLocks noChangeAspect="1"/>
          </p:cNvPicPr>
          <p:nvPr/>
        </p:nvPicPr>
        <p:blipFill>
          <a:blip r:embed="rId7"/>
          <a:stretch>
            <a:fillRect/>
          </a:stretch>
        </p:blipFill>
        <p:spPr>
          <a:xfrm>
            <a:off x="11531060" y="4474096"/>
            <a:ext cx="134549" cy="195707"/>
          </a:xfrm>
          <a:prstGeom prst="rect">
            <a:avLst/>
          </a:prstGeom>
        </p:spPr>
      </p:pic>
      <p:sp>
        <p:nvSpPr>
          <p:cNvPr id="30" name="TextBox 29"/>
          <p:cNvSpPr txBox="1"/>
          <p:nvPr/>
        </p:nvSpPr>
        <p:spPr>
          <a:xfrm>
            <a:off x="11706169" y="4484320"/>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1" name="TextBox 30"/>
          <p:cNvSpPr txBox="1"/>
          <p:nvPr/>
        </p:nvSpPr>
        <p:spPr>
          <a:xfrm>
            <a:off x="6305550" y="4659580"/>
            <a:ext cx="5127190" cy="194310"/>
          </a:xfrm>
          <a:prstGeom prst="rect">
            <a:avLst/>
          </a:prstGeom>
          <a:noFill/>
        </p:spPr>
        <p:txBody>
          <a:bodyPr wrap="none" lIns="0" rIns="0" tIns="0" bIns="0">
            <a:spAutoFit/>
          </a:bodyPr>
          <a:lstStyle/>
          <a:p>
            <a:r>
              <a:rPr sz="1150" b="0">
                <a:solidFill>
                  <a:srgbClr val="2E2E2E"/>
                </a:solidFill>
                <a:latin typeface="Calibri"/>
              </a:rPr>
              <a:t>in terms of value as compared to 2026. The licensed finished AIT products segment is</a:t>
            </a:r>
          </a:p>
        </p:txBody>
      </p:sp>
      <p:sp>
        <p:nvSpPr>
          <p:cNvPr id="32" name="TextBox 31"/>
          <p:cNvSpPr txBox="1"/>
          <p:nvPr/>
        </p:nvSpPr>
        <p:spPr>
          <a:xfrm>
            <a:off x="6305550" y="4834840"/>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33" name="Picture 32" descr="lock.png"/>
          <p:cNvPicPr>
            <a:picLocks noChangeAspect="1"/>
          </p:cNvPicPr>
          <p:nvPr/>
        </p:nvPicPr>
        <p:blipFill>
          <a:blip r:embed="rId7"/>
          <a:stretch>
            <a:fillRect/>
          </a:stretch>
        </p:blipFill>
        <p:spPr>
          <a:xfrm>
            <a:off x="9540010" y="4824616"/>
            <a:ext cx="134549" cy="195707"/>
          </a:xfrm>
          <a:prstGeom prst="rect">
            <a:avLst/>
          </a:prstGeom>
        </p:spPr>
      </p:pic>
      <p:sp>
        <p:nvSpPr>
          <p:cNvPr id="34" name="TextBox 33"/>
          <p:cNvSpPr txBox="1"/>
          <p:nvPr/>
        </p:nvSpPr>
        <p:spPr>
          <a:xfrm>
            <a:off x="9715119" y="4834840"/>
            <a:ext cx="1581199" cy="194310"/>
          </a:xfrm>
          <a:prstGeom prst="rect">
            <a:avLst/>
          </a:prstGeom>
          <a:noFill/>
        </p:spPr>
        <p:txBody>
          <a:bodyPr wrap="none" lIns="0" rIns="0" tIns="0" bIns="0">
            <a:spAutoFit/>
          </a:bodyPr>
          <a:lstStyle/>
          <a:p>
            <a:r>
              <a:rPr sz="1150" b="0">
                <a:solidFill>
                  <a:srgbClr val="2E2E2E"/>
                </a:solidFill>
                <a:latin typeface="Calibri"/>
              </a:rPr>
              <a:t>Mn for the overall allergy</a:t>
            </a:r>
          </a:p>
        </p:txBody>
      </p:sp>
      <p:sp>
        <p:nvSpPr>
          <p:cNvPr id="35" name="TextBox 34"/>
          <p:cNvSpPr txBox="1"/>
          <p:nvPr/>
        </p:nvSpPr>
        <p:spPr>
          <a:xfrm>
            <a:off x="6305550" y="5010100"/>
            <a:ext cx="2672866" cy="194310"/>
          </a:xfrm>
          <a:prstGeom prst="rect">
            <a:avLst/>
          </a:prstGeom>
          <a:noFill/>
        </p:spPr>
        <p:txBody>
          <a:bodyPr wrap="none" lIns="0" rIns="0" tIns="0" bIns="0">
            <a:spAutoFit/>
          </a:bodyPr>
          <a:lstStyle/>
          <a:p>
            <a:r>
              <a:rPr sz="1150" b="0">
                <a:solidFill>
                  <a:srgbClr val="2E2E2E"/>
                </a:solidFill>
                <a:latin typeface="Calibri"/>
              </a:rPr>
              <a:t>immunotherapy market from 2026 to 2036.</a:t>
            </a:r>
          </a:p>
        </p:txBody>
      </p:sp>
      <p:sp>
        <p:nvSpPr>
          <p:cNvPr id="36" name="TextBox 35"/>
          <p:cNvSpPr txBox="1"/>
          <p:nvPr/>
        </p:nvSpPr>
        <p:spPr>
          <a:xfrm>
            <a:off x="6305550" y="5237938"/>
            <a:ext cx="5515991" cy="194310"/>
          </a:xfrm>
          <a:prstGeom prst="rect">
            <a:avLst/>
          </a:prstGeom>
          <a:noFill/>
        </p:spPr>
        <p:txBody>
          <a:bodyPr wrap="none" lIns="0" rIns="0" tIns="0" bIns="0">
            <a:spAutoFit/>
          </a:bodyPr>
          <a:lstStyle/>
          <a:p>
            <a:r>
              <a:rPr sz="1150" b="0">
                <a:solidFill>
                  <a:srgbClr val="2E2E2E"/>
                </a:solidFill>
                <a:latin typeface="Calibri"/>
              </a:rPr>
              <a:t>The bulk allergen extracts segment is expected to create an incremental opportunity of US$</a:t>
            </a:r>
          </a:p>
        </p:txBody>
      </p:sp>
      <p:pic>
        <p:nvPicPr>
          <p:cNvPr id="37" name="Picture 36" descr="lock.png"/>
          <p:cNvPicPr>
            <a:picLocks noChangeAspect="1"/>
          </p:cNvPicPr>
          <p:nvPr/>
        </p:nvPicPr>
        <p:blipFill>
          <a:blip r:embed="rId7"/>
          <a:stretch>
            <a:fillRect/>
          </a:stretch>
        </p:blipFill>
        <p:spPr>
          <a:xfrm>
            <a:off x="6291470" y="5402974"/>
            <a:ext cx="134549" cy="195707"/>
          </a:xfrm>
          <a:prstGeom prst="rect">
            <a:avLst/>
          </a:prstGeom>
        </p:spPr>
      </p:pic>
      <p:sp>
        <p:nvSpPr>
          <p:cNvPr id="38" name="TextBox 37"/>
          <p:cNvSpPr txBox="1"/>
          <p:nvPr/>
        </p:nvSpPr>
        <p:spPr>
          <a:xfrm>
            <a:off x="6466579" y="5413197"/>
            <a:ext cx="4464831"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 The</a:t>
            </a:r>
          </a:p>
        </p:txBody>
      </p:sp>
      <p:sp>
        <p:nvSpPr>
          <p:cNvPr id="39" name="TextBox 38"/>
          <p:cNvSpPr txBox="1"/>
          <p:nvPr/>
        </p:nvSpPr>
        <p:spPr>
          <a:xfrm>
            <a:off x="6305550" y="5588457"/>
            <a:ext cx="5591175" cy="194310"/>
          </a:xfrm>
          <a:prstGeom prst="rect">
            <a:avLst/>
          </a:prstGeom>
          <a:noFill/>
        </p:spPr>
        <p:txBody>
          <a:bodyPr wrap="none" lIns="0" rIns="0" tIns="0" bIns="0">
            <a:spAutoFit/>
          </a:bodyPr>
          <a:lstStyle/>
          <a:p>
            <a:r>
              <a:rPr sz="1150" b="0">
                <a:solidFill>
                  <a:srgbClr val="2E2E2E"/>
                </a:solidFill>
                <a:latin typeface="Calibri"/>
              </a:rPr>
              <a:t>Individual-Prescription products segment is expected to create an incremental opportunity of</a:t>
            </a:r>
          </a:p>
        </p:txBody>
      </p:sp>
      <p:sp>
        <p:nvSpPr>
          <p:cNvPr id="40" name="TextBox 39"/>
          <p:cNvSpPr txBox="1"/>
          <p:nvPr/>
        </p:nvSpPr>
        <p:spPr>
          <a:xfrm>
            <a:off x="6305550" y="5763717"/>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41" name="Picture 40" descr="lock.png"/>
          <p:cNvPicPr>
            <a:picLocks noChangeAspect="1"/>
          </p:cNvPicPr>
          <p:nvPr/>
        </p:nvPicPr>
        <p:blipFill>
          <a:blip r:embed="rId7"/>
          <a:stretch>
            <a:fillRect/>
          </a:stretch>
        </p:blipFill>
        <p:spPr>
          <a:xfrm>
            <a:off x="6565953" y="5753494"/>
            <a:ext cx="134549" cy="195707"/>
          </a:xfrm>
          <a:prstGeom prst="rect">
            <a:avLst/>
          </a:prstGeom>
        </p:spPr>
      </p:pic>
      <p:sp>
        <p:nvSpPr>
          <p:cNvPr id="42" name="TextBox 41"/>
          <p:cNvSpPr txBox="1"/>
          <p:nvPr/>
        </p:nvSpPr>
        <p:spPr>
          <a:xfrm>
            <a:off x="6741062" y="5763717"/>
            <a:ext cx="4210955"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a:t>
            </a:r>
          </a:p>
        </p:txBody>
      </p:sp>
      <p:sp>
        <p:nvSpPr>
          <p:cNvPr id="43"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Commercial Product Model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Commercial Product Model,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Commercial Product Model (US$ Mn)</a:t>
            </a:r>
          </a:p>
        </p:txBody>
      </p:sp>
      <p:graphicFrame>
        <p:nvGraphicFramePr>
          <p:cNvPr id="13" name="Table 12"/>
          <p:cNvGraphicFramePr>
            <a:graphicFrameLocks noGrp="1"/>
          </p:cNvGraphicFramePr>
          <p:nvPr/>
        </p:nvGraphicFramePr>
        <p:xfrm>
          <a:off x="152400" y="1238250"/>
          <a:ext cx="11887205" cy="2714626"/>
        </p:xfrm>
        <a:graphic>
          <a:graphicData uri="http://schemas.openxmlformats.org/drawingml/2006/table">
            <a:tbl>
              <a:tblPr>
                <a:tableStyleId>{5C22544A-7EE6-4342-B048-85BDC9FD1C3A}</a:tableStyleId>
              </a:tblPr>
              <a:tblGrid>
                <a:gridCol w="2979849"/>
                <a:gridCol w="535051"/>
                <a:gridCol w="535051"/>
                <a:gridCol w="535051"/>
                <a:gridCol w="535051"/>
                <a:gridCol w="535051"/>
                <a:gridCol w="516204"/>
                <a:gridCol w="510819"/>
                <a:gridCol w="510819"/>
                <a:gridCol w="510819"/>
                <a:gridCol w="510819"/>
                <a:gridCol w="510819"/>
                <a:gridCol w="510819"/>
                <a:gridCol w="510819"/>
                <a:gridCol w="510819"/>
                <a:gridCol w="510819"/>
                <a:gridCol w="510819"/>
                <a:gridCol w="607707"/>
              </a:tblGrid>
              <a:tr h="246126">
                <a:tc>
                  <a:txBody>
                    <a:bodyPr wrap="none"/>
                    <a:lstStyle/>
                    <a:p>
                      <a:pPr algn="l"/>
                      <a:r>
                        <a:rPr sz="1100" b="1">
                          <a:solidFill>
                            <a:srgbClr val="0B2E4A"/>
                          </a:solidFill>
                          <a:latin typeface="Calibri"/>
                        </a:rPr>
                        <a:t>Commercial Product Model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Licensed Finished AIT Products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Fixed-dose Branded 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Liquid Products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Individual-Prescription Products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Single-Allergen Personalized Preparations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Multi-Allergen Personalized Preparations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Bulk Allergen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Allergen Stock Concentrates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Venom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2,428</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5,439</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8.4%</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Commercial Product Model</a:t>
            </a:r>
          </a:p>
        </p:txBody>
      </p:sp>
      <p:sp>
        <p:nvSpPr>
          <p:cNvPr id="17" name="Rectangle 16"/>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399237" y="2451926"/>
            <a:ext cx="366712" cy="533400"/>
          </a:xfrm>
          <a:prstGeom prst="rect">
            <a:avLst/>
          </a:prstGeom>
        </p:spPr>
      </p:pic>
      <p:sp>
        <p:nvSpPr>
          <p:cNvPr id="21" name="TextBox 20"/>
          <p:cNvSpPr txBox="1"/>
          <p:nvPr/>
        </p:nvSpPr>
        <p:spPr>
          <a:xfrm>
            <a:off x="276225" y="4714875"/>
            <a:ext cx="3804183" cy="194310"/>
          </a:xfrm>
          <a:prstGeom prst="rect">
            <a:avLst/>
          </a:prstGeom>
          <a:noFill/>
        </p:spPr>
        <p:txBody>
          <a:bodyPr wrap="none" lIns="0" rIns="0" tIns="0" bIns="0">
            <a:spAutoFit/>
          </a:bodyPr>
          <a:lstStyle/>
          <a:p>
            <a:r>
              <a:rPr sz="1150" b="0">
                <a:solidFill>
                  <a:srgbClr val="2E2E2E"/>
                </a:solidFill>
                <a:latin typeface="Calibri"/>
              </a:rPr>
              <a:t>Licensed finished AIT products segment is projected to register</a:t>
            </a:r>
          </a:p>
        </p:txBody>
      </p:sp>
      <p:pic>
        <p:nvPicPr>
          <p:cNvPr id="22" name="Picture 21" descr="lock.png"/>
          <p:cNvPicPr>
            <a:picLocks noChangeAspect="1"/>
          </p:cNvPicPr>
          <p:nvPr/>
        </p:nvPicPr>
        <p:blipFill>
          <a:blip r:embed="rId4"/>
          <a:stretch>
            <a:fillRect/>
          </a:stretch>
        </p:blipFill>
        <p:spPr>
          <a:xfrm>
            <a:off x="4029562" y="4704651"/>
            <a:ext cx="134549" cy="195707"/>
          </a:xfrm>
          <a:prstGeom prst="rect">
            <a:avLst/>
          </a:prstGeom>
        </p:spPr>
      </p:pic>
      <p:sp>
        <p:nvSpPr>
          <p:cNvPr id="23" name="TextBox 22"/>
          <p:cNvSpPr txBox="1"/>
          <p:nvPr/>
        </p:nvSpPr>
        <p:spPr>
          <a:xfrm>
            <a:off x="4204671" y="4714875"/>
            <a:ext cx="7317085" cy="194310"/>
          </a:xfrm>
          <a:prstGeom prst="rect">
            <a:avLst/>
          </a:prstGeom>
          <a:noFill/>
        </p:spPr>
        <p:txBody>
          <a:bodyPr wrap="none" lIns="0" rIns="0" tIns="0" bIns="0">
            <a:spAutoFit/>
          </a:bodyPr>
          <a:lstStyle/>
          <a:p>
            <a:r>
              <a:rPr sz="1150" b="0">
                <a:solidFill>
                  <a:srgbClr val="2E2E2E"/>
                </a:solidFill>
                <a:latin typeface="Calibri"/>
              </a:rPr>
              <a:t>X higher value than bulk allergen extracts segment in 2036. Among allergy immunotherapy by commercial product model,</a:t>
            </a:r>
          </a:p>
        </p:txBody>
      </p:sp>
      <p:sp>
        <p:nvSpPr>
          <p:cNvPr id="24" name="TextBox 23"/>
          <p:cNvSpPr txBox="1"/>
          <p:nvPr/>
        </p:nvSpPr>
        <p:spPr>
          <a:xfrm>
            <a:off x="276225" y="4890135"/>
            <a:ext cx="4964863" cy="194310"/>
          </a:xfrm>
          <a:prstGeom prst="rect">
            <a:avLst/>
          </a:prstGeom>
          <a:noFill/>
        </p:spPr>
        <p:txBody>
          <a:bodyPr wrap="none" lIns="0" rIns="0" tIns="0" bIns="0">
            <a:spAutoFit/>
          </a:bodyPr>
          <a:lstStyle/>
          <a:p>
            <a:r>
              <a:rPr sz="1150" b="0">
                <a:solidFill>
                  <a:srgbClr val="2E2E2E"/>
                </a:solidFill>
                <a:latin typeface="Calibri"/>
              </a:rPr>
              <a:t>licensed finished AIT products segment is expected to witness the highest CAGR of</a:t>
            </a:r>
          </a:p>
        </p:txBody>
      </p:sp>
      <p:pic>
        <p:nvPicPr>
          <p:cNvPr id="25" name="Picture 24" descr="lock.png"/>
          <p:cNvPicPr>
            <a:picLocks noChangeAspect="1"/>
          </p:cNvPicPr>
          <p:nvPr/>
        </p:nvPicPr>
        <p:blipFill>
          <a:blip r:embed="rId4"/>
          <a:stretch>
            <a:fillRect/>
          </a:stretch>
        </p:blipFill>
        <p:spPr>
          <a:xfrm>
            <a:off x="5190242" y="4879911"/>
            <a:ext cx="134549" cy="195707"/>
          </a:xfrm>
          <a:prstGeom prst="rect">
            <a:avLst/>
          </a:prstGeom>
        </p:spPr>
      </p:pic>
      <p:sp>
        <p:nvSpPr>
          <p:cNvPr id="26" name="TextBox 25"/>
          <p:cNvSpPr txBox="1"/>
          <p:nvPr/>
        </p:nvSpPr>
        <p:spPr>
          <a:xfrm>
            <a:off x="5365351" y="48901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5117972"/>
            <a:ext cx="8532266" cy="194310"/>
          </a:xfrm>
          <a:prstGeom prst="rect">
            <a:avLst/>
          </a:prstGeom>
          <a:noFill/>
        </p:spPr>
        <p:txBody>
          <a:bodyPr wrap="none" lIns="0" rIns="0" tIns="0" bIns="0">
            <a:spAutoFit/>
          </a:bodyPr>
          <a:lstStyle/>
          <a:p>
            <a:r>
              <a:rPr sz="1150" b="0">
                <a:solidFill>
                  <a:srgbClr val="2E2E2E"/>
                </a:solidFill>
                <a:latin typeface="Calibri"/>
              </a:rPr>
              <a:t>In terms of value share by commercial product model, the licensed finished AIT products segment is expected to dominate the market, gaining</a:t>
            </a:r>
          </a:p>
        </p:txBody>
      </p:sp>
      <p:pic>
        <p:nvPicPr>
          <p:cNvPr id="28" name="Picture 27" descr="lock.png"/>
          <p:cNvPicPr>
            <a:picLocks noChangeAspect="1"/>
          </p:cNvPicPr>
          <p:nvPr/>
        </p:nvPicPr>
        <p:blipFill>
          <a:blip r:embed="rId4"/>
          <a:stretch>
            <a:fillRect/>
          </a:stretch>
        </p:blipFill>
        <p:spPr>
          <a:xfrm>
            <a:off x="8757645" y="5107749"/>
            <a:ext cx="134549" cy="195707"/>
          </a:xfrm>
          <a:prstGeom prst="rect">
            <a:avLst/>
          </a:prstGeom>
        </p:spPr>
      </p:pic>
      <p:sp>
        <p:nvSpPr>
          <p:cNvPr id="29" name="TextBox 28"/>
          <p:cNvSpPr txBox="1"/>
          <p:nvPr/>
        </p:nvSpPr>
        <p:spPr>
          <a:xfrm>
            <a:off x="8932755" y="51179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10327898" y="5107749"/>
            <a:ext cx="134549" cy="195707"/>
          </a:xfrm>
          <a:prstGeom prst="rect">
            <a:avLst/>
          </a:prstGeom>
        </p:spPr>
      </p:pic>
      <p:sp>
        <p:nvSpPr>
          <p:cNvPr id="31" name="TextBox 30"/>
          <p:cNvSpPr txBox="1"/>
          <p:nvPr/>
        </p:nvSpPr>
        <p:spPr>
          <a:xfrm>
            <a:off x="10503007" y="511797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2" name="TextBox 31"/>
          <p:cNvSpPr txBox="1"/>
          <p:nvPr/>
        </p:nvSpPr>
        <p:spPr>
          <a:xfrm>
            <a:off x="276225" y="5293232"/>
            <a:ext cx="3657562" cy="194310"/>
          </a:xfrm>
          <a:prstGeom prst="rect">
            <a:avLst/>
          </a:prstGeom>
          <a:noFill/>
        </p:spPr>
        <p:txBody>
          <a:bodyPr wrap="none" lIns="0" rIns="0" tIns="0" bIns="0">
            <a:spAutoFit/>
          </a:bodyPr>
          <a:lstStyle/>
          <a:p>
            <a:r>
              <a:rPr sz="1150" b="0">
                <a:solidFill>
                  <a:srgbClr val="2E2E2E"/>
                </a:solidFill>
                <a:latin typeface="Calibri"/>
              </a:rPr>
              <a:t>individual-prescription products segment is expected to lose</a:t>
            </a:r>
          </a:p>
        </p:txBody>
      </p:sp>
      <p:pic>
        <p:nvPicPr>
          <p:cNvPr id="33" name="Picture 32" descr="lock.png"/>
          <p:cNvPicPr>
            <a:picLocks noChangeAspect="1"/>
          </p:cNvPicPr>
          <p:nvPr/>
        </p:nvPicPr>
        <p:blipFill>
          <a:blip r:embed="rId4"/>
          <a:stretch>
            <a:fillRect/>
          </a:stretch>
        </p:blipFill>
        <p:spPr>
          <a:xfrm>
            <a:off x="3882941" y="5283009"/>
            <a:ext cx="134549" cy="195707"/>
          </a:xfrm>
          <a:prstGeom prst="rect">
            <a:avLst/>
          </a:prstGeom>
        </p:spPr>
      </p:pic>
      <p:sp>
        <p:nvSpPr>
          <p:cNvPr id="34" name="TextBox 33"/>
          <p:cNvSpPr txBox="1"/>
          <p:nvPr/>
        </p:nvSpPr>
        <p:spPr>
          <a:xfrm>
            <a:off x="4058051" y="52932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6645555" y="5283009"/>
            <a:ext cx="134549" cy="195707"/>
          </a:xfrm>
          <a:prstGeom prst="rect">
            <a:avLst/>
          </a:prstGeom>
        </p:spPr>
      </p:pic>
      <p:sp>
        <p:nvSpPr>
          <p:cNvPr id="36" name="TextBox 35"/>
          <p:cNvSpPr txBox="1"/>
          <p:nvPr/>
        </p:nvSpPr>
        <p:spPr>
          <a:xfrm>
            <a:off x="6820664" y="52932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Commercial Product Model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Commercial Product Model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Commercial Product Model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2397634"/>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39287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231667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Individual-Prescription Products</a:t>
            </a:r>
          </a:p>
        </p:txBody>
      </p:sp>
      <p:sp>
        <p:nvSpPr>
          <p:cNvPr id="19" name="BPS Value 1"/>
          <p:cNvSpPr txBox="1"/>
          <p:nvPr/>
        </p:nvSpPr>
        <p:spPr>
          <a:xfrm>
            <a:off x="6896100" y="237858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387934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387457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379837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Bulk Allergen Extracts</a:t>
            </a:r>
          </a:p>
        </p:txBody>
      </p:sp>
      <p:sp>
        <p:nvSpPr>
          <p:cNvPr id="23" name="BPS Value 2"/>
          <p:cNvSpPr txBox="1"/>
          <p:nvPr/>
        </p:nvSpPr>
        <p:spPr>
          <a:xfrm>
            <a:off x="6896100" y="386029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543915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543439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535819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Licensed Finished AIT Products</a:t>
            </a:r>
          </a:p>
        </p:txBody>
      </p:sp>
      <p:sp>
        <p:nvSpPr>
          <p:cNvPr id="27" name="BPS Value 3"/>
          <p:cNvSpPr txBox="1"/>
          <p:nvPr/>
        </p:nvSpPr>
        <p:spPr>
          <a:xfrm>
            <a:off x="6896100" y="542010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Commercial Product Model</a:t>
            </a:r>
          </a:p>
        </p:txBody>
      </p:sp>
      <p:sp>
        <p:nvSpPr>
          <p:cNvPr id="30" name="Rectangle 29"/>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5"/>
          <a:stretch>
            <a:fillRect/>
          </a:stretch>
        </p:blipFill>
        <p:spPr>
          <a:xfrm>
            <a:off x="2557843" y="3833622"/>
            <a:ext cx="275034" cy="400050"/>
          </a:xfrm>
          <a:prstGeom prst="rect">
            <a:avLst/>
          </a:prstGeom>
        </p:spPr>
      </p:pic>
      <p:sp>
        <p:nvSpPr>
          <p:cNvPr id="34" name="TextBox 33"/>
          <p:cNvSpPr txBox="1"/>
          <p:nvPr/>
        </p:nvSpPr>
        <p:spPr>
          <a:xfrm>
            <a:off x="7829550" y="1400175"/>
            <a:ext cx="3774802" cy="194310"/>
          </a:xfrm>
          <a:prstGeom prst="rect">
            <a:avLst/>
          </a:prstGeom>
          <a:noFill/>
        </p:spPr>
        <p:txBody>
          <a:bodyPr wrap="none" lIns="0" rIns="0" tIns="0" bIns="0">
            <a:spAutoFit/>
          </a:bodyPr>
          <a:lstStyle/>
          <a:p>
            <a:r>
              <a:rPr sz="1150" b="0">
                <a:solidFill>
                  <a:srgbClr val="2E2E2E"/>
                </a:solidFill>
                <a:latin typeface="Calibri"/>
              </a:rPr>
              <a:t>Among allergy immunotherapy by commercial product model,</a:t>
            </a:r>
          </a:p>
        </p:txBody>
      </p:sp>
      <p:sp>
        <p:nvSpPr>
          <p:cNvPr id="35" name="TextBox 34"/>
          <p:cNvSpPr txBox="1"/>
          <p:nvPr/>
        </p:nvSpPr>
        <p:spPr>
          <a:xfrm>
            <a:off x="7829550" y="1575435"/>
            <a:ext cx="3975620" cy="194310"/>
          </a:xfrm>
          <a:prstGeom prst="rect">
            <a:avLst/>
          </a:prstGeom>
          <a:noFill/>
        </p:spPr>
        <p:txBody>
          <a:bodyPr wrap="none" lIns="0" rIns="0" tIns="0" bIns="0">
            <a:spAutoFit/>
          </a:bodyPr>
          <a:lstStyle/>
          <a:p>
            <a:r>
              <a:rPr sz="1150" b="0">
                <a:solidFill>
                  <a:srgbClr val="2E2E2E"/>
                </a:solidFill>
                <a:latin typeface="Calibri"/>
              </a:rPr>
              <a:t>licensed finished AIT products segment is expected to witness the</a:t>
            </a:r>
          </a:p>
        </p:txBody>
      </p:sp>
      <p:sp>
        <p:nvSpPr>
          <p:cNvPr id="36" name="TextBox 35"/>
          <p:cNvSpPr txBox="1"/>
          <p:nvPr/>
        </p:nvSpPr>
        <p:spPr>
          <a:xfrm>
            <a:off x="7829550" y="175069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37" name="Picture 36" descr="lock.png"/>
          <p:cNvPicPr>
            <a:picLocks noChangeAspect="1"/>
          </p:cNvPicPr>
          <p:nvPr/>
        </p:nvPicPr>
        <p:blipFill>
          <a:blip r:embed="rId5"/>
          <a:stretch>
            <a:fillRect/>
          </a:stretch>
        </p:blipFill>
        <p:spPr>
          <a:xfrm>
            <a:off x="8811057" y="1740471"/>
            <a:ext cx="134549" cy="195707"/>
          </a:xfrm>
          <a:prstGeom prst="rect">
            <a:avLst/>
          </a:prstGeom>
        </p:spPr>
      </p:pic>
      <p:sp>
        <p:nvSpPr>
          <p:cNvPr id="38" name="TextBox 37"/>
          <p:cNvSpPr txBox="1"/>
          <p:nvPr/>
        </p:nvSpPr>
        <p:spPr>
          <a:xfrm>
            <a:off x="8986166" y="1750695"/>
            <a:ext cx="2581585" cy="194310"/>
          </a:xfrm>
          <a:prstGeom prst="rect">
            <a:avLst/>
          </a:prstGeom>
          <a:noFill/>
        </p:spPr>
        <p:txBody>
          <a:bodyPr wrap="none" lIns="0" rIns="0" tIns="0" bIns="0">
            <a:spAutoFit/>
          </a:bodyPr>
          <a:lstStyle/>
          <a:p>
            <a:r>
              <a:rPr sz="1150" b="0">
                <a:solidFill>
                  <a:srgbClr val="2E2E2E"/>
                </a:solidFill>
                <a:latin typeface="Calibri"/>
              </a:rPr>
              <a:t>over the forecast period. In terms of value</a:t>
            </a:r>
          </a:p>
        </p:txBody>
      </p:sp>
      <p:sp>
        <p:nvSpPr>
          <p:cNvPr id="39" name="TextBox 38"/>
          <p:cNvSpPr txBox="1"/>
          <p:nvPr/>
        </p:nvSpPr>
        <p:spPr>
          <a:xfrm>
            <a:off x="7829550" y="1925955"/>
            <a:ext cx="3737148" cy="194310"/>
          </a:xfrm>
          <a:prstGeom prst="rect">
            <a:avLst/>
          </a:prstGeom>
          <a:noFill/>
        </p:spPr>
        <p:txBody>
          <a:bodyPr wrap="none" lIns="0" rIns="0" tIns="0" bIns="0">
            <a:spAutoFit/>
          </a:bodyPr>
          <a:lstStyle/>
          <a:p>
            <a:r>
              <a:rPr sz="1150" b="0">
                <a:solidFill>
                  <a:srgbClr val="2E2E2E"/>
                </a:solidFill>
                <a:latin typeface="Calibri"/>
              </a:rPr>
              <a:t>share by commercial product model, the licensed finished AIT</a:t>
            </a:r>
          </a:p>
        </p:txBody>
      </p:sp>
      <p:sp>
        <p:nvSpPr>
          <p:cNvPr id="40" name="TextBox 39"/>
          <p:cNvSpPr txBox="1"/>
          <p:nvPr/>
        </p:nvSpPr>
        <p:spPr>
          <a:xfrm>
            <a:off x="7829550" y="2101215"/>
            <a:ext cx="3805324" cy="194310"/>
          </a:xfrm>
          <a:prstGeom prst="rect">
            <a:avLst/>
          </a:prstGeom>
          <a:noFill/>
        </p:spPr>
        <p:txBody>
          <a:bodyPr wrap="none" lIns="0" rIns="0" tIns="0" bIns="0">
            <a:spAutoFit/>
          </a:bodyPr>
          <a:lstStyle/>
          <a:p>
            <a:r>
              <a:rPr sz="1150" b="0">
                <a:solidFill>
                  <a:srgbClr val="2E2E2E"/>
                </a:solidFill>
                <a:latin typeface="Calibri"/>
              </a:rPr>
              <a:t>products segment is expected to dominate the market, gaining</a:t>
            </a:r>
          </a:p>
        </p:txBody>
      </p:sp>
      <p:pic>
        <p:nvPicPr>
          <p:cNvPr id="41" name="Picture 40" descr="lock.png"/>
          <p:cNvPicPr>
            <a:picLocks noChangeAspect="1"/>
          </p:cNvPicPr>
          <p:nvPr/>
        </p:nvPicPr>
        <p:blipFill>
          <a:blip r:embed="rId5"/>
          <a:stretch>
            <a:fillRect/>
          </a:stretch>
        </p:blipFill>
        <p:spPr>
          <a:xfrm>
            <a:off x="11584028" y="2090991"/>
            <a:ext cx="134549" cy="195707"/>
          </a:xfrm>
          <a:prstGeom prst="rect">
            <a:avLst/>
          </a:prstGeom>
        </p:spPr>
      </p:pic>
      <p:sp>
        <p:nvSpPr>
          <p:cNvPr id="42" name="TextBox 41"/>
          <p:cNvSpPr txBox="1"/>
          <p:nvPr/>
        </p:nvSpPr>
        <p:spPr>
          <a:xfrm>
            <a:off x="7829550" y="227647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3" name="Picture 42" descr="lock.png"/>
          <p:cNvPicPr>
            <a:picLocks noChangeAspect="1"/>
          </p:cNvPicPr>
          <p:nvPr/>
        </p:nvPicPr>
        <p:blipFill>
          <a:blip r:embed="rId5"/>
          <a:stretch>
            <a:fillRect/>
          </a:stretch>
        </p:blipFill>
        <p:spPr>
          <a:xfrm>
            <a:off x="9224693" y="2266251"/>
            <a:ext cx="134549" cy="195707"/>
          </a:xfrm>
          <a:prstGeom prst="rect">
            <a:avLst/>
          </a:prstGeom>
        </p:spPr>
      </p:pic>
      <p:sp>
        <p:nvSpPr>
          <p:cNvPr id="44" name="TextBox 43"/>
          <p:cNvSpPr txBox="1"/>
          <p:nvPr/>
        </p:nvSpPr>
        <p:spPr>
          <a:xfrm>
            <a:off x="9399802"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TextBox 44"/>
          <p:cNvSpPr txBox="1"/>
          <p:nvPr/>
        </p:nvSpPr>
        <p:spPr>
          <a:xfrm>
            <a:off x="7829550" y="2504313"/>
            <a:ext cx="3911438" cy="194310"/>
          </a:xfrm>
          <a:prstGeom prst="rect">
            <a:avLst/>
          </a:prstGeom>
          <a:noFill/>
        </p:spPr>
        <p:txBody>
          <a:bodyPr wrap="none" lIns="0" rIns="0" tIns="0" bIns="0">
            <a:spAutoFit/>
          </a:bodyPr>
          <a:lstStyle/>
          <a:p>
            <a:r>
              <a:rPr sz="1150" b="0">
                <a:solidFill>
                  <a:srgbClr val="2E2E2E"/>
                </a:solidFill>
                <a:latin typeface="Calibri"/>
              </a:rPr>
              <a:t>The individual-prescription products segment is expected to lose</a:t>
            </a:r>
          </a:p>
        </p:txBody>
      </p:sp>
      <p:pic>
        <p:nvPicPr>
          <p:cNvPr id="46" name="Picture 45" descr="lock.png"/>
          <p:cNvPicPr>
            <a:picLocks noChangeAspect="1"/>
          </p:cNvPicPr>
          <p:nvPr/>
        </p:nvPicPr>
        <p:blipFill>
          <a:blip r:embed="rId5"/>
          <a:stretch>
            <a:fillRect/>
          </a:stretch>
        </p:blipFill>
        <p:spPr>
          <a:xfrm>
            <a:off x="7815470" y="2669349"/>
            <a:ext cx="134549" cy="195707"/>
          </a:xfrm>
          <a:prstGeom prst="rect">
            <a:avLst/>
          </a:prstGeom>
        </p:spPr>
      </p:pic>
      <p:sp>
        <p:nvSpPr>
          <p:cNvPr id="47" name="TextBox 46"/>
          <p:cNvSpPr txBox="1"/>
          <p:nvPr/>
        </p:nvSpPr>
        <p:spPr>
          <a:xfrm>
            <a:off x="7990579"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48" name="Picture 47" descr="lock.png"/>
          <p:cNvPicPr>
            <a:picLocks noChangeAspect="1"/>
          </p:cNvPicPr>
          <p:nvPr/>
        </p:nvPicPr>
        <p:blipFill>
          <a:blip r:embed="rId5"/>
          <a:stretch>
            <a:fillRect/>
          </a:stretch>
        </p:blipFill>
        <p:spPr>
          <a:xfrm>
            <a:off x="10578084" y="2669349"/>
            <a:ext cx="134549" cy="195707"/>
          </a:xfrm>
          <a:prstGeom prst="rect">
            <a:avLst/>
          </a:prstGeom>
        </p:spPr>
      </p:pic>
      <p:sp>
        <p:nvSpPr>
          <p:cNvPr id="49" name="TextBox 48"/>
          <p:cNvSpPr txBox="1"/>
          <p:nvPr/>
        </p:nvSpPr>
        <p:spPr>
          <a:xfrm>
            <a:off x="1075319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0"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Allergen Preparation Technology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Allergen Preparation Technology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Allergen Preparation Technology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Allergen Preparation Technology,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Allergen Preparation Technology segment categorizes the market by allergen preparation technology.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Modified Allergen</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Native Allergen Extracts</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Molecular Allergen Preparations</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Allergen Preparation Technology split shows how demand is distributed across allergen preparation technology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Allergen Preparation Technology segment is projected to grow at a CAGR of 8.4% from 2026 to 2036.</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1_022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2_216_605E5C.png"/>
          <p:cNvPicPr>
            <a:picLocks noChangeAspect="1"/>
          </p:cNvPicPr>
          <p:nvPr/>
        </p:nvPicPr>
        <p:blipFill>
          <a:blip r:embed="rId5"/>
          <a:stretch>
            <a:fillRect/>
          </a:stretch>
        </p:blipFill>
        <p:spPr>
          <a:xfrm>
            <a:off x="2897811" y="2779432"/>
            <a:ext cx="1195728" cy="361950"/>
          </a:xfrm>
          <a:prstGeom prst="rect">
            <a:avLst/>
          </a:prstGeom>
        </p:spPr>
      </p:pic>
      <p:pic>
        <p:nvPicPr>
          <p:cNvPr id="59" name="Picture 58" descr="8_1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735_5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1_947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10_2__605E5C.png"/>
          <p:cNvPicPr>
            <a:picLocks noChangeAspect="1"/>
          </p:cNvPicPr>
          <p:nvPr/>
        </p:nvPicPr>
        <p:blipFill>
          <a:blip r:embed="rId9"/>
          <a:stretch>
            <a:fillRect/>
          </a:stretch>
        </p:blipFill>
        <p:spPr>
          <a:xfrm>
            <a:off x="6269661" y="3272281"/>
            <a:ext cx="1195728" cy="361950"/>
          </a:xfrm>
          <a:prstGeom prst="rect">
            <a:avLst/>
          </a:prstGeom>
        </p:spPr>
      </p:pic>
      <p:pic>
        <p:nvPicPr>
          <p:cNvPr id="63" name="Picture 62" descr="670_6_605E5C.png"/>
          <p:cNvPicPr>
            <a:picLocks noChangeAspect="1"/>
          </p:cNvPicPr>
          <p:nvPr/>
        </p:nvPicPr>
        <p:blipFill>
          <a:blip r:embed="rId10"/>
          <a:stretch>
            <a:fillRect/>
          </a:stretch>
        </p:blipFill>
        <p:spPr>
          <a:xfrm>
            <a:off x="9641511" y="2286582"/>
            <a:ext cx="1195728" cy="361950"/>
          </a:xfrm>
          <a:prstGeom prst="rect">
            <a:avLst/>
          </a:prstGeom>
        </p:spPr>
      </p:pic>
      <p:pic>
        <p:nvPicPr>
          <p:cNvPr id="64" name="Picture 63" descr="1_275_605E5C.png"/>
          <p:cNvPicPr>
            <a:picLocks noChangeAspect="1"/>
          </p:cNvPicPr>
          <p:nvPr/>
        </p:nvPicPr>
        <p:blipFill>
          <a:blip r:embed="rId11"/>
          <a:stretch>
            <a:fillRect/>
          </a:stretch>
        </p:blipFill>
        <p:spPr>
          <a:xfrm>
            <a:off x="9641511" y="2779432"/>
            <a:ext cx="1195728" cy="361950"/>
          </a:xfrm>
          <a:prstGeom prst="rect">
            <a:avLst/>
          </a:prstGeom>
        </p:spPr>
      </p:pic>
      <p:pic>
        <p:nvPicPr>
          <p:cNvPr id="65" name="Picture 64" descr="6_6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499940" cy="186689"/>
          </a:xfrm>
          <a:prstGeom prst="rect">
            <a:avLst/>
          </a:prstGeom>
          <a:noFill/>
        </p:spPr>
        <p:txBody>
          <a:bodyPr wrap="none" lIns="0" rIns="0" tIns="0" bIns="0">
            <a:spAutoFit/>
          </a:bodyPr>
          <a:lstStyle/>
          <a:p>
            <a:r>
              <a:rPr sz="1100" b="0">
                <a:solidFill>
                  <a:srgbClr val="2E2E2E"/>
                </a:solidFill>
                <a:latin typeface="Calibri"/>
              </a:rPr>
              <a:t>Among allergy immunotherapy by allergen</a:t>
            </a:r>
          </a:p>
        </p:txBody>
      </p:sp>
      <p:sp>
        <p:nvSpPr>
          <p:cNvPr id="70" name="TextBox 69"/>
          <p:cNvSpPr txBox="1"/>
          <p:nvPr/>
        </p:nvSpPr>
        <p:spPr>
          <a:xfrm>
            <a:off x="485775" y="4397077"/>
            <a:ext cx="2806625" cy="186689"/>
          </a:xfrm>
          <a:prstGeom prst="rect">
            <a:avLst/>
          </a:prstGeom>
          <a:noFill/>
        </p:spPr>
        <p:txBody>
          <a:bodyPr wrap="none" lIns="0" rIns="0" tIns="0" bIns="0">
            <a:spAutoFit/>
          </a:bodyPr>
          <a:lstStyle/>
          <a:p>
            <a:r>
              <a:rPr sz="1100" b="0">
                <a:solidFill>
                  <a:srgbClr val="2E2E2E"/>
                </a:solidFill>
                <a:latin typeface="Calibri"/>
              </a:rPr>
              <a:t>preparation technology, native allergen extracts</a:t>
            </a:r>
          </a:p>
        </p:txBody>
      </p:sp>
      <p:sp>
        <p:nvSpPr>
          <p:cNvPr id="71" name="TextBox 70"/>
          <p:cNvSpPr txBox="1"/>
          <p:nvPr/>
        </p:nvSpPr>
        <p:spPr>
          <a:xfrm>
            <a:off x="485775" y="456471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72" name="TextBox 71"/>
          <p:cNvSpPr txBox="1"/>
          <p:nvPr/>
        </p:nvSpPr>
        <p:spPr>
          <a:xfrm>
            <a:off x="485775" y="473235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73" name="Picture 72" descr="lock.png"/>
          <p:cNvPicPr>
            <a:picLocks noChangeAspect="1"/>
          </p:cNvPicPr>
          <p:nvPr/>
        </p:nvPicPr>
        <p:blipFill>
          <a:blip r:embed="rId13"/>
          <a:stretch>
            <a:fillRect/>
          </a:stretch>
        </p:blipFill>
        <p:spPr>
          <a:xfrm>
            <a:off x="626261" y="4722578"/>
            <a:ext cx="128699" cy="187198"/>
          </a:xfrm>
          <a:prstGeom prst="rect">
            <a:avLst/>
          </a:prstGeom>
        </p:spPr>
      </p:pic>
      <p:sp>
        <p:nvSpPr>
          <p:cNvPr id="74" name="TextBox 73"/>
          <p:cNvSpPr txBox="1"/>
          <p:nvPr/>
        </p:nvSpPr>
        <p:spPr>
          <a:xfrm>
            <a:off x="793757" y="473235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75" name="TextBox 74"/>
          <p:cNvSpPr txBox="1"/>
          <p:nvPr/>
        </p:nvSpPr>
        <p:spPr>
          <a:xfrm>
            <a:off x="485775" y="4899997"/>
            <a:ext cx="2672655" cy="186689"/>
          </a:xfrm>
          <a:prstGeom prst="rect">
            <a:avLst/>
          </a:prstGeom>
          <a:noFill/>
        </p:spPr>
        <p:txBody>
          <a:bodyPr wrap="none" lIns="0" rIns="0" tIns="0" bIns="0">
            <a:spAutoFit/>
          </a:bodyPr>
          <a:lstStyle/>
          <a:p>
            <a:r>
              <a:rPr sz="1100" b="0">
                <a:solidFill>
                  <a:srgbClr val="2E2E2E"/>
                </a:solidFill>
                <a:latin typeface="Calibri"/>
              </a:rPr>
              <a:t>share by allergen preparation technology, the</a:t>
            </a:r>
          </a:p>
        </p:txBody>
      </p:sp>
      <p:sp>
        <p:nvSpPr>
          <p:cNvPr id="76" name="TextBox 75"/>
          <p:cNvSpPr txBox="1"/>
          <p:nvPr/>
        </p:nvSpPr>
        <p:spPr>
          <a:xfrm>
            <a:off x="485775" y="5067637"/>
            <a:ext cx="2422450" cy="186689"/>
          </a:xfrm>
          <a:prstGeom prst="rect">
            <a:avLst/>
          </a:prstGeom>
          <a:noFill/>
        </p:spPr>
        <p:txBody>
          <a:bodyPr wrap="none" lIns="0" rIns="0" tIns="0" bIns="0">
            <a:spAutoFit/>
          </a:bodyPr>
          <a:lstStyle/>
          <a:p>
            <a:r>
              <a:rPr sz="1100" b="0">
                <a:solidFill>
                  <a:srgbClr val="2E2E2E"/>
                </a:solidFill>
                <a:latin typeface="Calibri"/>
              </a:rPr>
              <a:t>modified allergen segment is expected to</a:t>
            </a:r>
          </a:p>
        </p:txBody>
      </p:sp>
      <p:sp>
        <p:nvSpPr>
          <p:cNvPr id="77" name="TextBox 76"/>
          <p:cNvSpPr txBox="1"/>
          <p:nvPr/>
        </p:nvSpPr>
        <p:spPr>
          <a:xfrm>
            <a:off x="485775" y="5235277"/>
            <a:ext cx="1682750" cy="186689"/>
          </a:xfrm>
          <a:prstGeom prst="rect">
            <a:avLst/>
          </a:prstGeom>
          <a:noFill/>
        </p:spPr>
        <p:txBody>
          <a:bodyPr wrap="none" lIns="0" rIns="0" tIns="0" bIns="0">
            <a:spAutoFit/>
          </a:bodyPr>
          <a:lstStyle/>
          <a:p>
            <a:r>
              <a:rPr sz="1100" b="0">
                <a:solidFill>
                  <a:srgbClr val="2E2E2E"/>
                </a:solidFill>
                <a:latin typeface="Calibri"/>
              </a:rPr>
              <a:t>dominate the market, losing</a:t>
            </a:r>
          </a:p>
        </p:txBody>
      </p:sp>
      <p:pic>
        <p:nvPicPr>
          <p:cNvPr id="78" name="Picture 77" descr="lock.png"/>
          <p:cNvPicPr>
            <a:picLocks noChangeAspect="1"/>
          </p:cNvPicPr>
          <p:nvPr/>
        </p:nvPicPr>
        <p:blipFill>
          <a:blip r:embed="rId13"/>
          <a:stretch>
            <a:fillRect/>
          </a:stretch>
        </p:blipFill>
        <p:spPr>
          <a:xfrm>
            <a:off x="2116576" y="5225498"/>
            <a:ext cx="128699" cy="187198"/>
          </a:xfrm>
          <a:prstGeom prst="rect">
            <a:avLst/>
          </a:prstGeom>
        </p:spPr>
      </p:pic>
      <p:sp>
        <p:nvSpPr>
          <p:cNvPr id="79" name="TextBox 78"/>
          <p:cNvSpPr txBox="1"/>
          <p:nvPr/>
        </p:nvSpPr>
        <p:spPr>
          <a:xfrm>
            <a:off x="2284072" y="523527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80" name="TextBox 79"/>
          <p:cNvSpPr txBox="1"/>
          <p:nvPr/>
        </p:nvSpPr>
        <p:spPr>
          <a:xfrm>
            <a:off x="485775" y="540291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81" name="Picture 80" descr="lock.png"/>
          <p:cNvPicPr>
            <a:picLocks noChangeAspect="1"/>
          </p:cNvPicPr>
          <p:nvPr/>
        </p:nvPicPr>
        <p:blipFill>
          <a:blip r:embed="rId13"/>
          <a:stretch>
            <a:fillRect/>
          </a:stretch>
        </p:blipFill>
        <p:spPr>
          <a:xfrm>
            <a:off x="1330764" y="5393138"/>
            <a:ext cx="128699" cy="187198"/>
          </a:xfrm>
          <a:prstGeom prst="rect">
            <a:avLst/>
          </a:prstGeom>
        </p:spPr>
      </p:pic>
      <p:sp>
        <p:nvSpPr>
          <p:cNvPr id="82" name="TextBox 81"/>
          <p:cNvSpPr txBox="1"/>
          <p:nvPr/>
        </p:nvSpPr>
        <p:spPr>
          <a:xfrm>
            <a:off x="1498259"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3" name="TextBox 82"/>
          <p:cNvSpPr txBox="1"/>
          <p:nvPr/>
        </p:nvSpPr>
        <p:spPr>
          <a:xfrm>
            <a:off x="485775" y="5620849"/>
            <a:ext cx="2914650" cy="186689"/>
          </a:xfrm>
          <a:prstGeom prst="rect">
            <a:avLst/>
          </a:prstGeom>
          <a:noFill/>
        </p:spPr>
        <p:txBody>
          <a:bodyPr wrap="none" lIns="0" rIns="0" tIns="0" bIns="0">
            <a:spAutoFit/>
          </a:bodyPr>
          <a:lstStyle/>
          <a:p>
            <a:r>
              <a:rPr sz="1100" b="0">
                <a:solidFill>
                  <a:srgbClr val="2E2E2E"/>
                </a:solidFill>
                <a:latin typeface="Calibri"/>
              </a:rPr>
              <a:t>Modified allergen segment is projected to register</a:t>
            </a:r>
          </a:p>
        </p:txBody>
      </p:sp>
      <p:pic>
        <p:nvPicPr>
          <p:cNvPr id="84" name="Picture 83" descr="lock.png"/>
          <p:cNvPicPr>
            <a:picLocks noChangeAspect="1"/>
          </p:cNvPicPr>
          <p:nvPr/>
        </p:nvPicPr>
        <p:blipFill>
          <a:blip r:embed="rId13"/>
          <a:stretch>
            <a:fillRect/>
          </a:stretch>
        </p:blipFill>
        <p:spPr>
          <a:xfrm>
            <a:off x="472307" y="5778710"/>
            <a:ext cx="128699" cy="187198"/>
          </a:xfrm>
          <a:prstGeom prst="rect">
            <a:avLst/>
          </a:prstGeom>
        </p:spPr>
      </p:pic>
      <p:sp>
        <p:nvSpPr>
          <p:cNvPr id="85" name="TextBox 84"/>
          <p:cNvSpPr txBox="1"/>
          <p:nvPr/>
        </p:nvSpPr>
        <p:spPr>
          <a:xfrm>
            <a:off x="639803" y="5788489"/>
            <a:ext cx="2531318" cy="186689"/>
          </a:xfrm>
          <a:prstGeom prst="rect">
            <a:avLst/>
          </a:prstGeom>
          <a:noFill/>
        </p:spPr>
        <p:txBody>
          <a:bodyPr wrap="none" lIns="0" rIns="0" tIns="0" bIns="0">
            <a:spAutoFit/>
          </a:bodyPr>
          <a:lstStyle/>
          <a:p>
            <a:r>
              <a:rPr sz="1100" b="0">
                <a:solidFill>
                  <a:srgbClr val="2E2E2E"/>
                </a:solidFill>
                <a:latin typeface="Calibri"/>
              </a:rPr>
              <a:t>X higher value than native allergen extracts</a:t>
            </a:r>
          </a:p>
        </p:txBody>
      </p:sp>
      <p:sp>
        <p:nvSpPr>
          <p:cNvPr id="86" name="TextBox 85"/>
          <p:cNvSpPr txBox="1"/>
          <p:nvPr/>
        </p:nvSpPr>
        <p:spPr>
          <a:xfrm>
            <a:off x="485775" y="595612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87" name="TextBox 86"/>
          <p:cNvSpPr txBox="1"/>
          <p:nvPr/>
        </p:nvSpPr>
        <p:spPr>
          <a:xfrm>
            <a:off x="3838575" y="4229437"/>
            <a:ext cx="1250007" cy="186689"/>
          </a:xfrm>
          <a:prstGeom prst="rect">
            <a:avLst/>
          </a:prstGeom>
          <a:noFill/>
        </p:spPr>
        <p:txBody>
          <a:bodyPr wrap="none" lIns="0" rIns="0" tIns="0" bIns="0">
            <a:spAutoFit/>
          </a:bodyPr>
          <a:lstStyle/>
          <a:p>
            <a:r>
              <a:rPr sz="1100" b="0">
                <a:solidFill>
                  <a:srgbClr val="2E2E2E"/>
                </a:solidFill>
                <a:latin typeface="Calibri"/>
              </a:rPr>
              <a:t>● Modified Allergen:</a:t>
            </a:r>
          </a:p>
        </p:txBody>
      </p:sp>
      <p:pic>
        <p:nvPicPr>
          <p:cNvPr id="88" name="Picture 87" descr="lock.png"/>
          <p:cNvPicPr>
            <a:picLocks noChangeAspect="1"/>
          </p:cNvPicPr>
          <p:nvPr/>
        </p:nvPicPr>
        <p:blipFill>
          <a:blip r:embed="rId13"/>
          <a:stretch>
            <a:fillRect/>
          </a:stretch>
        </p:blipFill>
        <p:spPr>
          <a:xfrm>
            <a:off x="5036634" y="4219658"/>
            <a:ext cx="128699" cy="187198"/>
          </a:xfrm>
          <a:prstGeom prst="rect">
            <a:avLst/>
          </a:prstGeom>
        </p:spPr>
      </p:pic>
      <p:sp>
        <p:nvSpPr>
          <p:cNvPr id="89" name="TextBox 88"/>
          <p:cNvSpPr txBox="1"/>
          <p:nvPr/>
        </p:nvSpPr>
        <p:spPr>
          <a:xfrm>
            <a:off x="520412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0" name="Picture 89" descr="lock.png"/>
          <p:cNvPicPr>
            <a:picLocks noChangeAspect="1"/>
          </p:cNvPicPr>
          <p:nvPr/>
        </p:nvPicPr>
        <p:blipFill>
          <a:blip r:embed="rId13"/>
          <a:stretch>
            <a:fillRect/>
          </a:stretch>
        </p:blipFill>
        <p:spPr>
          <a:xfrm>
            <a:off x="6063580" y="4219658"/>
            <a:ext cx="128699" cy="187198"/>
          </a:xfrm>
          <a:prstGeom prst="rect">
            <a:avLst/>
          </a:prstGeom>
        </p:spPr>
      </p:pic>
      <p:sp>
        <p:nvSpPr>
          <p:cNvPr id="91" name="TextBox 90"/>
          <p:cNvSpPr txBox="1"/>
          <p:nvPr/>
        </p:nvSpPr>
        <p:spPr>
          <a:xfrm>
            <a:off x="6231075"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92" name="TextBox 91"/>
          <p:cNvSpPr txBox="1"/>
          <p:nvPr/>
        </p:nvSpPr>
        <p:spPr>
          <a:xfrm>
            <a:off x="3838575" y="4447369"/>
            <a:ext cx="1586160" cy="186689"/>
          </a:xfrm>
          <a:prstGeom prst="rect">
            <a:avLst/>
          </a:prstGeom>
          <a:noFill/>
        </p:spPr>
        <p:txBody>
          <a:bodyPr wrap="none" lIns="0" rIns="0" tIns="0" bIns="0">
            <a:spAutoFit/>
          </a:bodyPr>
          <a:lstStyle/>
          <a:p>
            <a:r>
              <a:rPr sz="1100" b="0">
                <a:solidFill>
                  <a:srgbClr val="2E2E2E"/>
                </a:solidFill>
                <a:latin typeface="Calibri"/>
              </a:rPr>
              <a:t>● Native Allergen Extracts:</a:t>
            </a:r>
          </a:p>
        </p:txBody>
      </p:sp>
      <p:pic>
        <p:nvPicPr>
          <p:cNvPr id="93" name="Picture 92" descr="lock.png"/>
          <p:cNvPicPr>
            <a:picLocks noChangeAspect="1"/>
          </p:cNvPicPr>
          <p:nvPr/>
        </p:nvPicPr>
        <p:blipFill>
          <a:blip r:embed="rId13"/>
          <a:stretch>
            <a:fillRect/>
          </a:stretch>
        </p:blipFill>
        <p:spPr>
          <a:xfrm>
            <a:off x="5372787" y="4437590"/>
            <a:ext cx="128699" cy="187198"/>
          </a:xfrm>
          <a:prstGeom prst="rect">
            <a:avLst/>
          </a:prstGeom>
        </p:spPr>
      </p:pic>
      <p:sp>
        <p:nvSpPr>
          <p:cNvPr id="94" name="TextBox 93"/>
          <p:cNvSpPr txBox="1"/>
          <p:nvPr/>
        </p:nvSpPr>
        <p:spPr>
          <a:xfrm>
            <a:off x="5540282"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5" name="Picture 94" descr="lock.png"/>
          <p:cNvPicPr>
            <a:picLocks noChangeAspect="1"/>
          </p:cNvPicPr>
          <p:nvPr/>
        </p:nvPicPr>
        <p:blipFill>
          <a:blip r:embed="rId13"/>
          <a:stretch>
            <a:fillRect/>
          </a:stretch>
        </p:blipFill>
        <p:spPr>
          <a:xfrm>
            <a:off x="6399733" y="4437590"/>
            <a:ext cx="128699" cy="187198"/>
          </a:xfrm>
          <a:prstGeom prst="rect">
            <a:avLst/>
          </a:prstGeom>
        </p:spPr>
      </p:pic>
      <p:sp>
        <p:nvSpPr>
          <p:cNvPr id="96" name="TextBox 95"/>
          <p:cNvSpPr txBox="1"/>
          <p:nvPr/>
        </p:nvSpPr>
        <p:spPr>
          <a:xfrm>
            <a:off x="656722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7" name="TextBox 96"/>
          <p:cNvSpPr txBox="1"/>
          <p:nvPr/>
        </p:nvSpPr>
        <p:spPr>
          <a:xfrm>
            <a:off x="3838575" y="4665301"/>
            <a:ext cx="2068016" cy="186689"/>
          </a:xfrm>
          <a:prstGeom prst="rect">
            <a:avLst/>
          </a:prstGeom>
          <a:noFill/>
        </p:spPr>
        <p:txBody>
          <a:bodyPr wrap="none" lIns="0" rIns="0" tIns="0" bIns="0">
            <a:spAutoFit/>
          </a:bodyPr>
          <a:lstStyle/>
          <a:p>
            <a:r>
              <a:rPr sz="1100" b="0">
                <a:solidFill>
                  <a:srgbClr val="2E2E2E"/>
                </a:solidFill>
                <a:latin typeface="Calibri"/>
              </a:rPr>
              <a:t>● Molecular Allergen Preparations:</a:t>
            </a:r>
          </a:p>
        </p:txBody>
      </p:sp>
      <p:pic>
        <p:nvPicPr>
          <p:cNvPr id="98" name="Picture 97" descr="lock.png"/>
          <p:cNvPicPr>
            <a:picLocks noChangeAspect="1"/>
          </p:cNvPicPr>
          <p:nvPr/>
        </p:nvPicPr>
        <p:blipFill>
          <a:blip r:embed="rId13"/>
          <a:stretch>
            <a:fillRect/>
          </a:stretch>
        </p:blipFill>
        <p:spPr>
          <a:xfrm>
            <a:off x="5854643" y="4655522"/>
            <a:ext cx="128699" cy="187198"/>
          </a:xfrm>
          <a:prstGeom prst="rect">
            <a:avLst/>
          </a:prstGeom>
        </p:spPr>
      </p:pic>
      <p:sp>
        <p:nvSpPr>
          <p:cNvPr id="99" name="TextBox 98"/>
          <p:cNvSpPr txBox="1"/>
          <p:nvPr/>
        </p:nvSpPr>
        <p:spPr>
          <a:xfrm>
            <a:off x="6022138"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3"/>
          <a:stretch>
            <a:fillRect/>
          </a:stretch>
        </p:blipFill>
        <p:spPr>
          <a:xfrm>
            <a:off x="6881589" y="4655522"/>
            <a:ext cx="128699" cy="187198"/>
          </a:xfrm>
          <a:prstGeom prst="rect">
            <a:avLst/>
          </a:prstGeom>
        </p:spPr>
      </p:pic>
      <p:sp>
        <p:nvSpPr>
          <p:cNvPr id="101" name="TextBox 100"/>
          <p:cNvSpPr txBox="1"/>
          <p:nvPr/>
        </p:nvSpPr>
        <p:spPr>
          <a:xfrm>
            <a:off x="7049084" y="4665301"/>
            <a:ext cx="787234" cy="186689"/>
          </a:xfrm>
          <a:prstGeom prst="rect">
            <a:avLst/>
          </a:prstGeom>
          <a:noFill/>
        </p:spPr>
        <p:txBody>
          <a:bodyPr wrap="none" lIns="0" rIns="0" tIns="0" bIns="0">
            <a:spAutoFit/>
          </a:bodyPr>
          <a:lstStyle/>
          <a:p>
            <a:r>
              <a:rPr sz="1100" b="0">
                <a:solidFill>
                  <a:srgbClr val="2E2E2E"/>
                </a:solidFill>
                <a:latin typeface="Calibri"/>
              </a:rPr>
              <a:t>CAGR serves</a:t>
            </a:r>
          </a:p>
        </p:txBody>
      </p:sp>
      <p:sp>
        <p:nvSpPr>
          <p:cNvPr id="102" name="TextBox 101"/>
          <p:cNvSpPr txBox="1"/>
          <p:nvPr/>
        </p:nvSpPr>
        <p:spPr>
          <a:xfrm>
            <a:off x="3838575" y="4832941"/>
            <a:ext cx="517673" cy="186689"/>
          </a:xfrm>
          <a:prstGeom prst="rect">
            <a:avLst/>
          </a:prstGeom>
          <a:noFill/>
        </p:spPr>
        <p:txBody>
          <a:bodyPr wrap="none" lIns="0" rIns="0" tIns="0" bIns="0">
            <a:spAutoFit/>
          </a:bodyPr>
          <a:lstStyle/>
          <a:p>
            <a:r>
              <a:rPr sz="1100" b="0">
                <a:solidFill>
                  <a:srgbClr val="2E2E2E"/>
                </a:solidFill>
                <a:latin typeface="Calibri"/>
              </a:rPr>
              <a:t>a niche.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Allergen Preparation Technology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Allergen Preparation Technology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Allergen Preparation Technology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Allergen Preparation Technology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562159" cy="186689"/>
          </a:xfrm>
          <a:prstGeom prst="rect">
            <a:avLst/>
          </a:prstGeom>
          <a:noFill/>
        </p:spPr>
        <p:txBody>
          <a:bodyPr wrap="none" lIns="0" rIns="0" tIns="0" bIns="0">
            <a:spAutoFit/>
          </a:bodyPr>
          <a:lstStyle/>
          <a:p>
            <a:r>
              <a:rPr sz="1100" b="0">
                <a:solidFill>
                  <a:srgbClr val="2E2E2E"/>
                </a:solidFill>
                <a:latin typeface="Calibri"/>
              </a:rPr>
              <a:t>Modified allergen followed by native allergen extracts are expected to be the two most attractive allergen preparation technology segments in the global allergy immunotherapy market in terms of value</a:t>
            </a:r>
          </a:p>
        </p:txBody>
      </p:sp>
      <p:sp>
        <p:nvSpPr>
          <p:cNvPr id="21" name="TextBox 20"/>
          <p:cNvSpPr txBox="1"/>
          <p:nvPr/>
        </p:nvSpPr>
        <p:spPr>
          <a:xfrm>
            <a:off x="257175" y="5861685"/>
            <a:ext cx="5484919" cy="186689"/>
          </a:xfrm>
          <a:prstGeom prst="rect">
            <a:avLst/>
          </a:prstGeom>
          <a:noFill/>
        </p:spPr>
        <p:txBody>
          <a:bodyPr wrap="none" lIns="0" rIns="0" tIns="0" bIns="0">
            <a:spAutoFit/>
          </a:bodyPr>
          <a:lstStyle/>
          <a:p>
            <a:r>
              <a:rPr sz="1100" b="0">
                <a:solidFill>
                  <a:srgbClr val="2E2E2E"/>
                </a:solidFill>
                <a:latin typeface="Calibri"/>
              </a:rPr>
              <a:t>over the forecast period. Modified allergen and native allergen extracts exhibit a CAGR index of</a:t>
            </a:r>
          </a:p>
        </p:txBody>
      </p:sp>
      <p:pic>
        <p:nvPicPr>
          <p:cNvPr id="22" name="Picture 21" descr="lock.png"/>
          <p:cNvPicPr>
            <a:picLocks noChangeAspect="1"/>
          </p:cNvPicPr>
          <p:nvPr/>
        </p:nvPicPr>
        <p:blipFill>
          <a:blip r:embed="rId6"/>
          <a:stretch>
            <a:fillRect/>
          </a:stretch>
        </p:blipFill>
        <p:spPr>
          <a:xfrm>
            <a:off x="5690146" y="5851905"/>
            <a:ext cx="128699" cy="187198"/>
          </a:xfrm>
          <a:prstGeom prst="rect">
            <a:avLst/>
          </a:prstGeom>
        </p:spPr>
      </p:pic>
      <p:sp>
        <p:nvSpPr>
          <p:cNvPr id="23" name="TextBox 22"/>
          <p:cNvSpPr txBox="1"/>
          <p:nvPr/>
        </p:nvSpPr>
        <p:spPr>
          <a:xfrm>
            <a:off x="585764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6095536" y="5851905"/>
            <a:ext cx="128699" cy="187198"/>
          </a:xfrm>
          <a:prstGeom prst="rect">
            <a:avLst/>
          </a:prstGeom>
        </p:spPr>
      </p:pic>
      <p:sp>
        <p:nvSpPr>
          <p:cNvPr id="25" name="TextBox 24"/>
          <p:cNvSpPr txBox="1"/>
          <p:nvPr/>
        </p:nvSpPr>
        <p:spPr>
          <a:xfrm>
            <a:off x="626303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7872005" y="5851905"/>
            <a:ext cx="128699" cy="187198"/>
          </a:xfrm>
          <a:prstGeom prst="rect">
            <a:avLst/>
          </a:prstGeom>
        </p:spPr>
      </p:pic>
      <p:sp>
        <p:nvSpPr>
          <p:cNvPr id="27" name="TextBox 26"/>
          <p:cNvSpPr txBox="1"/>
          <p:nvPr/>
        </p:nvSpPr>
        <p:spPr>
          <a:xfrm>
            <a:off x="803950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8277395" y="5851905"/>
            <a:ext cx="128699" cy="187198"/>
          </a:xfrm>
          <a:prstGeom prst="rect">
            <a:avLst/>
          </a:prstGeom>
        </p:spPr>
      </p:pic>
      <p:sp>
        <p:nvSpPr>
          <p:cNvPr id="29" name="TextBox 28"/>
          <p:cNvSpPr txBox="1"/>
          <p:nvPr/>
        </p:nvSpPr>
        <p:spPr>
          <a:xfrm>
            <a:off x="8444891"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10999295" y="5851905"/>
            <a:ext cx="128699" cy="187198"/>
          </a:xfrm>
          <a:prstGeom prst="rect">
            <a:avLst/>
          </a:prstGeom>
        </p:spPr>
      </p:pic>
      <p:sp>
        <p:nvSpPr>
          <p:cNvPr id="31" name="TextBox 30"/>
          <p:cNvSpPr txBox="1"/>
          <p:nvPr/>
        </p:nvSpPr>
        <p:spPr>
          <a:xfrm>
            <a:off x="11166791" y="586168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2" name="TextBox 31"/>
          <p:cNvSpPr txBox="1"/>
          <p:nvPr/>
        </p:nvSpPr>
        <p:spPr>
          <a:xfrm>
            <a:off x="257175" y="6029325"/>
            <a:ext cx="11646180" cy="186689"/>
          </a:xfrm>
          <a:prstGeom prst="rect">
            <a:avLst/>
          </a:prstGeom>
          <a:noFill/>
        </p:spPr>
        <p:txBody>
          <a:bodyPr wrap="none" lIns="0" rIns="0" tIns="0" bIns="0">
            <a:spAutoFit/>
          </a:bodyPr>
          <a:lstStyle/>
          <a:p>
            <a:r>
              <a:rPr sz="1100" b="0">
                <a:solidFill>
                  <a:srgbClr val="2E2E2E"/>
                </a:solidFill>
                <a:latin typeface="Calibri"/>
              </a:rPr>
              <a:t>The molecular allergen preparations segment is expected to be less attractive as compared to other segments over the forecast period, owing to its lower CAGR and incremental opportunity. Bubbles right</a:t>
            </a:r>
          </a:p>
        </p:txBody>
      </p:sp>
      <p:sp>
        <p:nvSpPr>
          <p:cNvPr id="33" name="TextBox 32"/>
          <p:cNvSpPr txBox="1"/>
          <p:nvPr/>
        </p:nvSpPr>
        <p:spPr>
          <a:xfrm>
            <a:off x="257175" y="6196965"/>
            <a:ext cx="3593785" cy="186689"/>
          </a:xfrm>
          <a:prstGeom prst="rect">
            <a:avLst/>
          </a:prstGeom>
          <a:noFill/>
        </p:spPr>
        <p:txBody>
          <a:bodyPr wrap="none" lIns="0" rIns="0" tIns="0" bIns="0">
            <a:spAutoFit/>
          </a:bodyPr>
          <a:lstStyle/>
          <a:p>
            <a:r>
              <a:rPr sz="1100" b="0">
                <a:solidFill>
                  <a:srgbClr val="2E2E2E"/>
                </a:solidFill>
                <a:latin typeface="Calibri"/>
              </a:rPr>
              <a:t>of the CAGR-Index line 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Allergen Preparation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Allergen Preparation Technology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Native Allergen Extracts</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Modified Allergen</a:t>
            </a:r>
          </a:p>
        </p:txBody>
      </p:sp>
      <p:graphicFrame>
        <p:nvGraphicFramePr>
          <p:cNvPr id="16" name="Chart 15"/>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Molecular Allergen Preparations</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Allergen Preparation Technology</a:t>
            </a:r>
          </a:p>
        </p:txBody>
      </p:sp>
      <p:sp>
        <p:nvSpPr>
          <p:cNvPr id="22" name="Rectangle 21"/>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3100230"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9124151" y="2237234"/>
            <a:ext cx="263506" cy="383281"/>
          </a:xfrm>
          <a:prstGeom prst="rect">
            <a:avLst/>
          </a:prstGeom>
        </p:spPr>
      </p:pic>
      <p:pic>
        <p:nvPicPr>
          <p:cNvPr id="27" name="Picture 26" descr="lock.png"/>
          <p:cNvPicPr>
            <a:picLocks noChangeAspect="1"/>
          </p:cNvPicPr>
          <p:nvPr/>
        </p:nvPicPr>
        <p:blipFill>
          <a:blip r:embed="rId7"/>
          <a:stretch>
            <a:fillRect/>
          </a:stretch>
        </p:blipFill>
        <p:spPr>
          <a:xfrm>
            <a:off x="3100230" y="5216754"/>
            <a:ext cx="252890" cy="367840"/>
          </a:xfrm>
          <a:prstGeom prst="rect">
            <a:avLst/>
          </a:prstGeom>
        </p:spPr>
      </p:pic>
      <p:sp>
        <p:nvSpPr>
          <p:cNvPr id="28" name="TextBox 27"/>
          <p:cNvSpPr txBox="1"/>
          <p:nvPr/>
        </p:nvSpPr>
        <p:spPr>
          <a:xfrm>
            <a:off x="6305550" y="4484320"/>
            <a:ext cx="4888696" cy="194310"/>
          </a:xfrm>
          <a:prstGeom prst="rect">
            <a:avLst/>
          </a:prstGeom>
          <a:noFill/>
        </p:spPr>
        <p:txBody>
          <a:bodyPr wrap="none" lIns="0" rIns="0" tIns="0" bIns="0">
            <a:spAutoFit/>
          </a:bodyPr>
          <a:lstStyle/>
          <a:p>
            <a:r>
              <a:rPr sz="1150" b="0">
                <a:solidFill>
                  <a:srgbClr val="2E2E2E"/>
                </a:solidFill>
                <a:latin typeface="Calibri"/>
              </a:rPr>
              <a:t>By 2036, native allergen extracts segment is anticipated to witness an increase of</a:t>
            </a:r>
          </a:p>
        </p:txBody>
      </p:sp>
      <p:pic>
        <p:nvPicPr>
          <p:cNvPr id="29" name="Picture 28" descr="lock.png"/>
          <p:cNvPicPr>
            <a:picLocks noChangeAspect="1"/>
          </p:cNvPicPr>
          <p:nvPr/>
        </p:nvPicPr>
        <p:blipFill>
          <a:blip r:embed="rId7"/>
          <a:stretch>
            <a:fillRect/>
          </a:stretch>
        </p:blipFill>
        <p:spPr>
          <a:xfrm>
            <a:off x="11143400" y="4474096"/>
            <a:ext cx="134549" cy="195707"/>
          </a:xfrm>
          <a:prstGeom prst="rect">
            <a:avLst/>
          </a:prstGeom>
        </p:spPr>
      </p:pic>
      <p:sp>
        <p:nvSpPr>
          <p:cNvPr id="30" name="TextBox 29"/>
          <p:cNvSpPr txBox="1"/>
          <p:nvPr/>
        </p:nvSpPr>
        <p:spPr>
          <a:xfrm>
            <a:off x="11318509" y="4484320"/>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31" name="TextBox 30"/>
          <p:cNvSpPr txBox="1"/>
          <p:nvPr/>
        </p:nvSpPr>
        <p:spPr>
          <a:xfrm>
            <a:off x="6305550" y="4659580"/>
            <a:ext cx="5334285" cy="194310"/>
          </a:xfrm>
          <a:prstGeom prst="rect">
            <a:avLst/>
          </a:prstGeom>
          <a:noFill/>
        </p:spPr>
        <p:txBody>
          <a:bodyPr wrap="none" lIns="0" rIns="0" tIns="0" bIns="0">
            <a:spAutoFit/>
          </a:bodyPr>
          <a:lstStyle/>
          <a:p>
            <a:r>
              <a:rPr sz="1150" b="0">
                <a:solidFill>
                  <a:srgbClr val="2E2E2E"/>
                </a:solidFill>
                <a:latin typeface="Calibri"/>
              </a:rPr>
              <a:t>terms of value as compared to 2026. The native allergen extracts segment is expected to</a:t>
            </a:r>
          </a:p>
        </p:txBody>
      </p:sp>
      <p:sp>
        <p:nvSpPr>
          <p:cNvPr id="32" name="TextBox 31"/>
          <p:cNvSpPr txBox="1"/>
          <p:nvPr/>
        </p:nvSpPr>
        <p:spPr>
          <a:xfrm>
            <a:off x="6305550" y="4834840"/>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33" name="Picture 32" descr="lock.png"/>
          <p:cNvPicPr>
            <a:picLocks noChangeAspect="1"/>
          </p:cNvPicPr>
          <p:nvPr/>
        </p:nvPicPr>
        <p:blipFill>
          <a:blip r:embed="rId7"/>
          <a:stretch>
            <a:fillRect/>
          </a:stretch>
        </p:blipFill>
        <p:spPr>
          <a:xfrm>
            <a:off x="8801773" y="4824616"/>
            <a:ext cx="134549" cy="195707"/>
          </a:xfrm>
          <a:prstGeom prst="rect">
            <a:avLst/>
          </a:prstGeom>
        </p:spPr>
      </p:pic>
      <p:sp>
        <p:nvSpPr>
          <p:cNvPr id="34" name="TextBox 33"/>
          <p:cNvSpPr txBox="1"/>
          <p:nvPr/>
        </p:nvSpPr>
        <p:spPr>
          <a:xfrm>
            <a:off x="8976882" y="4834840"/>
            <a:ext cx="2574168" cy="194310"/>
          </a:xfrm>
          <a:prstGeom prst="rect">
            <a:avLst/>
          </a:prstGeom>
          <a:noFill/>
        </p:spPr>
        <p:txBody>
          <a:bodyPr wrap="none" lIns="0" rIns="0" tIns="0" bIns="0">
            <a:spAutoFit/>
          </a:bodyPr>
          <a:lstStyle/>
          <a:p>
            <a:r>
              <a:rPr sz="1150" b="0">
                <a:solidFill>
                  <a:srgbClr val="2E2E2E"/>
                </a:solidFill>
                <a:latin typeface="Calibri"/>
              </a:rPr>
              <a:t>Mn for the overall allergy immunotherapy</a:t>
            </a:r>
          </a:p>
        </p:txBody>
      </p:sp>
      <p:sp>
        <p:nvSpPr>
          <p:cNvPr id="35" name="TextBox 34"/>
          <p:cNvSpPr txBox="1"/>
          <p:nvPr/>
        </p:nvSpPr>
        <p:spPr>
          <a:xfrm>
            <a:off x="6305550" y="5010100"/>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36" name="TextBox 35"/>
          <p:cNvSpPr txBox="1"/>
          <p:nvPr/>
        </p:nvSpPr>
        <p:spPr>
          <a:xfrm>
            <a:off x="6305550" y="5237938"/>
            <a:ext cx="5286933" cy="194310"/>
          </a:xfrm>
          <a:prstGeom prst="rect">
            <a:avLst/>
          </a:prstGeom>
          <a:noFill/>
        </p:spPr>
        <p:txBody>
          <a:bodyPr wrap="none" lIns="0" rIns="0" tIns="0" bIns="0">
            <a:spAutoFit/>
          </a:bodyPr>
          <a:lstStyle/>
          <a:p>
            <a:r>
              <a:rPr sz="1150" b="0">
                <a:solidFill>
                  <a:srgbClr val="2E2E2E"/>
                </a:solidFill>
                <a:latin typeface="Calibri"/>
              </a:rPr>
              <a:t>The modified allergen segment is expected to create an incremental opportunity of US$</a:t>
            </a:r>
          </a:p>
        </p:txBody>
      </p:sp>
      <p:pic>
        <p:nvPicPr>
          <p:cNvPr id="37" name="Picture 36" descr="lock.png"/>
          <p:cNvPicPr>
            <a:picLocks noChangeAspect="1"/>
          </p:cNvPicPr>
          <p:nvPr/>
        </p:nvPicPr>
        <p:blipFill>
          <a:blip r:embed="rId7"/>
          <a:stretch>
            <a:fillRect/>
          </a:stretch>
        </p:blipFill>
        <p:spPr>
          <a:xfrm>
            <a:off x="6291470" y="5402974"/>
            <a:ext cx="134549" cy="195707"/>
          </a:xfrm>
          <a:prstGeom prst="rect">
            <a:avLst/>
          </a:prstGeom>
        </p:spPr>
      </p:pic>
      <p:sp>
        <p:nvSpPr>
          <p:cNvPr id="38" name="TextBox 37"/>
          <p:cNvSpPr txBox="1"/>
          <p:nvPr/>
        </p:nvSpPr>
        <p:spPr>
          <a:xfrm>
            <a:off x="6466579" y="5413197"/>
            <a:ext cx="5091248"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 The molecular</a:t>
            </a:r>
          </a:p>
        </p:txBody>
      </p:sp>
      <p:sp>
        <p:nvSpPr>
          <p:cNvPr id="39" name="TextBox 38"/>
          <p:cNvSpPr txBox="1"/>
          <p:nvPr/>
        </p:nvSpPr>
        <p:spPr>
          <a:xfrm>
            <a:off x="6305550" y="5588457"/>
            <a:ext cx="5262971" cy="194310"/>
          </a:xfrm>
          <a:prstGeom prst="rect">
            <a:avLst/>
          </a:prstGeom>
          <a:noFill/>
        </p:spPr>
        <p:txBody>
          <a:bodyPr wrap="none" lIns="0" rIns="0" tIns="0" bIns="0">
            <a:spAutoFit/>
          </a:bodyPr>
          <a:lstStyle/>
          <a:p>
            <a:r>
              <a:rPr sz="1150" b="0">
                <a:solidFill>
                  <a:srgbClr val="2E2E2E"/>
                </a:solidFill>
                <a:latin typeface="Calibri"/>
              </a:rPr>
              <a:t>allergen preparations segment is expected to create an incremental opportunity of US$</a:t>
            </a:r>
          </a:p>
        </p:txBody>
      </p:sp>
      <p:pic>
        <p:nvPicPr>
          <p:cNvPr id="40" name="Picture 39" descr="lock.png"/>
          <p:cNvPicPr>
            <a:picLocks noChangeAspect="1"/>
          </p:cNvPicPr>
          <p:nvPr/>
        </p:nvPicPr>
        <p:blipFill>
          <a:blip r:embed="rId7"/>
          <a:stretch>
            <a:fillRect/>
          </a:stretch>
        </p:blipFill>
        <p:spPr>
          <a:xfrm>
            <a:off x="6291470" y="5753494"/>
            <a:ext cx="134549" cy="195707"/>
          </a:xfrm>
          <a:prstGeom prst="rect">
            <a:avLst/>
          </a:prstGeom>
        </p:spPr>
      </p:pic>
      <p:sp>
        <p:nvSpPr>
          <p:cNvPr id="41" name="TextBox 40"/>
          <p:cNvSpPr txBox="1"/>
          <p:nvPr/>
        </p:nvSpPr>
        <p:spPr>
          <a:xfrm>
            <a:off x="6466579" y="5763717"/>
            <a:ext cx="4210955"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a:t>
            </a:r>
          </a:p>
        </p:txBody>
      </p:sp>
      <p:sp>
        <p:nvSpPr>
          <p:cNvPr id="42"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6"/>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Allergen Preparation Technology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Allergen Preparation Technology,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Allergen Preparation Technology (US$ Mn)</a:t>
            </a:r>
          </a:p>
        </p:txBody>
      </p:sp>
      <p:graphicFrame>
        <p:nvGraphicFramePr>
          <p:cNvPr id="13" name="Table 12"/>
          <p:cNvGraphicFramePr>
            <a:graphicFrameLocks noGrp="1"/>
          </p:cNvGraphicFramePr>
          <p:nvPr/>
        </p:nvGraphicFramePr>
        <p:xfrm>
          <a:off x="152400" y="1238250"/>
          <a:ext cx="11887201" cy="2466975"/>
        </p:xfrm>
        <a:graphic>
          <a:graphicData uri="http://schemas.openxmlformats.org/drawingml/2006/table">
            <a:tbl>
              <a:tblPr>
                <a:tableStyleId>{5C22544A-7EE6-4342-B048-85BDC9FD1C3A}</a:tableStyleId>
              </a:tblPr>
              <a:tblGrid>
                <a:gridCol w="2451181"/>
                <a:gridCol w="555060"/>
                <a:gridCol w="555060"/>
                <a:gridCol w="555060"/>
                <a:gridCol w="555060"/>
                <a:gridCol w="555060"/>
                <a:gridCol w="555060"/>
                <a:gridCol w="555060"/>
                <a:gridCol w="555060"/>
                <a:gridCol w="555060"/>
                <a:gridCol w="555060"/>
                <a:gridCol w="555060"/>
                <a:gridCol w="555060"/>
                <a:gridCol w="555060"/>
                <a:gridCol w="555060"/>
                <a:gridCol w="555060"/>
                <a:gridCol w="555060"/>
                <a:gridCol w="555060"/>
              </a:tblGrid>
              <a:tr h="246126">
                <a:tc>
                  <a:txBody>
                    <a:bodyPr wrap="none"/>
                    <a:lstStyle/>
                    <a:p>
                      <a:pPr algn="l"/>
                      <a:r>
                        <a:rPr sz="1100" b="1">
                          <a:solidFill>
                            <a:srgbClr val="0B2E4A"/>
                          </a:solidFill>
                          <a:latin typeface="Calibri"/>
                        </a:rPr>
                        <a:t>Allergen Preparation 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Native Allergen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 Standardized Allergen Extracts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 Non-standardized Allergen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Modified Allergen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 Polymerized Allergoids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 Depigmented-Polymerized Allergoids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 Carbamylated Allergoids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Molecular Allergen Preparations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2,428</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5,439</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8.4%</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04812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1338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Allergen Preparation Technology</a:t>
            </a:r>
          </a:p>
        </p:txBody>
      </p:sp>
      <p:sp>
        <p:nvSpPr>
          <p:cNvPr id="17" name="Rectangle 16"/>
          <p:cNvSpPr/>
          <p:nvPr/>
        </p:nvSpPr>
        <p:spPr>
          <a:xfrm>
            <a:off x="276225" y="43719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457700"/>
            <a:ext cx="1163955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134901" y="2328100"/>
            <a:ext cx="366712" cy="533400"/>
          </a:xfrm>
          <a:prstGeom prst="rect">
            <a:avLst/>
          </a:prstGeom>
        </p:spPr>
      </p:pic>
      <p:sp>
        <p:nvSpPr>
          <p:cNvPr id="21" name="TextBox 20"/>
          <p:cNvSpPr txBox="1"/>
          <p:nvPr/>
        </p:nvSpPr>
        <p:spPr>
          <a:xfrm>
            <a:off x="276225" y="4467225"/>
            <a:ext cx="3053680" cy="194310"/>
          </a:xfrm>
          <a:prstGeom prst="rect">
            <a:avLst/>
          </a:prstGeom>
          <a:noFill/>
        </p:spPr>
        <p:txBody>
          <a:bodyPr wrap="none" lIns="0" rIns="0" tIns="0" bIns="0">
            <a:spAutoFit/>
          </a:bodyPr>
          <a:lstStyle/>
          <a:p>
            <a:r>
              <a:rPr sz="1150" b="0">
                <a:solidFill>
                  <a:srgbClr val="2E2E2E"/>
                </a:solidFill>
                <a:latin typeface="Calibri"/>
              </a:rPr>
              <a:t>Modified allergen segment is projected to register</a:t>
            </a:r>
          </a:p>
        </p:txBody>
      </p:sp>
      <p:pic>
        <p:nvPicPr>
          <p:cNvPr id="22" name="Picture 21" descr="lock.png"/>
          <p:cNvPicPr>
            <a:picLocks noChangeAspect="1"/>
          </p:cNvPicPr>
          <p:nvPr/>
        </p:nvPicPr>
        <p:blipFill>
          <a:blip r:embed="rId4"/>
          <a:stretch>
            <a:fillRect/>
          </a:stretch>
        </p:blipFill>
        <p:spPr>
          <a:xfrm>
            <a:off x="3279059" y="4457001"/>
            <a:ext cx="134549" cy="195707"/>
          </a:xfrm>
          <a:prstGeom prst="rect">
            <a:avLst/>
          </a:prstGeom>
        </p:spPr>
      </p:pic>
      <p:sp>
        <p:nvSpPr>
          <p:cNvPr id="23" name="TextBox 22"/>
          <p:cNvSpPr txBox="1"/>
          <p:nvPr/>
        </p:nvSpPr>
        <p:spPr>
          <a:xfrm>
            <a:off x="3454168" y="4467225"/>
            <a:ext cx="8134908" cy="194310"/>
          </a:xfrm>
          <a:prstGeom prst="rect">
            <a:avLst/>
          </a:prstGeom>
          <a:noFill/>
        </p:spPr>
        <p:txBody>
          <a:bodyPr wrap="none" lIns="0" rIns="0" tIns="0" bIns="0">
            <a:spAutoFit/>
          </a:bodyPr>
          <a:lstStyle/>
          <a:p>
            <a:r>
              <a:rPr sz="1150" b="0">
                <a:solidFill>
                  <a:srgbClr val="2E2E2E"/>
                </a:solidFill>
                <a:latin typeface="Calibri"/>
              </a:rPr>
              <a:t>X higher value than native allergen extracts segment in 2036. Among allergy immunotherapy by allergen preparation technology, native</a:t>
            </a:r>
          </a:p>
        </p:txBody>
      </p:sp>
      <p:sp>
        <p:nvSpPr>
          <p:cNvPr id="24" name="TextBox 23"/>
          <p:cNvSpPr txBox="1"/>
          <p:nvPr/>
        </p:nvSpPr>
        <p:spPr>
          <a:xfrm>
            <a:off x="276225" y="4642485"/>
            <a:ext cx="4176136" cy="194310"/>
          </a:xfrm>
          <a:prstGeom prst="rect">
            <a:avLst/>
          </a:prstGeom>
          <a:noFill/>
        </p:spPr>
        <p:txBody>
          <a:bodyPr wrap="none" lIns="0" rIns="0" tIns="0" bIns="0">
            <a:spAutoFit/>
          </a:bodyPr>
          <a:lstStyle/>
          <a:p>
            <a:r>
              <a:rPr sz="1150" b="0">
                <a:solidFill>
                  <a:srgbClr val="2E2E2E"/>
                </a:solidFill>
                <a:latin typeface="Calibri"/>
              </a:rPr>
              <a:t>allergen extracts segment is expected to witness the highest CAGR of</a:t>
            </a:r>
          </a:p>
        </p:txBody>
      </p:sp>
      <p:pic>
        <p:nvPicPr>
          <p:cNvPr id="25" name="Picture 24" descr="lock.png"/>
          <p:cNvPicPr>
            <a:picLocks noChangeAspect="1"/>
          </p:cNvPicPr>
          <p:nvPr/>
        </p:nvPicPr>
        <p:blipFill>
          <a:blip r:embed="rId4"/>
          <a:stretch>
            <a:fillRect/>
          </a:stretch>
        </p:blipFill>
        <p:spPr>
          <a:xfrm>
            <a:off x="4401515" y="4632261"/>
            <a:ext cx="134549" cy="195707"/>
          </a:xfrm>
          <a:prstGeom prst="rect">
            <a:avLst/>
          </a:prstGeom>
        </p:spPr>
      </p:pic>
      <p:sp>
        <p:nvSpPr>
          <p:cNvPr id="26" name="TextBox 25"/>
          <p:cNvSpPr txBox="1"/>
          <p:nvPr/>
        </p:nvSpPr>
        <p:spPr>
          <a:xfrm>
            <a:off x="4576624" y="46424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870322"/>
            <a:ext cx="8022232" cy="194310"/>
          </a:xfrm>
          <a:prstGeom prst="rect">
            <a:avLst/>
          </a:prstGeom>
          <a:noFill/>
        </p:spPr>
        <p:txBody>
          <a:bodyPr wrap="none" lIns="0" rIns="0" tIns="0" bIns="0">
            <a:spAutoFit/>
          </a:bodyPr>
          <a:lstStyle/>
          <a:p>
            <a:r>
              <a:rPr sz="1150" b="0">
                <a:solidFill>
                  <a:srgbClr val="2E2E2E"/>
                </a:solidFill>
                <a:latin typeface="Calibri"/>
              </a:rPr>
              <a:t>In terms of value share by allergen preparation technology, the modified allergen segment is expected to dominate the market, losing</a:t>
            </a:r>
          </a:p>
        </p:txBody>
      </p:sp>
      <p:pic>
        <p:nvPicPr>
          <p:cNvPr id="28" name="Picture 27" descr="lock.png"/>
          <p:cNvPicPr>
            <a:picLocks noChangeAspect="1"/>
          </p:cNvPicPr>
          <p:nvPr/>
        </p:nvPicPr>
        <p:blipFill>
          <a:blip r:embed="rId4"/>
          <a:stretch>
            <a:fillRect/>
          </a:stretch>
        </p:blipFill>
        <p:spPr>
          <a:xfrm>
            <a:off x="8247611" y="4860099"/>
            <a:ext cx="134549" cy="195707"/>
          </a:xfrm>
          <a:prstGeom prst="rect">
            <a:avLst/>
          </a:prstGeom>
        </p:spPr>
      </p:pic>
      <p:sp>
        <p:nvSpPr>
          <p:cNvPr id="29" name="TextBox 28"/>
          <p:cNvSpPr txBox="1"/>
          <p:nvPr/>
        </p:nvSpPr>
        <p:spPr>
          <a:xfrm>
            <a:off x="8422721" y="48703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9817864" y="4860099"/>
            <a:ext cx="134549" cy="195707"/>
          </a:xfrm>
          <a:prstGeom prst="rect">
            <a:avLst/>
          </a:prstGeom>
        </p:spPr>
      </p:pic>
      <p:sp>
        <p:nvSpPr>
          <p:cNvPr id="31" name="TextBox 30"/>
          <p:cNvSpPr txBox="1"/>
          <p:nvPr/>
        </p:nvSpPr>
        <p:spPr>
          <a:xfrm>
            <a:off x="9992973" y="487032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2" name="TextBox 31"/>
          <p:cNvSpPr txBox="1"/>
          <p:nvPr/>
        </p:nvSpPr>
        <p:spPr>
          <a:xfrm>
            <a:off x="276225" y="5045582"/>
            <a:ext cx="3658989" cy="194310"/>
          </a:xfrm>
          <a:prstGeom prst="rect">
            <a:avLst/>
          </a:prstGeom>
          <a:noFill/>
        </p:spPr>
        <p:txBody>
          <a:bodyPr wrap="none" lIns="0" rIns="0" tIns="0" bIns="0">
            <a:spAutoFit/>
          </a:bodyPr>
          <a:lstStyle/>
          <a:p>
            <a:r>
              <a:rPr sz="1150" b="0">
                <a:solidFill>
                  <a:srgbClr val="2E2E2E"/>
                </a:solidFill>
                <a:latin typeface="Calibri"/>
              </a:rPr>
              <a:t>molecular allergen preparations segment is expected to lose</a:t>
            </a:r>
          </a:p>
        </p:txBody>
      </p:sp>
      <p:pic>
        <p:nvPicPr>
          <p:cNvPr id="33" name="Picture 32" descr="lock.png"/>
          <p:cNvPicPr>
            <a:picLocks noChangeAspect="1"/>
          </p:cNvPicPr>
          <p:nvPr/>
        </p:nvPicPr>
        <p:blipFill>
          <a:blip r:embed="rId4"/>
          <a:stretch>
            <a:fillRect/>
          </a:stretch>
        </p:blipFill>
        <p:spPr>
          <a:xfrm>
            <a:off x="3884368" y="5035359"/>
            <a:ext cx="134549" cy="195707"/>
          </a:xfrm>
          <a:prstGeom prst="rect">
            <a:avLst/>
          </a:prstGeom>
        </p:spPr>
      </p:pic>
      <p:sp>
        <p:nvSpPr>
          <p:cNvPr id="34" name="TextBox 33"/>
          <p:cNvSpPr txBox="1"/>
          <p:nvPr/>
        </p:nvSpPr>
        <p:spPr>
          <a:xfrm>
            <a:off x="4059477" y="50455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6646981" y="5035359"/>
            <a:ext cx="134549" cy="195707"/>
          </a:xfrm>
          <a:prstGeom prst="rect">
            <a:avLst/>
          </a:prstGeom>
        </p:spPr>
      </p:pic>
      <p:sp>
        <p:nvSpPr>
          <p:cNvPr id="36" name="TextBox 35"/>
          <p:cNvSpPr txBox="1"/>
          <p:nvPr/>
        </p:nvSpPr>
        <p:spPr>
          <a:xfrm>
            <a:off x="6822091" y="50455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Allergen Preparation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Allergen Preparation Technology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Allergen Preparation Technology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220737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20261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212641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Molecular Allergen Preparations</a:t>
            </a:r>
          </a:p>
        </p:txBody>
      </p:sp>
      <p:sp>
        <p:nvSpPr>
          <p:cNvPr id="19" name="BPS Value 1"/>
          <p:cNvSpPr txBox="1"/>
          <p:nvPr/>
        </p:nvSpPr>
        <p:spPr>
          <a:xfrm>
            <a:off x="6896100" y="218832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356199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355722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348102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Native Allergen Extracts</a:t>
            </a:r>
          </a:p>
        </p:txBody>
      </p:sp>
      <p:sp>
        <p:nvSpPr>
          <p:cNvPr id="23" name="BPS Value 2"/>
          <p:cNvSpPr txBox="1"/>
          <p:nvPr/>
        </p:nvSpPr>
        <p:spPr>
          <a:xfrm>
            <a:off x="6896100" y="354294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928997" y="531205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530729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523109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Modified Allergen</a:t>
            </a:r>
          </a:p>
        </p:txBody>
      </p:sp>
      <p:sp>
        <p:nvSpPr>
          <p:cNvPr id="27" name="BPS Value 3"/>
          <p:cNvSpPr txBox="1"/>
          <p:nvPr/>
        </p:nvSpPr>
        <p:spPr>
          <a:xfrm>
            <a:off x="6896100" y="529300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407620"/>
          </a:xfrm>
          <a:prstGeom prst="rect">
            <a:avLst/>
          </a:prstGeom>
          <a:noFill/>
        </p:spPr>
        <p:txBody>
          <a:bodyPr wrap="square" lIns="0" rIns="19050" tIns="9525" bIns="9525">
            <a:spAutoFit/>
          </a:bodyPr>
          <a:lstStyle/>
          <a:p>
            <a:pPr algn="l"/>
            <a:r>
              <a:rPr sz="1300" b="1">
                <a:solidFill>
                  <a:srgbClr val="0B2E4A"/>
                </a:solidFill>
                <a:latin typeface="Calibri"/>
              </a:rPr>
              <a:t>Global Read-out, By Allergen Preparation Technology</a:t>
            </a:r>
          </a:p>
        </p:txBody>
      </p:sp>
      <p:sp>
        <p:nvSpPr>
          <p:cNvPr id="30" name="Rectangle 29"/>
          <p:cNvSpPr/>
          <p:nvPr/>
        </p:nvSpPr>
        <p:spPr>
          <a:xfrm>
            <a:off x="7829550" y="150299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588720"/>
            <a:ext cx="4076700"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5"/>
          <a:stretch>
            <a:fillRect/>
          </a:stretch>
        </p:blipFill>
        <p:spPr>
          <a:xfrm>
            <a:off x="2557843" y="3833622"/>
            <a:ext cx="275034" cy="400050"/>
          </a:xfrm>
          <a:prstGeom prst="rect">
            <a:avLst/>
          </a:prstGeom>
        </p:spPr>
      </p:pic>
      <p:sp>
        <p:nvSpPr>
          <p:cNvPr id="34" name="TextBox 33"/>
          <p:cNvSpPr txBox="1"/>
          <p:nvPr/>
        </p:nvSpPr>
        <p:spPr>
          <a:xfrm>
            <a:off x="7829550" y="1598245"/>
            <a:ext cx="4057650" cy="194310"/>
          </a:xfrm>
          <a:prstGeom prst="rect">
            <a:avLst/>
          </a:prstGeom>
          <a:noFill/>
        </p:spPr>
        <p:txBody>
          <a:bodyPr wrap="none" lIns="0" rIns="0" tIns="0" bIns="0">
            <a:spAutoFit/>
          </a:bodyPr>
          <a:lstStyle/>
          <a:p>
            <a:r>
              <a:rPr sz="1150" b="0">
                <a:solidFill>
                  <a:srgbClr val="2E2E2E"/>
                </a:solidFill>
                <a:latin typeface="Calibri"/>
              </a:rPr>
              <a:t>Among allergy immunotherapy by allergen preparation technology,</a:t>
            </a:r>
          </a:p>
        </p:txBody>
      </p:sp>
      <p:sp>
        <p:nvSpPr>
          <p:cNvPr id="35" name="TextBox 34"/>
          <p:cNvSpPr txBox="1"/>
          <p:nvPr/>
        </p:nvSpPr>
        <p:spPr>
          <a:xfrm>
            <a:off x="7829550" y="1773505"/>
            <a:ext cx="4055777" cy="194310"/>
          </a:xfrm>
          <a:prstGeom prst="rect">
            <a:avLst/>
          </a:prstGeom>
          <a:noFill/>
        </p:spPr>
        <p:txBody>
          <a:bodyPr wrap="none" lIns="0" rIns="0" tIns="0" bIns="0">
            <a:spAutoFit/>
          </a:bodyPr>
          <a:lstStyle/>
          <a:p>
            <a:r>
              <a:rPr sz="1150" b="0">
                <a:solidFill>
                  <a:srgbClr val="2E2E2E"/>
                </a:solidFill>
                <a:latin typeface="Calibri"/>
              </a:rPr>
              <a:t>native allergen extracts segment is expected to witness the highest</a:t>
            </a:r>
          </a:p>
        </p:txBody>
      </p:sp>
      <p:sp>
        <p:nvSpPr>
          <p:cNvPr id="36" name="TextBox 35"/>
          <p:cNvSpPr txBox="1"/>
          <p:nvPr/>
        </p:nvSpPr>
        <p:spPr>
          <a:xfrm>
            <a:off x="7829550" y="194876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37" name="Picture 36" descr="lock.png"/>
          <p:cNvPicPr>
            <a:picLocks noChangeAspect="1"/>
          </p:cNvPicPr>
          <p:nvPr/>
        </p:nvPicPr>
        <p:blipFill>
          <a:blip r:embed="rId5"/>
          <a:stretch>
            <a:fillRect/>
          </a:stretch>
        </p:blipFill>
        <p:spPr>
          <a:xfrm>
            <a:off x="8343240" y="1938541"/>
            <a:ext cx="134549" cy="195707"/>
          </a:xfrm>
          <a:prstGeom prst="rect">
            <a:avLst/>
          </a:prstGeom>
        </p:spPr>
      </p:pic>
      <p:sp>
        <p:nvSpPr>
          <p:cNvPr id="38" name="TextBox 37"/>
          <p:cNvSpPr txBox="1"/>
          <p:nvPr/>
        </p:nvSpPr>
        <p:spPr>
          <a:xfrm>
            <a:off x="8518350" y="194876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39" name="TextBox 38"/>
          <p:cNvSpPr txBox="1"/>
          <p:nvPr/>
        </p:nvSpPr>
        <p:spPr>
          <a:xfrm>
            <a:off x="7829550" y="2124025"/>
            <a:ext cx="4001864" cy="194310"/>
          </a:xfrm>
          <a:prstGeom prst="rect">
            <a:avLst/>
          </a:prstGeom>
          <a:noFill/>
        </p:spPr>
        <p:txBody>
          <a:bodyPr wrap="none" lIns="0" rIns="0" tIns="0" bIns="0">
            <a:spAutoFit/>
          </a:bodyPr>
          <a:lstStyle/>
          <a:p>
            <a:r>
              <a:rPr sz="1150" b="0">
                <a:solidFill>
                  <a:srgbClr val="2E2E2E"/>
                </a:solidFill>
                <a:latin typeface="Calibri"/>
              </a:rPr>
              <a:t>allergen preparation technology, the modified allergen segment is</a:t>
            </a:r>
          </a:p>
        </p:txBody>
      </p:sp>
      <p:sp>
        <p:nvSpPr>
          <p:cNvPr id="40" name="TextBox 39"/>
          <p:cNvSpPr txBox="1"/>
          <p:nvPr/>
        </p:nvSpPr>
        <p:spPr>
          <a:xfrm>
            <a:off x="7829550" y="2299285"/>
            <a:ext cx="2494012" cy="194310"/>
          </a:xfrm>
          <a:prstGeom prst="rect">
            <a:avLst/>
          </a:prstGeom>
          <a:noFill/>
        </p:spPr>
        <p:txBody>
          <a:bodyPr wrap="none" lIns="0" rIns="0" tIns="0" bIns="0">
            <a:spAutoFit/>
          </a:bodyPr>
          <a:lstStyle/>
          <a:p>
            <a:r>
              <a:rPr sz="1150" b="0">
                <a:solidFill>
                  <a:srgbClr val="2E2E2E"/>
                </a:solidFill>
                <a:latin typeface="Calibri"/>
              </a:rPr>
              <a:t>expected to dominate the market, losing</a:t>
            </a:r>
          </a:p>
        </p:txBody>
      </p:sp>
      <p:pic>
        <p:nvPicPr>
          <p:cNvPr id="41" name="Picture 40" descr="lock.png"/>
          <p:cNvPicPr>
            <a:picLocks noChangeAspect="1"/>
          </p:cNvPicPr>
          <p:nvPr/>
        </p:nvPicPr>
        <p:blipFill>
          <a:blip r:embed="rId5"/>
          <a:stretch>
            <a:fillRect/>
          </a:stretch>
        </p:blipFill>
        <p:spPr>
          <a:xfrm>
            <a:off x="10272716" y="2289061"/>
            <a:ext cx="134549" cy="195707"/>
          </a:xfrm>
          <a:prstGeom prst="rect">
            <a:avLst/>
          </a:prstGeom>
        </p:spPr>
      </p:pic>
      <p:sp>
        <p:nvSpPr>
          <p:cNvPr id="42" name="TextBox 41"/>
          <p:cNvSpPr txBox="1"/>
          <p:nvPr/>
        </p:nvSpPr>
        <p:spPr>
          <a:xfrm>
            <a:off x="10447825" y="229928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43" name="TextBox 42"/>
          <p:cNvSpPr txBox="1"/>
          <p:nvPr/>
        </p:nvSpPr>
        <p:spPr>
          <a:xfrm>
            <a:off x="7829550" y="247454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44" name="Picture 43" descr="lock.png"/>
          <p:cNvPicPr>
            <a:picLocks noChangeAspect="1"/>
          </p:cNvPicPr>
          <p:nvPr/>
        </p:nvPicPr>
        <p:blipFill>
          <a:blip r:embed="rId5"/>
          <a:stretch>
            <a:fillRect/>
          </a:stretch>
        </p:blipFill>
        <p:spPr>
          <a:xfrm>
            <a:off x="8027482" y="2464321"/>
            <a:ext cx="134549" cy="195707"/>
          </a:xfrm>
          <a:prstGeom prst="rect">
            <a:avLst/>
          </a:prstGeom>
        </p:spPr>
      </p:pic>
      <p:sp>
        <p:nvSpPr>
          <p:cNvPr id="45" name="TextBox 44"/>
          <p:cNvSpPr txBox="1"/>
          <p:nvPr/>
        </p:nvSpPr>
        <p:spPr>
          <a:xfrm>
            <a:off x="8202591" y="247454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6" name="TextBox 45"/>
          <p:cNvSpPr txBox="1"/>
          <p:nvPr/>
        </p:nvSpPr>
        <p:spPr>
          <a:xfrm>
            <a:off x="7829550" y="2702382"/>
            <a:ext cx="3912865" cy="194310"/>
          </a:xfrm>
          <a:prstGeom prst="rect">
            <a:avLst/>
          </a:prstGeom>
          <a:noFill/>
        </p:spPr>
        <p:txBody>
          <a:bodyPr wrap="none" lIns="0" rIns="0" tIns="0" bIns="0">
            <a:spAutoFit/>
          </a:bodyPr>
          <a:lstStyle/>
          <a:p>
            <a:r>
              <a:rPr sz="1150" b="0">
                <a:solidFill>
                  <a:srgbClr val="2E2E2E"/>
                </a:solidFill>
                <a:latin typeface="Calibri"/>
              </a:rPr>
              <a:t>The molecular allergen preparations segment is expected to lose</a:t>
            </a:r>
          </a:p>
        </p:txBody>
      </p:sp>
      <p:pic>
        <p:nvPicPr>
          <p:cNvPr id="47" name="Picture 46" descr="lock.png"/>
          <p:cNvPicPr>
            <a:picLocks noChangeAspect="1"/>
          </p:cNvPicPr>
          <p:nvPr/>
        </p:nvPicPr>
        <p:blipFill>
          <a:blip r:embed="rId5"/>
          <a:stretch>
            <a:fillRect/>
          </a:stretch>
        </p:blipFill>
        <p:spPr>
          <a:xfrm>
            <a:off x="7815470" y="2867419"/>
            <a:ext cx="134549" cy="195707"/>
          </a:xfrm>
          <a:prstGeom prst="rect">
            <a:avLst/>
          </a:prstGeom>
        </p:spPr>
      </p:pic>
      <p:sp>
        <p:nvSpPr>
          <p:cNvPr id="48" name="TextBox 47"/>
          <p:cNvSpPr txBox="1"/>
          <p:nvPr/>
        </p:nvSpPr>
        <p:spPr>
          <a:xfrm>
            <a:off x="7990579" y="287764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49" name="Picture 48" descr="lock.png"/>
          <p:cNvPicPr>
            <a:picLocks noChangeAspect="1"/>
          </p:cNvPicPr>
          <p:nvPr/>
        </p:nvPicPr>
        <p:blipFill>
          <a:blip r:embed="rId5"/>
          <a:stretch>
            <a:fillRect/>
          </a:stretch>
        </p:blipFill>
        <p:spPr>
          <a:xfrm>
            <a:off x="10578084" y="2867419"/>
            <a:ext cx="134549" cy="195707"/>
          </a:xfrm>
          <a:prstGeom prst="rect">
            <a:avLst/>
          </a:prstGeom>
        </p:spPr>
      </p:pic>
      <p:sp>
        <p:nvSpPr>
          <p:cNvPr id="50" name="TextBox 49"/>
          <p:cNvSpPr txBox="1"/>
          <p:nvPr/>
        </p:nvSpPr>
        <p:spPr>
          <a:xfrm>
            <a:off x="10753193" y="287764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Allergen Composition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Allergen Composition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Allergen Composition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Allergen Composition,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Allergen Composition segment categorizes the market by allergen composition.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Fixed Allergen Mixtures</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Single-Allergen Preparations</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Customized Multi-Allergen Prepara…</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Allergen Composition split shows how demand is distributed across allergen composition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Allergen Composition segment is projected to grow at a CAGR of 8.4% from 2026 to 2036.</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1_858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3_982_605E5C.png"/>
          <p:cNvPicPr>
            <a:picLocks noChangeAspect="1"/>
          </p:cNvPicPr>
          <p:nvPr/>
        </p:nvPicPr>
        <p:blipFill>
          <a:blip r:embed="rId5"/>
          <a:stretch>
            <a:fillRect/>
          </a:stretch>
        </p:blipFill>
        <p:spPr>
          <a:xfrm>
            <a:off x="2897811" y="2779432"/>
            <a:ext cx="1195728" cy="361950"/>
          </a:xfrm>
          <a:prstGeom prst="rect">
            <a:avLst/>
          </a:prstGeom>
        </p:spPr>
      </p:pic>
      <p:pic>
        <p:nvPicPr>
          <p:cNvPr id="59" name="Picture 58" descr="7_9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435_9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1_134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10_0__605E5C.png"/>
          <p:cNvPicPr>
            <a:picLocks noChangeAspect="1"/>
          </p:cNvPicPr>
          <p:nvPr/>
        </p:nvPicPr>
        <p:blipFill>
          <a:blip r:embed="rId9"/>
          <a:stretch>
            <a:fillRect/>
          </a:stretch>
        </p:blipFill>
        <p:spPr>
          <a:xfrm>
            <a:off x="6269661" y="3272281"/>
            <a:ext cx="1195728" cy="361950"/>
          </a:xfrm>
          <a:prstGeom prst="rect">
            <a:avLst/>
          </a:prstGeom>
        </p:spPr>
      </p:pic>
      <p:pic>
        <p:nvPicPr>
          <p:cNvPr id="63" name="Picture 62" descr="133_3_605E5C.png"/>
          <p:cNvPicPr>
            <a:picLocks noChangeAspect="1"/>
          </p:cNvPicPr>
          <p:nvPr/>
        </p:nvPicPr>
        <p:blipFill>
          <a:blip r:embed="rId10"/>
          <a:stretch>
            <a:fillRect/>
          </a:stretch>
        </p:blipFill>
        <p:spPr>
          <a:xfrm>
            <a:off x="9641511" y="2286582"/>
            <a:ext cx="1195728" cy="361950"/>
          </a:xfrm>
          <a:prstGeom prst="rect">
            <a:avLst/>
          </a:prstGeom>
        </p:spPr>
      </p:pic>
      <p:pic>
        <p:nvPicPr>
          <p:cNvPr id="64" name="Picture 63" descr="322_2_605E5C.png"/>
          <p:cNvPicPr>
            <a:picLocks noChangeAspect="1"/>
          </p:cNvPicPr>
          <p:nvPr/>
        </p:nvPicPr>
        <p:blipFill>
          <a:blip r:embed="rId11"/>
          <a:stretch>
            <a:fillRect/>
          </a:stretch>
        </p:blipFill>
        <p:spPr>
          <a:xfrm>
            <a:off x="9641511" y="2779432"/>
            <a:ext cx="1195728" cy="361950"/>
          </a:xfrm>
          <a:prstGeom prst="rect">
            <a:avLst/>
          </a:prstGeom>
        </p:spPr>
      </p:pic>
      <p:pic>
        <p:nvPicPr>
          <p:cNvPr id="65" name="Picture 64" descr="9_2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499940" cy="186689"/>
          </a:xfrm>
          <a:prstGeom prst="rect">
            <a:avLst/>
          </a:prstGeom>
          <a:noFill/>
        </p:spPr>
        <p:txBody>
          <a:bodyPr wrap="none" lIns="0" rIns="0" tIns="0" bIns="0">
            <a:spAutoFit/>
          </a:bodyPr>
          <a:lstStyle/>
          <a:p>
            <a:r>
              <a:rPr sz="1100" b="0">
                <a:solidFill>
                  <a:srgbClr val="2E2E2E"/>
                </a:solidFill>
                <a:latin typeface="Calibri"/>
              </a:rPr>
              <a:t>Among allergy immunotherapy by allergen</a:t>
            </a:r>
          </a:p>
        </p:txBody>
      </p:sp>
      <p:sp>
        <p:nvSpPr>
          <p:cNvPr id="70" name="TextBox 69"/>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composition, single-allergen preparations segment</a:t>
            </a:r>
          </a:p>
        </p:txBody>
      </p:sp>
      <p:sp>
        <p:nvSpPr>
          <p:cNvPr id="71" name="TextBox 70"/>
          <p:cNvSpPr txBox="1"/>
          <p:nvPr/>
        </p:nvSpPr>
        <p:spPr>
          <a:xfrm>
            <a:off x="485775" y="4564717"/>
            <a:ext cx="2499650" cy="186689"/>
          </a:xfrm>
          <a:prstGeom prst="rect">
            <a:avLst/>
          </a:prstGeom>
          <a:noFill/>
        </p:spPr>
        <p:txBody>
          <a:bodyPr wrap="none" lIns="0" rIns="0" tIns="0" bIns="0">
            <a:spAutoFit/>
          </a:bodyPr>
          <a:lstStyle/>
          <a:p>
            <a:r>
              <a:rPr sz="1100" b="0">
                <a:solidFill>
                  <a:srgbClr val="2E2E2E"/>
                </a:solidFill>
                <a:latin typeface="Calibri"/>
              </a:rPr>
              <a:t>is expected to witness the highest CAGR of</a:t>
            </a:r>
          </a:p>
        </p:txBody>
      </p:sp>
      <p:pic>
        <p:nvPicPr>
          <p:cNvPr id="72" name="Picture 71" descr="lock.png"/>
          <p:cNvPicPr>
            <a:picLocks noChangeAspect="1"/>
          </p:cNvPicPr>
          <p:nvPr/>
        </p:nvPicPr>
        <p:blipFill>
          <a:blip r:embed="rId13"/>
          <a:stretch>
            <a:fillRect/>
          </a:stretch>
        </p:blipFill>
        <p:spPr>
          <a:xfrm>
            <a:off x="2933477" y="4554938"/>
            <a:ext cx="128699" cy="187198"/>
          </a:xfrm>
          <a:prstGeom prst="rect">
            <a:avLst/>
          </a:prstGeom>
        </p:spPr>
      </p:pic>
      <p:sp>
        <p:nvSpPr>
          <p:cNvPr id="73" name="TextBox 72"/>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over the forecast period. In terms of value share by</a:t>
            </a:r>
          </a:p>
        </p:txBody>
      </p:sp>
      <p:sp>
        <p:nvSpPr>
          <p:cNvPr id="74" name="TextBox 73"/>
          <p:cNvSpPr txBox="1"/>
          <p:nvPr/>
        </p:nvSpPr>
        <p:spPr>
          <a:xfrm>
            <a:off x="485775" y="4899997"/>
            <a:ext cx="2856557" cy="186689"/>
          </a:xfrm>
          <a:prstGeom prst="rect">
            <a:avLst/>
          </a:prstGeom>
          <a:noFill/>
        </p:spPr>
        <p:txBody>
          <a:bodyPr wrap="none" lIns="0" rIns="0" tIns="0" bIns="0">
            <a:spAutoFit/>
          </a:bodyPr>
          <a:lstStyle/>
          <a:p>
            <a:r>
              <a:rPr sz="1100" b="0">
                <a:solidFill>
                  <a:srgbClr val="2E2E2E"/>
                </a:solidFill>
                <a:latin typeface="Calibri"/>
              </a:rPr>
              <a:t>allergen composition, the fixed allergen mixtures</a:t>
            </a:r>
          </a:p>
        </p:txBody>
      </p:sp>
      <p:sp>
        <p:nvSpPr>
          <p:cNvPr id="75" name="TextBox 74"/>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76" name="TextBox 75"/>
          <p:cNvSpPr txBox="1"/>
          <p:nvPr/>
        </p:nvSpPr>
        <p:spPr>
          <a:xfrm>
            <a:off x="485775" y="5235277"/>
            <a:ext cx="407987" cy="186689"/>
          </a:xfrm>
          <a:prstGeom prst="rect">
            <a:avLst/>
          </a:prstGeom>
          <a:noFill/>
        </p:spPr>
        <p:txBody>
          <a:bodyPr wrap="none" lIns="0" rIns="0" tIns="0" bIns="0">
            <a:spAutoFit/>
          </a:bodyPr>
          <a:lstStyle/>
          <a:p>
            <a:r>
              <a:rPr sz="1100" b="0">
                <a:solidFill>
                  <a:srgbClr val="2E2E2E"/>
                </a:solidFill>
                <a:latin typeface="Calibri"/>
              </a:rPr>
              <a:t>losing</a:t>
            </a:r>
          </a:p>
        </p:txBody>
      </p:sp>
      <p:pic>
        <p:nvPicPr>
          <p:cNvPr id="77" name="Picture 76" descr="lock.png"/>
          <p:cNvPicPr>
            <a:picLocks noChangeAspect="1"/>
          </p:cNvPicPr>
          <p:nvPr/>
        </p:nvPicPr>
        <p:blipFill>
          <a:blip r:embed="rId13"/>
          <a:stretch>
            <a:fillRect/>
          </a:stretch>
        </p:blipFill>
        <p:spPr>
          <a:xfrm>
            <a:off x="841814" y="5225498"/>
            <a:ext cx="128699" cy="187198"/>
          </a:xfrm>
          <a:prstGeom prst="rect">
            <a:avLst/>
          </a:prstGeom>
        </p:spPr>
      </p:pic>
      <p:sp>
        <p:nvSpPr>
          <p:cNvPr id="78" name="TextBox 77"/>
          <p:cNvSpPr txBox="1"/>
          <p:nvPr/>
        </p:nvSpPr>
        <p:spPr>
          <a:xfrm>
            <a:off x="1009309"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79" name="Picture 78" descr="lock.png"/>
          <p:cNvPicPr>
            <a:picLocks noChangeAspect="1"/>
          </p:cNvPicPr>
          <p:nvPr/>
        </p:nvPicPr>
        <p:blipFill>
          <a:blip r:embed="rId13"/>
          <a:stretch>
            <a:fillRect/>
          </a:stretch>
        </p:blipFill>
        <p:spPr>
          <a:xfrm>
            <a:off x="2343794" y="5225498"/>
            <a:ext cx="128699" cy="187198"/>
          </a:xfrm>
          <a:prstGeom prst="rect">
            <a:avLst/>
          </a:prstGeom>
        </p:spPr>
      </p:pic>
      <p:sp>
        <p:nvSpPr>
          <p:cNvPr id="80" name="TextBox 79"/>
          <p:cNvSpPr txBox="1"/>
          <p:nvPr/>
        </p:nvSpPr>
        <p:spPr>
          <a:xfrm>
            <a:off x="2511290" y="523527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81" name="TextBox 80"/>
          <p:cNvSpPr txBox="1"/>
          <p:nvPr/>
        </p:nvSpPr>
        <p:spPr>
          <a:xfrm>
            <a:off x="485775" y="540291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82" name="TextBox 81"/>
          <p:cNvSpPr txBox="1"/>
          <p:nvPr/>
        </p:nvSpPr>
        <p:spPr>
          <a:xfrm>
            <a:off x="485775" y="5620849"/>
            <a:ext cx="2768972" cy="186689"/>
          </a:xfrm>
          <a:prstGeom prst="rect">
            <a:avLst/>
          </a:prstGeom>
          <a:noFill/>
        </p:spPr>
        <p:txBody>
          <a:bodyPr wrap="none" lIns="0" rIns="0" tIns="0" bIns="0">
            <a:spAutoFit/>
          </a:bodyPr>
          <a:lstStyle/>
          <a:p>
            <a:r>
              <a:rPr sz="1100" b="0">
                <a:solidFill>
                  <a:srgbClr val="2E2E2E"/>
                </a:solidFill>
                <a:latin typeface="Calibri"/>
              </a:rPr>
              <a:t>Fixed allergen mixtures segment is projected to</a:t>
            </a:r>
          </a:p>
        </p:txBody>
      </p:sp>
      <p:sp>
        <p:nvSpPr>
          <p:cNvPr id="83" name="TextBox 82"/>
          <p:cNvSpPr txBox="1"/>
          <p:nvPr/>
        </p:nvSpPr>
        <p:spPr>
          <a:xfrm>
            <a:off x="485775" y="578848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84" name="Picture 83" descr="lock.png"/>
          <p:cNvPicPr>
            <a:picLocks noChangeAspect="1"/>
          </p:cNvPicPr>
          <p:nvPr/>
        </p:nvPicPr>
        <p:blipFill>
          <a:blip r:embed="rId13"/>
          <a:stretch>
            <a:fillRect/>
          </a:stretch>
        </p:blipFill>
        <p:spPr>
          <a:xfrm>
            <a:off x="946316" y="5778710"/>
            <a:ext cx="128699" cy="187198"/>
          </a:xfrm>
          <a:prstGeom prst="rect">
            <a:avLst/>
          </a:prstGeom>
        </p:spPr>
      </p:pic>
      <p:sp>
        <p:nvSpPr>
          <p:cNvPr id="85" name="TextBox 84"/>
          <p:cNvSpPr txBox="1"/>
          <p:nvPr/>
        </p:nvSpPr>
        <p:spPr>
          <a:xfrm>
            <a:off x="1113812" y="5788489"/>
            <a:ext cx="2033091" cy="186689"/>
          </a:xfrm>
          <a:prstGeom prst="rect">
            <a:avLst/>
          </a:prstGeom>
          <a:noFill/>
        </p:spPr>
        <p:txBody>
          <a:bodyPr wrap="none" lIns="0" rIns="0" tIns="0" bIns="0">
            <a:spAutoFit/>
          </a:bodyPr>
          <a:lstStyle/>
          <a:p>
            <a:r>
              <a:rPr sz="1100" b="0">
                <a:solidFill>
                  <a:srgbClr val="2E2E2E"/>
                </a:solidFill>
                <a:latin typeface="Calibri"/>
              </a:rPr>
              <a:t>X higher value than single-allergen</a:t>
            </a:r>
          </a:p>
        </p:txBody>
      </p:sp>
      <p:sp>
        <p:nvSpPr>
          <p:cNvPr id="86" name="TextBox 85"/>
          <p:cNvSpPr txBox="1"/>
          <p:nvPr/>
        </p:nvSpPr>
        <p:spPr>
          <a:xfrm>
            <a:off x="485775" y="5956129"/>
            <a:ext cx="1815628" cy="186689"/>
          </a:xfrm>
          <a:prstGeom prst="rect">
            <a:avLst/>
          </a:prstGeom>
          <a:noFill/>
        </p:spPr>
        <p:txBody>
          <a:bodyPr wrap="none" lIns="0" rIns="0" tIns="0" bIns="0">
            <a:spAutoFit/>
          </a:bodyPr>
          <a:lstStyle/>
          <a:p>
            <a:r>
              <a:rPr sz="1100" b="0">
                <a:solidFill>
                  <a:srgbClr val="2E2E2E"/>
                </a:solidFill>
                <a:latin typeface="Calibri"/>
              </a:rPr>
              <a:t>preparations segment in 2036.</a:t>
            </a:r>
          </a:p>
        </p:txBody>
      </p:sp>
      <p:sp>
        <p:nvSpPr>
          <p:cNvPr id="87" name="TextBox 86"/>
          <p:cNvSpPr txBox="1"/>
          <p:nvPr/>
        </p:nvSpPr>
        <p:spPr>
          <a:xfrm>
            <a:off x="3838575" y="4229437"/>
            <a:ext cx="1570608" cy="186689"/>
          </a:xfrm>
          <a:prstGeom prst="rect">
            <a:avLst/>
          </a:prstGeom>
          <a:noFill/>
        </p:spPr>
        <p:txBody>
          <a:bodyPr wrap="none" lIns="0" rIns="0" tIns="0" bIns="0">
            <a:spAutoFit/>
          </a:bodyPr>
          <a:lstStyle/>
          <a:p>
            <a:r>
              <a:rPr sz="1100" b="0">
                <a:solidFill>
                  <a:srgbClr val="2E2E2E"/>
                </a:solidFill>
                <a:latin typeface="Calibri"/>
              </a:rPr>
              <a:t>● Fixed Allergen Mixtures:</a:t>
            </a:r>
          </a:p>
        </p:txBody>
      </p:sp>
      <p:pic>
        <p:nvPicPr>
          <p:cNvPr id="88" name="Picture 87" descr="lock.png"/>
          <p:cNvPicPr>
            <a:picLocks noChangeAspect="1"/>
          </p:cNvPicPr>
          <p:nvPr/>
        </p:nvPicPr>
        <p:blipFill>
          <a:blip r:embed="rId13"/>
          <a:stretch>
            <a:fillRect/>
          </a:stretch>
        </p:blipFill>
        <p:spPr>
          <a:xfrm>
            <a:off x="5357234" y="4219658"/>
            <a:ext cx="128699" cy="187198"/>
          </a:xfrm>
          <a:prstGeom prst="rect">
            <a:avLst/>
          </a:prstGeom>
        </p:spPr>
      </p:pic>
      <p:sp>
        <p:nvSpPr>
          <p:cNvPr id="89" name="TextBox 88"/>
          <p:cNvSpPr txBox="1"/>
          <p:nvPr/>
        </p:nvSpPr>
        <p:spPr>
          <a:xfrm>
            <a:off x="552473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0" name="Picture 89" descr="lock.png"/>
          <p:cNvPicPr>
            <a:picLocks noChangeAspect="1"/>
          </p:cNvPicPr>
          <p:nvPr/>
        </p:nvPicPr>
        <p:blipFill>
          <a:blip r:embed="rId13"/>
          <a:stretch>
            <a:fillRect/>
          </a:stretch>
        </p:blipFill>
        <p:spPr>
          <a:xfrm>
            <a:off x="6384180" y="4219658"/>
            <a:ext cx="128699" cy="187198"/>
          </a:xfrm>
          <a:prstGeom prst="rect">
            <a:avLst/>
          </a:prstGeom>
        </p:spPr>
      </p:pic>
      <p:sp>
        <p:nvSpPr>
          <p:cNvPr id="91" name="TextBox 90"/>
          <p:cNvSpPr txBox="1"/>
          <p:nvPr/>
        </p:nvSpPr>
        <p:spPr>
          <a:xfrm>
            <a:off x="6551676"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92" name="TextBox 91"/>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93" name="TextBox 92"/>
          <p:cNvSpPr txBox="1"/>
          <p:nvPr/>
        </p:nvSpPr>
        <p:spPr>
          <a:xfrm>
            <a:off x="3838575" y="4615009"/>
            <a:ext cx="1841003" cy="186689"/>
          </a:xfrm>
          <a:prstGeom prst="rect">
            <a:avLst/>
          </a:prstGeom>
          <a:noFill/>
        </p:spPr>
        <p:txBody>
          <a:bodyPr wrap="none" lIns="0" rIns="0" tIns="0" bIns="0">
            <a:spAutoFit/>
          </a:bodyPr>
          <a:lstStyle/>
          <a:p>
            <a:r>
              <a:rPr sz="1100" b="0">
                <a:solidFill>
                  <a:srgbClr val="2E2E2E"/>
                </a:solidFill>
                <a:latin typeface="Calibri"/>
              </a:rPr>
              <a:t>● Single-Allergen Preparations:</a:t>
            </a:r>
          </a:p>
        </p:txBody>
      </p:sp>
      <p:pic>
        <p:nvPicPr>
          <p:cNvPr id="94" name="Picture 93" descr="lock.png"/>
          <p:cNvPicPr>
            <a:picLocks noChangeAspect="1"/>
          </p:cNvPicPr>
          <p:nvPr/>
        </p:nvPicPr>
        <p:blipFill>
          <a:blip r:embed="rId13"/>
          <a:stretch>
            <a:fillRect/>
          </a:stretch>
        </p:blipFill>
        <p:spPr>
          <a:xfrm>
            <a:off x="5627630" y="4605230"/>
            <a:ext cx="128699" cy="187198"/>
          </a:xfrm>
          <a:prstGeom prst="rect">
            <a:avLst/>
          </a:prstGeom>
        </p:spPr>
      </p:pic>
      <p:sp>
        <p:nvSpPr>
          <p:cNvPr id="95" name="TextBox 94"/>
          <p:cNvSpPr txBox="1"/>
          <p:nvPr/>
        </p:nvSpPr>
        <p:spPr>
          <a:xfrm>
            <a:off x="5795126"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6" name="Picture 95" descr="lock.png"/>
          <p:cNvPicPr>
            <a:picLocks noChangeAspect="1"/>
          </p:cNvPicPr>
          <p:nvPr/>
        </p:nvPicPr>
        <p:blipFill>
          <a:blip r:embed="rId13"/>
          <a:stretch>
            <a:fillRect/>
          </a:stretch>
        </p:blipFill>
        <p:spPr>
          <a:xfrm>
            <a:off x="6654576" y="4605230"/>
            <a:ext cx="128699" cy="187198"/>
          </a:xfrm>
          <a:prstGeom prst="rect">
            <a:avLst/>
          </a:prstGeom>
        </p:spPr>
      </p:pic>
      <p:sp>
        <p:nvSpPr>
          <p:cNvPr id="97" name="TextBox 96"/>
          <p:cNvSpPr txBox="1"/>
          <p:nvPr/>
        </p:nvSpPr>
        <p:spPr>
          <a:xfrm>
            <a:off x="6822072" y="4615009"/>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98" name="TextBox 97"/>
          <p:cNvSpPr txBox="1"/>
          <p:nvPr/>
        </p:nvSpPr>
        <p:spPr>
          <a:xfrm>
            <a:off x="3838575" y="4782649"/>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99" name="TextBox 98"/>
          <p:cNvSpPr txBox="1"/>
          <p:nvPr/>
        </p:nvSpPr>
        <p:spPr>
          <a:xfrm>
            <a:off x="3838575" y="5000581"/>
            <a:ext cx="2504578" cy="186689"/>
          </a:xfrm>
          <a:prstGeom prst="rect">
            <a:avLst/>
          </a:prstGeom>
          <a:noFill/>
        </p:spPr>
        <p:txBody>
          <a:bodyPr wrap="none" lIns="0" rIns="0" tIns="0" bIns="0">
            <a:spAutoFit/>
          </a:bodyPr>
          <a:lstStyle/>
          <a:p>
            <a:r>
              <a:rPr sz="1100" b="0">
                <a:solidFill>
                  <a:srgbClr val="2E2E2E"/>
                </a:solidFill>
                <a:latin typeface="Calibri"/>
              </a:rPr>
              <a:t>● Customized Multi-Allergen Preparations:</a:t>
            </a:r>
          </a:p>
        </p:txBody>
      </p:sp>
      <p:pic>
        <p:nvPicPr>
          <p:cNvPr id="100" name="Picture 99" descr="lock.png"/>
          <p:cNvPicPr>
            <a:picLocks noChangeAspect="1"/>
          </p:cNvPicPr>
          <p:nvPr/>
        </p:nvPicPr>
        <p:blipFill>
          <a:blip r:embed="rId13"/>
          <a:stretch>
            <a:fillRect/>
          </a:stretch>
        </p:blipFill>
        <p:spPr>
          <a:xfrm>
            <a:off x="6291205" y="4990801"/>
            <a:ext cx="128699" cy="187198"/>
          </a:xfrm>
          <a:prstGeom prst="rect">
            <a:avLst/>
          </a:prstGeom>
        </p:spPr>
      </p:pic>
      <p:sp>
        <p:nvSpPr>
          <p:cNvPr id="101" name="TextBox 100"/>
          <p:cNvSpPr txBox="1"/>
          <p:nvPr/>
        </p:nvSpPr>
        <p:spPr>
          <a:xfrm>
            <a:off x="6458701"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2" name="Picture 101" descr="lock.png"/>
          <p:cNvPicPr>
            <a:picLocks noChangeAspect="1"/>
          </p:cNvPicPr>
          <p:nvPr/>
        </p:nvPicPr>
        <p:blipFill>
          <a:blip r:embed="rId13"/>
          <a:stretch>
            <a:fillRect/>
          </a:stretch>
        </p:blipFill>
        <p:spPr>
          <a:xfrm>
            <a:off x="7318151" y="4990801"/>
            <a:ext cx="128699" cy="187198"/>
          </a:xfrm>
          <a:prstGeom prst="rect">
            <a:avLst/>
          </a:prstGeom>
        </p:spPr>
      </p:pic>
      <p:sp>
        <p:nvSpPr>
          <p:cNvPr id="103" name="TextBox 102"/>
          <p:cNvSpPr txBox="1"/>
          <p:nvPr/>
        </p:nvSpPr>
        <p:spPr>
          <a:xfrm>
            <a:off x="3838575" y="516822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Allergen Composition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Allergen Composition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Allergen Composition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Allergen Composition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504587" cy="186689"/>
          </a:xfrm>
          <a:prstGeom prst="rect">
            <a:avLst/>
          </a:prstGeom>
          <a:noFill/>
        </p:spPr>
        <p:txBody>
          <a:bodyPr wrap="none" lIns="0" rIns="0" tIns="0" bIns="0">
            <a:spAutoFit/>
          </a:bodyPr>
          <a:lstStyle/>
          <a:p>
            <a:r>
              <a:rPr sz="1100" b="0">
                <a:solidFill>
                  <a:srgbClr val="2E2E2E"/>
                </a:solidFill>
                <a:latin typeface="Calibri"/>
              </a:rPr>
              <a:t>Fixed allergen mixtures followed by single-allergen preparations are expected to be the two most attractive allergen composition segments in the global allergy immunotherapy market in terms of value</a:t>
            </a:r>
          </a:p>
        </p:txBody>
      </p:sp>
      <p:sp>
        <p:nvSpPr>
          <p:cNvPr id="21" name="TextBox 20"/>
          <p:cNvSpPr txBox="1"/>
          <p:nvPr/>
        </p:nvSpPr>
        <p:spPr>
          <a:xfrm>
            <a:off x="257175" y="5861685"/>
            <a:ext cx="6083010" cy="186689"/>
          </a:xfrm>
          <a:prstGeom prst="rect">
            <a:avLst/>
          </a:prstGeom>
          <a:noFill/>
        </p:spPr>
        <p:txBody>
          <a:bodyPr wrap="none" lIns="0" rIns="0" tIns="0" bIns="0">
            <a:spAutoFit/>
          </a:bodyPr>
          <a:lstStyle/>
          <a:p>
            <a:r>
              <a:rPr sz="1100" b="0">
                <a:solidFill>
                  <a:srgbClr val="2E2E2E"/>
                </a:solidFill>
                <a:latin typeface="Calibri"/>
              </a:rPr>
              <a:t>over the forecast period. Fixed allergen mixtures and Single-Allergen preparations exhibit a CAGR index of</a:t>
            </a:r>
          </a:p>
        </p:txBody>
      </p:sp>
      <p:pic>
        <p:nvPicPr>
          <p:cNvPr id="22" name="Picture 21" descr="lock.png"/>
          <p:cNvPicPr>
            <a:picLocks noChangeAspect="1"/>
          </p:cNvPicPr>
          <p:nvPr/>
        </p:nvPicPr>
        <p:blipFill>
          <a:blip r:embed="rId6"/>
          <a:stretch>
            <a:fillRect/>
          </a:stretch>
        </p:blipFill>
        <p:spPr>
          <a:xfrm>
            <a:off x="6288236" y="5851905"/>
            <a:ext cx="128699" cy="187198"/>
          </a:xfrm>
          <a:prstGeom prst="rect">
            <a:avLst/>
          </a:prstGeom>
        </p:spPr>
      </p:pic>
      <p:sp>
        <p:nvSpPr>
          <p:cNvPr id="23" name="TextBox 22"/>
          <p:cNvSpPr txBox="1"/>
          <p:nvPr/>
        </p:nvSpPr>
        <p:spPr>
          <a:xfrm>
            <a:off x="645573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6693626" y="5851905"/>
            <a:ext cx="128699" cy="187198"/>
          </a:xfrm>
          <a:prstGeom prst="rect">
            <a:avLst/>
          </a:prstGeom>
        </p:spPr>
      </p:pic>
      <p:sp>
        <p:nvSpPr>
          <p:cNvPr id="25" name="TextBox 24"/>
          <p:cNvSpPr txBox="1"/>
          <p:nvPr/>
        </p:nvSpPr>
        <p:spPr>
          <a:xfrm>
            <a:off x="686112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8470096" y="5851905"/>
            <a:ext cx="128699" cy="187198"/>
          </a:xfrm>
          <a:prstGeom prst="rect">
            <a:avLst/>
          </a:prstGeom>
        </p:spPr>
      </p:pic>
      <p:sp>
        <p:nvSpPr>
          <p:cNvPr id="27" name="TextBox 26"/>
          <p:cNvSpPr txBox="1"/>
          <p:nvPr/>
        </p:nvSpPr>
        <p:spPr>
          <a:xfrm>
            <a:off x="863759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8875486" y="5851905"/>
            <a:ext cx="128699" cy="187198"/>
          </a:xfrm>
          <a:prstGeom prst="rect">
            <a:avLst/>
          </a:prstGeom>
        </p:spPr>
      </p:pic>
      <p:sp>
        <p:nvSpPr>
          <p:cNvPr id="29" name="TextBox 28"/>
          <p:cNvSpPr txBox="1"/>
          <p:nvPr/>
        </p:nvSpPr>
        <p:spPr>
          <a:xfrm>
            <a:off x="9042982" y="5861685"/>
            <a:ext cx="2458466" cy="186689"/>
          </a:xfrm>
          <a:prstGeom prst="rect">
            <a:avLst/>
          </a:prstGeom>
          <a:noFill/>
        </p:spPr>
        <p:txBody>
          <a:bodyPr wrap="none" lIns="0" rIns="0" tIns="0" bIns="0">
            <a:spAutoFit/>
          </a:bodyPr>
          <a:lstStyle/>
          <a:p>
            <a:r>
              <a:rPr sz="1100" b="0">
                <a:solidFill>
                  <a:srgbClr val="2E2E2E"/>
                </a:solidFill>
                <a:latin typeface="Calibri"/>
              </a:rPr>
              <a:t>respectively, against the segment average</a:t>
            </a:r>
          </a:p>
        </p:txBody>
      </p:sp>
      <p:sp>
        <p:nvSpPr>
          <p:cNvPr id="30" name="TextBox 29"/>
          <p:cNvSpPr txBox="1"/>
          <p:nvPr/>
        </p:nvSpPr>
        <p:spPr>
          <a:xfrm>
            <a:off x="257175" y="6029325"/>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31" name="Picture 30" descr="lock.png"/>
          <p:cNvPicPr>
            <a:picLocks noChangeAspect="1"/>
          </p:cNvPicPr>
          <p:nvPr/>
        </p:nvPicPr>
        <p:blipFill>
          <a:blip r:embed="rId6"/>
          <a:stretch>
            <a:fillRect/>
          </a:stretch>
        </p:blipFill>
        <p:spPr>
          <a:xfrm>
            <a:off x="397661" y="6019545"/>
            <a:ext cx="128699" cy="187198"/>
          </a:xfrm>
          <a:prstGeom prst="rect">
            <a:avLst/>
          </a:prstGeom>
        </p:spPr>
      </p:pic>
      <p:sp>
        <p:nvSpPr>
          <p:cNvPr id="32" name="TextBox 31"/>
          <p:cNvSpPr txBox="1"/>
          <p:nvPr/>
        </p:nvSpPr>
        <p:spPr>
          <a:xfrm>
            <a:off x="565157" y="6029325"/>
            <a:ext cx="11351228" cy="186689"/>
          </a:xfrm>
          <a:prstGeom prst="rect">
            <a:avLst/>
          </a:prstGeom>
          <a:noFill/>
        </p:spPr>
        <p:txBody>
          <a:bodyPr wrap="none" lIns="0" rIns="0" tIns="0" bIns="0">
            <a:spAutoFit/>
          </a:bodyPr>
          <a:lstStyle/>
          <a:p>
            <a:r>
              <a:rPr sz="1100" b="0">
                <a:solidFill>
                  <a:srgbClr val="2E2E2E"/>
                </a:solidFill>
                <a:latin typeface="Calibri"/>
              </a:rPr>
              <a:t>. The customized multi-allergen preparations segment is expected to be less attractive as compared to other segments over the forecast period, owing to its lower CAGR and incremental opportunity.</a:t>
            </a:r>
          </a:p>
        </p:txBody>
      </p:sp>
      <p:sp>
        <p:nvSpPr>
          <p:cNvPr id="33" name="TextBox 32"/>
          <p:cNvSpPr txBox="1"/>
          <p:nvPr/>
        </p:nvSpPr>
        <p:spPr>
          <a:xfrm>
            <a:off x="257175" y="6196965"/>
            <a:ext cx="4376869" cy="186689"/>
          </a:xfrm>
          <a:prstGeom prst="rect">
            <a:avLst/>
          </a:prstGeom>
          <a:noFill/>
        </p:spPr>
        <p:txBody>
          <a:bodyPr wrap="none" lIns="0" rIns="0" tIns="0" bIns="0">
            <a:spAutoFit/>
          </a:bodyPr>
          <a:lstStyle/>
          <a:p>
            <a:r>
              <a:rPr sz="1100" b="0">
                <a:solidFill>
                  <a:srgbClr val="2E2E2E"/>
                </a:solidFill>
                <a:latin typeface="Calibri"/>
              </a:rPr>
              <a:t>Bubbles right of the CAGR-Index line 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Allergen Composition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Allergen Composition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Single-Allergen Preparations</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Fixed Allergen Mixtures</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Customized Multi-Allergen Preparations</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Allergen Composition</a:t>
            </a:r>
          </a:p>
        </p:txBody>
      </p:sp>
      <p:sp>
        <p:nvSpPr>
          <p:cNvPr id="22" name="Rectangle 21"/>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3100230"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9129555" y="2330679"/>
            <a:ext cx="252890" cy="367840"/>
          </a:xfrm>
          <a:prstGeom prst="rect">
            <a:avLst/>
          </a:prstGeom>
        </p:spPr>
      </p:pic>
      <p:pic>
        <p:nvPicPr>
          <p:cNvPr id="27" name="Picture 26" descr="lock.png"/>
          <p:cNvPicPr>
            <a:picLocks noChangeAspect="1"/>
          </p:cNvPicPr>
          <p:nvPr/>
        </p:nvPicPr>
        <p:blipFill>
          <a:blip r:embed="rId7"/>
          <a:stretch>
            <a:fillRect/>
          </a:stretch>
        </p:blipFill>
        <p:spPr>
          <a:xfrm>
            <a:off x="3100230" y="5216754"/>
            <a:ext cx="252890" cy="367840"/>
          </a:xfrm>
          <a:prstGeom prst="rect">
            <a:avLst/>
          </a:prstGeom>
        </p:spPr>
      </p:pic>
      <p:sp>
        <p:nvSpPr>
          <p:cNvPr id="28" name="TextBox 27"/>
          <p:cNvSpPr txBox="1"/>
          <p:nvPr/>
        </p:nvSpPr>
        <p:spPr>
          <a:xfrm>
            <a:off x="6305550" y="4484320"/>
            <a:ext cx="4857888" cy="194310"/>
          </a:xfrm>
          <a:prstGeom prst="rect">
            <a:avLst/>
          </a:prstGeom>
          <a:noFill/>
        </p:spPr>
        <p:txBody>
          <a:bodyPr wrap="none" lIns="0" rIns="0" tIns="0" bIns="0">
            <a:spAutoFit/>
          </a:bodyPr>
          <a:lstStyle/>
          <a:p>
            <a:r>
              <a:rPr sz="1150" b="0">
                <a:solidFill>
                  <a:srgbClr val="2E2E2E"/>
                </a:solidFill>
                <a:latin typeface="Calibri"/>
              </a:rPr>
              <a:t>By 2036, fixed allergen mixtures segment is anticipated to witness an increase of</a:t>
            </a:r>
          </a:p>
        </p:txBody>
      </p:sp>
      <p:pic>
        <p:nvPicPr>
          <p:cNvPr id="29" name="Picture 28" descr="lock.png"/>
          <p:cNvPicPr>
            <a:picLocks noChangeAspect="1"/>
          </p:cNvPicPr>
          <p:nvPr/>
        </p:nvPicPr>
        <p:blipFill>
          <a:blip r:embed="rId7"/>
          <a:stretch>
            <a:fillRect/>
          </a:stretch>
        </p:blipFill>
        <p:spPr>
          <a:xfrm>
            <a:off x="11112592" y="4474096"/>
            <a:ext cx="134549" cy="195707"/>
          </a:xfrm>
          <a:prstGeom prst="rect">
            <a:avLst/>
          </a:prstGeom>
        </p:spPr>
      </p:pic>
      <p:sp>
        <p:nvSpPr>
          <p:cNvPr id="30" name="TextBox 29"/>
          <p:cNvSpPr txBox="1"/>
          <p:nvPr/>
        </p:nvSpPr>
        <p:spPr>
          <a:xfrm>
            <a:off x="11287702" y="4484320"/>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31" name="TextBox 30"/>
          <p:cNvSpPr txBox="1"/>
          <p:nvPr/>
        </p:nvSpPr>
        <p:spPr>
          <a:xfrm>
            <a:off x="6305550" y="4659580"/>
            <a:ext cx="5303477" cy="194310"/>
          </a:xfrm>
          <a:prstGeom prst="rect">
            <a:avLst/>
          </a:prstGeom>
          <a:noFill/>
        </p:spPr>
        <p:txBody>
          <a:bodyPr wrap="none" lIns="0" rIns="0" tIns="0" bIns="0">
            <a:spAutoFit/>
          </a:bodyPr>
          <a:lstStyle/>
          <a:p>
            <a:r>
              <a:rPr sz="1150" b="0">
                <a:solidFill>
                  <a:srgbClr val="2E2E2E"/>
                </a:solidFill>
                <a:latin typeface="Calibri"/>
              </a:rPr>
              <a:t>terms of value as compared to 2026. The fixed allergen mixtures segment is expected to</a:t>
            </a:r>
          </a:p>
        </p:txBody>
      </p:sp>
      <p:sp>
        <p:nvSpPr>
          <p:cNvPr id="32" name="TextBox 31"/>
          <p:cNvSpPr txBox="1"/>
          <p:nvPr/>
        </p:nvSpPr>
        <p:spPr>
          <a:xfrm>
            <a:off x="6305550" y="4834840"/>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33" name="Picture 32" descr="lock.png"/>
          <p:cNvPicPr>
            <a:picLocks noChangeAspect="1"/>
          </p:cNvPicPr>
          <p:nvPr/>
        </p:nvPicPr>
        <p:blipFill>
          <a:blip r:embed="rId7"/>
          <a:stretch>
            <a:fillRect/>
          </a:stretch>
        </p:blipFill>
        <p:spPr>
          <a:xfrm>
            <a:off x="8801773" y="4824616"/>
            <a:ext cx="134549" cy="195707"/>
          </a:xfrm>
          <a:prstGeom prst="rect">
            <a:avLst/>
          </a:prstGeom>
        </p:spPr>
      </p:pic>
      <p:sp>
        <p:nvSpPr>
          <p:cNvPr id="34" name="TextBox 33"/>
          <p:cNvSpPr txBox="1"/>
          <p:nvPr/>
        </p:nvSpPr>
        <p:spPr>
          <a:xfrm>
            <a:off x="8976882" y="4834840"/>
            <a:ext cx="2574168" cy="194310"/>
          </a:xfrm>
          <a:prstGeom prst="rect">
            <a:avLst/>
          </a:prstGeom>
          <a:noFill/>
        </p:spPr>
        <p:txBody>
          <a:bodyPr wrap="none" lIns="0" rIns="0" tIns="0" bIns="0">
            <a:spAutoFit/>
          </a:bodyPr>
          <a:lstStyle/>
          <a:p>
            <a:r>
              <a:rPr sz="1150" b="0">
                <a:solidFill>
                  <a:srgbClr val="2E2E2E"/>
                </a:solidFill>
                <a:latin typeface="Calibri"/>
              </a:rPr>
              <a:t>Mn for the overall allergy immunotherapy</a:t>
            </a:r>
          </a:p>
        </p:txBody>
      </p:sp>
      <p:sp>
        <p:nvSpPr>
          <p:cNvPr id="35" name="TextBox 34"/>
          <p:cNvSpPr txBox="1"/>
          <p:nvPr/>
        </p:nvSpPr>
        <p:spPr>
          <a:xfrm>
            <a:off x="6305550" y="5010100"/>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36" name="TextBox 35"/>
          <p:cNvSpPr txBox="1"/>
          <p:nvPr/>
        </p:nvSpPr>
        <p:spPr>
          <a:xfrm>
            <a:off x="6305550" y="5237938"/>
            <a:ext cx="5591175" cy="194310"/>
          </a:xfrm>
          <a:prstGeom prst="rect">
            <a:avLst/>
          </a:prstGeom>
          <a:noFill/>
        </p:spPr>
        <p:txBody>
          <a:bodyPr wrap="none" lIns="0" rIns="0" tIns="0" bIns="0">
            <a:spAutoFit/>
          </a:bodyPr>
          <a:lstStyle/>
          <a:p>
            <a:r>
              <a:rPr sz="1150" b="0">
                <a:solidFill>
                  <a:srgbClr val="2E2E2E"/>
                </a:solidFill>
                <a:latin typeface="Calibri"/>
              </a:rPr>
              <a:t>The Single-Allergen preparations segment is expected to create an incremental opportunity of</a:t>
            </a:r>
          </a:p>
        </p:txBody>
      </p:sp>
      <p:sp>
        <p:nvSpPr>
          <p:cNvPr id="37" name="TextBox 36"/>
          <p:cNvSpPr txBox="1"/>
          <p:nvPr/>
        </p:nvSpPr>
        <p:spPr>
          <a:xfrm>
            <a:off x="6305550" y="5413197"/>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8" name="Picture 37" descr="lock.png"/>
          <p:cNvPicPr>
            <a:picLocks noChangeAspect="1"/>
          </p:cNvPicPr>
          <p:nvPr/>
        </p:nvPicPr>
        <p:blipFill>
          <a:blip r:embed="rId7"/>
          <a:stretch>
            <a:fillRect/>
          </a:stretch>
        </p:blipFill>
        <p:spPr>
          <a:xfrm>
            <a:off x="6565953" y="5402974"/>
            <a:ext cx="134549" cy="195707"/>
          </a:xfrm>
          <a:prstGeom prst="rect">
            <a:avLst/>
          </a:prstGeom>
        </p:spPr>
      </p:pic>
      <p:sp>
        <p:nvSpPr>
          <p:cNvPr id="39" name="TextBox 38"/>
          <p:cNvSpPr txBox="1"/>
          <p:nvPr/>
        </p:nvSpPr>
        <p:spPr>
          <a:xfrm>
            <a:off x="6741062" y="5413197"/>
            <a:ext cx="4464831"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 The</a:t>
            </a:r>
          </a:p>
        </p:txBody>
      </p:sp>
      <p:sp>
        <p:nvSpPr>
          <p:cNvPr id="40" name="TextBox 39"/>
          <p:cNvSpPr txBox="1"/>
          <p:nvPr/>
        </p:nvSpPr>
        <p:spPr>
          <a:xfrm>
            <a:off x="6305550" y="5588457"/>
            <a:ext cx="5186808" cy="194310"/>
          </a:xfrm>
          <a:prstGeom prst="rect">
            <a:avLst/>
          </a:prstGeom>
          <a:noFill/>
        </p:spPr>
        <p:txBody>
          <a:bodyPr wrap="none" lIns="0" rIns="0" tIns="0" bIns="0">
            <a:spAutoFit/>
          </a:bodyPr>
          <a:lstStyle/>
          <a:p>
            <a:r>
              <a:rPr sz="1150" b="0">
                <a:solidFill>
                  <a:srgbClr val="2E2E2E"/>
                </a:solidFill>
                <a:latin typeface="Calibri"/>
              </a:rPr>
              <a:t>customized Multi-Allergen preparations segment is expected to create an incremental</a:t>
            </a:r>
          </a:p>
        </p:txBody>
      </p:sp>
      <p:sp>
        <p:nvSpPr>
          <p:cNvPr id="41" name="TextBox 40"/>
          <p:cNvSpPr txBox="1"/>
          <p:nvPr/>
        </p:nvSpPr>
        <p:spPr>
          <a:xfrm>
            <a:off x="6305550" y="5763717"/>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42" name="Picture 41" descr="lock.png"/>
          <p:cNvPicPr>
            <a:picLocks noChangeAspect="1"/>
          </p:cNvPicPr>
          <p:nvPr/>
        </p:nvPicPr>
        <p:blipFill>
          <a:blip r:embed="rId7"/>
          <a:stretch>
            <a:fillRect/>
          </a:stretch>
        </p:blipFill>
        <p:spPr>
          <a:xfrm>
            <a:off x="7463647" y="5753494"/>
            <a:ext cx="134549" cy="195707"/>
          </a:xfrm>
          <a:prstGeom prst="rect">
            <a:avLst/>
          </a:prstGeom>
        </p:spPr>
      </p:pic>
      <p:sp>
        <p:nvSpPr>
          <p:cNvPr id="43" name="TextBox 42"/>
          <p:cNvSpPr txBox="1"/>
          <p:nvPr/>
        </p:nvSpPr>
        <p:spPr>
          <a:xfrm>
            <a:off x="7638756" y="5763717"/>
            <a:ext cx="4210955"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a:t>
            </a:r>
          </a:p>
        </p:txBody>
      </p:sp>
      <p:sp>
        <p:nvSpPr>
          <p:cNvPr id="44"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Allergen Composition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Allergen Composition,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Allergen Composition (US$ Mn)</a:t>
            </a:r>
          </a:p>
        </p:txBody>
      </p:sp>
      <p:graphicFrame>
        <p:nvGraphicFramePr>
          <p:cNvPr id="13" name="Table 12"/>
          <p:cNvGraphicFramePr>
            <a:graphicFrameLocks noGrp="1"/>
          </p:cNvGraphicFramePr>
          <p:nvPr/>
        </p:nvGraphicFramePr>
        <p:xfrm>
          <a:off x="152400" y="1238250"/>
          <a:ext cx="11887204" cy="1971675"/>
        </p:xfrm>
        <a:graphic>
          <a:graphicData uri="http://schemas.openxmlformats.org/drawingml/2006/table">
            <a:tbl>
              <a:tblPr>
                <a:tableStyleId>{5C22544A-7EE6-4342-B048-85BDC9FD1C3A}</a:tableStyleId>
              </a:tblPr>
              <a:tblGrid>
                <a:gridCol w="2811278"/>
                <a:gridCol w="545177"/>
                <a:gridCol w="545177"/>
                <a:gridCol w="545177"/>
                <a:gridCol w="545177"/>
                <a:gridCol w="545177"/>
                <a:gridCol w="525973"/>
                <a:gridCol w="520486"/>
                <a:gridCol w="520486"/>
                <a:gridCol w="520486"/>
                <a:gridCol w="520486"/>
                <a:gridCol w="520486"/>
                <a:gridCol w="520486"/>
                <a:gridCol w="520486"/>
                <a:gridCol w="520486"/>
                <a:gridCol w="520486"/>
                <a:gridCol w="520486"/>
                <a:gridCol w="619208"/>
              </a:tblGrid>
              <a:tr h="246126">
                <a:tc>
                  <a:txBody>
                    <a:bodyPr wrap="none"/>
                    <a:lstStyle/>
                    <a:p>
                      <a:pPr algn="l"/>
                      <a:r>
                        <a:rPr sz="1100" b="1">
                          <a:solidFill>
                            <a:srgbClr val="0B2E4A"/>
                          </a:solidFill>
                          <a:latin typeface="Calibri"/>
                        </a:rPr>
                        <a:t>Allergen Composition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Single-Allergen Preparations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Fixed Allergen Mixtures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 Homologous Pollen Mixtures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House Dust Mite Mixtures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 Mixed Vespid Preparations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Customized Multi-Allergen Preparations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2,428</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5,439</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8.4%</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Allergen Composition</a:t>
            </a:r>
          </a:p>
        </p:txBody>
      </p:sp>
      <p:sp>
        <p:nvSpPr>
          <p:cNvPr id="17" name="Rectangle 16"/>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314951" y="2080450"/>
            <a:ext cx="366712" cy="533400"/>
          </a:xfrm>
          <a:prstGeom prst="rect">
            <a:avLst/>
          </a:prstGeom>
        </p:spPr>
      </p:pic>
      <p:sp>
        <p:nvSpPr>
          <p:cNvPr id="21" name="TextBox 20"/>
          <p:cNvSpPr txBox="1"/>
          <p:nvPr/>
        </p:nvSpPr>
        <p:spPr>
          <a:xfrm>
            <a:off x="276225" y="3971925"/>
            <a:ext cx="3380581" cy="194310"/>
          </a:xfrm>
          <a:prstGeom prst="rect">
            <a:avLst/>
          </a:prstGeom>
          <a:noFill/>
        </p:spPr>
        <p:txBody>
          <a:bodyPr wrap="none" lIns="0" rIns="0" tIns="0" bIns="0">
            <a:spAutoFit/>
          </a:bodyPr>
          <a:lstStyle/>
          <a:p>
            <a:r>
              <a:rPr sz="1150" b="0">
                <a:solidFill>
                  <a:srgbClr val="2E2E2E"/>
                </a:solidFill>
                <a:latin typeface="Calibri"/>
              </a:rPr>
              <a:t>Fixed allergen mixtures segment is projected to register</a:t>
            </a:r>
          </a:p>
        </p:txBody>
      </p:sp>
      <p:pic>
        <p:nvPicPr>
          <p:cNvPr id="22" name="Picture 21" descr="lock.png"/>
          <p:cNvPicPr>
            <a:picLocks noChangeAspect="1"/>
          </p:cNvPicPr>
          <p:nvPr/>
        </p:nvPicPr>
        <p:blipFill>
          <a:blip r:embed="rId4"/>
          <a:stretch>
            <a:fillRect/>
          </a:stretch>
        </p:blipFill>
        <p:spPr>
          <a:xfrm>
            <a:off x="3605960" y="3961701"/>
            <a:ext cx="134549" cy="195707"/>
          </a:xfrm>
          <a:prstGeom prst="rect">
            <a:avLst/>
          </a:prstGeom>
        </p:spPr>
      </p:pic>
      <p:sp>
        <p:nvSpPr>
          <p:cNvPr id="23" name="TextBox 22"/>
          <p:cNvSpPr txBox="1"/>
          <p:nvPr/>
        </p:nvSpPr>
        <p:spPr>
          <a:xfrm>
            <a:off x="3781069" y="3971925"/>
            <a:ext cx="7346751" cy="194310"/>
          </a:xfrm>
          <a:prstGeom prst="rect">
            <a:avLst/>
          </a:prstGeom>
          <a:noFill/>
        </p:spPr>
        <p:txBody>
          <a:bodyPr wrap="none" lIns="0" rIns="0" tIns="0" bIns="0">
            <a:spAutoFit/>
          </a:bodyPr>
          <a:lstStyle/>
          <a:p>
            <a:r>
              <a:rPr sz="1150" b="0">
                <a:solidFill>
                  <a:srgbClr val="2E2E2E"/>
                </a:solidFill>
                <a:latin typeface="Calibri"/>
              </a:rPr>
              <a:t>X higher value than single-allergen preparations segment in 2036. Among allergy immunotherapy by allergen composition,</a:t>
            </a:r>
          </a:p>
        </p:txBody>
      </p:sp>
      <p:sp>
        <p:nvSpPr>
          <p:cNvPr id="24" name="TextBox 23"/>
          <p:cNvSpPr txBox="1"/>
          <p:nvPr/>
        </p:nvSpPr>
        <p:spPr>
          <a:xfrm>
            <a:off x="276225" y="4147185"/>
            <a:ext cx="4851047" cy="194310"/>
          </a:xfrm>
          <a:prstGeom prst="rect">
            <a:avLst/>
          </a:prstGeom>
          <a:noFill/>
        </p:spPr>
        <p:txBody>
          <a:bodyPr wrap="none" lIns="0" rIns="0" tIns="0" bIns="0">
            <a:spAutoFit/>
          </a:bodyPr>
          <a:lstStyle/>
          <a:p>
            <a:r>
              <a:rPr sz="1150" b="0">
                <a:solidFill>
                  <a:srgbClr val="2E2E2E"/>
                </a:solidFill>
                <a:latin typeface="Calibri"/>
              </a:rPr>
              <a:t>single-allergen preparations segment is expected to witness the highest CAGR of</a:t>
            </a:r>
          </a:p>
        </p:txBody>
      </p:sp>
      <p:pic>
        <p:nvPicPr>
          <p:cNvPr id="25" name="Picture 24" descr="lock.png"/>
          <p:cNvPicPr>
            <a:picLocks noChangeAspect="1"/>
          </p:cNvPicPr>
          <p:nvPr/>
        </p:nvPicPr>
        <p:blipFill>
          <a:blip r:embed="rId4"/>
          <a:stretch>
            <a:fillRect/>
          </a:stretch>
        </p:blipFill>
        <p:spPr>
          <a:xfrm>
            <a:off x="5076426" y="4136961"/>
            <a:ext cx="134549" cy="195707"/>
          </a:xfrm>
          <a:prstGeom prst="rect">
            <a:avLst/>
          </a:prstGeom>
        </p:spPr>
      </p:pic>
      <p:sp>
        <p:nvSpPr>
          <p:cNvPr id="26" name="TextBox 25"/>
          <p:cNvSpPr txBox="1"/>
          <p:nvPr/>
        </p:nvSpPr>
        <p:spPr>
          <a:xfrm>
            <a:off x="5251535"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375022"/>
            <a:ext cx="7673937" cy="194310"/>
          </a:xfrm>
          <a:prstGeom prst="rect">
            <a:avLst/>
          </a:prstGeom>
          <a:noFill/>
        </p:spPr>
        <p:txBody>
          <a:bodyPr wrap="none" lIns="0" rIns="0" tIns="0" bIns="0">
            <a:spAutoFit/>
          </a:bodyPr>
          <a:lstStyle/>
          <a:p>
            <a:r>
              <a:rPr sz="1150" b="0">
                <a:solidFill>
                  <a:srgbClr val="2E2E2E"/>
                </a:solidFill>
                <a:latin typeface="Calibri"/>
              </a:rPr>
              <a:t>In terms of value share by allergen composition, the fixed allergen mixtures segment is expected to dominate the market, losing</a:t>
            </a:r>
          </a:p>
        </p:txBody>
      </p:sp>
      <p:pic>
        <p:nvPicPr>
          <p:cNvPr id="28" name="Picture 27" descr="lock.png"/>
          <p:cNvPicPr>
            <a:picLocks noChangeAspect="1"/>
          </p:cNvPicPr>
          <p:nvPr/>
        </p:nvPicPr>
        <p:blipFill>
          <a:blip r:embed="rId4"/>
          <a:stretch>
            <a:fillRect/>
          </a:stretch>
        </p:blipFill>
        <p:spPr>
          <a:xfrm>
            <a:off x="7899316" y="4364799"/>
            <a:ext cx="134549" cy="195707"/>
          </a:xfrm>
          <a:prstGeom prst="rect">
            <a:avLst/>
          </a:prstGeom>
        </p:spPr>
      </p:pic>
      <p:sp>
        <p:nvSpPr>
          <p:cNvPr id="29" name="TextBox 28"/>
          <p:cNvSpPr txBox="1"/>
          <p:nvPr/>
        </p:nvSpPr>
        <p:spPr>
          <a:xfrm>
            <a:off x="8074426"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9469569" y="4364799"/>
            <a:ext cx="134549" cy="195707"/>
          </a:xfrm>
          <a:prstGeom prst="rect">
            <a:avLst/>
          </a:prstGeom>
        </p:spPr>
      </p:pic>
      <p:sp>
        <p:nvSpPr>
          <p:cNvPr id="31" name="TextBox 30"/>
          <p:cNvSpPr txBox="1"/>
          <p:nvPr/>
        </p:nvSpPr>
        <p:spPr>
          <a:xfrm>
            <a:off x="9644678"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Allergen Composition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Allergen Composition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Allergen Composition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806701"/>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180193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72573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Customized Multi-Allergen Preparations</a:t>
            </a:r>
          </a:p>
        </p:txBody>
      </p:sp>
      <p:sp>
        <p:nvSpPr>
          <p:cNvPr id="19" name="BPS Value 1"/>
          <p:cNvSpPr txBox="1"/>
          <p:nvPr/>
        </p:nvSpPr>
        <p:spPr>
          <a:xfrm>
            <a:off x="6896100" y="178765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928997" y="241881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41405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33785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Single-Allergen Preparations</a:t>
            </a:r>
          </a:p>
        </p:txBody>
      </p:sp>
      <p:sp>
        <p:nvSpPr>
          <p:cNvPr id="23" name="BPS Value 2"/>
          <p:cNvSpPr txBox="1"/>
          <p:nvPr/>
        </p:nvSpPr>
        <p:spPr>
          <a:xfrm>
            <a:off x="6896100" y="239976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928997" y="4569559"/>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456479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448859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Fixed Allergen Mixtures</a:t>
            </a:r>
          </a:p>
        </p:txBody>
      </p:sp>
      <p:sp>
        <p:nvSpPr>
          <p:cNvPr id="27" name="BPS Value 3"/>
          <p:cNvSpPr txBox="1"/>
          <p:nvPr/>
        </p:nvSpPr>
        <p:spPr>
          <a:xfrm>
            <a:off x="6896100" y="455050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Allergen Composition</a:t>
            </a:r>
          </a:p>
        </p:txBody>
      </p:sp>
      <p:sp>
        <p:nvSpPr>
          <p:cNvPr id="30" name="Rectangle 29"/>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5"/>
          <a:stretch>
            <a:fillRect/>
          </a:stretch>
        </p:blipFill>
        <p:spPr>
          <a:xfrm>
            <a:off x="2557843" y="3833622"/>
            <a:ext cx="275034" cy="400050"/>
          </a:xfrm>
          <a:prstGeom prst="rect">
            <a:avLst/>
          </a:prstGeom>
        </p:spPr>
      </p:pic>
      <p:sp>
        <p:nvSpPr>
          <p:cNvPr id="34" name="TextBox 33"/>
          <p:cNvSpPr txBox="1"/>
          <p:nvPr/>
        </p:nvSpPr>
        <p:spPr>
          <a:xfrm>
            <a:off x="7829550" y="1400175"/>
            <a:ext cx="3416237" cy="194310"/>
          </a:xfrm>
          <a:prstGeom prst="rect">
            <a:avLst/>
          </a:prstGeom>
          <a:noFill/>
        </p:spPr>
        <p:txBody>
          <a:bodyPr wrap="none" lIns="0" rIns="0" tIns="0" bIns="0">
            <a:spAutoFit/>
          </a:bodyPr>
          <a:lstStyle/>
          <a:p>
            <a:r>
              <a:rPr sz="1150" b="0">
                <a:solidFill>
                  <a:srgbClr val="2E2E2E"/>
                </a:solidFill>
                <a:latin typeface="Calibri"/>
              </a:rPr>
              <a:t>Among allergy immunotherapy by allergen composition,</a:t>
            </a:r>
          </a:p>
        </p:txBody>
      </p:sp>
      <p:sp>
        <p:nvSpPr>
          <p:cNvPr id="35" name="TextBox 34"/>
          <p:cNvSpPr txBox="1"/>
          <p:nvPr/>
        </p:nvSpPr>
        <p:spPr>
          <a:xfrm>
            <a:off x="7829550" y="1575435"/>
            <a:ext cx="3861804" cy="194310"/>
          </a:xfrm>
          <a:prstGeom prst="rect">
            <a:avLst/>
          </a:prstGeom>
          <a:noFill/>
        </p:spPr>
        <p:txBody>
          <a:bodyPr wrap="none" lIns="0" rIns="0" tIns="0" bIns="0">
            <a:spAutoFit/>
          </a:bodyPr>
          <a:lstStyle/>
          <a:p>
            <a:r>
              <a:rPr sz="1150" b="0">
                <a:solidFill>
                  <a:srgbClr val="2E2E2E"/>
                </a:solidFill>
                <a:latin typeface="Calibri"/>
              </a:rPr>
              <a:t>single-allergen preparations segment is expected to witness the</a:t>
            </a:r>
          </a:p>
        </p:txBody>
      </p:sp>
      <p:sp>
        <p:nvSpPr>
          <p:cNvPr id="36" name="TextBox 35"/>
          <p:cNvSpPr txBox="1"/>
          <p:nvPr/>
        </p:nvSpPr>
        <p:spPr>
          <a:xfrm>
            <a:off x="7829550" y="175069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37" name="Picture 36" descr="lock.png"/>
          <p:cNvPicPr>
            <a:picLocks noChangeAspect="1"/>
          </p:cNvPicPr>
          <p:nvPr/>
        </p:nvPicPr>
        <p:blipFill>
          <a:blip r:embed="rId5"/>
          <a:stretch>
            <a:fillRect/>
          </a:stretch>
        </p:blipFill>
        <p:spPr>
          <a:xfrm>
            <a:off x="8811057" y="1740471"/>
            <a:ext cx="134549" cy="195707"/>
          </a:xfrm>
          <a:prstGeom prst="rect">
            <a:avLst/>
          </a:prstGeom>
        </p:spPr>
      </p:pic>
      <p:sp>
        <p:nvSpPr>
          <p:cNvPr id="38" name="TextBox 37"/>
          <p:cNvSpPr txBox="1"/>
          <p:nvPr/>
        </p:nvSpPr>
        <p:spPr>
          <a:xfrm>
            <a:off x="8986166"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9" name="TextBox 38"/>
          <p:cNvSpPr txBox="1"/>
          <p:nvPr/>
        </p:nvSpPr>
        <p:spPr>
          <a:xfrm>
            <a:off x="7829550" y="1978533"/>
            <a:ext cx="3999011" cy="194310"/>
          </a:xfrm>
          <a:prstGeom prst="rect">
            <a:avLst/>
          </a:prstGeom>
          <a:noFill/>
        </p:spPr>
        <p:txBody>
          <a:bodyPr wrap="none" lIns="0" rIns="0" tIns="0" bIns="0">
            <a:spAutoFit/>
          </a:bodyPr>
          <a:lstStyle/>
          <a:p>
            <a:r>
              <a:rPr sz="1150" b="0">
                <a:solidFill>
                  <a:srgbClr val="2E2E2E"/>
                </a:solidFill>
                <a:latin typeface="Calibri"/>
              </a:rPr>
              <a:t>In terms of value share by allergen composition, the fixed allergen</a:t>
            </a:r>
          </a:p>
        </p:txBody>
      </p:sp>
      <p:sp>
        <p:nvSpPr>
          <p:cNvPr id="40" name="TextBox 39"/>
          <p:cNvSpPr txBox="1"/>
          <p:nvPr/>
        </p:nvSpPr>
        <p:spPr>
          <a:xfrm>
            <a:off x="7829550" y="2153793"/>
            <a:ext cx="3718036" cy="194310"/>
          </a:xfrm>
          <a:prstGeom prst="rect">
            <a:avLst/>
          </a:prstGeom>
          <a:noFill/>
        </p:spPr>
        <p:txBody>
          <a:bodyPr wrap="none" lIns="0" rIns="0" tIns="0" bIns="0">
            <a:spAutoFit/>
          </a:bodyPr>
          <a:lstStyle/>
          <a:p>
            <a:r>
              <a:rPr sz="1150" b="0">
                <a:solidFill>
                  <a:srgbClr val="2E2E2E"/>
                </a:solidFill>
                <a:latin typeface="Calibri"/>
              </a:rPr>
              <a:t>mixtures segment is expected to dominate the market, losing</a:t>
            </a:r>
          </a:p>
        </p:txBody>
      </p:sp>
      <p:pic>
        <p:nvPicPr>
          <p:cNvPr id="41" name="Picture 40" descr="lock.png"/>
          <p:cNvPicPr>
            <a:picLocks noChangeAspect="1"/>
          </p:cNvPicPr>
          <p:nvPr/>
        </p:nvPicPr>
        <p:blipFill>
          <a:blip r:embed="rId5"/>
          <a:stretch>
            <a:fillRect/>
          </a:stretch>
        </p:blipFill>
        <p:spPr>
          <a:xfrm>
            <a:off x="11496740" y="2143569"/>
            <a:ext cx="134549" cy="195707"/>
          </a:xfrm>
          <a:prstGeom prst="rect">
            <a:avLst/>
          </a:prstGeom>
        </p:spPr>
      </p:pic>
      <p:sp>
        <p:nvSpPr>
          <p:cNvPr id="42" name="TextBox 41"/>
          <p:cNvSpPr txBox="1"/>
          <p:nvPr/>
        </p:nvSpPr>
        <p:spPr>
          <a:xfrm>
            <a:off x="7829550"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3" name="Picture 42" descr="lock.png"/>
          <p:cNvPicPr>
            <a:picLocks noChangeAspect="1"/>
          </p:cNvPicPr>
          <p:nvPr/>
        </p:nvPicPr>
        <p:blipFill>
          <a:blip r:embed="rId5"/>
          <a:stretch>
            <a:fillRect/>
          </a:stretch>
        </p:blipFill>
        <p:spPr>
          <a:xfrm>
            <a:off x="9224693" y="2318829"/>
            <a:ext cx="134549" cy="195707"/>
          </a:xfrm>
          <a:prstGeom prst="rect">
            <a:avLst/>
          </a:prstGeom>
        </p:spPr>
      </p:pic>
      <p:sp>
        <p:nvSpPr>
          <p:cNvPr id="44" name="TextBox 43"/>
          <p:cNvSpPr txBox="1"/>
          <p:nvPr/>
        </p:nvSpPr>
        <p:spPr>
          <a:xfrm>
            <a:off x="9399802"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Sales / Procurement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 Procurement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Sales / Procurement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Sales / Procurement Channel,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Sales / Procurement Channel segment categorizes the market by sales / procurement channel.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Direct-to-Allergy Clinics</a:t>
            </a:r>
          </a:p>
        </p:txBody>
      </p:sp>
      <p:sp>
        <p:nvSpPr>
          <p:cNvPr id="23" name="Rectangle 22"/>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Hospital Procurement</a:t>
            </a:r>
          </a:p>
        </p:txBody>
      </p:sp>
      <p:sp>
        <p:nvSpPr>
          <p:cNvPr id="30" name="Rectangle 29"/>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Mail-order Pharmacy</a:t>
            </a:r>
          </a:p>
        </p:txBody>
      </p:sp>
      <p:sp>
        <p:nvSpPr>
          <p:cNvPr id="37" name="Rectangle 36"/>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Pharmaceutical Distributor</a:t>
            </a:r>
          </a:p>
        </p:txBody>
      </p:sp>
      <p:sp>
        <p:nvSpPr>
          <p:cNvPr id="44" name="Rectangle 43"/>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Retail Pharmacy</a:t>
            </a:r>
          </a:p>
        </p:txBody>
      </p:sp>
      <p:sp>
        <p:nvSpPr>
          <p:cNvPr id="51" name="Rectangle 50"/>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Rectangle 52"/>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4" name="Oval 53"/>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7" name="Rectangle 56"/>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9" name="Rounded Rectangle 5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1" name="Rectangle 60"/>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3" name="Rounded Rectangle 6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5" name="Rectangle 64"/>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Sales / Procurement Channel split shows how demand is distributed across sales / procurement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7" name="Rectangle 6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Sales / Procurement Channel segment is projected to grow at a CAGR of 8.4% from 2026 to 2036.</a:t>
            </a:r>
          </a:p>
        </p:txBody>
      </p:sp>
      <p:sp>
        <p:nvSpPr>
          <p:cNvPr id="69" name="TextBox 68"/>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0" name="TextBox 6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1" name="Picture 70" descr="1_043_605E5C.png"/>
          <p:cNvPicPr>
            <a:picLocks noChangeAspect="1"/>
          </p:cNvPicPr>
          <p:nvPr/>
        </p:nvPicPr>
        <p:blipFill>
          <a:blip r:embed="rId4"/>
          <a:stretch>
            <a:fillRect/>
          </a:stretch>
        </p:blipFill>
        <p:spPr>
          <a:xfrm>
            <a:off x="2223441" y="2286582"/>
            <a:ext cx="1195728" cy="361950"/>
          </a:xfrm>
          <a:prstGeom prst="rect">
            <a:avLst/>
          </a:prstGeom>
        </p:spPr>
      </p:pic>
      <p:pic>
        <p:nvPicPr>
          <p:cNvPr id="72" name="Picture 71" descr="2_250_605E5C.png"/>
          <p:cNvPicPr>
            <a:picLocks noChangeAspect="1"/>
          </p:cNvPicPr>
          <p:nvPr/>
        </p:nvPicPr>
        <p:blipFill>
          <a:blip r:embed="rId5"/>
          <a:stretch>
            <a:fillRect/>
          </a:stretch>
        </p:blipFill>
        <p:spPr>
          <a:xfrm>
            <a:off x="2223441" y="2779432"/>
            <a:ext cx="1195728" cy="361950"/>
          </a:xfrm>
          <a:prstGeom prst="rect">
            <a:avLst/>
          </a:prstGeom>
        </p:spPr>
      </p:pic>
      <p:pic>
        <p:nvPicPr>
          <p:cNvPr id="73" name="Picture 72" descr="8_0__605E5C.png"/>
          <p:cNvPicPr>
            <a:picLocks noChangeAspect="1"/>
          </p:cNvPicPr>
          <p:nvPr/>
        </p:nvPicPr>
        <p:blipFill>
          <a:blip r:embed="rId6"/>
          <a:stretch>
            <a:fillRect/>
          </a:stretch>
        </p:blipFill>
        <p:spPr>
          <a:xfrm>
            <a:off x="2330087" y="3272281"/>
            <a:ext cx="982436" cy="361950"/>
          </a:xfrm>
          <a:prstGeom prst="rect">
            <a:avLst/>
          </a:prstGeom>
        </p:spPr>
      </p:pic>
      <p:pic>
        <p:nvPicPr>
          <p:cNvPr id="74" name="Picture 73" descr="492_9_605E5C.png"/>
          <p:cNvPicPr>
            <a:picLocks noChangeAspect="1"/>
          </p:cNvPicPr>
          <p:nvPr/>
        </p:nvPicPr>
        <p:blipFill>
          <a:blip r:embed="rId7"/>
          <a:stretch>
            <a:fillRect/>
          </a:stretch>
        </p:blipFill>
        <p:spPr>
          <a:xfrm>
            <a:off x="4246551" y="2286582"/>
            <a:ext cx="1195728" cy="361950"/>
          </a:xfrm>
          <a:prstGeom prst="rect">
            <a:avLst/>
          </a:prstGeom>
        </p:spPr>
      </p:pic>
      <p:pic>
        <p:nvPicPr>
          <p:cNvPr id="75" name="Picture 74" descr="906_9_605E5C.png"/>
          <p:cNvPicPr>
            <a:picLocks noChangeAspect="1"/>
          </p:cNvPicPr>
          <p:nvPr/>
        </p:nvPicPr>
        <p:blipFill>
          <a:blip r:embed="rId8"/>
          <a:stretch>
            <a:fillRect/>
          </a:stretch>
        </p:blipFill>
        <p:spPr>
          <a:xfrm>
            <a:off x="4246551" y="2779432"/>
            <a:ext cx="1195728" cy="361950"/>
          </a:xfrm>
          <a:prstGeom prst="rect">
            <a:avLst/>
          </a:prstGeom>
        </p:spPr>
      </p:pic>
      <p:pic>
        <p:nvPicPr>
          <p:cNvPr id="76" name="Picture 75" descr="6_3__605E5C.png"/>
          <p:cNvPicPr>
            <a:picLocks noChangeAspect="1"/>
          </p:cNvPicPr>
          <p:nvPr/>
        </p:nvPicPr>
        <p:blipFill>
          <a:blip r:embed="rId9"/>
          <a:stretch>
            <a:fillRect/>
          </a:stretch>
        </p:blipFill>
        <p:spPr>
          <a:xfrm>
            <a:off x="4353197" y="3272281"/>
            <a:ext cx="982436" cy="361950"/>
          </a:xfrm>
          <a:prstGeom prst="rect">
            <a:avLst/>
          </a:prstGeom>
        </p:spPr>
      </p:pic>
      <p:pic>
        <p:nvPicPr>
          <p:cNvPr id="77" name="Picture 76" descr="457_4_605E5C.png"/>
          <p:cNvPicPr>
            <a:picLocks noChangeAspect="1"/>
          </p:cNvPicPr>
          <p:nvPr/>
        </p:nvPicPr>
        <p:blipFill>
          <a:blip r:embed="rId10"/>
          <a:stretch>
            <a:fillRect/>
          </a:stretch>
        </p:blipFill>
        <p:spPr>
          <a:xfrm>
            <a:off x="6269661" y="2286582"/>
            <a:ext cx="1195728" cy="361950"/>
          </a:xfrm>
          <a:prstGeom prst="rect">
            <a:avLst/>
          </a:prstGeom>
        </p:spPr>
      </p:pic>
      <p:pic>
        <p:nvPicPr>
          <p:cNvPr id="78" name="Picture 77" descr="999_4_605E5C.png"/>
          <p:cNvPicPr>
            <a:picLocks noChangeAspect="1"/>
          </p:cNvPicPr>
          <p:nvPr/>
        </p:nvPicPr>
        <p:blipFill>
          <a:blip r:embed="rId11"/>
          <a:stretch>
            <a:fillRect/>
          </a:stretch>
        </p:blipFill>
        <p:spPr>
          <a:xfrm>
            <a:off x="6269661" y="2779432"/>
            <a:ext cx="1195728" cy="361950"/>
          </a:xfrm>
          <a:prstGeom prst="rect">
            <a:avLst/>
          </a:prstGeom>
        </p:spPr>
      </p:pic>
      <p:pic>
        <p:nvPicPr>
          <p:cNvPr id="79" name="Picture 78" descr="8_1__605E5C.png"/>
          <p:cNvPicPr>
            <a:picLocks noChangeAspect="1"/>
          </p:cNvPicPr>
          <p:nvPr/>
        </p:nvPicPr>
        <p:blipFill>
          <a:blip r:embed="rId12"/>
          <a:stretch>
            <a:fillRect/>
          </a:stretch>
        </p:blipFill>
        <p:spPr>
          <a:xfrm>
            <a:off x="6376307" y="3272281"/>
            <a:ext cx="982436" cy="361950"/>
          </a:xfrm>
          <a:prstGeom prst="rect">
            <a:avLst/>
          </a:prstGeom>
        </p:spPr>
      </p:pic>
      <p:pic>
        <p:nvPicPr>
          <p:cNvPr id="80" name="Picture 79" descr="250_8_605E5C.png"/>
          <p:cNvPicPr>
            <a:picLocks noChangeAspect="1"/>
          </p:cNvPicPr>
          <p:nvPr/>
        </p:nvPicPr>
        <p:blipFill>
          <a:blip r:embed="rId13"/>
          <a:stretch>
            <a:fillRect/>
          </a:stretch>
        </p:blipFill>
        <p:spPr>
          <a:xfrm>
            <a:off x="8292771" y="2286582"/>
            <a:ext cx="1195728" cy="361950"/>
          </a:xfrm>
          <a:prstGeom prst="rect">
            <a:avLst/>
          </a:prstGeom>
        </p:spPr>
      </p:pic>
      <p:pic>
        <p:nvPicPr>
          <p:cNvPr id="81" name="Picture 80" descr="718_7_605E5C.png"/>
          <p:cNvPicPr>
            <a:picLocks noChangeAspect="1"/>
          </p:cNvPicPr>
          <p:nvPr/>
        </p:nvPicPr>
        <p:blipFill>
          <a:blip r:embed="rId14"/>
          <a:stretch>
            <a:fillRect/>
          </a:stretch>
        </p:blipFill>
        <p:spPr>
          <a:xfrm>
            <a:off x="8292771" y="2779432"/>
            <a:ext cx="1195728" cy="361950"/>
          </a:xfrm>
          <a:prstGeom prst="rect">
            <a:avLst/>
          </a:prstGeom>
        </p:spPr>
      </p:pic>
      <p:pic>
        <p:nvPicPr>
          <p:cNvPr id="82" name="Picture 81" descr="11_1__605E5C.png"/>
          <p:cNvPicPr>
            <a:picLocks noChangeAspect="1"/>
          </p:cNvPicPr>
          <p:nvPr/>
        </p:nvPicPr>
        <p:blipFill>
          <a:blip r:embed="rId15"/>
          <a:stretch>
            <a:fillRect/>
          </a:stretch>
        </p:blipFill>
        <p:spPr>
          <a:xfrm>
            <a:off x="8292771" y="3272281"/>
            <a:ext cx="1195728" cy="361950"/>
          </a:xfrm>
          <a:prstGeom prst="rect">
            <a:avLst/>
          </a:prstGeom>
        </p:spPr>
      </p:pic>
      <p:pic>
        <p:nvPicPr>
          <p:cNvPr id="83" name="Picture 82" descr="183_6_605E5C.png"/>
          <p:cNvPicPr>
            <a:picLocks noChangeAspect="1"/>
          </p:cNvPicPr>
          <p:nvPr/>
        </p:nvPicPr>
        <p:blipFill>
          <a:blip r:embed="rId16"/>
          <a:stretch>
            <a:fillRect/>
          </a:stretch>
        </p:blipFill>
        <p:spPr>
          <a:xfrm>
            <a:off x="10315881" y="2286582"/>
            <a:ext cx="1195728" cy="361950"/>
          </a:xfrm>
          <a:prstGeom prst="rect">
            <a:avLst/>
          </a:prstGeom>
        </p:spPr>
      </p:pic>
      <p:pic>
        <p:nvPicPr>
          <p:cNvPr id="84" name="Picture 83" descr="563_5_605E5C.png"/>
          <p:cNvPicPr>
            <a:picLocks noChangeAspect="1"/>
          </p:cNvPicPr>
          <p:nvPr/>
        </p:nvPicPr>
        <p:blipFill>
          <a:blip r:embed="rId17"/>
          <a:stretch>
            <a:fillRect/>
          </a:stretch>
        </p:blipFill>
        <p:spPr>
          <a:xfrm>
            <a:off x="10315881" y="2779432"/>
            <a:ext cx="1195728" cy="361950"/>
          </a:xfrm>
          <a:prstGeom prst="rect">
            <a:avLst/>
          </a:prstGeom>
        </p:spPr>
      </p:pic>
      <p:pic>
        <p:nvPicPr>
          <p:cNvPr id="85" name="Picture 84" descr="11_9__605E5C.png"/>
          <p:cNvPicPr>
            <a:picLocks noChangeAspect="1"/>
          </p:cNvPicPr>
          <p:nvPr/>
        </p:nvPicPr>
        <p:blipFill>
          <a:blip r:embed="rId18"/>
          <a:stretch>
            <a:fillRect/>
          </a:stretch>
        </p:blipFill>
        <p:spPr>
          <a:xfrm>
            <a:off x="10315881" y="3272281"/>
            <a:ext cx="1195728" cy="361950"/>
          </a:xfrm>
          <a:prstGeom prst="rect">
            <a:avLst/>
          </a:prstGeom>
        </p:spPr>
      </p:pic>
      <p:pic>
        <p:nvPicPr>
          <p:cNvPr id="86" name="Picture 85" descr="lock.png"/>
          <p:cNvPicPr>
            <a:picLocks noChangeAspect="1"/>
          </p:cNvPicPr>
          <p:nvPr/>
        </p:nvPicPr>
        <p:blipFill>
          <a:blip r:embed="rId19"/>
          <a:stretch>
            <a:fillRect/>
          </a:stretch>
        </p:blipFill>
        <p:spPr>
          <a:xfrm>
            <a:off x="272796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475107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677418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8797290" y="2827057"/>
            <a:ext cx="183356" cy="266700"/>
          </a:xfrm>
          <a:prstGeom prst="rect">
            <a:avLst/>
          </a:prstGeom>
        </p:spPr>
      </p:pic>
      <p:pic>
        <p:nvPicPr>
          <p:cNvPr id="90" name="Picture 89" descr="lock.png"/>
          <p:cNvPicPr>
            <a:picLocks noChangeAspect="1"/>
          </p:cNvPicPr>
          <p:nvPr/>
        </p:nvPicPr>
        <p:blipFill>
          <a:blip r:embed="rId19"/>
          <a:stretch>
            <a:fillRect/>
          </a:stretch>
        </p:blipFill>
        <p:spPr>
          <a:xfrm>
            <a:off x="10820400" y="2827057"/>
            <a:ext cx="183356" cy="266700"/>
          </a:xfrm>
          <a:prstGeom prst="rect">
            <a:avLst/>
          </a:prstGeom>
        </p:spPr>
      </p:pic>
      <p:sp>
        <p:nvSpPr>
          <p:cNvPr id="91" name="TextBox 90"/>
          <p:cNvSpPr txBox="1"/>
          <p:nvPr/>
        </p:nvSpPr>
        <p:spPr>
          <a:xfrm>
            <a:off x="485775" y="4229437"/>
            <a:ext cx="2404988" cy="186689"/>
          </a:xfrm>
          <a:prstGeom prst="rect">
            <a:avLst/>
          </a:prstGeom>
          <a:noFill/>
        </p:spPr>
        <p:txBody>
          <a:bodyPr wrap="none" lIns="0" rIns="0" tIns="0" bIns="0">
            <a:spAutoFit/>
          </a:bodyPr>
          <a:lstStyle/>
          <a:p>
            <a:r>
              <a:rPr sz="1100" b="0">
                <a:solidFill>
                  <a:srgbClr val="2E2E2E"/>
                </a:solidFill>
                <a:latin typeface="Calibri"/>
              </a:rPr>
              <a:t>Among allergy immunotherapy by sales /</a:t>
            </a:r>
          </a:p>
        </p:txBody>
      </p:sp>
      <p:sp>
        <p:nvSpPr>
          <p:cNvPr id="92" name="TextBox 91"/>
          <p:cNvSpPr txBox="1"/>
          <p:nvPr/>
        </p:nvSpPr>
        <p:spPr>
          <a:xfrm>
            <a:off x="485775" y="4397077"/>
            <a:ext cx="2904033" cy="186689"/>
          </a:xfrm>
          <a:prstGeom prst="rect">
            <a:avLst/>
          </a:prstGeom>
          <a:noFill/>
        </p:spPr>
        <p:txBody>
          <a:bodyPr wrap="none" lIns="0" rIns="0" tIns="0" bIns="0">
            <a:spAutoFit/>
          </a:bodyPr>
          <a:lstStyle/>
          <a:p>
            <a:r>
              <a:rPr sz="1100" b="0">
                <a:solidFill>
                  <a:srgbClr val="2E2E2E"/>
                </a:solidFill>
                <a:latin typeface="Calibri"/>
              </a:rPr>
              <a:t>procurement channel, retail pharmacy segment is</a:t>
            </a:r>
          </a:p>
        </p:txBody>
      </p:sp>
      <p:sp>
        <p:nvSpPr>
          <p:cNvPr id="93" name="TextBox 92"/>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94" name="Picture 93" descr="lock.png"/>
          <p:cNvPicPr>
            <a:picLocks noChangeAspect="1"/>
          </p:cNvPicPr>
          <p:nvPr/>
        </p:nvPicPr>
        <p:blipFill>
          <a:blip r:embed="rId19"/>
          <a:stretch>
            <a:fillRect/>
          </a:stretch>
        </p:blipFill>
        <p:spPr>
          <a:xfrm>
            <a:off x="2815059" y="4554938"/>
            <a:ext cx="128699" cy="187198"/>
          </a:xfrm>
          <a:prstGeom prst="rect">
            <a:avLst/>
          </a:prstGeom>
        </p:spPr>
      </p:pic>
      <p:sp>
        <p:nvSpPr>
          <p:cNvPr id="95" name="TextBox 94"/>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96" name="TextBox 95"/>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97" name="TextBox 96"/>
          <p:cNvSpPr txBox="1"/>
          <p:nvPr/>
        </p:nvSpPr>
        <p:spPr>
          <a:xfrm>
            <a:off x="485775" y="4899997"/>
            <a:ext cx="2902669" cy="186689"/>
          </a:xfrm>
          <a:prstGeom prst="rect">
            <a:avLst/>
          </a:prstGeom>
          <a:noFill/>
        </p:spPr>
        <p:txBody>
          <a:bodyPr wrap="none" lIns="0" rIns="0" tIns="0" bIns="0">
            <a:spAutoFit/>
          </a:bodyPr>
          <a:lstStyle/>
          <a:p>
            <a:r>
              <a:rPr sz="1100" b="0">
                <a:solidFill>
                  <a:srgbClr val="2E2E2E"/>
                </a:solidFill>
                <a:latin typeface="Calibri"/>
              </a:rPr>
              <a:t>sales / procurement channel, the direct-to-allergy</a:t>
            </a:r>
          </a:p>
        </p:txBody>
      </p:sp>
      <p:sp>
        <p:nvSpPr>
          <p:cNvPr id="98" name="TextBox 97"/>
          <p:cNvSpPr txBox="1"/>
          <p:nvPr/>
        </p:nvSpPr>
        <p:spPr>
          <a:xfrm>
            <a:off x="485775" y="5067637"/>
            <a:ext cx="2567607" cy="186689"/>
          </a:xfrm>
          <a:prstGeom prst="rect">
            <a:avLst/>
          </a:prstGeom>
          <a:noFill/>
        </p:spPr>
        <p:txBody>
          <a:bodyPr wrap="none" lIns="0" rIns="0" tIns="0" bIns="0">
            <a:spAutoFit/>
          </a:bodyPr>
          <a:lstStyle/>
          <a:p>
            <a:r>
              <a:rPr sz="1100" b="0">
                <a:solidFill>
                  <a:srgbClr val="2E2E2E"/>
                </a:solidFill>
                <a:latin typeface="Calibri"/>
              </a:rPr>
              <a:t>clinics segment is expected to dominate the</a:t>
            </a:r>
          </a:p>
        </p:txBody>
      </p:sp>
      <p:sp>
        <p:nvSpPr>
          <p:cNvPr id="99" name="TextBox 98"/>
          <p:cNvSpPr txBox="1"/>
          <p:nvPr/>
        </p:nvSpPr>
        <p:spPr>
          <a:xfrm>
            <a:off x="485775" y="5235277"/>
            <a:ext cx="881930" cy="186689"/>
          </a:xfrm>
          <a:prstGeom prst="rect">
            <a:avLst/>
          </a:prstGeom>
          <a:noFill/>
        </p:spPr>
        <p:txBody>
          <a:bodyPr wrap="none" lIns="0" rIns="0" tIns="0" bIns="0">
            <a:spAutoFit/>
          </a:bodyPr>
          <a:lstStyle/>
          <a:p>
            <a:r>
              <a:rPr sz="1100" b="0">
                <a:solidFill>
                  <a:srgbClr val="2E2E2E"/>
                </a:solidFill>
                <a:latin typeface="Calibri"/>
              </a:rPr>
              <a:t>market, losing</a:t>
            </a:r>
          </a:p>
        </p:txBody>
      </p:sp>
      <p:pic>
        <p:nvPicPr>
          <p:cNvPr id="100" name="Picture 99" descr="lock.png"/>
          <p:cNvPicPr>
            <a:picLocks noChangeAspect="1"/>
          </p:cNvPicPr>
          <p:nvPr/>
        </p:nvPicPr>
        <p:blipFill>
          <a:blip r:embed="rId19"/>
          <a:stretch>
            <a:fillRect/>
          </a:stretch>
        </p:blipFill>
        <p:spPr>
          <a:xfrm>
            <a:off x="1315757" y="5225498"/>
            <a:ext cx="128699" cy="187198"/>
          </a:xfrm>
          <a:prstGeom prst="rect">
            <a:avLst/>
          </a:prstGeom>
        </p:spPr>
      </p:pic>
      <p:sp>
        <p:nvSpPr>
          <p:cNvPr id="101" name="TextBox 100"/>
          <p:cNvSpPr txBox="1"/>
          <p:nvPr/>
        </p:nvSpPr>
        <p:spPr>
          <a:xfrm>
            <a:off x="1483253"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02" name="Picture 101" descr="lock.png"/>
          <p:cNvPicPr>
            <a:picLocks noChangeAspect="1"/>
          </p:cNvPicPr>
          <p:nvPr/>
        </p:nvPicPr>
        <p:blipFill>
          <a:blip r:embed="rId19"/>
          <a:stretch>
            <a:fillRect/>
          </a:stretch>
        </p:blipFill>
        <p:spPr>
          <a:xfrm>
            <a:off x="2817737" y="5225498"/>
            <a:ext cx="128699" cy="187198"/>
          </a:xfrm>
          <a:prstGeom prst="rect">
            <a:avLst/>
          </a:prstGeom>
        </p:spPr>
      </p:pic>
      <p:sp>
        <p:nvSpPr>
          <p:cNvPr id="103" name="TextBox 102"/>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4" name="TextBox 103"/>
          <p:cNvSpPr txBox="1"/>
          <p:nvPr/>
        </p:nvSpPr>
        <p:spPr>
          <a:xfrm>
            <a:off x="485775" y="5620849"/>
            <a:ext cx="2752055" cy="186689"/>
          </a:xfrm>
          <a:prstGeom prst="rect">
            <a:avLst/>
          </a:prstGeom>
          <a:noFill/>
        </p:spPr>
        <p:txBody>
          <a:bodyPr wrap="none" lIns="0" rIns="0" tIns="0" bIns="0">
            <a:spAutoFit/>
          </a:bodyPr>
          <a:lstStyle/>
          <a:p>
            <a:r>
              <a:rPr sz="1100" b="0">
                <a:solidFill>
                  <a:srgbClr val="2E2E2E"/>
                </a:solidFill>
                <a:latin typeface="Calibri"/>
              </a:rPr>
              <a:t>Direct-to-allergy clinics segment is projected to</a:t>
            </a:r>
          </a:p>
        </p:txBody>
      </p:sp>
      <p:sp>
        <p:nvSpPr>
          <p:cNvPr id="105" name="TextBox 104"/>
          <p:cNvSpPr txBox="1"/>
          <p:nvPr/>
        </p:nvSpPr>
        <p:spPr>
          <a:xfrm>
            <a:off x="485775" y="578848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06" name="Picture 105" descr="lock.png"/>
          <p:cNvPicPr>
            <a:picLocks noChangeAspect="1"/>
          </p:cNvPicPr>
          <p:nvPr/>
        </p:nvPicPr>
        <p:blipFill>
          <a:blip r:embed="rId19"/>
          <a:stretch>
            <a:fillRect/>
          </a:stretch>
        </p:blipFill>
        <p:spPr>
          <a:xfrm>
            <a:off x="946316" y="5778710"/>
            <a:ext cx="128699" cy="187198"/>
          </a:xfrm>
          <a:prstGeom prst="rect">
            <a:avLst/>
          </a:prstGeom>
        </p:spPr>
      </p:pic>
      <p:sp>
        <p:nvSpPr>
          <p:cNvPr id="107" name="TextBox 106"/>
          <p:cNvSpPr txBox="1"/>
          <p:nvPr/>
        </p:nvSpPr>
        <p:spPr>
          <a:xfrm>
            <a:off x="1113812" y="5788489"/>
            <a:ext cx="1804168" cy="186689"/>
          </a:xfrm>
          <a:prstGeom prst="rect">
            <a:avLst/>
          </a:prstGeom>
          <a:noFill/>
        </p:spPr>
        <p:txBody>
          <a:bodyPr wrap="none" lIns="0" rIns="0" tIns="0" bIns="0">
            <a:spAutoFit/>
          </a:bodyPr>
          <a:lstStyle/>
          <a:p>
            <a:r>
              <a:rPr sz="1100" b="0">
                <a:solidFill>
                  <a:srgbClr val="2E2E2E"/>
                </a:solidFill>
                <a:latin typeface="Calibri"/>
              </a:rPr>
              <a:t>X higher value than mail-order</a:t>
            </a:r>
          </a:p>
        </p:txBody>
      </p:sp>
      <p:sp>
        <p:nvSpPr>
          <p:cNvPr id="108" name="TextBox 107"/>
          <p:cNvSpPr txBox="1"/>
          <p:nvPr/>
        </p:nvSpPr>
        <p:spPr>
          <a:xfrm>
            <a:off x="485775" y="5956129"/>
            <a:ext cx="1650553" cy="186689"/>
          </a:xfrm>
          <a:prstGeom prst="rect">
            <a:avLst/>
          </a:prstGeom>
          <a:noFill/>
        </p:spPr>
        <p:txBody>
          <a:bodyPr wrap="none" lIns="0" rIns="0" tIns="0" bIns="0">
            <a:spAutoFit/>
          </a:bodyPr>
          <a:lstStyle/>
          <a:p>
            <a:r>
              <a:rPr sz="1100" b="0">
                <a:solidFill>
                  <a:srgbClr val="2E2E2E"/>
                </a:solidFill>
                <a:latin typeface="Calibri"/>
              </a:rPr>
              <a:t>pharmacy segment in 2036.</a:t>
            </a:r>
          </a:p>
        </p:txBody>
      </p:sp>
      <p:sp>
        <p:nvSpPr>
          <p:cNvPr id="109" name="TextBox 108"/>
          <p:cNvSpPr txBox="1"/>
          <p:nvPr/>
        </p:nvSpPr>
        <p:spPr>
          <a:xfrm>
            <a:off x="3838575" y="4229437"/>
            <a:ext cx="1561058" cy="186689"/>
          </a:xfrm>
          <a:prstGeom prst="rect">
            <a:avLst/>
          </a:prstGeom>
          <a:noFill/>
        </p:spPr>
        <p:txBody>
          <a:bodyPr wrap="none" lIns="0" rIns="0" tIns="0" bIns="0">
            <a:spAutoFit/>
          </a:bodyPr>
          <a:lstStyle/>
          <a:p>
            <a:r>
              <a:rPr sz="1100" b="0">
                <a:solidFill>
                  <a:srgbClr val="2E2E2E"/>
                </a:solidFill>
                <a:latin typeface="Calibri"/>
              </a:rPr>
              <a:t>● Direct-to-Allergy Clinics:</a:t>
            </a:r>
          </a:p>
        </p:txBody>
      </p:sp>
      <p:pic>
        <p:nvPicPr>
          <p:cNvPr id="110" name="Picture 109" descr="lock.png"/>
          <p:cNvPicPr>
            <a:picLocks noChangeAspect="1"/>
          </p:cNvPicPr>
          <p:nvPr/>
        </p:nvPicPr>
        <p:blipFill>
          <a:blip r:embed="rId19"/>
          <a:stretch>
            <a:fillRect/>
          </a:stretch>
        </p:blipFill>
        <p:spPr>
          <a:xfrm>
            <a:off x="5347684" y="4219658"/>
            <a:ext cx="128699" cy="187198"/>
          </a:xfrm>
          <a:prstGeom prst="rect">
            <a:avLst/>
          </a:prstGeom>
        </p:spPr>
      </p:pic>
      <p:sp>
        <p:nvSpPr>
          <p:cNvPr id="111" name="TextBox 110"/>
          <p:cNvSpPr txBox="1"/>
          <p:nvPr/>
        </p:nvSpPr>
        <p:spPr>
          <a:xfrm>
            <a:off x="551518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2" name="Picture 111" descr="lock.png"/>
          <p:cNvPicPr>
            <a:picLocks noChangeAspect="1"/>
          </p:cNvPicPr>
          <p:nvPr/>
        </p:nvPicPr>
        <p:blipFill>
          <a:blip r:embed="rId19"/>
          <a:stretch>
            <a:fillRect/>
          </a:stretch>
        </p:blipFill>
        <p:spPr>
          <a:xfrm>
            <a:off x="6374630" y="4219658"/>
            <a:ext cx="128699" cy="187198"/>
          </a:xfrm>
          <a:prstGeom prst="rect">
            <a:avLst/>
          </a:prstGeom>
        </p:spPr>
      </p:pic>
      <p:sp>
        <p:nvSpPr>
          <p:cNvPr id="113" name="TextBox 112"/>
          <p:cNvSpPr txBox="1"/>
          <p:nvPr/>
        </p:nvSpPr>
        <p:spPr>
          <a:xfrm>
            <a:off x="6542126"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14" name="TextBox 113"/>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15" name="TextBox 114"/>
          <p:cNvSpPr txBox="1"/>
          <p:nvPr/>
        </p:nvSpPr>
        <p:spPr>
          <a:xfrm>
            <a:off x="3838575" y="4615009"/>
            <a:ext cx="1475382" cy="186689"/>
          </a:xfrm>
          <a:prstGeom prst="rect">
            <a:avLst/>
          </a:prstGeom>
          <a:noFill/>
        </p:spPr>
        <p:txBody>
          <a:bodyPr wrap="none" lIns="0" rIns="0" tIns="0" bIns="0">
            <a:spAutoFit/>
          </a:bodyPr>
          <a:lstStyle/>
          <a:p>
            <a:r>
              <a:rPr sz="1100" b="0">
                <a:solidFill>
                  <a:srgbClr val="2E2E2E"/>
                </a:solidFill>
                <a:latin typeface="Calibri"/>
              </a:rPr>
              <a:t>● Hospital Procurement:</a:t>
            </a:r>
          </a:p>
        </p:txBody>
      </p:sp>
      <p:pic>
        <p:nvPicPr>
          <p:cNvPr id="116" name="Picture 115" descr="lock.png"/>
          <p:cNvPicPr>
            <a:picLocks noChangeAspect="1"/>
          </p:cNvPicPr>
          <p:nvPr/>
        </p:nvPicPr>
        <p:blipFill>
          <a:blip r:embed="rId19"/>
          <a:stretch>
            <a:fillRect/>
          </a:stretch>
        </p:blipFill>
        <p:spPr>
          <a:xfrm>
            <a:off x="5262009" y="4605230"/>
            <a:ext cx="128699" cy="187198"/>
          </a:xfrm>
          <a:prstGeom prst="rect">
            <a:avLst/>
          </a:prstGeom>
        </p:spPr>
      </p:pic>
      <p:sp>
        <p:nvSpPr>
          <p:cNvPr id="117" name="TextBox 116"/>
          <p:cNvSpPr txBox="1"/>
          <p:nvPr/>
        </p:nvSpPr>
        <p:spPr>
          <a:xfrm>
            <a:off x="5429505"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8" name="Picture 117" descr="lock.png"/>
          <p:cNvPicPr>
            <a:picLocks noChangeAspect="1"/>
          </p:cNvPicPr>
          <p:nvPr/>
        </p:nvPicPr>
        <p:blipFill>
          <a:blip r:embed="rId19"/>
          <a:stretch>
            <a:fillRect/>
          </a:stretch>
        </p:blipFill>
        <p:spPr>
          <a:xfrm>
            <a:off x="6288955" y="4605230"/>
            <a:ext cx="128699" cy="187198"/>
          </a:xfrm>
          <a:prstGeom prst="rect">
            <a:avLst/>
          </a:prstGeom>
        </p:spPr>
      </p:pic>
      <p:sp>
        <p:nvSpPr>
          <p:cNvPr id="119" name="TextBox 118"/>
          <p:cNvSpPr txBox="1"/>
          <p:nvPr/>
        </p:nvSpPr>
        <p:spPr>
          <a:xfrm>
            <a:off x="6456451"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0" name="TextBox 119"/>
          <p:cNvSpPr txBox="1"/>
          <p:nvPr/>
        </p:nvSpPr>
        <p:spPr>
          <a:xfrm>
            <a:off x="3838575" y="4832941"/>
            <a:ext cx="1431453" cy="186689"/>
          </a:xfrm>
          <a:prstGeom prst="rect">
            <a:avLst/>
          </a:prstGeom>
          <a:noFill/>
        </p:spPr>
        <p:txBody>
          <a:bodyPr wrap="none" lIns="0" rIns="0" tIns="0" bIns="0">
            <a:spAutoFit/>
          </a:bodyPr>
          <a:lstStyle/>
          <a:p>
            <a:r>
              <a:rPr sz="1100" b="0">
                <a:solidFill>
                  <a:srgbClr val="2E2E2E"/>
                </a:solidFill>
                <a:latin typeface="Calibri"/>
              </a:rPr>
              <a:t>● Mail-order Pharmacy:</a:t>
            </a:r>
          </a:p>
        </p:txBody>
      </p:sp>
      <p:pic>
        <p:nvPicPr>
          <p:cNvPr id="121" name="Picture 120" descr="lock.png"/>
          <p:cNvPicPr>
            <a:picLocks noChangeAspect="1"/>
          </p:cNvPicPr>
          <p:nvPr/>
        </p:nvPicPr>
        <p:blipFill>
          <a:blip r:embed="rId19"/>
          <a:stretch>
            <a:fillRect/>
          </a:stretch>
        </p:blipFill>
        <p:spPr>
          <a:xfrm>
            <a:off x="5218080" y="4823162"/>
            <a:ext cx="128699" cy="187198"/>
          </a:xfrm>
          <a:prstGeom prst="rect">
            <a:avLst/>
          </a:prstGeom>
        </p:spPr>
      </p:pic>
      <p:sp>
        <p:nvSpPr>
          <p:cNvPr id="122" name="TextBox 121"/>
          <p:cNvSpPr txBox="1"/>
          <p:nvPr/>
        </p:nvSpPr>
        <p:spPr>
          <a:xfrm>
            <a:off x="5385576"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3" name="Picture 122" descr="lock.png"/>
          <p:cNvPicPr>
            <a:picLocks noChangeAspect="1"/>
          </p:cNvPicPr>
          <p:nvPr/>
        </p:nvPicPr>
        <p:blipFill>
          <a:blip r:embed="rId19"/>
          <a:stretch>
            <a:fillRect/>
          </a:stretch>
        </p:blipFill>
        <p:spPr>
          <a:xfrm>
            <a:off x="6245026" y="4823162"/>
            <a:ext cx="128699" cy="187198"/>
          </a:xfrm>
          <a:prstGeom prst="rect">
            <a:avLst/>
          </a:prstGeom>
        </p:spPr>
      </p:pic>
      <p:sp>
        <p:nvSpPr>
          <p:cNvPr id="124" name="TextBox 123"/>
          <p:cNvSpPr txBox="1"/>
          <p:nvPr/>
        </p:nvSpPr>
        <p:spPr>
          <a:xfrm>
            <a:off x="6412522"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5" name="TextBox 124"/>
          <p:cNvSpPr txBox="1"/>
          <p:nvPr/>
        </p:nvSpPr>
        <p:spPr>
          <a:xfrm>
            <a:off x="3838575" y="5050872"/>
            <a:ext cx="1757511" cy="186689"/>
          </a:xfrm>
          <a:prstGeom prst="rect">
            <a:avLst/>
          </a:prstGeom>
          <a:noFill/>
        </p:spPr>
        <p:txBody>
          <a:bodyPr wrap="none" lIns="0" rIns="0" tIns="0" bIns="0">
            <a:spAutoFit/>
          </a:bodyPr>
          <a:lstStyle/>
          <a:p>
            <a:r>
              <a:rPr sz="1100" b="0">
                <a:solidFill>
                  <a:srgbClr val="2E2E2E"/>
                </a:solidFill>
                <a:latin typeface="Calibri"/>
              </a:rPr>
              <a:t>● Pharmaceutical Distributor:</a:t>
            </a:r>
          </a:p>
        </p:txBody>
      </p:sp>
      <p:pic>
        <p:nvPicPr>
          <p:cNvPr id="126" name="Picture 125" descr="lock.png"/>
          <p:cNvPicPr>
            <a:picLocks noChangeAspect="1"/>
          </p:cNvPicPr>
          <p:nvPr/>
        </p:nvPicPr>
        <p:blipFill>
          <a:blip r:embed="rId19"/>
          <a:stretch>
            <a:fillRect/>
          </a:stretch>
        </p:blipFill>
        <p:spPr>
          <a:xfrm>
            <a:off x="5544137" y="5041093"/>
            <a:ext cx="128699" cy="187198"/>
          </a:xfrm>
          <a:prstGeom prst="rect">
            <a:avLst/>
          </a:prstGeom>
        </p:spPr>
      </p:pic>
      <p:sp>
        <p:nvSpPr>
          <p:cNvPr id="127" name="TextBox 126"/>
          <p:cNvSpPr txBox="1"/>
          <p:nvPr/>
        </p:nvSpPr>
        <p:spPr>
          <a:xfrm>
            <a:off x="5711633"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8" name="Picture 127" descr="lock.png"/>
          <p:cNvPicPr>
            <a:picLocks noChangeAspect="1"/>
          </p:cNvPicPr>
          <p:nvPr/>
        </p:nvPicPr>
        <p:blipFill>
          <a:blip r:embed="rId19"/>
          <a:stretch>
            <a:fillRect/>
          </a:stretch>
        </p:blipFill>
        <p:spPr>
          <a:xfrm>
            <a:off x="6571083" y="5041093"/>
            <a:ext cx="128699" cy="187198"/>
          </a:xfrm>
          <a:prstGeom prst="rect">
            <a:avLst/>
          </a:prstGeom>
        </p:spPr>
      </p:pic>
      <p:sp>
        <p:nvSpPr>
          <p:cNvPr id="129" name="TextBox 128"/>
          <p:cNvSpPr txBox="1"/>
          <p:nvPr/>
        </p:nvSpPr>
        <p:spPr>
          <a:xfrm>
            <a:off x="6738579" y="5050872"/>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30" name="TextBox 129"/>
          <p:cNvSpPr txBox="1"/>
          <p:nvPr/>
        </p:nvSpPr>
        <p:spPr>
          <a:xfrm>
            <a:off x="3838575" y="5218513"/>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31" name="TextBox 130"/>
          <p:cNvSpPr txBox="1"/>
          <p:nvPr/>
        </p:nvSpPr>
        <p:spPr>
          <a:xfrm>
            <a:off x="3838575" y="5436445"/>
            <a:ext cx="1147142" cy="186689"/>
          </a:xfrm>
          <a:prstGeom prst="rect">
            <a:avLst/>
          </a:prstGeom>
          <a:noFill/>
        </p:spPr>
        <p:txBody>
          <a:bodyPr wrap="none" lIns="0" rIns="0" tIns="0" bIns="0">
            <a:spAutoFit/>
          </a:bodyPr>
          <a:lstStyle/>
          <a:p>
            <a:r>
              <a:rPr sz="1100" b="0">
                <a:solidFill>
                  <a:srgbClr val="2E2E2E"/>
                </a:solidFill>
                <a:latin typeface="Calibri"/>
              </a:rPr>
              <a:t>● Retail Pharmacy:</a:t>
            </a:r>
          </a:p>
        </p:txBody>
      </p:sp>
      <p:pic>
        <p:nvPicPr>
          <p:cNvPr id="132" name="Picture 131" descr="lock.png"/>
          <p:cNvPicPr>
            <a:picLocks noChangeAspect="1"/>
          </p:cNvPicPr>
          <p:nvPr/>
        </p:nvPicPr>
        <p:blipFill>
          <a:blip r:embed="rId19"/>
          <a:stretch>
            <a:fillRect/>
          </a:stretch>
        </p:blipFill>
        <p:spPr>
          <a:xfrm>
            <a:off x="4933768" y="5426665"/>
            <a:ext cx="128699" cy="187198"/>
          </a:xfrm>
          <a:prstGeom prst="rect">
            <a:avLst/>
          </a:prstGeom>
        </p:spPr>
      </p:pic>
      <p:sp>
        <p:nvSpPr>
          <p:cNvPr id="133" name="TextBox 132"/>
          <p:cNvSpPr txBox="1"/>
          <p:nvPr/>
        </p:nvSpPr>
        <p:spPr>
          <a:xfrm>
            <a:off x="5101264"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4" name="Picture 133" descr="lock.png"/>
          <p:cNvPicPr>
            <a:picLocks noChangeAspect="1"/>
          </p:cNvPicPr>
          <p:nvPr/>
        </p:nvPicPr>
        <p:blipFill>
          <a:blip r:embed="rId19"/>
          <a:stretch>
            <a:fillRect/>
          </a:stretch>
        </p:blipFill>
        <p:spPr>
          <a:xfrm>
            <a:off x="5960715" y="5426665"/>
            <a:ext cx="128699" cy="187198"/>
          </a:xfrm>
          <a:prstGeom prst="rect">
            <a:avLst/>
          </a:prstGeom>
        </p:spPr>
      </p:pic>
      <p:sp>
        <p:nvSpPr>
          <p:cNvPr id="135" name="TextBox 134"/>
          <p:cNvSpPr txBox="1"/>
          <p:nvPr/>
        </p:nvSpPr>
        <p:spPr>
          <a:xfrm>
            <a:off x="6128210" y="5436445"/>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Sales / Procurement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Sales / Procurement Channel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 Procurement Channel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Sales / Procurement Channel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522323" cy="186689"/>
          </a:xfrm>
          <a:prstGeom prst="rect">
            <a:avLst/>
          </a:prstGeom>
          <a:noFill/>
        </p:spPr>
        <p:txBody>
          <a:bodyPr wrap="none" lIns="0" rIns="0" tIns="0" bIns="0">
            <a:spAutoFit/>
          </a:bodyPr>
          <a:lstStyle/>
          <a:p>
            <a:r>
              <a:rPr sz="1100" b="0">
                <a:solidFill>
                  <a:srgbClr val="2E2E2E"/>
                </a:solidFill>
                <a:latin typeface="Calibri"/>
              </a:rPr>
              <a:t>Direct-to-allergy clinics followed by mail-order pharmacy are expected to be the two most attractive sales / procurement channel segments in the global allergy immunotherapy market in terms of value</a:t>
            </a:r>
          </a:p>
        </p:txBody>
      </p:sp>
      <p:sp>
        <p:nvSpPr>
          <p:cNvPr id="21" name="TextBox 20"/>
          <p:cNvSpPr txBox="1"/>
          <p:nvPr/>
        </p:nvSpPr>
        <p:spPr>
          <a:xfrm>
            <a:off x="257175" y="5861685"/>
            <a:ext cx="5662545" cy="186689"/>
          </a:xfrm>
          <a:prstGeom prst="rect">
            <a:avLst/>
          </a:prstGeom>
          <a:noFill/>
        </p:spPr>
        <p:txBody>
          <a:bodyPr wrap="none" lIns="0" rIns="0" tIns="0" bIns="0">
            <a:spAutoFit/>
          </a:bodyPr>
          <a:lstStyle/>
          <a:p>
            <a:r>
              <a:rPr sz="1100" b="0">
                <a:solidFill>
                  <a:srgbClr val="2E2E2E"/>
                </a:solidFill>
                <a:latin typeface="Calibri"/>
              </a:rPr>
              <a:t>over the forecast period. Direct-to-Allergy clinics and mail-order pharmacy exhibit a CAGR index of</a:t>
            </a:r>
          </a:p>
        </p:txBody>
      </p:sp>
      <p:pic>
        <p:nvPicPr>
          <p:cNvPr id="22" name="Picture 21" descr="lock.png"/>
          <p:cNvPicPr>
            <a:picLocks noChangeAspect="1"/>
          </p:cNvPicPr>
          <p:nvPr/>
        </p:nvPicPr>
        <p:blipFill>
          <a:blip r:embed="rId6"/>
          <a:stretch>
            <a:fillRect/>
          </a:stretch>
        </p:blipFill>
        <p:spPr>
          <a:xfrm>
            <a:off x="5867772" y="5851905"/>
            <a:ext cx="128699" cy="187198"/>
          </a:xfrm>
          <a:prstGeom prst="rect">
            <a:avLst/>
          </a:prstGeom>
        </p:spPr>
      </p:pic>
      <p:sp>
        <p:nvSpPr>
          <p:cNvPr id="23" name="TextBox 22"/>
          <p:cNvSpPr txBox="1"/>
          <p:nvPr/>
        </p:nvSpPr>
        <p:spPr>
          <a:xfrm>
            <a:off x="603526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6273162" y="5851905"/>
            <a:ext cx="128699" cy="187198"/>
          </a:xfrm>
          <a:prstGeom prst="rect">
            <a:avLst/>
          </a:prstGeom>
        </p:spPr>
      </p:pic>
      <p:sp>
        <p:nvSpPr>
          <p:cNvPr id="25" name="TextBox 24"/>
          <p:cNvSpPr txBox="1"/>
          <p:nvPr/>
        </p:nvSpPr>
        <p:spPr>
          <a:xfrm>
            <a:off x="6440658"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8049631" y="5851905"/>
            <a:ext cx="128699" cy="187198"/>
          </a:xfrm>
          <a:prstGeom prst="rect">
            <a:avLst/>
          </a:prstGeom>
        </p:spPr>
      </p:pic>
      <p:sp>
        <p:nvSpPr>
          <p:cNvPr id="27" name="TextBox 26"/>
          <p:cNvSpPr txBox="1"/>
          <p:nvPr/>
        </p:nvSpPr>
        <p:spPr>
          <a:xfrm>
            <a:off x="821712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8455022" y="5851905"/>
            <a:ext cx="128699" cy="187198"/>
          </a:xfrm>
          <a:prstGeom prst="rect">
            <a:avLst/>
          </a:prstGeom>
        </p:spPr>
      </p:pic>
      <p:sp>
        <p:nvSpPr>
          <p:cNvPr id="29" name="TextBox 28"/>
          <p:cNvSpPr txBox="1"/>
          <p:nvPr/>
        </p:nvSpPr>
        <p:spPr>
          <a:xfrm>
            <a:off x="8622517"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11176922" y="5851905"/>
            <a:ext cx="128699" cy="187198"/>
          </a:xfrm>
          <a:prstGeom prst="rect">
            <a:avLst/>
          </a:prstGeom>
        </p:spPr>
      </p:pic>
      <p:sp>
        <p:nvSpPr>
          <p:cNvPr id="31" name="TextBox 30"/>
          <p:cNvSpPr txBox="1"/>
          <p:nvPr/>
        </p:nvSpPr>
        <p:spPr>
          <a:xfrm>
            <a:off x="11344417" y="586168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2" name="TextBox 31"/>
          <p:cNvSpPr txBox="1"/>
          <p:nvPr/>
        </p:nvSpPr>
        <p:spPr>
          <a:xfrm>
            <a:off x="257175" y="6029325"/>
            <a:ext cx="11431173" cy="186689"/>
          </a:xfrm>
          <a:prstGeom prst="rect">
            <a:avLst/>
          </a:prstGeom>
          <a:noFill/>
        </p:spPr>
        <p:txBody>
          <a:bodyPr wrap="none" lIns="0" rIns="0" tIns="0" bIns="0">
            <a:spAutoFit/>
          </a:bodyPr>
          <a:lstStyle/>
          <a:p>
            <a:r>
              <a:rPr sz="1100" b="0">
                <a:solidFill>
                  <a:srgbClr val="2E2E2E"/>
                </a:solidFill>
                <a:latin typeface="Calibri"/>
              </a:rPr>
              <a:t>The hospital procurement segment is expected to be less attractive as compared to other segments over the forecast period, owing to its lower CAGR and incremental opportunity. Bubbles right of the</a:t>
            </a:r>
          </a:p>
        </p:txBody>
      </p:sp>
      <p:sp>
        <p:nvSpPr>
          <p:cNvPr id="33" name="TextBox 32"/>
          <p:cNvSpPr txBox="1"/>
          <p:nvPr/>
        </p:nvSpPr>
        <p:spPr>
          <a:xfrm>
            <a:off x="257175" y="619696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Sales / Procurement Channel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 Procurement Channel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Direct-to-Allergy Clinics</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Hospital Procurement</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Retail Pharmacy</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Pharmaceutical Distributor</a:t>
            </a:r>
          </a:p>
        </p:txBody>
      </p:sp>
      <p:graphicFrame>
        <p:nvGraphicFramePr>
          <p:cNvPr id="22" name="Chart 21"/>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8"/>
          <a:stretch>
            <a:fillRect/>
          </a:stretch>
        </p:blipFill>
        <p:spPr>
          <a:xfrm>
            <a:off x="3094826" y="5123309"/>
            <a:ext cx="263506" cy="383281"/>
          </a:xfrm>
          <a:prstGeom prst="rect">
            <a:avLst/>
          </a:prstGeom>
        </p:spPr>
      </p:pic>
      <p:pic>
        <p:nvPicPr>
          <p:cNvPr id="27" name="Picture 26" descr="lock.png"/>
          <p:cNvPicPr>
            <a:picLocks noChangeAspect="1"/>
          </p:cNvPicPr>
          <p:nvPr/>
        </p:nvPicPr>
        <p:blipFill>
          <a:blip r:embed="rId8"/>
          <a:stretch>
            <a:fillRect/>
          </a:stretch>
        </p:blipFill>
        <p:spPr>
          <a:xfrm>
            <a:off x="9129555" y="5216754"/>
            <a:ext cx="252890" cy="367840"/>
          </a:xfrm>
          <a:prstGeom prst="rect">
            <a:avLst/>
          </a:prstGeom>
        </p:spPr>
      </p:pic>
      <p:sp>
        <p:nvSpPr>
          <p:cNvPr id="28"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Sales / Procurement Channel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 Procurement Channel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Mail-order Pharmacy</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Sales / Procurement Channel</a:t>
            </a:r>
          </a:p>
        </p:txBody>
      </p:sp>
      <p:sp>
        <p:nvSpPr>
          <p:cNvPr id="15" name="Rectangle 14"/>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7556" y="3674659"/>
            <a:ext cx="395643" cy="575481"/>
          </a:xfrm>
          <a:prstGeom prst="rect">
            <a:avLst/>
          </a:prstGeom>
        </p:spPr>
      </p:pic>
      <p:sp>
        <p:nvSpPr>
          <p:cNvPr id="19" name="TextBox 18"/>
          <p:cNvSpPr txBox="1"/>
          <p:nvPr/>
        </p:nvSpPr>
        <p:spPr>
          <a:xfrm>
            <a:off x="6305550" y="1598245"/>
            <a:ext cx="4849616" cy="194310"/>
          </a:xfrm>
          <a:prstGeom prst="rect">
            <a:avLst/>
          </a:prstGeom>
          <a:noFill/>
        </p:spPr>
        <p:txBody>
          <a:bodyPr wrap="none" lIns="0" rIns="0" tIns="0" bIns="0">
            <a:spAutoFit/>
          </a:bodyPr>
          <a:lstStyle/>
          <a:p>
            <a:r>
              <a:rPr sz="1150" b="0">
                <a:solidFill>
                  <a:srgbClr val="2E2E2E"/>
                </a:solidFill>
                <a:latin typeface="Calibri"/>
              </a:rPr>
              <a:t>By 2036, direct-to-allergy clinics segment is anticipated to witness an increase of</a:t>
            </a:r>
          </a:p>
        </p:txBody>
      </p:sp>
      <p:pic>
        <p:nvPicPr>
          <p:cNvPr id="20" name="Picture 19" descr="lock.png"/>
          <p:cNvPicPr>
            <a:picLocks noChangeAspect="1"/>
          </p:cNvPicPr>
          <p:nvPr/>
        </p:nvPicPr>
        <p:blipFill>
          <a:blip r:embed="rId5"/>
          <a:stretch>
            <a:fillRect/>
          </a:stretch>
        </p:blipFill>
        <p:spPr>
          <a:xfrm>
            <a:off x="11104320" y="1588021"/>
            <a:ext cx="134549" cy="195707"/>
          </a:xfrm>
          <a:prstGeom prst="rect">
            <a:avLst/>
          </a:prstGeom>
        </p:spPr>
      </p:pic>
      <p:sp>
        <p:nvSpPr>
          <p:cNvPr id="21" name="TextBox 20"/>
          <p:cNvSpPr txBox="1"/>
          <p:nvPr/>
        </p:nvSpPr>
        <p:spPr>
          <a:xfrm>
            <a:off x="11279429" y="1598245"/>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2" name="TextBox 21"/>
          <p:cNvSpPr txBox="1"/>
          <p:nvPr/>
        </p:nvSpPr>
        <p:spPr>
          <a:xfrm>
            <a:off x="6305550" y="1773505"/>
            <a:ext cx="5322875" cy="194310"/>
          </a:xfrm>
          <a:prstGeom prst="rect">
            <a:avLst/>
          </a:prstGeom>
          <a:noFill/>
        </p:spPr>
        <p:txBody>
          <a:bodyPr wrap="none" lIns="0" rIns="0" tIns="0" bIns="0">
            <a:spAutoFit/>
          </a:bodyPr>
          <a:lstStyle/>
          <a:p>
            <a:r>
              <a:rPr sz="1150" b="0">
                <a:solidFill>
                  <a:srgbClr val="2E2E2E"/>
                </a:solidFill>
                <a:latin typeface="Calibri"/>
              </a:rPr>
              <a:t>terms of value as compared to 2026. The Direct-to-Allergy clinics segment is expected to</a:t>
            </a:r>
          </a:p>
        </p:txBody>
      </p:sp>
      <p:sp>
        <p:nvSpPr>
          <p:cNvPr id="23" name="TextBox 22"/>
          <p:cNvSpPr txBox="1"/>
          <p:nvPr/>
        </p:nvSpPr>
        <p:spPr>
          <a:xfrm>
            <a:off x="6305550" y="1948765"/>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24" name="Picture 23" descr="lock.png"/>
          <p:cNvPicPr>
            <a:picLocks noChangeAspect="1"/>
          </p:cNvPicPr>
          <p:nvPr/>
        </p:nvPicPr>
        <p:blipFill>
          <a:blip r:embed="rId5"/>
          <a:stretch>
            <a:fillRect/>
          </a:stretch>
        </p:blipFill>
        <p:spPr>
          <a:xfrm>
            <a:off x="8801773" y="1938541"/>
            <a:ext cx="134549" cy="195707"/>
          </a:xfrm>
          <a:prstGeom prst="rect">
            <a:avLst/>
          </a:prstGeom>
        </p:spPr>
      </p:pic>
      <p:sp>
        <p:nvSpPr>
          <p:cNvPr id="25" name="TextBox 24"/>
          <p:cNvSpPr txBox="1"/>
          <p:nvPr/>
        </p:nvSpPr>
        <p:spPr>
          <a:xfrm>
            <a:off x="8976882" y="1948765"/>
            <a:ext cx="2574168" cy="194310"/>
          </a:xfrm>
          <a:prstGeom prst="rect">
            <a:avLst/>
          </a:prstGeom>
          <a:noFill/>
        </p:spPr>
        <p:txBody>
          <a:bodyPr wrap="none" lIns="0" rIns="0" tIns="0" bIns="0">
            <a:spAutoFit/>
          </a:bodyPr>
          <a:lstStyle/>
          <a:p>
            <a:r>
              <a:rPr sz="1150" b="0">
                <a:solidFill>
                  <a:srgbClr val="2E2E2E"/>
                </a:solidFill>
                <a:latin typeface="Calibri"/>
              </a:rPr>
              <a:t>Mn for the overall allergy immunotherapy</a:t>
            </a:r>
          </a:p>
        </p:txBody>
      </p:sp>
      <p:sp>
        <p:nvSpPr>
          <p:cNvPr id="26" name="TextBox 25"/>
          <p:cNvSpPr txBox="1"/>
          <p:nvPr/>
        </p:nvSpPr>
        <p:spPr>
          <a:xfrm>
            <a:off x="6305550" y="2124025"/>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27" name="TextBox 26"/>
          <p:cNvSpPr txBox="1"/>
          <p:nvPr/>
        </p:nvSpPr>
        <p:spPr>
          <a:xfrm>
            <a:off x="6305550" y="2351863"/>
            <a:ext cx="5492315" cy="194310"/>
          </a:xfrm>
          <a:prstGeom prst="rect">
            <a:avLst/>
          </a:prstGeom>
          <a:noFill/>
        </p:spPr>
        <p:txBody>
          <a:bodyPr wrap="none" lIns="0" rIns="0" tIns="0" bIns="0">
            <a:spAutoFit/>
          </a:bodyPr>
          <a:lstStyle/>
          <a:p>
            <a:r>
              <a:rPr sz="1150" b="0">
                <a:solidFill>
                  <a:srgbClr val="2E2E2E"/>
                </a:solidFill>
                <a:latin typeface="Calibri"/>
              </a:rPr>
              <a:t>The mail-order pharmacy segment is expected to create an incremental opportunity of US$</a:t>
            </a:r>
          </a:p>
        </p:txBody>
      </p:sp>
      <p:pic>
        <p:nvPicPr>
          <p:cNvPr id="28" name="Picture 27" descr="lock.png"/>
          <p:cNvPicPr>
            <a:picLocks noChangeAspect="1"/>
          </p:cNvPicPr>
          <p:nvPr/>
        </p:nvPicPr>
        <p:blipFill>
          <a:blip r:embed="rId5"/>
          <a:stretch>
            <a:fillRect/>
          </a:stretch>
        </p:blipFill>
        <p:spPr>
          <a:xfrm>
            <a:off x="6291470" y="2516899"/>
            <a:ext cx="134549" cy="195707"/>
          </a:xfrm>
          <a:prstGeom prst="rect">
            <a:avLst/>
          </a:prstGeom>
        </p:spPr>
      </p:pic>
      <p:sp>
        <p:nvSpPr>
          <p:cNvPr id="29" name="TextBox 28"/>
          <p:cNvSpPr txBox="1"/>
          <p:nvPr/>
        </p:nvSpPr>
        <p:spPr>
          <a:xfrm>
            <a:off x="6466579" y="2527123"/>
            <a:ext cx="4464831"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 The</a:t>
            </a:r>
          </a:p>
        </p:txBody>
      </p:sp>
      <p:sp>
        <p:nvSpPr>
          <p:cNvPr id="30" name="TextBox 29"/>
          <p:cNvSpPr txBox="1"/>
          <p:nvPr/>
        </p:nvSpPr>
        <p:spPr>
          <a:xfrm>
            <a:off x="6305550" y="2702383"/>
            <a:ext cx="5574469" cy="194310"/>
          </a:xfrm>
          <a:prstGeom prst="rect">
            <a:avLst/>
          </a:prstGeom>
          <a:noFill/>
        </p:spPr>
        <p:txBody>
          <a:bodyPr wrap="none" lIns="0" rIns="0" tIns="0" bIns="0">
            <a:spAutoFit/>
          </a:bodyPr>
          <a:lstStyle/>
          <a:p>
            <a:r>
              <a:rPr sz="1150" b="0">
                <a:solidFill>
                  <a:srgbClr val="2E2E2E"/>
                </a:solidFill>
                <a:latin typeface="Calibri"/>
              </a:rPr>
              <a:t>pharmaceutical distributor segment is expected to create an incremental opportunity of US$</a:t>
            </a:r>
          </a:p>
        </p:txBody>
      </p:sp>
      <p:pic>
        <p:nvPicPr>
          <p:cNvPr id="31" name="Picture 30" descr="lock.png"/>
          <p:cNvPicPr>
            <a:picLocks noChangeAspect="1"/>
          </p:cNvPicPr>
          <p:nvPr/>
        </p:nvPicPr>
        <p:blipFill>
          <a:blip r:embed="rId5"/>
          <a:stretch>
            <a:fillRect/>
          </a:stretch>
        </p:blipFill>
        <p:spPr>
          <a:xfrm>
            <a:off x="6291470" y="2867419"/>
            <a:ext cx="134549" cy="195707"/>
          </a:xfrm>
          <a:prstGeom prst="rect">
            <a:avLst/>
          </a:prstGeom>
        </p:spPr>
      </p:pic>
      <p:sp>
        <p:nvSpPr>
          <p:cNvPr id="32" name="TextBox 31"/>
          <p:cNvSpPr txBox="1"/>
          <p:nvPr/>
        </p:nvSpPr>
        <p:spPr>
          <a:xfrm>
            <a:off x="6466579" y="2877643"/>
            <a:ext cx="4210955"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a:t>
            </a:r>
          </a:p>
        </p:txBody>
      </p:sp>
      <p:sp>
        <p:nvSpPr>
          <p:cNvPr id="33"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Sales / Procurement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Sales / Procurement Channel,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Sales / Procurement Channel (US$ Mn)</a:t>
            </a:r>
          </a:p>
        </p:txBody>
      </p:sp>
      <p:graphicFrame>
        <p:nvGraphicFramePr>
          <p:cNvPr id="13" name="Table 12"/>
          <p:cNvGraphicFramePr>
            <a:graphicFrameLocks noGrp="1"/>
          </p:cNvGraphicFramePr>
          <p:nvPr/>
        </p:nvGraphicFramePr>
        <p:xfrm>
          <a:off x="152400" y="1238250"/>
          <a:ext cx="11887198" cy="2219326"/>
        </p:xfrm>
        <a:graphic>
          <a:graphicData uri="http://schemas.openxmlformats.org/drawingml/2006/table">
            <a:tbl>
              <a:tblPr>
                <a:tableStyleId>{5C22544A-7EE6-4342-B048-85BDC9FD1C3A}</a:tableStyleId>
              </a:tblPr>
              <a:tblGrid>
                <a:gridCol w="2084097"/>
                <a:gridCol w="576653"/>
                <a:gridCol w="576653"/>
                <a:gridCol w="576653"/>
                <a:gridCol w="576653"/>
                <a:gridCol w="576653"/>
                <a:gridCol w="576653"/>
                <a:gridCol w="576653"/>
                <a:gridCol w="576653"/>
                <a:gridCol w="576653"/>
                <a:gridCol w="576653"/>
                <a:gridCol w="576653"/>
                <a:gridCol w="576653"/>
                <a:gridCol w="576653"/>
                <a:gridCol w="576653"/>
                <a:gridCol w="576653"/>
                <a:gridCol w="576653"/>
                <a:gridCol w="576653"/>
              </a:tblGrid>
              <a:tr h="246126">
                <a:tc>
                  <a:txBody>
                    <a:bodyPr wrap="none"/>
                    <a:lstStyle/>
                    <a:p>
                      <a:pPr algn="l"/>
                      <a:r>
                        <a:rPr sz="1100" b="1">
                          <a:solidFill>
                            <a:srgbClr val="0B2E4A"/>
                          </a:solidFill>
                          <a:latin typeface="Calibri"/>
                        </a:rPr>
                        <a:t>Sales / Procurement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Direct-to-Allergy Clinics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 Customized Allergen Vaccines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 Bulk Extract Supply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Hospital Procurement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Retail Pharmacy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Pharmaceutical Distributor</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Mail-order Pharmacy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2,428</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5,439</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8.4%</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800475"/>
            <a:ext cx="1190625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Sales / Procurement Channel</a:t>
            </a:r>
          </a:p>
        </p:txBody>
      </p:sp>
      <p:sp>
        <p:nvSpPr>
          <p:cNvPr id="17" name="Rectangle 16"/>
          <p:cNvSpPr/>
          <p:nvPr/>
        </p:nvSpPr>
        <p:spPr>
          <a:xfrm>
            <a:off x="276225" y="4124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951357" y="2204276"/>
            <a:ext cx="366712" cy="533400"/>
          </a:xfrm>
          <a:prstGeom prst="rect">
            <a:avLst/>
          </a:prstGeom>
        </p:spPr>
      </p:pic>
      <p:sp>
        <p:nvSpPr>
          <p:cNvPr id="21" name="TextBox 20"/>
          <p:cNvSpPr txBox="1"/>
          <p:nvPr/>
        </p:nvSpPr>
        <p:spPr>
          <a:xfrm>
            <a:off x="276225" y="4219575"/>
            <a:ext cx="3362895" cy="194310"/>
          </a:xfrm>
          <a:prstGeom prst="rect">
            <a:avLst/>
          </a:prstGeom>
          <a:noFill/>
        </p:spPr>
        <p:txBody>
          <a:bodyPr wrap="none" lIns="0" rIns="0" tIns="0" bIns="0">
            <a:spAutoFit/>
          </a:bodyPr>
          <a:lstStyle/>
          <a:p>
            <a:r>
              <a:rPr sz="1150" b="0">
                <a:solidFill>
                  <a:srgbClr val="2E2E2E"/>
                </a:solidFill>
                <a:latin typeface="Calibri"/>
              </a:rPr>
              <a:t>Direct-to-allergy clinics segment is projected to register</a:t>
            </a:r>
          </a:p>
        </p:txBody>
      </p:sp>
      <p:pic>
        <p:nvPicPr>
          <p:cNvPr id="22" name="Picture 21" descr="lock.png"/>
          <p:cNvPicPr>
            <a:picLocks noChangeAspect="1"/>
          </p:cNvPicPr>
          <p:nvPr/>
        </p:nvPicPr>
        <p:blipFill>
          <a:blip r:embed="rId4"/>
          <a:stretch>
            <a:fillRect/>
          </a:stretch>
        </p:blipFill>
        <p:spPr>
          <a:xfrm>
            <a:off x="3588274" y="4209351"/>
            <a:ext cx="134549" cy="195707"/>
          </a:xfrm>
          <a:prstGeom prst="rect">
            <a:avLst/>
          </a:prstGeom>
        </p:spPr>
      </p:pic>
      <p:sp>
        <p:nvSpPr>
          <p:cNvPr id="23" name="TextBox 22"/>
          <p:cNvSpPr txBox="1"/>
          <p:nvPr/>
        </p:nvSpPr>
        <p:spPr>
          <a:xfrm>
            <a:off x="3763383" y="4219575"/>
            <a:ext cx="7726139" cy="194310"/>
          </a:xfrm>
          <a:prstGeom prst="rect">
            <a:avLst/>
          </a:prstGeom>
          <a:noFill/>
        </p:spPr>
        <p:txBody>
          <a:bodyPr wrap="none" lIns="0" rIns="0" tIns="0" bIns="0">
            <a:spAutoFit/>
          </a:bodyPr>
          <a:lstStyle/>
          <a:p>
            <a:r>
              <a:rPr sz="1150" b="0">
                <a:solidFill>
                  <a:srgbClr val="2E2E2E"/>
                </a:solidFill>
                <a:latin typeface="Calibri"/>
              </a:rPr>
              <a:t>X higher value than mail-order pharmacy segment in 2036. Among allergy immunotherapy by sales / procurement channel, retail</a:t>
            </a:r>
          </a:p>
        </p:txBody>
      </p:sp>
      <p:sp>
        <p:nvSpPr>
          <p:cNvPr id="24" name="TextBox 23"/>
          <p:cNvSpPr txBox="1"/>
          <p:nvPr/>
        </p:nvSpPr>
        <p:spPr>
          <a:xfrm>
            <a:off x="276225" y="4394835"/>
            <a:ext cx="3778777" cy="194310"/>
          </a:xfrm>
          <a:prstGeom prst="rect">
            <a:avLst/>
          </a:prstGeom>
          <a:noFill/>
        </p:spPr>
        <p:txBody>
          <a:bodyPr wrap="none" lIns="0" rIns="0" tIns="0" bIns="0">
            <a:spAutoFit/>
          </a:bodyPr>
          <a:lstStyle/>
          <a:p>
            <a:r>
              <a:rPr sz="1150" b="0">
                <a:solidFill>
                  <a:srgbClr val="2E2E2E"/>
                </a:solidFill>
                <a:latin typeface="Calibri"/>
              </a:rPr>
              <a:t>pharmacy segment is expected to witness the highest CAGR of</a:t>
            </a:r>
          </a:p>
        </p:txBody>
      </p:sp>
      <p:pic>
        <p:nvPicPr>
          <p:cNvPr id="25" name="Picture 24" descr="lock.png"/>
          <p:cNvPicPr>
            <a:picLocks noChangeAspect="1"/>
          </p:cNvPicPr>
          <p:nvPr/>
        </p:nvPicPr>
        <p:blipFill>
          <a:blip r:embed="rId4"/>
          <a:stretch>
            <a:fillRect/>
          </a:stretch>
        </p:blipFill>
        <p:spPr>
          <a:xfrm>
            <a:off x="4004156" y="4384611"/>
            <a:ext cx="134549" cy="195707"/>
          </a:xfrm>
          <a:prstGeom prst="rect">
            <a:avLst/>
          </a:prstGeom>
        </p:spPr>
      </p:pic>
      <p:sp>
        <p:nvSpPr>
          <p:cNvPr id="26" name="TextBox 25"/>
          <p:cNvSpPr txBox="1"/>
          <p:nvPr/>
        </p:nvSpPr>
        <p:spPr>
          <a:xfrm>
            <a:off x="4179266"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622672"/>
            <a:ext cx="8113799" cy="194310"/>
          </a:xfrm>
          <a:prstGeom prst="rect">
            <a:avLst/>
          </a:prstGeom>
          <a:noFill/>
        </p:spPr>
        <p:txBody>
          <a:bodyPr wrap="none" lIns="0" rIns="0" tIns="0" bIns="0">
            <a:spAutoFit/>
          </a:bodyPr>
          <a:lstStyle/>
          <a:p>
            <a:r>
              <a:rPr sz="1150" b="0">
                <a:solidFill>
                  <a:srgbClr val="2E2E2E"/>
                </a:solidFill>
                <a:latin typeface="Calibri"/>
              </a:rPr>
              <a:t>In terms of value share by sales / procurement channel, the direct-to-allergy clinics segment is expected to dominate the market, losing</a:t>
            </a:r>
          </a:p>
        </p:txBody>
      </p:sp>
      <p:pic>
        <p:nvPicPr>
          <p:cNvPr id="28" name="Picture 27" descr="lock.png"/>
          <p:cNvPicPr>
            <a:picLocks noChangeAspect="1"/>
          </p:cNvPicPr>
          <p:nvPr/>
        </p:nvPicPr>
        <p:blipFill>
          <a:blip r:embed="rId4"/>
          <a:stretch>
            <a:fillRect/>
          </a:stretch>
        </p:blipFill>
        <p:spPr>
          <a:xfrm>
            <a:off x="8339178" y="4612449"/>
            <a:ext cx="134549" cy="195707"/>
          </a:xfrm>
          <a:prstGeom prst="rect">
            <a:avLst/>
          </a:prstGeom>
        </p:spPr>
      </p:pic>
      <p:sp>
        <p:nvSpPr>
          <p:cNvPr id="29" name="TextBox 28"/>
          <p:cNvSpPr txBox="1"/>
          <p:nvPr/>
        </p:nvSpPr>
        <p:spPr>
          <a:xfrm>
            <a:off x="8514287" y="46226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9909430" y="4612449"/>
            <a:ext cx="134549" cy="195707"/>
          </a:xfrm>
          <a:prstGeom prst="rect">
            <a:avLst/>
          </a:prstGeom>
        </p:spPr>
      </p:pic>
      <p:sp>
        <p:nvSpPr>
          <p:cNvPr id="31" name="TextBox 30"/>
          <p:cNvSpPr txBox="1"/>
          <p:nvPr/>
        </p:nvSpPr>
        <p:spPr>
          <a:xfrm>
            <a:off x="10084539" y="462267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2" name="TextBox 31"/>
          <p:cNvSpPr txBox="1"/>
          <p:nvPr/>
        </p:nvSpPr>
        <p:spPr>
          <a:xfrm>
            <a:off x="276225" y="4797932"/>
            <a:ext cx="3047975" cy="194310"/>
          </a:xfrm>
          <a:prstGeom prst="rect">
            <a:avLst/>
          </a:prstGeom>
          <a:noFill/>
        </p:spPr>
        <p:txBody>
          <a:bodyPr wrap="none" lIns="0" rIns="0" tIns="0" bIns="0">
            <a:spAutoFit/>
          </a:bodyPr>
          <a:lstStyle/>
          <a:p>
            <a:r>
              <a:rPr sz="1150" b="0">
                <a:solidFill>
                  <a:srgbClr val="2E2E2E"/>
                </a:solidFill>
                <a:latin typeface="Calibri"/>
              </a:rPr>
              <a:t>hospital procurement segment is expected to lose</a:t>
            </a:r>
          </a:p>
        </p:txBody>
      </p:sp>
      <p:pic>
        <p:nvPicPr>
          <p:cNvPr id="33" name="Picture 32" descr="lock.png"/>
          <p:cNvPicPr>
            <a:picLocks noChangeAspect="1"/>
          </p:cNvPicPr>
          <p:nvPr/>
        </p:nvPicPr>
        <p:blipFill>
          <a:blip r:embed="rId4"/>
          <a:stretch>
            <a:fillRect/>
          </a:stretch>
        </p:blipFill>
        <p:spPr>
          <a:xfrm>
            <a:off x="3273354" y="4787709"/>
            <a:ext cx="134549" cy="195707"/>
          </a:xfrm>
          <a:prstGeom prst="rect">
            <a:avLst/>
          </a:prstGeom>
        </p:spPr>
      </p:pic>
      <p:sp>
        <p:nvSpPr>
          <p:cNvPr id="34" name="TextBox 33"/>
          <p:cNvSpPr txBox="1"/>
          <p:nvPr/>
        </p:nvSpPr>
        <p:spPr>
          <a:xfrm>
            <a:off x="3448463" y="47979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6035967" y="4787709"/>
            <a:ext cx="134549" cy="195707"/>
          </a:xfrm>
          <a:prstGeom prst="rect">
            <a:avLst/>
          </a:prstGeom>
        </p:spPr>
      </p:pic>
      <p:sp>
        <p:nvSpPr>
          <p:cNvPr id="36" name="TextBox 35"/>
          <p:cNvSpPr txBox="1"/>
          <p:nvPr/>
        </p:nvSpPr>
        <p:spPr>
          <a:xfrm>
            <a:off x="6211077" y="47979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Sales / Procurement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Sales / Procurement Channel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Sales / Procurement Channel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908123"/>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190336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82716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Retail Pharmacy</a:t>
            </a:r>
          </a:p>
        </p:txBody>
      </p:sp>
      <p:sp>
        <p:nvSpPr>
          <p:cNvPr id="19" name="BPS Value 1"/>
          <p:cNvSpPr txBox="1"/>
          <p:nvPr/>
        </p:nvSpPr>
        <p:spPr>
          <a:xfrm>
            <a:off x="6896100" y="188907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928997" y="2447090"/>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44232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36612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Pharmaceutical Distributor</a:t>
            </a:r>
          </a:p>
        </p:txBody>
      </p:sp>
      <p:sp>
        <p:nvSpPr>
          <p:cNvPr id="23" name="BPS Value 2"/>
          <p:cNvSpPr txBox="1"/>
          <p:nvPr/>
        </p:nvSpPr>
        <p:spPr>
          <a:xfrm>
            <a:off x="6896100" y="242804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928997" y="313043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312566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304946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Hospital Procurement</a:t>
            </a:r>
          </a:p>
        </p:txBody>
      </p:sp>
      <p:sp>
        <p:nvSpPr>
          <p:cNvPr id="27" name="BPS Value 3"/>
          <p:cNvSpPr txBox="1"/>
          <p:nvPr/>
        </p:nvSpPr>
        <p:spPr>
          <a:xfrm>
            <a:off x="6896100" y="311138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FMI Legend Chip"/>
          <p:cNvSpPr/>
          <p:nvPr/>
        </p:nvSpPr>
        <p:spPr>
          <a:xfrm>
            <a:off x="4928997" y="393179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392703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385083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Mail-order Pharmacy</a:t>
            </a:r>
          </a:p>
        </p:txBody>
      </p:sp>
      <p:sp>
        <p:nvSpPr>
          <p:cNvPr id="31" name="BPS Value 4"/>
          <p:cNvSpPr txBox="1"/>
          <p:nvPr/>
        </p:nvSpPr>
        <p:spPr>
          <a:xfrm>
            <a:off x="6896100" y="391274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529777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5090922" y="529301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521681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Direct-to-Allergy Clinics</a:t>
            </a:r>
          </a:p>
        </p:txBody>
      </p:sp>
      <p:sp>
        <p:nvSpPr>
          <p:cNvPr id="35" name="BPS Value 5"/>
          <p:cNvSpPr txBox="1"/>
          <p:nvPr/>
        </p:nvSpPr>
        <p:spPr>
          <a:xfrm>
            <a:off x="6896100" y="527872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Sales / Procurement Channel</a:t>
            </a:r>
          </a:p>
        </p:txBody>
      </p:sp>
      <p:sp>
        <p:nvSpPr>
          <p:cNvPr id="38" name="Rectangle 37"/>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TextBox 3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1" name="Picture 40" descr="lock.png"/>
          <p:cNvPicPr>
            <a:picLocks noChangeAspect="1"/>
          </p:cNvPicPr>
          <p:nvPr/>
        </p:nvPicPr>
        <p:blipFill>
          <a:blip r:embed="rId5"/>
          <a:stretch>
            <a:fillRect/>
          </a:stretch>
        </p:blipFill>
        <p:spPr>
          <a:xfrm>
            <a:off x="2557843" y="3833622"/>
            <a:ext cx="275034" cy="400050"/>
          </a:xfrm>
          <a:prstGeom prst="rect">
            <a:avLst/>
          </a:prstGeom>
        </p:spPr>
      </p:pic>
      <p:sp>
        <p:nvSpPr>
          <p:cNvPr id="42" name="TextBox 41"/>
          <p:cNvSpPr txBox="1"/>
          <p:nvPr/>
        </p:nvSpPr>
        <p:spPr>
          <a:xfrm>
            <a:off x="7829550" y="1400175"/>
            <a:ext cx="3864371" cy="194310"/>
          </a:xfrm>
          <a:prstGeom prst="rect">
            <a:avLst/>
          </a:prstGeom>
          <a:noFill/>
        </p:spPr>
        <p:txBody>
          <a:bodyPr wrap="none" lIns="0" rIns="0" tIns="0" bIns="0">
            <a:spAutoFit/>
          </a:bodyPr>
          <a:lstStyle/>
          <a:p>
            <a:r>
              <a:rPr sz="1150" b="0">
                <a:solidFill>
                  <a:srgbClr val="2E2E2E"/>
                </a:solidFill>
                <a:latin typeface="Calibri"/>
              </a:rPr>
              <a:t>Among allergy immunotherapy by sales / procurement channel,</a:t>
            </a:r>
          </a:p>
        </p:txBody>
      </p:sp>
      <p:sp>
        <p:nvSpPr>
          <p:cNvPr id="43" name="TextBox 42"/>
          <p:cNvSpPr txBox="1"/>
          <p:nvPr/>
        </p:nvSpPr>
        <p:spPr>
          <a:xfrm>
            <a:off x="7829550" y="1575435"/>
            <a:ext cx="4057650" cy="194310"/>
          </a:xfrm>
          <a:prstGeom prst="rect">
            <a:avLst/>
          </a:prstGeom>
          <a:noFill/>
        </p:spPr>
        <p:txBody>
          <a:bodyPr wrap="none" lIns="0" rIns="0" tIns="0" bIns="0">
            <a:spAutoFit/>
          </a:bodyPr>
          <a:lstStyle/>
          <a:p>
            <a:r>
              <a:rPr sz="1150" b="0">
                <a:solidFill>
                  <a:srgbClr val="2E2E2E"/>
                </a:solidFill>
                <a:latin typeface="Calibri"/>
              </a:rPr>
              <a:t>retail pharmacy segment is expected to witness the highest CAGR of</a:t>
            </a:r>
          </a:p>
        </p:txBody>
      </p:sp>
      <p:pic>
        <p:nvPicPr>
          <p:cNvPr id="44" name="Picture 43" descr="lock.png"/>
          <p:cNvPicPr>
            <a:picLocks noChangeAspect="1"/>
          </p:cNvPicPr>
          <p:nvPr/>
        </p:nvPicPr>
        <p:blipFill>
          <a:blip r:embed="rId5"/>
          <a:stretch>
            <a:fillRect/>
          </a:stretch>
        </p:blipFill>
        <p:spPr>
          <a:xfrm>
            <a:off x="7815470" y="1740471"/>
            <a:ext cx="134549" cy="195707"/>
          </a:xfrm>
          <a:prstGeom prst="rect">
            <a:avLst/>
          </a:prstGeom>
        </p:spPr>
      </p:pic>
      <p:sp>
        <p:nvSpPr>
          <p:cNvPr id="45" name="TextBox 44"/>
          <p:cNvSpPr txBox="1"/>
          <p:nvPr/>
        </p:nvSpPr>
        <p:spPr>
          <a:xfrm>
            <a:off x="7990579" y="1750695"/>
            <a:ext cx="3531195"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sales /</a:t>
            </a:r>
          </a:p>
        </p:txBody>
      </p:sp>
      <p:sp>
        <p:nvSpPr>
          <p:cNvPr id="46" name="TextBox 45"/>
          <p:cNvSpPr txBox="1"/>
          <p:nvPr/>
        </p:nvSpPr>
        <p:spPr>
          <a:xfrm>
            <a:off x="7829550" y="1925955"/>
            <a:ext cx="3680383" cy="194310"/>
          </a:xfrm>
          <a:prstGeom prst="rect">
            <a:avLst/>
          </a:prstGeom>
          <a:noFill/>
        </p:spPr>
        <p:txBody>
          <a:bodyPr wrap="none" lIns="0" rIns="0" tIns="0" bIns="0">
            <a:spAutoFit/>
          </a:bodyPr>
          <a:lstStyle/>
          <a:p>
            <a:r>
              <a:rPr sz="1150" b="0">
                <a:solidFill>
                  <a:srgbClr val="2E2E2E"/>
                </a:solidFill>
                <a:latin typeface="Calibri"/>
              </a:rPr>
              <a:t>procurement channel, the direct-to-allergy clinics segment is</a:t>
            </a:r>
          </a:p>
        </p:txBody>
      </p:sp>
      <p:sp>
        <p:nvSpPr>
          <p:cNvPr id="47" name="TextBox 46"/>
          <p:cNvSpPr txBox="1"/>
          <p:nvPr/>
        </p:nvSpPr>
        <p:spPr>
          <a:xfrm>
            <a:off x="7829550" y="2101215"/>
            <a:ext cx="2494012" cy="194310"/>
          </a:xfrm>
          <a:prstGeom prst="rect">
            <a:avLst/>
          </a:prstGeom>
          <a:noFill/>
        </p:spPr>
        <p:txBody>
          <a:bodyPr wrap="none" lIns="0" rIns="0" tIns="0" bIns="0">
            <a:spAutoFit/>
          </a:bodyPr>
          <a:lstStyle/>
          <a:p>
            <a:r>
              <a:rPr sz="1150" b="0">
                <a:solidFill>
                  <a:srgbClr val="2E2E2E"/>
                </a:solidFill>
                <a:latin typeface="Calibri"/>
              </a:rPr>
              <a:t>expected to dominate the market, losing</a:t>
            </a:r>
          </a:p>
        </p:txBody>
      </p:sp>
      <p:pic>
        <p:nvPicPr>
          <p:cNvPr id="48" name="Picture 47" descr="lock.png"/>
          <p:cNvPicPr>
            <a:picLocks noChangeAspect="1"/>
          </p:cNvPicPr>
          <p:nvPr/>
        </p:nvPicPr>
        <p:blipFill>
          <a:blip r:embed="rId5"/>
          <a:stretch>
            <a:fillRect/>
          </a:stretch>
        </p:blipFill>
        <p:spPr>
          <a:xfrm>
            <a:off x="10272716" y="2090991"/>
            <a:ext cx="134549" cy="195707"/>
          </a:xfrm>
          <a:prstGeom prst="rect">
            <a:avLst/>
          </a:prstGeom>
        </p:spPr>
      </p:pic>
      <p:sp>
        <p:nvSpPr>
          <p:cNvPr id="49" name="TextBox 48"/>
          <p:cNvSpPr txBox="1"/>
          <p:nvPr/>
        </p:nvSpPr>
        <p:spPr>
          <a:xfrm>
            <a:off x="10447825" y="210121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50" name="TextBox 49"/>
          <p:cNvSpPr txBox="1"/>
          <p:nvPr/>
        </p:nvSpPr>
        <p:spPr>
          <a:xfrm>
            <a:off x="7829550" y="227647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51" name="Picture 50" descr="lock.png"/>
          <p:cNvPicPr>
            <a:picLocks noChangeAspect="1"/>
          </p:cNvPicPr>
          <p:nvPr/>
        </p:nvPicPr>
        <p:blipFill>
          <a:blip r:embed="rId5"/>
          <a:stretch>
            <a:fillRect/>
          </a:stretch>
        </p:blipFill>
        <p:spPr>
          <a:xfrm>
            <a:off x="8027482" y="2266251"/>
            <a:ext cx="134549" cy="195707"/>
          </a:xfrm>
          <a:prstGeom prst="rect">
            <a:avLst/>
          </a:prstGeom>
        </p:spPr>
      </p:pic>
      <p:sp>
        <p:nvSpPr>
          <p:cNvPr id="52" name="TextBox 51"/>
          <p:cNvSpPr txBox="1"/>
          <p:nvPr/>
        </p:nvSpPr>
        <p:spPr>
          <a:xfrm>
            <a:off x="8202591"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TextBox 52"/>
          <p:cNvSpPr txBox="1"/>
          <p:nvPr/>
        </p:nvSpPr>
        <p:spPr>
          <a:xfrm>
            <a:off x="7829550" y="2504313"/>
            <a:ext cx="3301851" cy="194310"/>
          </a:xfrm>
          <a:prstGeom prst="rect">
            <a:avLst/>
          </a:prstGeom>
          <a:noFill/>
        </p:spPr>
        <p:txBody>
          <a:bodyPr wrap="none" lIns="0" rIns="0" tIns="0" bIns="0">
            <a:spAutoFit/>
          </a:bodyPr>
          <a:lstStyle/>
          <a:p>
            <a:r>
              <a:rPr sz="1150" b="0">
                <a:solidFill>
                  <a:srgbClr val="2E2E2E"/>
                </a:solidFill>
                <a:latin typeface="Calibri"/>
              </a:rPr>
              <a:t>The hospital procurement segment is expected to lose</a:t>
            </a:r>
          </a:p>
        </p:txBody>
      </p:sp>
      <p:pic>
        <p:nvPicPr>
          <p:cNvPr id="54" name="Picture 53" descr="lock.png"/>
          <p:cNvPicPr>
            <a:picLocks noChangeAspect="1"/>
          </p:cNvPicPr>
          <p:nvPr/>
        </p:nvPicPr>
        <p:blipFill>
          <a:blip r:embed="rId5"/>
          <a:stretch>
            <a:fillRect/>
          </a:stretch>
        </p:blipFill>
        <p:spPr>
          <a:xfrm>
            <a:off x="11080555" y="2494089"/>
            <a:ext cx="134549" cy="195707"/>
          </a:xfrm>
          <a:prstGeom prst="rect">
            <a:avLst/>
          </a:prstGeom>
        </p:spPr>
      </p:pic>
      <p:sp>
        <p:nvSpPr>
          <p:cNvPr id="55" name="TextBox 54"/>
          <p:cNvSpPr txBox="1"/>
          <p:nvPr/>
        </p:nvSpPr>
        <p:spPr>
          <a:xfrm>
            <a:off x="11255664" y="250431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6" name="TextBox 55"/>
          <p:cNvSpPr txBox="1"/>
          <p:nvPr/>
        </p:nvSpPr>
        <p:spPr>
          <a:xfrm>
            <a:off x="7829550" y="267957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7" name="Picture 56" descr="lock.png"/>
          <p:cNvPicPr>
            <a:picLocks noChangeAspect="1"/>
          </p:cNvPicPr>
          <p:nvPr/>
        </p:nvPicPr>
        <p:blipFill>
          <a:blip r:embed="rId5"/>
          <a:stretch>
            <a:fillRect/>
          </a:stretch>
        </p:blipFill>
        <p:spPr>
          <a:xfrm>
            <a:off x="10161752" y="2669349"/>
            <a:ext cx="134549" cy="195707"/>
          </a:xfrm>
          <a:prstGeom prst="rect">
            <a:avLst/>
          </a:prstGeom>
        </p:spPr>
      </p:pic>
      <p:sp>
        <p:nvSpPr>
          <p:cNvPr id="58" name="TextBox 57"/>
          <p:cNvSpPr txBox="1"/>
          <p:nvPr/>
        </p:nvSpPr>
        <p:spPr>
          <a:xfrm>
            <a:off x="10336861"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9"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Cross-sectional Assessment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 Allergen Class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 Therapy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 Allergen Preparation Technology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Company × Allergen Class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Company × Allergen Class,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company sub-segment across allergen class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Company × Allergen Class, 2026E and 2036F (US$ Mn)</a:t>
            </a:r>
          </a:p>
        </p:txBody>
      </p:sp>
      <p:graphicFrame>
        <p:nvGraphicFramePr>
          <p:cNvPr id="13" name="Table 12"/>
          <p:cNvGraphicFramePr>
            <a:graphicFrameLocks noGrp="1"/>
          </p:cNvGraphicFramePr>
          <p:nvPr/>
        </p:nvGraphicFramePr>
        <p:xfrm>
          <a:off x="152400" y="1238250"/>
          <a:ext cx="11887199" cy="3200406"/>
        </p:xfrm>
        <a:graphic>
          <a:graphicData uri="http://schemas.openxmlformats.org/drawingml/2006/table">
            <a:tbl>
              <a:tblPr>
                <a:tableStyleId>{5C22544A-7EE6-4342-B048-85BDC9FD1C3A}</a:tableStyleId>
              </a:tblPr>
              <a:tblGrid>
                <a:gridCol w="4653631"/>
                <a:gridCol w="904196"/>
                <a:gridCol w="904196"/>
                <a:gridCol w="904196"/>
                <a:gridCol w="904196"/>
                <a:gridCol w="904196"/>
                <a:gridCol w="904196"/>
                <a:gridCol w="904196"/>
                <a:gridCol w="904196"/>
              </a:tblGrid>
              <a:tr h="246126">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Inhalant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Venom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Food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190">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2,428</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5,439</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8236125" y="2817911"/>
            <a:ext cx="366712" cy="533399"/>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Company × Allergen Class,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company sub-segment across allergen class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Company → Allergen Class, 2036F (US$ Mn)</a:t>
            </a:r>
          </a:p>
        </p:txBody>
      </p:sp>
      <p:sp>
        <p:nvSpPr>
          <p:cNvPr id="12" name="Freeform 11"/>
          <p:cNvSpPr/>
          <p:nvPr/>
        </p:nvSpPr>
        <p:spPr>
          <a:xfrm>
            <a:off x="2057400" y="1304925"/>
            <a:ext cx="3743325" cy="495300"/>
          </a:xfrm>
          <a:custGeom>
            <a:avLst/>
            <a:gdLst/>
            <a:ahLst/>
            <a:cxnLst/>
            <a:rect l="l" t="t" r="r" b="b"/>
            <a:pathLst>
              <a:path w="393" h="52">
                <a:moveTo>
                  <a:pt x="0" y="0"/>
                </a:moveTo>
                <a:lnTo>
                  <a:pt x="16" y="0"/>
                </a:lnTo>
                <a:lnTo>
                  <a:pt x="33" y="0"/>
                </a:lnTo>
                <a:lnTo>
                  <a:pt x="49" y="1"/>
                </a:lnTo>
                <a:lnTo>
                  <a:pt x="65" y="2"/>
                </a:lnTo>
                <a:lnTo>
                  <a:pt x="82" y="2"/>
                </a:lnTo>
                <a:lnTo>
                  <a:pt x="98" y="3"/>
                </a:lnTo>
                <a:lnTo>
                  <a:pt x="114" y="4"/>
                </a:lnTo>
                <a:lnTo>
                  <a:pt x="131" y="5"/>
                </a:lnTo>
                <a:lnTo>
                  <a:pt x="147" y="7"/>
                </a:lnTo>
                <a:lnTo>
                  <a:pt x="164" y="8"/>
                </a:lnTo>
                <a:lnTo>
                  <a:pt x="180" y="9"/>
                </a:lnTo>
                <a:lnTo>
                  <a:pt x="196" y="11"/>
                </a:lnTo>
                <a:lnTo>
                  <a:pt x="213" y="12"/>
                </a:lnTo>
                <a:lnTo>
                  <a:pt x="229" y="13"/>
                </a:lnTo>
                <a:lnTo>
                  <a:pt x="246" y="14"/>
                </a:lnTo>
                <a:lnTo>
                  <a:pt x="262" y="16"/>
                </a:lnTo>
                <a:lnTo>
                  <a:pt x="278" y="17"/>
                </a:lnTo>
                <a:lnTo>
                  <a:pt x="295" y="18"/>
                </a:lnTo>
                <a:lnTo>
                  <a:pt x="311" y="19"/>
                </a:lnTo>
                <a:lnTo>
                  <a:pt x="327" y="19"/>
                </a:lnTo>
                <a:lnTo>
                  <a:pt x="344" y="20"/>
                </a:lnTo>
                <a:lnTo>
                  <a:pt x="360" y="21"/>
                </a:lnTo>
                <a:lnTo>
                  <a:pt x="377" y="21"/>
                </a:lnTo>
                <a:lnTo>
                  <a:pt x="393" y="21"/>
                </a:lnTo>
                <a:lnTo>
                  <a:pt x="393" y="52"/>
                </a:lnTo>
                <a:lnTo>
                  <a:pt x="377" y="52"/>
                </a:lnTo>
                <a:lnTo>
                  <a:pt x="360" y="52"/>
                </a:lnTo>
                <a:lnTo>
                  <a:pt x="344" y="51"/>
                </a:lnTo>
                <a:lnTo>
                  <a:pt x="327" y="51"/>
                </a:lnTo>
                <a:lnTo>
                  <a:pt x="311" y="50"/>
                </a:lnTo>
                <a:lnTo>
                  <a:pt x="295" y="49"/>
                </a:lnTo>
                <a:lnTo>
                  <a:pt x="278" y="48"/>
                </a:lnTo>
                <a:lnTo>
                  <a:pt x="262" y="47"/>
                </a:lnTo>
                <a:lnTo>
                  <a:pt x="246" y="46"/>
                </a:lnTo>
                <a:lnTo>
                  <a:pt x="229" y="44"/>
                </a:lnTo>
                <a:lnTo>
                  <a:pt x="213" y="43"/>
                </a:lnTo>
                <a:lnTo>
                  <a:pt x="196" y="42"/>
                </a:lnTo>
                <a:lnTo>
                  <a:pt x="180" y="41"/>
                </a:lnTo>
                <a:lnTo>
                  <a:pt x="164" y="39"/>
                </a:lnTo>
                <a:lnTo>
                  <a:pt x="147" y="38"/>
                </a:lnTo>
                <a:lnTo>
                  <a:pt x="131" y="37"/>
                </a:lnTo>
                <a:lnTo>
                  <a:pt x="114" y="36"/>
                </a:lnTo>
                <a:lnTo>
                  <a:pt x="98" y="35"/>
                </a:lnTo>
                <a:lnTo>
                  <a:pt x="82" y="34"/>
                </a:lnTo>
                <a:lnTo>
                  <a:pt x="65" y="33"/>
                </a:lnTo>
                <a:lnTo>
                  <a:pt x="49" y="32"/>
                </a:lnTo>
                <a:lnTo>
                  <a:pt x="33" y="32"/>
                </a:lnTo>
                <a:lnTo>
                  <a:pt x="16" y="31"/>
                </a:lnTo>
                <a:lnTo>
                  <a:pt x="0" y="3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600200"/>
            <a:ext cx="3743325" cy="3067050"/>
          </a:xfrm>
          <a:custGeom>
            <a:avLst/>
            <a:gdLst/>
            <a:ahLst/>
            <a:cxnLst/>
            <a:rect l="l" t="t" r="r" b="b"/>
            <a:pathLst>
              <a:path w="393" h="322">
                <a:moveTo>
                  <a:pt x="0" y="0"/>
                </a:moveTo>
                <a:lnTo>
                  <a:pt x="16" y="2"/>
                </a:lnTo>
                <a:lnTo>
                  <a:pt x="33" y="7"/>
                </a:lnTo>
                <a:lnTo>
                  <a:pt x="49" y="14"/>
                </a:lnTo>
                <a:lnTo>
                  <a:pt x="65" y="23"/>
                </a:lnTo>
                <a:lnTo>
                  <a:pt x="82" y="35"/>
                </a:lnTo>
                <a:lnTo>
                  <a:pt x="98" y="49"/>
                </a:lnTo>
                <a:lnTo>
                  <a:pt x="114" y="65"/>
                </a:lnTo>
                <a:lnTo>
                  <a:pt x="131" y="81"/>
                </a:lnTo>
                <a:lnTo>
                  <a:pt x="147" y="99"/>
                </a:lnTo>
                <a:lnTo>
                  <a:pt x="164" y="118"/>
                </a:lnTo>
                <a:lnTo>
                  <a:pt x="180" y="137"/>
                </a:lnTo>
                <a:lnTo>
                  <a:pt x="196" y="156"/>
                </a:lnTo>
                <a:lnTo>
                  <a:pt x="213" y="176"/>
                </a:lnTo>
                <a:lnTo>
                  <a:pt x="229" y="195"/>
                </a:lnTo>
                <a:lnTo>
                  <a:pt x="246" y="214"/>
                </a:lnTo>
                <a:lnTo>
                  <a:pt x="262" y="231"/>
                </a:lnTo>
                <a:lnTo>
                  <a:pt x="278" y="248"/>
                </a:lnTo>
                <a:lnTo>
                  <a:pt x="295" y="264"/>
                </a:lnTo>
                <a:lnTo>
                  <a:pt x="311" y="277"/>
                </a:lnTo>
                <a:lnTo>
                  <a:pt x="327" y="289"/>
                </a:lnTo>
                <a:lnTo>
                  <a:pt x="344" y="299"/>
                </a:lnTo>
                <a:lnTo>
                  <a:pt x="360" y="306"/>
                </a:lnTo>
                <a:lnTo>
                  <a:pt x="377" y="311"/>
                </a:lnTo>
                <a:lnTo>
                  <a:pt x="393" y="312"/>
                </a:lnTo>
                <a:lnTo>
                  <a:pt x="393" y="322"/>
                </a:lnTo>
                <a:lnTo>
                  <a:pt x="377" y="321"/>
                </a:lnTo>
                <a:lnTo>
                  <a:pt x="360" y="316"/>
                </a:lnTo>
                <a:lnTo>
                  <a:pt x="344" y="309"/>
                </a:lnTo>
                <a:lnTo>
                  <a:pt x="327" y="299"/>
                </a:lnTo>
                <a:lnTo>
                  <a:pt x="311" y="287"/>
                </a:lnTo>
                <a:lnTo>
                  <a:pt x="295" y="273"/>
                </a:lnTo>
                <a:lnTo>
                  <a:pt x="278" y="258"/>
                </a:lnTo>
                <a:lnTo>
                  <a:pt x="262" y="241"/>
                </a:lnTo>
                <a:lnTo>
                  <a:pt x="246" y="224"/>
                </a:lnTo>
                <a:lnTo>
                  <a:pt x="229" y="205"/>
                </a:lnTo>
                <a:lnTo>
                  <a:pt x="213" y="186"/>
                </a:lnTo>
                <a:lnTo>
                  <a:pt x="196" y="166"/>
                </a:lnTo>
                <a:lnTo>
                  <a:pt x="180" y="147"/>
                </a:lnTo>
                <a:lnTo>
                  <a:pt x="164" y="128"/>
                </a:lnTo>
                <a:lnTo>
                  <a:pt x="147" y="109"/>
                </a:lnTo>
                <a:lnTo>
                  <a:pt x="131" y="91"/>
                </a:lnTo>
                <a:lnTo>
                  <a:pt x="114" y="74"/>
                </a:lnTo>
                <a:lnTo>
                  <a:pt x="98" y="59"/>
                </a:lnTo>
                <a:lnTo>
                  <a:pt x="82" y="45"/>
                </a:lnTo>
                <a:lnTo>
                  <a:pt x="65" y="33"/>
                </a:lnTo>
                <a:lnTo>
                  <a:pt x="49" y="24"/>
                </a:lnTo>
                <a:lnTo>
                  <a:pt x="33" y="16"/>
                </a:lnTo>
                <a:lnTo>
                  <a:pt x="16" y="12"/>
                </a:lnTo>
                <a:lnTo>
                  <a:pt x="0" y="1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1695450"/>
            <a:ext cx="3743325" cy="3952875"/>
          </a:xfrm>
          <a:custGeom>
            <a:avLst/>
            <a:gdLst/>
            <a:ahLst/>
            <a:cxnLst/>
            <a:rect l="l" t="t" r="r" b="b"/>
            <a:pathLst>
              <a:path w="393" h="415">
                <a:moveTo>
                  <a:pt x="0" y="0"/>
                </a:moveTo>
                <a:lnTo>
                  <a:pt x="16" y="2"/>
                </a:lnTo>
                <a:lnTo>
                  <a:pt x="33" y="8"/>
                </a:lnTo>
                <a:lnTo>
                  <a:pt x="49" y="18"/>
                </a:lnTo>
                <a:lnTo>
                  <a:pt x="65" y="30"/>
                </a:lnTo>
                <a:lnTo>
                  <a:pt x="82" y="46"/>
                </a:lnTo>
                <a:lnTo>
                  <a:pt x="98" y="64"/>
                </a:lnTo>
                <a:lnTo>
                  <a:pt x="114" y="84"/>
                </a:lnTo>
                <a:lnTo>
                  <a:pt x="131" y="106"/>
                </a:lnTo>
                <a:lnTo>
                  <a:pt x="147" y="129"/>
                </a:lnTo>
                <a:lnTo>
                  <a:pt x="164" y="153"/>
                </a:lnTo>
                <a:lnTo>
                  <a:pt x="180" y="178"/>
                </a:lnTo>
                <a:lnTo>
                  <a:pt x="196" y="204"/>
                </a:lnTo>
                <a:lnTo>
                  <a:pt x="213" y="229"/>
                </a:lnTo>
                <a:lnTo>
                  <a:pt x="229" y="254"/>
                </a:lnTo>
                <a:lnTo>
                  <a:pt x="246" y="278"/>
                </a:lnTo>
                <a:lnTo>
                  <a:pt x="262" y="302"/>
                </a:lnTo>
                <a:lnTo>
                  <a:pt x="278" y="323"/>
                </a:lnTo>
                <a:lnTo>
                  <a:pt x="295" y="344"/>
                </a:lnTo>
                <a:lnTo>
                  <a:pt x="311" y="361"/>
                </a:lnTo>
                <a:lnTo>
                  <a:pt x="327" y="377"/>
                </a:lnTo>
                <a:lnTo>
                  <a:pt x="344" y="390"/>
                </a:lnTo>
                <a:lnTo>
                  <a:pt x="360" y="399"/>
                </a:lnTo>
                <a:lnTo>
                  <a:pt x="377" y="405"/>
                </a:lnTo>
                <a:lnTo>
                  <a:pt x="393" y="407"/>
                </a:lnTo>
                <a:lnTo>
                  <a:pt x="393" y="415"/>
                </a:lnTo>
                <a:lnTo>
                  <a:pt x="377" y="413"/>
                </a:lnTo>
                <a:lnTo>
                  <a:pt x="360" y="407"/>
                </a:lnTo>
                <a:lnTo>
                  <a:pt x="344" y="398"/>
                </a:lnTo>
                <a:lnTo>
                  <a:pt x="327" y="385"/>
                </a:lnTo>
                <a:lnTo>
                  <a:pt x="311" y="370"/>
                </a:lnTo>
                <a:lnTo>
                  <a:pt x="295" y="352"/>
                </a:lnTo>
                <a:lnTo>
                  <a:pt x="278" y="332"/>
                </a:lnTo>
                <a:lnTo>
                  <a:pt x="262" y="310"/>
                </a:lnTo>
                <a:lnTo>
                  <a:pt x="246" y="287"/>
                </a:lnTo>
                <a:lnTo>
                  <a:pt x="229" y="262"/>
                </a:lnTo>
                <a:lnTo>
                  <a:pt x="213" y="237"/>
                </a:lnTo>
                <a:lnTo>
                  <a:pt x="196" y="212"/>
                </a:lnTo>
                <a:lnTo>
                  <a:pt x="180" y="187"/>
                </a:lnTo>
                <a:lnTo>
                  <a:pt x="164" y="162"/>
                </a:lnTo>
                <a:lnTo>
                  <a:pt x="147" y="137"/>
                </a:lnTo>
                <a:lnTo>
                  <a:pt x="131" y="114"/>
                </a:lnTo>
                <a:lnTo>
                  <a:pt x="114" y="92"/>
                </a:lnTo>
                <a:lnTo>
                  <a:pt x="98" y="72"/>
                </a:lnTo>
                <a:lnTo>
                  <a:pt x="82" y="54"/>
                </a:lnTo>
                <a:lnTo>
                  <a:pt x="65" y="39"/>
                </a:lnTo>
                <a:lnTo>
                  <a:pt x="49" y="26"/>
                </a:lnTo>
                <a:lnTo>
                  <a:pt x="33" y="17"/>
                </a:lnTo>
                <a:lnTo>
                  <a:pt x="16" y="11"/>
                </a:lnTo>
                <a:lnTo>
                  <a:pt x="0" y="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1800225"/>
            <a:ext cx="3743325" cy="333375"/>
          </a:xfrm>
          <a:custGeom>
            <a:avLst/>
            <a:gdLst/>
            <a:ahLst/>
            <a:cxnLst/>
            <a:rect l="l" t="t" r="r" b="b"/>
            <a:pathLst>
              <a:path w="393" h="35">
                <a:moveTo>
                  <a:pt x="0" y="4"/>
                </a:moveTo>
                <a:lnTo>
                  <a:pt x="16" y="3"/>
                </a:lnTo>
                <a:lnTo>
                  <a:pt x="33" y="3"/>
                </a:lnTo>
                <a:lnTo>
                  <a:pt x="49" y="3"/>
                </a:lnTo>
                <a:lnTo>
                  <a:pt x="65" y="3"/>
                </a:lnTo>
                <a:lnTo>
                  <a:pt x="82" y="3"/>
                </a:lnTo>
                <a:lnTo>
                  <a:pt x="98" y="3"/>
                </a:lnTo>
                <a:lnTo>
                  <a:pt x="114" y="3"/>
                </a:lnTo>
                <a:lnTo>
                  <a:pt x="131" y="3"/>
                </a:lnTo>
                <a:lnTo>
                  <a:pt x="147" y="3"/>
                </a:lnTo>
                <a:lnTo>
                  <a:pt x="164" y="2"/>
                </a:lnTo>
                <a:lnTo>
                  <a:pt x="180" y="2"/>
                </a:lnTo>
                <a:lnTo>
                  <a:pt x="196" y="2"/>
                </a:lnTo>
                <a:lnTo>
                  <a:pt x="213" y="2"/>
                </a:lnTo>
                <a:lnTo>
                  <a:pt x="229" y="2"/>
                </a:lnTo>
                <a:lnTo>
                  <a:pt x="246" y="1"/>
                </a:lnTo>
                <a:lnTo>
                  <a:pt x="262" y="1"/>
                </a:lnTo>
                <a:lnTo>
                  <a:pt x="278" y="1"/>
                </a:lnTo>
                <a:lnTo>
                  <a:pt x="295" y="1"/>
                </a:lnTo>
                <a:lnTo>
                  <a:pt x="311" y="1"/>
                </a:lnTo>
                <a:lnTo>
                  <a:pt x="327" y="1"/>
                </a:lnTo>
                <a:lnTo>
                  <a:pt x="344" y="0"/>
                </a:lnTo>
                <a:lnTo>
                  <a:pt x="360" y="0"/>
                </a:lnTo>
                <a:lnTo>
                  <a:pt x="377" y="0"/>
                </a:lnTo>
                <a:lnTo>
                  <a:pt x="393" y="0"/>
                </a:lnTo>
                <a:lnTo>
                  <a:pt x="393" y="32"/>
                </a:lnTo>
                <a:lnTo>
                  <a:pt x="377" y="32"/>
                </a:lnTo>
                <a:lnTo>
                  <a:pt x="360" y="32"/>
                </a:lnTo>
                <a:lnTo>
                  <a:pt x="344" y="32"/>
                </a:lnTo>
                <a:lnTo>
                  <a:pt x="327" y="32"/>
                </a:lnTo>
                <a:lnTo>
                  <a:pt x="311" y="32"/>
                </a:lnTo>
                <a:lnTo>
                  <a:pt x="295" y="32"/>
                </a:lnTo>
                <a:lnTo>
                  <a:pt x="278" y="32"/>
                </a:lnTo>
                <a:lnTo>
                  <a:pt x="262" y="33"/>
                </a:lnTo>
                <a:lnTo>
                  <a:pt x="246" y="33"/>
                </a:lnTo>
                <a:lnTo>
                  <a:pt x="229" y="33"/>
                </a:lnTo>
                <a:lnTo>
                  <a:pt x="213" y="33"/>
                </a:lnTo>
                <a:lnTo>
                  <a:pt x="196" y="33"/>
                </a:lnTo>
                <a:lnTo>
                  <a:pt x="180" y="34"/>
                </a:lnTo>
                <a:lnTo>
                  <a:pt x="164" y="34"/>
                </a:lnTo>
                <a:lnTo>
                  <a:pt x="147" y="34"/>
                </a:lnTo>
                <a:lnTo>
                  <a:pt x="131" y="34"/>
                </a:lnTo>
                <a:lnTo>
                  <a:pt x="114" y="34"/>
                </a:lnTo>
                <a:lnTo>
                  <a:pt x="98" y="34"/>
                </a:lnTo>
                <a:lnTo>
                  <a:pt x="82" y="35"/>
                </a:lnTo>
                <a:lnTo>
                  <a:pt x="65" y="35"/>
                </a:lnTo>
                <a:lnTo>
                  <a:pt x="49" y="35"/>
                </a:lnTo>
                <a:lnTo>
                  <a:pt x="33" y="35"/>
                </a:lnTo>
                <a:lnTo>
                  <a:pt x="16" y="35"/>
                </a:lnTo>
                <a:lnTo>
                  <a:pt x="0" y="3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133600"/>
            <a:ext cx="3743325" cy="2628900"/>
          </a:xfrm>
          <a:custGeom>
            <a:avLst/>
            <a:gdLst/>
            <a:ahLst/>
            <a:cxnLst/>
            <a:rect l="l" t="t" r="r" b="b"/>
            <a:pathLst>
              <a:path w="393" h="276">
                <a:moveTo>
                  <a:pt x="0" y="0"/>
                </a:moveTo>
                <a:lnTo>
                  <a:pt x="16" y="1"/>
                </a:lnTo>
                <a:lnTo>
                  <a:pt x="33" y="5"/>
                </a:lnTo>
                <a:lnTo>
                  <a:pt x="49" y="11"/>
                </a:lnTo>
                <a:lnTo>
                  <a:pt x="65" y="20"/>
                </a:lnTo>
                <a:lnTo>
                  <a:pt x="82" y="30"/>
                </a:lnTo>
                <a:lnTo>
                  <a:pt x="98" y="41"/>
                </a:lnTo>
                <a:lnTo>
                  <a:pt x="114" y="55"/>
                </a:lnTo>
                <a:lnTo>
                  <a:pt x="131" y="69"/>
                </a:lnTo>
                <a:lnTo>
                  <a:pt x="147" y="84"/>
                </a:lnTo>
                <a:lnTo>
                  <a:pt x="164" y="100"/>
                </a:lnTo>
                <a:lnTo>
                  <a:pt x="180" y="116"/>
                </a:lnTo>
                <a:lnTo>
                  <a:pt x="196" y="133"/>
                </a:lnTo>
                <a:lnTo>
                  <a:pt x="213" y="150"/>
                </a:lnTo>
                <a:lnTo>
                  <a:pt x="229" y="166"/>
                </a:lnTo>
                <a:lnTo>
                  <a:pt x="246" y="182"/>
                </a:lnTo>
                <a:lnTo>
                  <a:pt x="262" y="197"/>
                </a:lnTo>
                <a:lnTo>
                  <a:pt x="278" y="211"/>
                </a:lnTo>
                <a:lnTo>
                  <a:pt x="295" y="225"/>
                </a:lnTo>
                <a:lnTo>
                  <a:pt x="311" y="236"/>
                </a:lnTo>
                <a:lnTo>
                  <a:pt x="327" y="246"/>
                </a:lnTo>
                <a:lnTo>
                  <a:pt x="344" y="255"/>
                </a:lnTo>
                <a:lnTo>
                  <a:pt x="360" y="261"/>
                </a:lnTo>
                <a:lnTo>
                  <a:pt x="377" y="265"/>
                </a:lnTo>
                <a:lnTo>
                  <a:pt x="393" y="266"/>
                </a:lnTo>
                <a:lnTo>
                  <a:pt x="393" y="276"/>
                </a:lnTo>
                <a:lnTo>
                  <a:pt x="377" y="275"/>
                </a:lnTo>
                <a:lnTo>
                  <a:pt x="360" y="271"/>
                </a:lnTo>
                <a:lnTo>
                  <a:pt x="344" y="265"/>
                </a:lnTo>
                <a:lnTo>
                  <a:pt x="327" y="256"/>
                </a:lnTo>
                <a:lnTo>
                  <a:pt x="311" y="246"/>
                </a:lnTo>
                <a:lnTo>
                  <a:pt x="295" y="234"/>
                </a:lnTo>
                <a:lnTo>
                  <a:pt x="278" y="221"/>
                </a:lnTo>
                <a:lnTo>
                  <a:pt x="262" y="207"/>
                </a:lnTo>
                <a:lnTo>
                  <a:pt x="246" y="192"/>
                </a:lnTo>
                <a:lnTo>
                  <a:pt x="229" y="176"/>
                </a:lnTo>
                <a:lnTo>
                  <a:pt x="213" y="160"/>
                </a:lnTo>
                <a:lnTo>
                  <a:pt x="196" y="143"/>
                </a:lnTo>
                <a:lnTo>
                  <a:pt x="180" y="126"/>
                </a:lnTo>
                <a:lnTo>
                  <a:pt x="164" y="110"/>
                </a:lnTo>
                <a:lnTo>
                  <a:pt x="147" y="94"/>
                </a:lnTo>
                <a:lnTo>
                  <a:pt x="131" y="79"/>
                </a:lnTo>
                <a:lnTo>
                  <a:pt x="114" y="64"/>
                </a:lnTo>
                <a:lnTo>
                  <a:pt x="98" y="51"/>
                </a:lnTo>
                <a:lnTo>
                  <a:pt x="82" y="40"/>
                </a:lnTo>
                <a:lnTo>
                  <a:pt x="65" y="29"/>
                </a:lnTo>
                <a:lnTo>
                  <a:pt x="49" y="21"/>
                </a:lnTo>
                <a:lnTo>
                  <a:pt x="33" y="15"/>
                </a:lnTo>
                <a:lnTo>
                  <a:pt x="16" y="11"/>
                </a:lnTo>
                <a:lnTo>
                  <a:pt x="0" y="1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2228850"/>
            <a:ext cx="3743325" cy="3505200"/>
          </a:xfrm>
          <a:custGeom>
            <a:avLst/>
            <a:gdLst/>
            <a:ahLst/>
            <a:cxnLst/>
            <a:rect l="l" t="t" r="r" b="b"/>
            <a:pathLst>
              <a:path w="393" h="368">
                <a:moveTo>
                  <a:pt x="0" y="0"/>
                </a:moveTo>
                <a:lnTo>
                  <a:pt x="16" y="2"/>
                </a:lnTo>
                <a:lnTo>
                  <a:pt x="33" y="7"/>
                </a:lnTo>
                <a:lnTo>
                  <a:pt x="49" y="15"/>
                </a:lnTo>
                <a:lnTo>
                  <a:pt x="65" y="26"/>
                </a:lnTo>
                <a:lnTo>
                  <a:pt x="82" y="40"/>
                </a:lnTo>
                <a:lnTo>
                  <a:pt x="98" y="56"/>
                </a:lnTo>
                <a:lnTo>
                  <a:pt x="114" y="74"/>
                </a:lnTo>
                <a:lnTo>
                  <a:pt x="131" y="93"/>
                </a:lnTo>
                <a:lnTo>
                  <a:pt x="147" y="114"/>
                </a:lnTo>
                <a:lnTo>
                  <a:pt x="164" y="135"/>
                </a:lnTo>
                <a:lnTo>
                  <a:pt x="180" y="157"/>
                </a:lnTo>
                <a:lnTo>
                  <a:pt x="196" y="180"/>
                </a:lnTo>
                <a:lnTo>
                  <a:pt x="213" y="202"/>
                </a:lnTo>
                <a:lnTo>
                  <a:pt x="229" y="224"/>
                </a:lnTo>
                <a:lnTo>
                  <a:pt x="246" y="246"/>
                </a:lnTo>
                <a:lnTo>
                  <a:pt x="262" y="266"/>
                </a:lnTo>
                <a:lnTo>
                  <a:pt x="278" y="285"/>
                </a:lnTo>
                <a:lnTo>
                  <a:pt x="295" y="303"/>
                </a:lnTo>
                <a:lnTo>
                  <a:pt x="311" y="319"/>
                </a:lnTo>
                <a:lnTo>
                  <a:pt x="327" y="333"/>
                </a:lnTo>
                <a:lnTo>
                  <a:pt x="344" y="344"/>
                </a:lnTo>
                <a:lnTo>
                  <a:pt x="360" y="352"/>
                </a:lnTo>
                <a:lnTo>
                  <a:pt x="377" y="358"/>
                </a:lnTo>
                <a:lnTo>
                  <a:pt x="393" y="359"/>
                </a:lnTo>
                <a:lnTo>
                  <a:pt x="393" y="368"/>
                </a:lnTo>
                <a:lnTo>
                  <a:pt x="377" y="366"/>
                </a:lnTo>
                <a:lnTo>
                  <a:pt x="360" y="361"/>
                </a:lnTo>
                <a:lnTo>
                  <a:pt x="344" y="352"/>
                </a:lnTo>
                <a:lnTo>
                  <a:pt x="327" y="341"/>
                </a:lnTo>
                <a:lnTo>
                  <a:pt x="311" y="327"/>
                </a:lnTo>
                <a:lnTo>
                  <a:pt x="295" y="311"/>
                </a:lnTo>
                <a:lnTo>
                  <a:pt x="278" y="294"/>
                </a:lnTo>
                <a:lnTo>
                  <a:pt x="262" y="274"/>
                </a:lnTo>
                <a:lnTo>
                  <a:pt x="246" y="254"/>
                </a:lnTo>
                <a:lnTo>
                  <a:pt x="229" y="232"/>
                </a:lnTo>
                <a:lnTo>
                  <a:pt x="213" y="210"/>
                </a:lnTo>
                <a:lnTo>
                  <a:pt x="196" y="188"/>
                </a:lnTo>
                <a:lnTo>
                  <a:pt x="180" y="165"/>
                </a:lnTo>
                <a:lnTo>
                  <a:pt x="164" y="143"/>
                </a:lnTo>
                <a:lnTo>
                  <a:pt x="147" y="122"/>
                </a:lnTo>
                <a:lnTo>
                  <a:pt x="131" y="101"/>
                </a:lnTo>
                <a:lnTo>
                  <a:pt x="114" y="82"/>
                </a:lnTo>
                <a:lnTo>
                  <a:pt x="98" y="64"/>
                </a:lnTo>
                <a:lnTo>
                  <a:pt x="82" y="48"/>
                </a:lnTo>
                <a:lnTo>
                  <a:pt x="65" y="35"/>
                </a:lnTo>
                <a:lnTo>
                  <a:pt x="49" y="23"/>
                </a:lnTo>
                <a:lnTo>
                  <a:pt x="33" y="15"/>
                </a:lnTo>
                <a:lnTo>
                  <a:pt x="16" y="10"/>
                </a:lnTo>
                <a:lnTo>
                  <a:pt x="0" y="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2105025"/>
            <a:ext cx="3743325" cy="561975"/>
          </a:xfrm>
          <a:custGeom>
            <a:avLst/>
            <a:gdLst/>
            <a:ahLst/>
            <a:cxnLst/>
            <a:rect l="l" t="t" r="r" b="b"/>
            <a:pathLst>
              <a:path w="393" h="59">
                <a:moveTo>
                  <a:pt x="0" y="27"/>
                </a:moveTo>
                <a:lnTo>
                  <a:pt x="16" y="27"/>
                </a:lnTo>
                <a:lnTo>
                  <a:pt x="33" y="26"/>
                </a:lnTo>
                <a:lnTo>
                  <a:pt x="49" y="26"/>
                </a:lnTo>
                <a:lnTo>
                  <a:pt x="65" y="25"/>
                </a:lnTo>
                <a:lnTo>
                  <a:pt x="82" y="24"/>
                </a:lnTo>
                <a:lnTo>
                  <a:pt x="98" y="23"/>
                </a:lnTo>
                <a:lnTo>
                  <a:pt x="114" y="21"/>
                </a:lnTo>
                <a:lnTo>
                  <a:pt x="131" y="20"/>
                </a:lnTo>
                <a:lnTo>
                  <a:pt x="147" y="18"/>
                </a:lnTo>
                <a:lnTo>
                  <a:pt x="164" y="17"/>
                </a:lnTo>
                <a:lnTo>
                  <a:pt x="180" y="15"/>
                </a:lnTo>
                <a:lnTo>
                  <a:pt x="196" y="13"/>
                </a:lnTo>
                <a:lnTo>
                  <a:pt x="213" y="12"/>
                </a:lnTo>
                <a:lnTo>
                  <a:pt x="229" y="10"/>
                </a:lnTo>
                <a:lnTo>
                  <a:pt x="246" y="8"/>
                </a:lnTo>
                <a:lnTo>
                  <a:pt x="262" y="7"/>
                </a:lnTo>
                <a:lnTo>
                  <a:pt x="278" y="5"/>
                </a:lnTo>
                <a:lnTo>
                  <a:pt x="295" y="4"/>
                </a:lnTo>
                <a:lnTo>
                  <a:pt x="311" y="3"/>
                </a:lnTo>
                <a:lnTo>
                  <a:pt x="327" y="2"/>
                </a:lnTo>
                <a:lnTo>
                  <a:pt x="344" y="1"/>
                </a:lnTo>
                <a:lnTo>
                  <a:pt x="360" y="0"/>
                </a:lnTo>
                <a:lnTo>
                  <a:pt x="377" y="0"/>
                </a:lnTo>
                <a:lnTo>
                  <a:pt x="393" y="0"/>
                </a:lnTo>
                <a:lnTo>
                  <a:pt x="393" y="31"/>
                </a:lnTo>
                <a:lnTo>
                  <a:pt x="377" y="31"/>
                </a:lnTo>
                <a:lnTo>
                  <a:pt x="360" y="32"/>
                </a:lnTo>
                <a:lnTo>
                  <a:pt x="344" y="33"/>
                </a:lnTo>
                <a:lnTo>
                  <a:pt x="327" y="33"/>
                </a:lnTo>
                <a:lnTo>
                  <a:pt x="311" y="34"/>
                </a:lnTo>
                <a:lnTo>
                  <a:pt x="295" y="36"/>
                </a:lnTo>
                <a:lnTo>
                  <a:pt x="278" y="37"/>
                </a:lnTo>
                <a:lnTo>
                  <a:pt x="262" y="38"/>
                </a:lnTo>
                <a:lnTo>
                  <a:pt x="246" y="40"/>
                </a:lnTo>
                <a:lnTo>
                  <a:pt x="229" y="42"/>
                </a:lnTo>
                <a:lnTo>
                  <a:pt x="213" y="43"/>
                </a:lnTo>
                <a:lnTo>
                  <a:pt x="196" y="45"/>
                </a:lnTo>
                <a:lnTo>
                  <a:pt x="180" y="47"/>
                </a:lnTo>
                <a:lnTo>
                  <a:pt x="164" y="48"/>
                </a:lnTo>
                <a:lnTo>
                  <a:pt x="147" y="50"/>
                </a:lnTo>
                <a:lnTo>
                  <a:pt x="131" y="52"/>
                </a:lnTo>
                <a:lnTo>
                  <a:pt x="114" y="53"/>
                </a:lnTo>
                <a:lnTo>
                  <a:pt x="98" y="54"/>
                </a:lnTo>
                <a:lnTo>
                  <a:pt x="82" y="56"/>
                </a:lnTo>
                <a:lnTo>
                  <a:pt x="65" y="57"/>
                </a:lnTo>
                <a:lnTo>
                  <a:pt x="49" y="57"/>
                </a:lnTo>
                <a:lnTo>
                  <a:pt x="33" y="58"/>
                </a:lnTo>
                <a:lnTo>
                  <a:pt x="16" y="58"/>
                </a:lnTo>
                <a:lnTo>
                  <a:pt x="0" y="59"/>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2667000"/>
            <a:ext cx="3743325" cy="2190750"/>
          </a:xfrm>
          <a:custGeom>
            <a:avLst/>
            <a:gdLst/>
            <a:ahLst/>
            <a:cxnLst/>
            <a:rect l="l" t="t" r="r" b="b"/>
            <a:pathLst>
              <a:path w="393" h="230">
                <a:moveTo>
                  <a:pt x="0" y="0"/>
                </a:moveTo>
                <a:lnTo>
                  <a:pt x="16" y="1"/>
                </a:lnTo>
                <a:lnTo>
                  <a:pt x="33" y="4"/>
                </a:lnTo>
                <a:lnTo>
                  <a:pt x="49" y="9"/>
                </a:lnTo>
                <a:lnTo>
                  <a:pt x="65" y="16"/>
                </a:lnTo>
                <a:lnTo>
                  <a:pt x="82" y="24"/>
                </a:lnTo>
                <a:lnTo>
                  <a:pt x="98" y="34"/>
                </a:lnTo>
                <a:lnTo>
                  <a:pt x="114" y="45"/>
                </a:lnTo>
                <a:lnTo>
                  <a:pt x="131" y="57"/>
                </a:lnTo>
                <a:lnTo>
                  <a:pt x="147" y="69"/>
                </a:lnTo>
                <a:lnTo>
                  <a:pt x="164" y="83"/>
                </a:lnTo>
                <a:lnTo>
                  <a:pt x="180" y="96"/>
                </a:lnTo>
                <a:lnTo>
                  <a:pt x="196" y="110"/>
                </a:lnTo>
                <a:lnTo>
                  <a:pt x="213" y="124"/>
                </a:lnTo>
                <a:lnTo>
                  <a:pt x="229" y="137"/>
                </a:lnTo>
                <a:lnTo>
                  <a:pt x="246" y="150"/>
                </a:lnTo>
                <a:lnTo>
                  <a:pt x="262" y="163"/>
                </a:lnTo>
                <a:lnTo>
                  <a:pt x="278" y="175"/>
                </a:lnTo>
                <a:lnTo>
                  <a:pt x="295" y="186"/>
                </a:lnTo>
                <a:lnTo>
                  <a:pt x="311" y="195"/>
                </a:lnTo>
                <a:lnTo>
                  <a:pt x="327" y="204"/>
                </a:lnTo>
                <a:lnTo>
                  <a:pt x="344" y="211"/>
                </a:lnTo>
                <a:lnTo>
                  <a:pt x="360" y="216"/>
                </a:lnTo>
                <a:lnTo>
                  <a:pt x="377" y="219"/>
                </a:lnTo>
                <a:lnTo>
                  <a:pt x="393" y="220"/>
                </a:lnTo>
                <a:lnTo>
                  <a:pt x="393" y="230"/>
                </a:lnTo>
                <a:lnTo>
                  <a:pt x="377" y="229"/>
                </a:lnTo>
                <a:lnTo>
                  <a:pt x="360" y="226"/>
                </a:lnTo>
                <a:lnTo>
                  <a:pt x="344" y="221"/>
                </a:lnTo>
                <a:lnTo>
                  <a:pt x="327" y="214"/>
                </a:lnTo>
                <a:lnTo>
                  <a:pt x="311" y="205"/>
                </a:lnTo>
                <a:lnTo>
                  <a:pt x="295" y="196"/>
                </a:lnTo>
                <a:lnTo>
                  <a:pt x="278" y="185"/>
                </a:lnTo>
                <a:lnTo>
                  <a:pt x="262" y="173"/>
                </a:lnTo>
                <a:lnTo>
                  <a:pt x="246" y="160"/>
                </a:lnTo>
                <a:lnTo>
                  <a:pt x="229" y="147"/>
                </a:lnTo>
                <a:lnTo>
                  <a:pt x="213" y="134"/>
                </a:lnTo>
                <a:lnTo>
                  <a:pt x="196" y="120"/>
                </a:lnTo>
                <a:lnTo>
                  <a:pt x="180" y="106"/>
                </a:lnTo>
                <a:lnTo>
                  <a:pt x="164" y="92"/>
                </a:lnTo>
                <a:lnTo>
                  <a:pt x="147" y="79"/>
                </a:lnTo>
                <a:lnTo>
                  <a:pt x="131" y="67"/>
                </a:lnTo>
                <a:lnTo>
                  <a:pt x="114" y="55"/>
                </a:lnTo>
                <a:lnTo>
                  <a:pt x="98" y="44"/>
                </a:lnTo>
                <a:lnTo>
                  <a:pt x="82" y="34"/>
                </a:lnTo>
                <a:lnTo>
                  <a:pt x="65" y="26"/>
                </a:lnTo>
                <a:lnTo>
                  <a:pt x="49" y="19"/>
                </a:lnTo>
                <a:lnTo>
                  <a:pt x="33" y="14"/>
                </a:lnTo>
                <a:lnTo>
                  <a:pt x="16" y="11"/>
                </a:lnTo>
                <a:lnTo>
                  <a:pt x="0" y="1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2762250"/>
            <a:ext cx="3743325" cy="3048000"/>
          </a:xfrm>
          <a:custGeom>
            <a:avLst/>
            <a:gdLst/>
            <a:ahLst/>
            <a:cxnLst/>
            <a:rect l="l" t="t" r="r" b="b"/>
            <a:pathLst>
              <a:path w="393" h="320">
                <a:moveTo>
                  <a:pt x="0" y="0"/>
                </a:moveTo>
                <a:lnTo>
                  <a:pt x="16" y="1"/>
                </a:lnTo>
                <a:lnTo>
                  <a:pt x="33" y="6"/>
                </a:lnTo>
                <a:lnTo>
                  <a:pt x="49" y="13"/>
                </a:lnTo>
                <a:lnTo>
                  <a:pt x="65" y="23"/>
                </a:lnTo>
                <a:lnTo>
                  <a:pt x="82" y="35"/>
                </a:lnTo>
                <a:lnTo>
                  <a:pt x="98" y="48"/>
                </a:lnTo>
                <a:lnTo>
                  <a:pt x="114" y="64"/>
                </a:lnTo>
                <a:lnTo>
                  <a:pt x="131" y="80"/>
                </a:lnTo>
                <a:lnTo>
                  <a:pt x="147" y="98"/>
                </a:lnTo>
                <a:lnTo>
                  <a:pt x="164" y="117"/>
                </a:lnTo>
                <a:lnTo>
                  <a:pt x="180" y="136"/>
                </a:lnTo>
                <a:lnTo>
                  <a:pt x="196" y="156"/>
                </a:lnTo>
                <a:lnTo>
                  <a:pt x="213" y="175"/>
                </a:lnTo>
                <a:lnTo>
                  <a:pt x="229" y="194"/>
                </a:lnTo>
                <a:lnTo>
                  <a:pt x="246" y="213"/>
                </a:lnTo>
                <a:lnTo>
                  <a:pt x="262" y="231"/>
                </a:lnTo>
                <a:lnTo>
                  <a:pt x="278" y="247"/>
                </a:lnTo>
                <a:lnTo>
                  <a:pt x="295" y="263"/>
                </a:lnTo>
                <a:lnTo>
                  <a:pt x="311" y="277"/>
                </a:lnTo>
                <a:lnTo>
                  <a:pt x="327" y="288"/>
                </a:lnTo>
                <a:lnTo>
                  <a:pt x="344" y="298"/>
                </a:lnTo>
                <a:lnTo>
                  <a:pt x="360" y="305"/>
                </a:lnTo>
                <a:lnTo>
                  <a:pt x="377" y="310"/>
                </a:lnTo>
                <a:lnTo>
                  <a:pt x="393" y="312"/>
                </a:lnTo>
                <a:lnTo>
                  <a:pt x="393" y="320"/>
                </a:lnTo>
                <a:lnTo>
                  <a:pt x="377" y="318"/>
                </a:lnTo>
                <a:lnTo>
                  <a:pt x="360" y="313"/>
                </a:lnTo>
                <a:lnTo>
                  <a:pt x="344" y="306"/>
                </a:lnTo>
                <a:lnTo>
                  <a:pt x="327" y="296"/>
                </a:lnTo>
                <a:lnTo>
                  <a:pt x="311" y="285"/>
                </a:lnTo>
                <a:lnTo>
                  <a:pt x="295" y="271"/>
                </a:lnTo>
                <a:lnTo>
                  <a:pt x="278" y="255"/>
                </a:lnTo>
                <a:lnTo>
                  <a:pt x="262" y="239"/>
                </a:lnTo>
                <a:lnTo>
                  <a:pt x="246" y="221"/>
                </a:lnTo>
                <a:lnTo>
                  <a:pt x="229" y="202"/>
                </a:lnTo>
                <a:lnTo>
                  <a:pt x="213" y="183"/>
                </a:lnTo>
                <a:lnTo>
                  <a:pt x="196" y="164"/>
                </a:lnTo>
                <a:lnTo>
                  <a:pt x="180" y="144"/>
                </a:lnTo>
                <a:lnTo>
                  <a:pt x="164" y="125"/>
                </a:lnTo>
                <a:lnTo>
                  <a:pt x="147" y="106"/>
                </a:lnTo>
                <a:lnTo>
                  <a:pt x="131" y="88"/>
                </a:lnTo>
                <a:lnTo>
                  <a:pt x="114" y="72"/>
                </a:lnTo>
                <a:lnTo>
                  <a:pt x="98" y="56"/>
                </a:lnTo>
                <a:lnTo>
                  <a:pt x="82" y="42"/>
                </a:lnTo>
                <a:lnTo>
                  <a:pt x="65" y="31"/>
                </a:lnTo>
                <a:lnTo>
                  <a:pt x="49" y="21"/>
                </a:lnTo>
                <a:lnTo>
                  <a:pt x="33" y="14"/>
                </a:lnTo>
                <a:lnTo>
                  <a:pt x="16" y="9"/>
                </a:lnTo>
                <a:lnTo>
                  <a:pt x="0" y="8"/>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400300"/>
            <a:ext cx="3743325" cy="790575"/>
          </a:xfrm>
          <a:custGeom>
            <a:avLst/>
            <a:gdLst/>
            <a:ahLst/>
            <a:cxnLst/>
            <a:rect l="l" t="t" r="r" b="b"/>
            <a:pathLst>
              <a:path w="393" h="83">
                <a:moveTo>
                  <a:pt x="0" y="52"/>
                </a:moveTo>
                <a:lnTo>
                  <a:pt x="16" y="51"/>
                </a:lnTo>
                <a:lnTo>
                  <a:pt x="33" y="50"/>
                </a:lnTo>
                <a:lnTo>
                  <a:pt x="49" y="49"/>
                </a:lnTo>
                <a:lnTo>
                  <a:pt x="65" y="48"/>
                </a:lnTo>
                <a:lnTo>
                  <a:pt x="82" y="46"/>
                </a:lnTo>
                <a:lnTo>
                  <a:pt x="98" y="44"/>
                </a:lnTo>
                <a:lnTo>
                  <a:pt x="114" y="41"/>
                </a:lnTo>
                <a:lnTo>
                  <a:pt x="131" y="38"/>
                </a:lnTo>
                <a:lnTo>
                  <a:pt x="147" y="35"/>
                </a:lnTo>
                <a:lnTo>
                  <a:pt x="164" y="32"/>
                </a:lnTo>
                <a:lnTo>
                  <a:pt x="180" y="29"/>
                </a:lnTo>
                <a:lnTo>
                  <a:pt x="196" y="26"/>
                </a:lnTo>
                <a:lnTo>
                  <a:pt x="213" y="23"/>
                </a:lnTo>
                <a:lnTo>
                  <a:pt x="229" y="20"/>
                </a:lnTo>
                <a:lnTo>
                  <a:pt x="246" y="17"/>
                </a:lnTo>
                <a:lnTo>
                  <a:pt x="262" y="14"/>
                </a:lnTo>
                <a:lnTo>
                  <a:pt x="278" y="11"/>
                </a:lnTo>
                <a:lnTo>
                  <a:pt x="295" y="8"/>
                </a:lnTo>
                <a:lnTo>
                  <a:pt x="311" y="6"/>
                </a:lnTo>
                <a:lnTo>
                  <a:pt x="327" y="4"/>
                </a:lnTo>
                <a:lnTo>
                  <a:pt x="344" y="3"/>
                </a:lnTo>
                <a:lnTo>
                  <a:pt x="360" y="1"/>
                </a:lnTo>
                <a:lnTo>
                  <a:pt x="377" y="1"/>
                </a:lnTo>
                <a:lnTo>
                  <a:pt x="393" y="0"/>
                </a:lnTo>
                <a:lnTo>
                  <a:pt x="393" y="32"/>
                </a:lnTo>
                <a:lnTo>
                  <a:pt x="377" y="32"/>
                </a:lnTo>
                <a:lnTo>
                  <a:pt x="360" y="33"/>
                </a:lnTo>
                <a:lnTo>
                  <a:pt x="344" y="34"/>
                </a:lnTo>
                <a:lnTo>
                  <a:pt x="327" y="36"/>
                </a:lnTo>
                <a:lnTo>
                  <a:pt x="311" y="38"/>
                </a:lnTo>
                <a:lnTo>
                  <a:pt x="295" y="40"/>
                </a:lnTo>
                <a:lnTo>
                  <a:pt x="278" y="43"/>
                </a:lnTo>
                <a:lnTo>
                  <a:pt x="262" y="45"/>
                </a:lnTo>
                <a:lnTo>
                  <a:pt x="246" y="48"/>
                </a:lnTo>
                <a:lnTo>
                  <a:pt x="229" y="51"/>
                </a:lnTo>
                <a:lnTo>
                  <a:pt x="213" y="54"/>
                </a:lnTo>
                <a:lnTo>
                  <a:pt x="196" y="58"/>
                </a:lnTo>
                <a:lnTo>
                  <a:pt x="180" y="61"/>
                </a:lnTo>
                <a:lnTo>
                  <a:pt x="164" y="64"/>
                </a:lnTo>
                <a:lnTo>
                  <a:pt x="147" y="67"/>
                </a:lnTo>
                <a:lnTo>
                  <a:pt x="131" y="70"/>
                </a:lnTo>
                <a:lnTo>
                  <a:pt x="114" y="73"/>
                </a:lnTo>
                <a:lnTo>
                  <a:pt x="98" y="75"/>
                </a:lnTo>
                <a:lnTo>
                  <a:pt x="82" y="77"/>
                </a:lnTo>
                <a:lnTo>
                  <a:pt x="65" y="79"/>
                </a:lnTo>
                <a:lnTo>
                  <a:pt x="49" y="81"/>
                </a:lnTo>
                <a:lnTo>
                  <a:pt x="33" y="82"/>
                </a:lnTo>
                <a:lnTo>
                  <a:pt x="16" y="83"/>
                </a:lnTo>
                <a:lnTo>
                  <a:pt x="0" y="8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3190875"/>
            <a:ext cx="3743325" cy="1762125"/>
          </a:xfrm>
          <a:custGeom>
            <a:avLst/>
            <a:gdLst/>
            <a:ahLst/>
            <a:cxnLst/>
            <a:rect l="l" t="t" r="r" b="b"/>
            <a:pathLst>
              <a:path w="393" h="185">
                <a:moveTo>
                  <a:pt x="0" y="0"/>
                </a:moveTo>
                <a:lnTo>
                  <a:pt x="16" y="1"/>
                </a:lnTo>
                <a:lnTo>
                  <a:pt x="33" y="4"/>
                </a:lnTo>
                <a:lnTo>
                  <a:pt x="49" y="8"/>
                </a:lnTo>
                <a:lnTo>
                  <a:pt x="65" y="13"/>
                </a:lnTo>
                <a:lnTo>
                  <a:pt x="82" y="20"/>
                </a:lnTo>
                <a:lnTo>
                  <a:pt x="98" y="28"/>
                </a:lnTo>
                <a:lnTo>
                  <a:pt x="114" y="36"/>
                </a:lnTo>
                <a:lnTo>
                  <a:pt x="131" y="46"/>
                </a:lnTo>
                <a:lnTo>
                  <a:pt x="147" y="56"/>
                </a:lnTo>
                <a:lnTo>
                  <a:pt x="164" y="66"/>
                </a:lnTo>
                <a:lnTo>
                  <a:pt x="180" y="77"/>
                </a:lnTo>
                <a:lnTo>
                  <a:pt x="196" y="88"/>
                </a:lnTo>
                <a:lnTo>
                  <a:pt x="213" y="99"/>
                </a:lnTo>
                <a:lnTo>
                  <a:pt x="229" y="109"/>
                </a:lnTo>
                <a:lnTo>
                  <a:pt x="246" y="120"/>
                </a:lnTo>
                <a:lnTo>
                  <a:pt x="262" y="130"/>
                </a:lnTo>
                <a:lnTo>
                  <a:pt x="278" y="139"/>
                </a:lnTo>
                <a:lnTo>
                  <a:pt x="295" y="148"/>
                </a:lnTo>
                <a:lnTo>
                  <a:pt x="311" y="155"/>
                </a:lnTo>
                <a:lnTo>
                  <a:pt x="327" y="162"/>
                </a:lnTo>
                <a:lnTo>
                  <a:pt x="344" y="168"/>
                </a:lnTo>
                <a:lnTo>
                  <a:pt x="360" y="172"/>
                </a:lnTo>
                <a:lnTo>
                  <a:pt x="377" y="174"/>
                </a:lnTo>
                <a:lnTo>
                  <a:pt x="393" y="175"/>
                </a:lnTo>
                <a:lnTo>
                  <a:pt x="393" y="185"/>
                </a:lnTo>
                <a:lnTo>
                  <a:pt x="377" y="184"/>
                </a:lnTo>
                <a:lnTo>
                  <a:pt x="360" y="182"/>
                </a:lnTo>
                <a:lnTo>
                  <a:pt x="344" y="177"/>
                </a:lnTo>
                <a:lnTo>
                  <a:pt x="327" y="172"/>
                </a:lnTo>
                <a:lnTo>
                  <a:pt x="311" y="165"/>
                </a:lnTo>
                <a:lnTo>
                  <a:pt x="295" y="158"/>
                </a:lnTo>
                <a:lnTo>
                  <a:pt x="278" y="149"/>
                </a:lnTo>
                <a:lnTo>
                  <a:pt x="262" y="140"/>
                </a:lnTo>
                <a:lnTo>
                  <a:pt x="246" y="130"/>
                </a:lnTo>
                <a:lnTo>
                  <a:pt x="229" y="119"/>
                </a:lnTo>
                <a:lnTo>
                  <a:pt x="213" y="108"/>
                </a:lnTo>
                <a:lnTo>
                  <a:pt x="196" y="98"/>
                </a:lnTo>
                <a:lnTo>
                  <a:pt x="180" y="87"/>
                </a:lnTo>
                <a:lnTo>
                  <a:pt x="164" y="76"/>
                </a:lnTo>
                <a:lnTo>
                  <a:pt x="147" y="65"/>
                </a:lnTo>
                <a:lnTo>
                  <a:pt x="131" y="55"/>
                </a:lnTo>
                <a:lnTo>
                  <a:pt x="114" y="46"/>
                </a:lnTo>
                <a:lnTo>
                  <a:pt x="98" y="37"/>
                </a:lnTo>
                <a:lnTo>
                  <a:pt x="82" y="30"/>
                </a:lnTo>
                <a:lnTo>
                  <a:pt x="65" y="23"/>
                </a:lnTo>
                <a:lnTo>
                  <a:pt x="49" y="18"/>
                </a:lnTo>
                <a:lnTo>
                  <a:pt x="33" y="14"/>
                </a:lnTo>
                <a:lnTo>
                  <a:pt x="16" y="11"/>
                </a:lnTo>
                <a:lnTo>
                  <a:pt x="0" y="1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3286125"/>
            <a:ext cx="3743325" cy="2590800"/>
          </a:xfrm>
          <a:custGeom>
            <a:avLst/>
            <a:gdLst/>
            <a:ahLst/>
            <a:cxnLst/>
            <a:rect l="l" t="t" r="r" b="b"/>
            <a:pathLst>
              <a:path w="393" h="272">
                <a:moveTo>
                  <a:pt x="0" y="0"/>
                </a:moveTo>
                <a:lnTo>
                  <a:pt x="16" y="1"/>
                </a:lnTo>
                <a:lnTo>
                  <a:pt x="33" y="5"/>
                </a:lnTo>
                <a:lnTo>
                  <a:pt x="49" y="11"/>
                </a:lnTo>
                <a:lnTo>
                  <a:pt x="65" y="20"/>
                </a:lnTo>
                <a:lnTo>
                  <a:pt x="82" y="30"/>
                </a:lnTo>
                <a:lnTo>
                  <a:pt x="98" y="41"/>
                </a:lnTo>
                <a:lnTo>
                  <a:pt x="114" y="54"/>
                </a:lnTo>
                <a:lnTo>
                  <a:pt x="131" y="69"/>
                </a:lnTo>
                <a:lnTo>
                  <a:pt x="147" y="84"/>
                </a:lnTo>
                <a:lnTo>
                  <a:pt x="164" y="100"/>
                </a:lnTo>
                <a:lnTo>
                  <a:pt x="180" y="116"/>
                </a:lnTo>
                <a:lnTo>
                  <a:pt x="196" y="132"/>
                </a:lnTo>
                <a:lnTo>
                  <a:pt x="213" y="149"/>
                </a:lnTo>
                <a:lnTo>
                  <a:pt x="229" y="165"/>
                </a:lnTo>
                <a:lnTo>
                  <a:pt x="246" y="181"/>
                </a:lnTo>
                <a:lnTo>
                  <a:pt x="262" y="196"/>
                </a:lnTo>
                <a:lnTo>
                  <a:pt x="278" y="210"/>
                </a:lnTo>
                <a:lnTo>
                  <a:pt x="295" y="223"/>
                </a:lnTo>
                <a:lnTo>
                  <a:pt x="311" y="235"/>
                </a:lnTo>
                <a:lnTo>
                  <a:pt x="327" y="245"/>
                </a:lnTo>
                <a:lnTo>
                  <a:pt x="344" y="253"/>
                </a:lnTo>
                <a:lnTo>
                  <a:pt x="360" y="259"/>
                </a:lnTo>
                <a:lnTo>
                  <a:pt x="377" y="263"/>
                </a:lnTo>
                <a:lnTo>
                  <a:pt x="393" y="265"/>
                </a:lnTo>
                <a:lnTo>
                  <a:pt x="393" y="272"/>
                </a:lnTo>
                <a:lnTo>
                  <a:pt x="377" y="271"/>
                </a:lnTo>
                <a:lnTo>
                  <a:pt x="360" y="267"/>
                </a:lnTo>
                <a:lnTo>
                  <a:pt x="344" y="261"/>
                </a:lnTo>
                <a:lnTo>
                  <a:pt x="327" y="253"/>
                </a:lnTo>
                <a:lnTo>
                  <a:pt x="311" y="243"/>
                </a:lnTo>
                <a:lnTo>
                  <a:pt x="295" y="231"/>
                </a:lnTo>
                <a:lnTo>
                  <a:pt x="278" y="218"/>
                </a:lnTo>
                <a:lnTo>
                  <a:pt x="262" y="204"/>
                </a:lnTo>
                <a:lnTo>
                  <a:pt x="246" y="189"/>
                </a:lnTo>
                <a:lnTo>
                  <a:pt x="229" y="173"/>
                </a:lnTo>
                <a:lnTo>
                  <a:pt x="213" y="157"/>
                </a:lnTo>
                <a:lnTo>
                  <a:pt x="196" y="140"/>
                </a:lnTo>
                <a:lnTo>
                  <a:pt x="180" y="124"/>
                </a:lnTo>
                <a:lnTo>
                  <a:pt x="164" y="107"/>
                </a:lnTo>
                <a:lnTo>
                  <a:pt x="147" y="92"/>
                </a:lnTo>
                <a:lnTo>
                  <a:pt x="131" y="77"/>
                </a:lnTo>
                <a:lnTo>
                  <a:pt x="114" y="62"/>
                </a:lnTo>
                <a:lnTo>
                  <a:pt x="98" y="49"/>
                </a:lnTo>
                <a:lnTo>
                  <a:pt x="82" y="38"/>
                </a:lnTo>
                <a:lnTo>
                  <a:pt x="65" y="28"/>
                </a:lnTo>
                <a:lnTo>
                  <a:pt x="49" y="19"/>
                </a:lnTo>
                <a:lnTo>
                  <a:pt x="33" y="13"/>
                </a:lnTo>
                <a:lnTo>
                  <a:pt x="16" y="9"/>
                </a:lnTo>
                <a:lnTo>
                  <a:pt x="0" y="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2705100"/>
            <a:ext cx="3743325" cy="1019175"/>
          </a:xfrm>
          <a:custGeom>
            <a:avLst/>
            <a:gdLst/>
            <a:ahLst/>
            <a:cxnLst/>
            <a:rect l="l" t="t" r="r" b="b"/>
            <a:pathLst>
              <a:path w="393" h="107">
                <a:moveTo>
                  <a:pt x="0" y="75"/>
                </a:moveTo>
                <a:lnTo>
                  <a:pt x="16" y="75"/>
                </a:lnTo>
                <a:lnTo>
                  <a:pt x="33" y="74"/>
                </a:lnTo>
                <a:lnTo>
                  <a:pt x="49" y="72"/>
                </a:lnTo>
                <a:lnTo>
                  <a:pt x="65" y="69"/>
                </a:lnTo>
                <a:lnTo>
                  <a:pt x="82" y="67"/>
                </a:lnTo>
                <a:lnTo>
                  <a:pt x="98" y="63"/>
                </a:lnTo>
                <a:lnTo>
                  <a:pt x="114" y="60"/>
                </a:lnTo>
                <a:lnTo>
                  <a:pt x="131" y="56"/>
                </a:lnTo>
                <a:lnTo>
                  <a:pt x="147" y="51"/>
                </a:lnTo>
                <a:lnTo>
                  <a:pt x="164" y="47"/>
                </a:lnTo>
                <a:lnTo>
                  <a:pt x="180" y="42"/>
                </a:lnTo>
                <a:lnTo>
                  <a:pt x="196" y="38"/>
                </a:lnTo>
                <a:lnTo>
                  <a:pt x="213" y="33"/>
                </a:lnTo>
                <a:lnTo>
                  <a:pt x="229" y="28"/>
                </a:lnTo>
                <a:lnTo>
                  <a:pt x="246" y="24"/>
                </a:lnTo>
                <a:lnTo>
                  <a:pt x="262" y="19"/>
                </a:lnTo>
                <a:lnTo>
                  <a:pt x="278" y="15"/>
                </a:lnTo>
                <a:lnTo>
                  <a:pt x="295" y="12"/>
                </a:lnTo>
                <a:lnTo>
                  <a:pt x="311" y="8"/>
                </a:lnTo>
                <a:lnTo>
                  <a:pt x="327" y="6"/>
                </a:lnTo>
                <a:lnTo>
                  <a:pt x="344" y="3"/>
                </a:lnTo>
                <a:lnTo>
                  <a:pt x="360" y="1"/>
                </a:lnTo>
                <a:lnTo>
                  <a:pt x="377" y="0"/>
                </a:lnTo>
                <a:lnTo>
                  <a:pt x="393" y="0"/>
                </a:lnTo>
                <a:lnTo>
                  <a:pt x="393" y="32"/>
                </a:lnTo>
                <a:lnTo>
                  <a:pt x="377" y="32"/>
                </a:lnTo>
                <a:lnTo>
                  <a:pt x="360" y="33"/>
                </a:lnTo>
                <a:lnTo>
                  <a:pt x="344" y="35"/>
                </a:lnTo>
                <a:lnTo>
                  <a:pt x="327" y="37"/>
                </a:lnTo>
                <a:lnTo>
                  <a:pt x="311" y="40"/>
                </a:lnTo>
                <a:lnTo>
                  <a:pt x="295" y="44"/>
                </a:lnTo>
                <a:lnTo>
                  <a:pt x="278" y="47"/>
                </a:lnTo>
                <a:lnTo>
                  <a:pt x="262" y="51"/>
                </a:lnTo>
                <a:lnTo>
                  <a:pt x="246" y="56"/>
                </a:lnTo>
                <a:lnTo>
                  <a:pt x="229" y="60"/>
                </a:lnTo>
                <a:lnTo>
                  <a:pt x="213" y="65"/>
                </a:lnTo>
                <a:lnTo>
                  <a:pt x="196" y="69"/>
                </a:lnTo>
                <a:lnTo>
                  <a:pt x="180" y="74"/>
                </a:lnTo>
                <a:lnTo>
                  <a:pt x="164" y="79"/>
                </a:lnTo>
                <a:lnTo>
                  <a:pt x="147" y="83"/>
                </a:lnTo>
                <a:lnTo>
                  <a:pt x="131" y="87"/>
                </a:lnTo>
                <a:lnTo>
                  <a:pt x="114" y="92"/>
                </a:lnTo>
                <a:lnTo>
                  <a:pt x="98" y="95"/>
                </a:lnTo>
                <a:lnTo>
                  <a:pt x="82" y="99"/>
                </a:lnTo>
                <a:lnTo>
                  <a:pt x="65" y="101"/>
                </a:lnTo>
                <a:lnTo>
                  <a:pt x="49" y="104"/>
                </a:lnTo>
                <a:lnTo>
                  <a:pt x="33" y="105"/>
                </a:lnTo>
                <a:lnTo>
                  <a:pt x="16" y="107"/>
                </a:lnTo>
                <a:lnTo>
                  <a:pt x="0" y="107"/>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3724275"/>
            <a:ext cx="3743325" cy="1323975"/>
          </a:xfrm>
          <a:custGeom>
            <a:avLst/>
            <a:gdLst/>
            <a:ahLst/>
            <a:cxnLst/>
            <a:rect l="l" t="t" r="r" b="b"/>
            <a:pathLst>
              <a:path w="393" h="139">
                <a:moveTo>
                  <a:pt x="0" y="0"/>
                </a:moveTo>
                <a:lnTo>
                  <a:pt x="16" y="1"/>
                </a:lnTo>
                <a:lnTo>
                  <a:pt x="33" y="2"/>
                </a:lnTo>
                <a:lnTo>
                  <a:pt x="49" y="5"/>
                </a:lnTo>
                <a:lnTo>
                  <a:pt x="65" y="9"/>
                </a:lnTo>
                <a:lnTo>
                  <a:pt x="82" y="14"/>
                </a:lnTo>
                <a:lnTo>
                  <a:pt x="98" y="20"/>
                </a:lnTo>
                <a:lnTo>
                  <a:pt x="114" y="26"/>
                </a:lnTo>
                <a:lnTo>
                  <a:pt x="131" y="33"/>
                </a:lnTo>
                <a:lnTo>
                  <a:pt x="147" y="41"/>
                </a:lnTo>
                <a:lnTo>
                  <a:pt x="164" y="48"/>
                </a:lnTo>
                <a:lnTo>
                  <a:pt x="180" y="56"/>
                </a:lnTo>
                <a:lnTo>
                  <a:pt x="196" y="64"/>
                </a:lnTo>
                <a:lnTo>
                  <a:pt x="213" y="72"/>
                </a:lnTo>
                <a:lnTo>
                  <a:pt x="229" y="80"/>
                </a:lnTo>
                <a:lnTo>
                  <a:pt x="246" y="88"/>
                </a:lnTo>
                <a:lnTo>
                  <a:pt x="262" y="96"/>
                </a:lnTo>
                <a:lnTo>
                  <a:pt x="278" y="102"/>
                </a:lnTo>
                <a:lnTo>
                  <a:pt x="295" y="109"/>
                </a:lnTo>
                <a:lnTo>
                  <a:pt x="311" y="115"/>
                </a:lnTo>
                <a:lnTo>
                  <a:pt x="327" y="119"/>
                </a:lnTo>
                <a:lnTo>
                  <a:pt x="344" y="123"/>
                </a:lnTo>
                <a:lnTo>
                  <a:pt x="360" y="126"/>
                </a:lnTo>
                <a:lnTo>
                  <a:pt x="377" y="128"/>
                </a:lnTo>
                <a:lnTo>
                  <a:pt x="393" y="129"/>
                </a:lnTo>
                <a:lnTo>
                  <a:pt x="393" y="139"/>
                </a:lnTo>
                <a:lnTo>
                  <a:pt x="377" y="138"/>
                </a:lnTo>
                <a:lnTo>
                  <a:pt x="360" y="136"/>
                </a:lnTo>
                <a:lnTo>
                  <a:pt x="344" y="133"/>
                </a:lnTo>
                <a:lnTo>
                  <a:pt x="327" y="129"/>
                </a:lnTo>
                <a:lnTo>
                  <a:pt x="311" y="124"/>
                </a:lnTo>
                <a:lnTo>
                  <a:pt x="295" y="119"/>
                </a:lnTo>
                <a:lnTo>
                  <a:pt x="278" y="112"/>
                </a:lnTo>
                <a:lnTo>
                  <a:pt x="262" y="105"/>
                </a:lnTo>
                <a:lnTo>
                  <a:pt x="246" y="98"/>
                </a:lnTo>
                <a:lnTo>
                  <a:pt x="229" y="90"/>
                </a:lnTo>
                <a:lnTo>
                  <a:pt x="213" y="82"/>
                </a:lnTo>
                <a:lnTo>
                  <a:pt x="196" y="74"/>
                </a:lnTo>
                <a:lnTo>
                  <a:pt x="180" y="66"/>
                </a:lnTo>
                <a:lnTo>
                  <a:pt x="164" y="58"/>
                </a:lnTo>
                <a:lnTo>
                  <a:pt x="147" y="50"/>
                </a:lnTo>
                <a:lnTo>
                  <a:pt x="131" y="43"/>
                </a:lnTo>
                <a:lnTo>
                  <a:pt x="114" y="36"/>
                </a:lnTo>
                <a:lnTo>
                  <a:pt x="98" y="30"/>
                </a:lnTo>
                <a:lnTo>
                  <a:pt x="82" y="24"/>
                </a:lnTo>
                <a:lnTo>
                  <a:pt x="65" y="19"/>
                </a:lnTo>
                <a:lnTo>
                  <a:pt x="49" y="15"/>
                </a:lnTo>
                <a:lnTo>
                  <a:pt x="33" y="12"/>
                </a:lnTo>
                <a:lnTo>
                  <a:pt x="16" y="10"/>
                </a:lnTo>
                <a:lnTo>
                  <a:pt x="0" y="10"/>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3819525"/>
            <a:ext cx="3743325" cy="2133600"/>
          </a:xfrm>
          <a:custGeom>
            <a:avLst/>
            <a:gdLst/>
            <a:ahLst/>
            <a:cxnLst/>
            <a:rect l="l" t="t" r="r" b="b"/>
            <a:pathLst>
              <a:path w="393" h="224">
                <a:moveTo>
                  <a:pt x="0" y="0"/>
                </a:moveTo>
                <a:lnTo>
                  <a:pt x="16" y="1"/>
                </a:lnTo>
                <a:lnTo>
                  <a:pt x="33" y="4"/>
                </a:lnTo>
                <a:lnTo>
                  <a:pt x="49" y="9"/>
                </a:lnTo>
                <a:lnTo>
                  <a:pt x="65" y="16"/>
                </a:lnTo>
                <a:lnTo>
                  <a:pt x="82" y="24"/>
                </a:lnTo>
                <a:lnTo>
                  <a:pt x="98" y="34"/>
                </a:lnTo>
                <a:lnTo>
                  <a:pt x="114" y="44"/>
                </a:lnTo>
                <a:lnTo>
                  <a:pt x="131" y="56"/>
                </a:lnTo>
                <a:lnTo>
                  <a:pt x="147" y="68"/>
                </a:lnTo>
                <a:lnTo>
                  <a:pt x="164" y="81"/>
                </a:lnTo>
                <a:lnTo>
                  <a:pt x="180" y="95"/>
                </a:lnTo>
                <a:lnTo>
                  <a:pt x="196" y="108"/>
                </a:lnTo>
                <a:lnTo>
                  <a:pt x="213" y="122"/>
                </a:lnTo>
                <a:lnTo>
                  <a:pt x="229" y="135"/>
                </a:lnTo>
                <a:lnTo>
                  <a:pt x="246" y="148"/>
                </a:lnTo>
                <a:lnTo>
                  <a:pt x="262" y="160"/>
                </a:lnTo>
                <a:lnTo>
                  <a:pt x="278" y="172"/>
                </a:lnTo>
                <a:lnTo>
                  <a:pt x="295" y="183"/>
                </a:lnTo>
                <a:lnTo>
                  <a:pt x="311" y="192"/>
                </a:lnTo>
                <a:lnTo>
                  <a:pt x="327" y="200"/>
                </a:lnTo>
                <a:lnTo>
                  <a:pt x="344" y="207"/>
                </a:lnTo>
                <a:lnTo>
                  <a:pt x="360" y="212"/>
                </a:lnTo>
                <a:lnTo>
                  <a:pt x="377" y="215"/>
                </a:lnTo>
                <a:lnTo>
                  <a:pt x="393" y="216"/>
                </a:lnTo>
                <a:lnTo>
                  <a:pt x="393" y="224"/>
                </a:lnTo>
                <a:lnTo>
                  <a:pt x="377" y="223"/>
                </a:lnTo>
                <a:lnTo>
                  <a:pt x="360" y="220"/>
                </a:lnTo>
                <a:lnTo>
                  <a:pt x="344" y="215"/>
                </a:lnTo>
                <a:lnTo>
                  <a:pt x="327" y="208"/>
                </a:lnTo>
                <a:lnTo>
                  <a:pt x="311" y="200"/>
                </a:lnTo>
                <a:lnTo>
                  <a:pt x="295" y="190"/>
                </a:lnTo>
                <a:lnTo>
                  <a:pt x="278" y="180"/>
                </a:lnTo>
                <a:lnTo>
                  <a:pt x="262" y="168"/>
                </a:lnTo>
                <a:lnTo>
                  <a:pt x="246" y="156"/>
                </a:lnTo>
                <a:lnTo>
                  <a:pt x="229" y="143"/>
                </a:lnTo>
                <a:lnTo>
                  <a:pt x="213" y="129"/>
                </a:lnTo>
                <a:lnTo>
                  <a:pt x="196" y="116"/>
                </a:lnTo>
                <a:lnTo>
                  <a:pt x="180" y="102"/>
                </a:lnTo>
                <a:lnTo>
                  <a:pt x="164" y="89"/>
                </a:lnTo>
                <a:lnTo>
                  <a:pt x="147" y="76"/>
                </a:lnTo>
                <a:lnTo>
                  <a:pt x="131" y="64"/>
                </a:lnTo>
                <a:lnTo>
                  <a:pt x="114" y="52"/>
                </a:lnTo>
                <a:lnTo>
                  <a:pt x="98" y="41"/>
                </a:lnTo>
                <a:lnTo>
                  <a:pt x="82" y="32"/>
                </a:lnTo>
                <a:lnTo>
                  <a:pt x="65" y="24"/>
                </a:lnTo>
                <a:lnTo>
                  <a:pt x="49" y="17"/>
                </a:lnTo>
                <a:lnTo>
                  <a:pt x="33" y="12"/>
                </a:lnTo>
                <a:lnTo>
                  <a:pt x="16" y="9"/>
                </a:lnTo>
                <a:lnTo>
                  <a:pt x="0" y="8"/>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3009900"/>
            <a:ext cx="3743325" cy="1238250"/>
          </a:xfrm>
          <a:custGeom>
            <a:avLst/>
            <a:gdLst/>
            <a:ahLst/>
            <a:cxnLst/>
            <a:rect l="l" t="t" r="r" b="b"/>
            <a:pathLst>
              <a:path w="393" h="130">
                <a:moveTo>
                  <a:pt x="0" y="99"/>
                </a:moveTo>
                <a:lnTo>
                  <a:pt x="16" y="98"/>
                </a:lnTo>
                <a:lnTo>
                  <a:pt x="33" y="97"/>
                </a:lnTo>
                <a:lnTo>
                  <a:pt x="49" y="94"/>
                </a:lnTo>
                <a:lnTo>
                  <a:pt x="65" y="91"/>
                </a:lnTo>
                <a:lnTo>
                  <a:pt x="82" y="87"/>
                </a:lnTo>
                <a:lnTo>
                  <a:pt x="98" y="83"/>
                </a:lnTo>
                <a:lnTo>
                  <a:pt x="114" y="78"/>
                </a:lnTo>
                <a:lnTo>
                  <a:pt x="131" y="73"/>
                </a:lnTo>
                <a:lnTo>
                  <a:pt x="147" y="67"/>
                </a:lnTo>
                <a:lnTo>
                  <a:pt x="164" y="61"/>
                </a:lnTo>
                <a:lnTo>
                  <a:pt x="180" y="55"/>
                </a:lnTo>
                <a:lnTo>
                  <a:pt x="196" y="49"/>
                </a:lnTo>
                <a:lnTo>
                  <a:pt x="213" y="43"/>
                </a:lnTo>
                <a:lnTo>
                  <a:pt x="229" y="37"/>
                </a:lnTo>
                <a:lnTo>
                  <a:pt x="246" y="31"/>
                </a:lnTo>
                <a:lnTo>
                  <a:pt x="262" y="25"/>
                </a:lnTo>
                <a:lnTo>
                  <a:pt x="278" y="20"/>
                </a:lnTo>
                <a:lnTo>
                  <a:pt x="295" y="15"/>
                </a:lnTo>
                <a:lnTo>
                  <a:pt x="311" y="11"/>
                </a:lnTo>
                <a:lnTo>
                  <a:pt x="327" y="7"/>
                </a:lnTo>
                <a:lnTo>
                  <a:pt x="344" y="4"/>
                </a:lnTo>
                <a:lnTo>
                  <a:pt x="360" y="2"/>
                </a:lnTo>
                <a:lnTo>
                  <a:pt x="377" y="0"/>
                </a:lnTo>
                <a:lnTo>
                  <a:pt x="393" y="0"/>
                </a:lnTo>
                <a:lnTo>
                  <a:pt x="393" y="32"/>
                </a:lnTo>
                <a:lnTo>
                  <a:pt x="377" y="32"/>
                </a:lnTo>
                <a:lnTo>
                  <a:pt x="360" y="34"/>
                </a:lnTo>
                <a:lnTo>
                  <a:pt x="344" y="36"/>
                </a:lnTo>
                <a:lnTo>
                  <a:pt x="327" y="39"/>
                </a:lnTo>
                <a:lnTo>
                  <a:pt x="311" y="43"/>
                </a:lnTo>
                <a:lnTo>
                  <a:pt x="295" y="47"/>
                </a:lnTo>
                <a:lnTo>
                  <a:pt x="278" y="52"/>
                </a:lnTo>
                <a:lnTo>
                  <a:pt x="262" y="57"/>
                </a:lnTo>
                <a:lnTo>
                  <a:pt x="246" y="63"/>
                </a:lnTo>
                <a:lnTo>
                  <a:pt x="229" y="69"/>
                </a:lnTo>
                <a:lnTo>
                  <a:pt x="213" y="75"/>
                </a:lnTo>
                <a:lnTo>
                  <a:pt x="196" y="81"/>
                </a:lnTo>
                <a:lnTo>
                  <a:pt x="180" y="87"/>
                </a:lnTo>
                <a:lnTo>
                  <a:pt x="164" y="93"/>
                </a:lnTo>
                <a:lnTo>
                  <a:pt x="147" y="99"/>
                </a:lnTo>
                <a:lnTo>
                  <a:pt x="131" y="105"/>
                </a:lnTo>
                <a:lnTo>
                  <a:pt x="114" y="110"/>
                </a:lnTo>
                <a:lnTo>
                  <a:pt x="98" y="115"/>
                </a:lnTo>
                <a:lnTo>
                  <a:pt x="82" y="119"/>
                </a:lnTo>
                <a:lnTo>
                  <a:pt x="65" y="123"/>
                </a:lnTo>
                <a:lnTo>
                  <a:pt x="49" y="126"/>
                </a:lnTo>
                <a:lnTo>
                  <a:pt x="33" y="128"/>
                </a:lnTo>
                <a:lnTo>
                  <a:pt x="16" y="130"/>
                </a:lnTo>
                <a:lnTo>
                  <a:pt x="0" y="130"/>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248150"/>
            <a:ext cx="3743325" cy="895350"/>
          </a:xfrm>
          <a:custGeom>
            <a:avLst/>
            <a:gdLst/>
            <a:ahLst/>
            <a:cxnLst/>
            <a:rect l="l" t="t" r="r" b="b"/>
            <a:pathLst>
              <a:path w="393" h="94">
                <a:moveTo>
                  <a:pt x="0" y="0"/>
                </a:moveTo>
                <a:lnTo>
                  <a:pt x="16" y="1"/>
                </a:lnTo>
                <a:lnTo>
                  <a:pt x="33" y="2"/>
                </a:lnTo>
                <a:lnTo>
                  <a:pt x="49" y="4"/>
                </a:lnTo>
                <a:lnTo>
                  <a:pt x="65" y="6"/>
                </a:lnTo>
                <a:lnTo>
                  <a:pt x="82" y="10"/>
                </a:lnTo>
                <a:lnTo>
                  <a:pt x="98" y="13"/>
                </a:lnTo>
                <a:lnTo>
                  <a:pt x="114" y="17"/>
                </a:lnTo>
                <a:lnTo>
                  <a:pt x="131" y="22"/>
                </a:lnTo>
                <a:lnTo>
                  <a:pt x="147" y="27"/>
                </a:lnTo>
                <a:lnTo>
                  <a:pt x="164" y="32"/>
                </a:lnTo>
                <a:lnTo>
                  <a:pt x="180" y="37"/>
                </a:lnTo>
                <a:lnTo>
                  <a:pt x="196" y="42"/>
                </a:lnTo>
                <a:lnTo>
                  <a:pt x="213" y="47"/>
                </a:lnTo>
                <a:lnTo>
                  <a:pt x="229" y="52"/>
                </a:lnTo>
                <a:lnTo>
                  <a:pt x="246" y="57"/>
                </a:lnTo>
                <a:lnTo>
                  <a:pt x="262" y="62"/>
                </a:lnTo>
                <a:lnTo>
                  <a:pt x="278" y="67"/>
                </a:lnTo>
                <a:lnTo>
                  <a:pt x="295" y="71"/>
                </a:lnTo>
                <a:lnTo>
                  <a:pt x="311" y="74"/>
                </a:lnTo>
                <a:lnTo>
                  <a:pt x="327" y="78"/>
                </a:lnTo>
                <a:lnTo>
                  <a:pt x="344" y="80"/>
                </a:lnTo>
                <a:lnTo>
                  <a:pt x="360" y="82"/>
                </a:lnTo>
                <a:lnTo>
                  <a:pt x="377" y="83"/>
                </a:lnTo>
                <a:lnTo>
                  <a:pt x="393" y="84"/>
                </a:lnTo>
                <a:lnTo>
                  <a:pt x="393" y="94"/>
                </a:lnTo>
                <a:lnTo>
                  <a:pt x="377" y="93"/>
                </a:lnTo>
                <a:lnTo>
                  <a:pt x="360" y="92"/>
                </a:lnTo>
                <a:lnTo>
                  <a:pt x="344" y="90"/>
                </a:lnTo>
                <a:lnTo>
                  <a:pt x="327" y="88"/>
                </a:lnTo>
                <a:lnTo>
                  <a:pt x="311" y="84"/>
                </a:lnTo>
                <a:lnTo>
                  <a:pt x="295" y="81"/>
                </a:lnTo>
                <a:lnTo>
                  <a:pt x="278" y="77"/>
                </a:lnTo>
                <a:lnTo>
                  <a:pt x="262" y="72"/>
                </a:lnTo>
                <a:lnTo>
                  <a:pt x="246" y="67"/>
                </a:lnTo>
                <a:lnTo>
                  <a:pt x="229" y="62"/>
                </a:lnTo>
                <a:lnTo>
                  <a:pt x="213" y="57"/>
                </a:lnTo>
                <a:lnTo>
                  <a:pt x="196" y="52"/>
                </a:lnTo>
                <a:lnTo>
                  <a:pt x="180" y="47"/>
                </a:lnTo>
                <a:lnTo>
                  <a:pt x="164" y="42"/>
                </a:lnTo>
                <a:lnTo>
                  <a:pt x="147" y="37"/>
                </a:lnTo>
                <a:lnTo>
                  <a:pt x="131" y="32"/>
                </a:lnTo>
                <a:lnTo>
                  <a:pt x="114" y="27"/>
                </a:lnTo>
                <a:lnTo>
                  <a:pt x="98" y="23"/>
                </a:lnTo>
                <a:lnTo>
                  <a:pt x="82" y="20"/>
                </a:lnTo>
                <a:lnTo>
                  <a:pt x="65" y="16"/>
                </a:lnTo>
                <a:lnTo>
                  <a:pt x="49" y="14"/>
                </a:lnTo>
                <a:lnTo>
                  <a:pt x="33" y="12"/>
                </a:lnTo>
                <a:lnTo>
                  <a:pt x="16" y="11"/>
                </a:lnTo>
                <a:lnTo>
                  <a:pt x="0" y="10"/>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4343400"/>
            <a:ext cx="3743325" cy="1685925"/>
          </a:xfrm>
          <a:custGeom>
            <a:avLst/>
            <a:gdLst/>
            <a:ahLst/>
            <a:cxnLst/>
            <a:rect l="l" t="t" r="r" b="b"/>
            <a:pathLst>
              <a:path w="393" h="177">
                <a:moveTo>
                  <a:pt x="0" y="0"/>
                </a:moveTo>
                <a:lnTo>
                  <a:pt x="16" y="1"/>
                </a:lnTo>
                <a:lnTo>
                  <a:pt x="33" y="4"/>
                </a:lnTo>
                <a:lnTo>
                  <a:pt x="49" y="7"/>
                </a:lnTo>
                <a:lnTo>
                  <a:pt x="65" y="13"/>
                </a:lnTo>
                <a:lnTo>
                  <a:pt x="82" y="19"/>
                </a:lnTo>
                <a:lnTo>
                  <a:pt x="98" y="27"/>
                </a:lnTo>
                <a:lnTo>
                  <a:pt x="114" y="35"/>
                </a:lnTo>
                <a:lnTo>
                  <a:pt x="131" y="44"/>
                </a:lnTo>
                <a:lnTo>
                  <a:pt x="147" y="54"/>
                </a:lnTo>
                <a:lnTo>
                  <a:pt x="164" y="64"/>
                </a:lnTo>
                <a:lnTo>
                  <a:pt x="180" y="74"/>
                </a:lnTo>
                <a:lnTo>
                  <a:pt x="196" y="85"/>
                </a:lnTo>
                <a:lnTo>
                  <a:pt x="213" y="95"/>
                </a:lnTo>
                <a:lnTo>
                  <a:pt x="229" y="106"/>
                </a:lnTo>
                <a:lnTo>
                  <a:pt x="246" y="116"/>
                </a:lnTo>
                <a:lnTo>
                  <a:pt x="262" y="125"/>
                </a:lnTo>
                <a:lnTo>
                  <a:pt x="278" y="135"/>
                </a:lnTo>
                <a:lnTo>
                  <a:pt x="295" y="143"/>
                </a:lnTo>
                <a:lnTo>
                  <a:pt x="311" y="150"/>
                </a:lnTo>
                <a:lnTo>
                  <a:pt x="327" y="157"/>
                </a:lnTo>
                <a:lnTo>
                  <a:pt x="344" y="162"/>
                </a:lnTo>
                <a:lnTo>
                  <a:pt x="360" y="166"/>
                </a:lnTo>
                <a:lnTo>
                  <a:pt x="377" y="168"/>
                </a:lnTo>
                <a:lnTo>
                  <a:pt x="393" y="169"/>
                </a:lnTo>
                <a:lnTo>
                  <a:pt x="393" y="177"/>
                </a:lnTo>
                <a:lnTo>
                  <a:pt x="377" y="176"/>
                </a:lnTo>
                <a:lnTo>
                  <a:pt x="360" y="174"/>
                </a:lnTo>
                <a:lnTo>
                  <a:pt x="344" y="170"/>
                </a:lnTo>
                <a:lnTo>
                  <a:pt x="327" y="165"/>
                </a:lnTo>
                <a:lnTo>
                  <a:pt x="311" y="158"/>
                </a:lnTo>
                <a:lnTo>
                  <a:pt x="295" y="151"/>
                </a:lnTo>
                <a:lnTo>
                  <a:pt x="278" y="142"/>
                </a:lnTo>
                <a:lnTo>
                  <a:pt x="262" y="133"/>
                </a:lnTo>
                <a:lnTo>
                  <a:pt x="246" y="124"/>
                </a:lnTo>
                <a:lnTo>
                  <a:pt x="229" y="113"/>
                </a:lnTo>
                <a:lnTo>
                  <a:pt x="213" y="103"/>
                </a:lnTo>
                <a:lnTo>
                  <a:pt x="196" y="93"/>
                </a:lnTo>
                <a:lnTo>
                  <a:pt x="180" y="82"/>
                </a:lnTo>
                <a:lnTo>
                  <a:pt x="164" y="72"/>
                </a:lnTo>
                <a:lnTo>
                  <a:pt x="147" y="61"/>
                </a:lnTo>
                <a:lnTo>
                  <a:pt x="131" y="52"/>
                </a:lnTo>
                <a:lnTo>
                  <a:pt x="114" y="43"/>
                </a:lnTo>
                <a:lnTo>
                  <a:pt x="98" y="34"/>
                </a:lnTo>
                <a:lnTo>
                  <a:pt x="82" y="27"/>
                </a:lnTo>
                <a:lnTo>
                  <a:pt x="65" y="21"/>
                </a:lnTo>
                <a:lnTo>
                  <a:pt x="49" y="15"/>
                </a:lnTo>
                <a:lnTo>
                  <a:pt x="33" y="11"/>
                </a:lnTo>
                <a:lnTo>
                  <a:pt x="16" y="9"/>
                </a:lnTo>
                <a:lnTo>
                  <a:pt x="0" y="8"/>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3314700"/>
            <a:ext cx="3743325" cy="1457325"/>
          </a:xfrm>
          <a:custGeom>
            <a:avLst/>
            <a:gdLst/>
            <a:ahLst/>
            <a:cxnLst/>
            <a:rect l="l" t="t" r="r" b="b"/>
            <a:pathLst>
              <a:path w="393" h="153">
                <a:moveTo>
                  <a:pt x="0" y="122"/>
                </a:moveTo>
                <a:lnTo>
                  <a:pt x="16" y="121"/>
                </a:lnTo>
                <a:lnTo>
                  <a:pt x="33" y="120"/>
                </a:lnTo>
                <a:lnTo>
                  <a:pt x="49" y="117"/>
                </a:lnTo>
                <a:lnTo>
                  <a:pt x="65" y="113"/>
                </a:lnTo>
                <a:lnTo>
                  <a:pt x="82" y="108"/>
                </a:lnTo>
                <a:lnTo>
                  <a:pt x="98" y="103"/>
                </a:lnTo>
                <a:lnTo>
                  <a:pt x="114" y="97"/>
                </a:lnTo>
                <a:lnTo>
                  <a:pt x="131" y="90"/>
                </a:lnTo>
                <a:lnTo>
                  <a:pt x="147" y="83"/>
                </a:lnTo>
                <a:lnTo>
                  <a:pt x="164" y="76"/>
                </a:lnTo>
                <a:lnTo>
                  <a:pt x="180" y="68"/>
                </a:lnTo>
                <a:lnTo>
                  <a:pt x="196" y="61"/>
                </a:lnTo>
                <a:lnTo>
                  <a:pt x="213" y="53"/>
                </a:lnTo>
                <a:lnTo>
                  <a:pt x="229" y="46"/>
                </a:lnTo>
                <a:lnTo>
                  <a:pt x="246" y="38"/>
                </a:lnTo>
                <a:lnTo>
                  <a:pt x="262" y="31"/>
                </a:lnTo>
                <a:lnTo>
                  <a:pt x="278" y="25"/>
                </a:lnTo>
                <a:lnTo>
                  <a:pt x="295" y="19"/>
                </a:lnTo>
                <a:lnTo>
                  <a:pt x="311" y="13"/>
                </a:lnTo>
                <a:lnTo>
                  <a:pt x="327" y="9"/>
                </a:lnTo>
                <a:lnTo>
                  <a:pt x="344" y="5"/>
                </a:lnTo>
                <a:lnTo>
                  <a:pt x="360" y="2"/>
                </a:lnTo>
                <a:lnTo>
                  <a:pt x="377" y="0"/>
                </a:lnTo>
                <a:lnTo>
                  <a:pt x="393" y="0"/>
                </a:lnTo>
                <a:lnTo>
                  <a:pt x="393" y="31"/>
                </a:lnTo>
                <a:lnTo>
                  <a:pt x="377" y="32"/>
                </a:lnTo>
                <a:lnTo>
                  <a:pt x="360" y="33"/>
                </a:lnTo>
                <a:lnTo>
                  <a:pt x="344" y="36"/>
                </a:lnTo>
                <a:lnTo>
                  <a:pt x="327" y="40"/>
                </a:lnTo>
                <a:lnTo>
                  <a:pt x="311" y="45"/>
                </a:lnTo>
                <a:lnTo>
                  <a:pt x="295" y="50"/>
                </a:lnTo>
                <a:lnTo>
                  <a:pt x="278" y="56"/>
                </a:lnTo>
                <a:lnTo>
                  <a:pt x="262" y="63"/>
                </a:lnTo>
                <a:lnTo>
                  <a:pt x="246" y="70"/>
                </a:lnTo>
                <a:lnTo>
                  <a:pt x="229" y="77"/>
                </a:lnTo>
                <a:lnTo>
                  <a:pt x="213" y="85"/>
                </a:lnTo>
                <a:lnTo>
                  <a:pt x="196" y="92"/>
                </a:lnTo>
                <a:lnTo>
                  <a:pt x="180" y="100"/>
                </a:lnTo>
                <a:lnTo>
                  <a:pt x="164" y="107"/>
                </a:lnTo>
                <a:lnTo>
                  <a:pt x="147" y="115"/>
                </a:lnTo>
                <a:lnTo>
                  <a:pt x="131" y="122"/>
                </a:lnTo>
                <a:lnTo>
                  <a:pt x="114" y="128"/>
                </a:lnTo>
                <a:lnTo>
                  <a:pt x="98" y="134"/>
                </a:lnTo>
                <a:lnTo>
                  <a:pt x="82" y="140"/>
                </a:lnTo>
                <a:lnTo>
                  <a:pt x="65" y="144"/>
                </a:lnTo>
                <a:lnTo>
                  <a:pt x="49" y="148"/>
                </a:lnTo>
                <a:lnTo>
                  <a:pt x="33" y="151"/>
                </a:lnTo>
                <a:lnTo>
                  <a:pt x="16" y="153"/>
                </a:lnTo>
                <a:lnTo>
                  <a:pt x="0" y="153"/>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4772025"/>
            <a:ext cx="3743325" cy="466725"/>
          </a:xfrm>
          <a:custGeom>
            <a:avLst/>
            <a:gdLst/>
            <a:ahLst/>
            <a:cxnLst/>
            <a:rect l="l" t="t" r="r" b="b"/>
            <a:pathLst>
              <a:path w="393" h="49">
                <a:moveTo>
                  <a:pt x="0" y="0"/>
                </a:moveTo>
                <a:lnTo>
                  <a:pt x="16" y="1"/>
                </a:lnTo>
                <a:lnTo>
                  <a:pt x="33" y="1"/>
                </a:lnTo>
                <a:lnTo>
                  <a:pt x="49" y="2"/>
                </a:lnTo>
                <a:lnTo>
                  <a:pt x="65" y="3"/>
                </a:lnTo>
                <a:lnTo>
                  <a:pt x="82" y="5"/>
                </a:lnTo>
                <a:lnTo>
                  <a:pt x="98" y="6"/>
                </a:lnTo>
                <a:lnTo>
                  <a:pt x="114" y="8"/>
                </a:lnTo>
                <a:lnTo>
                  <a:pt x="131" y="10"/>
                </a:lnTo>
                <a:lnTo>
                  <a:pt x="147" y="13"/>
                </a:lnTo>
                <a:lnTo>
                  <a:pt x="164" y="15"/>
                </a:lnTo>
                <a:lnTo>
                  <a:pt x="180" y="17"/>
                </a:lnTo>
                <a:lnTo>
                  <a:pt x="196" y="20"/>
                </a:lnTo>
                <a:lnTo>
                  <a:pt x="213" y="22"/>
                </a:lnTo>
                <a:lnTo>
                  <a:pt x="229" y="24"/>
                </a:lnTo>
                <a:lnTo>
                  <a:pt x="246" y="27"/>
                </a:lnTo>
                <a:lnTo>
                  <a:pt x="262" y="29"/>
                </a:lnTo>
                <a:lnTo>
                  <a:pt x="278" y="31"/>
                </a:lnTo>
                <a:lnTo>
                  <a:pt x="295" y="33"/>
                </a:lnTo>
                <a:lnTo>
                  <a:pt x="311" y="34"/>
                </a:lnTo>
                <a:lnTo>
                  <a:pt x="327" y="36"/>
                </a:lnTo>
                <a:lnTo>
                  <a:pt x="344" y="37"/>
                </a:lnTo>
                <a:lnTo>
                  <a:pt x="360" y="38"/>
                </a:lnTo>
                <a:lnTo>
                  <a:pt x="377" y="39"/>
                </a:lnTo>
                <a:lnTo>
                  <a:pt x="393" y="39"/>
                </a:lnTo>
                <a:lnTo>
                  <a:pt x="393" y="49"/>
                </a:lnTo>
                <a:lnTo>
                  <a:pt x="377" y="49"/>
                </a:lnTo>
                <a:lnTo>
                  <a:pt x="360" y="48"/>
                </a:lnTo>
                <a:lnTo>
                  <a:pt x="344" y="47"/>
                </a:lnTo>
                <a:lnTo>
                  <a:pt x="327" y="46"/>
                </a:lnTo>
                <a:lnTo>
                  <a:pt x="311" y="44"/>
                </a:lnTo>
                <a:lnTo>
                  <a:pt x="295" y="43"/>
                </a:lnTo>
                <a:lnTo>
                  <a:pt x="278" y="41"/>
                </a:lnTo>
                <a:lnTo>
                  <a:pt x="262" y="39"/>
                </a:lnTo>
                <a:lnTo>
                  <a:pt x="246" y="37"/>
                </a:lnTo>
                <a:lnTo>
                  <a:pt x="229" y="34"/>
                </a:lnTo>
                <a:lnTo>
                  <a:pt x="213" y="32"/>
                </a:lnTo>
                <a:lnTo>
                  <a:pt x="196" y="30"/>
                </a:lnTo>
                <a:lnTo>
                  <a:pt x="180" y="27"/>
                </a:lnTo>
                <a:lnTo>
                  <a:pt x="164" y="25"/>
                </a:lnTo>
                <a:lnTo>
                  <a:pt x="147" y="23"/>
                </a:lnTo>
                <a:lnTo>
                  <a:pt x="131" y="20"/>
                </a:lnTo>
                <a:lnTo>
                  <a:pt x="114" y="18"/>
                </a:lnTo>
                <a:lnTo>
                  <a:pt x="98" y="16"/>
                </a:lnTo>
                <a:lnTo>
                  <a:pt x="82" y="15"/>
                </a:lnTo>
                <a:lnTo>
                  <a:pt x="65" y="13"/>
                </a:lnTo>
                <a:lnTo>
                  <a:pt x="49" y="12"/>
                </a:lnTo>
                <a:lnTo>
                  <a:pt x="33" y="11"/>
                </a:lnTo>
                <a:lnTo>
                  <a:pt x="16" y="11"/>
                </a:lnTo>
                <a:lnTo>
                  <a:pt x="0" y="10"/>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4867275"/>
            <a:ext cx="3743325" cy="1238250"/>
          </a:xfrm>
          <a:custGeom>
            <a:avLst/>
            <a:gdLst/>
            <a:ahLst/>
            <a:cxnLst/>
            <a:rect l="l" t="t" r="r" b="b"/>
            <a:pathLst>
              <a:path w="393" h="130">
                <a:moveTo>
                  <a:pt x="0" y="0"/>
                </a:moveTo>
                <a:lnTo>
                  <a:pt x="16" y="1"/>
                </a:lnTo>
                <a:lnTo>
                  <a:pt x="33" y="3"/>
                </a:lnTo>
                <a:lnTo>
                  <a:pt x="49" y="6"/>
                </a:lnTo>
                <a:lnTo>
                  <a:pt x="65" y="9"/>
                </a:lnTo>
                <a:lnTo>
                  <a:pt x="82" y="14"/>
                </a:lnTo>
                <a:lnTo>
                  <a:pt x="98" y="19"/>
                </a:lnTo>
                <a:lnTo>
                  <a:pt x="114" y="25"/>
                </a:lnTo>
                <a:lnTo>
                  <a:pt x="131" y="32"/>
                </a:lnTo>
                <a:lnTo>
                  <a:pt x="147" y="39"/>
                </a:lnTo>
                <a:lnTo>
                  <a:pt x="164" y="46"/>
                </a:lnTo>
                <a:lnTo>
                  <a:pt x="180" y="54"/>
                </a:lnTo>
                <a:lnTo>
                  <a:pt x="196" y="61"/>
                </a:lnTo>
                <a:lnTo>
                  <a:pt x="213" y="69"/>
                </a:lnTo>
                <a:lnTo>
                  <a:pt x="229" y="76"/>
                </a:lnTo>
                <a:lnTo>
                  <a:pt x="246" y="84"/>
                </a:lnTo>
                <a:lnTo>
                  <a:pt x="262" y="91"/>
                </a:lnTo>
                <a:lnTo>
                  <a:pt x="278" y="97"/>
                </a:lnTo>
                <a:lnTo>
                  <a:pt x="295" y="103"/>
                </a:lnTo>
                <a:lnTo>
                  <a:pt x="311" y="108"/>
                </a:lnTo>
                <a:lnTo>
                  <a:pt x="327" y="113"/>
                </a:lnTo>
                <a:lnTo>
                  <a:pt x="344" y="117"/>
                </a:lnTo>
                <a:lnTo>
                  <a:pt x="360" y="120"/>
                </a:lnTo>
                <a:lnTo>
                  <a:pt x="377" y="121"/>
                </a:lnTo>
                <a:lnTo>
                  <a:pt x="393" y="122"/>
                </a:lnTo>
                <a:lnTo>
                  <a:pt x="393" y="130"/>
                </a:lnTo>
                <a:lnTo>
                  <a:pt x="377" y="130"/>
                </a:lnTo>
                <a:lnTo>
                  <a:pt x="360" y="128"/>
                </a:lnTo>
                <a:lnTo>
                  <a:pt x="344" y="125"/>
                </a:lnTo>
                <a:lnTo>
                  <a:pt x="327" y="121"/>
                </a:lnTo>
                <a:lnTo>
                  <a:pt x="311" y="117"/>
                </a:lnTo>
                <a:lnTo>
                  <a:pt x="295" y="111"/>
                </a:lnTo>
                <a:lnTo>
                  <a:pt x="278" y="105"/>
                </a:lnTo>
                <a:lnTo>
                  <a:pt x="262" y="99"/>
                </a:lnTo>
                <a:lnTo>
                  <a:pt x="246" y="92"/>
                </a:lnTo>
                <a:lnTo>
                  <a:pt x="229" y="84"/>
                </a:lnTo>
                <a:lnTo>
                  <a:pt x="213" y="77"/>
                </a:lnTo>
                <a:lnTo>
                  <a:pt x="196" y="69"/>
                </a:lnTo>
                <a:lnTo>
                  <a:pt x="180" y="62"/>
                </a:lnTo>
                <a:lnTo>
                  <a:pt x="164" y="54"/>
                </a:lnTo>
                <a:lnTo>
                  <a:pt x="147" y="47"/>
                </a:lnTo>
                <a:lnTo>
                  <a:pt x="131" y="40"/>
                </a:lnTo>
                <a:lnTo>
                  <a:pt x="114" y="34"/>
                </a:lnTo>
                <a:lnTo>
                  <a:pt x="98" y="28"/>
                </a:lnTo>
                <a:lnTo>
                  <a:pt x="82" y="22"/>
                </a:lnTo>
                <a:lnTo>
                  <a:pt x="65" y="18"/>
                </a:lnTo>
                <a:lnTo>
                  <a:pt x="49" y="14"/>
                </a:lnTo>
                <a:lnTo>
                  <a:pt x="33" y="11"/>
                </a:lnTo>
                <a:lnTo>
                  <a:pt x="16" y="9"/>
                </a:lnTo>
                <a:lnTo>
                  <a:pt x="0" y="9"/>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3609975"/>
            <a:ext cx="3743325" cy="1695450"/>
          </a:xfrm>
          <a:custGeom>
            <a:avLst/>
            <a:gdLst/>
            <a:ahLst/>
            <a:cxnLst/>
            <a:rect l="l" t="t" r="r" b="b"/>
            <a:pathLst>
              <a:path w="393" h="178">
                <a:moveTo>
                  <a:pt x="0" y="147"/>
                </a:moveTo>
                <a:lnTo>
                  <a:pt x="16" y="146"/>
                </a:lnTo>
                <a:lnTo>
                  <a:pt x="33" y="144"/>
                </a:lnTo>
                <a:lnTo>
                  <a:pt x="49" y="140"/>
                </a:lnTo>
                <a:lnTo>
                  <a:pt x="65" y="136"/>
                </a:lnTo>
                <a:lnTo>
                  <a:pt x="82" y="130"/>
                </a:lnTo>
                <a:lnTo>
                  <a:pt x="98" y="124"/>
                </a:lnTo>
                <a:lnTo>
                  <a:pt x="114" y="116"/>
                </a:lnTo>
                <a:lnTo>
                  <a:pt x="131" y="109"/>
                </a:lnTo>
                <a:lnTo>
                  <a:pt x="147" y="100"/>
                </a:lnTo>
                <a:lnTo>
                  <a:pt x="164" y="91"/>
                </a:lnTo>
                <a:lnTo>
                  <a:pt x="180" y="82"/>
                </a:lnTo>
                <a:lnTo>
                  <a:pt x="196" y="73"/>
                </a:lnTo>
                <a:lnTo>
                  <a:pt x="213" y="64"/>
                </a:lnTo>
                <a:lnTo>
                  <a:pt x="229" y="55"/>
                </a:lnTo>
                <a:lnTo>
                  <a:pt x="246" y="46"/>
                </a:lnTo>
                <a:lnTo>
                  <a:pt x="262" y="38"/>
                </a:lnTo>
                <a:lnTo>
                  <a:pt x="278" y="30"/>
                </a:lnTo>
                <a:lnTo>
                  <a:pt x="295" y="23"/>
                </a:lnTo>
                <a:lnTo>
                  <a:pt x="311" y="16"/>
                </a:lnTo>
                <a:lnTo>
                  <a:pt x="327" y="11"/>
                </a:lnTo>
                <a:lnTo>
                  <a:pt x="344" y="6"/>
                </a:lnTo>
                <a:lnTo>
                  <a:pt x="360" y="3"/>
                </a:lnTo>
                <a:lnTo>
                  <a:pt x="377" y="1"/>
                </a:lnTo>
                <a:lnTo>
                  <a:pt x="393" y="0"/>
                </a:lnTo>
                <a:lnTo>
                  <a:pt x="393" y="32"/>
                </a:lnTo>
                <a:lnTo>
                  <a:pt x="377" y="32"/>
                </a:lnTo>
                <a:lnTo>
                  <a:pt x="360" y="35"/>
                </a:lnTo>
                <a:lnTo>
                  <a:pt x="344" y="38"/>
                </a:lnTo>
                <a:lnTo>
                  <a:pt x="327" y="42"/>
                </a:lnTo>
                <a:lnTo>
                  <a:pt x="311" y="48"/>
                </a:lnTo>
                <a:lnTo>
                  <a:pt x="295" y="55"/>
                </a:lnTo>
                <a:lnTo>
                  <a:pt x="278" y="62"/>
                </a:lnTo>
                <a:lnTo>
                  <a:pt x="262" y="70"/>
                </a:lnTo>
                <a:lnTo>
                  <a:pt x="246" y="78"/>
                </a:lnTo>
                <a:lnTo>
                  <a:pt x="229" y="87"/>
                </a:lnTo>
                <a:lnTo>
                  <a:pt x="213" y="96"/>
                </a:lnTo>
                <a:lnTo>
                  <a:pt x="196" y="105"/>
                </a:lnTo>
                <a:lnTo>
                  <a:pt x="180" y="114"/>
                </a:lnTo>
                <a:lnTo>
                  <a:pt x="164" y="123"/>
                </a:lnTo>
                <a:lnTo>
                  <a:pt x="147" y="132"/>
                </a:lnTo>
                <a:lnTo>
                  <a:pt x="131" y="140"/>
                </a:lnTo>
                <a:lnTo>
                  <a:pt x="114" y="148"/>
                </a:lnTo>
                <a:lnTo>
                  <a:pt x="98" y="155"/>
                </a:lnTo>
                <a:lnTo>
                  <a:pt x="82" y="162"/>
                </a:lnTo>
                <a:lnTo>
                  <a:pt x="65" y="167"/>
                </a:lnTo>
                <a:lnTo>
                  <a:pt x="49" y="172"/>
                </a:lnTo>
                <a:lnTo>
                  <a:pt x="33" y="175"/>
                </a:lnTo>
                <a:lnTo>
                  <a:pt x="16" y="177"/>
                </a:lnTo>
                <a:lnTo>
                  <a:pt x="0" y="178"/>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5238750"/>
            <a:ext cx="3743325" cy="161925"/>
          </a:xfrm>
          <a:custGeom>
            <a:avLst/>
            <a:gdLst/>
            <a:ahLst/>
            <a:cxnLst/>
            <a:rect l="l" t="t" r="r" b="b"/>
            <a:pathLst>
              <a:path w="393" h="17">
                <a:moveTo>
                  <a:pt x="0" y="7"/>
                </a:moveTo>
                <a:lnTo>
                  <a:pt x="16" y="7"/>
                </a:lnTo>
                <a:lnTo>
                  <a:pt x="33" y="7"/>
                </a:lnTo>
                <a:lnTo>
                  <a:pt x="49" y="7"/>
                </a:lnTo>
                <a:lnTo>
                  <a:pt x="65" y="7"/>
                </a:lnTo>
                <a:lnTo>
                  <a:pt x="82" y="6"/>
                </a:lnTo>
                <a:lnTo>
                  <a:pt x="98" y="6"/>
                </a:lnTo>
                <a:lnTo>
                  <a:pt x="114" y="6"/>
                </a:lnTo>
                <a:lnTo>
                  <a:pt x="131" y="5"/>
                </a:lnTo>
                <a:lnTo>
                  <a:pt x="147" y="5"/>
                </a:lnTo>
                <a:lnTo>
                  <a:pt x="164" y="4"/>
                </a:lnTo>
                <a:lnTo>
                  <a:pt x="180" y="4"/>
                </a:lnTo>
                <a:lnTo>
                  <a:pt x="196" y="3"/>
                </a:lnTo>
                <a:lnTo>
                  <a:pt x="213" y="3"/>
                </a:lnTo>
                <a:lnTo>
                  <a:pt x="229" y="3"/>
                </a:lnTo>
                <a:lnTo>
                  <a:pt x="246" y="2"/>
                </a:lnTo>
                <a:lnTo>
                  <a:pt x="262" y="2"/>
                </a:lnTo>
                <a:lnTo>
                  <a:pt x="278" y="1"/>
                </a:lnTo>
                <a:lnTo>
                  <a:pt x="295" y="1"/>
                </a:lnTo>
                <a:lnTo>
                  <a:pt x="311" y="1"/>
                </a:lnTo>
                <a:lnTo>
                  <a:pt x="327" y="0"/>
                </a:lnTo>
                <a:lnTo>
                  <a:pt x="344" y="0"/>
                </a:lnTo>
                <a:lnTo>
                  <a:pt x="360" y="0"/>
                </a:lnTo>
                <a:lnTo>
                  <a:pt x="377" y="0"/>
                </a:lnTo>
                <a:lnTo>
                  <a:pt x="393" y="0"/>
                </a:lnTo>
                <a:lnTo>
                  <a:pt x="393" y="10"/>
                </a:lnTo>
                <a:lnTo>
                  <a:pt x="377" y="10"/>
                </a:lnTo>
                <a:lnTo>
                  <a:pt x="360" y="10"/>
                </a:lnTo>
                <a:lnTo>
                  <a:pt x="344" y="10"/>
                </a:lnTo>
                <a:lnTo>
                  <a:pt x="327" y="10"/>
                </a:lnTo>
                <a:lnTo>
                  <a:pt x="311" y="11"/>
                </a:lnTo>
                <a:lnTo>
                  <a:pt x="295" y="11"/>
                </a:lnTo>
                <a:lnTo>
                  <a:pt x="278" y="11"/>
                </a:lnTo>
                <a:lnTo>
                  <a:pt x="262" y="12"/>
                </a:lnTo>
                <a:lnTo>
                  <a:pt x="246" y="12"/>
                </a:lnTo>
                <a:lnTo>
                  <a:pt x="229" y="12"/>
                </a:lnTo>
                <a:lnTo>
                  <a:pt x="213" y="13"/>
                </a:lnTo>
                <a:lnTo>
                  <a:pt x="196" y="13"/>
                </a:lnTo>
                <a:lnTo>
                  <a:pt x="180" y="14"/>
                </a:lnTo>
                <a:lnTo>
                  <a:pt x="164" y="14"/>
                </a:lnTo>
                <a:lnTo>
                  <a:pt x="147" y="15"/>
                </a:lnTo>
                <a:lnTo>
                  <a:pt x="131" y="15"/>
                </a:lnTo>
                <a:lnTo>
                  <a:pt x="114" y="16"/>
                </a:lnTo>
                <a:lnTo>
                  <a:pt x="98" y="16"/>
                </a:lnTo>
                <a:lnTo>
                  <a:pt x="82" y="16"/>
                </a:lnTo>
                <a:lnTo>
                  <a:pt x="65" y="17"/>
                </a:lnTo>
                <a:lnTo>
                  <a:pt x="49" y="17"/>
                </a:lnTo>
                <a:lnTo>
                  <a:pt x="33" y="17"/>
                </a:lnTo>
                <a:lnTo>
                  <a:pt x="16" y="17"/>
                </a:lnTo>
                <a:lnTo>
                  <a:pt x="0" y="17"/>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5400675"/>
            <a:ext cx="3743325" cy="781050"/>
          </a:xfrm>
          <a:custGeom>
            <a:avLst/>
            <a:gdLst/>
            <a:ahLst/>
            <a:cxnLst/>
            <a:rect l="l" t="t" r="r" b="b"/>
            <a:pathLst>
              <a:path w="393" h="82">
                <a:moveTo>
                  <a:pt x="0" y="0"/>
                </a:moveTo>
                <a:lnTo>
                  <a:pt x="16" y="0"/>
                </a:lnTo>
                <a:lnTo>
                  <a:pt x="33" y="2"/>
                </a:lnTo>
                <a:lnTo>
                  <a:pt x="49" y="3"/>
                </a:lnTo>
                <a:lnTo>
                  <a:pt x="65" y="6"/>
                </a:lnTo>
                <a:lnTo>
                  <a:pt x="82" y="8"/>
                </a:lnTo>
                <a:lnTo>
                  <a:pt x="98" y="12"/>
                </a:lnTo>
                <a:lnTo>
                  <a:pt x="114" y="15"/>
                </a:lnTo>
                <a:lnTo>
                  <a:pt x="131" y="19"/>
                </a:lnTo>
                <a:lnTo>
                  <a:pt x="147" y="24"/>
                </a:lnTo>
                <a:lnTo>
                  <a:pt x="164" y="28"/>
                </a:lnTo>
                <a:lnTo>
                  <a:pt x="180" y="33"/>
                </a:lnTo>
                <a:lnTo>
                  <a:pt x="196" y="37"/>
                </a:lnTo>
                <a:lnTo>
                  <a:pt x="213" y="42"/>
                </a:lnTo>
                <a:lnTo>
                  <a:pt x="229" y="46"/>
                </a:lnTo>
                <a:lnTo>
                  <a:pt x="246" y="51"/>
                </a:lnTo>
                <a:lnTo>
                  <a:pt x="262" y="55"/>
                </a:lnTo>
                <a:lnTo>
                  <a:pt x="278" y="59"/>
                </a:lnTo>
                <a:lnTo>
                  <a:pt x="295" y="63"/>
                </a:lnTo>
                <a:lnTo>
                  <a:pt x="311" y="66"/>
                </a:lnTo>
                <a:lnTo>
                  <a:pt x="327" y="69"/>
                </a:lnTo>
                <a:lnTo>
                  <a:pt x="344" y="71"/>
                </a:lnTo>
                <a:lnTo>
                  <a:pt x="360" y="73"/>
                </a:lnTo>
                <a:lnTo>
                  <a:pt x="377" y="74"/>
                </a:lnTo>
                <a:lnTo>
                  <a:pt x="393" y="74"/>
                </a:lnTo>
                <a:lnTo>
                  <a:pt x="393" y="82"/>
                </a:lnTo>
                <a:lnTo>
                  <a:pt x="377" y="82"/>
                </a:lnTo>
                <a:lnTo>
                  <a:pt x="360" y="81"/>
                </a:lnTo>
                <a:lnTo>
                  <a:pt x="344" y="79"/>
                </a:lnTo>
                <a:lnTo>
                  <a:pt x="327" y="77"/>
                </a:lnTo>
                <a:lnTo>
                  <a:pt x="311" y="74"/>
                </a:lnTo>
                <a:lnTo>
                  <a:pt x="295" y="71"/>
                </a:lnTo>
                <a:lnTo>
                  <a:pt x="278" y="67"/>
                </a:lnTo>
                <a:lnTo>
                  <a:pt x="262" y="63"/>
                </a:lnTo>
                <a:lnTo>
                  <a:pt x="246" y="59"/>
                </a:lnTo>
                <a:lnTo>
                  <a:pt x="229" y="54"/>
                </a:lnTo>
                <a:lnTo>
                  <a:pt x="213" y="50"/>
                </a:lnTo>
                <a:lnTo>
                  <a:pt x="196" y="45"/>
                </a:lnTo>
                <a:lnTo>
                  <a:pt x="180" y="40"/>
                </a:lnTo>
                <a:lnTo>
                  <a:pt x="164" y="36"/>
                </a:lnTo>
                <a:lnTo>
                  <a:pt x="147" y="31"/>
                </a:lnTo>
                <a:lnTo>
                  <a:pt x="131" y="27"/>
                </a:lnTo>
                <a:lnTo>
                  <a:pt x="114" y="23"/>
                </a:lnTo>
                <a:lnTo>
                  <a:pt x="98" y="20"/>
                </a:lnTo>
                <a:lnTo>
                  <a:pt x="82" y="16"/>
                </a:lnTo>
                <a:lnTo>
                  <a:pt x="65" y="13"/>
                </a:lnTo>
                <a:lnTo>
                  <a:pt x="49" y="11"/>
                </a:lnTo>
                <a:lnTo>
                  <a:pt x="33" y="9"/>
                </a:lnTo>
                <a:lnTo>
                  <a:pt x="16" y="8"/>
                </a:lnTo>
                <a:lnTo>
                  <a:pt x="0" y="8"/>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3914775"/>
            <a:ext cx="3743325" cy="1924050"/>
          </a:xfrm>
          <a:custGeom>
            <a:avLst/>
            <a:gdLst/>
            <a:ahLst/>
            <a:cxnLst/>
            <a:rect l="l" t="t" r="r" b="b"/>
            <a:pathLst>
              <a:path w="393" h="202">
                <a:moveTo>
                  <a:pt x="0" y="170"/>
                </a:moveTo>
                <a:lnTo>
                  <a:pt x="16" y="169"/>
                </a:lnTo>
                <a:lnTo>
                  <a:pt x="33" y="167"/>
                </a:lnTo>
                <a:lnTo>
                  <a:pt x="49" y="163"/>
                </a:lnTo>
                <a:lnTo>
                  <a:pt x="65" y="157"/>
                </a:lnTo>
                <a:lnTo>
                  <a:pt x="82" y="151"/>
                </a:lnTo>
                <a:lnTo>
                  <a:pt x="98" y="143"/>
                </a:lnTo>
                <a:lnTo>
                  <a:pt x="114" y="135"/>
                </a:lnTo>
                <a:lnTo>
                  <a:pt x="131" y="126"/>
                </a:lnTo>
                <a:lnTo>
                  <a:pt x="147" y="116"/>
                </a:lnTo>
                <a:lnTo>
                  <a:pt x="164" y="106"/>
                </a:lnTo>
                <a:lnTo>
                  <a:pt x="180" y="95"/>
                </a:lnTo>
                <a:lnTo>
                  <a:pt x="196" y="85"/>
                </a:lnTo>
                <a:lnTo>
                  <a:pt x="213" y="74"/>
                </a:lnTo>
                <a:lnTo>
                  <a:pt x="229" y="64"/>
                </a:lnTo>
                <a:lnTo>
                  <a:pt x="246" y="54"/>
                </a:lnTo>
                <a:lnTo>
                  <a:pt x="262" y="44"/>
                </a:lnTo>
                <a:lnTo>
                  <a:pt x="278" y="35"/>
                </a:lnTo>
                <a:lnTo>
                  <a:pt x="295" y="26"/>
                </a:lnTo>
                <a:lnTo>
                  <a:pt x="311" y="19"/>
                </a:lnTo>
                <a:lnTo>
                  <a:pt x="327" y="12"/>
                </a:lnTo>
                <a:lnTo>
                  <a:pt x="344" y="7"/>
                </a:lnTo>
                <a:lnTo>
                  <a:pt x="360" y="3"/>
                </a:lnTo>
                <a:lnTo>
                  <a:pt x="377" y="0"/>
                </a:lnTo>
                <a:lnTo>
                  <a:pt x="393" y="0"/>
                </a:lnTo>
                <a:lnTo>
                  <a:pt x="393" y="32"/>
                </a:lnTo>
                <a:lnTo>
                  <a:pt x="377" y="32"/>
                </a:lnTo>
                <a:lnTo>
                  <a:pt x="360" y="35"/>
                </a:lnTo>
                <a:lnTo>
                  <a:pt x="344" y="39"/>
                </a:lnTo>
                <a:lnTo>
                  <a:pt x="327" y="44"/>
                </a:lnTo>
                <a:lnTo>
                  <a:pt x="311" y="51"/>
                </a:lnTo>
                <a:lnTo>
                  <a:pt x="295" y="58"/>
                </a:lnTo>
                <a:lnTo>
                  <a:pt x="278" y="67"/>
                </a:lnTo>
                <a:lnTo>
                  <a:pt x="262" y="76"/>
                </a:lnTo>
                <a:lnTo>
                  <a:pt x="246" y="86"/>
                </a:lnTo>
                <a:lnTo>
                  <a:pt x="229" y="96"/>
                </a:lnTo>
                <a:lnTo>
                  <a:pt x="213" y="106"/>
                </a:lnTo>
                <a:lnTo>
                  <a:pt x="196" y="117"/>
                </a:lnTo>
                <a:lnTo>
                  <a:pt x="180" y="127"/>
                </a:lnTo>
                <a:lnTo>
                  <a:pt x="164" y="138"/>
                </a:lnTo>
                <a:lnTo>
                  <a:pt x="147" y="148"/>
                </a:lnTo>
                <a:lnTo>
                  <a:pt x="131" y="158"/>
                </a:lnTo>
                <a:lnTo>
                  <a:pt x="114" y="167"/>
                </a:lnTo>
                <a:lnTo>
                  <a:pt x="98" y="175"/>
                </a:lnTo>
                <a:lnTo>
                  <a:pt x="82" y="183"/>
                </a:lnTo>
                <a:lnTo>
                  <a:pt x="65" y="189"/>
                </a:lnTo>
                <a:lnTo>
                  <a:pt x="49" y="195"/>
                </a:lnTo>
                <a:lnTo>
                  <a:pt x="33" y="199"/>
                </a:lnTo>
                <a:lnTo>
                  <a:pt x="16" y="201"/>
                </a:lnTo>
                <a:lnTo>
                  <a:pt x="0" y="202"/>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5334000"/>
            <a:ext cx="3743325" cy="600075"/>
          </a:xfrm>
          <a:custGeom>
            <a:avLst/>
            <a:gdLst/>
            <a:ahLst/>
            <a:cxnLst/>
            <a:rect l="l" t="t" r="r" b="b"/>
            <a:pathLst>
              <a:path w="393" h="63">
                <a:moveTo>
                  <a:pt x="0" y="53"/>
                </a:moveTo>
                <a:lnTo>
                  <a:pt x="16" y="53"/>
                </a:lnTo>
                <a:lnTo>
                  <a:pt x="33" y="52"/>
                </a:lnTo>
                <a:lnTo>
                  <a:pt x="49" y="51"/>
                </a:lnTo>
                <a:lnTo>
                  <a:pt x="65" y="49"/>
                </a:lnTo>
                <a:lnTo>
                  <a:pt x="82" y="47"/>
                </a:lnTo>
                <a:lnTo>
                  <a:pt x="98" y="45"/>
                </a:lnTo>
                <a:lnTo>
                  <a:pt x="114" y="42"/>
                </a:lnTo>
                <a:lnTo>
                  <a:pt x="131" y="39"/>
                </a:lnTo>
                <a:lnTo>
                  <a:pt x="147" y="36"/>
                </a:lnTo>
                <a:lnTo>
                  <a:pt x="164" y="33"/>
                </a:lnTo>
                <a:lnTo>
                  <a:pt x="180" y="30"/>
                </a:lnTo>
                <a:lnTo>
                  <a:pt x="196" y="26"/>
                </a:lnTo>
                <a:lnTo>
                  <a:pt x="213" y="23"/>
                </a:lnTo>
                <a:lnTo>
                  <a:pt x="229" y="20"/>
                </a:lnTo>
                <a:lnTo>
                  <a:pt x="246" y="17"/>
                </a:lnTo>
                <a:lnTo>
                  <a:pt x="262" y="14"/>
                </a:lnTo>
                <a:lnTo>
                  <a:pt x="278" y="11"/>
                </a:lnTo>
                <a:lnTo>
                  <a:pt x="295" y="8"/>
                </a:lnTo>
                <a:lnTo>
                  <a:pt x="311" y="6"/>
                </a:lnTo>
                <a:lnTo>
                  <a:pt x="327" y="4"/>
                </a:lnTo>
                <a:lnTo>
                  <a:pt x="344" y="2"/>
                </a:lnTo>
                <a:lnTo>
                  <a:pt x="360" y="1"/>
                </a:lnTo>
                <a:lnTo>
                  <a:pt x="377" y="0"/>
                </a:lnTo>
                <a:lnTo>
                  <a:pt x="393" y="0"/>
                </a:lnTo>
                <a:lnTo>
                  <a:pt x="393" y="9"/>
                </a:lnTo>
                <a:lnTo>
                  <a:pt x="377" y="10"/>
                </a:lnTo>
                <a:lnTo>
                  <a:pt x="360" y="10"/>
                </a:lnTo>
                <a:lnTo>
                  <a:pt x="344" y="12"/>
                </a:lnTo>
                <a:lnTo>
                  <a:pt x="327" y="13"/>
                </a:lnTo>
                <a:lnTo>
                  <a:pt x="311" y="15"/>
                </a:lnTo>
                <a:lnTo>
                  <a:pt x="295" y="18"/>
                </a:lnTo>
                <a:lnTo>
                  <a:pt x="278" y="20"/>
                </a:lnTo>
                <a:lnTo>
                  <a:pt x="262" y="23"/>
                </a:lnTo>
                <a:lnTo>
                  <a:pt x="246" y="26"/>
                </a:lnTo>
                <a:lnTo>
                  <a:pt x="229" y="29"/>
                </a:lnTo>
                <a:lnTo>
                  <a:pt x="213" y="33"/>
                </a:lnTo>
                <a:lnTo>
                  <a:pt x="196" y="36"/>
                </a:lnTo>
                <a:lnTo>
                  <a:pt x="180" y="39"/>
                </a:lnTo>
                <a:lnTo>
                  <a:pt x="164" y="43"/>
                </a:lnTo>
                <a:lnTo>
                  <a:pt x="147" y="46"/>
                </a:lnTo>
                <a:lnTo>
                  <a:pt x="131" y="49"/>
                </a:lnTo>
                <a:lnTo>
                  <a:pt x="114" y="52"/>
                </a:lnTo>
                <a:lnTo>
                  <a:pt x="98" y="54"/>
                </a:lnTo>
                <a:lnTo>
                  <a:pt x="82" y="57"/>
                </a:lnTo>
                <a:lnTo>
                  <a:pt x="65" y="59"/>
                </a:lnTo>
                <a:lnTo>
                  <a:pt x="49" y="60"/>
                </a:lnTo>
                <a:lnTo>
                  <a:pt x="33" y="62"/>
                </a:lnTo>
                <a:lnTo>
                  <a:pt x="16" y="62"/>
                </a:lnTo>
                <a:lnTo>
                  <a:pt x="0" y="63"/>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5934075"/>
            <a:ext cx="3743325" cy="323850"/>
          </a:xfrm>
          <a:custGeom>
            <a:avLst/>
            <a:gdLst/>
            <a:ahLst/>
            <a:cxnLst/>
            <a:rect l="l" t="t" r="r" b="b"/>
            <a:pathLst>
              <a:path w="393" h="34">
                <a:moveTo>
                  <a:pt x="0" y="0"/>
                </a:moveTo>
                <a:lnTo>
                  <a:pt x="16" y="0"/>
                </a:lnTo>
                <a:lnTo>
                  <a:pt x="33" y="0"/>
                </a:lnTo>
                <a:lnTo>
                  <a:pt x="49" y="1"/>
                </a:lnTo>
                <a:lnTo>
                  <a:pt x="65" y="2"/>
                </a:lnTo>
                <a:lnTo>
                  <a:pt x="82" y="3"/>
                </a:lnTo>
                <a:lnTo>
                  <a:pt x="98" y="4"/>
                </a:lnTo>
                <a:lnTo>
                  <a:pt x="114" y="5"/>
                </a:lnTo>
                <a:lnTo>
                  <a:pt x="131" y="7"/>
                </a:lnTo>
                <a:lnTo>
                  <a:pt x="147" y="8"/>
                </a:lnTo>
                <a:lnTo>
                  <a:pt x="164" y="10"/>
                </a:lnTo>
                <a:lnTo>
                  <a:pt x="180" y="11"/>
                </a:lnTo>
                <a:lnTo>
                  <a:pt x="196" y="13"/>
                </a:lnTo>
                <a:lnTo>
                  <a:pt x="213" y="15"/>
                </a:lnTo>
                <a:lnTo>
                  <a:pt x="229" y="16"/>
                </a:lnTo>
                <a:lnTo>
                  <a:pt x="246" y="18"/>
                </a:lnTo>
                <a:lnTo>
                  <a:pt x="262" y="19"/>
                </a:lnTo>
                <a:lnTo>
                  <a:pt x="278" y="21"/>
                </a:lnTo>
                <a:lnTo>
                  <a:pt x="295" y="22"/>
                </a:lnTo>
                <a:lnTo>
                  <a:pt x="311" y="23"/>
                </a:lnTo>
                <a:lnTo>
                  <a:pt x="327" y="24"/>
                </a:lnTo>
                <a:lnTo>
                  <a:pt x="344" y="25"/>
                </a:lnTo>
                <a:lnTo>
                  <a:pt x="360" y="26"/>
                </a:lnTo>
                <a:lnTo>
                  <a:pt x="377" y="26"/>
                </a:lnTo>
                <a:lnTo>
                  <a:pt x="393" y="26"/>
                </a:lnTo>
                <a:lnTo>
                  <a:pt x="393" y="34"/>
                </a:lnTo>
                <a:lnTo>
                  <a:pt x="377" y="34"/>
                </a:lnTo>
                <a:lnTo>
                  <a:pt x="360" y="33"/>
                </a:lnTo>
                <a:lnTo>
                  <a:pt x="344" y="33"/>
                </a:lnTo>
                <a:lnTo>
                  <a:pt x="327" y="32"/>
                </a:lnTo>
                <a:lnTo>
                  <a:pt x="311" y="31"/>
                </a:lnTo>
                <a:lnTo>
                  <a:pt x="295" y="30"/>
                </a:lnTo>
                <a:lnTo>
                  <a:pt x="278" y="29"/>
                </a:lnTo>
                <a:lnTo>
                  <a:pt x="262" y="27"/>
                </a:lnTo>
                <a:lnTo>
                  <a:pt x="246" y="26"/>
                </a:lnTo>
                <a:lnTo>
                  <a:pt x="229" y="24"/>
                </a:lnTo>
                <a:lnTo>
                  <a:pt x="213" y="22"/>
                </a:lnTo>
                <a:lnTo>
                  <a:pt x="196" y="21"/>
                </a:lnTo>
                <a:lnTo>
                  <a:pt x="180" y="19"/>
                </a:lnTo>
                <a:lnTo>
                  <a:pt x="164" y="17"/>
                </a:lnTo>
                <a:lnTo>
                  <a:pt x="147" y="16"/>
                </a:lnTo>
                <a:lnTo>
                  <a:pt x="131" y="14"/>
                </a:lnTo>
                <a:lnTo>
                  <a:pt x="114" y="13"/>
                </a:lnTo>
                <a:lnTo>
                  <a:pt x="98" y="12"/>
                </a:lnTo>
                <a:lnTo>
                  <a:pt x="82" y="10"/>
                </a:lnTo>
                <a:lnTo>
                  <a:pt x="65" y="9"/>
                </a:lnTo>
                <a:lnTo>
                  <a:pt x="49" y="9"/>
                </a:lnTo>
                <a:lnTo>
                  <a:pt x="33" y="8"/>
                </a:lnTo>
                <a:lnTo>
                  <a:pt x="16" y="8"/>
                </a:lnTo>
                <a:lnTo>
                  <a:pt x="0" y="8"/>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4219575"/>
            <a:ext cx="3743325" cy="2143125"/>
          </a:xfrm>
          <a:custGeom>
            <a:avLst/>
            <a:gdLst/>
            <a:ahLst/>
            <a:cxnLst/>
            <a:rect l="l" t="t" r="r" b="b"/>
            <a:pathLst>
              <a:path w="393" h="225">
                <a:moveTo>
                  <a:pt x="0" y="194"/>
                </a:moveTo>
                <a:lnTo>
                  <a:pt x="16" y="193"/>
                </a:lnTo>
                <a:lnTo>
                  <a:pt x="33" y="190"/>
                </a:lnTo>
                <a:lnTo>
                  <a:pt x="49" y="185"/>
                </a:lnTo>
                <a:lnTo>
                  <a:pt x="65" y="179"/>
                </a:lnTo>
                <a:lnTo>
                  <a:pt x="82" y="172"/>
                </a:lnTo>
                <a:lnTo>
                  <a:pt x="98" y="163"/>
                </a:lnTo>
                <a:lnTo>
                  <a:pt x="114" y="154"/>
                </a:lnTo>
                <a:lnTo>
                  <a:pt x="131" y="143"/>
                </a:lnTo>
                <a:lnTo>
                  <a:pt x="147" y="132"/>
                </a:lnTo>
                <a:lnTo>
                  <a:pt x="164" y="121"/>
                </a:lnTo>
                <a:lnTo>
                  <a:pt x="180" y="109"/>
                </a:lnTo>
                <a:lnTo>
                  <a:pt x="196" y="97"/>
                </a:lnTo>
                <a:lnTo>
                  <a:pt x="213" y="84"/>
                </a:lnTo>
                <a:lnTo>
                  <a:pt x="229" y="73"/>
                </a:lnTo>
                <a:lnTo>
                  <a:pt x="246" y="61"/>
                </a:lnTo>
                <a:lnTo>
                  <a:pt x="262" y="50"/>
                </a:lnTo>
                <a:lnTo>
                  <a:pt x="278" y="39"/>
                </a:lnTo>
                <a:lnTo>
                  <a:pt x="295" y="30"/>
                </a:lnTo>
                <a:lnTo>
                  <a:pt x="311" y="21"/>
                </a:lnTo>
                <a:lnTo>
                  <a:pt x="327" y="14"/>
                </a:lnTo>
                <a:lnTo>
                  <a:pt x="344" y="8"/>
                </a:lnTo>
                <a:lnTo>
                  <a:pt x="360" y="3"/>
                </a:lnTo>
                <a:lnTo>
                  <a:pt x="377" y="1"/>
                </a:lnTo>
                <a:lnTo>
                  <a:pt x="393" y="0"/>
                </a:lnTo>
                <a:lnTo>
                  <a:pt x="393" y="31"/>
                </a:lnTo>
                <a:lnTo>
                  <a:pt x="377" y="32"/>
                </a:lnTo>
                <a:lnTo>
                  <a:pt x="360" y="35"/>
                </a:lnTo>
                <a:lnTo>
                  <a:pt x="344" y="40"/>
                </a:lnTo>
                <a:lnTo>
                  <a:pt x="327" y="46"/>
                </a:lnTo>
                <a:lnTo>
                  <a:pt x="311" y="53"/>
                </a:lnTo>
                <a:lnTo>
                  <a:pt x="295" y="62"/>
                </a:lnTo>
                <a:lnTo>
                  <a:pt x="278" y="71"/>
                </a:lnTo>
                <a:lnTo>
                  <a:pt x="262" y="82"/>
                </a:lnTo>
                <a:lnTo>
                  <a:pt x="246" y="93"/>
                </a:lnTo>
                <a:lnTo>
                  <a:pt x="229" y="104"/>
                </a:lnTo>
                <a:lnTo>
                  <a:pt x="213" y="116"/>
                </a:lnTo>
                <a:lnTo>
                  <a:pt x="196" y="128"/>
                </a:lnTo>
                <a:lnTo>
                  <a:pt x="180" y="140"/>
                </a:lnTo>
                <a:lnTo>
                  <a:pt x="164" y="152"/>
                </a:lnTo>
                <a:lnTo>
                  <a:pt x="147" y="164"/>
                </a:lnTo>
                <a:lnTo>
                  <a:pt x="131" y="175"/>
                </a:lnTo>
                <a:lnTo>
                  <a:pt x="114" y="185"/>
                </a:lnTo>
                <a:lnTo>
                  <a:pt x="98" y="195"/>
                </a:lnTo>
                <a:lnTo>
                  <a:pt x="82" y="203"/>
                </a:lnTo>
                <a:lnTo>
                  <a:pt x="65" y="211"/>
                </a:lnTo>
                <a:lnTo>
                  <a:pt x="49" y="217"/>
                </a:lnTo>
                <a:lnTo>
                  <a:pt x="33" y="221"/>
                </a:lnTo>
                <a:lnTo>
                  <a:pt x="16" y="224"/>
                </a:lnTo>
                <a:lnTo>
                  <a:pt x="0" y="225"/>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5419725"/>
            <a:ext cx="3743325" cy="1038225"/>
          </a:xfrm>
          <a:custGeom>
            <a:avLst/>
            <a:gdLst/>
            <a:ahLst/>
            <a:cxnLst/>
            <a:rect l="l" t="t" r="r" b="b"/>
            <a:pathLst>
              <a:path w="393" h="109">
                <a:moveTo>
                  <a:pt x="0" y="99"/>
                </a:moveTo>
                <a:lnTo>
                  <a:pt x="16" y="99"/>
                </a:lnTo>
                <a:lnTo>
                  <a:pt x="33" y="97"/>
                </a:lnTo>
                <a:lnTo>
                  <a:pt x="49" y="95"/>
                </a:lnTo>
                <a:lnTo>
                  <a:pt x="65" y="92"/>
                </a:lnTo>
                <a:lnTo>
                  <a:pt x="82" y="88"/>
                </a:lnTo>
                <a:lnTo>
                  <a:pt x="98" y="84"/>
                </a:lnTo>
                <a:lnTo>
                  <a:pt x="114" y="79"/>
                </a:lnTo>
                <a:lnTo>
                  <a:pt x="131" y="74"/>
                </a:lnTo>
                <a:lnTo>
                  <a:pt x="147" y="68"/>
                </a:lnTo>
                <a:lnTo>
                  <a:pt x="164" y="62"/>
                </a:lnTo>
                <a:lnTo>
                  <a:pt x="180" y="56"/>
                </a:lnTo>
                <a:lnTo>
                  <a:pt x="196" y="50"/>
                </a:lnTo>
                <a:lnTo>
                  <a:pt x="213" y="44"/>
                </a:lnTo>
                <a:lnTo>
                  <a:pt x="229" y="38"/>
                </a:lnTo>
                <a:lnTo>
                  <a:pt x="246" y="32"/>
                </a:lnTo>
                <a:lnTo>
                  <a:pt x="262" y="26"/>
                </a:lnTo>
                <a:lnTo>
                  <a:pt x="278" y="21"/>
                </a:lnTo>
                <a:lnTo>
                  <a:pt x="295" y="16"/>
                </a:lnTo>
                <a:lnTo>
                  <a:pt x="311" y="11"/>
                </a:lnTo>
                <a:lnTo>
                  <a:pt x="327" y="8"/>
                </a:lnTo>
                <a:lnTo>
                  <a:pt x="344" y="5"/>
                </a:lnTo>
                <a:lnTo>
                  <a:pt x="360" y="2"/>
                </a:lnTo>
                <a:lnTo>
                  <a:pt x="377" y="1"/>
                </a:lnTo>
                <a:lnTo>
                  <a:pt x="393" y="0"/>
                </a:lnTo>
                <a:lnTo>
                  <a:pt x="393" y="10"/>
                </a:lnTo>
                <a:lnTo>
                  <a:pt x="377" y="11"/>
                </a:lnTo>
                <a:lnTo>
                  <a:pt x="360" y="12"/>
                </a:lnTo>
                <a:lnTo>
                  <a:pt x="344" y="14"/>
                </a:lnTo>
                <a:lnTo>
                  <a:pt x="327" y="17"/>
                </a:lnTo>
                <a:lnTo>
                  <a:pt x="311" y="21"/>
                </a:lnTo>
                <a:lnTo>
                  <a:pt x="295" y="26"/>
                </a:lnTo>
                <a:lnTo>
                  <a:pt x="278" y="30"/>
                </a:lnTo>
                <a:lnTo>
                  <a:pt x="262" y="36"/>
                </a:lnTo>
                <a:lnTo>
                  <a:pt x="246" y="41"/>
                </a:lnTo>
                <a:lnTo>
                  <a:pt x="229" y="47"/>
                </a:lnTo>
                <a:lnTo>
                  <a:pt x="213" y="53"/>
                </a:lnTo>
                <a:lnTo>
                  <a:pt x="196" y="60"/>
                </a:lnTo>
                <a:lnTo>
                  <a:pt x="180" y="66"/>
                </a:lnTo>
                <a:lnTo>
                  <a:pt x="164" y="72"/>
                </a:lnTo>
                <a:lnTo>
                  <a:pt x="147" y="78"/>
                </a:lnTo>
                <a:lnTo>
                  <a:pt x="131" y="83"/>
                </a:lnTo>
                <a:lnTo>
                  <a:pt x="114" y="89"/>
                </a:lnTo>
                <a:lnTo>
                  <a:pt x="98" y="94"/>
                </a:lnTo>
                <a:lnTo>
                  <a:pt x="82" y="98"/>
                </a:lnTo>
                <a:lnTo>
                  <a:pt x="65" y="102"/>
                </a:lnTo>
                <a:lnTo>
                  <a:pt x="49" y="105"/>
                </a:lnTo>
                <a:lnTo>
                  <a:pt x="33" y="107"/>
                </a:lnTo>
                <a:lnTo>
                  <a:pt x="16" y="108"/>
                </a:lnTo>
                <a:lnTo>
                  <a:pt x="0" y="109"/>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6257925"/>
            <a:ext cx="3743325" cy="276225"/>
          </a:xfrm>
          <a:custGeom>
            <a:avLst/>
            <a:gdLst/>
            <a:ahLst/>
            <a:cxnLst/>
            <a:rect l="l" t="t" r="r" b="b"/>
            <a:pathLst>
              <a:path w="393" h="29">
                <a:moveTo>
                  <a:pt x="0" y="21"/>
                </a:moveTo>
                <a:lnTo>
                  <a:pt x="16" y="21"/>
                </a:lnTo>
                <a:lnTo>
                  <a:pt x="33" y="21"/>
                </a:lnTo>
                <a:lnTo>
                  <a:pt x="49" y="20"/>
                </a:lnTo>
                <a:lnTo>
                  <a:pt x="65" y="19"/>
                </a:lnTo>
                <a:lnTo>
                  <a:pt x="82" y="19"/>
                </a:lnTo>
                <a:lnTo>
                  <a:pt x="98" y="18"/>
                </a:lnTo>
                <a:lnTo>
                  <a:pt x="114" y="17"/>
                </a:lnTo>
                <a:lnTo>
                  <a:pt x="131" y="16"/>
                </a:lnTo>
                <a:lnTo>
                  <a:pt x="147" y="14"/>
                </a:lnTo>
                <a:lnTo>
                  <a:pt x="164" y="13"/>
                </a:lnTo>
                <a:lnTo>
                  <a:pt x="180" y="12"/>
                </a:lnTo>
                <a:lnTo>
                  <a:pt x="196" y="10"/>
                </a:lnTo>
                <a:lnTo>
                  <a:pt x="213" y="9"/>
                </a:lnTo>
                <a:lnTo>
                  <a:pt x="229" y="8"/>
                </a:lnTo>
                <a:lnTo>
                  <a:pt x="246" y="7"/>
                </a:lnTo>
                <a:lnTo>
                  <a:pt x="262" y="5"/>
                </a:lnTo>
                <a:lnTo>
                  <a:pt x="278" y="4"/>
                </a:lnTo>
                <a:lnTo>
                  <a:pt x="295" y="3"/>
                </a:lnTo>
                <a:lnTo>
                  <a:pt x="311" y="2"/>
                </a:lnTo>
                <a:lnTo>
                  <a:pt x="327" y="2"/>
                </a:lnTo>
                <a:lnTo>
                  <a:pt x="344" y="1"/>
                </a:lnTo>
                <a:lnTo>
                  <a:pt x="360" y="0"/>
                </a:lnTo>
                <a:lnTo>
                  <a:pt x="377" y="0"/>
                </a:lnTo>
                <a:lnTo>
                  <a:pt x="393" y="0"/>
                </a:lnTo>
                <a:lnTo>
                  <a:pt x="393" y="8"/>
                </a:lnTo>
                <a:lnTo>
                  <a:pt x="377" y="8"/>
                </a:lnTo>
                <a:lnTo>
                  <a:pt x="360" y="8"/>
                </a:lnTo>
                <a:lnTo>
                  <a:pt x="344" y="9"/>
                </a:lnTo>
                <a:lnTo>
                  <a:pt x="327" y="10"/>
                </a:lnTo>
                <a:lnTo>
                  <a:pt x="311" y="10"/>
                </a:lnTo>
                <a:lnTo>
                  <a:pt x="295" y="11"/>
                </a:lnTo>
                <a:lnTo>
                  <a:pt x="278" y="12"/>
                </a:lnTo>
                <a:lnTo>
                  <a:pt x="262" y="13"/>
                </a:lnTo>
                <a:lnTo>
                  <a:pt x="246" y="15"/>
                </a:lnTo>
                <a:lnTo>
                  <a:pt x="229" y="16"/>
                </a:lnTo>
                <a:lnTo>
                  <a:pt x="213" y="17"/>
                </a:lnTo>
                <a:lnTo>
                  <a:pt x="196" y="18"/>
                </a:lnTo>
                <a:lnTo>
                  <a:pt x="180" y="20"/>
                </a:lnTo>
                <a:lnTo>
                  <a:pt x="164" y="21"/>
                </a:lnTo>
                <a:lnTo>
                  <a:pt x="147" y="22"/>
                </a:lnTo>
                <a:lnTo>
                  <a:pt x="131" y="24"/>
                </a:lnTo>
                <a:lnTo>
                  <a:pt x="114" y="25"/>
                </a:lnTo>
                <a:lnTo>
                  <a:pt x="98" y="26"/>
                </a:lnTo>
                <a:lnTo>
                  <a:pt x="82" y="27"/>
                </a:lnTo>
                <a:lnTo>
                  <a:pt x="65" y="27"/>
                </a:lnTo>
                <a:lnTo>
                  <a:pt x="49" y="28"/>
                </a:lnTo>
                <a:lnTo>
                  <a:pt x="33" y="29"/>
                </a:lnTo>
                <a:lnTo>
                  <a:pt x="16" y="29"/>
                </a:lnTo>
                <a:lnTo>
                  <a:pt x="0" y="29"/>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41195" y="1304925"/>
            <a:ext cx="114300" cy="471498"/>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7175" y="1304925"/>
            <a:ext cx="1626870" cy="471498"/>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Rectangle 43"/>
          <p:cNvSpPr/>
          <p:nvPr/>
        </p:nvSpPr>
        <p:spPr>
          <a:xfrm>
            <a:off x="1941195" y="1833573"/>
            <a:ext cx="114300" cy="471493"/>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7175" y="1833573"/>
            <a:ext cx="1626870" cy="471493"/>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Rectangle 45"/>
          <p:cNvSpPr/>
          <p:nvPr/>
        </p:nvSpPr>
        <p:spPr>
          <a:xfrm>
            <a:off x="1941195" y="2362216"/>
            <a:ext cx="114300" cy="47149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7175" y="2362216"/>
            <a:ext cx="1626870" cy="471492"/>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Rectangle 47"/>
          <p:cNvSpPr/>
          <p:nvPr/>
        </p:nvSpPr>
        <p:spPr>
          <a:xfrm>
            <a:off x="1941195" y="2890857"/>
            <a:ext cx="114300" cy="471490"/>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7175" y="2890857"/>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Rectangle 49"/>
          <p:cNvSpPr/>
          <p:nvPr/>
        </p:nvSpPr>
        <p:spPr>
          <a:xfrm>
            <a:off x="1941195" y="3419498"/>
            <a:ext cx="114300" cy="471487"/>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7175" y="3419498"/>
            <a:ext cx="1626870" cy="47148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Rectangle 51"/>
          <p:cNvSpPr/>
          <p:nvPr/>
        </p:nvSpPr>
        <p:spPr>
          <a:xfrm>
            <a:off x="1941195" y="3948134"/>
            <a:ext cx="114300" cy="47148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7175" y="3948134"/>
            <a:ext cx="1626870" cy="47148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4" name="Rectangle 53"/>
          <p:cNvSpPr/>
          <p:nvPr/>
        </p:nvSpPr>
        <p:spPr>
          <a:xfrm>
            <a:off x="1941195" y="4476769"/>
            <a:ext cx="114300" cy="47148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7175" y="4476769"/>
            <a:ext cx="1626870" cy="47148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6" name="Rectangle 55"/>
          <p:cNvSpPr/>
          <p:nvPr/>
        </p:nvSpPr>
        <p:spPr>
          <a:xfrm>
            <a:off x="1941195" y="5005404"/>
            <a:ext cx="114300" cy="47148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7175" y="5005404"/>
            <a:ext cx="1626870" cy="471482"/>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8" name="Rectangle 57"/>
          <p:cNvSpPr/>
          <p:nvPr/>
        </p:nvSpPr>
        <p:spPr>
          <a:xfrm>
            <a:off x="1941195" y="5534036"/>
            <a:ext cx="114300" cy="47148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7175" y="5534036"/>
            <a:ext cx="1626870" cy="471482"/>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0" name="Rectangle 59"/>
          <p:cNvSpPr/>
          <p:nvPr/>
        </p:nvSpPr>
        <p:spPr>
          <a:xfrm>
            <a:off x="1941195" y="6062669"/>
            <a:ext cx="114300" cy="471481"/>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7175" y="6062669"/>
            <a:ext cx="1626870" cy="471481"/>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2" name="Rectangle 61"/>
          <p:cNvSpPr/>
          <p:nvPr/>
        </p:nvSpPr>
        <p:spPr>
          <a:xfrm>
            <a:off x="5800725" y="1504950"/>
            <a:ext cx="114300" cy="301312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72175" y="1504950"/>
            <a:ext cx="1381125" cy="301312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4" name="Rectangle 63"/>
          <p:cNvSpPr/>
          <p:nvPr/>
        </p:nvSpPr>
        <p:spPr>
          <a:xfrm>
            <a:off x="5800725" y="4575220"/>
            <a:ext cx="114300" cy="94046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72175" y="4575220"/>
            <a:ext cx="1381125" cy="940464"/>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6" name="Rectangle 65"/>
          <p:cNvSpPr/>
          <p:nvPr/>
        </p:nvSpPr>
        <p:spPr>
          <a:xfrm>
            <a:off x="5800725" y="5572834"/>
            <a:ext cx="114300" cy="76129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72175" y="5572834"/>
            <a:ext cx="1381125" cy="761291"/>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8" name="Rounded Rectangle 67"/>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70" name="Rectangle 69"/>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2" name="TextBox 7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73" name="TextBox 72"/>
          <p:cNvSpPr txBox="1"/>
          <p:nvPr/>
        </p:nvSpPr>
        <p:spPr>
          <a:xfrm>
            <a:off x="289550" y="1373034"/>
            <a:ext cx="1575444" cy="186689"/>
          </a:xfrm>
          <a:prstGeom prst="rect">
            <a:avLst/>
          </a:prstGeom>
          <a:noFill/>
        </p:spPr>
        <p:txBody>
          <a:bodyPr wrap="none" lIns="0" rIns="0" tIns="0" bIns="0">
            <a:spAutoFit/>
          </a:bodyPr>
          <a:lstStyle/>
          <a:p>
            <a:r>
              <a:rPr sz="1100" b="1">
                <a:solidFill>
                  <a:srgbClr val="2E2E2E"/>
                </a:solidFill>
                <a:latin typeface="Calibri"/>
              </a:rPr>
              <a:t>LETI Pharma / Laboratorios</a:t>
            </a:r>
          </a:p>
        </p:txBody>
      </p:sp>
      <p:sp>
        <p:nvSpPr>
          <p:cNvPr id="74" name="TextBox 73"/>
          <p:cNvSpPr txBox="1"/>
          <p:nvPr/>
        </p:nvSpPr>
        <p:spPr>
          <a:xfrm>
            <a:off x="1080679" y="1540674"/>
            <a:ext cx="706487" cy="186689"/>
          </a:xfrm>
          <a:prstGeom prst="rect">
            <a:avLst/>
          </a:prstGeom>
          <a:noFill/>
        </p:spPr>
        <p:txBody>
          <a:bodyPr wrap="none" lIns="0" rIns="0" tIns="0" bIns="0">
            <a:spAutoFit/>
          </a:bodyPr>
          <a:lstStyle/>
          <a:p>
            <a:r>
              <a:rPr sz="1100" b="1">
                <a:solidFill>
                  <a:srgbClr val="2E2E2E"/>
                </a:solidFill>
                <a:latin typeface="Calibri"/>
              </a:rPr>
              <a:t>LETI, S.L.U.</a:t>
            </a:r>
          </a:p>
        </p:txBody>
      </p:sp>
      <p:pic>
        <p:nvPicPr>
          <p:cNvPr id="75" name="Picture 74" descr="lock.png"/>
          <p:cNvPicPr>
            <a:picLocks noChangeAspect="1"/>
          </p:cNvPicPr>
          <p:nvPr/>
        </p:nvPicPr>
        <p:blipFill>
          <a:blip r:embed="rId4"/>
          <a:stretch>
            <a:fillRect/>
          </a:stretch>
        </p:blipFill>
        <p:spPr>
          <a:xfrm>
            <a:off x="1735218" y="1530895"/>
            <a:ext cx="128699" cy="187198"/>
          </a:xfrm>
          <a:prstGeom prst="rect">
            <a:avLst/>
          </a:prstGeom>
        </p:spPr>
      </p:pic>
      <p:sp>
        <p:nvSpPr>
          <p:cNvPr id="76" name="TextBox 75"/>
          <p:cNvSpPr txBox="1"/>
          <p:nvPr/>
        </p:nvSpPr>
        <p:spPr>
          <a:xfrm>
            <a:off x="416971" y="1901679"/>
            <a:ext cx="1448023" cy="186689"/>
          </a:xfrm>
          <a:prstGeom prst="rect">
            <a:avLst/>
          </a:prstGeom>
          <a:noFill/>
        </p:spPr>
        <p:txBody>
          <a:bodyPr wrap="none" lIns="0" rIns="0" tIns="0" bIns="0">
            <a:spAutoFit/>
          </a:bodyPr>
          <a:lstStyle/>
          <a:p>
            <a:r>
              <a:rPr sz="1100" b="1">
                <a:solidFill>
                  <a:srgbClr val="2E2E2E"/>
                </a:solidFill>
                <a:latin typeface="Calibri"/>
              </a:rPr>
              <a:t>Torii Pharmaceutical Co.,</a:t>
            </a:r>
          </a:p>
        </p:txBody>
      </p:sp>
      <p:sp>
        <p:nvSpPr>
          <p:cNvPr id="77" name="TextBox 76"/>
          <p:cNvSpPr txBox="1"/>
          <p:nvPr/>
        </p:nvSpPr>
        <p:spPr>
          <a:xfrm>
            <a:off x="1490818" y="2069319"/>
            <a:ext cx="296348" cy="186689"/>
          </a:xfrm>
          <a:prstGeom prst="rect">
            <a:avLst/>
          </a:prstGeom>
          <a:noFill/>
        </p:spPr>
        <p:txBody>
          <a:bodyPr wrap="none" lIns="0" rIns="0" tIns="0" bIns="0">
            <a:spAutoFit/>
          </a:bodyPr>
          <a:lstStyle/>
          <a:p>
            <a:r>
              <a:rPr sz="1100" b="1">
                <a:solidFill>
                  <a:srgbClr val="2E2E2E"/>
                </a:solidFill>
                <a:latin typeface="Calibri"/>
              </a:rPr>
              <a:t>Ltd.</a:t>
            </a:r>
          </a:p>
        </p:txBody>
      </p:sp>
      <p:pic>
        <p:nvPicPr>
          <p:cNvPr id="78" name="Picture 77" descr="lock.png"/>
          <p:cNvPicPr>
            <a:picLocks noChangeAspect="1"/>
          </p:cNvPicPr>
          <p:nvPr/>
        </p:nvPicPr>
        <p:blipFill>
          <a:blip r:embed="rId4"/>
          <a:stretch>
            <a:fillRect/>
          </a:stretch>
        </p:blipFill>
        <p:spPr>
          <a:xfrm>
            <a:off x="1735218" y="2059540"/>
            <a:ext cx="128699" cy="187198"/>
          </a:xfrm>
          <a:prstGeom prst="rect">
            <a:avLst/>
          </a:prstGeom>
        </p:spPr>
      </p:pic>
      <p:sp>
        <p:nvSpPr>
          <p:cNvPr id="79" name="TextBox 78"/>
          <p:cNvSpPr txBox="1"/>
          <p:nvPr/>
        </p:nvSpPr>
        <p:spPr>
          <a:xfrm>
            <a:off x="794052" y="2430322"/>
            <a:ext cx="1070942" cy="186689"/>
          </a:xfrm>
          <a:prstGeom prst="rect">
            <a:avLst/>
          </a:prstGeom>
          <a:noFill/>
        </p:spPr>
        <p:txBody>
          <a:bodyPr wrap="none" lIns="0" rIns="0" tIns="0" bIns="0">
            <a:spAutoFit/>
          </a:bodyPr>
          <a:lstStyle/>
          <a:p>
            <a:r>
              <a:rPr sz="1100" b="1">
                <a:solidFill>
                  <a:srgbClr val="2E2E2E"/>
                </a:solidFill>
                <a:latin typeface="Calibri"/>
              </a:rPr>
              <a:t>Stallergenes Greer</a:t>
            </a:r>
          </a:p>
        </p:txBody>
      </p:sp>
      <p:sp>
        <p:nvSpPr>
          <p:cNvPr id="80" name="TextBox 79"/>
          <p:cNvSpPr txBox="1"/>
          <p:nvPr/>
        </p:nvSpPr>
        <p:spPr>
          <a:xfrm>
            <a:off x="744279" y="2597962"/>
            <a:ext cx="1042887" cy="186689"/>
          </a:xfrm>
          <a:prstGeom prst="rect">
            <a:avLst/>
          </a:prstGeom>
          <a:noFill/>
        </p:spPr>
        <p:txBody>
          <a:bodyPr wrap="none" lIns="0" rIns="0" tIns="0" bIns="0">
            <a:spAutoFit/>
          </a:bodyPr>
          <a:lstStyle/>
          <a:p>
            <a:r>
              <a:rPr sz="1100" b="1">
                <a:solidFill>
                  <a:srgbClr val="2E2E2E"/>
                </a:solidFill>
                <a:latin typeface="Calibri"/>
              </a:rPr>
              <a:t>International AG</a:t>
            </a:r>
          </a:p>
        </p:txBody>
      </p:sp>
      <p:pic>
        <p:nvPicPr>
          <p:cNvPr id="81" name="Picture 80" descr="lock.png"/>
          <p:cNvPicPr>
            <a:picLocks noChangeAspect="1"/>
          </p:cNvPicPr>
          <p:nvPr/>
        </p:nvPicPr>
        <p:blipFill>
          <a:blip r:embed="rId4"/>
          <a:stretch>
            <a:fillRect/>
          </a:stretch>
        </p:blipFill>
        <p:spPr>
          <a:xfrm>
            <a:off x="1735218" y="2588183"/>
            <a:ext cx="128699" cy="187198"/>
          </a:xfrm>
          <a:prstGeom prst="rect">
            <a:avLst/>
          </a:prstGeom>
        </p:spPr>
      </p:pic>
      <p:sp>
        <p:nvSpPr>
          <p:cNvPr id="82" name="TextBox 81"/>
          <p:cNvSpPr txBox="1"/>
          <p:nvPr/>
        </p:nvSpPr>
        <p:spPr>
          <a:xfrm>
            <a:off x="831881" y="3042782"/>
            <a:ext cx="955285" cy="186689"/>
          </a:xfrm>
          <a:prstGeom prst="rect">
            <a:avLst/>
          </a:prstGeom>
          <a:noFill/>
        </p:spPr>
        <p:txBody>
          <a:bodyPr wrap="none" lIns="0" rIns="0" tIns="0" bIns="0">
            <a:spAutoFit/>
          </a:bodyPr>
          <a:lstStyle/>
          <a:p>
            <a:r>
              <a:rPr sz="1100" b="1">
                <a:solidFill>
                  <a:srgbClr val="2E2E2E"/>
                </a:solidFill>
                <a:latin typeface="Calibri"/>
              </a:rPr>
              <a:t>ALK-Abelló A/S</a:t>
            </a:r>
          </a:p>
        </p:txBody>
      </p:sp>
      <p:pic>
        <p:nvPicPr>
          <p:cNvPr id="83" name="Picture 82" descr="lock.png"/>
          <p:cNvPicPr>
            <a:picLocks noChangeAspect="1"/>
          </p:cNvPicPr>
          <p:nvPr/>
        </p:nvPicPr>
        <p:blipFill>
          <a:blip r:embed="rId4"/>
          <a:stretch>
            <a:fillRect/>
          </a:stretch>
        </p:blipFill>
        <p:spPr>
          <a:xfrm>
            <a:off x="1735218" y="3033003"/>
            <a:ext cx="128699" cy="187198"/>
          </a:xfrm>
          <a:prstGeom prst="rect">
            <a:avLst/>
          </a:prstGeom>
        </p:spPr>
      </p:pic>
      <p:sp>
        <p:nvSpPr>
          <p:cNvPr id="84" name="TextBox 83"/>
          <p:cNvSpPr txBox="1"/>
          <p:nvPr/>
        </p:nvSpPr>
        <p:spPr>
          <a:xfrm>
            <a:off x="470996" y="3487601"/>
            <a:ext cx="1393998" cy="186689"/>
          </a:xfrm>
          <a:prstGeom prst="rect">
            <a:avLst/>
          </a:prstGeom>
          <a:noFill/>
        </p:spPr>
        <p:txBody>
          <a:bodyPr wrap="none" lIns="0" rIns="0" tIns="0" bIns="0">
            <a:spAutoFit/>
          </a:bodyPr>
          <a:lstStyle/>
          <a:p>
            <a:r>
              <a:rPr sz="1100" b="1">
                <a:solidFill>
                  <a:srgbClr val="2E2E2E"/>
                </a:solidFill>
                <a:latin typeface="Calibri"/>
              </a:rPr>
              <a:t>Allergopharma GmbH &amp;</a:t>
            </a:r>
          </a:p>
        </p:txBody>
      </p:sp>
      <p:sp>
        <p:nvSpPr>
          <p:cNvPr id="85" name="TextBox 84"/>
          <p:cNvSpPr txBox="1"/>
          <p:nvPr/>
        </p:nvSpPr>
        <p:spPr>
          <a:xfrm>
            <a:off x="1327695" y="3655241"/>
            <a:ext cx="459471" cy="186689"/>
          </a:xfrm>
          <a:prstGeom prst="rect">
            <a:avLst/>
          </a:prstGeom>
          <a:noFill/>
        </p:spPr>
        <p:txBody>
          <a:bodyPr wrap="none" lIns="0" rIns="0" tIns="0" bIns="0">
            <a:spAutoFit/>
          </a:bodyPr>
          <a:lstStyle/>
          <a:p>
            <a:r>
              <a:rPr sz="1100" b="1">
                <a:solidFill>
                  <a:srgbClr val="2E2E2E"/>
                </a:solidFill>
                <a:latin typeface="Calibri"/>
              </a:rPr>
              <a:t>Co. KG</a:t>
            </a:r>
          </a:p>
        </p:txBody>
      </p:sp>
      <p:pic>
        <p:nvPicPr>
          <p:cNvPr id="86" name="Picture 85" descr="lock.png"/>
          <p:cNvPicPr>
            <a:picLocks noChangeAspect="1"/>
          </p:cNvPicPr>
          <p:nvPr/>
        </p:nvPicPr>
        <p:blipFill>
          <a:blip r:embed="rId4"/>
          <a:stretch>
            <a:fillRect/>
          </a:stretch>
        </p:blipFill>
        <p:spPr>
          <a:xfrm>
            <a:off x="1735218" y="3645462"/>
            <a:ext cx="128699" cy="187198"/>
          </a:xfrm>
          <a:prstGeom prst="rect">
            <a:avLst/>
          </a:prstGeom>
        </p:spPr>
      </p:pic>
      <p:sp>
        <p:nvSpPr>
          <p:cNvPr id="87" name="TextBox 86"/>
          <p:cNvSpPr txBox="1"/>
          <p:nvPr/>
        </p:nvSpPr>
        <p:spPr>
          <a:xfrm>
            <a:off x="476999" y="4016236"/>
            <a:ext cx="1387995" cy="186689"/>
          </a:xfrm>
          <a:prstGeom prst="rect">
            <a:avLst/>
          </a:prstGeom>
          <a:noFill/>
        </p:spPr>
        <p:txBody>
          <a:bodyPr wrap="none" lIns="0" rIns="0" tIns="0" bIns="0">
            <a:spAutoFit/>
          </a:bodyPr>
          <a:lstStyle/>
          <a:p>
            <a:r>
              <a:rPr sz="1100" b="1">
                <a:solidFill>
                  <a:srgbClr val="2E2E2E"/>
                </a:solidFill>
                <a:latin typeface="Calibri"/>
              </a:rPr>
              <a:t>Allergy Therapeutics plc</a:t>
            </a:r>
          </a:p>
        </p:txBody>
      </p:sp>
      <p:pic>
        <p:nvPicPr>
          <p:cNvPr id="88" name="Picture 87" descr="lock.png"/>
          <p:cNvPicPr>
            <a:picLocks noChangeAspect="1"/>
          </p:cNvPicPr>
          <p:nvPr/>
        </p:nvPicPr>
        <p:blipFill>
          <a:blip r:embed="rId4"/>
          <a:stretch>
            <a:fillRect/>
          </a:stretch>
        </p:blipFill>
        <p:spPr>
          <a:xfrm>
            <a:off x="1735218" y="4174097"/>
            <a:ext cx="128699" cy="187198"/>
          </a:xfrm>
          <a:prstGeom prst="rect">
            <a:avLst/>
          </a:prstGeom>
        </p:spPr>
      </p:pic>
      <p:sp>
        <p:nvSpPr>
          <p:cNvPr id="89" name="TextBox 88"/>
          <p:cNvSpPr txBox="1"/>
          <p:nvPr/>
        </p:nvSpPr>
        <p:spPr>
          <a:xfrm>
            <a:off x="646026" y="4628691"/>
            <a:ext cx="1141139" cy="186689"/>
          </a:xfrm>
          <a:prstGeom prst="rect">
            <a:avLst/>
          </a:prstGeom>
          <a:noFill/>
        </p:spPr>
        <p:txBody>
          <a:bodyPr wrap="none" lIns="0" rIns="0" tIns="0" bIns="0">
            <a:spAutoFit/>
          </a:bodyPr>
          <a:lstStyle/>
          <a:p>
            <a:r>
              <a:rPr sz="1100" b="1">
                <a:solidFill>
                  <a:srgbClr val="2E2E2E"/>
                </a:solidFill>
                <a:latin typeface="Calibri"/>
              </a:rPr>
              <a:t>HAL Allergy Group</a:t>
            </a:r>
          </a:p>
        </p:txBody>
      </p:sp>
      <p:pic>
        <p:nvPicPr>
          <p:cNvPr id="90" name="Picture 89" descr="lock.png"/>
          <p:cNvPicPr>
            <a:picLocks noChangeAspect="1"/>
          </p:cNvPicPr>
          <p:nvPr/>
        </p:nvPicPr>
        <p:blipFill>
          <a:blip r:embed="rId4"/>
          <a:stretch>
            <a:fillRect/>
          </a:stretch>
        </p:blipFill>
        <p:spPr>
          <a:xfrm>
            <a:off x="1735218" y="4618912"/>
            <a:ext cx="128699" cy="187198"/>
          </a:xfrm>
          <a:prstGeom prst="rect">
            <a:avLst/>
          </a:prstGeom>
        </p:spPr>
      </p:pic>
      <p:sp>
        <p:nvSpPr>
          <p:cNvPr id="91" name="TextBox 90"/>
          <p:cNvSpPr txBox="1"/>
          <p:nvPr/>
        </p:nvSpPr>
        <p:spPr>
          <a:xfrm>
            <a:off x="841934" y="5157325"/>
            <a:ext cx="945232" cy="186689"/>
          </a:xfrm>
          <a:prstGeom prst="rect">
            <a:avLst/>
          </a:prstGeom>
          <a:noFill/>
        </p:spPr>
        <p:txBody>
          <a:bodyPr wrap="none" lIns="0" rIns="0" tIns="0" bIns="0">
            <a:spAutoFit/>
          </a:bodyPr>
          <a:lstStyle/>
          <a:p>
            <a:r>
              <a:rPr sz="1100" b="1">
                <a:solidFill>
                  <a:srgbClr val="2E2E2E"/>
                </a:solidFill>
                <a:latin typeface="Calibri"/>
              </a:rPr>
              <a:t>Inmunotek S.L.</a:t>
            </a:r>
          </a:p>
        </p:txBody>
      </p:sp>
      <p:pic>
        <p:nvPicPr>
          <p:cNvPr id="92" name="Picture 91" descr="lock.png"/>
          <p:cNvPicPr>
            <a:picLocks noChangeAspect="1"/>
          </p:cNvPicPr>
          <p:nvPr/>
        </p:nvPicPr>
        <p:blipFill>
          <a:blip r:embed="rId4"/>
          <a:stretch>
            <a:fillRect/>
          </a:stretch>
        </p:blipFill>
        <p:spPr>
          <a:xfrm>
            <a:off x="1735218" y="5147545"/>
            <a:ext cx="128699" cy="187198"/>
          </a:xfrm>
          <a:prstGeom prst="rect">
            <a:avLst/>
          </a:prstGeom>
        </p:spPr>
      </p:pic>
      <p:sp>
        <p:nvSpPr>
          <p:cNvPr id="93" name="TextBox 92"/>
          <p:cNvSpPr txBox="1"/>
          <p:nvPr/>
        </p:nvSpPr>
        <p:spPr>
          <a:xfrm>
            <a:off x="522595" y="5685957"/>
            <a:ext cx="1264570" cy="186689"/>
          </a:xfrm>
          <a:prstGeom prst="rect">
            <a:avLst/>
          </a:prstGeom>
          <a:noFill/>
        </p:spPr>
        <p:txBody>
          <a:bodyPr wrap="none" lIns="0" rIns="0" tIns="0" bIns="0">
            <a:spAutoFit/>
          </a:bodyPr>
          <a:lstStyle/>
          <a:p>
            <a:r>
              <a:rPr sz="1100" b="1">
                <a:solidFill>
                  <a:srgbClr val="2E2E2E"/>
                </a:solidFill>
                <a:latin typeface="Calibri"/>
              </a:rPr>
              <a:t>DIATER Laboratories</a:t>
            </a:r>
          </a:p>
        </p:txBody>
      </p:sp>
      <p:pic>
        <p:nvPicPr>
          <p:cNvPr id="94" name="Picture 93" descr="lock.png"/>
          <p:cNvPicPr>
            <a:picLocks noChangeAspect="1"/>
          </p:cNvPicPr>
          <p:nvPr/>
        </p:nvPicPr>
        <p:blipFill>
          <a:blip r:embed="rId4"/>
          <a:stretch>
            <a:fillRect/>
          </a:stretch>
        </p:blipFill>
        <p:spPr>
          <a:xfrm>
            <a:off x="1735218" y="5676177"/>
            <a:ext cx="128699" cy="187198"/>
          </a:xfrm>
          <a:prstGeom prst="rect">
            <a:avLst/>
          </a:prstGeom>
        </p:spPr>
      </p:pic>
      <p:sp>
        <p:nvSpPr>
          <p:cNvPr id="95" name="TextBox 94"/>
          <p:cNvSpPr txBox="1"/>
          <p:nvPr/>
        </p:nvSpPr>
        <p:spPr>
          <a:xfrm>
            <a:off x="391894" y="6130769"/>
            <a:ext cx="1473100" cy="186689"/>
          </a:xfrm>
          <a:prstGeom prst="rect">
            <a:avLst/>
          </a:prstGeom>
          <a:noFill/>
        </p:spPr>
        <p:txBody>
          <a:bodyPr wrap="none" lIns="0" rIns="0" tIns="0" bIns="0">
            <a:spAutoFit/>
          </a:bodyPr>
          <a:lstStyle/>
          <a:p>
            <a:r>
              <a:rPr sz="1100" b="1">
                <a:solidFill>
                  <a:srgbClr val="2E2E2E"/>
                </a:solidFill>
                <a:latin typeface="Calibri"/>
              </a:rPr>
              <a:t>Jubilant HollisterStier LLC</a:t>
            </a:r>
          </a:p>
        </p:txBody>
      </p:sp>
      <p:pic>
        <p:nvPicPr>
          <p:cNvPr id="96" name="Picture 95" descr="lock.png"/>
          <p:cNvPicPr>
            <a:picLocks noChangeAspect="1"/>
          </p:cNvPicPr>
          <p:nvPr/>
        </p:nvPicPr>
        <p:blipFill>
          <a:blip r:embed="rId4"/>
          <a:stretch>
            <a:fillRect/>
          </a:stretch>
        </p:blipFill>
        <p:spPr>
          <a:xfrm>
            <a:off x="1735218" y="6288630"/>
            <a:ext cx="128699" cy="187198"/>
          </a:xfrm>
          <a:prstGeom prst="rect">
            <a:avLst/>
          </a:prstGeom>
        </p:spPr>
      </p:pic>
      <p:sp>
        <p:nvSpPr>
          <p:cNvPr id="97" name="TextBox 96"/>
          <p:cNvSpPr txBox="1"/>
          <p:nvPr/>
        </p:nvSpPr>
        <p:spPr>
          <a:xfrm>
            <a:off x="5972175" y="2927690"/>
            <a:ext cx="1132135" cy="186689"/>
          </a:xfrm>
          <a:prstGeom prst="rect">
            <a:avLst/>
          </a:prstGeom>
          <a:noFill/>
        </p:spPr>
        <p:txBody>
          <a:bodyPr wrap="none" lIns="0" rIns="0" tIns="0" bIns="0">
            <a:spAutoFit/>
          </a:bodyPr>
          <a:lstStyle/>
          <a:p>
            <a:r>
              <a:rPr sz="1100" b="1">
                <a:solidFill>
                  <a:srgbClr val="2E2E2E"/>
                </a:solidFill>
                <a:latin typeface="Calibri"/>
              </a:rPr>
              <a:t>Inhalant Allergens</a:t>
            </a:r>
          </a:p>
        </p:txBody>
      </p:sp>
      <p:pic>
        <p:nvPicPr>
          <p:cNvPr id="98" name="Picture 97" descr="lock.png"/>
          <p:cNvPicPr>
            <a:picLocks noChangeAspect="1"/>
          </p:cNvPicPr>
          <p:nvPr/>
        </p:nvPicPr>
        <p:blipFill>
          <a:blip r:embed="rId4"/>
          <a:stretch>
            <a:fillRect/>
          </a:stretch>
        </p:blipFill>
        <p:spPr>
          <a:xfrm>
            <a:off x="7052362" y="2917911"/>
            <a:ext cx="128699" cy="187198"/>
          </a:xfrm>
          <a:prstGeom prst="rect">
            <a:avLst/>
          </a:prstGeom>
        </p:spPr>
      </p:pic>
      <p:sp>
        <p:nvSpPr>
          <p:cNvPr id="99" name="TextBox 98"/>
          <p:cNvSpPr txBox="1"/>
          <p:nvPr/>
        </p:nvSpPr>
        <p:spPr>
          <a:xfrm>
            <a:off x="5972175" y="4961632"/>
            <a:ext cx="937839" cy="186689"/>
          </a:xfrm>
          <a:prstGeom prst="rect">
            <a:avLst/>
          </a:prstGeom>
          <a:noFill/>
        </p:spPr>
        <p:txBody>
          <a:bodyPr wrap="none" lIns="0" rIns="0" tIns="0" bIns="0">
            <a:spAutoFit/>
          </a:bodyPr>
          <a:lstStyle/>
          <a:p>
            <a:r>
              <a:rPr sz="1100" b="1">
                <a:solidFill>
                  <a:srgbClr val="2E2E2E"/>
                </a:solidFill>
                <a:latin typeface="Calibri"/>
              </a:rPr>
              <a:t>Food Allergens</a:t>
            </a:r>
          </a:p>
        </p:txBody>
      </p:sp>
      <p:pic>
        <p:nvPicPr>
          <p:cNvPr id="100" name="Picture 99" descr="lock.png"/>
          <p:cNvPicPr>
            <a:picLocks noChangeAspect="1"/>
          </p:cNvPicPr>
          <p:nvPr/>
        </p:nvPicPr>
        <p:blipFill>
          <a:blip r:embed="rId4"/>
          <a:stretch>
            <a:fillRect/>
          </a:stretch>
        </p:blipFill>
        <p:spPr>
          <a:xfrm>
            <a:off x="6858066" y="4951852"/>
            <a:ext cx="128699" cy="187198"/>
          </a:xfrm>
          <a:prstGeom prst="rect">
            <a:avLst/>
          </a:prstGeom>
        </p:spPr>
      </p:pic>
      <p:sp>
        <p:nvSpPr>
          <p:cNvPr id="101" name="TextBox 100"/>
          <p:cNvSpPr txBox="1"/>
          <p:nvPr/>
        </p:nvSpPr>
        <p:spPr>
          <a:xfrm>
            <a:off x="5972175" y="5869659"/>
            <a:ext cx="1065559" cy="186689"/>
          </a:xfrm>
          <a:prstGeom prst="rect">
            <a:avLst/>
          </a:prstGeom>
          <a:noFill/>
        </p:spPr>
        <p:txBody>
          <a:bodyPr wrap="none" lIns="0" rIns="0" tIns="0" bIns="0">
            <a:spAutoFit/>
          </a:bodyPr>
          <a:lstStyle/>
          <a:p>
            <a:r>
              <a:rPr sz="1100" b="1">
                <a:solidFill>
                  <a:srgbClr val="2E2E2E"/>
                </a:solidFill>
                <a:latin typeface="Calibri"/>
              </a:rPr>
              <a:t>Venom Allergens</a:t>
            </a:r>
          </a:p>
        </p:txBody>
      </p:sp>
      <p:pic>
        <p:nvPicPr>
          <p:cNvPr id="102" name="Picture 101" descr="lock.png"/>
          <p:cNvPicPr>
            <a:picLocks noChangeAspect="1"/>
          </p:cNvPicPr>
          <p:nvPr/>
        </p:nvPicPr>
        <p:blipFill>
          <a:blip r:embed="rId4"/>
          <a:stretch>
            <a:fillRect/>
          </a:stretch>
        </p:blipFill>
        <p:spPr>
          <a:xfrm>
            <a:off x="6985786" y="5859880"/>
            <a:ext cx="128699" cy="187198"/>
          </a:xfrm>
          <a:prstGeom prst="rect">
            <a:avLst/>
          </a:prstGeom>
        </p:spPr>
      </p:pic>
      <p:sp>
        <p:nvSpPr>
          <p:cNvPr id="103" name="TextBox 102"/>
          <p:cNvSpPr txBox="1"/>
          <p:nvPr/>
        </p:nvSpPr>
        <p:spPr>
          <a:xfrm>
            <a:off x="7715250" y="1400175"/>
            <a:ext cx="3768811" cy="194310"/>
          </a:xfrm>
          <a:prstGeom prst="rect">
            <a:avLst/>
          </a:prstGeom>
          <a:noFill/>
        </p:spPr>
        <p:txBody>
          <a:bodyPr wrap="none" lIns="0" rIns="0" tIns="0" bIns="0">
            <a:spAutoFit/>
          </a:bodyPr>
          <a:lstStyle/>
          <a:p>
            <a:r>
              <a:rPr sz="1150" b="0">
                <a:solidFill>
                  <a:srgbClr val="2E2E2E"/>
                </a:solidFill>
                <a:latin typeface="Calibri"/>
              </a:rPr>
              <a:t>LETI pharma / laboratorios LETI, S.L.U. segment is projected to</a:t>
            </a:r>
          </a:p>
        </p:txBody>
      </p:sp>
      <p:sp>
        <p:nvSpPr>
          <p:cNvPr id="104" name="TextBox 103"/>
          <p:cNvSpPr txBox="1"/>
          <p:nvPr/>
        </p:nvSpPr>
        <p:spPr>
          <a:xfrm>
            <a:off x="7715250" y="1575435"/>
            <a:ext cx="3983608" cy="194310"/>
          </a:xfrm>
          <a:prstGeom prst="rect">
            <a:avLst/>
          </a:prstGeom>
          <a:noFill/>
        </p:spPr>
        <p:txBody>
          <a:bodyPr wrap="none" lIns="0" rIns="0" tIns="0" bIns="0">
            <a:spAutoFit/>
          </a:bodyPr>
          <a:lstStyle/>
          <a:p>
            <a:r>
              <a:rPr sz="1150" b="0">
                <a:solidFill>
                  <a:srgbClr val="2E2E2E"/>
                </a:solidFill>
                <a:latin typeface="Calibri"/>
              </a:rPr>
              <a:t>account for the largest share of the global allergy immunotherapy</a:t>
            </a:r>
          </a:p>
        </p:txBody>
      </p:sp>
      <p:sp>
        <p:nvSpPr>
          <p:cNvPr id="105" name="TextBox 104"/>
          <p:cNvSpPr txBox="1"/>
          <p:nvPr/>
        </p:nvSpPr>
        <p:spPr>
          <a:xfrm>
            <a:off x="7715250" y="1750695"/>
            <a:ext cx="2439813" cy="194310"/>
          </a:xfrm>
          <a:prstGeom prst="rect">
            <a:avLst/>
          </a:prstGeom>
          <a:noFill/>
        </p:spPr>
        <p:txBody>
          <a:bodyPr wrap="none" lIns="0" rIns="0" tIns="0" bIns="0">
            <a:spAutoFit/>
          </a:bodyPr>
          <a:lstStyle/>
          <a:p>
            <a:r>
              <a:rPr sz="1150" b="0">
                <a:solidFill>
                  <a:srgbClr val="2E2E2E"/>
                </a:solidFill>
                <a:latin typeface="Calibri"/>
              </a:rPr>
              <a:t>market, led by inhalant allergens at US$</a:t>
            </a:r>
          </a:p>
        </p:txBody>
      </p:sp>
      <p:pic>
        <p:nvPicPr>
          <p:cNvPr id="106" name="Picture 105" descr="lock.png"/>
          <p:cNvPicPr>
            <a:picLocks noChangeAspect="1"/>
          </p:cNvPicPr>
          <p:nvPr/>
        </p:nvPicPr>
        <p:blipFill>
          <a:blip r:embed="rId4"/>
          <a:stretch>
            <a:fillRect/>
          </a:stretch>
        </p:blipFill>
        <p:spPr>
          <a:xfrm>
            <a:off x="10104217" y="1740471"/>
            <a:ext cx="134549" cy="195707"/>
          </a:xfrm>
          <a:prstGeom prst="rect">
            <a:avLst/>
          </a:prstGeom>
        </p:spPr>
      </p:pic>
      <p:sp>
        <p:nvSpPr>
          <p:cNvPr id="107" name="TextBox 106"/>
          <p:cNvSpPr txBox="1"/>
          <p:nvPr/>
        </p:nvSpPr>
        <p:spPr>
          <a:xfrm>
            <a:off x="10279327" y="1750695"/>
            <a:ext cx="1286068" cy="194310"/>
          </a:xfrm>
          <a:prstGeom prst="rect">
            <a:avLst/>
          </a:prstGeom>
          <a:noFill/>
        </p:spPr>
        <p:txBody>
          <a:bodyPr wrap="none" lIns="0" rIns="0" tIns="0" bIns="0">
            <a:spAutoFit/>
          </a:bodyPr>
          <a:lstStyle/>
          <a:p>
            <a:r>
              <a:rPr sz="1150" b="0">
                <a:solidFill>
                  <a:srgbClr val="2E2E2E"/>
                </a:solidFill>
                <a:latin typeface="Calibri"/>
              </a:rPr>
              <a:t>Mn in 2036. 'DIATER</a:t>
            </a:r>
          </a:p>
        </p:txBody>
      </p:sp>
      <p:sp>
        <p:nvSpPr>
          <p:cNvPr id="108" name="TextBox 107"/>
          <p:cNvSpPr txBox="1"/>
          <p:nvPr/>
        </p:nvSpPr>
        <p:spPr>
          <a:xfrm>
            <a:off x="7715250" y="1925955"/>
            <a:ext cx="4147343" cy="194310"/>
          </a:xfrm>
          <a:prstGeom prst="rect">
            <a:avLst/>
          </a:prstGeom>
          <a:noFill/>
        </p:spPr>
        <p:txBody>
          <a:bodyPr wrap="none" lIns="0" rIns="0" tIns="0" bIns="0">
            <a:spAutoFit/>
          </a:bodyPr>
          <a:lstStyle/>
          <a:p>
            <a:r>
              <a:rPr sz="1150" b="0">
                <a:solidFill>
                  <a:srgbClr val="2E2E2E"/>
                </a:solidFill>
                <a:latin typeface="Calibri"/>
              </a:rPr>
              <a:t>Laboratories × Inhalant Allergens' is the single largest cross-sectional</a:t>
            </a:r>
          </a:p>
        </p:txBody>
      </p:sp>
      <p:sp>
        <p:nvSpPr>
          <p:cNvPr id="109" name="TextBox 108"/>
          <p:cNvSpPr txBox="1"/>
          <p:nvPr/>
        </p:nvSpPr>
        <p:spPr>
          <a:xfrm>
            <a:off x="7715250" y="2101215"/>
            <a:ext cx="355463" cy="194310"/>
          </a:xfrm>
          <a:prstGeom prst="rect">
            <a:avLst/>
          </a:prstGeom>
          <a:noFill/>
        </p:spPr>
        <p:txBody>
          <a:bodyPr wrap="none" lIns="0" rIns="0" tIns="0" bIns="0">
            <a:spAutoFit/>
          </a:bodyPr>
          <a:lstStyle/>
          <a:p>
            <a:r>
              <a:rPr sz="1150" b="0">
                <a:solidFill>
                  <a:srgbClr val="2E2E2E"/>
                </a:solidFill>
                <a:latin typeface="Calibri"/>
              </a:rPr>
              <a:t>cell (</a:t>
            </a:r>
          </a:p>
        </p:txBody>
      </p:sp>
      <p:pic>
        <p:nvPicPr>
          <p:cNvPr id="110" name="Picture 109" descr="lock.png"/>
          <p:cNvPicPr>
            <a:picLocks noChangeAspect="1"/>
          </p:cNvPicPr>
          <p:nvPr/>
        </p:nvPicPr>
        <p:blipFill>
          <a:blip r:embed="rId4"/>
          <a:stretch>
            <a:fillRect/>
          </a:stretch>
        </p:blipFill>
        <p:spPr>
          <a:xfrm>
            <a:off x="8019867" y="2090991"/>
            <a:ext cx="134549" cy="195707"/>
          </a:xfrm>
          <a:prstGeom prst="rect">
            <a:avLst/>
          </a:prstGeom>
        </p:spPr>
      </p:pic>
      <p:sp>
        <p:nvSpPr>
          <p:cNvPr id="111" name="TextBox 110"/>
          <p:cNvSpPr txBox="1"/>
          <p:nvPr/>
        </p:nvSpPr>
        <p:spPr>
          <a:xfrm>
            <a:off x="8194976" y="2101215"/>
            <a:ext cx="3199445" cy="194310"/>
          </a:xfrm>
          <a:prstGeom prst="rect">
            <a:avLst/>
          </a:prstGeom>
          <a:noFill/>
        </p:spPr>
        <p:txBody>
          <a:bodyPr wrap="none" lIns="0" rIns="0" tIns="0" bIns="0">
            <a:spAutoFit/>
          </a:bodyPr>
          <a:lstStyle/>
          <a:p>
            <a:r>
              <a:rPr sz="1150" b="0">
                <a:solidFill>
                  <a:srgbClr val="2E2E2E"/>
                </a:solidFill>
                <a:latin typeface="Calibri"/>
              </a:rPr>
              <a:t>US$ Mn, 2026E), while 'HAL Allergy Group × Inhalant</a:t>
            </a:r>
          </a:p>
        </p:txBody>
      </p:sp>
      <p:sp>
        <p:nvSpPr>
          <p:cNvPr id="112" name="TextBox 111"/>
          <p:cNvSpPr txBox="1"/>
          <p:nvPr/>
        </p:nvSpPr>
        <p:spPr>
          <a:xfrm>
            <a:off x="7715250" y="2276475"/>
            <a:ext cx="3040540" cy="194310"/>
          </a:xfrm>
          <a:prstGeom prst="rect">
            <a:avLst/>
          </a:prstGeom>
          <a:noFill/>
        </p:spPr>
        <p:txBody>
          <a:bodyPr wrap="none" lIns="0" rIns="0" tIns="0" bIns="0">
            <a:spAutoFit/>
          </a:bodyPr>
          <a:lstStyle/>
          <a:p>
            <a:r>
              <a:rPr sz="1150" b="0">
                <a:solidFill>
                  <a:srgbClr val="2E2E2E"/>
                </a:solidFill>
                <a:latin typeface="Calibri"/>
              </a:rPr>
              <a:t>Allergens' records the fastest growth at a CAGR of</a:t>
            </a:r>
          </a:p>
        </p:txBody>
      </p:sp>
      <p:pic>
        <p:nvPicPr>
          <p:cNvPr id="113" name="Picture 112" descr="lock.png"/>
          <p:cNvPicPr>
            <a:picLocks noChangeAspect="1"/>
          </p:cNvPicPr>
          <p:nvPr/>
        </p:nvPicPr>
        <p:blipFill>
          <a:blip r:embed="rId4"/>
          <a:stretch>
            <a:fillRect/>
          </a:stretch>
        </p:blipFill>
        <p:spPr>
          <a:xfrm>
            <a:off x="10704944" y="2266251"/>
            <a:ext cx="134549" cy="195707"/>
          </a:xfrm>
          <a:prstGeom prst="rect">
            <a:avLst/>
          </a:prstGeom>
        </p:spPr>
      </p:pic>
      <p:sp>
        <p:nvSpPr>
          <p:cNvPr id="114" name="TextBox 113"/>
          <p:cNvSpPr txBox="1"/>
          <p:nvPr/>
        </p:nvSpPr>
        <p:spPr>
          <a:xfrm>
            <a:off x="10880053" y="2276475"/>
            <a:ext cx="342912" cy="194310"/>
          </a:xfrm>
          <a:prstGeom prst="rect">
            <a:avLst/>
          </a:prstGeom>
          <a:noFill/>
        </p:spPr>
        <p:txBody>
          <a:bodyPr wrap="none" lIns="0" rIns="0" tIns="0" bIns="0">
            <a:spAutoFit/>
          </a:bodyPr>
          <a:lstStyle/>
          <a:p>
            <a:r>
              <a:rPr sz="1150" b="0">
                <a:solidFill>
                  <a:srgbClr val="2E2E2E"/>
                </a:solidFill>
                <a:latin typeface="Calibri"/>
              </a:rPr>
              <a:t>over</a:t>
            </a:r>
          </a:p>
        </p:txBody>
      </p:sp>
      <p:sp>
        <p:nvSpPr>
          <p:cNvPr id="115" name="TextBox 114"/>
          <p:cNvSpPr txBox="1"/>
          <p:nvPr/>
        </p:nvSpPr>
        <p:spPr>
          <a:xfrm>
            <a:off x="7715250" y="2451735"/>
            <a:ext cx="917199" cy="194310"/>
          </a:xfrm>
          <a:prstGeom prst="rect">
            <a:avLst/>
          </a:prstGeom>
          <a:noFill/>
        </p:spPr>
        <p:txBody>
          <a:bodyPr wrap="none" lIns="0" rIns="0" tIns="0" bIns="0">
            <a:spAutoFit/>
          </a:bodyPr>
          <a:lstStyle/>
          <a:p>
            <a:r>
              <a:rPr sz="1150" b="0">
                <a:solidFill>
                  <a:srgbClr val="2E2E2E"/>
                </a:solidFill>
                <a:latin typeface="Calibri"/>
              </a:rPr>
              <a:t>2026E–2036F.</a:t>
            </a:r>
          </a:p>
        </p:txBody>
      </p:sp>
      <p:sp>
        <p:nvSpPr>
          <p:cNvPr id="116" name="TextBox 115"/>
          <p:cNvSpPr txBox="1"/>
          <p:nvPr/>
        </p:nvSpPr>
        <p:spPr>
          <a:xfrm>
            <a:off x="7715250" y="2679573"/>
            <a:ext cx="4091433" cy="194310"/>
          </a:xfrm>
          <a:prstGeom prst="rect">
            <a:avLst/>
          </a:prstGeom>
          <a:noFill/>
        </p:spPr>
        <p:txBody>
          <a:bodyPr wrap="none" lIns="0" rIns="0" tIns="0" bIns="0">
            <a:spAutoFit/>
          </a:bodyPr>
          <a:lstStyle/>
          <a:p>
            <a:r>
              <a:rPr sz="1150" b="0">
                <a:solidFill>
                  <a:srgbClr val="2E2E2E"/>
                </a:solidFill>
                <a:latin typeface="Calibri"/>
              </a:rPr>
              <a:t>Combined, the top three company × allergen class cells generate an</a:t>
            </a:r>
          </a:p>
        </p:txBody>
      </p:sp>
      <p:sp>
        <p:nvSpPr>
          <p:cNvPr id="117" name="TextBox 116"/>
          <p:cNvSpPr txBox="1"/>
          <p:nvPr/>
        </p:nvSpPr>
        <p:spPr>
          <a:xfrm>
            <a:off x="7715250" y="2854832"/>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118" name="Picture 117" descr="lock.png"/>
          <p:cNvPicPr>
            <a:picLocks noChangeAspect="1"/>
          </p:cNvPicPr>
          <p:nvPr/>
        </p:nvPicPr>
        <p:blipFill>
          <a:blip r:embed="rId4"/>
          <a:stretch>
            <a:fillRect/>
          </a:stretch>
        </p:blipFill>
        <p:spPr>
          <a:xfrm>
            <a:off x="9258439" y="2844609"/>
            <a:ext cx="134549" cy="195707"/>
          </a:xfrm>
          <a:prstGeom prst="rect">
            <a:avLst/>
          </a:prstGeom>
        </p:spPr>
      </p:pic>
      <p:sp>
        <p:nvSpPr>
          <p:cNvPr id="119" name="TextBox 118"/>
          <p:cNvSpPr txBox="1"/>
          <p:nvPr/>
        </p:nvSpPr>
        <p:spPr>
          <a:xfrm>
            <a:off x="9433549" y="285483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Company × Allergen Class, 2026E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allergen class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4248150"/>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Company × Allergen Class, 2026E (% of each row)</a:t>
            </a:r>
          </a:p>
        </p:txBody>
      </p:sp>
      <p:graphicFrame>
        <p:nvGraphicFramePr>
          <p:cNvPr id="13" name="Table 12"/>
          <p:cNvGraphicFramePr>
            <a:graphicFrameLocks noGrp="1"/>
          </p:cNvGraphicFramePr>
          <p:nvPr/>
        </p:nvGraphicFramePr>
        <p:xfrm>
          <a:off x="152400" y="1238250"/>
          <a:ext cx="11888718" cy="3781428"/>
        </p:xfrm>
        <a:graphic>
          <a:graphicData uri="http://schemas.openxmlformats.org/drawingml/2006/table">
            <a:tbl>
              <a:tblPr>
                <a:tableStyleId>{5C22544A-7EE6-4342-B048-85BDC9FD1C3A}</a:tableStyleId>
              </a:tblPr>
              <a:tblGrid>
                <a:gridCol w="2446564"/>
                <a:gridCol w="593094"/>
                <a:gridCol w="573132"/>
                <a:gridCol w="948230"/>
                <a:gridCol w="679371"/>
                <a:gridCol w="948823"/>
                <a:gridCol w="950961"/>
                <a:gridCol w="864265"/>
                <a:gridCol w="1117071"/>
                <a:gridCol w="804584"/>
                <a:gridCol w="530058"/>
                <a:gridCol w="888759"/>
                <a:gridCol w="543806"/>
              </a:tblGrid>
              <a:tr h="246126">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6">
                  <a:txBody>
                    <a:bodyPr wrap="none"/>
                    <a:lstStyle/>
                    <a:p>
                      <a:pPr algn="ctr"/>
                      <a:r>
                        <a:rPr sz="1100" b="1">
                          <a:solidFill>
                            <a:srgbClr val="0B2E4A"/>
                          </a:solidFill>
                          <a:latin typeface="Calibri"/>
                        </a:rPr>
                        <a:t>Inhalant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3">
                  <a:txBody>
                    <a:bodyPr wrap="none"/>
                    <a:lstStyle/>
                    <a:p>
                      <a:pPr algn="ctr"/>
                      <a:r>
                        <a:rPr sz="1100" b="1">
                          <a:solidFill>
                            <a:srgbClr val="0B2E4A"/>
                          </a:solidFill>
                          <a:latin typeface="Calibri"/>
                        </a:rPr>
                        <a:t>Venom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Food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824770">
                <a:tc vMerge="1">
                  <a:txBody>
                    <a:bodyPr wrap="none"/>
                    <a:lstStyle/>
                    <a:p>
                      <a:pPr algn="l"/>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Grass Pollen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Tree Pollen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Weed &amp; Ragweed Pollen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House Dust Mite</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Animal Dander / Epithelia</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Mold &amp; Fungal Allergens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Honeybee Venom</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Wasp / Yellow Jacket / Hornet Venom</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Mixed Vespid Venom</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Peanut</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Other Food Allergens</a:t>
                      </a:r>
                      <a:endParaRPr sz="1100"/>
                    </a:p>
                  </a:txBody>
                  <a:tcPr marL="47625" marR="38100" marT="19050" marB="19050" anchor="ctr">
                    <a:solidFill>
                      <a:srgbClr val="E0E8EF"/>
                    </a:solidFill>
                  </a:tcPr>
                </a:tc>
                <a:tc>
                  <a:txBody>
                    <a:bodyPr wrap="none"/>
                    <a:lstStyle/>
                    <a:p>
                      <a:pPr algn="ctr"/>
                      <a:endParaRPr sz="1100"/>
                    </a:p>
                  </a:txBody>
                  <a:tcPr marL="47625" marR="38100" marT="19050" marB="19050" anchor="ctr">
                    <a:solidFill>
                      <a:srgbClr val="E0E8EF"/>
                    </a:solidFill>
                  </a:tcPr>
                </a:tc>
              </a:tr>
              <a:tr h="246412">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5029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119365" y="3397712"/>
            <a:ext cx="366712" cy="533400"/>
          </a:xfrm>
          <a:prstGeom prst="rect">
            <a:avLst/>
          </a:prstGeom>
        </p:spPr>
      </p:pic>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Company × Allergen Class, 2026E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allergen class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Allergen Class Mix by Company, 2026E (% share)</a:t>
            </a:r>
          </a:p>
        </p:txBody>
      </p:sp>
      <p:graphicFrame>
        <p:nvGraphicFramePr>
          <p:cNvPr id="12" name="Chart 11"/>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5" name="Rectangle 14"/>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816628" y="2804566"/>
            <a:ext cx="230207" cy="334847"/>
          </a:xfrm>
          <a:prstGeom prst="rect">
            <a:avLst/>
          </a:prstGeom>
        </p:spPr>
      </p:pic>
      <p:sp>
        <p:nvSpPr>
          <p:cNvPr id="19" name="TextBox 18"/>
          <p:cNvSpPr txBox="1"/>
          <p:nvPr/>
        </p:nvSpPr>
        <p:spPr>
          <a:xfrm>
            <a:off x="7715250" y="1400175"/>
            <a:ext cx="4171950" cy="194310"/>
          </a:xfrm>
          <a:prstGeom prst="rect">
            <a:avLst/>
          </a:prstGeom>
          <a:noFill/>
        </p:spPr>
        <p:txBody>
          <a:bodyPr wrap="none" lIns="0" rIns="0" tIns="0" bIns="0">
            <a:spAutoFit/>
          </a:bodyPr>
          <a:lstStyle/>
          <a:p>
            <a:r>
              <a:rPr sz="1150" b="0">
                <a:solidFill>
                  <a:srgbClr val="2E2E2E"/>
                </a:solidFill>
                <a:latin typeface="Calibri"/>
              </a:rPr>
              <a:t>▪ 'Weed &amp; Ragweed Pollen' holds the highest share of 'Allergopharma</a:t>
            </a:r>
          </a:p>
        </p:txBody>
      </p:sp>
      <p:sp>
        <p:nvSpPr>
          <p:cNvPr id="20" name="TextBox 19"/>
          <p:cNvSpPr txBox="1"/>
          <p:nvPr/>
        </p:nvSpPr>
        <p:spPr>
          <a:xfrm>
            <a:off x="7715250" y="1575435"/>
            <a:ext cx="1195447" cy="194310"/>
          </a:xfrm>
          <a:prstGeom prst="rect">
            <a:avLst/>
          </a:prstGeom>
          <a:noFill/>
        </p:spPr>
        <p:txBody>
          <a:bodyPr wrap="none" lIns="0" rIns="0" tIns="0" bIns="0">
            <a:spAutoFit/>
          </a:bodyPr>
          <a:lstStyle/>
          <a:p>
            <a:r>
              <a:rPr sz="1150" b="0">
                <a:solidFill>
                  <a:srgbClr val="2E2E2E"/>
                </a:solidFill>
                <a:latin typeface="Calibri"/>
              </a:rPr>
              <a:t>GmbH &amp; Co. KG' at</a:t>
            </a:r>
          </a:p>
        </p:txBody>
      </p:sp>
      <p:pic>
        <p:nvPicPr>
          <p:cNvPr id="21" name="Picture 20" descr="lock.png"/>
          <p:cNvPicPr>
            <a:picLocks noChangeAspect="1"/>
          </p:cNvPicPr>
          <p:nvPr/>
        </p:nvPicPr>
        <p:blipFill>
          <a:blip r:embed="rId5"/>
          <a:stretch>
            <a:fillRect/>
          </a:stretch>
        </p:blipFill>
        <p:spPr>
          <a:xfrm>
            <a:off x="8859851" y="1565211"/>
            <a:ext cx="134549" cy="195707"/>
          </a:xfrm>
          <a:prstGeom prst="rect">
            <a:avLst/>
          </a:prstGeom>
        </p:spPr>
      </p:pic>
      <p:sp>
        <p:nvSpPr>
          <p:cNvPr id="22" name="TextBox 21"/>
          <p:cNvSpPr txBox="1"/>
          <p:nvPr/>
        </p:nvSpPr>
        <p:spPr>
          <a:xfrm>
            <a:off x="9034960"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3" name="TextBox 22"/>
          <p:cNvSpPr txBox="1"/>
          <p:nvPr/>
        </p:nvSpPr>
        <p:spPr>
          <a:xfrm>
            <a:off x="7715250" y="1803273"/>
            <a:ext cx="4170930" cy="194310"/>
          </a:xfrm>
          <a:prstGeom prst="rect">
            <a:avLst/>
          </a:prstGeom>
          <a:noFill/>
        </p:spPr>
        <p:txBody>
          <a:bodyPr wrap="none" lIns="0" rIns="0" tIns="0" bIns="0">
            <a:spAutoFit/>
          </a:bodyPr>
          <a:lstStyle/>
          <a:p>
            <a:r>
              <a:rPr sz="1150" b="0">
                <a:solidFill>
                  <a:srgbClr val="2E2E2E"/>
                </a:solidFill>
                <a:latin typeface="Calibri"/>
              </a:rPr>
              <a:t>▪ 'Allergopharma GmbH &amp; Co. KG' is the most concentrated company</a:t>
            </a:r>
          </a:p>
        </p:txBody>
      </p:sp>
      <p:sp>
        <p:nvSpPr>
          <p:cNvPr id="24" name="TextBox 23"/>
          <p:cNvSpPr txBox="1"/>
          <p:nvPr/>
        </p:nvSpPr>
        <p:spPr>
          <a:xfrm>
            <a:off x="7715250" y="1978533"/>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5" name="Picture 24" descr="lock.png"/>
          <p:cNvPicPr>
            <a:picLocks noChangeAspect="1"/>
          </p:cNvPicPr>
          <p:nvPr/>
        </p:nvPicPr>
        <p:blipFill>
          <a:blip r:embed="rId5"/>
          <a:stretch>
            <a:fillRect/>
          </a:stretch>
        </p:blipFill>
        <p:spPr>
          <a:xfrm>
            <a:off x="8843110" y="1968309"/>
            <a:ext cx="134549" cy="195707"/>
          </a:xfrm>
          <a:prstGeom prst="rect">
            <a:avLst/>
          </a:prstGeom>
        </p:spPr>
      </p:pic>
      <p:sp>
        <p:nvSpPr>
          <p:cNvPr id="26" name="TextBox 25"/>
          <p:cNvSpPr txBox="1"/>
          <p:nvPr/>
        </p:nvSpPr>
        <p:spPr>
          <a:xfrm>
            <a:off x="9018219" y="1978533"/>
            <a:ext cx="2524534" cy="194310"/>
          </a:xfrm>
          <a:prstGeom prst="rect">
            <a:avLst/>
          </a:prstGeom>
          <a:noFill/>
        </p:spPr>
        <p:txBody>
          <a:bodyPr wrap="none" lIns="0" rIns="0" tIns="0" bIns="0">
            <a:spAutoFit/>
          </a:bodyPr>
          <a:lstStyle/>
          <a:p>
            <a:r>
              <a:rPr sz="1150" b="0">
                <a:solidFill>
                  <a:srgbClr val="2E2E2E"/>
                </a:solidFill>
                <a:latin typeface="Calibri"/>
              </a:rPr>
              <a:t>of its value via 'Weed &amp; Ragweed Pollen'.</a:t>
            </a:r>
          </a:p>
        </p:txBody>
      </p:sp>
      <p:sp>
        <p:nvSpPr>
          <p:cNvPr id="27" name="TextBox 26"/>
          <p:cNvSpPr txBox="1"/>
          <p:nvPr/>
        </p:nvSpPr>
        <p:spPr>
          <a:xfrm>
            <a:off x="7715250" y="2206371"/>
            <a:ext cx="1400063" cy="194310"/>
          </a:xfrm>
          <a:prstGeom prst="rect">
            <a:avLst/>
          </a:prstGeom>
          <a:noFill/>
        </p:spPr>
        <p:txBody>
          <a:bodyPr wrap="none" lIns="0" rIns="0" tIns="0" bIns="0">
            <a:spAutoFit/>
          </a:bodyPr>
          <a:lstStyle/>
          <a:p>
            <a:r>
              <a:rPr sz="1150" b="0">
                <a:solidFill>
                  <a:srgbClr val="2E2E2E"/>
                </a:solidFill>
                <a:latin typeface="Calibri"/>
              </a:rPr>
              <a:t>▪ 'Grass Pollen' gains +</a:t>
            </a:r>
          </a:p>
        </p:txBody>
      </p:sp>
      <p:pic>
        <p:nvPicPr>
          <p:cNvPr id="28" name="Picture 27" descr="lock.png"/>
          <p:cNvPicPr>
            <a:picLocks noChangeAspect="1"/>
          </p:cNvPicPr>
          <p:nvPr/>
        </p:nvPicPr>
        <p:blipFill>
          <a:blip r:embed="rId5"/>
          <a:stretch>
            <a:fillRect/>
          </a:stretch>
        </p:blipFill>
        <p:spPr>
          <a:xfrm>
            <a:off x="9064467" y="2196147"/>
            <a:ext cx="134549" cy="195707"/>
          </a:xfrm>
          <a:prstGeom prst="rect">
            <a:avLst/>
          </a:prstGeom>
        </p:spPr>
      </p:pic>
      <p:sp>
        <p:nvSpPr>
          <p:cNvPr id="29" name="TextBox 28"/>
          <p:cNvSpPr txBox="1"/>
          <p:nvPr/>
        </p:nvSpPr>
        <p:spPr>
          <a:xfrm>
            <a:off x="9239576" y="2206371"/>
            <a:ext cx="2602123" cy="194310"/>
          </a:xfrm>
          <a:prstGeom prst="rect">
            <a:avLst/>
          </a:prstGeom>
          <a:noFill/>
        </p:spPr>
        <p:txBody>
          <a:bodyPr wrap="none" lIns="0" rIns="0" tIns="0" bIns="0">
            <a:spAutoFit/>
          </a:bodyPr>
          <a:lstStyle/>
          <a:p>
            <a:r>
              <a:rPr sz="1150" b="0">
                <a:solidFill>
                  <a:srgbClr val="2E2E2E"/>
                </a:solidFill>
                <a:latin typeface="Calibri"/>
              </a:rPr>
              <a:t>BPS of share of the Global cross-section by</a:t>
            </a:r>
          </a:p>
        </p:txBody>
      </p:sp>
      <p:sp>
        <p:nvSpPr>
          <p:cNvPr id="30" name="TextBox 29"/>
          <p:cNvSpPr txBox="1"/>
          <p:nvPr/>
        </p:nvSpPr>
        <p:spPr>
          <a:xfrm>
            <a:off x="7715250" y="2381631"/>
            <a:ext cx="476482" cy="194310"/>
          </a:xfrm>
          <a:prstGeom prst="rect">
            <a:avLst/>
          </a:prstGeom>
          <a:noFill/>
        </p:spPr>
        <p:txBody>
          <a:bodyPr wrap="none" lIns="0" rIns="0" tIns="0" bIns="0">
            <a:spAutoFit/>
          </a:bodyPr>
          <a:lstStyle/>
          <a:p>
            <a:r>
              <a:rPr sz="1150" b="0">
                <a:solidFill>
                  <a:srgbClr val="2E2E2E"/>
                </a:solidFill>
                <a:latin typeface="Calibri"/>
              </a:rPr>
              <a:t>2036F.</a:t>
            </a:r>
          </a:p>
        </p:txBody>
      </p:sp>
      <p:sp>
        <p:nvSpPr>
          <p:cNvPr id="31" name="lockshield_12"/>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Company × Allergen Class,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Company × Allergen Class, 2026E–2036F</a:t>
            </a:r>
          </a:p>
        </p:txBody>
      </p:sp>
      <p:graphicFrame>
        <p:nvGraphicFramePr>
          <p:cNvPr id="13" name="Table 12"/>
          <p:cNvGraphicFramePr>
            <a:graphicFrameLocks noGrp="1"/>
          </p:cNvGraphicFramePr>
          <p:nvPr/>
        </p:nvGraphicFramePr>
        <p:xfrm>
          <a:off x="152400" y="1238250"/>
          <a:ext cx="11887197" cy="3200406"/>
        </p:xfrm>
        <a:graphic>
          <a:graphicData uri="http://schemas.openxmlformats.org/drawingml/2006/table">
            <a:tbl>
              <a:tblPr>
                <a:tableStyleId>{5C22544A-7EE6-4342-B048-85BDC9FD1C3A}</a:tableStyleId>
              </a:tblPr>
              <a:tblGrid>
                <a:gridCol w="4072021"/>
                <a:gridCol w="976897"/>
                <a:gridCol w="976897"/>
                <a:gridCol w="976897"/>
                <a:gridCol w="976897"/>
                <a:gridCol w="976897"/>
                <a:gridCol w="976897"/>
                <a:gridCol w="976897"/>
                <a:gridCol w="976897"/>
              </a:tblGrid>
              <a:tr h="246126">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Inhalant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Venom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Food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190">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8.4%</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b="0">
                          <a:solidFill>
                            <a:srgbClr val="2E2E2E"/>
                          </a:solidFill>
                          <a:latin typeface="Calibri"/>
                        </a:rPr>
                        <a:t>8.4%</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8.4%</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781550"/>
            <a:ext cx="560070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86727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7" name="Rectangle 16"/>
          <p:cNvSpPr/>
          <p:nvPr/>
        </p:nvSpPr>
        <p:spPr>
          <a:xfrm>
            <a:off x="276225" y="510540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191125"/>
            <a:ext cx="533400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Rounded Rectangle 18"/>
          <p:cNvSpPr/>
          <p:nvPr/>
        </p:nvSpPr>
        <p:spPr>
          <a:xfrm>
            <a:off x="5895975" y="4781550"/>
            <a:ext cx="194310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29325" y="486727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1" name="Rectangle 20"/>
          <p:cNvSpPr/>
          <p:nvPr/>
        </p:nvSpPr>
        <p:spPr>
          <a:xfrm>
            <a:off x="6029325" y="51054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29325" y="5191125"/>
            <a:ext cx="167640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3" name="Rounded Rectangle 22"/>
          <p:cNvSpPr/>
          <p:nvPr/>
        </p:nvSpPr>
        <p:spPr>
          <a:xfrm>
            <a:off x="7991475" y="4781550"/>
            <a:ext cx="194310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24825" y="486727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5" name="Rectangle 24"/>
          <p:cNvSpPr/>
          <p:nvPr/>
        </p:nvSpPr>
        <p:spPr>
          <a:xfrm>
            <a:off x="8124825" y="51054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24825" y="5191125"/>
            <a:ext cx="167640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7" name="Rounded Rectangle 26"/>
          <p:cNvSpPr/>
          <p:nvPr/>
        </p:nvSpPr>
        <p:spPr>
          <a:xfrm>
            <a:off x="10086975" y="4781550"/>
            <a:ext cx="194310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20325" y="486727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9" name="Rectangle 28"/>
          <p:cNvSpPr/>
          <p:nvPr/>
        </p:nvSpPr>
        <p:spPr>
          <a:xfrm>
            <a:off x="10220325" y="51054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20325" y="5191125"/>
            <a:ext cx="1676400" cy="13620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'ALK-Abelló A/S × Inhalant Allergens' ranks highest (5/5); 'DIATER Laboratories × Venom Allergens' lowest (1/5), a deprioritised cell.</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4"/>
          <a:stretch>
            <a:fillRect/>
          </a:stretch>
        </p:blipFill>
        <p:spPr>
          <a:xfrm>
            <a:off x="7945318" y="2817911"/>
            <a:ext cx="366712" cy="533399"/>
          </a:xfrm>
          <a:prstGeom prst="rect">
            <a:avLst/>
          </a:prstGeom>
        </p:spPr>
      </p:pic>
      <p:sp>
        <p:nvSpPr>
          <p:cNvPr id="33" name="TextBox 32"/>
          <p:cNvSpPr txBox="1"/>
          <p:nvPr/>
        </p:nvSpPr>
        <p:spPr>
          <a:xfrm>
            <a:off x="276225" y="5200650"/>
            <a:ext cx="2835568" cy="194310"/>
          </a:xfrm>
          <a:prstGeom prst="rect">
            <a:avLst/>
          </a:prstGeom>
          <a:noFill/>
        </p:spPr>
        <p:txBody>
          <a:bodyPr wrap="none" lIns="0" rIns="0" tIns="0" bIns="0">
            <a:spAutoFit/>
          </a:bodyPr>
          <a:lstStyle/>
          <a:p>
            <a:r>
              <a:rPr sz="1150" b="0">
                <a:solidFill>
                  <a:srgbClr val="2E2E2E"/>
                </a:solidFill>
                <a:latin typeface="Calibri"/>
              </a:rPr>
              <a:t>▪ 1. DIATER Laboratories × Inhalant Allergens –</a:t>
            </a:r>
          </a:p>
        </p:txBody>
      </p:sp>
      <p:pic>
        <p:nvPicPr>
          <p:cNvPr id="34" name="Picture 33" descr="lock.png"/>
          <p:cNvPicPr>
            <a:picLocks noChangeAspect="1"/>
          </p:cNvPicPr>
          <p:nvPr/>
        </p:nvPicPr>
        <p:blipFill>
          <a:blip r:embed="rId4"/>
          <a:stretch>
            <a:fillRect/>
          </a:stretch>
        </p:blipFill>
        <p:spPr>
          <a:xfrm>
            <a:off x="3060946" y="5190426"/>
            <a:ext cx="134549" cy="195707"/>
          </a:xfrm>
          <a:prstGeom prst="rect">
            <a:avLst/>
          </a:prstGeom>
        </p:spPr>
      </p:pic>
      <p:sp>
        <p:nvSpPr>
          <p:cNvPr id="35" name="TextBox 34"/>
          <p:cNvSpPr txBox="1"/>
          <p:nvPr/>
        </p:nvSpPr>
        <p:spPr>
          <a:xfrm>
            <a:off x="3236056" y="520065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6" name="Picture 35" descr="lock.png"/>
          <p:cNvPicPr>
            <a:picLocks noChangeAspect="1"/>
          </p:cNvPicPr>
          <p:nvPr/>
        </p:nvPicPr>
        <p:blipFill>
          <a:blip r:embed="rId4"/>
          <a:stretch>
            <a:fillRect/>
          </a:stretch>
        </p:blipFill>
        <p:spPr>
          <a:xfrm>
            <a:off x="3298207" y="5190426"/>
            <a:ext cx="134549" cy="195707"/>
          </a:xfrm>
          <a:prstGeom prst="rect">
            <a:avLst/>
          </a:prstGeom>
        </p:spPr>
      </p:pic>
      <p:sp>
        <p:nvSpPr>
          <p:cNvPr id="37" name="TextBox 36"/>
          <p:cNvSpPr txBox="1"/>
          <p:nvPr/>
        </p:nvSpPr>
        <p:spPr>
          <a:xfrm>
            <a:off x="3473317" y="520065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8" name="TextBox 37"/>
          <p:cNvSpPr txBox="1"/>
          <p:nvPr/>
        </p:nvSpPr>
        <p:spPr>
          <a:xfrm>
            <a:off x="276225" y="5428488"/>
            <a:ext cx="3473484" cy="194310"/>
          </a:xfrm>
          <a:prstGeom prst="rect">
            <a:avLst/>
          </a:prstGeom>
          <a:noFill/>
        </p:spPr>
        <p:txBody>
          <a:bodyPr wrap="none" lIns="0" rIns="0" tIns="0" bIns="0">
            <a:spAutoFit/>
          </a:bodyPr>
          <a:lstStyle/>
          <a:p>
            <a:r>
              <a:rPr sz="1150" b="0">
                <a:solidFill>
                  <a:srgbClr val="2E2E2E"/>
                </a:solidFill>
                <a:latin typeface="Calibri"/>
              </a:rPr>
              <a:t>▪ 2. Allergopharma GmbH &amp; Co. KG × Inhalant Allergens –</a:t>
            </a:r>
          </a:p>
        </p:txBody>
      </p:sp>
      <p:pic>
        <p:nvPicPr>
          <p:cNvPr id="39" name="Picture 38" descr="lock.png"/>
          <p:cNvPicPr>
            <a:picLocks noChangeAspect="1"/>
          </p:cNvPicPr>
          <p:nvPr/>
        </p:nvPicPr>
        <p:blipFill>
          <a:blip r:embed="rId4"/>
          <a:stretch>
            <a:fillRect/>
          </a:stretch>
        </p:blipFill>
        <p:spPr>
          <a:xfrm>
            <a:off x="3698863" y="5418264"/>
            <a:ext cx="134549" cy="195707"/>
          </a:xfrm>
          <a:prstGeom prst="rect">
            <a:avLst/>
          </a:prstGeom>
        </p:spPr>
      </p:pic>
      <p:sp>
        <p:nvSpPr>
          <p:cNvPr id="40" name="TextBox 39"/>
          <p:cNvSpPr txBox="1"/>
          <p:nvPr/>
        </p:nvSpPr>
        <p:spPr>
          <a:xfrm>
            <a:off x="3873973" y="5428488"/>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1" name="Picture 40" descr="lock.png"/>
          <p:cNvPicPr>
            <a:picLocks noChangeAspect="1"/>
          </p:cNvPicPr>
          <p:nvPr/>
        </p:nvPicPr>
        <p:blipFill>
          <a:blip r:embed="rId4"/>
          <a:stretch>
            <a:fillRect/>
          </a:stretch>
        </p:blipFill>
        <p:spPr>
          <a:xfrm>
            <a:off x="3936124" y="5418264"/>
            <a:ext cx="134549" cy="195707"/>
          </a:xfrm>
          <a:prstGeom prst="rect">
            <a:avLst/>
          </a:prstGeom>
        </p:spPr>
      </p:pic>
      <p:sp>
        <p:nvSpPr>
          <p:cNvPr id="42" name="TextBox 41"/>
          <p:cNvSpPr txBox="1"/>
          <p:nvPr/>
        </p:nvSpPr>
        <p:spPr>
          <a:xfrm>
            <a:off x="4111234" y="5428488"/>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3" name="TextBox 42"/>
          <p:cNvSpPr txBox="1"/>
          <p:nvPr/>
        </p:nvSpPr>
        <p:spPr>
          <a:xfrm>
            <a:off x="276225" y="5656325"/>
            <a:ext cx="2507133" cy="194310"/>
          </a:xfrm>
          <a:prstGeom prst="rect">
            <a:avLst/>
          </a:prstGeom>
          <a:noFill/>
        </p:spPr>
        <p:txBody>
          <a:bodyPr wrap="none" lIns="0" rIns="0" tIns="0" bIns="0">
            <a:spAutoFit/>
          </a:bodyPr>
          <a:lstStyle/>
          <a:p>
            <a:r>
              <a:rPr sz="1150" b="0">
                <a:solidFill>
                  <a:srgbClr val="2E2E2E"/>
                </a:solidFill>
                <a:latin typeface="Calibri"/>
              </a:rPr>
              <a:t>▪ 3. Inmunotek S.L. × Inhalant Allergens –</a:t>
            </a:r>
          </a:p>
        </p:txBody>
      </p:sp>
      <p:pic>
        <p:nvPicPr>
          <p:cNvPr id="44" name="Picture 43" descr="lock.png"/>
          <p:cNvPicPr>
            <a:picLocks noChangeAspect="1"/>
          </p:cNvPicPr>
          <p:nvPr/>
        </p:nvPicPr>
        <p:blipFill>
          <a:blip r:embed="rId4"/>
          <a:stretch>
            <a:fillRect/>
          </a:stretch>
        </p:blipFill>
        <p:spPr>
          <a:xfrm>
            <a:off x="2732512" y="5646102"/>
            <a:ext cx="134549" cy="195707"/>
          </a:xfrm>
          <a:prstGeom prst="rect">
            <a:avLst/>
          </a:prstGeom>
        </p:spPr>
      </p:pic>
      <p:sp>
        <p:nvSpPr>
          <p:cNvPr id="45" name="TextBox 44"/>
          <p:cNvSpPr txBox="1"/>
          <p:nvPr/>
        </p:nvSpPr>
        <p:spPr>
          <a:xfrm>
            <a:off x="2907621" y="565632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6" name="Picture 45" descr="lock.png"/>
          <p:cNvPicPr>
            <a:picLocks noChangeAspect="1"/>
          </p:cNvPicPr>
          <p:nvPr/>
        </p:nvPicPr>
        <p:blipFill>
          <a:blip r:embed="rId4"/>
          <a:stretch>
            <a:fillRect/>
          </a:stretch>
        </p:blipFill>
        <p:spPr>
          <a:xfrm>
            <a:off x="2969773" y="5646102"/>
            <a:ext cx="134549" cy="195707"/>
          </a:xfrm>
          <a:prstGeom prst="rect">
            <a:avLst/>
          </a:prstGeom>
        </p:spPr>
      </p:pic>
      <p:sp>
        <p:nvSpPr>
          <p:cNvPr id="47" name="TextBox 46"/>
          <p:cNvSpPr txBox="1"/>
          <p:nvPr/>
        </p:nvSpPr>
        <p:spPr>
          <a:xfrm>
            <a:off x="3144882" y="565632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8" name="TextBox 47"/>
          <p:cNvSpPr txBox="1"/>
          <p:nvPr/>
        </p:nvSpPr>
        <p:spPr>
          <a:xfrm>
            <a:off x="276225" y="5884163"/>
            <a:ext cx="3125256" cy="194310"/>
          </a:xfrm>
          <a:prstGeom prst="rect">
            <a:avLst/>
          </a:prstGeom>
          <a:noFill/>
        </p:spPr>
        <p:txBody>
          <a:bodyPr wrap="none" lIns="0" rIns="0" tIns="0" bIns="0">
            <a:spAutoFit/>
          </a:bodyPr>
          <a:lstStyle/>
          <a:p>
            <a:r>
              <a:rPr sz="1150" b="0">
                <a:solidFill>
                  <a:srgbClr val="2E2E2E"/>
                </a:solidFill>
                <a:latin typeface="Calibri"/>
              </a:rPr>
              <a:t>▪ 4. Jubilant HollisterStier LLC × Inhalant Allergens –</a:t>
            </a:r>
          </a:p>
        </p:txBody>
      </p:sp>
      <p:pic>
        <p:nvPicPr>
          <p:cNvPr id="49" name="Picture 48" descr="lock.png"/>
          <p:cNvPicPr>
            <a:picLocks noChangeAspect="1"/>
          </p:cNvPicPr>
          <p:nvPr/>
        </p:nvPicPr>
        <p:blipFill>
          <a:blip r:embed="rId4"/>
          <a:stretch>
            <a:fillRect/>
          </a:stretch>
        </p:blipFill>
        <p:spPr>
          <a:xfrm>
            <a:off x="3350635" y="5873940"/>
            <a:ext cx="134549" cy="195707"/>
          </a:xfrm>
          <a:prstGeom prst="rect">
            <a:avLst/>
          </a:prstGeom>
        </p:spPr>
      </p:pic>
      <p:sp>
        <p:nvSpPr>
          <p:cNvPr id="50" name="TextBox 49"/>
          <p:cNvSpPr txBox="1"/>
          <p:nvPr/>
        </p:nvSpPr>
        <p:spPr>
          <a:xfrm>
            <a:off x="3525744" y="58841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1" name="Picture 50" descr="lock.png"/>
          <p:cNvPicPr>
            <a:picLocks noChangeAspect="1"/>
          </p:cNvPicPr>
          <p:nvPr/>
        </p:nvPicPr>
        <p:blipFill>
          <a:blip r:embed="rId4"/>
          <a:stretch>
            <a:fillRect/>
          </a:stretch>
        </p:blipFill>
        <p:spPr>
          <a:xfrm>
            <a:off x="3587896" y="5873940"/>
            <a:ext cx="134549" cy="195707"/>
          </a:xfrm>
          <a:prstGeom prst="rect">
            <a:avLst/>
          </a:prstGeom>
        </p:spPr>
      </p:pic>
      <p:sp>
        <p:nvSpPr>
          <p:cNvPr id="52" name="TextBox 51"/>
          <p:cNvSpPr txBox="1"/>
          <p:nvPr/>
        </p:nvSpPr>
        <p:spPr>
          <a:xfrm>
            <a:off x="3763005" y="588416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3" name="TextBox 52"/>
          <p:cNvSpPr txBox="1"/>
          <p:nvPr/>
        </p:nvSpPr>
        <p:spPr>
          <a:xfrm>
            <a:off x="276225" y="6112001"/>
            <a:ext cx="2508809" cy="194310"/>
          </a:xfrm>
          <a:prstGeom prst="rect">
            <a:avLst/>
          </a:prstGeom>
          <a:noFill/>
        </p:spPr>
        <p:txBody>
          <a:bodyPr wrap="none" lIns="0" rIns="0" tIns="0" bIns="0">
            <a:spAutoFit/>
          </a:bodyPr>
          <a:lstStyle/>
          <a:p>
            <a:r>
              <a:rPr sz="1150" b="0">
                <a:solidFill>
                  <a:srgbClr val="2E2E2E"/>
                </a:solidFill>
                <a:latin typeface="Calibri"/>
              </a:rPr>
              <a:t>▪ 5. ALK-Abelló A/S × Inhalant Allergens –</a:t>
            </a:r>
          </a:p>
        </p:txBody>
      </p:sp>
      <p:pic>
        <p:nvPicPr>
          <p:cNvPr id="54" name="Picture 53" descr="lock.png"/>
          <p:cNvPicPr>
            <a:picLocks noChangeAspect="1"/>
          </p:cNvPicPr>
          <p:nvPr/>
        </p:nvPicPr>
        <p:blipFill>
          <a:blip r:embed="rId4"/>
          <a:stretch>
            <a:fillRect/>
          </a:stretch>
        </p:blipFill>
        <p:spPr>
          <a:xfrm>
            <a:off x="2734188" y="6101778"/>
            <a:ext cx="134549" cy="195707"/>
          </a:xfrm>
          <a:prstGeom prst="rect">
            <a:avLst/>
          </a:prstGeom>
        </p:spPr>
      </p:pic>
      <p:sp>
        <p:nvSpPr>
          <p:cNvPr id="55" name="TextBox 54"/>
          <p:cNvSpPr txBox="1"/>
          <p:nvPr/>
        </p:nvSpPr>
        <p:spPr>
          <a:xfrm>
            <a:off x="2909297" y="611200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6" name="Picture 55" descr="lock.png"/>
          <p:cNvPicPr>
            <a:picLocks noChangeAspect="1"/>
          </p:cNvPicPr>
          <p:nvPr/>
        </p:nvPicPr>
        <p:blipFill>
          <a:blip r:embed="rId4"/>
          <a:stretch>
            <a:fillRect/>
          </a:stretch>
        </p:blipFill>
        <p:spPr>
          <a:xfrm>
            <a:off x="2971449" y="6101778"/>
            <a:ext cx="134549" cy="195707"/>
          </a:xfrm>
          <a:prstGeom prst="rect">
            <a:avLst/>
          </a:prstGeom>
        </p:spPr>
      </p:pic>
      <p:sp>
        <p:nvSpPr>
          <p:cNvPr id="57" name="TextBox 56"/>
          <p:cNvSpPr txBox="1"/>
          <p:nvPr/>
        </p:nvSpPr>
        <p:spPr>
          <a:xfrm>
            <a:off x="3146558" y="6112001"/>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8" name="TextBox 57"/>
          <p:cNvSpPr txBox="1"/>
          <p:nvPr/>
        </p:nvSpPr>
        <p:spPr>
          <a:xfrm>
            <a:off x="6029325" y="5200650"/>
            <a:ext cx="1511419" cy="194310"/>
          </a:xfrm>
          <a:prstGeom prst="rect">
            <a:avLst/>
          </a:prstGeom>
          <a:noFill/>
        </p:spPr>
        <p:txBody>
          <a:bodyPr wrap="none" lIns="0" rIns="0" tIns="0" bIns="0">
            <a:spAutoFit/>
          </a:bodyPr>
          <a:lstStyle/>
          <a:p>
            <a:r>
              <a:rPr sz="1150" b="0">
                <a:solidFill>
                  <a:srgbClr val="2E2E2E"/>
                </a:solidFill>
                <a:latin typeface="Calibri"/>
              </a:rPr>
              <a:t>▪ 'DIATER Laboratories ×</a:t>
            </a:r>
          </a:p>
        </p:txBody>
      </p:sp>
      <p:sp>
        <p:nvSpPr>
          <p:cNvPr id="59" name="TextBox 58"/>
          <p:cNvSpPr txBox="1"/>
          <p:nvPr/>
        </p:nvSpPr>
        <p:spPr>
          <a:xfrm>
            <a:off x="6029325" y="5375910"/>
            <a:ext cx="1495338" cy="194310"/>
          </a:xfrm>
          <a:prstGeom prst="rect">
            <a:avLst/>
          </a:prstGeom>
          <a:noFill/>
        </p:spPr>
        <p:txBody>
          <a:bodyPr wrap="none" lIns="0" rIns="0" tIns="0" bIns="0">
            <a:spAutoFit/>
          </a:bodyPr>
          <a:lstStyle/>
          <a:p>
            <a:r>
              <a:rPr sz="1150" b="0">
                <a:solidFill>
                  <a:srgbClr val="2E2E2E"/>
                </a:solidFill>
                <a:latin typeface="Calibri"/>
              </a:rPr>
              <a:t>Inhalant Allergens' adds</a:t>
            </a:r>
          </a:p>
        </p:txBody>
      </p:sp>
      <p:pic>
        <p:nvPicPr>
          <p:cNvPr id="60" name="Picture 59" descr="lock.png"/>
          <p:cNvPicPr>
            <a:picLocks noChangeAspect="1"/>
          </p:cNvPicPr>
          <p:nvPr/>
        </p:nvPicPr>
        <p:blipFill>
          <a:blip r:embed="rId4"/>
          <a:stretch>
            <a:fillRect/>
          </a:stretch>
        </p:blipFill>
        <p:spPr>
          <a:xfrm>
            <a:off x="6015245" y="5540946"/>
            <a:ext cx="134549" cy="195707"/>
          </a:xfrm>
          <a:prstGeom prst="rect">
            <a:avLst/>
          </a:prstGeom>
        </p:spPr>
      </p:pic>
      <p:sp>
        <p:nvSpPr>
          <p:cNvPr id="61" name="TextBox 60"/>
          <p:cNvSpPr txBox="1"/>
          <p:nvPr/>
        </p:nvSpPr>
        <p:spPr>
          <a:xfrm>
            <a:off x="6190354" y="5551170"/>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62" name="Picture 61" descr="lock.png"/>
          <p:cNvPicPr>
            <a:picLocks noChangeAspect="1"/>
          </p:cNvPicPr>
          <p:nvPr/>
        </p:nvPicPr>
        <p:blipFill>
          <a:blip r:embed="rId4"/>
          <a:stretch>
            <a:fillRect/>
          </a:stretch>
        </p:blipFill>
        <p:spPr>
          <a:xfrm>
            <a:off x="6015245" y="5716206"/>
            <a:ext cx="134549" cy="195707"/>
          </a:xfrm>
          <a:prstGeom prst="rect">
            <a:avLst/>
          </a:prstGeom>
        </p:spPr>
      </p:pic>
      <p:sp>
        <p:nvSpPr>
          <p:cNvPr id="63" name="TextBox 62"/>
          <p:cNvSpPr txBox="1"/>
          <p:nvPr/>
        </p:nvSpPr>
        <p:spPr>
          <a:xfrm>
            <a:off x="6190354" y="572642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4" name="TextBox 63"/>
          <p:cNvSpPr txBox="1"/>
          <p:nvPr/>
        </p:nvSpPr>
        <p:spPr>
          <a:xfrm>
            <a:off x="6029325" y="590168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5" name="TextBox 64"/>
          <p:cNvSpPr txBox="1"/>
          <p:nvPr/>
        </p:nvSpPr>
        <p:spPr>
          <a:xfrm>
            <a:off x="8124825" y="5200650"/>
            <a:ext cx="1386085" cy="194310"/>
          </a:xfrm>
          <a:prstGeom prst="rect">
            <a:avLst/>
          </a:prstGeom>
          <a:noFill/>
        </p:spPr>
        <p:txBody>
          <a:bodyPr wrap="none" lIns="0" rIns="0" tIns="0" bIns="0">
            <a:spAutoFit/>
          </a:bodyPr>
          <a:lstStyle/>
          <a:p>
            <a:r>
              <a:rPr sz="1150" b="0">
                <a:solidFill>
                  <a:srgbClr val="2E2E2E"/>
                </a:solidFill>
                <a:latin typeface="Calibri"/>
              </a:rPr>
              <a:t>▪ 'HAL Allergy Group ×</a:t>
            </a:r>
          </a:p>
        </p:txBody>
      </p:sp>
      <p:sp>
        <p:nvSpPr>
          <p:cNvPr id="66" name="TextBox 65"/>
          <p:cNvSpPr txBox="1"/>
          <p:nvPr/>
        </p:nvSpPr>
        <p:spPr>
          <a:xfrm>
            <a:off x="8124825" y="5375910"/>
            <a:ext cx="1657350" cy="194310"/>
          </a:xfrm>
          <a:prstGeom prst="rect">
            <a:avLst/>
          </a:prstGeom>
          <a:noFill/>
        </p:spPr>
        <p:txBody>
          <a:bodyPr wrap="none" lIns="0" rIns="0" tIns="0" bIns="0">
            <a:spAutoFit/>
          </a:bodyPr>
          <a:lstStyle/>
          <a:p>
            <a:r>
              <a:rPr sz="1150" b="0">
                <a:solidFill>
                  <a:srgbClr val="2E2E2E"/>
                </a:solidFill>
                <a:latin typeface="Calibri"/>
              </a:rPr>
              <a:t>Inhalant Allergens' grows at</a:t>
            </a:r>
          </a:p>
        </p:txBody>
      </p:sp>
      <p:sp>
        <p:nvSpPr>
          <p:cNvPr id="67" name="TextBox 66"/>
          <p:cNvSpPr txBox="1"/>
          <p:nvPr/>
        </p:nvSpPr>
        <p:spPr>
          <a:xfrm>
            <a:off x="8124825" y="5551170"/>
            <a:ext cx="146087" cy="194310"/>
          </a:xfrm>
          <a:prstGeom prst="rect">
            <a:avLst/>
          </a:prstGeom>
          <a:noFill/>
        </p:spPr>
        <p:txBody>
          <a:bodyPr wrap="none" lIns="0" rIns="0" tIns="0" bIns="0">
            <a:spAutoFit/>
          </a:bodyPr>
          <a:lstStyle/>
          <a:p>
            <a:r>
              <a:rPr sz="1150" b="0">
                <a:solidFill>
                  <a:srgbClr val="2E2E2E"/>
                </a:solidFill>
                <a:latin typeface="Calibri"/>
              </a:rPr>
              <a:t>a</a:t>
            </a:r>
          </a:p>
        </p:txBody>
      </p:sp>
      <p:pic>
        <p:nvPicPr>
          <p:cNvPr id="68" name="Picture 67" descr="lock.png"/>
          <p:cNvPicPr>
            <a:picLocks noChangeAspect="1"/>
          </p:cNvPicPr>
          <p:nvPr/>
        </p:nvPicPr>
        <p:blipFill>
          <a:blip r:embed="rId4"/>
          <a:stretch>
            <a:fillRect/>
          </a:stretch>
        </p:blipFill>
        <p:spPr>
          <a:xfrm>
            <a:off x="8220066" y="5540946"/>
            <a:ext cx="134549" cy="195707"/>
          </a:xfrm>
          <a:prstGeom prst="rect">
            <a:avLst/>
          </a:prstGeom>
        </p:spPr>
      </p:pic>
      <p:sp>
        <p:nvSpPr>
          <p:cNvPr id="69" name="TextBox 68"/>
          <p:cNvSpPr txBox="1"/>
          <p:nvPr/>
        </p:nvSpPr>
        <p:spPr>
          <a:xfrm>
            <a:off x="8395175" y="5551170"/>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0" name="Picture 69" descr="lock.png"/>
          <p:cNvPicPr>
            <a:picLocks noChangeAspect="1"/>
          </p:cNvPicPr>
          <p:nvPr/>
        </p:nvPicPr>
        <p:blipFill>
          <a:blip r:embed="rId4"/>
          <a:stretch>
            <a:fillRect/>
          </a:stretch>
        </p:blipFill>
        <p:spPr>
          <a:xfrm>
            <a:off x="8790771" y="5540946"/>
            <a:ext cx="134549" cy="195707"/>
          </a:xfrm>
          <a:prstGeom prst="rect">
            <a:avLst/>
          </a:prstGeom>
        </p:spPr>
      </p:pic>
      <p:sp>
        <p:nvSpPr>
          <p:cNvPr id="71" name="TextBox 70"/>
          <p:cNvSpPr txBox="1"/>
          <p:nvPr/>
        </p:nvSpPr>
        <p:spPr>
          <a:xfrm>
            <a:off x="8965880" y="5551170"/>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72" name="TextBox 71"/>
          <p:cNvSpPr txBox="1"/>
          <p:nvPr/>
        </p:nvSpPr>
        <p:spPr>
          <a:xfrm>
            <a:off x="8124825" y="5726429"/>
            <a:ext cx="1517017" cy="194310"/>
          </a:xfrm>
          <a:prstGeom prst="rect">
            <a:avLst/>
          </a:prstGeom>
          <a:noFill/>
        </p:spPr>
        <p:txBody>
          <a:bodyPr wrap="none" lIns="0" rIns="0" tIns="0" bIns="0">
            <a:spAutoFit/>
          </a:bodyPr>
          <a:lstStyle/>
          <a:p>
            <a:r>
              <a:rPr sz="1150" b="0">
                <a:solidFill>
                  <a:srgbClr val="2E2E2E"/>
                </a:solidFill>
                <a:latin typeface="Calibri"/>
              </a:rPr>
              <a:t>above the cross-section.</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Company × Therapy Format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Company × Therapy Format,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company sub-segment across therapy format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Company × Therapy Format, 2026E and 2036F (US$ Mn)</a:t>
            </a:r>
          </a:p>
        </p:txBody>
      </p:sp>
      <p:graphicFrame>
        <p:nvGraphicFramePr>
          <p:cNvPr id="13" name="Table 12"/>
          <p:cNvGraphicFramePr>
            <a:graphicFrameLocks noGrp="1"/>
          </p:cNvGraphicFramePr>
          <p:nvPr/>
        </p:nvGraphicFramePr>
        <p:xfrm>
          <a:off x="152400" y="1238250"/>
          <a:ext cx="11887199" cy="3400428"/>
        </p:xfrm>
        <a:graphic>
          <a:graphicData uri="http://schemas.openxmlformats.org/drawingml/2006/table">
            <a:tbl>
              <a:tblPr>
                <a:tableStyleId>{5C22544A-7EE6-4342-B048-85BDC9FD1C3A}</a:tableStyleId>
              </a:tblPr>
              <a:tblGrid>
                <a:gridCol w="4653631"/>
                <a:gridCol w="904196"/>
                <a:gridCol w="904196"/>
                <a:gridCol w="904196"/>
                <a:gridCol w="904196"/>
                <a:gridCol w="904196"/>
                <a:gridCol w="904196"/>
                <a:gridCol w="904196"/>
                <a:gridCol w="904196"/>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Subcutaneous</a:t>
                      </a:r>
                      <a:endParaRPr sz="1100"/>
                    </a:p>
                    <a:p>
                      <a:pPr algn="ctr"/>
                      <a:r>
                        <a:rPr sz="1100" b="1">
                          <a:solidFill>
                            <a:srgbClr val="0B2E4A"/>
                          </a:solidFill>
                          <a:latin typeface="Calibri"/>
                        </a:rPr>
                        <a:t>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Sublingual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93">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793">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2,428</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5,439</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648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8236125" y="3014616"/>
            <a:ext cx="366712" cy="533400"/>
          </a:xfrm>
          <a:prstGeom prst="rect">
            <a:avLst/>
          </a:prstGeom>
        </p:spPr>
      </p:pic>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Company × Therapy Format,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company sub-segment across therapy format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Company → Therapy Format, 2036F (US$ Mn)</a:t>
            </a:r>
          </a:p>
        </p:txBody>
      </p:sp>
      <p:sp>
        <p:nvSpPr>
          <p:cNvPr id="12" name="Freeform 11"/>
          <p:cNvSpPr/>
          <p:nvPr/>
        </p:nvSpPr>
        <p:spPr>
          <a:xfrm>
            <a:off x="2057400" y="1304925"/>
            <a:ext cx="3743325" cy="438150"/>
          </a:xfrm>
          <a:custGeom>
            <a:avLst/>
            <a:gdLst/>
            <a:ahLst/>
            <a:cxnLst/>
            <a:rect l="l" t="t" r="r" b="b"/>
            <a:pathLst>
              <a:path w="393" h="46">
                <a:moveTo>
                  <a:pt x="0" y="0"/>
                </a:moveTo>
                <a:lnTo>
                  <a:pt x="16" y="0"/>
                </a:lnTo>
                <a:lnTo>
                  <a:pt x="33" y="0"/>
                </a:lnTo>
                <a:lnTo>
                  <a:pt x="49" y="1"/>
                </a:lnTo>
                <a:lnTo>
                  <a:pt x="65" y="2"/>
                </a:lnTo>
                <a:lnTo>
                  <a:pt x="82" y="2"/>
                </a:lnTo>
                <a:lnTo>
                  <a:pt x="98" y="3"/>
                </a:lnTo>
                <a:lnTo>
                  <a:pt x="114" y="4"/>
                </a:lnTo>
                <a:lnTo>
                  <a:pt x="131" y="5"/>
                </a:lnTo>
                <a:lnTo>
                  <a:pt x="147" y="7"/>
                </a:lnTo>
                <a:lnTo>
                  <a:pt x="164" y="8"/>
                </a:lnTo>
                <a:lnTo>
                  <a:pt x="180" y="9"/>
                </a:lnTo>
                <a:lnTo>
                  <a:pt x="196" y="11"/>
                </a:lnTo>
                <a:lnTo>
                  <a:pt x="213" y="12"/>
                </a:lnTo>
                <a:lnTo>
                  <a:pt x="229" y="13"/>
                </a:lnTo>
                <a:lnTo>
                  <a:pt x="246" y="14"/>
                </a:lnTo>
                <a:lnTo>
                  <a:pt x="262" y="16"/>
                </a:lnTo>
                <a:lnTo>
                  <a:pt x="278" y="17"/>
                </a:lnTo>
                <a:lnTo>
                  <a:pt x="295" y="18"/>
                </a:lnTo>
                <a:lnTo>
                  <a:pt x="311" y="19"/>
                </a:lnTo>
                <a:lnTo>
                  <a:pt x="327" y="19"/>
                </a:lnTo>
                <a:lnTo>
                  <a:pt x="344" y="20"/>
                </a:lnTo>
                <a:lnTo>
                  <a:pt x="360" y="21"/>
                </a:lnTo>
                <a:lnTo>
                  <a:pt x="377" y="21"/>
                </a:lnTo>
                <a:lnTo>
                  <a:pt x="393" y="21"/>
                </a:lnTo>
                <a:lnTo>
                  <a:pt x="393" y="46"/>
                </a:lnTo>
                <a:lnTo>
                  <a:pt x="377" y="46"/>
                </a:lnTo>
                <a:lnTo>
                  <a:pt x="360" y="45"/>
                </a:lnTo>
                <a:lnTo>
                  <a:pt x="344" y="45"/>
                </a:lnTo>
                <a:lnTo>
                  <a:pt x="327" y="44"/>
                </a:lnTo>
                <a:lnTo>
                  <a:pt x="311" y="44"/>
                </a:lnTo>
                <a:lnTo>
                  <a:pt x="295" y="43"/>
                </a:lnTo>
                <a:lnTo>
                  <a:pt x="278" y="42"/>
                </a:lnTo>
                <a:lnTo>
                  <a:pt x="262" y="40"/>
                </a:lnTo>
                <a:lnTo>
                  <a:pt x="246" y="39"/>
                </a:lnTo>
                <a:lnTo>
                  <a:pt x="229" y="38"/>
                </a:lnTo>
                <a:lnTo>
                  <a:pt x="213" y="37"/>
                </a:lnTo>
                <a:lnTo>
                  <a:pt x="196" y="35"/>
                </a:lnTo>
                <a:lnTo>
                  <a:pt x="180" y="34"/>
                </a:lnTo>
                <a:lnTo>
                  <a:pt x="164" y="33"/>
                </a:lnTo>
                <a:lnTo>
                  <a:pt x="147" y="32"/>
                </a:lnTo>
                <a:lnTo>
                  <a:pt x="131" y="30"/>
                </a:lnTo>
                <a:lnTo>
                  <a:pt x="114" y="29"/>
                </a:lnTo>
                <a:lnTo>
                  <a:pt x="98" y="28"/>
                </a:lnTo>
                <a:lnTo>
                  <a:pt x="82" y="27"/>
                </a:lnTo>
                <a:lnTo>
                  <a:pt x="65" y="26"/>
                </a:lnTo>
                <a:lnTo>
                  <a:pt x="49" y="26"/>
                </a:lnTo>
                <a:lnTo>
                  <a:pt x="33" y="25"/>
                </a:lnTo>
                <a:lnTo>
                  <a:pt x="16" y="25"/>
                </a:lnTo>
                <a:lnTo>
                  <a:pt x="0" y="2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543050"/>
            <a:ext cx="3743325" cy="2533650"/>
          </a:xfrm>
          <a:custGeom>
            <a:avLst/>
            <a:gdLst/>
            <a:ahLst/>
            <a:cxnLst/>
            <a:rect l="l" t="t" r="r" b="b"/>
            <a:pathLst>
              <a:path w="393" h="266">
                <a:moveTo>
                  <a:pt x="0" y="0"/>
                </a:moveTo>
                <a:lnTo>
                  <a:pt x="16" y="1"/>
                </a:lnTo>
                <a:lnTo>
                  <a:pt x="33" y="5"/>
                </a:lnTo>
                <a:lnTo>
                  <a:pt x="49" y="10"/>
                </a:lnTo>
                <a:lnTo>
                  <a:pt x="65" y="18"/>
                </a:lnTo>
                <a:lnTo>
                  <a:pt x="82" y="27"/>
                </a:lnTo>
                <a:lnTo>
                  <a:pt x="98" y="38"/>
                </a:lnTo>
                <a:lnTo>
                  <a:pt x="114" y="50"/>
                </a:lnTo>
                <a:lnTo>
                  <a:pt x="131" y="63"/>
                </a:lnTo>
                <a:lnTo>
                  <a:pt x="147" y="77"/>
                </a:lnTo>
                <a:lnTo>
                  <a:pt x="164" y="92"/>
                </a:lnTo>
                <a:lnTo>
                  <a:pt x="180" y="107"/>
                </a:lnTo>
                <a:lnTo>
                  <a:pt x="196" y="122"/>
                </a:lnTo>
                <a:lnTo>
                  <a:pt x="213" y="137"/>
                </a:lnTo>
                <a:lnTo>
                  <a:pt x="229" y="152"/>
                </a:lnTo>
                <a:lnTo>
                  <a:pt x="246" y="167"/>
                </a:lnTo>
                <a:lnTo>
                  <a:pt x="262" y="181"/>
                </a:lnTo>
                <a:lnTo>
                  <a:pt x="278" y="194"/>
                </a:lnTo>
                <a:lnTo>
                  <a:pt x="295" y="206"/>
                </a:lnTo>
                <a:lnTo>
                  <a:pt x="311" y="217"/>
                </a:lnTo>
                <a:lnTo>
                  <a:pt x="327" y="226"/>
                </a:lnTo>
                <a:lnTo>
                  <a:pt x="344" y="234"/>
                </a:lnTo>
                <a:lnTo>
                  <a:pt x="360" y="240"/>
                </a:lnTo>
                <a:lnTo>
                  <a:pt x="377" y="243"/>
                </a:lnTo>
                <a:lnTo>
                  <a:pt x="393" y="244"/>
                </a:lnTo>
                <a:lnTo>
                  <a:pt x="393" y="266"/>
                </a:lnTo>
                <a:lnTo>
                  <a:pt x="377" y="265"/>
                </a:lnTo>
                <a:lnTo>
                  <a:pt x="360" y="261"/>
                </a:lnTo>
                <a:lnTo>
                  <a:pt x="344" y="256"/>
                </a:lnTo>
                <a:lnTo>
                  <a:pt x="327" y="248"/>
                </a:lnTo>
                <a:lnTo>
                  <a:pt x="311" y="239"/>
                </a:lnTo>
                <a:lnTo>
                  <a:pt x="295" y="228"/>
                </a:lnTo>
                <a:lnTo>
                  <a:pt x="278" y="216"/>
                </a:lnTo>
                <a:lnTo>
                  <a:pt x="262" y="203"/>
                </a:lnTo>
                <a:lnTo>
                  <a:pt x="246" y="189"/>
                </a:lnTo>
                <a:lnTo>
                  <a:pt x="229" y="174"/>
                </a:lnTo>
                <a:lnTo>
                  <a:pt x="213" y="159"/>
                </a:lnTo>
                <a:lnTo>
                  <a:pt x="196" y="144"/>
                </a:lnTo>
                <a:lnTo>
                  <a:pt x="180" y="129"/>
                </a:lnTo>
                <a:lnTo>
                  <a:pt x="164" y="114"/>
                </a:lnTo>
                <a:lnTo>
                  <a:pt x="147" y="99"/>
                </a:lnTo>
                <a:lnTo>
                  <a:pt x="131" y="85"/>
                </a:lnTo>
                <a:lnTo>
                  <a:pt x="114" y="72"/>
                </a:lnTo>
                <a:lnTo>
                  <a:pt x="98" y="60"/>
                </a:lnTo>
                <a:lnTo>
                  <a:pt x="82" y="49"/>
                </a:lnTo>
                <a:lnTo>
                  <a:pt x="65" y="40"/>
                </a:lnTo>
                <a:lnTo>
                  <a:pt x="49" y="32"/>
                </a:lnTo>
                <a:lnTo>
                  <a:pt x="33" y="26"/>
                </a:lnTo>
                <a:lnTo>
                  <a:pt x="16" y="23"/>
                </a:lnTo>
                <a:lnTo>
                  <a:pt x="0" y="2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1752600"/>
            <a:ext cx="3743325" cy="4305300"/>
          </a:xfrm>
          <a:custGeom>
            <a:avLst/>
            <a:gdLst/>
            <a:ahLst/>
            <a:cxnLst/>
            <a:rect l="l" t="t" r="r" b="b"/>
            <a:pathLst>
              <a:path w="393" h="452">
                <a:moveTo>
                  <a:pt x="0" y="0"/>
                </a:moveTo>
                <a:lnTo>
                  <a:pt x="16" y="2"/>
                </a:lnTo>
                <a:lnTo>
                  <a:pt x="33" y="8"/>
                </a:lnTo>
                <a:lnTo>
                  <a:pt x="49" y="19"/>
                </a:lnTo>
                <a:lnTo>
                  <a:pt x="65" y="33"/>
                </a:lnTo>
                <a:lnTo>
                  <a:pt x="82" y="50"/>
                </a:lnTo>
                <a:lnTo>
                  <a:pt x="98" y="70"/>
                </a:lnTo>
                <a:lnTo>
                  <a:pt x="114" y="92"/>
                </a:lnTo>
                <a:lnTo>
                  <a:pt x="131" y="116"/>
                </a:lnTo>
                <a:lnTo>
                  <a:pt x="147" y="142"/>
                </a:lnTo>
                <a:lnTo>
                  <a:pt x="164" y="168"/>
                </a:lnTo>
                <a:lnTo>
                  <a:pt x="180" y="196"/>
                </a:lnTo>
                <a:lnTo>
                  <a:pt x="196" y="224"/>
                </a:lnTo>
                <a:lnTo>
                  <a:pt x="213" y="252"/>
                </a:lnTo>
                <a:lnTo>
                  <a:pt x="229" y="280"/>
                </a:lnTo>
                <a:lnTo>
                  <a:pt x="246" y="307"/>
                </a:lnTo>
                <a:lnTo>
                  <a:pt x="262" y="332"/>
                </a:lnTo>
                <a:lnTo>
                  <a:pt x="278" y="356"/>
                </a:lnTo>
                <a:lnTo>
                  <a:pt x="295" y="378"/>
                </a:lnTo>
                <a:lnTo>
                  <a:pt x="311" y="398"/>
                </a:lnTo>
                <a:lnTo>
                  <a:pt x="327" y="415"/>
                </a:lnTo>
                <a:lnTo>
                  <a:pt x="344" y="429"/>
                </a:lnTo>
                <a:lnTo>
                  <a:pt x="360" y="440"/>
                </a:lnTo>
                <a:lnTo>
                  <a:pt x="377" y="446"/>
                </a:lnTo>
                <a:lnTo>
                  <a:pt x="393" y="449"/>
                </a:lnTo>
                <a:lnTo>
                  <a:pt x="393" y="452"/>
                </a:lnTo>
                <a:lnTo>
                  <a:pt x="377" y="449"/>
                </a:lnTo>
                <a:lnTo>
                  <a:pt x="360" y="443"/>
                </a:lnTo>
                <a:lnTo>
                  <a:pt x="344" y="432"/>
                </a:lnTo>
                <a:lnTo>
                  <a:pt x="327" y="418"/>
                </a:lnTo>
                <a:lnTo>
                  <a:pt x="311" y="401"/>
                </a:lnTo>
                <a:lnTo>
                  <a:pt x="295" y="381"/>
                </a:lnTo>
                <a:lnTo>
                  <a:pt x="278" y="359"/>
                </a:lnTo>
                <a:lnTo>
                  <a:pt x="262" y="335"/>
                </a:lnTo>
                <a:lnTo>
                  <a:pt x="246" y="309"/>
                </a:lnTo>
                <a:lnTo>
                  <a:pt x="229" y="283"/>
                </a:lnTo>
                <a:lnTo>
                  <a:pt x="213" y="255"/>
                </a:lnTo>
                <a:lnTo>
                  <a:pt x="196" y="227"/>
                </a:lnTo>
                <a:lnTo>
                  <a:pt x="180" y="199"/>
                </a:lnTo>
                <a:lnTo>
                  <a:pt x="164" y="171"/>
                </a:lnTo>
                <a:lnTo>
                  <a:pt x="147" y="145"/>
                </a:lnTo>
                <a:lnTo>
                  <a:pt x="131" y="119"/>
                </a:lnTo>
                <a:lnTo>
                  <a:pt x="114" y="95"/>
                </a:lnTo>
                <a:lnTo>
                  <a:pt x="98" y="73"/>
                </a:lnTo>
                <a:lnTo>
                  <a:pt x="82" y="53"/>
                </a:lnTo>
                <a:lnTo>
                  <a:pt x="65" y="36"/>
                </a:lnTo>
                <a:lnTo>
                  <a:pt x="49" y="22"/>
                </a:lnTo>
                <a:lnTo>
                  <a:pt x="33" y="11"/>
                </a:lnTo>
                <a:lnTo>
                  <a:pt x="16" y="5"/>
                </a:lnTo>
                <a:lnTo>
                  <a:pt x="0" y="3"/>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1743075"/>
            <a:ext cx="3743325" cy="314325"/>
          </a:xfrm>
          <a:custGeom>
            <a:avLst/>
            <a:gdLst/>
            <a:ahLst/>
            <a:cxnLst/>
            <a:rect l="l" t="t" r="r" b="b"/>
            <a:pathLst>
              <a:path w="393" h="33">
                <a:moveTo>
                  <a:pt x="0" y="10"/>
                </a:moveTo>
                <a:lnTo>
                  <a:pt x="16" y="9"/>
                </a:lnTo>
                <a:lnTo>
                  <a:pt x="33" y="9"/>
                </a:lnTo>
                <a:lnTo>
                  <a:pt x="49" y="9"/>
                </a:lnTo>
                <a:lnTo>
                  <a:pt x="65" y="9"/>
                </a:lnTo>
                <a:lnTo>
                  <a:pt x="82" y="8"/>
                </a:lnTo>
                <a:lnTo>
                  <a:pt x="98" y="8"/>
                </a:lnTo>
                <a:lnTo>
                  <a:pt x="114" y="8"/>
                </a:lnTo>
                <a:lnTo>
                  <a:pt x="131" y="7"/>
                </a:lnTo>
                <a:lnTo>
                  <a:pt x="147" y="6"/>
                </a:lnTo>
                <a:lnTo>
                  <a:pt x="164" y="6"/>
                </a:lnTo>
                <a:lnTo>
                  <a:pt x="180" y="5"/>
                </a:lnTo>
                <a:lnTo>
                  <a:pt x="196" y="5"/>
                </a:lnTo>
                <a:lnTo>
                  <a:pt x="213" y="4"/>
                </a:lnTo>
                <a:lnTo>
                  <a:pt x="229" y="3"/>
                </a:lnTo>
                <a:lnTo>
                  <a:pt x="246" y="3"/>
                </a:lnTo>
                <a:lnTo>
                  <a:pt x="262" y="2"/>
                </a:lnTo>
                <a:lnTo>
                  <a:pt x="278" y="2"/>
                </a:lnTo>
                <a:lnTo>
                  <a:pt x="295" y="1"/>
                </a:lnTo>
                <a:lnTo>
                  <a:pt x="311" y="1"/>
                </a:lnTo>
                <a:lnTo>
                  <a:pt x="327" y="1"/>
                </a:lnTo>
                <a:lnTo>
                  <a:pt x="344" y="0"/>
                </a:lnTo>
                <a:lnTo>
                  <a:pt x="360" y="0"/>
                </a:lnTo>
                <a:lnTo>
                  <a:pt x="377" y="0"/>
                </a:lnTo>
                <a:lnTo>
                  <a:pt x="393" y="0"/>
                </a:lnTo>
                <a:lnTo>
                  <a:pt x="393" y="23"/>
                </a:lnTo>
                <a:lnTo>
                  <a:pt x="377" y="23"/>
                </a:lnTo>
                <a:lnTo>
                  <a:pt x="360" y="23"/>
                </a:lnTo>
                <a:lnTo>
                  <a:pt x="344" y="24"/>
                </a:lnTo>
                <a:lnTo>
                  <a:pt x="327" y="24"/>
                </a:lnTo>
                <a:lnTo>
                  <a:pt x="311" y="24"/>
                </a:lnTo>
                <a:lnTo>
                  <a:pt x="295" y="25"/>
                </a:lnTo>
                <a:lnTo>
                  <a:pt x="278" y="25"/>
                </a:lnTo>
                <a:lnTo>
                  <a:pt x="262" y="26"/>
                </a:lnTo>
                <a:lnTo>
                  <a:pt x="246" y="26"/>
                </a:lnTo>
                <a:lnTo>
                  <a:pt x="229" y="27"/>
                </a:lnTo>
                <a:lnTo>
                  <a:pt x="213" y="27"/>
                </a:lnTo>
                <a:lnTo>
                  <a:pt x="196" y="28"/>
                </a:lnTo>
                <a:lnTo>
                  <a:pt x="180" y="29"/>
                </a:lnTo>
                <a:lnTo>
                  <a:pt x="164" y="29"/>
                </a:lnTo>
                <a:lnTo>
                  <a:pt x="147" y="30"/>
                </a:lnTo>
                <a:lnTo>
                  <a:pt x="131" y="30"/>
                </a:lnTo>
                <a:lnTo>
                  <a:pt x="114" y="31"/>
                </a:lnTo>
                <a:lnTo>
                  <a:pt x="98" y="31"/>
                </a:lnTo>
                <a:lnTo>
                  <a:pt x="82" y="32"/>
                </a:lnTo>
                <a:lnTo>
                  <a:pt x="65" y="32"/>
                </a:lnTo>
                <a:lnTo>
                  <a:pt x="49" y="32"/>
                </a:lnTo>
                <a:lnTo>
                  <a:pt x="33" y="33"/>
                </a:lnTo>
                <a:lnTo>
                  <a:pt x="16" y="33"/>
                </a:lnTo>
                <a:lnTo>
                  <a:pt x="0" y="3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057400"/>
            <a:ext cx="3743325" cy="2238375"/>
          </a:xfrm>
          <a:custGeom>
            <a:avLst/>
            <a:gdLst/>
            <a:ahLst/>
            <a:cxnLst/>
            <a:rect l="l" t="t" r="r" b="b"/>
            <a:pathLst>
              <a:path w="393" h="235">
                <a:moveTo>
                  <a:pt x="0" y="0"/>
                </a:moveTo>
                <a:lnTo>
                  <a:pt x="16" y="1"/>
                </a:lnTo>
                <a:lnTo>
                  <a:pt x="33" y="4"/>
                </a:lnTo>
                <a:lnTo>
                  <a:pt x="49" y="9"/>
                </a:lnTo>
                <a:lnTo>
                  <a:pt x="65" y="15"/>
                </a:lnTo>
                <a:lnTo>
                  <a:pt x="82" y="24"/>
                </a:lnTo>
                <a:lnTo>
                  <a:pt x="98" y="33"/>
                </a:lnTo>
                <a:lnTo>
                  <a:pt x="114" y="43"/>
                </a:lnTo>
                <a:lnTo>
                  <a:pt x="131" y="55"/>
                </a:lnTo>
                <a:lnTo>
                  <a:pt x="147" y="67"/>
                </a:lnTo>
                <a:lnTo>
                  <a:pt x="164" y="80"/>
                </a:lnTo>
                <a:lnTo>
                  <a:pt x="180" y="93"/>
                </a:lnTo>
                <a:lnTo>
                  <a:pt x="196" y="106"/>
                </a:lnTo>
                <a:lnTo>
                  <a:pt x="213" y="119"/>
                </a:lnTo>
                <a:lnTo>
                  <a:pt x="229" y="132"/>
                </a:lnTo>
                <a:lnTo>
                  <a:pt x="246" y="145"/>
                </a:lnTo>
                <a:lnTo>
                  <a:pt x="262" y="157"/>
                </a:lnTo>
                <a:lnTo>
                  <a:pt x="278" y="168"/>
                </a:lnTo>
                <a:lnTo>
                  <a:pt x="295" y="179"/>
                </a:lnTo>
                <a:lnTo>
                  <a:pt x="311" y="188"/>
                </a:lnTo>
                <a:lnTo>
                  <a:pt x="327" y="196"/>
                </a:lnTo>
                <a:lnTo>
                  <a:pt x="344" y="203"/>
                </a:lnTo>
                <a:lnTo>
                  <a:pt x="360" y="208"/>
                </a:lnTo>
                <a:lnTo>
                  <a:pt x="377" y="211"/>
                </a:lnTo>
                <a:lnTo>
                  <a:pt x="393" y="212"/>
                </a:lnTo>
                <a:lnTo>
                  <a:pt x="393" y="235"/>
                </a:lnTo>
                <a:lnTo>
                  <a:pt x="377" y="234"/>
                </a:lnTo>
                <a:lnTo>
                  <a:pt x="360" y="231"/>
                </a:lnTo>
                <a:lnTo>
                  <a:pt x="344" y="226"/>
                </a:lnTo>
                <a:lnTo>
                  <a:pt x="327" y="219"/>
                </a:lnTo>
                <a:lnTo>
                  <a:pt x="311" y="211"/>
                </a:lnTo>
                <a:lnTo>
                  <a:pt x="295" y="202"/>
                </a:lnTo>
                <a:lnTo>
                  <a:pt x="278" y="191"/>
                </a:lnTo>
                <a:lnTo>
                  <a:pt x="262" y="180"/>
                </a:lnTo>
                <a:lnTo>
                  <a:pt x="246" y="168"/>
                </a:lnTo>
                <a:lnTo>
                  <a:pt x="229" y="155"/>
                </a:lnTo>
                <a:lnTo>
                  <a:pt x="213" y="142"/>
                </a:lnTo>
                <a:lnTo>
                  <a:pt x="196" y="129"/>
                </a:lnTo>
                <a:lnTo>
                  <a:pt x="180" y="116"/>
                </a:lnTo>
                <a:lnTo>
                  <a:pt x="164" y="103"/>
                </a:lnTo>
                <a:lnTo>
                  <a:pt x="147" y="90"/>
                </a:lnTo>
                <a:lnTo>
                  <a:pt x="131" y="78"/>
                </a:lnTo>
                <a:lnTo>
                  <a:pt x="114" y="66"/>
                </a:lnTo>
                <a:lnTo>
                  <a:pt x="98" y="56"/>
                </a:lnTo>
                <a:lnTo>
                  <a:pt x="82" y="46"/>
                </a:lnTo>
                <a:lnTo>
                  <a:pt x="65" y="38"/>
                </a:lnTo>
                <a:lnTo>
                  <a:pt x="49" y="32"/>
                </a:lnTo>
                <a:lnTo>
                  <a:pt x="33" y="27"/>
                </a:lnTo>
                <a:lnTo>
                  <a:pt x="16" y="24"/>
                </a:lnTo>
                <a:lnTo>
                  <a:pt x="0" y="2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2276475"/>
            <a:ext cx="3743325" cy="3810000"/>
          </a:xfrm>
          <a:custGeom>
            <a:avLst/>
            <a:gdLst/>
            <a:ahLst/>
            <a:cxnLst/>
            <a:rect l="l" t="t" r="r" b="b"/>
            <a:pathLst>
              <a:path w="393" h="400">
                <a:moveTo>
                  <a:pt x="0" y="0"/>
                </a:moveTo>
                <a:lnTo>
                  <a:pt x="16" y="2"/>
                </a:lnTo>
                <a:lnTo>
                  <a:pt x="33" y="7"/>
                </a:lnTo>
                <a:lnTo>
                  <a:pt x="49" y="17"/>
                </a:lnTo>
                <a:lnTo>
                  <a:pt x="65" y="29"/>
                </a:lnTo>
                <a:lnTo>
                  <a:pt x="82" y="44"/>
                </a:lnTo>
                <a:lnTo>
                  <a:pt x="98" y="62"/>
                </a:lnTo>
                <a:lnTo>
                  <a:pt x="114" y="81"/>
                </a:lnTo>
                <a:lnTo>
                  <a:pt x="131" y="103"/>
                </a:lnTo>
                <a:lnTo>
                  <a:pt x="147" y="125"/>
                </a:lnTo>
                <a:lnTo>
                  <a:pt x="164" y="149"/>
                </a:lnTo>
                <a:lnTo>
                  <a:pt x="180" y="173"/>
                </a:lnTo>
                <a:lnTo>
                  <a:pt x="196" y="198"/>
                </a:lnTo>
                <a:lnTo>
                  <a:pt x="213" y="223"/>
                </a:lnTo>
                <a:lnTo>
                  <a:pt x="229" y="247"/>
                </a:lnTo>
                <a:lnTo>
                  <a:pt x="246" y="271"/>
                </a:lnTo>
                <a:lnTo>
                  <a:pt x="262" y="294"/>
                </a:lnTo>
                <a:lnTo>
                  <a:pt x="278" y="315"/>
                </a:lnTo>
                <a:lnTo>
                  <a:pt x="295" y="335"/>
                </a:lnTo>
                <a:lnTo>
                  <a:pt x="311" y="352"/>
                </a:lnTo>
                <a:lnTo>
                  <a:pt x="327" y="367"/>
                </a:lnTo>
                <a:lnTo>
                  <a:pt x="344" y="380"/>
                </a:lnTo>
                <a:lnTo>
                  <a:pt x="360" y="389"/>
                </a:lnTo>
                <a:lnTo>
                  <a:pt x="377" y="395"/>
                </a:lnTo>
                <a:lnTo>
                  <a:pt x="393" y="397"/>
                </a:lnTo>
                <a:lnTo>
                  <a:pt x="393" y="400"/>
                </a:lnTo>
                <a:lnTo>
                  <a:pt x="377" y="398"/>
                </a:lnTo>
                <a:lnTo>
                  <a:pt x="360" y="392"/>
                </a:lnTo>
                <a:lnTo>
                  <a:pt x="344" y="383"/>
                </a:lnTo>
                <a:lnTo>
                  <a:pt x="327" y="371"/>
                </a:lnTo>
                <a:lnTo>
                  <a:pt x="311" y="355"/>
                </a:lnTo>
                <a:lnTo>
                  <a:pt x="295" y="338"/>
                </a:lnTo>
                <a:lnTo>
                  <a:pt x="278" y="318"/>
                </a:lnTo>
                <a:lnTo>
                  <a:pt x="262" y="297"/>
                </a:lnTo>
                <a:lnTo>
                  <a:pt x="246" y="274"/>
                </a:lnTo>
                <a:lnTo>
                  <a:pt x="229" y="251"/>
                </a:lnTo>
                <a:lnTo>
                  <a:pt x="213" y="226"/>
                </a:lnTo>
                <a:lnTo>
                  <a:pt x="196" y="201"/>
                </a:lnTo>
                <a:lnTo>
                  <a:pt x="180" y="177"/>
                </a:lnTo>
                <a:lnTo>
                  <a:pt x="164" y="152"/>
                </a:lnTo>
                <a:lnTo>
                  <a:pt x="147" y="129"/>
                </a:lnTo>
                <a:lnTo>
                  <a:pt x="131" y="106"/>
                </a:lnTo>
                <a:lnTo>
                  <a:pt x="114" y="85"/>
                </a:lnTo>
                <a:lnTo>
                  <a:pt x="98" y="65"/>
                </a:lnTo>
                <a:lnTo>
                  <a:pt x="82" y="48"/>
                </a:lnTo>
                <a:lnTo>
                  <a:pt x="65" y="32"/>
                </a:lnTo>
                <a:lnTo>
                  <a:pt x="49" y="20"/>
                </a:lnTo>
                <a:lnTo>
                  <a:pt x="33" y="11"/>
                </a:lnTo>
                <a:lnTo>
                  <a:pt x="16" y="5"/>
                </a:lnTo>
                <a:lnTo>
                  <a:pt x="0" y="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1962150"/>
            <a:ext cx="3743325" cy="628650"/>
          </a:xfrm>
          <a:custGeom>
            <a:avLst/>
            <a:gdLst/>
            <a:ahLst/>
            <a:cxnLst/>
            <a:rect l="l" t="t" r="r" b="b"/>
            <a:pathLst>
              <a:path w="393" h="66">
                <a:moveTo>
                  <a:pt x="0" y="42"/>
                </a:moveTo>
                <a:lnTo>
                  <a:pt x="16" y="42"/>
                </a:lnTo>
                <a:lnTo>
                  <a:pt x="33" y="41"/>
                </a:lnTo>
                <a:lnTo>
                  <a:pt x="49" y="40"/>
                </a:lnTo>
                <a:lnTo>
                  <a:pt x="65" y="39"/>
                </a:lnTo>
                <a:lnTo>
                  <a:pt x="82" y="37"/>
                </a:lnTo>
                <a:lnTo>
                  <a:pt x="98" y="35"/>
                </a:lnTo>
                <a:lnTo>
                  <a:pt x="114" y="33"/>
                </a:lnTo>
                <a:lnTo>
                  <a:pt x="131" y="31"/>
                </a:lnTo>
                <a:lnTo>
                  <a:pt x="147" y="29"/>
                </a:lnTo>
                <a:lnTo>
                  <a:pt x="164" y="26"/>
                </a:lnTo>
                <a:lnTo>
                  <a:pt x="180" y="24"/>
                </a:lnTo>
                <a:lnTo>
                  <a:pt x="196" y="21"/>
                </a:lnTo>
                <a:lnTo>
                  <a:pt x="213" y="18"/>
                </a:lnTo>
                <a:lnTo>
                  <a:pt x="229" y="16"/>
                </a:lnTo>
                <a:lnTo>
                  <a:pt x="246" y="13"/>
                </a:lnTo>
                <a:lnTo>
                  <a:pt x="262" y="11"/>
                </a:lnTo>
                <a:lnTo>
                  <a:pt x="278" y="9"/>
                </a:lnTo>
                <a:lnTo>
                  <a:pt x="295" y="7"/>
                </a:lnTo>
                <a:lnTo>
                  <a:pt x="311" y="5"/>
                </a:lnTo>
                <a:lnTo>
                  <a:pt x="327" y="3"/>
                </a:lnTo>
                <a:lnTo>
                  <a:pt x="344" y="2"/>
                </a:lnTo>
                <a:lnTo>
                  <a:pt x="360" y="1"/>
                </a:lnTo>
                <a:lnTo>
                  <a:pt x="377" y="0"/>
                </a:lnTo>
                <a:lnTo>
                  <a:pt x="393" y="0"/>
                </a:lnTo>
                <a:lnTo>
                  <a:pt x="393" y="24"/>
                </a:lnTo>
                <a:lnTo>
                  <a:pt x="377" y="25"/>
                </a:lnTo>
                <a:lnTo>
                  <a:pt x="360" y="25"/>
                </a:lnTo>
                <a:lnTo>
                  <a:pt x="344" y="26"/>
                </a:lnTo>
                <a:lnTo>
                  <a:pt x="327" y="28"/>
                </a:lnTo>
                <a:lnTo>
                  <a:pt x="311" y="29"/>
                </a:lnTo>
                <a:lnTo>
                  <a:pt x="295" y="31"/>
                </a:lnTo>
                <a:lnTo>
                  <a:pt x="278" y="33"/>
                </a:lnTo>
                <a:lnTo>
                  <a:pt x="262" y="35"/>
                </a:lnTo>
                <a:lnTo>
                  <a:pt x="246" y="38"/>
                </a:lnTo>
                <a:lnTo>
                  <a:pt x="229" y="40"/>
                </a:lnTo>
                <a:lnTo>
                  <a:pt x="213" y="43"/>
                </a:lnTo>
                <a:lnTo>
                  <a:pt x="196" y="45"/>
                </a:lnTo>
                <a:lnTo>
                  <a:pt x="180" y="48"/>
                </a:lnTo>
                <a:lnTo>
                  <a:pt x="164" y="51"/>
                </a:lnTo>
                <a:lnTo>
                  <a:pt x="147" y="53"/>
                </a:lnTo>
                <a:lnTo>
                  <a:pt x="131" y="55"/>
                </a:lnTo>
                <a:lnTo>
                  <a:pt x="114" y="58"/>
                </a:lnTo>
                <a:lnTo>
                  <a:pt x="98" y="60"/>
                </a:lnTo>
                <a:lnTo>
                  <a:pt x="82" y="62"/>
                </a:lnTo>
                <a:lnTo>
                  <a:pt x="65" y="63"/>
                </a:lnTo>
                <a:lnTo>
                  <a:pt x="49" y="64"/>
                </a:lnTo>
                <a:lnTo>
                  <a:pt x="33" y="65"/>
                </a:lnTo>
                <a:lnTo>
                  <a:pt x="16" y="66"/>
                </a:lnTo>
                <a:lnTo>
                  <a:pt x="0" y="6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2590800"/>
            <a:ext cx="3743325" cy="1914525"/>
          </a:xfrm>
          <a:custGeom>
            <a:avLst/>
            <a:gdLst/>
            <a:ahLst/>
            <a:cxnLst/>
            <a:rect l="l" t="t" r="r" b="b"/>
            <a:pathLst>
              <a:path w="393" h="201">
                <a:moveTo>
                  <a:pt x="0" y="0"/>
                </a:moveTo>
                <a:lnTo>
                  <a:pt x="16" y="1"/>
                </a:lnTo>
                <a:lnTo>
                  <a:pt x="33" y="4"/>
                </a:lnTo>
                <a:lnTo>
                  <a:pt x="49" y="8"/>
                </a:lnTo>
                <a:lnTo>
                  <a:pt x="65" y="14"/>
                </a:lnTo>
                <a:lnTo>
                  <a:pt x="82" y="20"/>
                </a:lnTo>
                <a:lnTo>
                  <a:pt x="98" y="28"/>
                </a:lnTo>
                <a:lnTo>
                  <a:pt x="114" y="37"/>
                </a:lnTo>
                <a:lnTo>
                  <a:pt x="131" y="47"/>
                </a:lnTo>
                <a:lnTo>
                  <a:pt x="147" y="57"/>
                </a:lnTo>
                <a:lnTo>
                  <a:pt x="164" y="68"/>
                </a:lnTo>
                <a:lnTo>
                  <a:pt x="180" y="79"/>
                </a:lnTo>
                <a:lnTo>
                  <a:pt x="196" y="90"/>
                </a:lnTo>
                <a:lnTo>
                  <a:pt x="213" y="101"/>
                </a:lnTo>
                <a:lnTo>
                  <a:pt x="229" y="112"/>
                </a:lnTo>
                <a:lnTo>
                  <a:pt x="246" y="122"/>
                </a:lnTo>
                <a:lnTo>
                  <a:pt x="262" y="133"/>
                </a:lnTo>
                <a:lnTo>
                  <a:pt x="278" y="142"/>
                </a:lnTo>
                <a:lnTo>
                  <a:pt x="295" y="151"/>
                </a:lnTo>
                <a:lnTo>
                  <a:pt x="311" y="159"/>
                </a:lnTo>
                <a:lnTo>
                  <a:pt x="327" y="166"/>
                </a:lnTo>
                <a:lnTo>
                  <a:pt x="344" y="171"/>
                </a:lnTo>
                <a:lnTo>
                  <a:pt x="360" y="176"/>
                </a:lnTo>
                <a:lnTo>
                  <a:pt x="377" y="178"/>
                </a:lnTo>
                <a:lnTo>
                  <a:pt x="393" y="179"/>
                </a:lnTo>
                <a:lnTo>
                  <a:pt x="393" y="201"/>
                </a:lnTo>
                <a:lnTo>
                  <a:pt x="377" y="200"/>
                </a:lnTo>
                <a:lnTo>
                  <a:pt x="360" y="198"/>
                </a:lnTo>
                <a:lnTo>
                  <a:pt x="344" y="193"/>
                </a:lnTo>
                <a:lnTo>
                  <a:pt x="327" y="188"/>
                </a:lnTo>
                <a:lnTo>
                  <a:pt x="311" y="181"/>
                </a:lnTo>
                <a:lnTo>
                  <a:pt x="295" y="173"/>
                </a:lnTo>
                <a:lnTo>
                  <a:pt x="278" y="164"/>
                </a:lnTo>
                <a:lnTo>
                  <a:pt x="262" y="155"/>
                </a:lnTo>
                <a:lnTo>
                  <a:pt x="246" y="145"/>
                </a:lnTo>
                <a:lnTo>
                  <a:pt x="229" y="134"/>
                </a:lnTo>
                <a:lnTo>
                  <a:pt x="213" y="123"/>
                </a:lnTo>
                <a:lnTo>
                  <a:pt x="196" y="112"/>
                </a:lnTo>
                <a:lnTo>
                  <a:pt x="180" y="101"/>
                </a:lnTo>
                <a:lnTo>
                  <a:pt x="164" y="90"/>
                </a:lnTo>
                <a:lnTo>
                  <a:pt x="147" y="79"/>
                </a:lnTo>
                <a:lnTo>
                  <a:pt x="131" y="69"/>
                </a:lnTo>
                <a:lnTo>
                  <a:pt x="114" y="59"/>
                </a:lnTo>
                <a:lnTo>
                  <a:pt x="98" y="50"/>
                </a:lnTo>
                <a:lnTo>
                  <a:pt x="82" y="42"/>
                </a:lnTo>
                <a:lnTo>
                  <a:pt x="65" y="36"/>
                </a:lnTo>
                <a:lnTo>
                  <a:pt x="49" y="30"/>
                </a:lnTo>
                <a:lnTo>
                  <a:pt x="33" y="26"/>
                </a:lnTo>
                <a:lnTo>
                  <a:pt x="16" y="23"/>
                </a:lnTo>
                <a:lnTo>
                  <a:pt x="0" y="2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2800350"/>
            <a:ext cx="3743325" cy="3314700"/>
          </a:xfrm>
          <a:custGeom>
            <a:avLst/>
            <a:gdLst/>
            <a:ahLst/>
            <a:cxnLst/>
            <a:rect l="l" t="t" r="r" b="b"/>
            <a:pathLst>
              <a:path w="393" h="348">
                <a:moveTo>
                  <a:pt x="0" y="0"/>
                </a:moveTo>
                <a:lnTo>
                  <a:pt x="16" y="2"/>
                </a:lnTo>
                <a:lnTo>
                  <a:pt x="33" y="7"/>
                </a:lnTo>
                <a:lnTo>
                  <a:pt x="49" y="15"/>
                </a:lnTo>
                <a:lnTo>
                  <a:pt x="65" y="26"/>
                </a:lnTo>
                <a:lnTo>
                  <a:pt x="82" y="39"/>
                </a:lnTo>
                <a:lnTo>
                  <a:pt x="98" y="54"/>
                </a:lnTo>
                <a:lnTo>
                  <a:pt x="114" y="71"/>
                </a:lnTo>
                <a:lnTo>
                  <a:pt x="131" y="90"/>
                </a:lnTo>
                <a:lnTo>
                  <a:pt x="147" y="109"/>
                </a:lnTo>
                <a:lnTo>
                  <a:pt x="164" y="130"/>
                </a:lnTo>
                <a:lnTo>
                  <a:pt x="180" y="151"/>
                </a:lnTo>
                <a:lnTo>
                  <a:pt x="196" y="173"/>
                </a:lnTo>
                <a:lnTo>
                  <a:pt x="213" y="194"/>
                </a:lnTo>
                <a:lnTo>
                  <a:pt x="229" y="215"/>
                </a:lnTo>
                <a:lnTo>
                  <a:pt x="246" y="236"/>
                </a:lnTo>
                <a:lnTo>
                  <a:pt x="262" y="256"/>
                </a:lnTo>
                <a:lnTo>
                  <a:pt x="278" y="274"/>
                </a:lnTo>
                <a:lnTo>
                  <a:pt x="295" y="291"/>
                </a:lnTo>
                <a:lnTo>
                  <a:pt x="311" y="306"/>
                </a:lnTo>
                <a:lnTo>
                  <a:pt x="327" y="319"/>
                </a:lnTo>
                <a:lnTo>
                  <a:pt x="344" y="330"/>
                </a:lnTo>
                <a:lnTo>
                  <a:pt x="360" y="338"/>
                </a:lnTo>
                <a:lnTo>
                  <a:pt x="377" y="343"/>
                </a:lnTo>
                <a:lnTo>
                  <a:pt x="393" y="345"/>
                </a:lnTo>
                <a:lnTo>
                  <a:pt x="393" y="348"/>
                </a:lnTo>
                <a:lnTo>
                  <a:pt x="377" y="346"/>
                </a:lnTo>
                <a:lnTo>
                  <a:pt x="360" y="341"/>
                </a:lnTo>
                <a:lnTo>
                  <a:pt x="344" y="333"/>
                </a:lnTo>
                <a:lnTo>
                  <a:pt x="327" y="323"/>
                </a:lnTo>
                <a:lnTo>
                  <a:pt x="311" y="309"/>
                </a:lnTo>
                <a:lnTo>
                  <a:pt x="295" y="294"/>
                </a:lnTo>
                <a:lnTo>
                  <a:pt x="278" y="277"/>
                </a:lnTo>
                <a:lnTo>
                  <a:pt x="262" y="259"/>
                </a:lnTo>
                <a:lnTo>
                  <a:pt x="246" y="239"/>
                </a:lnTo>
                <a:lnTo>
                  <a:pt x="229" y="218"/>
                </a:lnTo>
                <a:lnTo>
                  <a:pt x="213" y="197"/>
                </a:lnTo>
                <a:lnTo>
                  <a:pt x="196" y="176"/>
                </a:lnTo>
                <a:lnTo>
                  <a:pt x="180" y="154"/>
                </a:lnTo>
                <a:lnTo>
                  <a:pt x="164" y="133"/>
                </a:lnTo>
                <a:lnTo>
                  <a:pt x="147" y="113"/>
                </a:lnTo>
                <a:lnTo>
                  <a:pt x="131" y="93"/>
                </a:lnTo>
                <a:lnTo>
                  <a:pt x="114" y="74"/>
                </a:lnTo>
                <a:lnTo>
                  <a:pt x="98" y="57"/>
                </a:lnTo>
                <a:lnTo>
                  <a:pt x="82" y="42"/>
                </a:lnTo>
                <a:lnTo>
                  <a:pt x="65" y="29"/>
                </a:lnTo>
                <a:lnTo>
                  <a:pt x="49" y="18"/>
                </a:lnTo>
                <a:lnTo>
                  <a:pt x="33" y="10"/>
                </a:lnTo>
                <a:lnTo>
                  <a:pt x="16" y="5"/>
                </a:lnTo>
                <a:lnTo>
                  <a:pt x="0" y="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190750"/>
            <a:ext cx="3743325" cy="933450"/>
          </a:xfrm>
          <a:custGeom>
            <a:avLst/>
            <a:gdLst/>
            <a:ahLst/>
            <a:cxnLst/>
            <a:rect l="l" t="t" r="r" b="b"/>
            <a:pathLst>
              <a:path w="393" h="98">
                <a:moveTo>
                  <a:pt x="0" y="74"/>
                </a:moveTo>
                <a:lnTo>
                  <a:pt x="16" y="73"/>
                </a:lnTo>
                <a:lnTo>
                  <a:pt x="33" y="72"/>
                </a:lnTo>
                <a:lnTo>
                  <a:pt x="49" y="70"/>
                </a:lnTo>
                <a:lnTo>
                  <a:pt x="65" y="68"/>
                </a:lnTo>
                <a:lnTo>
                  <a:pt x="82" y="65"/>
                </a:lnTo>
                <a:lnTo>
                  <a:pt x="98" y="62"/>
                </a:lnTo>
                <a:lnTo>
                  <a:pt x="114" y="58"/>
                </a:lnTo>
                <a:lnTo>
                  <a:pt x="131" y="55"/>
                </a:lnTo>
                <a:lnTo>
                  <a:pt x="147" y="50"/>
                </a:lnTo>
                <a:lnTo>
                  <a:pt x="164" y="46"/>
                </a:lnTo>
                <a:lnTo>
                  <a:pt x="180" y="42"/>
                </a:lnTo>
                <a:lnTo>
                  <a:pt x="196" y="37"/>
                </a:lnTo>
                <a:lnTo>
                  <a:pt x="213" y="32"/>
                </a:lnTo>
                <a:lnTo>
                  <a:pt x="229" y="28"/>
                </a:lnTo>
                <a:lnTo>
                  <a:pt x="246" y="24"/>
                </a:lnTo>
                <a:lnTo>
                  <a:pt x="262" y="19"/>
                </a:lnTo>
                <a:lnTo>
                  <a:pt x="278" y="15"/>
                </a:lnTo>
                <a:lnTo>
                  <a:pt x="295" y="12"/>
                </a:lnTo>
                <a:lnTo>
                  <a:pt x="311" y="9"/>
                </a:lnTo>
                <a:lnTo>
                  <a:pt x="327" y="6"/>
                </a:lnTo>
                <a:lnTo>
                  <a:pt x="344" y="4"/>
                </a:lnTo>
                <a:lnTo>
                  <a:pt x="360" y="2"/>
                </a:lnTo>
                <a:lnTo>
                  <a:pt x="377" y="1"/>
                </a:lnTo>
                <a:lnTo>
                  <a:pt x="393" y="0"/>
                </a:lnTo>
                <a:lnTo>
                  <a:pt x="393" y="25"/>
                </a:lnTo>
                <a:lnTo>
                  <a:pt x="377" y="25"/>
                </a:lnTo>
                <a:lnTo>
                  <a:pt x="360" y="26"/>
                </a:lnTo>
                <a:lnTo>
                  <a:pt x="344" y="28"/>
                </a:lnTo>
                <a:lnTo>
                  <a:pt x="327" y="30"/>
                </a:lnTo>
                <a:lnTo>
                  <a:pt x="311" y="33"/>
                </a:lnTo>
                <a:lnTo>
                  <a:pt x="295" y="36"/>
                </a:lnTo>
                <a:lnTo>
                  <a:pt x="278" y="40"/>
                </a:lnTo>
                <a:lnTo>
                  <a:pt x="262" y="44"/>
                </a:lnTo>
                <a:lnTo>
                  <a:pt x="246" y="48"/>
                </a:lnTo>
                <a:lnTo>
                  <a:pt x="229" y="52"/>
                </a:lnTo>
                <a:lnTo>
                  <a:pt x="213" y="57"/>
                </a:lnTo>
                <a:lnTo>
                  <a:pt x="196" y="61"/>
                </a:lnTo>
                <a:lnTo>
                  <a:pt x="180" y="66"/>
                </a:lnTo>
                <a:lnTo>
                  <a:pt x="164" y="70"/>
                </a:lnTo>
                <a:lnTo>
                  <a:pt x="147" y="75"/>
                </a:lnTo>
                <a:lnTo>
                  <a:pt x="131" y="79"/>
                </a:lnTo>
                <a:lnTo>
                  <a:pt x="114" y="83"/>
                </a:lnTo>
                <a:lnTo>
                  <a:pt x="98" y="86"/>
                </a:lnTo>
                <a:lnTo>
                  <a:pt x="82" y="90"/>
                </a:lnTo>
                <a:lnTo>
                  <a:pt x="65" y="92"/>
                </a:lnTo>
                <a:lnTo>
                  <a:pt x="49" y="95"/>
                </a:lnTo>
                <a:lnTo>
                  <a:pt x="33" y="96"/>
                </a:lnTo>
                <a:lnTo>
                  <a:pt x="16" y="98"/>
                </a:lnTo>
                <a:lnTo>
                  <a:pt x="0" y="9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3124200"/>
            <a:ext cx="3743325" cy="1590675"/>
          </a:xfrm>
          <a:custGeom>
            <a:avLst/>
            <a:gdLst/>
            <a:ahLst/>
            <a:cxnLst/>
            <a:rect l="l" t="t" r="r" b="b"/>
            <a:pathLst>
              <a:path w="393" h="167">
                <a:moveTo>
                  <a:pt x="0" y="0"/>
                </a:moveTo>
                <a:lnTo>
                  <a:pt x="16" y="1"/>
                </a:lnTo>
                <a:lnTo>
                  <a:pt x="33" y="3"/>
                </a:lnTo>
                <a:lnTo>
                  <a:pt x="49" y="6"/>
                </a:lnTo>
                <a:lnTo>
                  <a:pt x="65" y="11"/>
                </a:lnTo>
                <a:lnTo>
                  <a:pt x="82" y="16"/>
                </a:lnTo>
                <a:lnTo>
                  <a:pt x="98" y="23"/>
                </a:lnTo>
                <a:lnTo>
                  <a:pt x="114" y="30"/>
                </a:lnTo>
                <a:lnTo>
                  <a:pt x="131" y="38"/>
                </a:lnTo>
                <a:lnTo>
                  <a:pt x="147" y="46"/>
                </a:lnTo>
                <a:lnTo>
                  <a:pt x="164" y="55"/>
                </a:lnTo>
                <a:lnTo>
                  <a:pt x="180" y="63"/>
                </a:lnTo>
                <a:lnTo>
                  <a:pt x="196" y="72"/>
                </a:lnTo>
                <a:lnTo>
                  <a:pt x="213" y="82"/>
                </a:lnTo>
                <a:lnTo>
                  <a:pt x="229" y="90"/>
                </a:lnTo>
                <a:lnTo>
                  <a:pt x="246" y="99"/>
                </a:lnTo>
                <a:lnTo>
                  <a:pt x="262" y="107"/>
                </a:lnTo>
                <a:lnTo>
                  <a:pt x="278" y="115"/>
                </a:lnTo>
                <a:lnTo>
                  <a:pt x="295" y="122"/>
                </a:lnTo>
                <a:lnTo>
                  <a:pt x="311" y="129"/>
                </a:lnTo>
                <a:lnTo>
                  <a:pt x="327" y="134"/>
                </a:lnTo>
                <a:lnTo>
                  <a:pt x="344" y="139"/>
                </a:lnTo>
                <a:lnTo>
                  <a:pt x="360" y="142"/>
                </a:lnTo>
                <a:lnTo>
                  <a:pt x="377" y="144"/>
                </a:lnTo>
                <a:lnTo>
                  <a:pt x="393" y="145"/>
                </a:lnTo>
                <a:lnTo>
                  <a:pt x="393" y="167"/>
                </a:lnTo>
                <a:lnTo>
                  <a:pt x="377" y="166"/>
                </a:lnTo>
                <a:lnTo>
                  <a:pt x="360" y="164"/>
                </a:lnTo>
                <a:lnTo>
                  <a:pt x="344" y="161"/>
                </a:lnTo>
                <a:lnTo>
                  <a:pt x="327" y="156"/>
                </a:lnTo>
                <a:lnTo>
                  <a:pt x="311" y="151"/>
                </a:lnTo>
                <a:lnTo>
                  <a:pt x="295" y="144"/>
                </a:lnTo>
                <a:lnTo>
                  <a:pt x="278" y="137"/>
                </a:lnTo>
                <a:lnTo>
                  <a:pt x="262" y="129"/>
                </a:lnTo>
                <a:lnTo>
                  <a:pt x="246" y="121"/>
                </a:lnTo>
                <a:lnTo>
                  <a:pt x="229" y="112"/>
                </a:lnTo>
                <a:lnTo>
                  <a:pt x="213" y="104"/>
                </a:lnTo>
                <a:lnTo>
                  <a:pt x="196" y="95"/>
                </a:lnTo>
                <a:lnTo>
                  <a:pt x="180" y="85"/>
                </a:lnTo>
                <a:lnTo>
                  <a:pt x="164" y="77"/>
                </a:lnTo>
                <a:lnTo>
                  <a:pt x="147" y="68"/>
                </a:lnTo>
                <a:lnTo>
                  <a:pt x="131" y="60"/>
                </a:lnTo>
                <a:lnTo>
                  <a:pt x="114" y="52"/>
                </a:lnTo>
                <a:lnTo>
                  <a:pt x="98" y="45"/>
                </a:lnTo>
                <a:lnTo>
                  <a:pt x="82" y="38"/>
                </a:lnTo>
                <a:lnTo>
                  <a:pt x="65" y="33"/>
                </a:lnTo>
                <a:lnTo>
                  <a:pt x="49" y="28"/>
                </a:lnTo>
                <a:lnTo>
                  <a:pt x="33" y="25"/>
                </a:lnTo>
                <a:lnTo>
                  <a:pt x="16" y="23"/>
                </a:lnTo>
                <a:lnTo>
                  <a:pt x="0" y="2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3333750"/>
            <a:ext cx="3743325" cy="2809875"/>
          </a:xfrm>
          <a:custGeom>
            <a:avLst/>
            <a:gdLst/>
            <a:ahLst/>
            <a:cxnLst/>
            <a:rect l="l" t="t" r="r" b="b"/>
            <a:pathLst>
              <a:path w="393" h="295">
                <a:moveTo>
                  <a:pt x="0" y="0"/>
                </a:moveTo>
                <a:lnTo>
                  <a:pt x="16" y="1"/>
                </a:lnTo>
                <a:lnTo>
                  <a:pt x="33" y="6"/>
                </a:lnTo>
                <a:lnTo>
                  <a:pt x="49" y="12"/>
                </a:lnTo>
                <a:lnTo>
                  <a:pt x="65" y="22"/>
                </a:lnTo>
                <a:lnTo>
                  <a:pt x="82" y="33"/>
                </a:lnTo>
                <a:lnTo>
                  <a:pt x="98" y="46"/>
                </a:lnTo>
                <a:lnTo>
                  <a:pt x="114" y="60"/>
                </a:lnTo>
                <a:lnTo>
                  <a:pt x="131" y="76"/>
                </a:lnTo>
                <a:lnTo>
                  <a:pt x="147" y="92"/>
                </a:lnTo>
                <a:lnTo>
                  <a:pt x="164" y="110"/>
                </a:lnTo>
                <a:lnTo>
                  <a:pt x="180" y="128"/>
                </a:lnTo>
                <a:lnTo>
                  <a:pt x="196" y="146"/>
                </a:lnTo>
                <a:lnTo>
                  <a:pt x="213" y="164"/>
                </a:lnTo>
                <a:lnTo>
                  <a:pt x="229" y="182"/>
                </a:lnTo>
                <a:lnTo>
                  <a:pt x="246" y="200"/>
                </a:lnTo>
                <a:lnTo>
                  <a:pt x="262" y="216"/>
                </a:lnTo>
                <a:lnTo>
                  <a:pt x="278" y="232"/>
                </a:lnTo>
                <a:lnTo>
                  <a:pt x="295" y="246"/>
                </a:lnTo>
                <a:lnTo>
                  <a:pt x="311" y="259"/>
                </a:lnTo>
                <a:lnTo>
                  <a:pt x="327" y="270"/>
                </a:lnTo>
                <a:lnTo>
                  <a:pt x="344" y="280"/>
                </a:lnTo>
                <a:lnTo>
                  <a:pt x="360" y="286"/>
                </a:lnTo>
                <a:lnTo>
                  <a:pt x="377" y="291"/>
                </a:lnTo>
                <a:lnTo>
                  <a:pt x="393" y="292"/>
                </a:lnTo>
                <a:lnTo>
                  <a:pt x="393" y="295"/>
                </a:lnTo>
                <a:lnTo>
                  <a:pt x="377" y="294"/>
                </a:lnTo>
                <a:lnTo>
                  <a:pt x="360" y="289"/>
                </a:lnTo>
                <a:lnTo>
                  <a:pt x="344" y="283"/>
                </a:lnTo>
                <a:lnTo>
                  <a:pt x="327" y="274"/>
                </a:lnTo>
                <a:lnTo>
                  <a:pt x="311" y="262"/>
                </a:lnTo>
                <a:lnTo>
                  <a:pt x="295" y="250"/>
                </a:lnTo>
                <a:lnTo>
                  <a:pt x="278" y="235"/>
                </a:lnTo>
                <a:lnTo>
                  <a:pt x="262" y="219"/>
                </a:lnTo>
                <a:lnTo>
                  <a:pt x="246" y="203"/>
                </a:lnTo>
                <a:lnTo>
                  <a:pt x="229" y="185"/>
                </a:lnTo>
                <a:lnTo>
                  <a:pt x="213" y="167"/>
                </a:lnTo>
                <a:lnTo>
                  <a:pt x="196" y="149"/>
                </a:lnTo>
                <a:lnTo>
                  <a:pt x="180" y="131"/>
                </a:lnTo>
                <a:lnTo>
                  <a:pt x="164" y="113"/>
                </a:lnTo>
                <a:lnTo>
                  <a:pt x="147" y="95"/>
                </a:lnTo>
                <a:lnTo>
                  <a:pt x="131" y="79"/>
                </a:lnTo>
                <a:lnTo>
                  <a:pt x="114" y="63"/>
                </a:lnTo>
                <a:lnTo>
                  <a:pt x="98" y="49"/>
                </a:lnTo>
                <a:lnTo>
                  <a:pt x="82" y="36"/>
                </a:lnTo>
                <a:lnTo>
                  <a:pt x="65" y="25"/>
                </a:lnTo>
                <a:lnTo>
                  <a:pt x="49" y="16"/>
                </a:lnTo>
                <a:lnTo>
                  <a:pt x="33" y="9"/>
                </a:lnTo>
                <a:lnTo>
                  <a:pt x="16" y="4"/>
                </a:lnTo>
                <a:lnTo>
                  <a:pt x="0" y="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2428875"/>
            <a:ext cx="3743325" cy="1228725"/>
          </a:xfrm>
          <a:custGeom>
            <a:avLst/>
            <a:gdLst/>
            <a:ahLst/>
            <a:cxnLst/>
            <a:rect l="l" t="t" r="r" b="b"/>
            <a:pathLst>
              <a:path w="393" h="129">
                <a:moveTo>
                  <a:pt x="0" y="104"/>
                </a:moveTo>
                <a:lnTo>
                  <a:pt x="16" y="103"/>
                </a:lnTo>
                <a:lnTo>
                  <a:pt x="33" y="102"/>
                </a:lnTo>
                <a:lnTo>
                  <a:pt x="49" y="100"/>
                </a:lnTo>
                <a:lnTo>
                  <a:pt x="65" y="96"/>
                </a:lnTo>
                <a:lnTo>
                  <a:pt x="82" y="92"/>
                </a:lnTo>
                <a:lnTo>
                  <a:pt x="98" y="88"/>
                </a:lnTo>
                <a:lnTo>
                  <a:pt x="114" y="83"/>
                </a:lnTo>
                <a:lnTo>
                  <a:pt x="131" y="77"/>
                </a:lnTo>
                <a:lnTo>
                  <a:pt x="147" y="71"/>
                </a:lnTo>
                <a:lnTo>
                  <a:pt x="164" y="65"/>
                </a:lnTo>
                <a:lnTo>
                  <a:pt x="180" y="58"/>
                </a:lnTo>
                <a:lnTo>
                  <a:pt x="196" y="52"/>
                </a:lnTo>
                <a:lnTo>
                  <a:pt x="213" y="45"/>
                </a:lnTo>
                <a:lnTo>
                  <a:pt x="229" y="39"/>
                </a:lnTo>
                <a:lnTo>
                  <a:pt x="246" y="33"/>
                </a:lnTo>
                <a:lnTo>
                  <a:pt x="262" y="27"/>
                </a:lnTo>
                <a:lnTo>
                  <a:pt x="278" y="21"/>
                </a:lnTo>
                <a:lnTo>
                  <a:pt x="295" y="16"/>
                </a:lnTo>
                <a:lnTo>
                  <a:pt x="311" y="11"/>
                </a:lnTo>
                <a:lnTo>
                  <a:pt x="327" y="8"/>
                </a:lnTo>
                <a:lnTo>
                  <a:pt x="344" y="4"/>
                </a:lnTo>
                <a:lnTo>
                  <a:pt x="360" y="2"/>
                </a:lnTo>
                <a:lnTo>
                  <a:pt x="377" y="0"/>
                </a:lnTo>
                <a:lnTo>
                  <a:pt x="393" y="0"/>
                </a:lnTo>
                <a:lnTo>
                  <a:pt x="393" y="25"/>
                </a:lnTo>
                <a:lnTo>
                  <a:pt x="377" y="25"/>
                </a:lnTo>
                <a:lnTo>
                  <a:pt x="360" y="27"/>
                </a:lnTo>
                <a:lnTo>
                  <a:pt x="344" y="29"/>
                </a:lnTo>
                <a:lnTo>
                  <a:pt x="327" y="32"/>
                </a:lnTo>
                <a:lnTo>
                  <a:pt x="311" y="36"/>
                </a:lnTo>
                <a:lnTo>
                  <a:pt x="295" y="41"/>
                </a:lnTo>
                <a:lnTo>
                  <a:pt x="278" y="46"/>
                </a:lnTo>
                <a:lnTo>
                  <a:pt x="262" y="52"/>
                </a:lnTo>
                <a:lnTo>
                  <a:pt x="246" y="58"/>
                </a:lnTo>
                <a:lnTo>
                  <a:pt x="229" y="64"/>
                </a:lnTo>
                <a:lnTo>
                  <a:pt x="213" y="70"/>
                </a:lnTo>
                <a:lnTo>
                  <a:pt x="196" y="77"/>
                </a:lnTo>
                <a:lnTo>
                  <a:pt x="180" y="83"/>
                </a:lnTo>
                <a:lnTo>
                  <a:pt x="164" y="90"/>
                </a:lnTo>
                <a:lnTo>
                  <a:pt x="147" y="96"/>
                </a:lnTo>
                <a:lnTo>
                  <a:pt x="131" y="102"/>
                </a:lnTo>
                <a:lnTo>
                  <a:pt x="114" y="107"/>
                </a:lnTo>
                <a:lnTo>
                  <a:pt x="98" y="113"/>
                </a:lnTo>
                <a:lnTo>
                  <a:pt x="82" y="117"/>
                </a:lnTo>
                <a:lnTo>
                  <a:pt x="65" y="121"/>
                </a:lnTo>
                <a:lnTo>
                  <a:pt x="49" y="124"/>
                </a:lnTo>
                <a:lnTo>
                  <a:pt x="33" y="127"/>
                </a:lnTo>
                <a:lnTo>
                  <a:pt x="16" y="128"/>
                </a:lnTo>
                <a:lnTo>
                  <a:pt x="0" y="129"/>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3657600"/>
            <a:ext cx="3743325" cy="1266825"/>
          </a:xfrm>
          <a:custGeom>
            <a:avLst/>
            <a:gdLst/>
            <a:ahLst/>
            <a:cxnLst/>
            <a:rect l="l" t="t" r="r" b="b"/>
            <a:pathLst>
              <a:path w="393" h="133">
                <a:moveTo>
                  <a:pt x="0" y="0"/>
                </a:moveTo>
                <a:lnTo>
                  <a:pt x="16" y="0"/>
                </a:lnTo>
                <a:lnTo>
                  <a:pt x="33" y="2"/>
                </a:lnTo>
                <a:lnTo>
                  <a:pt x="49" y="5"/>
                </a:lnTo>
                <a:lnTo>
                  <a:pt x="65" y="8"/>
                </a:lnTo>
                <a:lnTo>
                  <a:pt x="82" y="12"/>
                </a:lnTo>
                <a:lnTo>
                  <a:pt x="98" y="17"/>
                </a:lnTo>
                <a:lnTo>
                  <a:pt x="114" y="23"/>
                </a:lnTo>
                <a:lnTo>
                  <a:pt x="131" y="29"/>
                </a:lnTo>
                <a:lnTo>
                  <a:pt x="147" y="35"/>
                </a:lnTo>
                <a:lnTo>
                  <a:pt x="164" y="42"/>
                </a:lnTo>
                <a:lnTo>
                  <a:pt x="180" y="49"/>
                </a:lnTo>
                <a:lnTo>
                  <a:pt x="196" y="55"/>
                </a:lnTo>
                <a:lnTo>
                  <a:pt x="213" y="62"/>
                </a:lnTo>
                <a:lnTo>
                  <a:pt x="229" y="69"/>
                </a:lnTo>
                <a:lnTo>
                  <a:pt x="246" y="76"/>
                </a:lnTo>
                <a:lnTo>
                  <a:pt x="262" y="82"/>
                </a:lnTo>
                <a:lnTo>
                  <a:pt x="278" y="88"/>
                </a:lnTo>
                <a:lnTo>
                  <a:pt x="295" y="94"/>
                </a:lnTo>
                <a:lnTo>
                  <a:pt x="311" y="99"/>
                </a:lnTo>
                <a:lnTo>
                  <a:pt x="327" y="103"/>
                </a:lnTo>
                <a:lnTo>
                  <a:pt x="344" y="106"/>
                </a:lnTo>
                <a:lnTo>
                  <a:pt x="360" y="109"/>
                </a:lnTo>
                <a:lnTo>
                  <a:pt x="377" y="111"/>
                </a:lnTo>
                <a:lnTo>
                  <a:pt x="393" y="111"/>
                </a:lnTo>
                <a:lnTo>
                  <a:pt x="393" y="133"/>
                </a:lnTo>
                <a:lnTo>
                  <a:pt x="377" y="132"/>
                </a:lnTo>
                <a:lnTo>
                  <a:pt x="360" y="130"/>
                </a:lnTo>
                <a:lnTo>
                  <a:pt x="344" y="128"/>
                </a:lnTo>
                <a:lnTo>
                  <a:pt x="327" y="124"/>
                </a:lnTo>
                <a:lnTo>
                  <a:pt x="311" y="120"/>
                </a:lnTo>
                <a:lnTo>
                  <a:pt x="295" y="115"/>
                </a:lnTo>
                <a:lnTo>
                  <a:pt x="278" y="110"/>
                </a:lnTo>
                <a:lnTo>
                  <a:pt x="262" y="104"/>
                </a:lnTo>
                <a:lnTo>
                  <a:pt x="246" y="97"/>
                </a:lnTo>
                <a:lnTo>
                  <a:pt x="229" y="91"/>
                </a:lnTo>
                <a:lnTo>
                  <a:pt x="213" y="84"/>
                </a:lnTo>
                <a:lnTo>
                  <a:pt x="196" y="77"/>
                </a:lnTo>
                <a:lnTo>
                  <a:pt x="180" y="70"/>
                </a:lnTo>
                <a:lnTo>
                  <a:pt x="164" y="63"/>
                </a:lnTo>
                <a:lnTo>
                  <a:pt x="147" y="56"/>
                </a:lnTo>
                <a:lnTo>
                  <a:pt x="131" y="50"/>
                </a:lnTo>
                <a:lnTo>
                  <a:pt x="114" y="44"/>
                </a:lnTo>
                <a:lnTo>
                  <a:pt x="98" y="39"/>
                </a:lnTo>
                <a:lnTo>
                  <a:pt x="82" y="34"/>
                </a:lnTo>
                <a:lnTo>
                  <a:pt x="65" y="29"/>
                </a:lnTo>
                <a:lnTo>
                  <a:pt x="49" y="26"/>
                </a:lnTo>
                <a:lnTo>
                  <a:pt x="33" y="23"/>
                </a:lnTo>
                <a:lnTo>
                  <a:pt x="16" y="22"/>
                </a:lnTo>
                <a:lnTo>
                  <a:pt x="0" y="21"/>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3857625"/>
            <a:ext cx="3743325" cy="2314575"/>
          </a:xfrm>
          <a:custGeom>
            <a:avLst/>
            <a:gdLst/>
            <a:ahLst/>
            <a:cxnLst/>
            <a:rect l="l" t="t" r="r" b="b"/>
            <a:pathLst>
              <a:path w="393" h="243">
                <a:moveTo>
                  <a:pt x="0" y="0"/>
                </a:moveTo>
                <a:lnTo>
                  <a:pt x="16" y="1"/>
                </a:lnTo>
                <a:lnTo>
                  <a:pt x="33" y="5"/>
                </a:lnTo>
                <a:lnTo>
                  <a:pt x="49" y="11"/>
                </a:lnTo>
                <a:lnTo>
                  <a:pt x="65" y="18"/>
                </a:lnTo>
                <a:lnTo>
                  <a:pt x="82" y="27"/>
                </a:lnTo>
                <a:lnTo>
                  <a:pt x="98" y="38"/>
                </a:lnTo>
                <a:lnTo>
                  <a:pt x="114" y="50"/>
                </a:lnTo>
                <a:lnTo>
                  <a:pt x="131" y="62"/>
                </a:lnTo>
                <a:lnTo>
                  <a:pt x="147" y="76"/>
                </a:lnTo>
                <a:lnTo>
                  <a:pt x="164" y="90"/>
                </a:lnTo>
                <a:lnTo>
                  <a:pt x="180" y="105"/>
                </a:lnTo>
                <a:lnTo>
                  <a:pt x="196" y="120"/>
                </a:lnTo>
                <a:lnTo>
                  <a:pt x="213" y="135"/>
                </a:lnTo>
                <a:lnTo>
                  <a:pt x="229" y="150"/>
                </a:lnTo>
                <a:lnTo>
                  <a:pt x="246" y="164"/>
                </a:lnTo>
                <a:lnTo>
                  <a:pt x="262" y="178"/>
                </a:lnTo>
                <a:lnTo>
                  <a:pt x="278" y="191"/>
                </a:lnTo>
                <a:lnTo>
                  <a:pt x="295" y="203"/>
                </a:lnTo>
                <a:lnTo>
                  <a:pt x="311" y="213"/>
                </a:lnTo>
                <a:lnTo>
                  <a:pt x="327" y="222"/>
                </a:lnTo>
                <a:lnTo>
                  <a:pt x="344" y="230"/>
                </a:lnTo>
                <a:lnTo>
                  <a:pt x="360" y="235"/>
                </a:lnTo>
                <a:lnTo>
                  <a:pt x="377" y="239"/>
                </a:lnTo>
                <a:lnTo>
                  <a:pt x="393" y="240"/>
                </a:lnTo>
                <a:lnTo>
                  <a:pt x="393" y="243"/>
                </a:lnTo>
                <a:lnTo>
                  <a:pt x="377" y="242"/>
                </a:lnTo>
                <a:lnTo>
                  <a:pt x="360" y="239"/>
                </a:lnTo>
                <a:lnTo>
                  <a:pt x="344" y="233"/>
                </a:lnTo>
                <a:lnTo>
                  <a:pt x="327" y="226"/>
                </a:lnTo>
                <a:lnTo>
                  <a:pt x="311" y="217"/>
                </a:lnTo>
                <a:lnTo>
                  <a:pt x="295" y="206"/>
                </a:lnTo>
                <a:lnTo>
                  <a:pt x="278" y="194"/>
                </a:lnTo>
                <a:lnTo>
                  <a:pt x="262" y="181"/>
                </a:lnTo>
                <a:lnTo>
                  <a:pt x="246" y="168"/>
                </a:lnTo>
                <a:lnTo>
                  <a:pt x="229" y="153"/>
                </a:lnTo>
                <a:lnTo>
                  <a:pt x="213" y="138"/>
                </a:lnTo>
                <a:lnTo>
                  <a:pt x="196" y="123"/>
                </a:lnTo>
                <a:lnTo>
                  <a:pt x="180" y="109"/>
                </a:lnTo>
                <a:lnTo>
                  <a:pt x="164" y="94"/>
                </a:lnTo>
                <a:lnTo>
                  <a:pt x="147" y="79"/>
                </a:lnTo>
                <a:lnTo>
                  <a:pt x="131" y="66"/>
                </a:lnTo>
                <a:lnTo>
                  <a:pt x="114" y="53"/>
                </a:lnTo>
                <a:lnTo>
                  <a:pt x="98" y="41"/>
                </a:lnTo>
                <a:lnTo>
                  <a:pt x="82" y="30"/>
                </a:lnTo>
                <a:lnTo>
                  <a:pt x="65" y="21"/>
                </a:lnTo>
                <a:lnTo>
                  <a:pt x="49" y="14"/>
                </a:lnTo>
                <a:lnTo>
                  <a:pt x="33" y="8"/>
                </a:lnTo>
                <a:lnTo>
                  <a:pt x="16" y="5"/>
                </a:lnTo>
                <a:lnTo>
                  <a:pt x="0" y="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2667000"/>
            <a:ext cx="3743325" cy="1504950"/>
          </a:xfrm>
          <a:custGeom>
            <a:avLst/>
            <a:gdLst/>
            <a:ahLst/>
            <a:cxnLst/>
            <a:rect l="l" t="t" r="r" b="b"/>
            <a:pathLst>
              <a:path w="393" h="158">
                <a:moveTo>
                  <a:pt x="0" y="135"/>
                </a:moveTo>
                <a:lnTo>
                  <a:pt x="16" y="134"/>
                </a:lnTo>
                <a:lnTo>
                  <a:pt x="33" y="132"/>
                </a:lnTo>
                <a:lnTo>
                  <a:pt x="49" y="129"/>
                </a:lnTo>
                <a:lnTo>
                  <a:pt x="65" y="125"/>
                </a:lnTo>
                <a:lnTo>
                  <a:pt x="82" y="119"/>
                </a:lnTo>
                <a:lnTo>
                  <a:pt x="98" y="113"/>
                </a:lnTo>
                <a:lnTo>
                  <a:pt x="114" y="107"/>
                </a:lnTo>
                <a:lnTo>
                  <a:pt x="131" y="100"/>
                </a:lnTo>
                <a:lnTo>
                  <a:pt x="147" y="92"/>
                </a:lnTo>
                <a:lnTo>
                  <a:pt x="164" y="84"/>
                </a:lnTo>
                <a:lnTo>
                  <a:pt x="180" y="75"/>
                </a:lnTo>
                <a:lnTo>
                  <a:pt x="196" y="67"/>
                </a:lnTo>
                <a:lnTo>
                  <a:pt x="213" y="59"/>
                </a:lnTo>
                <a:lnTo>
                  <a:pt x="229" y="50"/>
                </a:lnTo>
                <a:lnTo>
                  <a:pt x="246" y="42"/>
                </a:lnTo>
                <a:lnTo>
                  <a:pt x="262" y="35"/>
                </a:lnTo>
                <a:lnTo>
                  <a:pt x="278" y="27"/>
                </a:lnTo>
                <a:lnTo>
                  <a:pt x="295" y="21"/>
                </a:lnTo>
                <a:lnTo>
                  <a:pt x="311" y="15"/>
                </a:lnTo>
                <a:lnTo>
                  <a:pt x="327" y="10"/>
                </a:lnTo>
                <a:lnTo>
                  <a:pt x="344" y="5"/>
                </a:lnTo>
                <a:lnTo>
                  <a:pt x="360" y="2"/>
                </a:lnTo>
                <a:lnTo>
                  <a:pt x="377" y="0"/>
                </a:lnTo>
                <a:lnTo>
                  <a:pt x="393" y="0"/>
                </a:lnTo>
                <a:lnTo>
                  <a:pt x="393" y="24"/>
                </a:lnTo>
                <a:lnTo>
                  <a:pt x="377" y="24"/>
                </a:lnTo>
                <a:lnTo>
                  <a:pt x="360" y="26"/>
                </a:lnTo>
                <a:lnTo>
                  <a:pt x="344" y="29"/>
                </a:lnTo>
                <a:lnTo>
                  <a:pt x="327" y="34"/>
                </a:lnTo>
                <a:lnTo>
                  <a:pt x="311" y="39"/>
                </a:lnTo>
                <a:lnTo>
                  <a:pt x="295" y="45"/>
                </a:lnTo>
                <a:lnTo>
                  <a:pt x="278" y="51"/>
                </a:lnTo>
                <a:lnTo>
                  <a:pt x="262" y="59"/>
                </a:lnTo>
                <a:lnTo>
                  <a:pt x="246" y="66"/>
                </a:lnTo>
                <a:lnTo>
                  <a:pt x="229" y="74"/>
                </a:lnTo>
                <a:lnTo>
                  <a:pt x="213" y="83"/>
                </a:lnTo>
                <a:lnTo>
                  <a:pt x="196" y="91"/>
                </a:lnTo>
                <a:lnTo>
                  <a:pt x="180" y="99"/>
                </a:lnTo>
                <a:lnTo>
                  <a:pt x="164" y="108"/>
                </a:lnTo>
                <a:lnTo>
                  <a:pt x="147" y="116"/>
                </a:lnTo>
                <a:lnTo>
                  <a:pt x="131" y="124"/>
                </a:lnTo>
                <a:lnTo>
                  <a:pt x="114" y="131"/>
                </a:lnTo>
                <a:lnTo>
                  <a:pt x="98" y="137"/>
                </a:lnTo>
                <a:lnTo>
                  <a:pt x="82" y="143"/>
                </a:lnTo>
                <a:lnTo>
                  <a:pt x="65" y="148"/>
                </a:lnTo>
                <a:lnTo>
                  <a:pt x="49" y="153"/>
                </a:lnTo>
                <a:lnTo>
                  <a:pt x="33" y="156"/>
                </a:lnTo>
                <a:lnTo>
                  <a:pt x="16" y="158"/>
                </a:lnTo>
                <a:lnTo>
                  <a:pt x="0" y="158"/>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171950"/>
            <a:ext cx="3743325" cy="962025"/>
          </a:xfrm>
          <a:custGeom>
            <a:avLst/>
            <a:gdLst/>
            <a:ahLst/>
            <a:cxnLst/>
            <a:rect l="l" t="t" r="r" b="b"/>
            <a:pathLst>
              <a:path w="393" h="101">
                <a:moveTo>
                  <a:pt x="0" y="0"/>
                </a:moveTo>
                <a:lnTo>
                  <a:pt x="16" y="1"/>
                </a:lnTo>
                <a:lnTo>
                  <a:pt x="33" y="2"/>
                </a:lnTo>
                <a:lnTo>
                  <a:pt x="49" y="4"/>
                </a:lnTo>
                <a:lnTo>
                  <a:pt x="65" y="6"/>
                </a:lnTo>
                <a:lnTo>
                  <a:pt x="82" y="9"/>
                </a:lnTo>
                <a:lnTo>
                  <a:pt x="98" y="13"/>
                </a:lnTo>
                <a:lnTo>
                  <a:pt x="114" y="17"/>
                </a:lnTo>
                <a:lnTo>
                  <a:pt x="131" y="21"/>
                </a:lnTo>
                <a:lnTo>
                  <a:pt x="147" y="25"/>
                </a:lnTo>
                <a:lnTo>
                  <a:pt x="164" y="30"/>
                </a:lnTo>
                <a:lnTo>
                  <a:pt x="180" y="35"/>
                </a:lnTo>
                <a:lnTo>
                  <a:pt x="196" y="39"/>
                </a:lnTo>
                <a:lnTo>
                  <a:pt x="213" y="44"/>
                </a:lnTo>
                <a:lnTo>
                  <a:pt x="229" y="49"/>
                </a:lnTo>
                <a:lnTo>
                  <a:pt x="246" y="54"/>
                </a:lnTo>
                <a:lnTo>
                  <a:pt x="262" y="58"/>
                </a:lnTo>
                <a:lnTo>
                  <a:pt x="278" y="62"/>
                </a:lnTo>
                <a:lnTo>
                  <a:pt x="295" y="66"/>
                </a:lnTo>
                <a:lnTo>
                  <a:pt x="311" y="70"/>
                </a:lnTo>
                <a:lnTo>
                  <a:pt x="327" y="73"/>
                </a:lnTo>
                <a:lnTo>
                  <a:pt x="344" y="75"/>
                </a:lnTo>
                <a:lnTo>
                  <a:pt x="360" y="77"/>
                </a:lnTo>
                <a:lnTo>
                  <a:pt x="377" y="78"/>
                </a:lnTo>
                <a:lnTo>
                  <a:pt x="393" y="79"/>
                </a:lnTo>
                <a:lnTo>
                  <a:pt x="393" y="101"/>
                </a:lnTo>
                <a:lnTo>
                  <a:pt x="377" y="100"/>
                </a:lnTo>
                <a:lnTo>
                  <a:pt x="360" y="99"/>
                </a:lnTo>
                <a:lnTo>
                  <a:pt x="344" y="97"/>
                </a:lnTo>
                <a:lnTo>
                  <a:pt x="327" y="95"/>
                </a:lnTo>
                <a:lnTo>
                  <a:pt x="311" y="92"/>
                </a:lnTo>
                <a:lnTo>
                  <a:pt x="295" y="88"/>
                </a:lnTo>
                <a:lnTo>
                  <a:pt x="278" y="85"/>
                </a:lnTo>
                <a:lnTo>
                  <a:pt x="262" y="80"/>
                </a:lnTo>
                <a:lnTo>
                  <a:pt x="246" y="76"/>
                </a:lnTo>
                <a:lnTo>
                  <a:pt x="229" y="71"/>
                </a:lnTo>
                <a:lnTo>
                  <a:pt x="213" y="67"/>
                </a:lnTo>
                <a:lnTo>
                  <a:pt x="196" y="62"/>
                </a:lnTo>
                <a:lnTo>
                  <a:pt x="180" y="57"/>
                </a:lnTo>
                <a:lnTo>
                  <a:pt x="164" y="52"/>
                </a:lnTo>
                <a:lnTo>
                  <a:pt x="147" y="47"/>
                </a:lnTo>
                <a:lnTo>
                  <a:pt x="131" y="43"/>
                </a:lnTo>
                <a:lnTo>
                  <a:pt x="114" y="39"/>
                </a:lnTo>
                <a:lnTo>
                  <a:pt x="98" y="35"/>
                </a:lnTo>
                <a:lnTo>
                  <a:pt x="82" y="31"/>
                </a:lnTo>
                <a:lnTo>
                  <a:pt x="65" y="28"/>
                </a:lnTo>
                <a:lnTo>
                  <a:pt x="49" y="26"/>
                </a:lnTo>
                <a:lnTo>
                  <a:pt x="33" y="24"/>
                </a:lnTo>
                <a:lnTo>
                  <a:pt x="16" y="23"/>
                </a:lnTo>
                <a:lnTo>
                  <a:pt x="0" y="23"/>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4391025"/>
            <a:ext cx="3743325" cy="1819275"/>
          </a:xfrm>
          <a:custGeom>
            <a:avLst/>
            <a:gdLst/>
            <a:ahLst/>
            <a:cxnLst/>
            <a:rect l="l" t="t" r="r" b="b"/>
            <a:pathLst>
              <a:path w="393" h="191">
                <a:moveTo>
                  <a:pt x="0" y="0"/>
                </a:moveTo>
                <a:lnTo>
                  <a:pt x="16" y="1"/>
                </a:lnTo>
                <a:lnTo>
                  <a:pt x="33" y="3"/>
                </a:lnTo>
                <a:lnTo>
                  <a:pt x="49" y="8"/>
                </a:lnTo>
                <a:lnTo>
                  <a:pt x="65" y="14"/>
                </a:lnTo>
                <a:lnTo>
                  <a:pt x="82" y="21"/>
                </a:lnTo>
                <a:lnTo>
                  <a:pt x="98" y="29"/>
                </a:lnTo>
                <a:lnTo>
                  <a:pt x="114" y="38"/>
                </a:lnTo>
                <a:lnTo>
                  <a:pt x="131" y="48"/>
                </a:lnTo>
                <a:lnTo>
                  <a:pt x="147" y="59"/>
                </a:lnTo>
                <a:lnTo>
                  <a:pt x="164" y="70"/>
                </a:lnTo>
                <a:lnTo>
                  <a:pt x="180" y="82"/>
                </a:lnTo>
                <a:lnTo>
                  <a:pt x="196" y="94"/>
                </a:lnTo>
                <a:lnTo>
                  <a:pt x="213" y="105"/>
                </a:lnTo>
                <a:lnTo>
                  <a:pt x="229" y="117"/>
                </a:lnTo>
                <a:lnTo>
                  <a:pt x="246" y="128"/>
                </a:lnTo>
                <a:lnTo>
                  <a:pt x="262" y="139"/>
                </a:lnTo>
                <a:lnTo>
                  <a:pt x="278" y="149"/>
                </a:lnTo>
                <a:lnTo>
                  <a:pt x="295" y="158"/>
                </a:lnTo>
                <a:lnTo>
                  <a:pt x="311" y="166"/>
                </a:lnTo>
                <a:lnTo>
                  <a:pt x="327" y="174"/>
                </a:lnTo>
                <a:lnTo>
                  <a:pt x="344" y="179"/>
                </a:lnTo>
                <a:lnTo>
                  <a:pt x="360" y="184"/>
                </a:lnTo>
                <a:lnTo>
                  <a:pt x="377" y="187"/>
                </a:lnTo>
                <a:lnTo>
                  <a:pt x="393" y="187"/>
                </a:lnTo>
                <a:lnTo>
                  <a:pt x="393" y="191"/>
                </a:lnTo>
                <a:lnTo>
                  <a:pt x="377" y="190"/>
                </a:lnTo>
                <a:lnTo>
                  <a:pt x="360" y="187"/>
                </a:lnTo>
                <a:lnTo>
                  <a:pt x="344" y="183"/>
                </a:lnTo>
                <a:lnTo>
                  <a:pt x="327" y="177"/>
                </a:lnTo>
                <a:lnTo>
                  <a:pt x="311" y="170"/>
                </a:lnTo>
                <a:lnTo>
                  <a:pt x="295" y="162"/>
                </a:lnTo>
                <a:lnTo>
                  <a:pt x="278" y="152"/>
                </a:lnTo>
                <a:lnTo>
                  <a:pt x="262" y="142"/>
                </a:lnTo>
                <a:lnTo>
                  <a:pt x="246" y="131"/>
                </a:lnTo>
                <a:lnTo>
                  <a:pt x="229" y="120"/>
                </a:lnTo>
                <a:lnTo>
                  <a:pt x="213" y="109"/>
                </a:lnTo>
                <a:lnTo>
                  <a:pt x="196" y="97"/>
                </a:lnTo>
                <a:lnTo>
                  <a:pt x="180" y="85"/>
                </a:lnTo>
                <a:lnTo>
                  <a:pt x="164" y="74"/>
                </a:lnTo>
                <a:lnTo>
                  <a:pt x="147" y="62"/>
                </a:lnTo>
                <a:lnTo>
                  <a:pt x="131" y="52"/>
                </a:lnTo>
                <a:lnTo>
                  <a:pt x="114" y="42"/>
                </a:lnTo>
                <a:lnTo>
                  <a:pt x="98" y="32"/>
                </a:lnTo>
                <a:lnTo>
                  <a:pt x="82" y="24"/>
                </a:lnTo>
                <a:lnTo>
                  <a:pt x="65" y="17"/>
                </a:lnTo>
                <a:lnTo>
                  <a:pt x="49" y="11"/>
                </a:lnTo>
                <a:lnTo>
                  <a:pt x="33" y="7"/>
                </a:lnTo>
                <a:lnTo>
                  <a:pt x="16" y="4"/>
                </a:lnTo>
                <a:lnTo>
                  <a:pt x="0" y="3"/>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2895600"/>
            <a:ext cx="3743325" cy="1800225"/>
          </a:xfrm>
          <a:custGeom>
            <a:avLst/>
            <a:gdLst/>
            <a:ahLst/>
            <a:cxnLst/>
            <a:rect l="l" t="t" r="r" b="b"/>
            <a:pathLst>
              <a:path w="393" h="189">
                <a:moveTo>
                  <a:pt x="0" y="166"/>
                </a:moveTo>
                <a:lnTo>
                  <a:pt x="16" y="165"/>
                </a:lnTo>
                <a:lnTo>
                  <a:pt x="33" y="163"/>
                </a:lnTo>
                <a:lnTo>
                  <a:pt x="49" y="159"/>
                </a:lnTo>
                <a:lnTo>
                  <a:pt x="65" y="154"/>
                </a:lnTo>
                <a:lnTo>
                  <a:pt x="82" y="147"/>
                </a:lnTo>
                <a:lnTo>
                  <a:pt x="98" y="140"/>
                </a:lnTo>
                <a:lnTo>
                  <a:pt x="114" y="132"/>
                </a:lnTo>
                <a:lnTo>
                  <a:pt x="131" y="123"/>
                </a:lnTo>
                <a:lnTo>
                  <a:pt x="147" y="113"/>
                </a:lnTo>
                <a:lnTo>
                  <a:pt x="164" y="103"/>
                </a:lnTo>
                <a:lnTo>
                  <a:pt x="180" y="93"/>
                </a:lnTo>
                <a:lnTo>
                  <a:pt x="196" y="83"/>
                </a:lnTo>
                <a:lnTo>
                  <a:pt x="213" y="72"/>
                </a:lnTo>
                <a:lnTo>
                  <a:pt x="229" y="62"/>
                </a:lnTo>
                <a:lnTo>
                  <a:pt x="246" y="52"/>
                </a:lnTo>
                <a:lnTo>
                  <a:pt x="262" y="43"/>
                </a:lnTo>
                <a:lnTo>
                  <a:pt x="278" y="34"/>
                </a:lnTo>
                <a:lnTo>
                  <a:pt x="295" y="26"/>
                </a:lnTo>
                <a:lnTo>
                  <a:pt x="311" y="18"/>
                </a:lnTo>
                <a:lnTo>
                  <a:pt x="327" y="12"/>
                </a:lnTo>
                <a:lnTo>
                  <a:pt x="344" y="7"/>
                </a:lnTo>
                <a:lnTo>
                  <a:pt x="360" y="3"/>
                </a:lnTo>
                <a:lnTo>
                  <a:pt x="377" y="0"/>
                </a:lnTo>
                <a:lnTo>
                  <a:pt x="393" y="0"/>
                </a:lnTo>
                <a:lnTo>
                  <a:pt x="393" y="23"/>
                </a:lnTo>
                <a:lnTo>
                  <a:pt x="377" y="23"/>
                </a:lnTo>
                <a:lnTo>
                  <a:pt x="360" y="26"/>
                </a:lnTo>
                <a:lnTo>
                  <a:pt x="344" y="30"/>
                </a:lnTo>
                <a:lnTo>
                  <a:pt x="327" y="35"/>
                </a:lnTo>
                <a:lnTo>
                  <a:pt x="311" y="41"/>
                </a:lnTo>
                <a:lnTo>
                  <a:pt x="295" y="49"/>
                </a:lnTo>
                <a:lnTo>
                  <a:pt x="278" y="57"/>
                </a:lnTo>
                <a:lnTo>
                  <a:pt x="262" y="66"/>
                </a:lnTo>
                <a:lnTo>
                  <a:pt x="246" y="75"/>
                </a:lnTo>
                <a:lnTo>
                  <a:pt x="229" y="85"/>
                </a:lnTo>
                <a:lnTo>
                  <a:pt x="213" y="95"/>
                </a:lnTo>
                <a:lnTo>
                  <a:pt x="196" y="106"/>
                </a:lnTo>
                <a:lnTo>
                  <a:pt x="180" y="116"/>
                </a:lnTo>
                <a:lnTo>
                  <a:pt x="164" y="126"/>
                </a:lnTo>
                <a:lnTo>
                  <a:pt x="147" y="136"/>
                </a:lnTo>
                <a:lnTo>
                  <a:pt x="131" y="146"/>
                </a:lnTo>
                <a:lnTo>
                  <a:pt x="114" y="155"/>
                </a:lnTo>
                <a:lnTo>
                  <a:pt x="98" y="163"/>
                </a:lnTo>
                <a:lnTo>
                  <a:pt x="82" y="170"/>
                </a:lnTo>
                <a:lnTo>
                  <a:pt x="65" y="177"/>
                </a:lnTo>
                <a:lnTo>
                  <a:pt x="49" y="182"/>
                </a:lnTo>
                <a:lnTo>
                  <a:pt x="33" y="186"/>
                </a:lnTo>
                <a:lnTo>
                  <a:pt x="16" y="188"/>
                </a:lnTo>
                <a:lnTo>
                  <a:pt x="0" y="189"/>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4695825"/>
            <a:ext cx="3743325" cy="657225"/>
          </a:xfrm>
          <a:custGeom>
            <a:avLst/>
            <a:gdLst/>
            <a:ahLst/>
            <a:cxnLst/>
            <a:rect l="l" t="t" r="r" b="b"/>
            <a:pathLst>
              <a:path w="393" h="69">
                <a:moveTo>
                  <a:pt x="0" y="0"/>
                </a:moveTo>
                <a:lnTo>
                  <a:pt x="16" y="0"/>
                </a:lnTo>
                <a:lnTo>
                  <a:pt x="33" y="1"/>
                </a:lnTo>
                <a:lnTo>
                  <a:pt x="49" y="2"/>
                </a:lnTo>
                <a:lnTo>
                  <a:pt x="65" y="3"/>
                </a:lnTo>
                <a:lnTo>
                  <a:pt x="82" y="5"/>
                </a:lnTo>
                <a:lnTo>
                  <a:pt x="98" y="7"/>
                </a:lnTo>
                <a:lnTo>
                  <a:pt x="114" y="9"/>
                </a:lnTo>
                <a:lnTo>
                  <a:pt x="131" y="12"/>
                </a:lnTo>
                <a:lnTo>
                  <a:pt x="147" y="14"/>
                </a:lnTo>
                <a:lnTo>
                  <a:pt x="164" y="17"/>
                </a:lnTo>
                <a:lnTo>
                  <a:pt x="180" y="20"/>
                </a:lnTo>
                <a:lnTo>
                  <a:pt x="196" y="23"/>
                </a:lnTo>
                <a:lnTo>
                  <a:pt x="213" y="26"/>
                </a:lnTo>
                <a:lnTo>
                  <a:pt x="229" y="28"/>
                </a:lnTo>
                <a:lnTo>
                  <a:pt x="246" y="31"/>
                </a:lnTo>
                <a:lnTo>
                  <a:pt x="262" y="34"/>
                </a:lnTo>
                <a:lnTo>
                  <a:pt x="278" y="36"/>
                </a:lnTo>
                <a:lnTo>
                  <a:pt x="295" y="39"/>
                </a:lnTo>
                <a:lnTo>
                  <a:pt x="311" y="41"/>
                </a:lnTo>
                <a:lnTo>
                  <a:pt x="327" y="42"/>
                </a:lnTo>
                <a:lnTo>
                  <a:pt x="344" y="44"/>
                </a:lnTo>
                <a:lnTo>
                  <a:pt x="360" y="45"/>
                </a:lnTo>
                <a:lnTo>
                  <a:pt x="377" y="45"/>
                </a:lnTo>
                <a:lnTo>
                  <a:pt x="393" y="46"/>
                </a:lnTo>
                <a:lnTo>
                  <a:pt x="393" y="69"/>
                </a:lnTo>
                <a:lnTo>
                  <a:pt x="377" y="69"/>
                </a:lnTo>
                <a:lnTo>
                  <a:pt x="360" y="68"/>
                </a:lnTo>
                <a:lnTo>
                  <a:pt x="344" y="67"/>
                </a:lnTo>
                <a:lnTo>
                  <a:pt x="327" y="66"/>
                </a:lnTo>
                <a:lnTo>
                  <a:pt x="311" y="64"/>
                </a:lnTo>
                <a:lnTo>
                  <a:pt x="295" y="62"/>
                </a:lnTo>
                <a:lnTo>
                  <a:pt x="278" y="60"/>
                </a:lnTo>
                <a:lnTo>
                  <a:pt x="262" y="57"/>
                </a:lnTo>
                <a:lnTo>
                  <a:pt x="246" y="54"/>
                </a:lnTo>
                <a:lnTo>
                  <a:pt x="229" y="52"/>
                </a:lnTo>
                <a:lnTo>
                  <a:pt x="213" y="49"/>
                </a:lnTo>
                <a:lnTo>
                  <a:pt x="196" y="46"/>
                </a:lnTo>
                <a:lnTo>
                  <a:pt x="180" y="43"/>
                </a:lnTo>
                <a:lnTo>
                  <a:pt x="164" y="40"/>
                </a:lnTo>
                <a:lnTo>
                  <a:pt x="147" y="38"/>
                </a:lnTo>
                <a:lnTo>
                  <a:pt x="131" y="35"/>
                </a:lnTo>
                <a:lnTo>
                  <a:pt x="114" y="33"/>
                </a:lnTo>
                <a:lnTo>
                  <a:pt x="98" y="30"/>
                </a:lnTo>
                <a:lnTo>
                  <a:pt x="82" y="28"/>
                </a:lnTo>
                <a:lnTo>
                  <a:pt x="65" y="27"/>
                </a:lnTo>
                <a:lnTo>
                  <a:pt x="49" y="25"/>
                </a:lnTo>
                <a:lnTo>
                  <a:pt x="33" y="24"/>
                </a:lnTo>
                <a:lnTo>
                  <a:pt x="16" y="23"/>
                </a:lnTo>
                <a:lnTo>
                  <a:pt x="0" y="23"/>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4914900"/>
            <a:ext cx="3743325" cy="1323975"/>
          </a:xfrm>
          <a:custGeom>
            <a:avLst/>
            <a:gdLst/>
            <a:ahLst/>
            <a:cxnLst/>
            <a:rect l="l" t="t" r="r" b="b"/>
            <a:pathLst>
              <a:path w="393" h="139">
                <a:moveTo>
                  <a:pt x="0" y="0"/>
                </a:moveTo>
                <a:lnTo>
                  <a:pt x="16" y="1"/>
                </a:lnTo>
                <a:lnTo>
                  <a:pt x="33" y="3"/>
                </a:lnTo>
                <a:lnTo>
                  <a:pt x="49" y="6"/>
                </a:lnTo>
                <a:lnTo>
                  <a:pt x="65" y="10"/>
                </a:lnTo>
                <a:lnTo>
                  <a:pt x="82" y="15"/>
                </a:lnTo>
                <a:lnTo>
                  <a:pt x="98" y="21"/>
                </a:lnTo>
                <a:lnTo>
                  <a:pt x="114" y="28"/>
                </a:lnTo>
                <a:lnTo>
                  <a:pt x="131" y="35"/>
                </a:lnTo>
                <a:lnTo>
                  <a:pt x="147" y="43"/>
                </a:lnTo>
                <a:lnTo>
                  <a:pt x="164" y="51"/>
                </a:lnTo>
                <a:lnTo>
                  <a:pt x="180" y="60"/>
                </a:lnTo>
                <a:lnTo>
                  <a:pt x="196" y="68"/>
                </a:lnTo>
                <a:lnTo>
                  <a:pt x="213" y="77"/>
                </a:lnTo>
                <a:lnTo>
                  <a:pt x="229" y="85"/>
                </a:lnTo>
                <a:lnTo>
                  <a:pt x="246" y="93"/>
                </a:lnTo>
                <a:lnTo>
                  <a:pt x="262" y="101"/>
                </a:lnTo>
                <a:lnTo>
                  <a:pt x="278" y="108"/>
                </a:lnTo>
                <a:lnTo>
                  <a:pt x="295" y="115"/>
                </a:lnTo>
                <a:lnTo>
                  <a:pt x="311" y="121"/>
                </a:lnTo>
                <a:lnTo>
                  <a:pt x="327" y="126"/>
                </a:lnTo>
                <a:lnTo>
                  <a:pt x="344" y="130"/>
                </a:lnTo>
                <a:lnTo>
                  <a:pt x="360" y="133"/>
                </a:lnTo>
                <a:lnTo>
                  <a:pt x="377" y="135"/>
                </a:lnTo>
                <a:lnTo>
                  <a:pt x="393" y="136"/>
                </a:lnTo>
                <a:lnTo>
                  <a:pt x="393" y="139"/>
                </a:lnTo>
                <a:lnTo>
                  <a:pt x="377" y="138"/>
                </a:lnTo>
                <a:lnTo>
                  <a:pt x="360" y="136"/>
                </a:lnTo>
                <a:lnTo>
                  <a:pt x="344" y="133"/>
                </a:lnTo>
                <a:lnTo>
                  <a:pt x="327" y="129"/>
                </a:lnTo>
                <a:lnTo>
                  <a:pt x="311" y="124"/>
                </a:lnTo>
                <a:lnTo>
                  <a:pt x="295" y="118"/>
                </a:lnTo>
                <a:lnTo>
                  <a:pt x="278" y="111"/>
                </a:lnTo>
                <a:lnTo>
                  <a:pt x="262" y="104"/>
                </a:lnTo>
                <a:lnTo>
                  <a:pt x="246" y="96"/>
                </a:lnTo>
                <a:lnTo>
                  <a:pt x="229" y="88"/>
                </a:lnTo>
                <a:lnTo>
                  <a:pt x="213" y="80"/>
                </a:lnTo>
                <a:lnTo>
                  <a:pt x="196" y="71"/>
                </a:lnTo>
                <a:lnTo>
                  <a:pt x="180" y="63"/>
                </a:lnTo>
                <a:lnTo>
                  <a:pt x="164" y="55"/>
                </a:lnTo>
                <a:lnTo>
                  <a:pt x="147" y="46"/>
                </a:lnTo>
                <a:lnTo>
                  <a:pt x="131" y="39"/>
                </a:lnTo>
                <a:lnTo>
                  <a:pt x="114" y="31"/>
                </a:lnTo>
                <a:lnTo>
                  <a:pt x="98" y="25"/>
                </a:lnTo>
                <a:lnTo>
                  <a:pt x="82" y="19"/>
                </a:lnTo>
                <a:lnTo>
                  <a:pt x="65" y="14"/>
                </a:lnTo>
                <a:lnTo>
                  <a:pt x="49" y="9"/>
                </a:lnTo>
                <a:lnTo>
                  <a:pt x="33" y="6"/>
                </a:lnTo>
                <a:lnTo>
                  <a:pt x="16" y="4"/>
                </a:lnTo>
                <a:lnTo>
                  <a:pt x="0" y="4"/>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3114675"/>
            <a:ext cx="3743325" cy="2124075"/>
          </a:xfrm>
          <a:custGeom>
            <a:avLst/>
            <a:gdLst/>
            <a:ahLst/>
            <a:cxnLst/>
            <a:rect l="l" t="t" r="r" b="b"/>
            <a:pathLst>
              <a:path w="393" h="223">
                <a:moveTo>
                  <a:pt x="0" y="199"/>
                </a:moveTo>
                <a:lnTo>
                  <a:pt x="16" y="197"/>
                </a:lnTo>
                <a:lnTo>
                  <a:pt x="33" y="195"/>
                </a:lnTo>
                <a:lnTo>
                  <a:pt x="49" y="190"/>
                </a:lnTo>
                <a:lnTo>
                  <a:pt x="65" y="184"/>
                </a:lnTo>
                <a:lnTo>
                  <a:pt x="82" y="176"/>
                </a:lnTo>
                <a:lnTo>
                  <a:pt x="98" y="167"/>
                </a:lnTo>
                <a:lnTo>
                  <a:pt x="114" y="158"/>
                </a:lnTo>
                <a:lnTo>
                  <a:pt x="131" y="147"/>
                </a:lnTo>
                <a:lnTo>
                  <a:pt x="147" y="136"/>
                </a:lnTo>
                <a:lnTo>
                  <a:pt x="164" y="124"/>
                </a:lnTo>
                <a:lnTo>
                  <a:pt x="180" y="111"/>
                </a:lnTo>
                <a:lnTo>
                  <a:pt x="196" y="99"/>
                </a:lnTo>
                <a:lnTo>
                  <a:pt x="213" y="87"/>
                </a:lnTo>
                <a:lnTo>
                  <a:pt x="229" y="74"/>
                </a:lnTo>
                <a:lnTo>
                  <a:pt x="246" y="63"/>
                </a:lnTo>
                <a:lnTo>
                  <a:pt x="262" y="51"/>
                </a:lnTo>
                <a:lnTo>
                  <a:pt x="278" y="40"/>
                </a:lnTo>
                <a:lnTo>
                  <a:pt x="295" y="31"/>
                </a:lnTo>
                <a:lnTo>
                  <a:pt x="311" y="22"/>
                </a:lnTo>
                <a:lnTo>
                  <a:pt x="327" y="14"/>
                </a:lnTo>
                <a:lnTo>
                  <a:pt x="344" y="8"/>
                </a:lnTo>
                <a:lnTo>
                  <a:pt x="360" y="3"/>
                </a:lnTo>
                <a:lnTo>
                  <a:pt x="377" y="1"/>
                </a:lnTo>
                <a:lnTo>
                  <a:pt x="393" y="0"/>
                </a:lnTo>
                <a:lnTo>
                  <a:pt x="393" y="24"/>
                </a:lnTo>
                <a:lnTo>
                  <a:pt x="377" y="25"/>
                </a:lnTo>
                <a:lnTo>
                  <a:pt x="360" y="28"/>
                </a:lnTo>
                <a:lnTo>
                  <a:pt x="344" y="32"/>
                </a:lnTo>
                <a:lnTo>
                  <a:pt x="327" y="39"/>
                </a:lnTo>
                <a:lnTo>
                  <a:pt x="311" y="46"/>
                </a:lnTo>
                <a:lnTo>
                  <a:pt x="295" y="55"/>
                </a:lnTo>
                <a:lnTo>
                  <a:pt x="278" y="65"/>
                </a:lnTo>
                <a:lnTo>
                  <a:pt x="262" y="75"/>
                </a:lnTo>
                <a:lnTo>
                  <a:pt x="246" y="87"/>
                </a:lnTo>
                <a:lnTo>
                  <a:pt x="229" y="99"/>
                </a:lnTo>
                <a:lnTo>
                  <a:pt x="213" y="111"/>
                </a:lnTo>
                <a:lnTo>
                  <a:pt x="196" y="123"/>
                </a:lnTo>
                <a:lnTo>
                  <a:pt x="180" y="136"/>
                </a:lnTo>
                <a:lnTo>
                  <a:pt x="164" y="148"/>
                </a:lnTo>
                <a:lnTo>
                  <a:pt x="147" y="160"/>
                </a:lnTo>
                <a:lnTo>
                  <a:pt x="131" y="171"/>
                </a:lnTo>
                <a:lnTo>
                  <a:pt x="114" y="182"/>
                </a:lnTo>
                <a:lnTo>
                  <a:pt x="98" y="192"/>
                </a:lnTo>
                <a:lnTo>
                  <a:pt x="82" y="200"/>
                </a:lnTo>
                <a:lnTo>
                  <a:pt x="65" y="208"/>
                </a:lnTo>
                <a:lnTo>
                  <a:pt x="49" y="214"/>
                </a:lnTo>
                <a:lnTo>
                  <a:pt x="33" y="219"/>
                </a:lnTo>
                <a:lnTo>
                  <a:pt x="16" y="222"/>
                </a:lnTo>
                <a:lnTo>
                  <a:pt x="0" y="223"/>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5238750"/>
            <a:ext cx="3743325" cy="323850"/>
          </a:xfrm>
          <a:custGeom>
            <a:avLst/>
            <a:gdLst/>
            <a:ahLst/>
            <a:cxnLst/>
            <a:rect l="l" t="t" r="r" b="b"/>
            <a:pathLst>
              <a:path w="393" h="34">
                <a:moveTo>
                  <a:pt x="0" y="0"/>
                </a:moveTo>
                <a:lnTo>
                  <a:pt x="16" y="0"/>
                </a:lnTo>
                <a:lnTo>
                  <a:pt x="33" y="0"/>
                </a:lnTo>
                <a:lnTo>
                  <a:pt x="49" y="0"/>
                </a:lnTo>
                <a:lnTo>
                  <a:pt x="65" y="1"/>
                </a:lnTo>
                <a:lnTo>
                  <a:pt x="82" y="1"/>
                </a:lnTo>
                <a:lnTo>
                  <a:pt x="98" y="2"/>
                </a:lnTo>
                <a:lnTo>
                  <a:pt x="114" y="2"/>
                </a:lnTo>
                <a:lnTo>
                  <a:pt x="131" y="3"/>
                </a:lnTo>
                <a:lnTo>
                  <a:pt x="147" y="4"/>
                </a:lnTo>
                <a:lnTo>
                  <a:pt x="164" y="4"/>
                </a:lnTo>
                <a:lnTo>
                  <a:pt x="180" y="5"/>
                </a:lnTo>
                <a:lnTo>
                  <a:pt x="196" y="6"/>
                </a:lnTo>
                <a:lnTo>
                  <a:pt x="213" y="7"/>
                </a:lnTo>
                <a:lnTo>
                  <a:pt x="229" y="7"/>
                </a:lnTo>
                <a:lnTo>
                  <a:pt x="246" y="8"/>
                </a:lnTo>
                <a:lnTo>
                  <a:pt x="262" y="9"/>
                </a:lnTo>
                <a:lnTo>
                  <a:pt x="278" y="9"/>
                </a:lnTo>
                <a:lnTo>
                  <a:pt x="295" y="10"/>
                </a:lnTo>
                <a:lnTo>
                  <a:pt x="311" y="11"/>
                </a:lnTo>
                <a:lnTo>
                  <a:pt x="327" y="11"/>
                </a:lnTo>
                <a:lnTo>
                  <a:pt x="344" y="11"/>
                </a:lnTo>
                <a:lnTo>
                  <a:pt x="360" y="12"/>
                </a:lnTo>
                <a:lnTo>
                  <a:pt x="377" y="12"/>
                </a:lnTo>
                <a:lnTo>
                  <a:pt x="393" y="12"/>
                </a:lnTo>
                <a:lnTo>
                  <a:pt x="393" y="34"/>
                </a:lnTo>
                <a:lnTo>
                  <a:pt x="377" y="34"/>
                </a:lnTo>
                <a:lnTo>
                  <a:pt x="360" y="34"/>
                </a:lnTo>
                <a:lnTo>
                  <a:pt x="344" y="33"/>
                </a:lnTo>
                <a:lnTo>
                  <a:pt x="327" y="33"/>
                </a:lnTo>
                <a:lnTo>
                  <a:pt x="311" y="32"/>
                </a:lnTo>
                <a:lnTo>
                  <a:pt x="295" y="32"/>
                </a:lnTo>
                <a:lnTo>
                  <a:pt x="278" y="31"/>
                </a:lnTo>
                <a:lnTo>
                  <a:pt x="262" y="31"/>
                </a:lnTo>
                <a:lnTo>
                  <a:pt x="246" y="30"/>
                </a:lnTo>
                <a:lnTo>
                  <a:pt x="229" y="29"/>
                </a:lnTo>
                <a:lnTo>
                  <a:pt x="213" y="29"/>
                </a:lnTo>
                <a:lnTo>
                  <a:pt x="196" y="28"/>
                </a:lnTo>
                <a:lnTo>
                  <a:pt x="180" y="27"/>
                </a:lnTo>
                <a:lnTo>
                  <a:pt x="164" y="26"/>
                </a:lnTo>
                <a:lnTo>
                  <a:pt x="147" y="26"/>
                </a:lnTo>
                <a:lnTo>
                  <a:pt x="131" y="25"/>
                </a:lnTo>
                <a:lnTo>
                  <a:pt x="114" y="24"/>
                </a:lnTo>
                <a:lnTo>
                  <a:pt x="98" y="24"/>
                </a:lnTo>
                <a:lnTo>
                  <a:pt x="82" y="23"/>
                </a:lnTo>
                <a:lnTo>
                  <a:pt x="65" y="23"/>
                </a:lnTo>
                <a:lnTo>
                  <a:pt x="49" y="22"/>
                </a:lnTo>
                <a:lnTo>
                  <a:pt x="33" y="22"/>
                </a:lnTo>
                <a:lnTo>
                  <a:pt x="16" y="22"/>
                </a:lnTo>
                <a:lnTo>
                  <a:pt x="0" y="22"/>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5448300"/>
            <a:ext cx="3743325" cy="819150"/>
          </a:xfrm>
          <a:custGeom>
            <a:avLst/>
            <a:gdLst/>
            <a:ahLst/>
            <a:cxnLst/>
            <a:rect l="l" t="t" r="r" b="b"/>
            <a:pathLst>
              <a:path w="393" h="86">
                <a:moveTo>
                  <a:pt x="0" y="0"/>
                </a:moveTo>
                <a:lnTo>
                  <a:pt x="16" y="0"/>
                </a:lnTo>
                <a:lnTo>
                  <a:pt x="33" y="1"/>
                </a:lnTo>
                <a:lnTo>
                  <a:pt x="49" y="3"/>
                </a:lnTo>
                <a:lnTo>
                  <a:pt x="65" y="6"/>
                </a:lnTo>
                <a:lnTo>
                  <a:pt x="82" y="9"/>
                </a:lnTo>
                <a:lnTo>
                  <a:pt x="98" y="13"/>
                </a:lnTo>
                <a:lnTo>
                  <a:pt x="114" y="17"/>
                </a:lnTo>
                <a:lnTo>
                  <a:pt x="131" y="21"/>
                </a:lnTo>
                <a:lnTo>
                  <a:pt x="147" y="26"/>
                </a:lnTo>
                <a:lnTo>
                  <a:pt x="164" y="31"/>
                </a:lnTo>
                <a:lnTo>
                  <a:pt x="180" y="36"/>
                </a:lnTo>
                <a:lnTo>
                  <a:pt x="196" y="41"/>
                </a:lnTo>
                <a:lnTo>
                  <a:pt x="213" y="47"/>
                </a:lnTo>
                <a:lnTo>
                  <a:pt x="229" y="52"/>
                </a:lnTo>
                <a:lnTo>
                  <a:pt x="246" y="57"/>
                </a:lnTo>
                <a:lnTo>
                  <a:pt x="262" y="61"/>
                </a:lnTo>
                <a:lnTo>
                  <a:pt x="278" y="66"/>
                </a:lnTo>
                <a:lnTo>
                  <a:pt x="295" y="70"/>
                </a:lnTo>
                <a:lnTo>
                  <a:pt x="311" y="74"/>
                </a:lnTo>
                <a:lnTo>
                  <a:pt x="327" y="77"/>
                </a:lnTo>
                <a:lnTo>
                  <a:pt x="344" y="80"/>
                </a:lnTo>
                <a:lnTo>
                  <a:pt x="360" y="81"/>
                </a:lnTo>
                <a:lnTo>
                  <a:pt x="377" y="83"/>
                </a:lnTo>
                <a:lnTo>
                  <a:pt x="393" y="83"/>
                </a:lnTo>
                <a:lnTo>
                  <a:pt x="393" y="86"/>
                </a:lnTo>
                <a:lnTo>
                  <a:pt x="377" y="86"/>
                </a:lnTo>
                <a:lnTo>
                  <a:pt x="360" y="85"/>
                </a:lnTo>
                <a:lnTo>
                  <a:pt x="344" y="83"/>
                </a:lnTo>
                <a:lnTo>
                  <a:pt x="327" y="80"/>
                </a:lnTo>
                <a:lnTo>
                  <a:pt x="311" y="77"/>
                </a:lnTo>
                <a:lnTo>
                  <a:pt x="295" y="73"/>
                </a:lnTo>
                <a:lnTo>
                  <a:pt x="278" y="69"/>
                </a:lnTo>
                <a:lnTo>
                  <a:pt x="262" y="65"/>
                </a:lnTo>
                <a:lnTo>
                  <a:pt x="246" y="60"/>
                </a:lnTo>
                <a:lnTo>
                  <a:pt x="229" y="55"/>
                </a:lnTo>
                <a:lnTo>
                  <a:pt x="213" y="50"/>
                </a:lnTo>
                <a:lnTo>
                  <a:pt x="196" y="45"/>
                </a:lnTo>
                <a:lnTo>
                  <a:pt x="180" y="40"/>
                </a:lnTo>
                <a:lnTo>
                  <a:pt x="164" y="34"/>
                </a:lnTo>
                <a:lnTo>
                  <a:pt x="147" y="29"/>
                </a:lnTo>
                <a:lnTo>
                  <a:pt x="131" y="25"/>
                </a:lnTo>
                <a:lnTo>
                  <a:pt x="114" y="20"/>
                </a:lnTo>
                <a:lnTo>
                  <a:pt x="98" y="16"/>
                </a:lnTo>
                <a:lnTo>
                  <a:pt x="82" y="12"/>
                </a:lnTo>
                <a:lnTo>
                  <a:pt x="65" y="9"/>
                </a:lnTo>
                <a:lnTo>
                  <a:pt x="49" y="7"/>
                </a:lnTo>
                <a:lnTo>
                  <a:pt x="33" y="5"/>
                </a:lnTo>
                <a:lnTo>
                  <a:pt x="16" y="3"/>
                </a:lnTo>
                <a:lnTo>
                  <a:pt x="0" y="3"/>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3343275"/>
            <a:ext cx="3743325" cy="2428875"/>
          </a:xfrm>
          <a:custGeom>
            <a:avLst/>
            <a:gdLst/>
            <a:ahLst/>
            <a:cxnLst/>
            <a:rect l="l" t="t" r="r" b="b"/>
            <a:pathLst>
              <a:path w="393" h="255">
                <a:moveTo>
                  <a:pt x="0" y="230"/>
                </a:moveTo>
                <a:lnTo>
                  <a:pt x="16" y="229"/>
                </a:lnTo>
                <a:lnTo>
                  <a:pt x="33" y="225"/>
                </a:lnTo>
                <a:lnTo>
                  <a:pt x="49" y="220"/>
                </a:lnTo>
                <a:lnTo>
                  <a:pt x="65" y="213"/>
                </a:lnTo>
                <a:lnTo>
                  <a:pt x="82" y="204"/>
                </a:lnTo>
                <a:lnTo>
                  <a:pt x="98" y="194"/>
                </a:lnTo>
                <a:lnTo>
                  <a:pt x="114" y="183"/>
                </a:lnTo>
                <a:lnTo>
                  <a:pt x="131" y="170"/>
                </a:lnTo>
                <a:lnTo>
                  <a:pt x="147" y="157"/>
                </a:lnTo>
                <a:lnTo>
                  <a:pt x="164" y="143"/>
                </a:lnTo>
                <a:lnTo>
                  <a:pt x="180" y="129"/>
                </a:lnTo>
                <a:lnTo>
                  <a:pt x="196" y="115"/>
                </a:lnTo>
                <a:lnTo>
                  <a:pt x="213" y="101"/>
                </a:lnTo>
                <a:lnTo>
                  <a:pt x="229" y="86"/>
                </a:lnTo>
                <a:lnTo>
                  <a:pt x="246" y="73"/>
                </a:lnTo>
                <a:lnTo>
                  <a:pt x="262" y="59"/>
                </a:lnTo>
                <a:lnTo>
                  <a:pt x="278" y="47"/>
                </a:lnTo>
                <a:lnTo>
                  <a:pt x="295" y="36"/>
                </a:lnTo>
                <a:lnTo>
                  <a:pt x="311" y="26"/>
                </a:lnTo>
                <a:lnTo>
                  <a:pt x="327" y="17"/>
                </a:lnTo>
                <a:lnTo>
                  <a:pt x="344" y="10"/>
                </a:lnTo>
                <a:lnTo>
                  <a:pt x="360" y="4"/>
                </a:lnTo>
                <a:lnTo>
                  <a:pt x="377" y="1"/>
                </a:lnTo>
                <a:lnTo>
                  <a:pt x="393" y="0"/>
                </a:lnTo>
                <a:lnTo>
                  <a:pt x="393" y="24"/>
                </a:lnTo>
                <a:lnTo>
                  <a:pt x="377" y="26"/>
                </a:lnTo>
                <a:lnTo>
                  <a:pt x="360" y="29"/>
                </a:lnTo>
                <a:lnTo>
                  <a:pt x="344" y="34"/>
                </a:lnTo>
                <a:lnTo>
                  <a:pt x="327" y="41"/>
                </a:lnTo>
                <a:lnTo>
                  <a:pt x="311" y="50"/>
                </a:lnTo>
                <a:lnTo>
                  <a:pt x="295" y="60"/>
                </a:lnTo>
                <a:lnTo>
                  <a:pt x="278" y="72"/>
                </a:lnTo>
                <a:lnTo>
                  <a:pt x="262" y="84"/>
                </a:lnTo>
                <a:lnTo>
                  <a:pt x="246" y="97"/>
                </a:lnTo>
                <a:lnTo>
                  <a:pt x="229" y="111"/>
                </a:lnTo>
                <a:lnTo>
                  <a:pt x="213" y="125"/>
                </a:lnTo>
                <a:lnTo>
                  <a:pt x="196" y="139"/>
                </a:lnTo>
                <a:lnTo>
                  <a:pt x="180" y="154"/>
                </a:lnTo>
                <a:lnTo>
                  <a:pt x="164" y="168"/>
                </a:lnTo>
                <a:lnTo>
                  <a:pt x="147" y="182"/>
                </a:lnTo>
                <a:lnTo>
                  <a:pt x="131" y="195"/>
                </a:lnTo>
                <a:lnTo>
                  <a:pt x="114" y="207"/>
                </a:lnTo>
                <a:lnTo>
                  <a:pt x="98" y="219"/>
                </a:lnTo>
                <a:lnTo>
                  <a:pt x="82" y="229"/>
                </a:lnTo>
                <a:lnTo>
                  <a:pt x="65" y="237"/>
                </a:lnTo>
                <a:lnTo>
                  <a:pt x="49" y="245"/>
                </a:lnTo>
                <a:lnTo>
                  <a:pt x="33" y="250"/>
                </a:lnTo>
                <a:lnTo>
                  <a:pt x="16" y="253"/>
                </a:lnTo>
                <a:lnTo>
                  <a:pt x="0" y="255"/>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5562600"/>
            <a:ext cx="3743325" cy="409575"/>
          </a:xfrm>
          <a:custGeom>
            <a:avLst/>
            <a:gdLst/>
            <a:ahLst/>
            <a:cxnLst/>
            <a:rect l="l" t="t" r="r" b="b"/>
            <a:pathLst>
              <a:path w="393" h="43">
                <a:moveTo>
                  <a:pt x="0" y="22"/>
                </a:moveTo>
                <a:lnTo>
                  <a:pt x="16" y="21"/>
                </a:lnTo>
                <a:lnTo>
                  <a:pt x="33" y="21"/>
                </a:lnTo>
                <a:lnTo>
                  <a:pt x="49" y="21"/>
                </a:lnTo>
                <a:lnTo>
                  <a:pt x="65" y="20"/>
                </a:lnTo>
                <a:lnTo>
                  <a:pt x="82" y="19"/>
                </a:lnTo>
                <a:lnTo>
                  <a:pt x="98" y="18"/>
                </a:lnTo>
                <a:lnTo>
                  <a:pt x="114" y="17"/>
                </a:lnTo>
                <a:lnTo>
                  <a:pt x="131" y="16"/>
                </a:lnTo>
                <a:lnTo>
                  <a:pt x="147" y="15"/>
                </a:lnTo>
                <a:lnTo>
                  <a:pt x="164" y="13"/>
                </a:lnTo>
                <a:lnTo>
                  <a:pt x="180" y="12"/>
                </a:lnTo>
                <a:lnTo>
                  <a:pt x="196" y="11"/>
                </a:lnTo>
                <a:lnTo>
                  <a:pt x="213" y="9"/>
                </a:lnTo>
                <a:lnTo>
                  <a:pt x="229" y="8"/>
                </a:lnTo>
                <a:lnTo>
                  <a:pt x="246" y="7"/>
                </a:lnTo>
                <a:lnTo>
                  <a:pt x="262" y="5"/>
                </a:lnTo>
                <a:lnTo>
                  <a:pt x="278" y="4"/>
                </a:lnTo>
                <a:lnTo>
                  <a:pt x="295" y="3"/>
                </a:lnTo>
                <a:lnTo>
                  <a:pt x="311" y="2"/>
                </a:lnTo>
                <a:lnTo>
                  <a:pt x="327" y="1"/>
                </a:lnTo>
                <a:lnTo>
                  <a:pt x="344" y="1"/>
                </a:lnTo>
                <a:lnTo>
                  <a:pt x="360" y="0"/>
                </a:lnTo>
                <a:lnTo>
                  <a:pt x="377" y="0"/>
                </a:lnTo>
                <a:lnTo>
                  <a:pt x="393" y="0"/>
                </a:lnTo>
                <a:lnTo>
                  <a:pt x="393" y="22"/>
                </a:lnTo>
                <a:lnTo>
                  <a:pt x="377" y="22"/>
                </a:lnTo>
                <a:lnTo>
                  <a:pt x="360" y="22"/>
                </a:lnTo>
                <a:lnTo>
                  <a:pt x="344" y="23"/>
                </a:lnTo>
                <a:lnTo>
                  <a:pt x="327" y="23"/>
                </a:lnTo>
                <a:lnTo>
                  <a:pt x="311" y="24"/>
                </a:lnTo>
                <a:lnTo>
                  <a:pt x="295" y="25"/>
                </a:lnTo>
                <a:lnTo>
                  <a:pt x="278" y="26"/>
                </a:lnTo>
                <a:lnTo>
                  <a:pt x="262" y="27"/>
                </a:lnTo>
                <a:lnTo>
                  <a:pt x="246" y="28"/>
                </a:lnTo>
                <a:lnTo>
                  <a:pt x="229" y="30"/>
                </a:lnTo>
                <a:lnTo>
                  <a:pt x="213" y="31"/>
                </a:lnTo>
                <a:lnTo>
                  <a:pt x="196" y="32"/>
                </a:lnTo>
                <a:lnTo>
                  <a:pt x="180" y="34"/>
                </a:lnTo>
                <a:lnTo>
                  <a:pt x="164" y="35"/>
                </a:lnTo>
                <a:lnTo>
                  <a:pt x="147" y="36"/>
                </a:lnTo>
                <a:lnTo>
                  <a:pt x="131" y="38"/>
                </a:lnTo>
                <a:lnTo>
                  <a:pt x="114" y="39"/>
                </a:lnTo>
                <a:lnTo>
                  <a:pt x="98" y="40"/>
                </a:lnTo>
                <a:lnTo>
                  <a:pt x="82" y="41"/>
                </a:lnTo>
                <a:lnTo>
                  <a:pt x="65" y="42"/>
                </a:lnTo>
                <a:lnTo>
                  <a:pt x="49" y="42"/>
                </a:lnTo>
                <a:lnTo>
                  <a:pt x="33" y="43"/>
                </a:lnTo>
                <a:lnTo>
                  <a:pt x="16" y="43"/>
                </a:lnTo>
                <a:lnTo>
                  <a:pt x="0" y="43"/>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5972175"/>
            <a:ext cx="3743325" cy="333375"/>
          </a:xfrm>
          <a:custGeom>
            <a:avLst/>
            <a:gdLst/>
            <a:ahLst/>
            <a:cxnLst/>
            <a:rect l="l" t="t" r="r" b="b"/>
            <a:pathLst>
              <a:path w="393" h="35">
                <a:moveTo>
                  <a:pt x="0" y="0"/>
                </a:moveTo>
                <a:lnTo>
                  <a:pt x="16" y="0"/>
                </a:lnTo>
                <a:lnTo>
                  <a:pt x="33" y="1"/>
                </a:lnTo>
                <a:lnTo>
                  <a:pt x="49" y="2"/>
                </a:lnTo>
                <a:lnTo>
                  <a:pt x="65" y="3"/>
                </a:lnTo>
                <a:lnTo>
                  <a:pt x="82" y="4"/>
                </a:lnTo>
                <a:lnTo>
                  <a:pt x="98" y="5"/>
                </a:lnTo>
                <a:lnTo>
                  <a:pt x="114" y="7"/>
                </a:lnTo>
                <a:lnTo>
                  <a:pt x="131" y="8"/>
                </a:lnTo>
                <a:lnTo>
                  <a:pt x="147" y="10"/>
                </a:lnTo>
                <a:lnTo>
                  <a:pt x="164" y="12"/>
                </a:lnTo>
                <a:lnTo>
                  <a:pt x="180" y="14"/>
                </a:lnTo>
                <a:lnTo>
                  <a:pt x="196" y="16"/>
                </a:lnTo>
                <a:lnTo>
                  <a:pt x="213" y="18"/>
                </a:lnTo>
                <a:lnTo>
                  <a:pt x="229" y="20"/>
                </a:lnTo>
                <a:lnTo>
                  <a:pt x="246" y="22"/>
                </a:lnTo>
                <a:lnTo>
                  <a:pt x="262" y="23"/>
                </a:lnTo>
                <a:lnTo>
                  <a:pt x="278" y="25"/>
                </a:lnTo>
                <a:lnTo>
                  <a:pt x="295" y="27"/>
                </a:lnTo>
                <a:lnTo>
                  <a:pt x="311" y="28"/>
                </a:lnTo>
                <a:lnTo>
                  <a:pt x="327" y="29"/>
                </a:lnTo>
                <a:lnTo>
                  <a:pt x="344" y="30"/>
                </a:lnTo>
                <a:lnTo>
                  <a:pt x="360" y="31"/>
                </a:lnTo>
                <a:lnTo>
                  <a:pt x="377" y="31"/>
                </a:lnTo>
                <a:lnTo>
                  <a:pt x="393" y="31"/>
                </a:lnTo>
                <a:lnTo>
                  <a:pt x="393" y="35"/>
                </a:lnTo>
                <a:lnTo>
                  <a:pt x="377" y="34"/>
                </a:lnTo>
                <a:lnTo>
                  <a:pt x="360" y="34"/>
                </a:lnTo>
                <a:lnTo>
                  <a:pt x="344" y="33"/>
                </a:lnTo>
                <a:lnTo>
                  <a:pt x="327" y="32"/>
                </a:lnTo>
                <a:lnTo>
                  <a:pt x="311" y="31"/>
                </a:lnTo>
                <a:lnTo>
                  <a:pt x="295" y="30"/>
                </a:lnTo>
                <a:lnTo>
                  <a:pt x="278" y="28"/>
                </a:lnTo>
                <a:lnTo>
                  <a:pt x="262" y="27"/>
                </a:lnTo>
                <a:lnTo>
                  <a:pt x="246" y="25"/>
                </a:lnTo>
                <a:lnTo>
                  <a:pt x="229" y="23"/>
                </a:lnTo>
                <a:lnTo>
                  <a:pt x="213" y="21"/>
                </a:lnTo>
                <a:lnTo>
                  <a:pt x="196" y="19"/>
                </a:lnTo>
                <a:lnTo>
                  <a:pt x="180" y="17"/>
                </a:lnTo>
                <a:lnTo>
                  <a:pt x="164" y="15"/>
                </a:lnTo>
                <a:lnTo>
                  <a:pt x="147" y="13"/>
                </a:lnTo>
                <a:lnTo>
                  <a:pt x="131" y="12"/>
                </a:lnTo>
                <a:lnTo>
                  <a:pt x="114" y="10"/>
                </a:lnTo>
                <a:lnTo>
                  <a:pt x="98" y="8"/>
                </a:lnTo>
                <a:lnTo>
                  <a:pt x="82" y="7"/>
                </a:lnTo>
                <a:lnTo>
                  <a:pt x="65" y="6"/>
                </a:lnTo>
                <a:lnTo>
                  <a:pt x="49" y="5"/>
                </a:lnTo>
                <a:lnTo>
                  <a:pt x="33" y="4"/>
                </a:lnTo>
                <a:lnTo>
                  <a:pt x="16" y="4"/>
                </a:lnTo>
                <a:lnTo>
                  <a:pt x="0" y="4"/>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3571875"/>
            <a:ext cx="3743325" cy="2733675"/>
          </a:xfrm>
          <a:custGeom>
            <a:avLst/>
            <a:gdLst/>
            <a:ahLst/>
            <a:cxnLst/>
            <a:rect l="l" t="t" r="r" b="b"/>
            <a:pathLst>
              <a:path w="393" h="287">
                <a:moveTo>
                  <a:pt x="0" y="262"/>
                </a:moveTo>
                <a:lnTo>
                  <a:pt x="16" y="260"/>
                </a:lnTo>
                <a:lnTo>
                  <a:pt x="33" y="256"/>
                </a:lnTo>
                <a:lnTo>
                  <a:pt x="49" y="250"/>
                </a:lnTo>
                <a:lnTo>
                  <a:pt x="65" y="242"/>
                </a:lnTo>
                <a:lnTo>
                  <a:pt x="82" y="232"/>
                </a:lnTo>
                <a:lnTo>
                  <a:pt x="98" y="221"/>
                </a:lnTo>
                <a:lnTo>
                  <a:pt x="114" y="208"/>
                </a:lnTo>
                <a:lnTo>
                  <a:pt x="131" y="194"/>
                </a:lnTo>
                <a:lnTo>
                  <a:pt x="147" y="179"/>
                </a:lnTo>
                <a:lnTo>
                  <a:pt x="164" y="163"/>
                </a:lnTo>
                <a:lnTo>
                  <a:pt x="180" y="147"/>
                </a:lnTo>
                <a:lnTo>
                  <a:pt x="196" y="131"/>
                </a:lnTo>
                <a:lnTo>
                  <a:pt x="213" y="115"/>
                </a:lnTo>
                <a:lnTo>
                  <a:pt x="229" y="99"/>
                </a:lnTo>
                <a:lnTo>
                  <a:pt x="246" y="83"/>
                </a:lnTo>
                <a:lnTo>
                  <a:pt x="262" y="68"/>
                </a:lnTo>
                <a:lnTo>
                  <a:pt x="278" y="54"/>
                </a:lnTo>
                <a:lnTo>
                  <a:pt x="295" y="41"/>
                </a:lnTo>
                <a:lnTo>
                  <a:pt x="311" y="30"/>
                </a:lnTo>
                <a:lnTo>
                  <a:pt x="327" y="20"/>
                </a:lnTo>
                <a:lnTo>
                  <a:pt x="344" y="12"/>
                </a:lnTo>
                <a:lnTo>
                  <a:pt x="360" y="5"/>
                </a:lnTo>
                <a:lnTo>
                  <a:pt x="377" y="2"/>
                </a:lnTo>
                <a:lnTo>
                  <a:pt x="393" y="0"/>
                </a:lnTo>
                <a:lnTo>
                  <a:pt x="393" y="25"/>
                </a:lnTo>
                <a:lnTo>
                  <a:pt x="377" y="27"/>
                </a:lnTo>
                <a:lnTo>
                  <a:pt x="360" y="31"/>
                </a:lnTo>
                <a:lnTo>
                  <a:pt x="344" y="37"/>
                </a:lnTo>
                <a:lnTo>
                  <a:pt x="327" y="45"/>
                </a:lnTo>
                <a:lnTo>
                  <a:pt x="311" y="55"/>
                </a:lnTo>
                <a:lnTo>
                  <a:pt x="295" y="66"/>
                </a:lnTo>
                <a:lnTo>
                  <a:pt x="278" y="79"/>
                </a:lnTo>
                <a:lnTo>
                  <a:pt x="262" y="93"/>
                </a:lnTo>
                <a:lnTo>
                  <a:pt x="246" y="108"/>
                </a:lnTo>
                <a:lnTo>
                  <a:pt x="229" y="124"/>
                </a:lnTo>
                <a:lnTo>
                  <a:pt x="213" y="140"/>
                </a:lnTo>
                <a:lnTo>
                  <a:pt x="196" y="156"/>
                </a:lnTo>
                <a:lnTo>
                  <a:pt x="180" y="172"/>
                </a:lnTo>
                <a:lnTo>
                  <a:pt x="164" y="188"/>
                </a:lnTo>
                <a:lnTo>
                  <a:pt x="147" y="204"/>
                </a:lnTo>
                <a:lnTo>
                  <a:pt x="131" y="219"/>
                </a:lnTo>
                <a:lnTo>
                  <a:pt x="114" y="233"/>
                </a:lnTo>
                <a:lnTo>
                  <a:pt x="98" y="246"/>
                </a:lnTo>
                <a:lnTo>
                  <a:pt x="82" y="257"/>
                </a:lnTo>
                <a:lnTo>
                  <a:pt x="65" y="267"/>
                </a:lnTo>
                <a:lnTo>
                  <a:pt x="49" y="275"/>
                </a:lnTo>
                <a:lnTo>
                  <a:pt x="33" y="281"/>
                </a:lnTo>
                <a:lnTo>
                  <a:pt x="16" y="285"/>
                </a:lnTo>
                <a:lnTo>
                  <a:pt x="0" y="287"/>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5772150"/>
            <a:ext cx="3743325" cy="733425"/>
          </a:xfrm>
          <a:custGeom>
            <a:avLst/>
            <a:gdLst/>
            <a:ahLst/>
            <a:cxnLst/>
            <a:rect l="l" t="t" r="r" b="b"/>
            <a:pathLst>
              <a:path w="393" h="77">
                <a:moveTo>
                  <a:pt x="0" y="56"/>
                </a:moveTo>
                <a:lnTo>
                  <a:pt x="16" y="55"/>
                </a:lnTo>
                <a:lnTo>
                  <a:pt x="33" y="55"/>
                </a:lnTo>
                <a:lnTo>
                  <a:pt x="49" y="53"/>
                </a:lnTo>
                <a:lnTo>
                  <a:pt x="65" y="51"/>
                </a:lnTo>
                <a:lnTo>
                  <a:pt x="82" y="49"/>
                </a:lnTo>
                <a:lnTo>
                  <a:pt x="98" y="47"/>
                </a:lnTo>
                <a:lnTo>
                  <a:pt x="114" y="44"/>
                </a:lnTo>
                <a:lnTo>
                  <a:pt x="131" y="41"/>
                </a:lnTo>
                <a:lnTo>
                  <a:pt x="147" y="38"/>
                </a:lnTo>
                <a:lnTo>
                  <a:pt x="164" y="35"/>
                </a:lnTo>
                <a:lnTo>
                  <a:pt x="180" y="31"/>
                </a:lnTo>
                <a:lnTo>
                  <a:pt x="196" y="28"/>
                </a:lnTo>
                <a:lnTo>
                  <a:pt x="213" y="24"/>
                </a:lnTo>
                <a:lnTo>
                  <a:pt x="229" y="21"/>
                </a:lnTo>
                <a:lnTo>
                  <a:pt x="246" y="17"/>
                </a:lnTo>
                <a:lnTo>
                  <a:pt x="262" y="14"/>
                </a:lnTo>
                <a:lnTo>
                  <a:pt x="278" y="11"/>
                </a:lnTo>
                <a:lnTo>
                  <a:pt x="295" y="8"/>
                </a:lnTo>
                <a:lnTo>
                  <a:pt x="311" y="6"/>
                </a:lnTo>
                <a:lnTo>
                  <a:pt x="327" y="4"/>
                </a:lnTo>
                <a:lnTo>
                  <a:pt x="344" y="2"/>
                </a:lnTo>
                <a:lnTo>
                  <a:pt x="360" y="1"/>
                </a:lnTo>
                <a:lnTo>
                  <a:pt x="377" y="0"/>
                </a:lnTo>
                <a:lnTo>
                  <a:pt x="393" y="0"/>
                </a:lnTo>
                <a:lnTo>
                  <a:pt x="393" y="21"/>
                </a:lnTo>
                <a:lnTo>
                  <a:pt x="377" y="21"/>
                </a:lnTo>
                <a:lnTo>
                  <a:pt x="360" y="22"/>
                </a:lnTo>
                <a:lnTo>
                  <a:pt x="344" y="23"/>
                </a:lnTo>
                <a:lnTo>
                  <a:pt x="327" y="25"/>
                </a:lnTo>
                <a:lnTo>
                  <a:pt x="311" y="27"/>
                </a:lnTo>
                <a:lnTo>
                  <a:pt x="295" y="29"/>
                </a:lnTo>
                <a:lnTo>
                  <a:pt x="278" y="32"/>
                </a:lnTo>
                <a:lnTo>
                  <a:pt x="262" y="35"/>
                </a:lnTo>
                <a:lnTo>
                  <a:pt x="246" y="38"/>
                </a:lnTo>
                <a:lnTo>
                  <a:pt x="229" y="42"/>
                </a:lnTo>
                <a:lnTo>
                  <a:pt x="213" y="45"/>
                </a:lnTo>
                <a:lnTo>
                  <a:pt x="196" y="49"/>
                </a:lnTo>
                <a:lnTo>
                  <a:pt x="180" y="52"/>
                </a:lnTo>
                <a:lnTo>
                  <a:pt x="164" y="56"/>
                </a:lnTo>
                <a:lnTo>
                  <a:pt x="147" y="59"/>
                </a:lnTo>
                <a:lnTo>
                  <a:pt x="131" y="62"/>
                </a:lnTo>
                <a:lnTo>
                  <a:pt x="114" y="65"/>
                </a:lnTo>
                <a:lnTo>
                  <a:pt x="98" y="68"/>
                </a:lnTo>
                <a:lnTo>
                  <a:pt x="82" y="70"/>
                </a:lnTo>
                <a:lnTo>
                  <a:pt x="65" y="72"/>
                </a:lnTo>
                <a:lnTo>
                  <a:pt x="49" y="74"/>
                </a:lnTo>
                <a:lnTo>
                  <a:pt x="33" y="76"/>
                </a:lnTo>
                <a:lnTo>
                  <a:pt x="16" y="76"/>
                </a:lnTo>
                <a:lnTo>
                  <a:pt x="0" y="77"/>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6305550"/>
            <a:ext cx="3743325" cy="228600"/>
          </a:xfrm>
          <a:custGeom>
            <a:avLst/>
            <a:gdLst/>
            <a:ahLst/>
            <a:cxnLst/>
            <a:rect l="l" t="t" r="r" b="b"/>
            <a:pathLst>
              <a:path w="393" h="24">
                <a:moveTo>
                  <a:pt x="0" y="21"/>
                </a:moveTo>
                <a:lnTo>
                  <a:pt x="16" y="21"/>
                </a:lnTo>
                <a:lnTo>
                  <a:pt x="33" y="20"/>
                </a:lnTo>
                <a:lnTo>
                  <a:pt x="49" y="20"/>
                </a:lnTo>
                <a:lnTo>
                  <a:pt x="65" y="19"/>
                </a:lnTo>
                <a:lnTo>
                  <a:pt x="82" y="18"/>
                </a:lnTo>
                <a:lnTo>
                  <a:pt x="98" y="17"/>
                </a:lnTo>
                <a:lnTo>
                  <a:pt x="114" y="16"/>
                </a:lnTo>
                <a:lnTo>
                  <a:pt x="131" y="15"/>
                </a:lnTo>
                <a:lnTo>
                  <a:pt x="147" y="14"/>
                </a:lnTo>
                <a:lnTo>
                  <a:pt x="164" y="13"/>
                </a:lnTo>
                <a:lnTo>
                  <a:pt x="180" y="11"/>
                </a:lnTo>
                <a:lnTo>
                  <a:pt x="196" y="10"/>
                </a:lnTo>
                <a:lnTo>
                  <a:pt x="213" y="9"/>
                </a:lnTo>
                <a:lnTo>
                  <a:pt x="229" y="8"/>
                </a:lnTo>
                <a:lnTo>
                  <a:pt x="246" y="6"/>
                </a:lnTo>
                <a:lnTo>
                  <a:pt x="262" y="5"/>
                </a:lnTo>
                <a:lnTo>
                  <a:pt x="278" y="4"/>
                </a:lnTo>
                <a:lnTo>
                  <a:pt x="295" y="3"/>
                </a:lnTo>
                <a:lnTo>
                  <a:pt x="311" y="2"/>
                </a:lnTo>
                <a:lnTo>
                  <a:pt x="327" y="1"/>
                </a:lnTo>
                <a:lnTo>
                  <a:pt x="344" y="1"/>
                </a:lnTo>
                <a:lnTo>
                  <a:pt x="360" y="0"/>
                </a:lnTo>
                <a:lnTo>
                  <a:pt x="377" y="0"/>
                </a:lnTo>
                <a:lnTo>
                  <a:pt x="393" y="0"/>
                </a:lnTo>
                <a:lnTo>
                  <a:pt x="393" y="3"/>
                </a:lnTo>
                <a:lnTo>
                  <a:pt x="377" y="3"/>
                </a:lnTo>
                <a:lnTo>
                  <a:pt x="360" y="3"/>
                </a:lnTo>
                <a:lnTo>
                  <a:pt x="344" y="4"/>
                </a:lnTo>
                <a:lnTo>
                  <a:pt x="327" y="5"/>
                </a:lnTo>
                <a:lnTo>
                  <a:pt x="311" y="5"/>
                </a:lnTo>
                <a:lnTo>
                  <a:pt x="295" y="6"/>
                </a:lnTo>
                <a:lnTo>
                  <a:pt x="278" y="7"/>
                </a:lnTo>
                <a:lnTo>
                  <a:pt x="262" y="8"/>
                </a:lnTo>
                <a:lnTo>
                  <a:pt x="246" y="10"/>
                </a:lnTo>
                <a:lnTo>
                  <a:pt x="229" y="11"/>
                </a:lnTo>
                <a:lnTo>
                  <a:pt x="213" y="12"/>
                </a:lnTo>
                <a:lnTo>
                  <a:pt x="196" y="14"/>
                </a:lnTo>
                <a:lnTo>
                  <a:pt x="180" y="15"/>
                </a:lnTo>
                <a:lnTo>
                  <a:pt x="164" y="16"/>
                </a:lnTo>
                <a:lnTo>
                  <a:pt x="147" y="17"/>
                </a:lnTo>
                <a:lnTo>
                  <a:pt x="131" y="19"/>
                </a:lnTo>
                <a:lnTo>
                  <a:pt x="114" y="20"/>
                </a:lnTo>
                <a:lnTo>
                  <a:pt x="98" y="21"/>
                </a:lnTo>
                <a:lnTo>
                  <a:pt x="82" y="22"/>
                </a:lnTo>
                <a:lnTo>
                  <a:pt x="65" y="22"/>
                </a:lnTo>
                <a:lnTo>
                  <a:pt x="49" y="23"/>
                </a:lnTo>
                <a:lnTo>
                  <a:pt x="33" y="24"/>
                </a:lnTo>
                <a:lnTo>
                  <a:pt x="16" y="24"/>
                </a:lnTo>
                <a:lnTo>
                  <a:pt x="0" y="24"/>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41195" y="1304925"/>
            <a:ext cx="114300" cy="471494"/>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7175" y="1304925"/>
            <a:ext cx="1626870" cy="471494"/>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Rectangle 43"/>
          <p:cNvSpPr/>
          <p:nvPr/>
        </p:nvSpPr>
        <p:spPr>
          <a:xfrm>
            <a:off x="1941195" y="1833569"/>
            <a:ext cx="114300" cy="471492"/>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7175" y="1833569"/>
            <a:ext cx="1626870" cy="471492"/>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Rectangle 45"/>
          <p:cNvSpPr/>
          <p:nvPr/>
        </p:nvSpPr>
        <p:spPr>
          <a:xfrm>
            <a:off x="1941195" y="2362211"/>
            <a:ext cx="114300" cy="4714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7175" y="2362211"/>
            <a:ext cx="1626870" cy="471491"/>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Rectangle 47"/>
          <p:cNvSpPr/>
          <p:nvPr/>
        </p:nvSpPr>
        <p:spPr>
          <a:xfrm>
            <a:off x="1941195" y="2890852"/>
            <a:ext cx="114300" cy="471490"/>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7175" y="2890852"/>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Rectangle 49"/>
          <p:cNvSpPr/>
          <p:nvPr/>
        </p:nvSpPr>
        <p:spPr>
          <a:xfrm>
            <a:off x="1941195" y="3419492"/>
            <a:ext cx="114300" cy="471488"/>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7175" y="3419492"/>
            <a:ext cx="1626870" cy="471488"/>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Rectangle 51"/>
          <p:cNvSpPr/>
          <p:nvPr/>
        </p:nvSpPr>
        <p:spPr>
          <a:xfrm>
            <a:off x="1941195" y="3948131"/>
            <a:ext cx="114300" cy="4714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7175" y="3948131"/>
            <a:ext cx="1626870" cy="47148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4" name="Rectangle 53"/>
          <p:cNvSpPr/>
          <p:nvPr/>
        </p:nvSpPr>
        <p:spPr>
          <a:xfrm>
            <a:off x="1941195" y="4476768"/>
            <a:ext cx="114300" cy="471487"/>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7175" y="4476768"/>
            <a:ext cx="1626870" cy="47148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6" name="Rectangle 55"/>
          <p:cNvSpPr/>
          <p:nvPr/>
        </p:nvSpPr>
        <p:spPr>
          <a:xfrm>
            <a:off x="1941195" y="5005405"/>
            <a:ext cx="114300" cy="47148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7175" y="5005405"/>
            <a:ext cx="1626870" cy="47148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8" name="Rectangle 57"/>
          <p:cNvSpPr/>
          <p:nvPr/>
        </p:nvSpPr>
        <p:spPr>
          <a:xfrm>
            <a:off x="1941195" y="5534040"/>
            <a:ext cx="114300" cy="471481"/>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7175" y="5534040"/>
            <a:ext cx="1626870" cy="471481"/>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0" name="Rectangle 59"/>
          <p:cNvSpPr/>
          <p:nvPr/>
        </p:nvSpPr>
        <p:spPr>
          <a:xfrm>
            <a:off x="1941195" y="6062671"/>
            <a:ext cx="114300" cy="471479"/>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7175" y="6062671"/>
            <a:ext cx="1626870" cy="471479"/>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2" name="Rectangle 61"/>
          <p:cNvSpPr/>
          <p:nvPr/>
        </p:nvSpPr>
        <p:spPr>
          <a:xfrm>
            <a:off x="5800725" y="1504950"/>
            <a:ext cx="114300" cy="230939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72175" y="1504950"/>
            <a:ext cx="1381125" cy="2309391"/>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4" name="Rectangle 63"/>
          <p:cNvSpPr/>
          <p:nvPr/>
        </p:nvSpPr>
        <p:spPr>
          <a:xfrm>
            <a:off x="5800725" y="3871491"/>
            <a:ext cx="114300" cy="2097106"/>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72175" y="3871491"/>
            <a:ext cx="1381125" cy="2097106"/>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6" name="Rectangle 65"/>
          <p:cNvSpPr/>
          <p:nvPr/>
        </p:nvSpPr>
        <p:spPr>
          <a:xfrm>
            <a:off x="5800725" y="6025747"/>
            <a:ext cx="114300" cy="30837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72175" y="6025747"/>
            <a:ext cx="1381125" cy="308378"/>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8" name="Rounded Rectangle 67"/>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70" name="Rectangle 69"/>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2" name="TextBox 7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73" name="TextBox 72"/>
          <p:cNvSpPr txBox="1"/>
          <p:nvPr/>
        </p:nvSpPr>
        <p:spPr>
          <a:xfrm>
            <a:off x="794052" y="1373032"/>
            <a:ext cx="1070942" cy="186689"/>
          </a:xfrm>
          <a:prstGeom prst="rect">
            <a:avLst/>
          </a:prstGeom>
          <a:noFill/>
        </p:spPr>
        <p:txBody>
          <a:bodyPr wrap="none" lIns="0" rIns="0" tIns="0" bIns="0">
            <a:spAutoFit/>
          </a:bodyPr>
          <a:lstStyle/>
          <a:p>
            <a:r>
              <a:rPr sz="1100" b="1">
                <a:solidFill>
                  <a:srgbClr val="2E2E2E"/>
                </a:solidFill>
                <a:latin typeface="Calibri"/>
              </a:rPr>
              <a:t>Stallergenes Greer</a:t>
            </a:r>
          </a:p>
        </p:txBody>
      </p:sp>
      <p:sp>
        <p:nvSpPr>
          <p:cNvPr id="74" name="TextBox 73"/>
          <p:cNvSpPr txBox="1"/>
          <p:nvPr/>
        </p:nvSpPr>
        <p:spPr>
          <a:xfrm>
            <a:off x="744279" y="1540671"/>
            <a:ext cx="1042887" cy="186689"/>
          </a:xfrm>
          <a:prstGeom prst="rect">
            <a:avLst/>
          </a:prstGeom>
          <a:noFill/>
        </p:spPr>
        <p:txBody>
          <a:bodyPr wrap="none" lIns="0" rIns="0" tIns="0" bIns="0">
            <a:spAutoFit/>
          </a:bodyPr>
          <a:lstStyle/>
          <a:p>
            <a:r>
              <a:rPr sz="1100" b="1">
                <a:solidFill>
                  <a:srgbClr val="2E2E2E"/>
                </a:solidFill>
                <a:latin typeface="Calibri"/>
              </a:rPr>
              <a:t>International AG</a:t>
            </a:r>
          </a:p>
        </p:txBody>
      </p:sp>
      <p:pic>
        <p:nvPicPr>
          <p:cNvPr id="75" name="Picture 74" descr="lock.png"/>
          <p:cNvPicPr>
            <a:picLocks noChangeAspect="1"/>
          </p:cNvPicPr>
          <p:nvPr/>
        </p:nvPicPr>
        <p:blipFill>
          <a:blip r:embed="rId4"/>
          <a:stretch>
            <a:fillRect/>
          </a:stretch>
        </p:blipFill>
        <p:spPr>
          <a:xfrm>
            <a:off x="1735218" y="1530893"/>
            <a:ext cx="128699" cy="187198"/>
          </a:xfrm>
          <a:prstGeom prst="rect">
            <a:avLst/>
          </a:prstGeom>
        </p:spPr>
      </p:pic>
      <p:sp>
        <p:nvSpPr>
          <p:cNvPr id="76" name="TextBox 75"/>
          <p:cNvSpPr txBox="1"/>
          <p:nvPr/>
        </p:nvSpPr>
        <p:spPr>
          <a:xfrm>
            <a:off x="476999" y="1901675"/>
            <a:ext cx="1387995" cy="186689"/>
          </a:xfrm>
          <a:prstGeom prst="rect">
            <a:avLst/>
          </a:prstGeom>
          <a:noFill/>
        </p:spPr>
        <p:txBody>
          <a:bodyPr wrap="none" lIns="0" rIns="0" tIns="0" bIns="0">
            <a:spAutoFit/>
          </a:bodyPr>
          <a:lstStyle/>
          <a:p>
            <a:r>
              <a:rPr sz="1100" b="1">
                <a:solidFill>
                  <a:srgbClr val="2E2E2E"/>
                </a:solidFill>
                <a:latin typeface="Calibri"/>
              </a:rPr>
              <a:t>Allergy Therapeutics plc</a:t>
            </a:r>
          </a:p>
        </p:txBody>
      </p:sp>
      <p:pic>
        <p:nvPicPr>
          <p:cNvPr id="77" name="Picture 76" descr="lock.png"/>
          <p:cNvPicPr>
            <a:picLocks noChangeAspect="1"/>
          </p:cNvPicPr>
          <p:nvPr/>
        </p:nvPicPr>
        <p:blipFill>
          <a:blip r:embed="rId4"/>
          <a:stretch>
            <a:fillRect/>
          </a:stretch>
        </p:blipFill>
        <p:spPr>
          <a:xfrm>
            <a:off x="1735218" y="2059536"/>
            <a:ext cx="128699" cy="187198"/>
          </a:xfrm>
          <a:prstGeom prst="rect">
            <a:avLst/>
          </a:prstGeom>
        </p:spPr>
      </p:pic>
      <p:sp>
        <p:nvSpPr>
          <p:cNvPr id="78" name="TextBox 77"/>
          <p:cNvSpPr txBox="1"/>
          <p:nvPr/>
        </p:nvSpPr>
        <p:spPr>
          <a:xfrm>
            <a:off x="391894" y="2430316"/>
            <a:ext cx="1473100" cy="186689"/>
          </a:xfrm>
          <a:prstGeom prst="rect">
            <a:avLst/>
          </a:prstGeom>
          <a:noFill/>
        </p:spPr>
        <p:txBody>
          <a:bodyPr wrap="none" lIns="0" rIns="0" tIns="0" bIns="0">
            <a:spAutoFit/>
          </a:bodyPr>
          <a:lstStyle/>
          <a:p>
            <a:r>
              <a:rPr sz="1100" b="1">
                <a:solidFill>
                  <a:srgbClr val="2E2E2E"/>
                </a:solidFill>
                <a:latin typeface="Calibri"/>
              </a:rPr>
              <a:t>Jubilant HollisterStier LLC</a:t>
            </a:r>
          </a:p>
        </p:txBody>
      </p:sp>
      <p:pic>
        <p:nvPicPr>
          <p:cNvPr id="79" name="Picture 78" descr="lock.png"/>
          <p:cNvPicPr>
            <a:picLocks noChangeAspect="1"/>
          </p:cNvPicPr>
          <p:nvPr/>
        </p:nvPicPr>
        <p:blipFill>
          <a:blip r:embed="rId4"/>
          <a:stretch>
            <a:fillRect/>
          </a:stretch>
        </p:blipFill>
        <p:spPr>
          <a:xfrm>
            <a:off x="1735218" y="2588177"/>
            <a:ext cx="128699" cy="187198"/>
          </a:xfrm>
          <a:prstGeom prst="rect">
            <a:avLst/>
          </a:prstGeom>
        </p:spPr>
      </p:pic>
      <p:sp>
        <p:nvSpPr>
          <p:cNvPr id="80" name="TextBox 79"/>
          <p:cNvSpPr txBox="1"/>
          <p:nvPr/>
        </p:nvSpPr>
        <p:spPr>
          <a:xfrm>
            <a:off x="289550" y="2958957"/>
            <a:ext cx="1575444" cy="186689"/>
          </a:xfrm>
          <a:prstGeom prst="rect">
            <a:avLst/>
          </a:prstGeom>
          <a:noFill/>
        </p:spPr>
        <p:txBody>
          <a:bodyPr wrap="none" lIns="0" rIns="0" tIns="0" bIns="0">
            <a:spAutoFit/>
          </a:bodyPr>
          <a:lstStyle/>
          <a:p>
            <a:r>
              <a:rPr sz="1100" b="1">
                <a:solidFill>
                  <a:srgbClr val="2E2E2E"/>
                </a:solidFill>
                <a:latin typeface="Calibri"/>
              </a:rPr>
              <a:t>LETI Pharma / Laboratorios</a:t>
            </a:r>
          </a:p>
        </p:txBody>
      </p:sp>
      <p:sp>
        <p:nvSpPr>
          <p:cNvPr id="81" name="TextBox 80"/>
          <p:cNvSpPr txBox="1"/>
          <p:nvPr/>
        </p:nvSpPr>
        <p:spPr>
          <a:xfrm>
            <a:off x="1080679" y="3126597"/>
            <a:ext cx="706487" cy="186689"/>
          </a:xfrm>
          <a:prstGeom prst="rect">
            <a:avLst/>
          </a:prstGeom>
          <a:noFill/>
        </p:spPr>
        <p:txBody>
          <a:bodyPr wrap="none" lIns="0" rIns="0" tIns="0" bIns="0">
            <a:spAutoFit/>
          </a:bodyPr>
          <a:lstStyle/>
          <a:p>
            <a:r>
              <a:rPr sz="1100" b="1">
                <a:solidFill>
                  <a:srgbClr val="2E2E2E"/>
                </a:solidFill>
                <a:latin typeface="Calibri"/>
              </a:rPr>
              <a:t>LETI, S.L.U.</a:t>
            </a:r>
          </a:p>
        </p:txBody>
      </p:sp>
      <p:pic>
        <p:nvPicPr>
          <p:cNvPr id="82" name="Picture 81" descr="lock.png"/>
          <p:cNvPicPr>
            <a:picLocks noChangeAspect="1"/>
          </p:cNvPicPr>
          <p:nvPr/>
        </p:nvPicPr>
        <p:blipFill>
          <a:blip r:embed="rId4"/>
          <a:stretch>
            <a:fillRect/>
          </a:stretch>
        </p:blipFill>
        <p:spPr>
          <a:xfrm>
            <a:off x="1735218" y="3116818"/>
            <a:ext cx="128699" cy="187198"/>
          </a:xfrm>
          <a:prstGeom prst="rect">
            <a:avLst/>
          </a:prstGeom>
        </p:spPr>
      </p:pic>
      <p:sp>
        <p:nvSpPr>
          <p:cNvPr id="83" name="TextBox 82"/>
          <p:cNvSpPr txBox="1"/>
          <p:nvPr/>
        </p:nvSpPr>
        <p:spPr>
          <a:xfrm>
            <a:off x="522595" y="3571416"/>
            <a:ext cx="1264570" cy="186689"/>
          </a:xfrm>
          <a:prstGeom prst="rect">
            <a:avLst/>
          </a:prstGeom>
          <a:noFill/>
        </p:spPr>
        <p:txBody>
          <a:bodyPr wrap="none" lIns="0" rIns="0" tIns="0" bIns="0">
            <a:spAutoFit/>
          </a:bodyPr>
          <a:lstStyle/>
          <a:p>
            <a:r>
              <a:rPr sz="1100" b="1">
                <a:solidFill>
                  <a:srgbClr val="2E2E2E"/>
                </a:solidFill>
                <a:latin typeface="Calibri"/>
              </a:rPr>
              <a:t>DIATER Laboratories</a:t>
            </a:r>
          </a:p>
        </p:txBody>
      </p:sp>
      <p:pic>
        <p:nvPicPr>
          <p:cNvPr id="84" name="Picture 83" descr="lock.png"/>
          <p:cNvPicPr>
            <a:picLocks noChangeAspect="1"/>
          </p:cNvPicPr>
          <p:nvPr/>
        </p:nvPicPr>
        <p:blipFill>
          <a:blip r:embed="rId4"/>
          <a:stretch>
            <a:fillRect/>
          </a:stretch>
        </p:blipFill>
        <p:spPr>
          <a:xfrm>
            <a:off x="1735218" y="3561637"/>
            <a:ext cx="128699" cy="187198"/>
          </a:xfrm>
          <a:prstGeom prst="rect">
            <a:avLst/>
          </a:prstGeom>
        </p:spPr>
      </p:pic>
      <p:sp>
        <p:nvSpPr>
          <p:cNvPr id="85" name="TextBox 84"/>
          <p:cNvSpPr txBox="1"/>
          <p:nvPr/>
        </p:nvSpPr>
        <p:spPr>
          <a:xfrm>
            <a:off x="646026" y="4100054"/>
            <a:ext cx="1141139" cy="186689"/>
          </a:xfrm>
          <a:prstGeom prst="rect">
            <a:avLst/>
          </a:prstGeom>
          <a:noFill/>
        </p:spPr>
        <p:txBody>
          <a:bodyPr wrap="none" lIns="0" rIns="0" tIns="0" bIns="0">
            <a:spAutoFit/>
          </a:bodyPr>
          <a:lstStyle/>
          <a:p>
            <a:r>
              <a:rPr sz="1100" b="1">
                <a:solidFill>
                  <a:srgbClr val="2E2E2E"/>
                </a:solidFill>
                <a:latin typeface="Calibri"/>
              </a:rPr>
              <a:t>HAL Allergy Group</a:t>
            </a:r>
          </a:p>
        </p:txBody>
      </p:sp>
      <p:pic>
        <p:nvPicPr>
          <p:cNvPr id="86" name="Picture 85" descr="lock.png"/>
          <p:cNvPicPr>
            <a:picLocks noChangeAspect="1"/>
          </p:cNvPicPr>
          <p:nvPr/>
        </p:nvPicPr>
        <p:blipFill>
          <a:blip r:embed="rId4"/>
          <a:stretch>
            <a:fillRect/>
          </a:stretch>
        </p:blipFill>
        <p:spPr>
          <a:xfrm>
            <a:off x="1735218" y="4090275"/>
            <a:ext cx="128699" cy="187198"/>
          </a:xfrm>
          <a:prstGeom prst="rect">
            <a:avLst/>
          </a:prstGeom>
        </p:spPr>
      </p:pic>
      <p:sp>
        <p:nvSpPr>
          <p:cNvPr id="87" name="TextBox 86"/>
          <p:cNvSpPr txBox="1"/>
          <p:nvPr/>
        </p:nvSpPr>
        <p:spPr>
          <a:xfrm>
            <a:off x="416971" y="4544871"/>
            <a:ext cx="1448023" cy="186689"/>
          </a:xfrm>
          <a:prstGeom prst="rect">
            <a:avLst/>
          </a:prstGeom>
          <a:noFill/>
        </p:spPr>
        <p:txBody>
          <a:bodyPr wrap="none" lIns="0" rIns="0" tIns="0" bIns="0">
            <a:spAutoFit/>
          </a:bodyPr>
          <a:lstStyle/>
          <a:p>
            <a:r>
              <a:rPr sz="1100" b="1">
                <a:solidFill>
                  <a:srgbClr val="2E2E2E"/>
                </a:solidFill>
                <a:latin typeface="Calibri"/>
              </a:rPr>
              <a:t>Torii Pharmaceutical Co.,</a:t>
            </a:r>
          </a:p>
        </p:txBody>
      </p:sp>
      <p:sp>
        <p:nvSpPr>
          <p:cNvPr id="88" name="TextBox 87"/>
          <p:cNvSpPr txBox="1"/>
          <p:nvPr/>
        </p:nvSpPr>
        <p:spPr>
          <a:xfrm>
            <a:off x="1490818" y="4712511"/>
            <a:ext cx="296348" cy="186689"/>
          </a:xfrm>
          <a:prstGeom prst="rect">
            <a:avLst/>
          </a:prstGeom>
          <a:noFill/>
        </p:spPr>
        <p:txBody>
          <a:bodyPr wrap="none" lIns="0" rIns="0" tIns="0" bIns="0">
            <a:spAutoFit/>
          </a:bodyPr>
          <a:lstStyle/>
          <a:p>
            <a:r>
              <a:rPr sz="1100" b="1">
                <a:solidFill>
                  <a:srgbClr val="2E2E2E"/>
                </a:solidFill>
                <a:latin typeface="Calibri"/>
              </a:rPr>
              <a:t>Ltd.</a:t>
            </a:r>
          </a:p>
        </p:txBody>
      </p:sp>
      <p:pic>
        <p:nvPicPr>
          <p:cNvPr id="89" name="Picture 88" descr="lock.png"/>
          <p:cNvPicPr>
            <a:picLocks noChangeAspect="1"/>
          </p:cNvPicPr>
          <p:nvPr/>
        </p:nvPicPr>
        <p:blipFill>
          <a:blip r:embed="rId4"/>
          <a:stretch>
            <a:fillRect/>
          </a:stretch>
        </p:blipFill>
        <p:spPr>
          <a:xfrm>
            <a:off x="1735218" y="4702732"/>
            <a:ext cx="128699" cy="187198"/>
          </a:xfrm>
          <a:prstGeom prst="rect">
            <a:avLst/>
          </a:prstGeom>
        </p:spPr>
      </p:pic>
      <p:sp>
        <p:nvSpPr>
          <p:cNvPr id="90" name="TextBox 89"/>
          <p:cNvSpPr txBox="1"/>
          <p:nvPr/>
        </p:nvSpPr>
        <p:spPr>
          <a:xfrm>
            <a:off x="841934" y="5157327"/>
            <a:ext cx="945232" cy="186689"/>
          </a:xfrm>
          <a:prstGeom prst="rect">
            <a:avLst/>
          </a:prstGeom>
          <a:noFill/>
        </p:spPr>
        <p:txBody>
          <a:bodyPr wrap="none" lIns="0" rIns="0" tIns="0" bIns="0">
            <a:spAutoFit/>
          </a:bodyPr>
          <a:lstStyle/>
          <a:p>
            <a:r>
              <a:rPr sz="1100" b="1">
                <a:solidFill>
                  <a:srgbClr val="2E2E2E"/>
                </a:solidFill>
                <a:latin typeface="Calibri"/>
              </a:rPr>
              <a:t>Inmunotek S.L.</a:t>
            </a:r>
          </a:p>
        </p:txBody>
      </p:sp>
      <p:pic>
        <p:nvPicPr>
          <p:cNvPr id="91" name="Picture 90" descr="lock.png"/>
          <p:cNvPicPr>
            <a:picLocks noChangeAspect="1"/>
          </p:cNvPicPr>
          <p:nvPr/>
        </p:nvPicPr>
        <p:blipFill>
          <a:blip r:embed="rId4"/>
          <a:stretch>
            <a:fillRect/>
          </a:stretch>
        </p:blipFill>
        <p:spPr>
          <a:xfrm>
            <a:off x="1735218" y="5147548"/>
            <a:ext cx="128699" cy="187198"/>
          </a:xfrm>
          <a:prstGeom prst="rect">
            <a:avLst/>
          </a:prstGeom>
        </p:spPr>
      </p:pic>
      <p:sp>
        <p:nvSpPr>
          <p:cNvPr id="92" name="TextBox 91"/>
          <p:cNvSpPr txBox="1"/>
          <p:nvPr/>
        </p:nvSpPr>
        <p:spPr>
          <a:xfrm>
            <a:off x="831881" y="5685960"/>
            <a:ext cx="955285" cy="186689"/>
          </a:xfrm>
          <a:prstGeom prst="rect">
            <a:avLst/>
          </a:prstGeom>
          <a:noFill/>
        </p:spPr>
        <p:txBody>
          <a:bodyPr wrap="none" lIns="0" rIns="0" tIns="0" bIns="0">
            <a:spAutoFit/>
          </a:bodyPr>
          <a:lstStyle/>
          <a:p>
            <a:r>
              <a:rPr sz="1100" b="1">
                <a:solidFill>
                  <a:srgbClr val="2E2E2E"/>
                </a:solidFill>
                <a:latin typeface="Calibri"/>
              </a:rPr>
              <a:t>ALK-Abelló A/S</a:t>
            </a:r>
          </a:p>
        </p:txBody>
      </p:sp>
      <p:pic>
        <p:nvPicPr>
          <p:cNvPr id="93" name="Picture 92" descr="lock.png"/>
          <p:cNvPicPr>
            <a:picLocks noChangeAspect="1"/>
          </p:cNvPicPr>
          <p:nvPr/>
        </p:nvPicPr>
        <p:blipFill>
          <a:blip r:embed="rId4"/>
          <a:stretch>
            <a:fillRect/>
          </a:stretch>
        </p:blipFill>
        <p:spPr>
          <a:xfrm>
            <a:off x="1735218" y="5676181"/>
            <a:ext cx="128699" cy="187198"/>
          </a:xfrm>
          <a:prstGeom prst="rect">
            <a:avLst/>
          </a:prstGeom>
        </p:spPr>
      </p:pic>
      <p:sp>
        <p:nvSpPr>
          <p:cNvPr id="94" name="TextBox 93"/>
          <p:cNvSpPr txBox="1"/>
          <p:nvPr/>
        </p:nvSpPr>
        <p:spPr>
          <a:xfrm>
            <a:off x="470996" y="6130770"/>
            <a:ext cx="1393998" cy="186689"/>
          </a:xfrm>
          <a:prstGeom prst="rect">
            <a:avLst/>
          </a:prstGeom>
          <a:noFill/>
        </p:spPr>
        <p:txBody>
          <a:bodyPr wrap="none" lIns="0" rIns="0" tIns="0" bIns="0">
            <a:spAutoFit/>
          </a:bodyPr>
          <a:lstStyle/>
          <a:p>
            <a:r>
              <a:rPr sz="1100" b="1">
                <a:solidFill>
                  <a:srgbClr val="2E2E2E"/>
                </a:solidFill>
                <a:latin typeface="Calibri"/>
              </a:rPr>
              <a:t>Allergopharma GmbH &amp;</a:t>
            </a:r>
          </a:p>
        </p:txBody>
      </p:sp>
      <p:sp>
        <p:nvSpPr>
          <p:cNvPr id="95" name="TextBox 94"/>
          <p:cNvSpPr txBox="1"/>
          <p:nvPr/>
        </p:nvSpPr>
        <p:spPr>
          <a:xfrm>
            <a:off x="1327695" y="6298410"/>
            <a:ext cx="459471" cy="186689"/>
          </a:xfrm>
          <a:prstGeom prst="rect">
            <a:avLst/>
          </a:prstGeom>
          <a:noFill/>
        </p:spPr>
        <p:txBody>
          <a:bodyPr wrap="none" lIns="0" rIns="0" tIns="0" bIns="0">
            <a:spAutoFit/>
          </a:bodyPr>
          <a:lstStyle/>
          <a:p>
            <a:r>
              <a:rPr sz="1100" b="1">
                <a:solidFill>
                  <a:srgbClr val="2E2E2E"/>
                </a:solidFill>
                <a:latin typeface="Calibri"/>
              </a:rPr>
              <a:t>Co. KG</a:t>
            </a:r>
          </a:p>
        </p:txBody>
      </p:sp>
      <p:pic>
        <p:nvPicPr>
          <p:cNvPr id="96" name="Picture 95" descr="lock.png"/>
          <p:cNvPicPr>
            <a:picLocks noChangeAspect="1"/>
          </p:cNvPicPr>
          <p:nvPr/>
        </p:nvPicPr>
        <p:blipFill>
          <a:blip r:embed="rId4"/>
          <a:stretch>
            <a:fillRect/>
          </a:stretch>
        </p:blipFill>
        <p:spPr>
          <a:xfrm>
            <a:off x="1735218" y="6288631"/>
            <a:ext cx="128699" cy="187198"/>
          </a:xfrm>
          <a:prstGeom prst="rect">
            <a:avLst/>
          </a:prstGeom>
        </p:spPr>
      </p:pic>
      <p:sp>
        <p:nvSpPr>
          <p:cNvPr id="97" name="TextBox 96"/>
          <p:cNvSpPr txBox="1"/>
          <p:nvPr/>
        </p:nvSpPr>
        <p:spPr>
          <a:xfrm>
            <a:off x="5972175" y="2408185"/>
            <a:ext cx="680839" cy="186689"/>
          </a:xfrm>
          <a:prstGeom prst="rect">
            <a:avLst/>
          </a:prstGeom>
          <a:noFill/>
        </p:spPr>
        <p:txBody>
          <a:bodyPr wrap="none" lIns="0" rIns="0" tIns="0" bIns="0">
            <a:spAutoFit/>
          </a:bodyPr>
          <a:lstStyle/>
          <a:p>
            <a:r>
              <a:rPr sz="1100" b="1">
                <a:solidFill>
                  <a:srgbClr val="2E2E2E"/>
                </a:solidFill>
                <a:latin typeface="Calibri"/>
              </a:rPr>
              <a:t>Sublingual</a:t>
            </a:r>
          </a:p>
        </p:txBody>
      </p:sp>
      <p:sp>
        <p:nvSpPr>
          <p:cNvPr id="98" name="TextBox 97"/>
          <p:cNvSpPr txBox="1"/>
          <p:nvPr/>
        </p:nvSpPr>
        <p:spPr>
          <a:xfrm>
            <a:off x="5972175" y="2575825"/>
            <a:ext cx="1362075" cy="186689"/>
          </a:xfrm>
          <a:prstGeom prst="rect">
            <a:avLst/>
          </a:prstGeom>
          <a:noFill/>
        </p:spPr>
        <p:txBody>
          <a:bodyPr wrap="none" lIns="0" rIns="0" tIns="0" bIns="0">
            <a:spAutoFit/>
          </a:bodyPr>
          <a:lstStyle/>
          <a:p>
            <a:r>
              <a:rPr sz="1100" b="1">
                <a:solidFill>
                  <a:srgbClr val="2E2E2E"/>
                </a:solidFill>
                <a:latin typeface="Calibri"/>
              </a:rPr>
              <a:t>Immunotherapy (SLIT)</a:t>
            </a:r>
          </a:p>
        </p:txBody>
      </p:sp>
      <p:pic>
        <p:nvPicPr>
          <p:cNvPr id="99" name="Picture 98" descr="lock.png"/>
          <p:cNvPicPr>
            <a:picLocks noChangeAspect="1"/>
          </p:cNvPicPr>
          <p:nvPr/>
        </p:nvPicPr>
        <p:blipFill>
          <a:blip r:embed="rId4"/>
          <a:stretch>
            <a:fillRect/>
          </a:stretch>
        </p:blipFill>
        <p:spPr>
          <a:xfrm>
            <a:off x="5958707" y="2733686"/>
            <a:ext cx="128699" cy="187198"/>
          </a:xfrm>
          <a:prstGeom prst="rect">
            <a:avLst/>
          </a:prstGeom>
        </p:spPr>
      </p:pic>
      <p:sp>
        <p:nvSpPr>
          <p:cNvPr id="100" name="TextBox 99"/>
          <p:cNvSpPr txBox="1"/>
          <p:nvPr/>
        </p:nvSpPr>
        <p:spPr>
          <a:xfrm>
            <a:off x="5972175" y="4668584"/>
            <a:ext cx="894481" cy="186689"/>
          </a:xfrm>
          <a:prstGeom prst="rect">
            <a:avLst/>
          </a:prstGeom>
          <a:noFill/>
        </p:spPr>
        <p:txBody>
          <a:bodyPr wrap="none" lIns="0" rIns="0" tIns="0" bIns="0">
            <a:spAutoFit/>
          </a:bodyPr>
          <a:lstStyle/>
          <a:p>
            <a:r>
              <a:rPr sz="1100" b="1">
                <a:solidFill>
                  <a:srgbClr val="2E2E2E"/>
                </a:solidFill>
                <a:latin typeface="Calibri"/>
              </a:rPr>
              <a:t>Subcutaneous</a:t>
            </a:r>
          </a:p>
        </p:txBody>
      </p:sp>
      <p:sp>
        <p:nvSpPr>
          <p:cNvPr id="101" name="TextBox 100"/>
          <p:cNvSpPr txBox="1"/>
          <p:nvPr/>
        </p:nvSpPr>
        <p:spPr>
          <a:xfrm>
            <a:off x="5972175" y="4836224"/>
            <a:ext cx="1362075" cy="186689"/>
          </a:xfrm>
          <a:prstGeom prst="rect">
            <a:avLst/>
          </a:prstGeom>
          <a:noFill/>
        </p:spPr>
        <p:txBody>
          <a:bodyPr wrap="none" lIns="0" rIns="0" tIns="0" bIns="0">
            <a:spAutoFit/>
          </a:bodyPr>
          <a:lstStyle/>
          <a:p>
            <a:r>
              <a:rPr sz="1100" b="1">
                <a:solidFill>
                  <a:srgbClr val="2E2E2E"/>
                </a:solidFill>
                <a:latin typeface="Calibri"/>
              </a:rPr>
              <a:t>Immunotherapy (SCIT)</a:t>
            </a:r>
          </a:p>
        </p:txBody>
      </p:sp>
      <p:pic>
        <p:nvPicPr>
          <p:cNvPr id="102" name="Picture 101" descr="lock.png"/>
          <p:cNvPicPr>
            <a:picLocks noChangeAspect="1"/>
          </p:cNvPicPr>
          <p:nvPr/>
        </p:nvPicPr>
        <p:blipFill>
          <a:blip r:embed="rId4"/>
          <a:stretch>
            <a:fillRect/>
          </a:stretch>
        </p:blipFill>
        <p:spPr>
          <a:xfrm>
            <a:off x="5958707" y="4994084"/>
            <a:ext cx="128699" cy="187198"/>
          </a:xfrm>
          <a:prstGeom prst="rect">
            <a:avLst/>
          </a:prstGeom>
        </p:spPr>
      </p:pic>
      <p:sp>
        <p:nvSpPr>
          <p:cNvPr id="103" name="TextBox 102"/>
          <p:cNvSpPr txBox="1"/>
          <p:nvPr/>
        </p:nvSpPr>
        <p:spPr>
          <a:xfrm>
            <a:off x="5972175" y="6119585"/>
            <a:ext cx="1187338" cy="139750"/>
          </a:xfrm>
          <a:prstGeom prst="rect">
            <a:avLst/>
          </a:prstGeom>
          <a:noFill/>
        </p:spPr>
        <p:txBody>
          <a:bodyPr wrap="none" lIns="0" rIns="0" tIns="0" bIns="0">
            <a:spAutoFit/>
          </a:bodyPr>
          <a:lstStyle/>
          <a:p>
            <a:r>
              <a:rPr sz="791" b="1">
                <a:solidFill>
                  <a:srgbClr val="2E2E2E"/>
                </a:solidFill>
                <a:latin typeface="Calibri"/>
              </a:rPr>
              <a:t>Oral Immunotherapy (OIT)</a:t>
            </a:r>
          </a:p>
        </p:txBody>
      </p:sp>
      <p:pic>
        <p:nvPicPr>
          <p:cNvPr id="104" name="Picture 103" descr="lock.png"/>
          <p:cNvPicPr>
            <a:picLocks noChangeAspect="1"/>
          </p:cNvPicPr>
          <p:nvPr/>
        </p:nvPicPr>
        <p:blipFill>
          <a:blip r:embed="rId4"/>
          <a:stretch>
            <a:fillRect/>
          </a:stretch>
        </p:blipFill>
        <p:spPr>
          <a:xfrm>
            <a:off x="7100775" y="6112544"/>
            <a:ext cx="92663" cy="134782"/>
          </a:xfrm>
          <a:prstGeom prst="rect">
            <a:avLst/>
          </a:prstGeom>
        </p:spPr>
      </p:pic>
      <p:sp>
        <p:nvSpPr>
          <p:cNvPr id="105" name="TextBox 104"/>
          <p:cNvSpPr txBox="1"/>
          <p:nvPr/>
        </p:nvSpPr>
        <p:spPr>
          <a:xfrm>
            <a:off x="7715250" y="1400175"/>
            <a:ext cx="4105678" cy="194310"/>
          </a:xfrm>
          <a:prstGeom prst="rect">
            <a:avLst/>
          </a:prstGeom>
          <a:noFill/>
        </p:spPr>
        <p:txBody>
          <a:bodyPr wrap="none" lIns="0" rIns="0" tIns="0" bIns="0">
            <a:spAutoFit/>
          </a:bodyPr>
          <a:lstStyle/>
          <a:p>
            <a:r>
              <a:rPr sz="1150" b="0">
                <a:solidFill>
                  <a:srgbClr val="2E2E2E"/>
                </a:solidFill>
                <a:latin typeface="Calibri"/>
              </a:rPr>
              <a:t>Stallergenes greer international AG segment is projected to account</a:t>
            </a:r>
          </a:p>
        </p:txBody>
      </p:sp>
      <p:sp>
        <p:nvSpPr>
          <p:cNvPr id="106" name="TextBox 105"/>
          <p:cNvSpPr txBox="1"/>
          <p:nvPr/>
        </p:nvSpPr>
        <p:spPr>
          <a:xfrm>
            <a:off x="7715250" y="1575435"/>
            <a:ext cx="4171950" cy="194310"/>
          </a:xfrm>
          <a:prstGeom prst="rect">
            <a:avLst/>
          </a:prstGeom>
          <a:noFill/>
        </p:spPr>
        <p:txBody>
          <a:bodyPr wrap="none" lIns="0" rIns="0" tIns="0" bIns="0">
            <a:spAutoFit/>
          </a:bodyPr>
          <a:lstStyle/>
          <a:p>
            <a:r>
              <a:rPr sz="1150" b="0">
                <a:solidFill>
                  <a:srgbClr val="2E2E2E"/>
                </a:solidFill>
                <a:latin typeface="Calibri"/>
              </a:rPr>
              <a:t>for the largest share of the global allergy immunotherapy market, led</a:t>
            </a:r>
          </a:p>
        </p:txBody>
      </p:sp>
      <p:sp>
        <p:nvSpPr>
          <p:cNvPr id="107" name="TextBox 106"/>
          <p:cNvSpPr txBox="1"/>
          <p:nvPr/>
        </p:nvSpPr>
        <p:spPr>
          <a:xfrm>
            <a:off x="7715250" y="1750695"/>
            <a:ext cx="2626940" cy="194310"/>
          </a:xfrm>
          <a:prstGeom prst="rect">
            <a:avLst/>
          </a:prstGeom>
          <a:noFill/>
        </p:spPr>
        <p:txBody>
          <a:bodyPr wrap="none" lIns="0" rIns="0" tIns="0" bIns="0">
            <a:spAutoFit/>
          </a:bodyPr>
          <a:lstStyle/>
          <a:p>
            <a:r>
              <a:rPr sz="1150" b="0">
                <a:solidFill>
                  <a:srgbClr val="2E2E2E"/>
                </a:solidFill>
                <a:latin typeface="Calibri"/>
              </a:rPr>
              <a:t>by sublingual immunotherapy (SLIT) at US$</a:t>
            </a:r>
          </a:p>
        </p:txBody>
      </p:sp>
      <p:pic>
        <p:nvPicPr>
          <p:cNvPr id="108" name="Picture 107" descr="lock.png"/>
          <p:cNvPicPr>
            <a:picLocks noChangeAspect="1"/>
          </p:cNvPicPr>
          <p:nvPr/>
        </p:nvPicPr>
        <p:blipFill>
          <a:blip r:embed="rId4"/>
          <a:stretch>
            <a:fillRect/>
          </a:stretch>
        </p:blipFill>
        <p:spPr>
          <a:xfrm>
            <a:off x="10291344" y="1740471"/>
            <a:ext cx="134549" cy="195707"/>
          </a:xfrm>
          <a:prstGeom prst="rect">
            <a:avLst/>
          </a:prstGeom>
        </p:spPr>
      </p:pic>
      <p:sp>
        <p:nvSpPr>
          <p:cNvPr id="109" name="TextBox 108"/>
          <p:cNvSpPr txBox="1"/>
          <p:nvPr/>
        </p:nvSpPr>
        <p:spPr>
          <a:xfrm>
            <a:off x="10466453" y="1750695"/>
            <a:ext cx="787908" cy="194310"/>
          </a:xfrm>
          <a:prstGeom prst="rect">
            <a:avLst/>
          </a:prstGeom>
          <a:noFill/>
        </p:spPr>
        <p:txBody>
          <a:bodyPr wrap="none" lIns="0" rIns="0" tIns="0" bIns="0">
            <a:spAutoFit/>
          </a:bodyPr>
          <a:lstStyle/>
          <a:p>
            <a:r>
              <a:rPr sz="1150" b="0">
                <a:solidFill>
                  <a:srgbClr val="2E2E2E"/>
                </a:solidFill>
                <a:latin typeface="Calibri"/>
              </a:rPr>
              <a:t>Mn in 2036.</a:t>
            </a:r>
          </a:p>
        </p:txBody>
      </p:sp>
      <p:sp>
        <p:nvSpPr>
          <p:cNvPr id="110" name="TextBox 109"/>
          <p:cNvSpPr txBox="1"/>
          <p:nvPr/>
        </p:nvSpPr>
        <p:spPr>
          <a:xfrm>
            <a:off x="7715250" y="1925955"/>
            <a:ext cx="4171950" cy="194310"/>
          </a:xfrm>
          <a:prstGeom prst="rect">
            <a:avLst/>
          </a:prstGeom>
          <a:noFill/>
        </p:spPr>
        <p:txBody>
          <a:bodyPr wrap="none" lIns="0" rIns="0" tIns="0" bIns="0">
            <a:spAutoFit/>
          </a:bodyPr>
          <a:lstStyle/>
          <a:p>
            <a:r>
              <a:rPr sz="1150" b="0">
                <a:solidFill>
                  <a:srgbClr val="2E2E2E"/>
                </a:solidFill>
                <a:latin typeface="Calibri"/>
              </a:rPr>
              <a:t>'Allergopharma GmbH &amp; Co. KG × Sublingual Immunotherapy (SLIT)' is</a:t>
            </a:r>
          </a:p>
        </p:txBody>
      </p:sp>
      <p:sp>
        <p:nvSpPr>
          <p:cNvPr id="111" name="TextBox 110"/>
          <p:cNvSpPr txBox="1"/>
          <p:nvPr/>
        </p:nvSpPr>
        <p:spPr>
          <a:xfrm>
            <a:off x="7715250" y="2101215"/>
            <a:ext cx="2311734" cy="194310"/>
          </a:xfrm>
          <a:prstGeom prst="rect">
            <a:avLst/>
          </a:prstGeom>
          <a:noFill/>
        </p:spPr>
        <p:txBody>
          <a:bodyPr wrap="none" lIns="0" rIns="0" tIns="0" bIns="0">
            <a:spAutoFit/>
          </a:bodyPr>
          <a:lstStyle/>
          <a:p>
            <a:r>
              <a:rPr sz="1150" b="0">
                <a:solidFill>
                  <a:srgbClr val="2E2E2E"/>
                </a:solidFill>
                <a:latin typeface="Calibri"/>
              </a:rPr>
              <a:t>the single largest cross-sectional cell (</a:t>
            </a:r>
          </a:p>
        </p:txBody>
      </p:sp>
      <p:pic>
        <p:nvPicPr>
          <p:cNvPr id="112" name="Picture 111" descr="lock.png"/>
          <p:cNvPicPr>
            <a:picLocks noChangeAspect="1"/>
          </p:cNvPicPr>
          <p:nvPr/>
        </p:nvPicPr>
        <p:blipFill>
          <a:blip r:embed="rId4"/>
          <a:stretch>
            <a:fillRect/>
          </a:stretch>
        </p:blipFill>
        <p:spPr>
          <a:xfrm>
            <a:off x="9976138" y="2090991"/>
            <a:ext cx="134549" cy="195707"/>
          </a:xfrm>
          <a:prstGeom prst="rect">
            <a:avLst/>
          </a:prstGeom>
        </p:spPr>
      </p:pic>
      <p:sp>
        <p:nvSpPr>
          <p:cNvPr id="113" name="TextBox 112"/>
          <p:cNvSpPr txBox="1"/>
          <p:nvPr/>
        </p:nvSpPr>
        <p:spPr>
          <a:xfrm>
            <a:off x="10151248" y="2101215"/>
            <a:ext cx="1418604" cy="194310"/>
          </a:xfrm>
          <a:prstGeom prst="rect">
            <a:avLst/>
          </a:prstGeom>
          <a:noFill/>
        </p:spPr>
        <p:txBody>
          <a:bodyPr wrap="none" lIns="0" rIns="0" tIns="0" bIns="0">
            <a:spAutoFit/>
          </a:bodyPr>
          <a:lstStyle/>
          <a:p>
            <a:r>
              <a:rPr sz="1150" b="0">
                <a:solidFill>
                  <a:srgbClr val="2E2E2E"/>
                </a:solidFill>
                <a:latin typeface="Calibri"/>
              </a:rPr>
              <a:t>US$ Mn, 2026E), while</a:t>
            </a:r>
          </a:p>
        </p:txBody>
      </p:sp>
      <p:sp>
        <p:nvSpPr>
          <p:cNvPr id="114" name="TextBox 113"/>
          <p:cNvSpPr txBox="1"/>
          <p:nvPr/>
        </p:nvSpPr>
        <p:spPr>
          <a:xfrm>
            <a:off x="7715250" y="2276475"/>
            <a:ext cx="4146487" cy="194310"/>
          </a:xfrm>
          <a:prstGeom prst="rect">
            <a:avLst/>
          </a:prstGeom>
          <a:noFill/>
        </p:spPr>
        <p:txBody>
          <a:bodyPr wrap="none" lIns="0" rIns="0" tIns="0" bIns="0">
            <a:spAutoFit/>
          </a:bodyPr>
          <a:lstStyle/>
          <a:p>
            <a:r>
              <a:rPr sz="1150" b="0">
                <a:solidFill>
                  <a:srgbClr val="2E2E2E"/>
                </a:solidFill>
                <a:latin typeface="Calibri"/>
              </a:rPr>
              <a:t>'Allergy Therapeutics plc × Sublingual Immunotherapy (SLIT)' records</a:t>
            </a:r>
          </a:p>
        </p:txBody>
      </p:sp>
      <p:sp>
        <p:nvSpPr>
          <p:cNvPr id="115" name="TextBox 114"/>
          <p:cNvSpPr txBox="1"/>
          <p:nvPr/>
        </p:nvSpPr>
        <p:spPr>
          <a:xfrm>
            <a:off x="7715250" y="2451735"/>
            <a:ext cx="1943739" cy="194310"/>
          </a:xfrm>
          <a:prstGeom prst="rect">
            <a:avLst/>
          </a:prstGeom>
          <a:noFill/>
        </p:spPr>
        <p:txBody>
          <a:bodyPr wrap="none" lIns="0" rIns="0" tIns="0" bIns="0">
            <a:spAutoFit/>
          </a:bodyPr>
          <a:lstStyle/>
          <a:p>
            <a:r>
              <a:rPr sz="1150" b="0">
                <a:solidFill>
                  <a:srgbClr val="2E2E2E"/>
                </a:solidFill>
                <a:latin typeface="Calibri"/>
              </a:rPr>
              <a:t>the fastest growth at a CAGR of</a:t>
            </a:r>
          </a:p>
        </p:txBody>
      </p:sp>
      <p:pic>
        <p:nvPicPr>
          <p:cNvPr id="116" name="Picture 115" descr="lock.png"/>
          <p:cNvPicPr>
            <a:picLocks noChangeAspect="1"/>
          </p:cNvPicPr>
          <p:nvPr/>
        </p:nvPicPr>
        <p:blipFill>
          <a:blip r:embed="rId4"/>
          <a:stretch>
            <a:fillRect/>
          </a:stretch>
        </p:blipFill>
        <p:spPr>
          <a:xfrm>
            <a:off x="9608143" y="2441511"/>
            <a:ext cx="134549" cy="195707"/>
          </a:xfrm>
          <a:prstGeom prst="rect">
            <a:avLst/>
          </a:prstGeom>
        </p:spPr>
      </p:pic>
      <p:sp>
        <p:nvSpPr>
          <p:cNvPr id="117" name="TextBox 116"/>
          <p:cNvSpPr txBox="1"/>
          <p:nvPr/>
        </p:nvSpPr>
        <p:spPr>
          <a:xfrm>
            <a:off x="9783252" y="245173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18" name="TextBox 117"/>
          <p:cNvSpPr txBox="1"/>
          <p:nvPr/>
        </p:nvSpPr>
        <p:spPr>
          <a:xfrm>
            <a:off x="7715250" y="2679573"/>
            <a:ext cx="4171950" cy="194310"/>
          </a:xfrm>
          <a:prstGeom prst="rect">
            <a:avLst/>
          </a:prstGeom>
          <a:noFill/>
        </p:spPr>
        <p:txBody>
          <a:bodyPr wrap="none" lIns="0" rIns="0" tIns="0" bIns="0">
            <a:spAutoFit/>
          </a:bodyPr>
          <a:lstStyle/>
          <a:p>
            <a:r>
              <a:rPr sz="1150" b="0">
                <a:solidFill>
                  <a:srgbClr val="2E2E2E"/>
                </a:solidFill>
                <a:latin typeface="Calibri"/>
              </a:rPr>
              <a:t>Combined, the top three company × therapy format cells generate an</a:t>
            </a:r>
          </a:p>
        </p:txBody>
      </p:sp>
      <p:sp>
        <p:nvSpPr>
          <p:cNvPr id="119" name="TextBox 118"/>
          <p:cNvSpPr txBox="1"/>
          <p:nvPr/>
        </p:nvSpPr>
        <p:spPr>
          <a:xfrm>
            <a:off x="7715250" y="2854832"/>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120" name="Picture 119" descr="lock.png"/>
          <p:cNvPicPr>
            <a:picLocks noChangeAspect="1"/>
          </p:cNvPicPr>
          <p:nvPr/>
        </p:nvPicPr>
        <p:blipFill>
          <a:blip r:embed="rId4"/>
          <a:stretch>
            <a:fillRect/>
          </a:stretch>
        </p:blipFill>
        <p:spPr>
          <a:xfrm>
            <a:off x="9258439" y="2844609"/>
            <a:ext cx="134549" cy="195707"/>
          </a:xfrm>
          <a:prstGeom prst="rect">
            <a:avLst/>
          </a:prstGeom>
        </p:spPr>
      </p:pic>
      <p:sp>
        <p:nvSpPr>
          <p:cNvPr id="121" name="TextBox 120"/>
          <p:cNvSpPr txBox="1"/>
          <p:nvPr/>
        </p:nvSpPr>
        <p:spPr>
          <a:xfrm>
            <a:off x="9433549" y="285483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Company × Therapy Format, 2026E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therapy format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Company × Therapy Format, 2026E (% of each row)</a:t>
            </a:r>
          </a:p>
        </p:txBody>
      </p:sp>
      <p:graphicFrame>
        <p:nvGraphicFramePr>
          <p:cNvPr id="13" name="Table 12"/>
          <p:cNvGraphicFramePr>
            <a:graphicFrameLocks noGrp="1"/>
          </p:cNvGraphicFramePr>
          <p:nvPr/>
        </p:nvGraphicFramePr>
        <p:xfrm>
          <a:off x="152400" y="1238250"/>
          <a:ext cx="11887200" cy="3200406"/>
        </p:xfrm>
        <a:graphic>
          <a:graphicData uri="http://schemas.openxmlformats.org/drawingml/2006/table">
            <a:tbl>
              <a:tblPr>
                <a:tableStyleId>{5C22544A-7EE6-4342-B048-85BDC9FD1C3A}</a:tableStyleId>
              </a:tblPr>
              <a:tblGrid>
                <a:gridCol w="3420330"/>
                <a:gridCol w="2785984"/>
                <a:gridCol w="1149858"/>
                <a:gridCol w="1323177"/>
                <a:gridCol w="2439293"/>
                <a:gridCol w="768558"/>
              </a:tblGrid>
              <a:tr h="246126">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Subcutaneous Immunotherapy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Sublingual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Oral Immunotherapy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190">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Subcutaneous Immunotherapy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SLIT Tablets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SLIT Solutions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Food Allergen Oral Powder</a:t>
                      </a:r>
                      <a:endParaRPr sz="1100"/>
                    </a:p>
                  </a:txBody>
                  <a:tcPr marL="47625" marR="38100" marT="19050" marB="19050" anchor="ctr">
                    <a:solidFill>
                      <a:srgbClr val="E0E8EF"/>
                    </a:solidFill>
                  </a:tcPr>
                </a:tc>
                <a:tc>
                  <a:txBody>
                    <a:bodyPr wrap="none"/>
                    <a:lstStyle/>
                    <a:p>
                      <a:pPr algn="ct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619474" y="2817911"/>
            <a:ext cx="366712" cy="533400"/>
          </a:xfrm>
          <a:prstGeom prst="rect">
            <a:avLst/>
          </a:prstGeom>
        </p:spPr>
      </p:pic>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Company × Therapy Format, 2026E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therapy format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Therapy Format Mix by Company, 2026E (% share)</a:t>
            </a:r>
          </a:p>
        </p:txBody>
      </p:sp>
      <p:graphicFrame>
        <p:nvGraphicFramePr>
          <p:cNvPr id="12" name="Chart 11"/>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5" name="Rectangle 14"/>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816628" y="2804566"/>
            <a:ext cx="230207" cy="334847"/>
          </a:xfrm>
          <a:prstGeom prst="rect">
            <a:avLst/>
          </a:prstGeom>
        </p:spPr>
      </p:pic>
      <p:sp>
        <p:nvSpPr>
          <p:cNvPr id="19" name="TextBox 18"/>
          <p:cNvSpPr txBox="1"/>
          <p:nvPr/>
        </p:nvSpPr>
        <p:spPr>
          <a:xfrm>
            <a:off x="7715250" y="1400175"/>
            <a:ext cx="4003290" cy="194310"/>
          </a:xfrm>
          <a:prstGeom prst="rect">
            <a:avLst/>
          </a:prstGeom>
          <a:noFill/>
        </p:spPr>
        <p:txBody>
          <a:bodyPr wrap="none" lIns="0" rIns="0" tIns="0" bIns="0">
            <a:spAutoFit/>
          </a:bodyPr>
          <a:lstStyle/>
          <a:p>
            <a:r>
              <a:rPr sz="1150" b="0">
                <a:solidFill>
                  <a:srgbClr val="2E2E2E"/>
                </a:solidFill>
                <a:latin typeface="Calibri"/>
              </a:rPr>
              <a:t>▪ 'Subcutaneous Immunotherapy (SCIT)' holds the highest share of</a:t>
            </a:r>
          </a:p>
        </p:txBody>
      </p:sp>
      <p:sp>
        <p:nvSpPr>
          <p:cNvPr id="20" name="TextBox 19"/>
          <p:cNvSpPr txBox="1"/>
          <p:nvPr/>
        </p:nvSpPr>
        <p:spPr>
          <a:xfrm>
            <a:off x="7715250" y="1575435"/>
            <a:ext cx="2030149" cy="194310"/>
          </a:xfrm>
          <a:prstGeom prst="rect">
            <a:avLst/>
          </a:prstGeom>
          <a:noFill/>
        </p:spPr>
        <p:txBody>
          <a:bodyPr wrap="none" lIns="0" rIns="0" tIns="0" bIns="0">
            <a:spAutoFit/>
          </a:bodyPr>
          <a:lstStyle/>
          <a:p>
            <a:r>
              <a:rPr sz="1150" b="0">
                <a:solidFill>
                  <a:srgbClr val="2E2E2E"/>
                </a:solidFill>
                <a:latin typeface="Calibri"/>
              </a:rPr>
              <a:t>'Torii Pharmaceutical Co., Ltd.' at</a:t>
            </a:r>
          </a:p>
        </p:txBody>
      </p:sp>
      <p:pic>
        <p:nvPicPr>
          <p:cNvPr id="21" name="Picture 20" descr="lock.png"/>
          <p:cNvPicPr>
            <a:picLocks noChangeAspect="1"/>
          </p:cNvPicPr>
          <p:nvPr/>
        </p:nvPicPr>
        <p:blipFill>
          <a:blip r:embed="rId5"/>
          <a:stretch>
            <a:fillRect/>
          </a:stretch>
        </p:blipFill>
        <p:spPr>
          <a:xfrm>
            <a:off x="9694553" y="1565211"/>
            <a:ext cx="134549" cy="195707"/>
          </a:xfrm>
          <a:prstGeom prst="rect">
            <a:avLst/>
          </a:prstGeom>
        </p:spPr>
      </p:pic>
      <p:sp>
        <p:nvSpPr>
          <p:cNvPr id="22" name="TextBox 21"/>
          <p:cNvSpPr txBox="1"/>
          <p:nvPr/>
        </p:nvSpPr>
        <p:spPr>
          <a:xfrm>
            <a:off x="9869662"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3" name="TextBox 22"/>
          <p:cNvSpPr txBox="1"/>
          <p:nvPr/>
        </p:nvSpPr>
        <p:spPr>
          <a:xfrm>
            <a:off x="7715250" y="1803273"/>
            <a:ext cx="4058019" cy="194310"/>
          </a:xfrm>
          <a:prstGeom prst="rect">
            <a:avLst/>
          </a:prstGeom>
          <a:noFill/>
        </p:spPr>
        <p:txBody>
          <a:bodyPr wrap="none" lIns="0" rIns="0" tIns="0" bIns="0">
            <a:spAutoFit/>
          </a:bodyPr>
          <a:lstStyle/>
          <a:p>
            <a:r>
              <a:rPr sz="1150" b="0">
                <a:solidFill>
                  <a:srgbClr val="2E2E2E"/>
                </a:solidFill>
                <a:latin typeface="Calibri"/>
              </a:rPr>
              <a:t>▪ 'Torii Pharmaceutical Co., Ltd.' is the most concentrated company</a:t>
            </a:r>
          </a:p>
        </p:txBody>
      </p:sp>
      <p:sp>
        <p:nvSpPr>
          <p:cNvPr id="24" name="TextBox 23"/>
          <p:cNvSpPr txBox="1"/>
          <p:nvPr/>
        </p:nvSpPr>
        <p:spPr>
          <a:xfrm>
            <a:off x="7715250" y="1978533"/>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5" name="Picture 24" descr="lock.png"/>
          <p:cNvPicPr>
            <a:picLocks noChangeAspect="1"/>
          </p:cNvPicPr>
          <p:nvPr/>
        </p:nvPicPr>
        <p:blipFill>
          <a:blip r:embed="rId5"/>
          <a:stretch>
            <a:fillRect/>
          </a:stretch>
        </p:blipFill>
        <p:spPr>
          <a:xfrm>
            <a:off x="8843110" y="1968309"/>
            <a:ext cx="134549" cy="195707"/>
          </a:xfrm>
          <a:prstGeom prst="rect">
            <a:avLst/>
          </a:prstGeom>
        </p:spPr>
      </p:pic>
      <p:sp>
        <p:nvSpPr>
          <p:cNvPr id="26" name="TextBox 25"/>
          <p:cNvSpPr txBox="1"/>
          <p:nvPr/>
        </p:nvSpPr>
        <p:spPr>
          <a:xfrm>
            <a:off x="9018219" y="1978533"/>
            <a:ext cx="2824906" cy="194310"/>
          </a:xfrm>
          <a:prstGeom prst="rect">
            <a:avLst/>
          </a:prstGeom>
          <a:noFill/>
        </p:spPr>
        <p:txBody>
          <a:bodyPr wrap="none" lIns="0" rIns="0" tIns="0" bIns="0">
            <a:spAutoFit/>
          </a:bodyPr>
          <a:lstStyle/>
          <a:p>
            <a:r>
              <a:rPr sz="1150" b="0">
                <a:solidFill>
                  <a:srgbClr val="2E2E2E"/>
                </a:solidFill>
                <a:latin typeface="Calibri"/>
              </a:rPr>
              <a:t>of its value via 'Subcutaneous Immunotherapy</a:t>
            </a:r>
          </a:p>
        </p:txBody>
      </p:sp>
      <p:sp>
        <p:nvSpPr>
          <p:cNvPr id="27" name="TextBox 26"/>
          <p:cNvSpPr txBox="1"/>
          <p:nvPr/>
        </p:nvSpPr>
        <p:spPr>
          <a:xfrm>
            <a:off x="7715250" y="2153793"/>
            <a:ext cx="486680" cy="194310"/>
          </a:xfrm>
          <a:prstGeom prst="rect">
            <a:avLst/>
          </a:prstGeom>
          <a:noFill/>
        </p:spPr>
        <p:txBody>
          <a:bodyPr wrap="none" lIns="0" rIns="0" tIns="0" bIns="0">
            <a:spAutoFit/>
          </a:bodyPr>
          <a:lstStyle/>
          <a:p>
            <a:r>
              <a:rPr sz="1150" b="0">
                <a:solidFill>
                  <a:srgbClr val="2E2E2E"/>
                </a:solidFill>
                <a:latin typeface="Calibri"/>
              </a:rPr>
              <a:t>(SCIT)'.</a:t>
            </a:r>
          </a:p>
        </p:txBody>
      </p:sp>
      <p:sp>
        <p:nvSpPr>
          <p:cNvPr id="28" name="TextBox 27"/>
          <p:cNvSpPr txBox="1"/>
          <p:nvPr/>
        </p:nvSpPr>
        <p:spPr>
          <a:xfrm>
            <a:off x="7715250" y="2381631"/>
            <a:ext cx="1487921" cy="194310"/>
          </a:xfrm>
          <a:prstGeom prst="rect">
            <a:avLst/>
          </a:prstGeom>
          <a:noFill/>
        </p:spPr>
        <p:txBody>
          <a:bodyPr wrap="none" lIns="0" rIns="0" tIns="0" bIns="0">
            <a:spAutoFit/>
          </a:bodyPr>
          <a:lstStyle/>
          <a:p>
            <a:r>
              <a:rPr sz="1150" b="0">
                <a:solidFill>
                  <a:srgbClr val="2E2E2E"/>
                </a:solidFill>
                <a:latin typeface="Calibri"/>
              </a:rPr>
              <a:t>▪ 'SLIT Solutions' gains +</a:t>
            </a:r>
          </a:p>
        </p:txBody>
      </p:sp>
      <p:pic>
        <p:nvPicPr>
          <p:cNvPr id="29" name="Picture 28" descr="lock.png"/>
          <p:cNvPicPr>
            <a:picLocks noChangeAspect="1"/>
          </p:cNvPicPr>
          <p:nvPr/>
        </p:nvPicPr>
        <p:blipFill>
          <a:blip r:embed="rId5"/>
          <a:stretch>
            <a:fillRect/>
          </a:stretch>
        </p:blipFill>
        <p:spPr>
          <a:xfrm>
            <a:off x="9152325" y="2371407"/>
            <a:ext cx="134549" cy="195707"/>
          </a:xfrm>
          <a:prstGeom prst="rect">
            <a:avLst/>
          </a:prstGeom>
        </p:spPr>
      </p:pic>
      <p:sp>
        <p:nvSpPr>
          <p:cNvPr id="30" name="TextBox 29"/>
          <p:cNvSpPr txBox="1"/>
          <p:nvPr/>
        </p:nvSpPr>
        <p:spPr>
          <a:xfrm>
            <a:off x="9327434" y="2381631"/>
            <a:ext cx="2426121" cy="194310"/>
          </a:xfrm>
          <a:prstGeom prst="rect">
            <a:avLst/>
          </a:prstGeom>
          <a:noFill/>
        </p:spPr>
        <p:txBody>
          <a:bodyPr wrap="none" lIns="0" rIns="0" tIns="0" bIns="0">
            <a:spAutoFit/>
          </a:bodyPr>
          <a:lstStyle/>
          <a:p>
            <a:r>
              <a:rPr sz="1150" b="0">
                <a:solidFill>
                  <a:srgbClr val="2E2E2E"/>
                </a:solidFill>
                <a:latin typeface="Calibri"/>
              </a:rPr>
              <a:t>BPS of share of the Global cross-section</a:t>
            </a:r>
          </a:p>
        </p:txBody>
      </p:sp>
      <p:sp>
        <p:nvSpPr>
          <p:cNvPr id="31" name="TextBox 30"/>
          <p:cNvSpPr txBox="1"/>
          <p:nvPr/>
        </p:nvSpPr>
        <p:spPr>
          <a:xfrm>
            <a:off x="7715250" y="2556891"/>
            <a:ext cx="652484" cy="194310"/>
          </a:xfrm>
          <a:prstGeom prst="rect">
            <a:avLst/>
          </a:prstGeom>
          <a:noFill/>
        </p:spPr>
        <p:txBody>
          <a:bodyPr wrap="none" lIns="0" rIns="0" tIns="0" bIns="0">
            <a:spAutoFit/>
          </a:bodyPr>
          <a:lstStyle/>
          <a:p>
            <a:r>
              <a:rPr sz="1150" b="0">
                <a:solidFill>
                  <a:srgbClr val="2E2E2E"/>
                </a:solidFill>
                <a:latin typeface="Calibri"/>
              </a:rPr>
              <a:t>by 2036F.</a:t>
            </a:r>
          </a:p>
        </p:txBody>
      </p:sp>
      <p:sp>
        <p:nvSpPr>
          <p:cNvPr id="32" name="lockshield_12"/>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Company × Therapy Format, 2026E–2036F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Company × Therapy Format, 2026E–2036F</a:t>
            </a:r>
          </a:p>
        </p:txBody>
      </p:sp>
      <p:graphicFrame>
        <p:nvGraphicFramePr>
          <p:cNvPr id="13" name="Table 12"/>
          <p:cNvGraphicFramePr>
            <a:graphicFrameLocks noGrp="1"/>
          </p:cNvGraphicFramePr>
          <p:nvPr/>
        </p:nvGraphicFramePr>
        <p:xfrm>
          <a:off x="152400" y="1238250"/>
          <a:ext cx="11887197" cy="3400428"/>
        </p:xfrm>
        <a:graphic>
          <a:graphicData uri="http://schemas.openxmlformats.org/drawingml/2006/table">
            <a:tbl>
              <a:tblPr>
                <a:tableStyleId>{5C22544A-7EE6-4342-B048-85BDC9FD1C3A}</a:tableStyleId>
              </a:tblPr>
              <a:tblGrid>
                <a:gridCol w="4072021"/>
                <a:gridCol w="976897"/>
                <a:gridCol w="976897"/>
                <a:gridCol w="976897"/>
                <a:gridCol w="976897"/>
                <a:gridCol w="976897"/>
                <a:gridCol w="976897"/>
                <a:gridCol w="976897"/>
                <a:gridCol w="976897"/>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Subcutaneous</a:t>
                      </a:r>
                      <a:endParaRPr sz="1100"/>
                    </a:p>
                    <a:p>
                      <a:pPr algn="ctr"/>
                      <a:r>
                        <a:rPr sz="1100" b="1">
                          <a:solidFill>
                            <a:srgbClr val="0B2E4A"/>
                          </a:solidFill>
                          <a:latin typeface="Calibri"/>
                        </a:rPr>
                        <a:t>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Sublingual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93">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93">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8.4%</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8.4%</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b="0">
                          <a:solidFill>
                            <a:srgbClr val="2E2E2E"/>
                          </a:solidFill>
                          <a:latin typeface="Calibri"/>
                        </a:rPr>
                        <a:t>8.4%</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8.4%</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648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945318" y="3014616"/>
            <a:ext cx="366712" cy="533400"/>
          </a:xfrm>
          <a:prstGeom prst="rect">
            <a:avLst/>
          </a:prstGeom>
        </p:spPr>
      </p:pic>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Company × Therapy Format, 2026E–2036F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5600700" cy="5648325"/>
          </a:xfrm>
          <a:prstGeom prst="roundRect">
            <a:avLst>
              <a:gd name="adj" fmla="val 13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2" name="Rectangle 11"/>
          <p:cNvSpPr/>
          <p:nvPr/>
        </p:nvSpPr>
        <p:spPr>
          <a:xfrm>
            <a:off x="276225" y="13049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334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58959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293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16" name="Rectangle 15"/>
          <p:cNvSpPr/>
          <p:nvPr/>
        </p:nvSpPr>
        <p:spPr>
          <a:xfrm>
            <a:off x="60293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9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79914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48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0" name="Rectangle 19"/>
          <p:cNvSpPr/>
          <p:nvPr/>
        </p:nvSpPr>
        <p:spPr>
          <a:xfrm>
            <a:off x="81248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48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100869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203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4" name="Rectangle 23"/>
          <p:cNvSpPr/>
          <p:nvPr/>
        </p:nvSpPr>
        <p:spPr>
          <a:xfrm>
            <a:off x="102203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20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'ALK-Abelló A/S × Sublingual Immunotherapy' ranks highest (5/5); 'Stallergenes Greer International AG × Oral Immunotherapy' lowest (1/5), a deprioritised cell.</a:t>
            </a: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7" name="TextBox 26"/>
          <p:cNvSpPr txBox="1"/>
          <p:nvPr/>
        </p:nvSpPr>
        <p:spPr>
          <a:xfrm>
            <a:off x="276225" y="1400175"/>
            <a:ext cx="4009762" cy="194310"/>
          </a:xfrm>
          <a:prstGeom prst="rect">
            <a:avLst/>
          </a:prstGeom>
          <a:noFill/>
        </p:spPr>
        <p:txBody>
          <a:bodyPr wrap="none" lIns="0" rIns="0" tIns="0" bIns="0">
            <a:spAutoFit/>
          </a:bodyPr>
          <a:lstStyle/>
          <a:p>
            <a:r>
              <a:rPr sz="1150" b="0">
                <a:solidFill>
                  <a:srgbClr val="2E2E2E"/>
                </a:solidFill>
                <a:latin typeface="Calibri"/>
              </a:rPr>
              <a:t>▪ 1. Allergopharma GmbH &amp; Co. KG × Sublingual Immunotherapy –</a:t>
            </a:r>
          </a:p>
        </p:txBody>
      </p:sp>
      <p:pic>
        <p:nvPicPr>
          <p:cNvPr id="28" name="Picture 27" descr="lock.png"/>
          <p:cNvPicPr>
            <a:picLocks noChangeAspect="1"/>
          </p:cNvPicPr>
          <p:nvPr/>
        </p:nvPicPr>
        <p:blipFill>
          <a:blip r:embed="rId4"/>
          <a:stretch>
            <a:fillRect/>
          </a:stretch>
        </p:blipFill>
        <p:spPr>
          <a:xfrm>
            <a:off x="4235141" y="1389951"/>
            <a:ext cx="134549" cy="195707"/>
          </a:xfrm>
          <a:prstGeom prst="rect">
            <a:avLst/>
          </a:prstGeom>
        </p:spPr>
      </p:pic>
      <p:sp>
        <p:nvSpPr>
          <p:cNvPr id="29" name="TextBox 28"/>
          <p:cNvSpPr txBox="1"/>
          <p:nvPr/>
        </p:nvSpPr>
        <p:spPr>
          <a:xfrm>
            <a:off x="4410250" y="14001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0" name="Picture 29" descr="lock.png"/>
          <p:cNvPicPr>
            <a:picLocks noChangeAspect="1"/>
          </p:cNvPicPr>
          <p:nvPr/>
        </p:nvPicPr>
        <p:blipFill>
          <a:blip r:embed="rId4"/>
          <a:stretch>
            <a:fillRect/>
          </a:stretch>
        </p:blipFill>
        <p:spPr>
          <a:xfrm>
            <a:off x="4472402" y="1389951"/>
            <a:ext cx="134549" cy="195707"/>
          </a:xfrm>
          <a:prstGeom prst="rect">
            <a:avLst/>
          </a:prstGeom>
        </p:spPr>
      </p:pic>
      <p:sp>
        <p:nvSpPr>
          <p:cNvPr id="31" name="TextBox 30"/>
          <p:cNvSpPr txBox="1"/>
          <p:nvPr/>
        </p:nvSpPr>
        <p:spPr>
          <a:xfrm>
            <a:off x="4647511" y="140017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2" name="TextBox 31"/>
          <p:cNvSpPr txBox="1"/>
          <p:nvPr/>
        </p:nvSpPr>
        <p:spPr>
          <a:xfrm>
            <a:off x="276225" y="1628013"/>
            <a:ext cx="3371845" cy="194310"/>
          </a:xfrm>
          <a:prstGeom prst="rect">
            <a:avLst/>
          </a:prstGeom>
          <a:noFill/>
        </p:spPr>
        <p:txBody>
          <a:bodyPr wrap="none" lIns="0" rIns="0" tIns="0" bIns="0">
            <a:spAutoFit/>
          </a:bodyPr>
          <a:lstStyle/>
          <a:p>
            <a:r>
              <a:rPr sz="1150" b="0">
                <a:solidFill>
                  <a:srgbClr val="2E2E2E"/>
                </a:solidFill>
                <a:latin typeface="Calibri"/>
              </a:rPr>
              <a:t>▪ 2. DIATER Laboratories × Sublingual Immunotherapy –</a:t>
            </a:r>
          </a:p>
        </p:txBody>
      </p:sp>
      <p:pic>
        <p:nvPicPr>
          <p:cNvPr id="33" name="Picture 32" descr="lock.png"/>
          <p:cNvPicPr>
            <a:picLocks noChangeAspect="1"/>
          </p:cNvPicPr>
          <p:nvPr/>
        </p:nvPicPr>
        <p:blipFill>
          <a:blip r:embed="rId4"/>
          <a:stretch>
            <a:fillRect/>
          </a:stretch>
        </p:blipFill>
        <p:spPr>
          <a:xfrm>
            <a:off x="3597224" y="1617789"/>
            <a:ext cx="134549" cy="195707"/>
          </a:xfrm>
          <a:prstGeom prst="rect">
            <a:avLst/>
          </a:prstGeom>
        </p:spPr>
      </p:pic>
      <p:sp>
        <p:nvSpPr>
          <p:cNvPr id="34" name="TextBox 33"/>
          <p:cNvSpPr txBox="1"/>
          <p:nvPr/>
        </p:nvSpPr>
        <p:spPr>
          <a:xfrm>
            <a:off x="3772333" y="16280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834485" y="1617789"/>
            <a:ext cx="134549" cy="195707"/>
          </a:xfrm>
          <a:prstGeom prst="rect">
            <a:avLst/>
          </a:prstGeom>
        </p:spPr>
      </p:pic>
      <p:sp>
        <p:nvSpPr>
          <p:cNvPr id="36" name="TextBox 35"/>
          <p:cNvSpPr txBox="1"/>
          <p:nvPr/>
        </p:nvSpPr>
        <p:spPr>
          <a:xfrm>
            <a:off x="4009594" y="162801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1855851"/>
            <a:ext cx="4273122" cy="194310"/>
          </a:xfrm>
          <a:prstGeom prst="rect">
            <a:avLst/>
          </a:prstGeom>
          <a:noFill/>
        </p:spPr>
        <p:txBody>
          <a:bodyPr wrap="none" lIns="0" rIns="0" tIns="0" bIns="0">
            <a:spAutoFit/>
          </a:bodyPr>
          <a:lstStyle/>
          <a:p>
            <a:r>
              <a:rPr sz="1150" b="0">
                <a:solidFill>
                  <a:srgbClr val="2E2E2E"/>
                </a:solidFill>
                <a:latin typeface="Calibri"/>
              </a:rPr>
              <a:t>▪ 3. Stallergenes Greer International AG × Sublingual Immunotherapy –</a:t>
            </a:r>
          </a:p>
        </p:txBody>
      </p:sp>
      <p:pic>
        <p:nvPicPr>
          <p:cNvPr id="38" name="Picture 37" descr="lock.png"/>
          <p:cNvPicPr>
            <a:picLocks noChangeAspect="1"/>
          </p:cNvPicPr>
          <p:nvPr/>
        </p:nvPicPr>
        <p:blipFill>
          <a:blip r:embed="rId4"/>
          <a:stretch>
            <a:fillRect/>
          </a:stretch>
        </p:blipFill>
        <p:spPr>
          <a:xfrm>
            <a:off x="4498501" y="1845627"/>
            <a:ext cx="134549" cy="195707"/>
          </a:xfrm>
          <a:prstGeom prst="rect">
            <a:avLst/>
          </a:prstGeom>
        </p:spPr>
      </p:pic>
      <p:sp>
        <p:nvSpPr>
          <p:cNvPr id="39" name="TextBox 38"/>
          <p:cNvSpPr txBox="1"/>
          <p:nvPr/>
        </p:nvSpPr>
        <p:spPr>
          <a:xfrm>
            <a:off x="4673611" y="185585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4735762" y="1845627"/>
            <a:ext cx="134549" cy="195707"/>
          </a:xfrm>
          <a:prstGeom prst="rect">
            <a:avLst/>
          </a:prstGeom>
        </p:spPr>
      </p:pic>
      <p:sp>
        <p:nvSpPr>
          <p:cNvPr id="41" name="TextBox 40"/>
          <p:cNvSpPr txBox="1"/>
          <p:nvPr/>
        </p:nvSpPr>
        <p:spPr>
          <a:xfrm>
            <a:off x="4910872" y="1855851"/>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2083689"/>
            <a:ext cx="3045086" cy="194310"/>
          </a:xfrm>
          <a:prstGeom prst="rect">
            <a:avLst/>
          </a:prstGeom>
          <a:noFill/>
        </p:spPr>
        <p:txBody>
          <a:bodyPr wrap="none" lIns="0" rIns="0" tIns="0" bIns="0">
            <a:spAutoFit/>
          </a:bodyPr>
          <a:lstStyle/>
          <a:p>
            <a:r>
              <a:rPr sz="1150" b="0">
                <a:solidFill>
                  <a:srgbClr val="2E2E2E"/>
                </a:solidFill>
                <a:latin typeface="Calibri"/>
              </a:rPr>
              <a:t>▪ 4. ALK-Abelló A/S × Sublingual Immunotherapy –</a:t>
            </a:r>
          </a:p>
        </p:txBody>
      </p:sp>
      <p:pic>
        <p:nvPicPr>
          <p:cNvPr id="43" name="Picture 42" descr="lock.png"/>
          <p:cNvPicPr>
            <a:picLocks noChangeAspect="1"/>
          </p:cNvPicPr>
          <p:nvPr/>
        </p:nvPicPr>
        <p:blipFill>
          <a:blip r:embed="rId4"/>
          <a:stretch>
            <a:fillRect/>
          </a:stretch>
        </p:blipFill>
        <p:spPr>
          <a:xfrm>
            <a:off x="3270465" y="2073465"/>
            <a:ext cx="134549" cy="195707"/>
          </a:xfrm>
          <a:prstGeom prst="rect">
            <a:avLst/>
          </a:prstGeom>
        </p:spPr>
      </p:pic>
      <p:sp>
        <p:nvSpPr>
          <p:cNvPr id="44" name="TextBox 43"/>
          <p:cNvSpPr txBox="1"/>
          <p:nvPr/>
        </p:nvSpPr>
        <p:spPr>
          <a:xfrm>
            <a:off x="3445575" y="2083689"/>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507726" y="2073465"/>
            <a:ext cx="134549" cy="195707"/>
          </a:xfrm>
          <a:prstGeom prst="rect">
            <a:avLst/>
          </a:prstGeom>
        </p:spPr>
      </p:pic>
      <p:sp>
        <p:nvSpPr>
          <p:cNvPr id="46" name="TextBox 45"/>
          <p:cNvSpPr txBox="1"/>
          <p:nvPr/>
        </p:nvSpPr>
        <p:spPr>
          <a:xfrm>
            <a:off x="3682836" y="2083689"/>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7" name="TextBox 46"/>
          <p:cNvSpPr txBox="1"/>
          <p:nvPr/>
        </p:nvSpPr>
        <p:spPr>
          <a:xfrm>
            <a:off x="276225" y="2311527"/>
            <a:ext cx="4442581" cy="194310"/>
          </a:xfrm>
          <a:prstGeom prst="rect">
            <a:avLst/>
          </a:prstGeom>
          <a:noFill/>
        </p:spPr>
        <p:txBody>
          <a:bodyPr wrap="none" lIns="0" rIns="0" tIns="0" bIns="0">
            <a:spAutoFit/>
          </a:bodyPr>
          <a:lstStyle/>
          <a:p>
            <a:r>
              <a:rPr sz="1150" b="0">
                <a:solidFill>
                  <a:srgbClr val="2E2E2E"/>
                </a:solidFill>
                <a:latin typeface="Calibri"/>
              </a:rPr>
              <a:t>▪ 5. LETI Pharma / Laboratorios LETI, S.L.U. × Sublingual Immunotherapy –</a:t>
            </a:r>
          </a:p>
        </p:txBody>
      </p:sp>
      <p:pic>
        <p:nvPicPr>
          <p:cNvPr id="48" name="Picture 47" descr="lock.png"/>
          <p:cNvPicPr>
            <a:picLocks noChangeAspect="1"/>
          </p:cNvPicPr>
          <p:nvPr/>
        </p:nvPicPr>
        <p:blipFill>
          <a:blip r:embed="rId4"/>
          <a:stretch>
            <a:fillRect/>
          </a:stretch>
        </p:blipFill>
        <p:spPr>
          <a:xfrm>
            <a:off x="4667960" y="2301303"/>
            <a:ext cx="134549" cy="195707"/>
          </a:xfrm>
          <a:prstGeom prst="rect">
            <a:avLst/>
          </a:prstGeom>
        </p:spPr>
      </p:pic>
      <p:sp>
        <p:nvSpPr>
          <p:cNvPr id="49" name="TextBox 48"/>
          <p:cNvSpPr txBox="1"/>
          <p:nvPr/>
        </p:nvSpPr>
        <p:spPr>
          <a:xfrm>
            <a:off x="4843069" y="231152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4905221" y="2301303"/>
            <a:ext cx="134549" cy="195707"/>
          </a:xfrm>
          <a:prstGeom prst="rect">
            <a:avLst/>
          </a:prstGeom>
        </p:spPr>
      </p:pic>
      <p:sp>
        <p:nvSpPr>
          <p:cNvPr id="51" name="TextBox 50"/>
          <p:cNvSpPr txBox="1"/>
          <p:nvPr/>
        </p:nvSpPr>
        <p:spPr>
          <a:xfrm>
            <a:off x="5080330" y="2311527"/>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2" name="TextBox 51"/>
          <p:cNvSpPr txBox="1"/>
          <p:nvPr/>
        </p:nvSpPr>
        <p:spPr>
          <a:xfrm>
            <a:off x="6029325" y="1400175"/>
            <a:ext cx="1617712" cy="194310"/>
          </a:xfrm>
          <a:prstGeom prst="rect">
            <a:avLst/>
          </a:prstGeom>
          <a:noFill/>
        </p:spPr>
        <p:txBody>
          <a:bodyPr wrap="none" lIns="0" rIns="0" tIns="0" bIns="0">
            <a:spAutoFit/>
          </a:bodyPr>
          <a:lstStyle/>
          <a:p>
            <a:r>
              <a:rPr sz="1150" b="0">
                <a:solidFill>
                  <a:srgbClr val="2E2E2E"/>
                </a:solidFill>
                <a:latin typeface="Calibri"/>
              </a:rPr>
              <a:t>▪ 'Allergopharma GmbH &amp;</a:t>
            </a:r>
          </a:p>
        </p:txBody>
      </p:sp>
      <p:sp>
        <p:nvSpPr>
          <p:cNvPr id="53" name="TextBox 52"/>
          <p:cNvSpPr txBox="1"/>
          <p:nvPr/>
        </p:nvSpPr>
        <p:spPr>
          <a:xfrm>
            <a:off x="6029325" y="1575435"/>
            <a:ext cx="1221405" cy="194310"/>
          </a:xfrm>
          <a:prstGeom prst="rect">
            <a:avLst/>
          </a:prstGeom>
          <a:noFill/>
        </p:spPr>
        <p:txBody>
          <a:bodyPr wrap="none" lIns="0" rIns="0" tIns="0" bIns="0">
            <a:spAutoFit/>
          </a:bodyPr>
          <a:lstStyle/>
          <a:p>
            <a:r>
              <a:rPr sz="1150" b="0">
                <a:solidFill>
                  <a:srgbClr val="2E2E2E"/>
                </a:solidFill>
                <a:latin typeface="Calibri"/>
              </a:rPr>
              <a:t>Co. KG × Sublingual</a:t>
            </a:r>
          </a:p>
        </p:txBody>
      </p:sp>
      <p:sp>
        <p:nvSpPr>
          <p:cNvPr id="54" name="TextBox 53"/>
          <p:cNvSpPr txBox="1"/>
          <p:nvPr/>
        </p:nvSpPr>
        <p:spPr>
          <a:xfrm>
            <a:off x="6029325" y="1750695"/>
            <a:ext cx="1384944" cy="194310"/>
          </a:xfrm>
          <a:prstGeom prst="rect">
            <a:avLst/>
          </a:prstGeom>
          <a:noFill/>
        </p:spPr>
        <p:txBody>
          <a:bodyPr wrap="none" lIns="0" rIns="0" tIns="0" bIns="0">
            <a:spAutoFit/>
          </a:bodyPr>
          <a:lstStyle/>
          <a:p>
            <a:r>
              <a:rPr sz="1150" b="0">
                <a:solidFill>
                  <a:srgbClr val="2E2E2E"/>
                </a:solidFill>
                <a:latin typeface="Calibri"/>
              </a:rPr>
              <a:t>Immunotherapy' adds</a:t>
            </a:r>
          </a:p>
        </p:txBody>
      </p:sp>
      <p:pic>
        <p:nvPicPr>
          <p:cNvPr id="55" name="Picture 54" descr="lock.png"/>
          <p:cNvPicPr>
            <a:picLocks noChangeAspect="1"/>
          </p:cNvPicPr>
          <p:nvPr/>
        </p:nvPicPr>
        <p:blipFill>
          <a:blip r:embed="rId4"/>
          <a:stretch>
            <a:fillRect/>
          </a:stretch>
        </p:blipFill>
        <p:spPr>
          <a:xfrm>
            <a:off x="7363423" y="1740471"/>
            <a:ext cx="134549" cy="195707"/>
          </a:xfrm>
          <a:prstGeom prst="rect">
            <a:avLst/>
          </a:prstGeom>
        </p:spPr>
      </p:pic>
      <p:sp>
        <p:nvSpPr>
          <p:cNvPr id="56" name="TextBox 55"/>
          <p:cNvSpPr txBox="1"/>
          <p:nvPr/>
        </p:nvSpPr>
        <p:spPr>
          <a:xfrm>
            <a:off x="6029325" y="1925955"/>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57" name="Picture 56" descr="lock.png"/>
          <p:cNvPicPr>
            <a:picLocks noChangeAspect="1"/>
          </p:cNvPicPr>
          <p:nvPr/>
        </p:nvPicPr>
        <p:blipFill>
          <a:blip r:embed="rId4"/>
          <a:stretch>
            <a:fillRect/>
          </a:stretch>
        </p:blipFill>
        <p:spPr>
          <a:xfrm>
            <a:off x="7203111" y="1915731"/>
            <a:ext cx="134549" cy="195707"/>
          </a:xfrm>
          <a:prstGeom prst="rect">
            <a:avLst/>
          </a:prstGeom>
        </p:spPr>
      </p:pic>
      <p:sp>
        <p:nvSpPr>
          <p:cNvPr id="58" name="TextBox 57"/>
          <p:cNvSpPr txBox="1"/>
          <p:nvPr/>
        </p:nvSpPr>
        <p:spPr>
          <a:xfrm>
            <a:off x="7378220" y="1925955"/>
            <a:ext cx="197718" cy="194310"/>
          </a:xfrm>
          <a:prstGeom prst="rect">
            <a:avLst/>
          </a:prstGeom>
          <a:noFill/>
        </p:spPr>
        <p:txBody>
          <a:bodyPr wrap="none" lIns="0" rIns="0" tIns="0" bIns="0">
            <a:spAutoFit/>
          </a:bodyPr>
          <a:lstStyle/>
          <a:p>
            <a:r>
              <a:rPr sz="1150" b="0">
                <a:solidFill>
                  <a:srgbClr val="2E2E2E"/>
                </a:solidFill>
                <a:latin typeface="Calibri"/>
              </a:rPr>
              <a:t>of</a:t>
            </a:r>
          </a:p>
        </p:txBody>
      </p:sp>
      <p:sp>
        <p:nvSpPr>
          <p:cNvPr id="59" name="TextBox 58"/>
          <p:cNvSpPr txBox="1"/>
          <p:nvPr/>
        </p:nvSpPr>
        <p:spPr>
          <a:xfrm>
            <a:off x="6029325" y="2101215"/>
            <a:ext cx="1366403" cy="194310"/>
          </a:xfrm>
          <a:prstGeom prst="rect">
            <a:avLst/>
          </a:prstGeom>
          <a:noFill/>
        </p:spPr>
        <p:txBody>
          <a:bodyPr wrap="none" lIns="0" rIns="0" tIns="0" bIns="0">
            <a:spAutoFit/>
          </a:bodyPr>
          <a:lstStyle/>
          <a:p>
            <a:r>
              <a:rPr sz="1150" b="0">
                <a:solidFill>
                  <a:srgbClr val="2E2E2E"/>
                </a:solidFill>
                <a:latin typeface="Calibri"/>
              </a:rPr>
              <a:t>the total opportunity.</a:t>
            </a:r>
          </a:p>
        </p:txBody>
      </p:sp>
      <p:sp>
        <p:nvSpPr>
          <p:cNvPr id="60" name="TextBox 59"/>
          <p:cNvSpPr txBox="1"/>
          <p:nvPr/>
        </p:nvSpPr>
        <p:spPr>
          <a:xfrm>
            <a:off x="8124825" y="1400175"/>
            <a:ext cx="1657350" cy="194310"/>
          </a:xfrm>
          <a:prstGeom prst="rect">
            <a:avLst/>
          </a:prstGeom>
          <a:noFill/>
        </p:spPr>
        <p:txBody>
          <a:bodyPr wrap="none" lIns="0" rIns="0" tIns="0" bIns="0">
            <a:spAutoFit/>
          </a:bodyPr>
          <a:lstStyle/>
          <a:p>
            <a:r>
              <a:rPr sz="1150" b="0">
                <a:solidFill>
                  <a:srgbClr val="2E2E2E"/>
                </a:solidFill>
                <a:latin typeface="Calibri"/>
              </a:rPr>
              <a:t>▪ 'Allergy Therapeutics plc ×</a:t>
            </a:r>
          </a:p>
        </p:txBody>
      </p:sp>
      <p:sp>
        <p:nvSpPr>
          <p:cNvPr id="61" name="TextBox 60"/>
          <p:cNvSpPr txBox="1"/>
          <p:nvPr/>
        </p:nvSpPr>
        <p:spPr>
          <a:xfrm>
            <a:off x="8124825" y="1575435"/>
            <a:ext cx="1657350" cy="194310"/>
          </a:xfrm>
          <a:prstGeom prst="rect">
            <a:avLst/>
          </a:prstGeom>
          <a:noFill/>
        </p:spPr>
        <p:txBody>
          <a:bodyPr wrap="none" lIns="0" rIns="0" tIns="0" bIns="0">
            <a:spAutoFit/>
          </a:bodyPr>
          <a:lstStyle/>
          <a:p>
            <a:r>
              <a:rPr sz="1150" b="0">
                <a:solidFill>
                  <a:srgbClr val="2E2E2E"/>
                </a:solidFill>
                <a:latin typeface="Calibri"/>
              </a:rPr>
              <a:t>Sublingual Immunotherapy'</a:t>
            </a:r>
          </a:p>
        </p:txBody>
      </p:sp>
      <p:sp>
        <p:nvSpPr>
          <p:cNvPr id="62" name="TextBox 61"/>
          <p:cNvSpPr txBox="1"/>
          <p:nvPr/>
        </p:nvSpPr>
        <p:spPr>
          <a:xfrm>
            <a:off x="8124825" y="1750695"/>
            <a:ext cx="689495" cy="194310"/>
          </a:xfrm>
          <a:prstGeom prst="rect">
            <a:avLst/>
          </a:prstGeom>
          <a:noFill/>
        </p:spPr>
        <p:txBody>
          <a:bodyPr wrap="none" lIns="0" rIns="0" tIns="0" bIns="0">
            <a:spAutoFit/>
          </a:bodyPr>
          <a:lstStyle/>
          <a:p>
            <a:r>
              <a:rPr sz="1150" b="0">
                <a:solidFill>
                  <a:srgbClr val="2E2E2E"/>
                </a:solidFill>
                <a:latin typeface="Calibri"/>
              </a:rPr>
              <a:t>grows at a</a:t>
            </a:r>
          </a:p>
        </p:txBody>
      </p:sp>
      <p:pic>
        <p:nvPicPr>
          <p:cNvPr id="63" name="Picture 62" descr="lock.png"/>
          <p:cNvPicPr>
            <a:picLocks noChangeAspect="1"/>
          </p:cNvPicPr>
          <p:nvPr/>
        </p:nvPicPr>
        <p:blipFill>
          <a:blip r:embed="rId4"/>
          <a:stretch>
            <a:fillRect/>
          </a:stretch>
        </p:blipFill>
        <p:spPr>
          <a:xfrm>
            <a:off x="8763474" y="1740471"/>
            <a:ext cx="134549" cy="195707"/>
          </a:xfrm>
          <a:prstGeom prst="rect">
            <a:avLst/>
          </a:prstGeom>
        </p:spPr>
      </p:pic>
      <p:sp>
        <p:nvSpPr>
          <p:cNvPr id="64" name="TextBox 63"/>
          <p:cNvSpPr txBox="1"/>
          <p:nvPr/>
        </p:nvSpPr>
        <p:spPr>
          <a:xfrm>
            <a:off x="8938584" y="175069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5" name="Picture 64" descr="lock.png"/>
          <p:cNvPicPr>
            <a:picLocks noChangeAspect="1"/>
          </p:cNvPicPr>
          <p:nvPr/>
        </p:nvPicPr>
        <p:blipFill>
          <a:blip r:embed="rId4"/>
          <a:stretch>
            <a:fillRect/>
          </a:stretch>
        </p:blipFill>
        <p:spPr>
          <a:xfrm>
            <a:off x="9334179" y="1740471"/>
            <a:ext cx="134549" cy="195707"/>
          </a:xfrm>
          <a:prstGeom prst="rect">
            <a:avLst/>
          </a:prstGeom>
        </p:spPr>
      </p:pic>
      <p:sp>
        <p:nvSpPr>
          <p:cNvPr id="66" name="TextBox 65"/>
          <p:cNvSpPr txBox="1"/>
          <p:nvPr/>
        </p:nvSpPr>
        <p:spPr>
          <a:xfrm>
            <a:off x="8124825" y="1925955"/>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67" name="TextBox 66"/>
          <p:cNvSpPr txBox="1"/>
          <p:nvPr/>
        </p:nvSpPr>
        <p:spPr>
          <a:xfrm>
            <a:off x="8124825" y="2101215"/>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Company × Allergen Preparation Technology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Company × Allergen Preparation Technology,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company sub-segment across allergen preparation technology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Company × Allergen Preparation Technology, 2026E and 2036F (US$ Mn)</a:t>
            </a:r>
          </a:p>
        </p:txBody>
      </p:sp>
      <p:graphicFrame>
        <p:nvGraphicFramePr>
          <p:cNvPr id="13" name="Table 12"/>
          <p:cNvGraphicFramePr>
            <a:graphicFrameLocks noGrp="1"/>
          </p:cNvGraphicFramePr>
          <p:nvPr/>
        </p:nvGraphicFramePr>
        <p:xfrm>
          <a:off x="152400" y="1238250"/>
          <a:ext cx="11887199" cy="3400428"/>
        </p:xfrm>
        <a:graphic>
          <a:graphicData uri="http://schemas.openxmlformats.org/drawingml/2006/table">
            <a:tbl>
              <a:tblPr>
                <a:tableStyleId>{5C22544A-7EE6-4342-B048-85BDC9FD1C3A}</a:tableStyleId>
              </a:tblPr>
              <a:tblGrid>
                <a:gridCol w="4653631"/>
                <a:gridCol w="904196"/>
                <a:gridCol w="904196"/>
                <a:gridCol w="904196"/>
                <a:gridCol w="904196"/>
                <a:gridCol w="904196"/>
                <a:gridCol w="904196"/>
                <a:gridCol w="904196"/>
                <a:gridCol w="904196"/>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Native Allergen Extracts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Modified Allergen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Molecular Allergen</a:t>
                      </a:r>
                      <a:endParaRPr sz="1100"/>
                    </a:p>
                    <a:p>
                      <a:pPr algn="ctr"/>
                      <a:r>
                        <a:rPr sz="1100" b="1">
                          <a:solidFill>
                            <a:srgbClr val="0B2E4A"/>
                          </a:solidFill>
                          <a:latin typeface="Calibri"/>
                        </a:rPr>
                        <a:t>Preparations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93">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793">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2,428</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5,439</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648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8236125" y="3014616"/>
            <a:ext cx="366712" cy="533400"/>
          </a:xfrm>
          <a:prstGeom prst="rect">
            <a:avLst/>
          </a:prstGeom>
        </p:spPr>
      </p:pic>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Company × Allergen Preparation Technology,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company sub-segment across allergen preparation technology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Company → Allergen Preparation Technology, 2036F (US$ Mn)</a:t>
            </a:r>
          </a:p>
        </p:txBody>
      </p:sp>
      <p:sp>
        <p:nvSpPr>
          <p:cNvPr id="12" name="Freeform 11"/>
          <p:cNvSpPr/>
          <p:nvPr/>
        </p:nvSpPr>
        <p:spPr>
          <a:xfrm>
            <a:off x="2057400" y="1304925"/>
            <a:ext cx="3743325" cy="390525"/>
          </a:xfrm>
          <a:custGeom>
            <a:avLst/>
            <a:gdLst/>
            <a:ahLst/>
            <a:cxnLst/>
            <a:rect l="l" t="t" r="r" b="b"/>
            <a:pathLst>
              <a:path w="393" h="41">
                <a:moveTo>
                  <a:pt x="0" y="0"/>
                </a:moveTo>
                <a:lnTo>
                  <a:pt x="16" y="0"/>
                </a:lnTo>
                <a:lnTo>
                  <a:pt x="33" y="0"/>
                </a:lnTo>
                <a:lnTo>
                  <a:pt x="49" y="1"/>
                </a:lnTo>
                <a:lnTo>
                  <a:pt x="65" y="2"/>
                </a:lnTo>
                <a:lnTo>
                  <a:pt x="82" y="2"/>
                </a:lnTo>
                <a:lnTo>
                  <a:pt x="98" y="3"/>
                </a:lnTo>
                <a:lnTo>
                  <a:pt x="114" y="4"/>
                </a:lnTo>
                <a:lnTo>
                  <a:pt x="131" y="5"/>
                </a:lnTo>
                <a:lnTo>
                  <a:pt x="147" y="7"/>
                </a:lnTo>
                <a:lnTo>
                  <a:pt x="164" y="8"/>
                </a:lnTo>
                <a:lnTo>
                  <a:pt x="180" y="9"/>
                </a:lnTo>
                <a:lnTo>
                  <a:pt x="196" y="11"/>
                </a:lnTo>
                <a:lnTo>
                  <a:pt x="213" y="12"/>
                </a:lnTo>
                <a:lnTo>
                  <a:pt x="229" y="13"/>
                </a:lnTo>
                <a:lnTo>
                  <a:pt x="246" y="14"/>
                </a:lnTo>
                <a:lnTo>
                  <a:pt x="262" y="16"/>
                </a:lnTo>
                <a:lnTo>
                  <a:pt x="278" y="17"/>
                </a:lnTo>
                <a:lnTo>
                  <a:pt x="295" y="18"/>
                </a:lnTo>
                <a:lnTo>
                  <a:pt x="311" y="19"/>
                </a:lnTo>
                <a:lnTo>
                  <a:pt x="327" y="19"/>
                </a:lnTo>
                <a:lnTo>
                  <a:pt x="344" y="20"/>
                </a:lnTo>
                <a:lnTo>
                  <a:pt x="360" y="21"/>
                </a:lnTo>
                <a:lnTo>
                  <a:pt x="377" y="21"/>
                </a:lnTo>
                <a:lnTo>
                  <a:pt x="393" y="21"/>
                </a:lnTo>
                <a:lnTo>
                  <a:pt x="393" y="41"/>
                </a:lnTo>
                <a:lnTo>
                  <a:pt x="377" y="41"/>
                </a:lnTo>
                <a:lnTo>
                  <a:pt x="360" y="41"/>
                </a:lnTo>
                <a:lnTo>
                  <a:pt x="344" y="40"/>
                </a:lnTo>
                <a:lnTo>
                  <a:pt x="327" y="40"/>
                </a:lnTo>
                <a:lnTo>
                  <a:pt x="311" y="39"/>
                </a:lnTo>
                <a:lnTo>
                  <a:pt x="295" y="38"/>
                </a:lnTo>
                <a:lnTo>
                  <a:pt x="278" y="37"/>
                </a:lnTo>
                <a:lnTo>
                  <a:pt x="262" y="36"/>
                </a:lnTo>
                <a:lnTo>
                  <a:pt x="246" y="35"/>
                </a:lnTo>
                <a:lnTo>
                  <a:pt x="229" y="33"/>
                </a:lnTo>
                <a:lnTo>
                  <a:pt x="213" y="32"/>
                </a:lnTo>
                <a:lnTo>
                  <a:pt x="196" y="31"/>
                </a:lnTo>
                <a:lnTo>
                  <a:pt x="180" y="29"/>
                </a:lnTo>
                <a:lnTo>
                  <a:pt x="164" y="28"/>
                </a:lnTo>
                <a:lnTo>
                  <a:pt x="147" y="27"/>
                </a:lnTo>
                <a:lnTo>
                  <a:pt x="131" y="26"/>
                </a:lnTo>
                <a:lnTo>
                  <a:pt x="114" y="24"/>
                </a:lnTo>
                <a:lnTo>
                  <a:pt x="98" y="23"/>
                </a:lnTo>
                <a:lnTo>
                  <a:pt x="82" y="23"/>
                </a:lnTo>
                <a:lnTo>
                  <a:pt x="65" y="22"/>
                </a:lnTo>
                <a:lnTo>
                  <a:pt x="49" y="21"/>
                </a:lnTo>
                <a:lnTo>
                  <a:pt x="33" y="21"/>
                </a:lnTo>
                <a:lnTo>
                  <a:pt x="16" y="20"/>
                </a:lnTo>
                <a:lnTo>
                  <a:pt x="0" y="2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495425"/>
            <a:ext cx="3743325" cy="2152650"/>
          </a:xfrm>
          <a:custGeom>
            <a:avLst/>
            <a:gdLst/>
            <a:ahLst/>
            <a:cxnLst/>
            <a:rect l="l" t="t" r="r" b="b"/>
            <a:pathLst>
              <a:path w="393" h="226">
                <a:moveTo>
                  <a:pt x="0" y="0"/>
                </a:moveTo>
                <a:lnTo>
                  <a:pt x="16" y="1"/>
                </a:lnTo>
                <a:lnTo>
                  <a:pt x="33" y="4"/>
                </a:lnTo>
                <a:lnTo>
                  <a:pt x="49" y="9"/>
                </a:lnTo>
                <a:lnTo>
                  <a:pt x="65" y="16"/>
                </a:lnTo>
                <a:lnTo>
                  <a:pt x="82" y="24"/>
                </a:lnTo>
                <a:lnTo>
                  <a:pt x="98" y="33"/>
                </a:lnTo>
                <a:lnTo>
                  <a:pt x="114" y="43"/>
                </a:lnTo>
                <a:lnTo>
                  <a:pt x="131" y="54"/>
                </a:lnTo>
                <a:lnTo>
                  <a:pt x="147" y="66"/>
                </a:lnTo>
                <a:lnTo>
                  <a:pt x="164" y="79"/>
                </a:lnTo>
                <a:lnTo>
                  <a:pt x="180" y="91"/>
                </a:lnTo>
                <a:lnTo>
                  <a:pt x="196" y="104"/>
                </a:lnTo>
                <a:lnTo>
                  <a:pt x="213" y="117"/>
                </a:lnTo>
                <a:lnTo>
                  <a:pt x="229" y="130"/>
                </a:lnTo>
                <a:lnTo>
                  <a:pt x="246" y="143"/>
                </a:lnTo>
                <a:lnTo>
                  <a:pt x="262" y="155"/>
                </a:lnTo>
                <a:lnTo>
                  <a:pt x="278" y="166"/>
                </a:lnTo>
                <a:lnTo>
                  <a:pt x="295" y="176"/>
                </a:lnTo>
                <a:lnTo>
                  <a:pt x="311" y="185"/>
                </a:lnTo>
                <a:lnTo>
                  <a:pt x="327" y="193"/>
                </a:lnTo>
                <a:lnTo>
                  <a:pt x="344" y="200"/>
                </a:lnTo>
                <a:lnTo>
                  <a:pt x="360" y="205"/>
                </a:lnTo>
                <a:lnTo>
                  <a:pt x="377" y="208"/>
                </a:lnTo>
                <a:lnTo>
                  <a:pt x="393" y="209"/>
                </a:lnTo>
                <a:lnTo>
                  <a:pt x="393" y="226"/>
                </a:lnTo>
                <a:lnTo>
                  <a:pt x="377" y="225"/>
                </a:lnTo>
                <a:lnTo>
                  <a:pt x="360" y="222"/>
                </a:lnTo>
                <a:lnTo>
                  <a:pt x="344" y="217"/>
                </a:lnTo>
                <a:lnTo>
                  <a:pt x="327" y="211"/>
                </a:lnTo>
                <a:lnTo>
                  <a:pt x="311" y="203"/>
                </a:lnTo>
                <a:lnTo>
                  <a:pt x="295" y="194"/>
                </a:lnTo>
                <a:lnTo>
                  <a:pt x="278" y="183"/>
                </a:lnTo>
                <a:lnTo>
                  <a:pt x="262" y="172"/>
                </a:lnTo>
                <a:lnTo>
                  <a:pt x="246" y="160"/>
                </a:lnTo>
                <a:lnTo>
                  <a:pt x="229" y="148"/>
                </a:lnTo>
                <a:lnTo>
                  <a:pt x="213" y="135"/>
                </a:lnTo>
                <a:lnTo>
                  <a:pt x="196" y="122"/>
                </a:lnTo>
                <a:lnTo>
                  <a:pt x="180" y="109"/>
                </a:lnTo>
                <a:lnTo>
                  <a:pt x="164" y="96"/>
                </a:lnTo>
                <a:lnTo>
                  <a:pt x="147" y="84"/>
                </a:lnTo>
                <a:lnTo>
                  <a:pt x="131" y="72"/>
                </a:lnTo>
                <a:lnTo>
                  <a:pt x="114" y="61"/>
                </a:lnTo>
                <a:lnTo>
                  <a:pt x="98" y="50"/>
                </a:lnTo>
                <a:lnTo>
                  <a:pt x="82" y="41"/>
                </a:lnTo>
                <a:lnTo>
                  <a:pt x="65" y="33"/>
                </a:lnTo>
                <a:lnTo>
                  <a:pt x="49" y="27"/>
                </a:lnTo>
                <a:lnTo>
                  <a:pt x="33" y="22"/>
                </a:lnTo>
                <a:lnTo>
                  <a:pt x="16" y="19"/>
                </a:lnTo>
                <a:lnTo>
                  <a:pt x="0" y="1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1666875"/>
            <a:ext cx="3743325" cy="3676650"/>
          </a:xfrm>
          <a:custGeom>
            <a:avLst/>
            <a:gdLst/>
            <a:ahLst/>
            <a:cxnLst/>
            <a:rect l="l" t="t" r="r" b="b"/>
            <a:pathLst>
              <a:path w="393" h="386">
                <a:moveTo>
                  <a:pt x="0" y="0"/>
                </a:moveTo>
                <a:lnTo>
                  <a:pt x="16" y="2"/>
                </a:lnTo>
                <a:lnTo>
                  <a:pt x="33" y="7"/>
                </a:lnTo>
                <a:lnTo>
                  <a:pt x="49" y="16"/>
                </a:lnTo>
                <a:lnTo>
                  <a:pt x="65" y="27"/>
                </a:lnTo>
                <a:lnTo>
                  <a:pt x="82" y="42"/>
                </a:lnTo>
                <a:lnTo>
                  <a:pt x="98" y="58"/>
                </a:lnTo>
                <a:lnTo>
                  <a:pt x="114" y="77"/>
                </a:lnTo>
                <a:lnTo>
                  <a:pt x="131" y="97"/>
                </a:lnTo>
                <a:lnTo>
                  <a:pt x="147" y="118"/>
                </a:lnTo>
                <a:lnTo>
                  <a:pt x="164" y="141"/>
                </a:lnTo>
                <a:lnTo>
                  <a:pt x="180" y="164"/>
                </a:lnTo>
                <a:lnTo>
                  <a:pt x="196" y="187"/>
                </a:lnTo>
                <a:lnTo>
                  <a:pt x="213" y="210"/>
                </a:lnTo>
                <a:lnTo>
                  <a:pt x="229" y="233"/>
                </a:lnTo>
                <a:lnTo>
                  <a:pt x="246" y="256"/>
                </a:lnTo>
                <a:lnTo>
                  <a:pt x="262" y="277"/>
                </a:lnTo>
                <a:lnTo>
                  <a:pt x="278" y="297"/>
                </a:lnTo>
                <a:lnTo>
                  <a:pt x="295" y="315"/>
                </a:lnTo>
                <a:lnTo>
                  <a:pt x="311" y="332"/>
                </a:lnTo>
                <a:lnTo>
                  <a:pt x="327" y="346"/>
                </a:lnTo>
                <a:lnTo>
                  <a:pt x="344" y="358"/>
                </a:lnTo>
                <a:lnTo>
                  <a:pt x="360" y="367"/>
                </a:lnTo>
                <a:lnTo>
                  <a:pt x="377" y="372"/>
                </a:lnTo>
                <a:lnTo>
                  <a:pt x="393" y="374"/>
                </a:lnTo>
                <a:lnTo>
                  <a:pt x="393" y="386"/>
                </a:lnTo>
                <a:lnTo>
                  <a:pt x="377" y="384"/>
                </a:lnTo>
                <a:lnTo>
                  <a:pt x="360" y="378"/>
                </a:lnTo>
                <a:lnTo>
                  <a:pt x="344" y="370"/>
                </a:lnTo>
                <a:lnTo>
                  <a:pt x="327" y="358"/>
                </a:lnTo>
                <a:lnTo>
                  <a:pt x="311" y="344"/>
                </a:lnTo>
                <a:lnTo>
                  <a:pt x="295" y="327"/>
                </a:lnTo>
                <a:lnTo>
                  <a:pt x="278" y="309"/>
                </a:lnTo>
                <a:lnTo>
                  <a:pt x="262" y="289"/>
                </a:lnTo>
                <a:lnTo>
                  <a:pt x="246" y="267"/>
                </a:lnTo>
                <a:lnTo>
                  <a:pt x="229" y="245"/>
                </a:lnTo>
                <a:lnTo>
                  <a:pt x="213" y="222"/>
                </a:lnTo>
                <a:lnTo>
                  <a:pt x="196" y="199"/>
                </a:lnTo>
                <a:lnTo>
                  <a:pt x="180" y="175"/>
                </a:lnTo>
                <a:lnTo>
                  <a:pt x="164" y="152"/>
                </a:lnTo>
                <a:lnTo>
                  <a:pt x="147" y="130"/>
                </a:lnTo>
                <a:lnTo>
                  <a:pt x="131" y="108"/>
                </a:lnTo>
                <a:lnTo>
                  <a:pt x="114" y="88"/>
                </a:lnTo>
                <a:lnTo>
                  <a:pt x="98" y="70"/>
                </a:lnTo>
                <a:lnTo>
                  <a:pt x="82" y="53"/>
                </a:lnTo>
                <a:lnTo>
                  <a:pt x="65" y="39"/>
                </a:lnTo>
                <a:lnTo>
                  <a:pt x="49" y="28"/>
                </a:lnTo>
                <a:lnTo>
                  <a:pt x="33" y="19"/>
                </a:lnTo>
                <a:lnTo>
                  <a:pt x="16" y="13"/>
                </a:lnTo>
                <a:lnTo>
                  <a:pt x="0" y="1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1695450"/>
            <a:ext cx="3743325" cy="333375"/>
          </a:xfrm>
          <a:custGeom>
            <a:avLst/>
            <a:gdLst/>
            <a:ahLst/>
            <a:cxnLst/>
            <a:rect l="l" t="t" r="r" b="b"/>
            <a:pathLst>
              <a:path w="393" h="35">
                <a:moveTo>
                  <a:pt x="0" y="15"/>
                </a:moveTo>
                <a:lnTo>
                  <a:pt x="16" y="14"/>
                </a:lnTo>
                <a:lnTo>
                  <a:pt x="33" y="14"/>
                </a:lnTo>
                <a:lnTo>
                  <a:pt x="49" y="14"/>
                </a:lnTo>
                <a:lnTo>
                  <a:pt x="65" y="13"/>
                </a:lnTo>
                <a:lnTo>
                  <a:pt x="82" y="13"/>
                </a:lnTo>
                <a:lnTo>
                  <a:pt x="98" y="12"/>
                </a:lnTo>
                <a:lnTo>
                  <a:pt x="114" y="12"/>
                </a:lnTo>
                <a:lnTo>
                  <a:pt x="131" y="11"/>
                </a:lnTo>
                <a:lnTo>
                  <a:pt x="147" y="10"/>
                </a:lnTo>
                <a:lnTo>
                  <a:pt x="164" y="9"/>
                </a:lnTo>
                <a:lnTo>
                  <a:pt x="180" y="8"/>
                </a:lnTo>
                <a:lnTo>
                  <a:pt x="196" y="7"/>
                </a:lnTo>
                <a:lnTo>
                  <a:pt x="213" y="6"/>
                </a:lnTo>
                <a:lnTo>
                  <a:pt x="229" y="6"/>
                </a:lnTo>
                <a:lnTo>
                  <a:pt x="246" y="5"/>
                </a:lnTo>
                <a:lnTo>
                  <a:pt x="262" y="4"/>
                </a:lnTo>
                <a:lnTo>
                  <a:pt x="278" y="3"/>
                </a:lnTo>
                <a:lnTo>
                  <a:pt x="295" y="2"/>
                </a:lnTo>
                <a:lnTo>
                  <a:pt x="311" y="2"/>
                </a:lnTo>
                <a:lnTo>
                  <a:pt x="327" y="1"/>
                </a:lnTo>
                <a:lnTo>
                  <a:pt x="344" y="1"/>
                </a:lnTo>
                <a:lnTo>
                  <a:pt x="360" y="0"/>
                </a:lnTo>
                <a:lnTo>
                  <a:pt x="377" y="0"/>
                </a:lnTo>
                <a:lnTo>
                  <a:pt x="393" y="0"/>
                </a:lnTo>
                <a:lnTo>
                  <a:pt x="393" y="21"/>
                </a:lnTo>
                <a:lnTo>
                  <a:pt x="377" y="21"/>
                </a:lnTo>
                <a:lnTo>
                  <a:pt x="360" y="21"/>
                </a:lnTo>
                <a:lnTo>
                  <a:pt x="344" y="21"/>
                </a:lnTo>
                <a:lnTo>
                  <a:pt x="327" y="22"/>
                </a:lnTo>
                <a:lnTo>
                  <a:pt x="311" y="22"/>
                </a:lnTo>
                <a:lnTo>
                  <a:pt x="295" y="23"/>
                </a:lnTo>
                <a:lnTo>
                  <a:pt x="278" y="24"/>
                </a:lnTo>
                <a:lnTo>
                  <a:pt x="262" y="24"/>
                </a:lnTo>
                <a:lnTo>
                  <a:pt x="246" y="25"/>
                </a:lnTo>
                <a:lnTo>
                  <a:pt x="229" y="26"/>
                </a:lnTo>
                <a:lnTo>
                  <a:pt x="213" y="27"/>
                </a:lnTo>
                <a:lnTo>
                  <a:pt x="196" y="28"/>
                </a:lnTo>
                <a:lnTo>
                  <a:pt x="180" y="29"/>
                </a:lnTo>
                <a:lnTo>
                  <a:pt x="164" y="30"/>
                </a:lnTo>
                <a:lnTo>
                  <a:pt x="147" y="30"/>
                </a:lnTo>
                <a:lnTo>
                  <a:pt x="131" y="31"/>
                </a:lnTo>
                <a:lnTo>
                  <a:pt x="114" y="32"/>
                </a:lnTo>
                <a:lnTo>
                  <a:pt x="98" y="33"/>
                </a:lnTo>
                <a:lnTo>
                  <a:pt x="82" y="33"/>
                </a:lnTo>
                <a:lnTo>
                  <a:pt x="65" y="34"/>
                </a:lnTo>
                <a:lnTo>
                  <a:pt x="49" y="34"/>
                </a:lnTo>
                <a:lnTo>
                  <a:pt x="33" y="35"/>
                </a:lnTo>
                <a:lnTo>
                  <a:pt x="16" y="35"/>
                </a:lnTo>
                <a:lnTo>
                  <a:pt x="0" y="3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028825"/>
            <a:ext cx="3743325" cy="1790700"/>
          </a:xfrm>
          <a:custGeom>
            <a:avLst/>
            <a:gdLst/>
            <a:ahLst/>
            <a:cxnLst/>
            <a:rect l="l" t="t" r="r" b="b"/>
            <a:pathLst>
              <a:path w="393" h="188">
                <a:moveTo>
                  <a:pt x="0" y="0"/>
                </a:moveTo>
                <a:lnTo>
                  <a:pt x="16" y="1"/>
                </a:lnTo>
                <a:lnTo>
                  <a:pt x="33" y="3"/>
                </a:lnTo>
                <a:lnTo>
                  <a:pt x="49" y="7"/>
                </a:lnTo>
                <a:lnTo>
                  <a:pt x="65" y="13"/>
                </a:lnTo>
                <a:lnTo>
                  <a:pt x="82" y="19"/>
                </a:lnTo>
                <a:lnTo>
                  <a:pt x="98" y="27"/>
                </a:lnTo>
                <a:lnTo>
                  <a:pt x="114" y="35"/>
                </a:lnTo>
                <a:lnTo>
                  <a:pt x="131" y="44"/>
                </a:lnTo>
                <a:lnTo>
                  <a:pt x="147" y="54"/>
                </a:lnTo>
                <a:lnTo>
                  <a:pt x="164" y="64"/>
                </a:lnTo>
                <a:lnTo>
                  <a:pt x="180" y="75"/>
                </a:lnTo>
                <a:lnTo>
                  <a:pt x="196" y="85"/>
                </a:lnTo>
                <a:lnTo>
                  <a:pt x="213" y="96"/>
                </a:lnTo>
                <a:lnTo>
                  <a:pt x="229" y="106"/>
                </a:lnTo>
                <a:lnTo>
                  <a:pt x="246" y="116"/>
                </a:lnTo>
                <a:lnTo>
                  <a:pt x="262" y="126"/>
                </a:lnTo>
                <a:lnTo>
                  <a:pt x="278" y="135"/>
                </a:lnTo>
                <a:lnTo>
                  <a:pt x="295" y="144"/>
                </a:lnTo>
                <a:lnTo>
                  <a:pt x="311" y="151"/>
                </a:lnTo>
                <a:lnTo>
                  <a:pt x="327" y="158"/>
                </a:lnTo>
                <a:lnTo>
                  <a:pt x="344" y="163"/>
                </a:lnTo>
                <a:lnTo>
                  <a:pt x="360" y="167"/>
                </a:lnTo>
                <a:lnTo>
                  <a:pt x="377" y="169"/>
                </a:lnTo>
                <a:lnTo>
                  <a:pt x="393" y="170"/>
                </a:lnTo>
                <a:lnTo>
                  <a:pt x="393" y="188"/>
                </a:lnTo>
                <a:lnTo>
                  <a:pt x="377" y="187"/>
                </a:lnTo>
                <a:lnTo>
                  <a:pt x="360" y="184"/>
                </a:lnTo>
                <a:lnTo>
                  <a:pt x="344" y="181"/>
                </a:lnTo>
                <a:lnTo>
                  <a:pt x="327" y="175"/>
                </a:lnTo>
                <a:lnTo>
                  <a:pt x="311" y="169"/>
                </a:lnTo>
                <a:lnTo>
                  <a:pt x="295" y="161"/>
                </a:lnTo>
                <a:lnTo>
                  <a:pt x="278" y="153"/>
                </a:lnTo>
                <a:lnTo>
                  <a:pt x="262" y="144"/>
                </a:lnTo>
                <a:lnTo>
                  <a:pt x="246" y="134"/>
                </a:lnTo>
                <a:lnTo>
                  <a:pt x="229" y="124"/>
                </a:lnTo>
                <a:lnTo>
                  <a:pt x="213" y="113"/>
                </a:lnTo>
                <a:lnTo>
                  <a:pt x="196" y="103"/>
                </a:lnTo>
                <a:lnTo>
                  <a:pt x="180" y="92"/>
                </a:lnTo>
                <a:lnTo>
                  <a:pt x="164" y="82"/>
                </a:lnTo>
                <a:lnTo>
                  <a:pt x="147" y="71"/>
                </a:lnTo>
                <a:lnTo>
                  <a:pt x="131" y="62"/>
                </a:lnTo>
                <a:lnTo>
                  <a:pt x="114" y="52"/>
                </a:lnTo>
                <a:lnTo>
                  <a:pt x="98" y="44"/>
                </a:lnTo>
                <a:lnTo>
                  <a:pt x="82" y="37"/>
                </a:lnTo>
                <a:lnTo>
                  <a:pt x="65" y="30"/>
                </a:lnTo>
                <a:lnTo>
                  <a:pt x="49" y="25"/>
                </a:lnTo>
                <a:lnTo>
                  <a:pt x="33" y="21"/>
                </a:lnTo>
                <a:lnTo>
                  <a:pt x="16" y="18"/>
                </a:lnTo>
                <a:lnTo>
                  <a:pt x="0" y="1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2190750"/>
            <a:ext cx="3743325" cy="3257550"/>
          </a:xfrm>
          <a:custGeom>
            <a:avLst/>
            <a:gdLst/>
            <a:ahLst/>
            <a:cxnLst/>
            <a:rect l="l" t="t" r="r" b="b"/>
            <a:pathLst>
              <a:path w="393" h="342">
                <a:moveTo>
                  <a:pt x="0" y="0"/>
                </a:moveTo>
                <a:lnTo>
                  <a:pt x="16" y="2"/>
                </a:lnTo>
                <a:lnTo>
                  <a:pt x="33" y="7"/>
                </a:lnTo>
                <a:lnTo>
                  <a:pt x="49" y="15"/>
                </a:lnTo>
                <a:lnTo>
                  <a:pt x="65" y="25"/>
                </a:lnTo>
                <a:lnTo>
                  <a:pt x="82" y="37"/>
                </a:lnTo>
                <a:lnTo>
                  <a:pt x="98" y="52"/>
                </a:lnTo>
                <a:lnTo>
                  <a:pt x="114" y="68"/>
                </a:lnTo>
                <a:lnTo>
                  <a:pt x="131" y="86"/>
                </a:lnTo>
                <a:lnTo>
                  <a:pt x="147" y="105"/>
                </a:lnTo>
                <a:lnTo>
                  <a:pt x="164" y="125"/>
                </a:lnTo>
                <a:lnTo>
                  <a:pt x="180" y="145"/>
                </a:lnTo>
                <a:lnTo>
                  <a:pt x="196" y="166"/>
                </a:lnTo>
                <a:lnTo>
                  <a:pt x="213" y="186"/>
                </a:lnTo>
                <a:lnTo>
                  <a:pt x="229" y="206"/>
                </a:lnTo>
                <a:lnTo>
                  <a:pt x="246" y="226"/>
                </a:lnTo>
                <a:lnTo>
                  <a:pt x="262" y="245"/>
                </a:lnTo>
                <a:lnTo>
                  <a:pt x="278" y="263"/>
                </a:lnTo>
                <a:lnTo>
                  <a:pt x="295" y="279"/>
                </a:lnTo>
                <a:lnTo>
                  <a:pt x="311" y="294"/>
                </a:lnTo>
                <a:lnTo>
                  <a:pt x="327" y="306"/>
                </a:lnTo>
                <a:lnTo>
                  <a:pt x="344" y="316"/>
                </a:lnTo>
                <a:lnTo>
                  <a:pt x="360" y="324"/>
                </a:lnTo>
                <a:lnTo>
                  <a:pt x="377" y="329"/>
                </a:lnTo>
                <a:lnTo>
                  <a:pt x="393" y="331"/>
                </a:lnTo>
                <a:lnTo>
                  <a:pt x="393" y="342"/>
                </a:lnTo>
                <a:lnTo>
                  <a:pt x="377" y="340"/>
                </a:lnTo>
                <a:lnTo>
                  <a:pt x="360" y="336"/>
                </a:lnTo>
                <a:lnTo>
                  <a:pt x="344" y="328"/>
                </a:lnTo>
                <a:lnTo>
                  <a:pt x="327" y="318"/>
                </a:lnTo>
                <a:lnTo>
                  <a:pt x="311" y="305"/>
                </a:lnTo>
                <a:lnTo>
                  <a:pt x="295" y="291"/>
                </a:lnTo>
                <a:lnTo>
                  <a:pt x="278" y="274"/>
                </a:lnTo>
                <a:lnTo>
                  <a:pt x="262" y="257"/>
                </a:lnTo>
                <a:lnTo>
                  <a:pt x="246" y="238"/>
                </a:lnTo>
                <a:lnTo>
                  <a:pt x="229" y="218"/>
                </a:lnTo>
                <a:lnTo>
                  <a:pt x="213" y="198"/>
                </a:lnTo>
                <a:lnTo>
                  <a:pt x="196" y="177"/>
                </a:lnTo>
                <a:lnTo>
                  <a:pt x="180" y="156"/>
                </a:lnTo>
                <a:lnTo>
                  <a:pt x="164" y="136"/>
                </a:lnTo>
                <a:lnTo>
                  <a:pt x="147" y="116"/>
                </a:lnTo>
                <a:lnTo>
                  <a:pt x="131" y="98"/>
                </a:lnTo>
                <a:lnTo>
                  <a:pt x="114" y="80"/>
                </a:lnTo>
                <a:lnTo>
                  <a:pt x="98" y="64"/>
                </a:lnTo>
                <a:lnTo>
                  <a:pt x="82" y="49"/>
                </a:lnTo>
                <a:lnTo>
                  <a:pt x="65" y="36"/>
                </a:lnTo>
                <a:lnTo>
                  <a:pt x="49" y="26"/>
                </a:lnTo>
                <a:lnTo>
                  <a:pt x="33" y="18"/>
                </a:lnTo>
                <a:lnTo>
                  <a:pt x="16" y="14"/>
                </a:lnTo>
                <a:lnTo>
                  <a:pt x="0" y="1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1895475"/>
            <a:ext cx="3743325" cy="666750"/>
          </a:xfrm>
          <a:custGeom>
            <a:avLst/>
            <a:gdLst/>
            <a:ahLst/>
            <a:cxnLst/>
            <a:rect l="l" t="t" r="r" b="b"/>
            <a:pathLst>
              <a:path w="393" h="70">
                <a:moveTo>
                  <a:pt x="0" y="49"/>
                </a:moveTo>
                <a:lnTo>
                  <a:pt x="16" y="49"/>
                </a:lnTo>
                <a:lnTo>
                  <a:pt x="33" y="48"/>
                </a:lnTo>
                <a:lnTo>
                  <a:pt x="49" y="47"/>
                </a:lnTo>
                <a:lnTo>
                  <a:pt x="65" y="45"/>
                </a:lnTo>
                <a:lnTo>
                  <a:pt x="82" y="43"/>
                </a:lnTo>
                <a:lnTo>
                  <a:pt x="98" y="41"/>
                </a:lnTo>
                <a:lnTo>
                  <a:pt x="114" y="39"/>
                </a:lnTo>
                <a:lnTo>
                  <a:pt x="131" y="36"/>
                </a:lnTo>
                <a:lnTo>
                  <a:pt x="147" y="33"/>
                </a:lnTo>
                <a:lnTo>
                  <a:pt x="164" y="30"/>
                </a:lnTo>
                <a:lnTo>
                  <a:pt x="180" y="27"/>
                </a:lnTo>
                <a:lnTo>
                  <a:pt x="196" y="24"/>
                </a:lnTo>
                <a:lnTo>
                  <a:pt x="213" y="21"/>
                </a:lnTo>
                <a:lnTo>
                  <a:pt x="229" y="18"/>
                </a:lnTo>
                <a:lnTo>
                  <a:pt x="246" y="15"/>
                </a:lnTo>
                <a:lnTo>
                  <a:pt x="262" y="12"/>
                </a:lnTo>
                <a:lnTo>
                  <a:pt x="278" y="10"/>
                </a:lnTo>
                <a:lnTo>
                  <a:pt x="295" y="7"/>
                </a:lnTo>
                <a:lnTo>
                  <a:pt x="311" y="5"/>
                </a:lnTo>
                <a:lnTo>
                  <a:pt x="327" y="3"/>
                </a:lnTo>
                <a:lnTo>
                  <a:pt x="344" y="2"/>
                </a:lnTo>
                <a:lnTo>
                  <a:pt x="360" y="1"/>
                </a:lnTo>
                <a:lnTo>
                  <a:pt x="377" y="0"/>
                </a:lnTo>
                <a:lnTo>
                  <a:pt x="393" y="0"/>
                </a:lnTo>
                <a:lnTo>
                  <a:pt x="393" y="20"/>
                </a:lnTo>
                <a:lnTo>
                  <a:pt x="377" y="20"/>
                </a:lnTo>
                <a:lnTo>
                  <a:pt x="360" y="21"/>
                </a:lnTo>
                <a:lnTo>
                  <a:pt x="344" y="22"/>
                </a:lnTo>
                <a:lnTo>
                  <a:pt x="327" y="24"/>
                </a:lnTo>
                <a:lnTo>
                  <a:pt x="311" y="26"/>
                </a:lnTo>
                <a:lnTo>
                  <a:pt x="295" y="28"/>
                </a:lnTo>
                <a:lnTo>
                  <a:pt x="278" y="30"/>
                </a:lnTo>
                <a:lnTo>
                  <a:pt x="262" y="33"/>
                </a:lnTo>
                <a:lnTo>
                  <a:pt x="246" y="36"/>
                </a:lnTo>
                <a:lnTo>
                  <a:pt x="229" y="39"/>
                </a:lnTo>
                <a:lnTo>
                  <a:pt x="213" y="42"/>
                </a:lnTo>
                <a:lnTo>
                  <a:pt x="196" y="45"/>
                </a:lnTo>
                <a:lnTo>
                  <a:pt x="180" y="48"/>
                </a:lnTo>
                <a:lnTo>
                  <a:pt x="164" y="51"/>
                </a:lnTo>
                <a:lnTo>
                  <a:pt x="147" y="54"/>
                </a:lnTo>
                <a:lnTo>
                  <a:pt x="131" y="57"/>
                </a:lnTo>
                <a:lnTo>
                  <a:pt x="114" y="59"/>
                </a:lnTo>
                <a:lnTo>
                  <a:pt x="98" y="62"/>
                </a:lnTo>
                <a:lnTo>
                  <a:pt x="82" y="64"/>
                </a:lnTo>
                <a:lnTo>
                  <a:pt x="65" y="66"/>
                </a:lnTo>
                <a:lnTo>
                  <a:pt x="49" y="67"/>
                </a:lnTo>
                <a:lnTo>
                  <a:pt x="33" y="69"/>
                </a:lnTo>
                <a:lnTo>
                  <a:pt x="16" y="69"/>
                </a:lnTo>
                <a:lnTo>
                  <a:pt x="0" y="7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2562225"/>
            <a:ext cx="3743325" cy="1419225"/>
          </a:xfrm>
          <a:custGeom>
            <a:avLst/>
            <a:gdLst/>
            <a:ahLst/>
            <a:cxnLst/>
            <a:rect l="l" t="t" r="r" b="b"/>
            <a:pathLst>
              <a:path w="393" h="149">
                <a:moveTo>
                  <a:pt x="0" y="0"/>
                </a:moveTo>
                <a:lnTo>
                  <a:pt x="16" y="0"/>
                </a:lnTo>
                <a:lnTo>
                  <a:pt x="33" y="2"/>
                </a:lnTo>
                <a:lnTo>
                  <a:pt x="49" y="5"/>
                </a:lnTo>
                <a:lnTo>
                  <a:pt x="65" y="9"/>
                </a:lnTo>
                <a:lnTo>
                  <a:pt x="82" y="14"/>
                </a:lnTo>
                <a:lnTo>
                  <a:pt x="98" y="20"/>
                </a:lnTo>
                <a:lnTo>
                  <a:pt x="114" y="27"/>
                </a:lnTo>
                <a:lnTo>
                  <a:pt x="131" y="34"/>
                </a:lnTo>
                <a:lnTo>
                  <a:pt x="147" y="41"/>
                </a:lnTo>
                <a:lnTo>
                  <a:pt x="164" y="49"/>
                </a:lnTo>
                <a:lnTo>
                  <a:pt x="180" y="57"/>
                </a:lnTo>
                <a:lnTo>
                  <a:pt x="196" y="66"/>
                </a:lnTo>
                <a:lnTo>
                  <a:pt x="213" y="74"/>
                </a:lnTo>
                <a:lnTo>
                  <a:pt x="229" y="82"/>
                </a:lnTo>
                <a:lnTo>
                  <a:pt x="246" y="90"/>
                </a:lnTo>
                <a:lnTo>
                  <a:pt x="262" y="98"/>
                </a:lnTo>
                <a:lnTo>
                  <a:pt x="278" y="105"/>
                </a:lnTo>
                <a:lnTo>
                  <a:pt x="295" y="111"/>
                </a:lnTo>
                <a:lnTo>
                  <a:pt x="311" y="117"/>
                </a:lnTo>
                <a:lnTo>
                  <a:pt x="327" y="122"/>
                </a:lnTo>
                <a:lnTo>
                  <a:pt x="344" y="126"/>
                </a:lnTo>
                <a:lnTo>
                  <a:pt x="360" y="129"/>
                </a:lnTo>
                <a:lnTo>
                  <a:pt x="377" y="131"/>
                </a:lnTo>
                <a:lnTo>
                  <a:pt x="393" y="132"/>
                </a:lnTo>
                <a:lnTo>
                  <a:pt x="393" y="149"/>
                </a:lnTo>
                <a:lnTo>
                  <a:pt x="377" y="148"/>
                </a:lnTo>
                <a:lnTo>
                  <a:pt x="360" y="147"/>
                </a:lnTo>
                <a:lnTo>
                  <a:pt x="344" y="143"/>
                </a:lnTo>
                <a:lnTo>
                  <a:pt x="327" y="139"/>
                </a:lnTo>
                <a:lnTo>
                  <a:pt x="311" y="134"/>
                </a:lnTo>
                <a:lnTo>
                  <a:pt x="295" y="128"/>
                </a:lnTo>
                <a:lnTo>
                  <a:pt x="278" y="122"/>
                </a:lnTo>
                <a:lnTo>
                  <a:pt x="262" y="115"/>
                </a:lnTo>
                <a:lnTo>
                  <a:pt x="246" y="107"/>
                </a:lnTo>
                <a:lnTo>
                  <a:pt x="229" y="99"/>
                </a:lnTo>
                <a:lnTo>
                  <a:pt x="213" y="91"/>
                </a:lnTo>
                <a:lnTo>
                  <a:pt x="196" y="83"/>
                </a:lnTo>
                <a:lnTo>
                  <a:pt x="180" y="75"/>
                </a:lnTo>
                <a:lnTo>
                  <a:pt x="164" y="67"/>
                </a:lnTo>
                <a:lnTo>
                  <a:pt x="147" y="59"/>
                </a:lnTo>
                <a:lnTo>
                  <a:pt x="131" y="51"/>
                </a:lnTo>
                <a:lnTo>
                  <a:pt x="114" y="44"/>
                </a:lnTo>
                <a:lnTo>
                  <a:pt x="98" y="38"/>
                </a:lnTo>
                <a:lnTo>
                  <a:pt x="82" y="32"/>
                </a:lnTo>
                <a:lnTo>
                  <a:pt x="65" y="27"/>
                </a:lnTo>
                <a:lnTo>
                  <a:pt x="49" y="23"/>
                </a:lnTo>
                <a:lnTo>
                  <a:pt x="33" y="19"/>
                </a:lnTo>
                <a:lnTo>
                  <a:pt x="16" y="18"/>
                </a:lnTo>
                <a:lnTo>
                  <a:pt x="0" y="1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2724150"/>
            <a:ext cx="3743325" cy="2838450"/>
          </a:xfrm>
          <a:custGeom>
            <a:avLst/>
            <a:gdLst/>
            <a:ahLst/>
            <a:cxnLst/>
            <a:rect l="l" t="t" r="r" b="b"/>
            <a:pathLst>
              <a:path w="393" h="298">
                <a:moveTo>
                  <a:pt x="0" y="0"/>
                </a:moveTo>
                <a:lnTo>
                  <a:pt x="16" y="1"/>
                </a:lnTo>
                <a:lnTo>
                  <a:pt x="33" y="6"/>
                </a:lnTo>
                <a:lnTo>
                  <a:pt x="49" y="12"/>
                </a:lnTo>
                <a:lnTo>
                  <a:pt x="65" y="21"/>
                </a:lnTo>
                <a:lnTo>
                  <a:pt x="82" y="32"/>
                </a:lnTo>
                <a:lnTo>
                  <a:pt x="98" y="45"/>
                </a:lnTo>
                <a:lnTo>
                  <a:pt x="114" y="59"/>
                </a:lnTo>
                <a:lnTo>
                  <a:pt x="131" y="74"/>
                </a:lnTo>
                <a:lnTo>
                  <a:pt x="147" y="90"/>
                </a:lnTo>
                <a:lnTo>
                  <a:pt x="164" y="108"/>
                </a:lnTo>
                <a:lnTo>
                  <a:pt x="180" y="125"/>
                </a:lnTo>
                <a:lnTo>
                  <a:pt x="196" y="143"/>
                </a:lnTo>
                <a:lnTo>
                  <a:pt x="213" y="161"/>
                </a:lnTo>
                <a:lnTo>
                  <a:pt x="229" y="178"/>
                </a:lnTo>
                <a:lnTo>
                  <a:pt x="246" y="196"/>
                </a:lnTo>
                <a:lnTo>
                  <a:pt x="262" y="212"/>
                </a:lnTo>
                <a:lnTo>
                  <a:pt x="278" y="227"/>
                </a:lnTo>
                <a:lnTo>
                  <a:pt x="295" y="241"/>
                </a:lnTo>
                <a:lnTo>
                  <a:pt x="311" y="254"/>
                </a:lnTo>
                <a:lnTo>
                  <a:pt x="327" y="265"/>
                </a:lnTo>
                <a:lnTo>
                  <a:pt x="344" y="274"/>
                </a:lnTo>
                <a:lnTo>
                  <a:pt x="360" y="281"/>
                </a:lnTo>
                <a:lnTo>
                  <a:pt x="377" y="285"/>
                </a:lnTo>
                <a:lnTo>
                  <a:pt x="393" y="286"/>
                </a:lnTo>
                <a:lnTo>
                  <a:pt x="393" y="298"/>
                </a:lnTo>
                <a:lnTo>
                  <a:pt x="377" y="296"/>
                </a:lnTo>
                <a:lnTo>
                  <a:pt x="360" y="292"/>
                </a:lnTo>
                <a:lnTo>
                  <a:pt x="344" y="286"/>
                </a:lnTo>
                <a:lnTo>
                  <a:pt x="327" y="277"/>
                </a:lnTo>
                <a:lnTo>
                  <a:pt x="311" y="266"/>
                </a:lnTo>
                <a:lnTo>
                  <a:pt x="295" y="253"/>
                </a:lnTo>
                <a:lnTo>
                  <a:pt x="278" y="239"/>
                </a:lnTo>
                <a:lnTo>
                  <a:pt x="262" y="224"/>
                </a:lnTo>
                <a:lnTo>
                  <a:pt x="246" y="207"/>
                </a:lnTo>
                <a:lnTo>
                  <a:pt x="229" y="190"/>
                </a:lnTo>
                <a:lnTo>
                  <a:pt x="213" y="173"/>
                </a:lnTo>
                <a:lnTo>
                  <a:pt x="196" y="155"/>
                </a:lnTo>
                <a:lnTo>
                  <a:pt x="180" y="137"/>
                </a:lnTo>
                <a:lnTo>
                  <a:pt x="164" y="119"/>
                </a:lnTo>
                <a:lnTo>
                  <a:pt x="147" y="102"/>
                </a:lnTo>
                <a:lnTo>
                  <a:pt x="131" y="86"/>
                </a:lnTo>
                <a:lnTo>
                  <a:pt x="114" y="70"/>
                </a:lnTo>
                <a:lnTo>
                  <a:pt x="98" y="56"/>
                </a:lnTo>
                <a:lnTo>
                  <a:pt x="82" y="44"/>
                </a:lnTo>
                <a:lnTo>
                  <a:pt x="65" y="33"/>
                </a:lnTo>
                <a:lnTo>
                  <a:pt x="49" y="24"/>
                </a:lnTo>
                <a:lnTo>
                  <a:pt x="33" y="17"/>
                </a:lnTo>
                <a:lnTo>
                  <a:pt x="16" y="13"/>
                </a:lnTo>
                <a:lnTo>
                  <a:pt x="0" y="1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085975"/>
            <a:ext cx="3743325" cy="990600"/>
          </a:xfrm>
          <a:custGeom>
            <a:avLst/>
            <a:gdLst/>
            <a:ahLst/>
            <a:cxnLst/>
            <a:rect l="l" t="t" r="r" b="b"/>
            <a:pathLst>
              <a:path w="393" h="104">
                <a:moveTo>
                  <a:pt x="0" y="85"/>
                </a:moveTo>
                <a:lnTo>
                  <a:pt x="16" y="84"/>
                </a:lnTo>
                <a:lnTo>
                  <a:pt x="33" y="83"/>
                </a:lnTo>
                <a:lnTo>
                  <a:pt x="49" y="81"/>
                </a:lnTo>
                <a:lnTo>
                  <a:pt x="65" y="78"/>
                </a:lnTo>
                <a:lnTo>
                  <a:pt x="82" y="75"/>
                </a:lnTo>
                <a:lnTo>
                  <a:pt x="98" y="71"/>
                </a:lnTo>
                <a:lnTo>
                  <a:pt x="114" y="67"/>
                </a:lnTo>
                <a:lnTo>
                  <a:pt x="131" y="63"/>
                </a:lnTo>
                <a:lnTo>
                  <a:pt x="147" y="58"/>
                </a:lnTo>
                <a:lnTo>
                  <a:pt x="164" y="53"/>
                </a:lnTo>
                <a:lnTo>
                  <a:pt x="180" y="48"/>
                </a:lnTo>
                <a:lnTo>
                  <a:pt x="196" y="42"/>
                </a:lnTo>
                <a:lnTo>
                  <a:pt x="213" y="37"/>
                </a:lnTo>
                <a:lnTo>
                  <a:pt x="229" y="32"/>
                </a:lnTo>
                <a:lnTo>
                  <a:pt x="246" y="27"/>
                </a:lnTo>
                <a:lnTo>
                  <a:pt x="262" y="22"/>
                </a:lnTo>
                <a:lnTo>
                  <a:pt x="278" y="18"/>
                </a:lnTo>
                <a:lnTo>
                  <a:pt x="295" y="13"/>
                </a:lnTo>
                <a:lnTo>
                  <a:pt x="311" y="10"/>
                </a:lnTo>
                <a:lnTo>
                  <a:pt x="327" y="6"/>
                </a:lnTo>
                <a:lnTo>
                  <a:pt x="344" y="4"/>
                </a:lnTo>
                <a:lnTo>
                  <a:pt x="360" y="2"/>
                </a:lnTo>
                <a:lnTo>
                  <a:pt x="377" y="1"/>
                </a:lnTo>
                <a:lnTo>
                  <a:pt x="393" y="0"/>
                </a:lnTo>
                <a:lnTo>
                  <a:pt x="393" y="20"/>
                </a:lnTo>
                <a:lnTo>
                  <a:pt x="377" y="20"/>
                </a:lnTo>
                <a:lnTo>
                  <a:pt x="360" y="22"/>
                </a:lnTo>
                <a:lnTo>
                  <a:pt x="344" y="24"/>
                </a:lnTo>
                <a:lnTo>
                  <a:pt x="327" y="26"/>
                </a:lnTo>
                <a:lnTo>
                  <a:pt x="311" y="29"/>
                </a:lnTo>
                <a:lnTo>
                  <a:pt x="295" y="33"/>
                </a:lnTo>
                <a:lnTo>
                  <a:pt x="278" y="37"/>
                </a:lnTo>
                <a:lnTo>
                  <a:pt x="262" y="42"/>
                </a:lnTo>
                <a:lnTo>
                  <a:pt x="246" y="47"/>
                </a:lnTo>
                <a:lnTo>
                  <a:pt x="229" y="52"/>
                </a:lnTo>
                <a:lnTo>
                  <a:pt x="213" y="57"/>
                </a:lnTo>
                <a:lnTo>
                  <a:pt x="196" y="62"/>
                </a:lnTo>
                <a:lnTo>
                  <a:pt x="180" y="67"/>
                </a:lnTo>
                <a:lnTo>
                  <a:pt x="164" y="73"/>
                </a:lnTo>
                <a:lnTo>
                  <a:pt x="147" y="78"/>
                </a:lnTo>
                <a:lnTo>
                  <a:pt x="131" y="82"/>
                </a:lnTo>
                <a:lnTo>
                  <a:pt x="114" y="87"/>
                </a:lnTo>
                <a:lnTo>
                  <a:pt x="98" y="91"/>
                </a:lnTo>
                <a:lnTo>
                  <a:pt x="82" y="95"/>
                </a:lnTo>
                <a:lnTo>
                  <a:pt x="65" y="98"/>
                </a:lnTo>
                <a:lnTo>
                  <a:pt x="49" y="101"/>
                </a:lnTo>
                <a:lnTo>
                  <a:pt x="33" y="103"/>
                </a:lnTo>
                <a:lnTo>
                  <a:pt x="16" y="104"/>
                </a:lnTo>
                <a:lnTo>
                  <a:pt x="0" y="10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3076575"/>
            <a:ext cx="3743325" cy="1076325"/>
          </a:xfrm>
          <a:custGeom>
            <a:avLst/>
            <a:gdLst/>
            <a:ahLst/>
            <a:cxnLst/>
            <a:rect l="l" t="t" r="r" b="b"/>
            <a:pathLst>
              <a:path w="393" h="113">
                <a:moveTo>
                  <a:pt x="0" y="0"/>
                </a:moveTo>
                <a:lnTo>
                  <a:pt x="16" y="1"/>
                </a:lnTo>
                <a:lnTo>
                  <a:pt x="33" y="2"/>
                </a:lnTo>
                <a:lnTo>
                  <a:pt x="49" y="4"/>
                </a:lnTo>
                <a:lnTo>
                  <a:pt x="65" y="7"/>
                </a:lnTo>
                <a:lnTo>
                  <a:pt x="82" y="11"/>
                </a:lnTo>
                <a:lnTo>
                  <a:pt x="98" y="15"/>
                </a:lnTo>
                <a:lnTo>
                  <a:pt x="114" y="20"/>
                </a:lnTo>
                <a:lnTo>
                  <a:pt x="131" y="25"/>
                </a:lnTo>
                <a:lnTo>
                  <a:pt x="147" y="30"/>
                </a:lnTo>
                <a:lnTo>
                  <a:pt x="164" y="36"/>
                </a:lnTo>
                <a:lnTo>
                  <a:pt x="180" y="42"/>
                </a:lnTo>
                <a:lnTo>
                  <a:pt x="196" y="48"/>
                </a:lnTo>
                <a:lnTo>
                  <a:pt x="213" y="54"/>
                </a:lnTo>
                <a:lnTo>
                  <a:pt x="229" y="59"/>
                </a:lnTo>
                <a:lnTo>
                  <a:pt x="246" y="65"/>
                </a:lnTo>
                <a:lnTo>
                  <a:pt x="262" y="71"/>
                </a:lnTo>
                <a:lnTo>
                  <a:pt x="278" y="76"/>
                </a:lnTo>
                <a:lnTo>
                  <a:pt x="295" y="80"/>
                </a:lnTo>
                <a:lnTo>
                  <a:pt x="311" y="85"/>
                </a:lnTo>
                <a:lnTo>
                  <a:pt x="327" y="88"/>
                </a:lnTo>
                <a:lnTo>
                  <a:pt x="344" y="91"/>
                </a:lnTo>
                <a:lnTo>
                  <a:pt x="360" y="93"/>
                </a:lnTo>
                <a:lnTo>
                  <a:pt x="377" y="95"/>
                </a:lnTo>
                <a:lnTo>
                  <a:pt x="393" y="95"/>
                </a:lnTo>
                <a:lnTo>
                  <a:pt x="393" y="113"/>
                </a:lnTo>
                <a:lnTo>
                  <a:pt x="377" y="113"/>
                </a:lnTo>
                <a:lnTo>
                  <a:pt x="360" y="111"/>
                </a:lnTo>
                <a:lnTo>
                  <a:pt x="344" y="109"/>
                </a:lnTo>
                <a:lnTo>
                  <a:pt x="327" y="106"/>
                </a:lnTo>
                <a:lnTo>
                  <a:pt x="311" y="102"/>
                </a:lnTo>
                <a:lnTo>
                  <a:pt x="295" y="98"/>
                </a:lnTo>
                <a:lnTo>
                  <a:pt x="278" y="94"/>
                </a:lnTo>
                <a:lnTo>
                  <a:pt x="262" y="89"/>
                </a:lnTo>
                <a:lnTo>
                  <a:pt x="246" y="83"/>
                </a:lnTo>
                <a:lnTo>
                  <a:pt x="229" y="77"/>
                </a:lnTo>
                <a:lnTo>
                  <a:pt x="213" y="72"/>
                </a:lnTo>
                <a:lnTo>
                  <a:pt x="196" y="66"/>
                </a:lnTo>
                <a:lnTo>
                  <a:pt x="180" y="60"/>
                </a:lnTo>
                <a:lnTo>
                  <a:pt x="164" y="54"/>
                </a:lnTo>
                <a:lnTo>
                  <a:pt x="147" y="48"/>
                </a:lnTo>
                <a:lnTo>
                  <a:pt x="131" y="43"/>
                </a:lnTo>
                <a:lnTo>
                  <a:pt x="114" y="38"/>
                </a:lnTo>
                <a:lnTo>
                  <a:pt x="98" y="33"/>
                </a:lnTo>
                <a:lnTo>
                  <a:pt x="82" y="29"/>
                </a:lnTo>
                <a:lnTo>
                  <a:pt x="65" y="25"/>
                </a:lnTo>
                <a:lnTo>
                  <a:pt x="49" y="22"/>
                </a:lnTo>
                <a:lnTo>
                  <a:pt x="33" y="20"/>
                </a:lnTo>
                <a:lnTo>
                  <a:pt x="16" y="19"/>
                </a:lnTo>
                <a:lnTo>
                  <a:pt x="0" y="1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3248025"/>
            <a:ext cx="3743325" cy="2428875"/>
          </a:xfrm>
          <a:custGeom>
            <a:avLst/>
            <a:gdLst/>
            <a:ahLst/>
            <a:cxnLst/>
            <a:rect l="l" t="t" r="r" b="b"/>
            <a:pathLst>
              <a:path w="393" h="255">
                <a:moveTo>
                  <a:pt x="0" y="0"/>
                </a:moveTo>
                <a:lnTo>
                  <a:pt x="16" y="2"/>
                </a:lnTo>
                <a:lnTo>
                  <a:pt x="33" y="5"/>
                </a:lnTo>
                <a:lnTo>
                  <a:pt x="49" y="11"/>
                </a:lnTo>
                <a:lnTo>
                  <a:pt x="65" y="18"/>
                </a:lnTo>
                <a:lnTo>
                  <a:pt x="82" y="27"/>
                </a:lnTo>
                <a:lnTo>
                  <a:pt x="98" y="38"/>
                </a:lnTo>
                <a:lnTo>
                  <a:pt x="114" y="50"/>
                </a:lnTo>
                <a:lnTo>
                  <a:pt x="131" y="63"/>
                </a:lnTo>
                <a:lnTo>
                  <a:pt x="147" y="77"/>
                </a:lnTo>
                <a:lnTo>
                  <a:pt x="164" y="92"/>
                </a:lnTo>
                <a:lnTo>
                  <a:pt x="180" y="106"/>
                </a:lnTo>
                <a:lnTo>
                  <a:pt x="196" y="122"/>
                </a:lnTo>
                <a:lnTo>
                  <a:pt x="213" y="137"/>
                </a:lnTo>
                <a:lnTo>
                  <a:pt x="229" y="152"/>
                </a:lnTo>
                <a:lnTo>
                  <a:pt x="246" y="166"/>
                </a:lnTo>
                <a:lnTo>
                  <a:pt x="262" y="180"/>
                </a:lnTo>
                <a:lnTo>
                  <a:pt x="278" y="193"/>
                </a:lnTo>
                <a:lnTo>
                  <a:pt x="295" y="205"/>
                </a:lnTo>
                <a:lnTo>
                  <a:pt x="311" y="216"/>
                </a:lnTo>
                <a:lnTo>
                  <a:pt x="327" y="225"/>
                </a:lnTo>
                <a:lnTo>
                  <a:pt x="344" y="232"/>
                </a:lnTo>
                <a:lnTo>
                  <a:pt x="360" y="238"/>
                </a:lnTo>
                <a:lnTo>
                  <a:pt x="377" y="242"/>
                </a:lnTo>
                <a:lnTo>
                  <a:pt x="393" y="243"/>
                </a:lnTo>
                <a:lnTo>
                  <a:pt x="393" y="255"/>
                </a:lnTo>
                <a:lnTo>
                  <a:pt x="377" y="253"/>
                </a:lnTo>
                <a:lnTo>
                  <a:pt x="360" y="250"/>
                </a:lnTo>
                <a:lnTo>
                  <a:pt x="344" y="244"/>
                </a:lnTo>
                <a:lnTo>
                  <a:pt x="327" y="237"/>
                </a:lnTo>
                <a:lnTo>
                  <a:pt x="311" y="227"/>
                </a:lnTo>
                <a:lnTo>
                  <a:pt x="295" y="217"/>
                </a:lnTo>
                <a:lnTo>
                  <a:pt x="278" y="205"/>
                </a:lnTo>
                <a:lnTo>
                  <a:pt x="262" y="192"/>
                </a:lnTo>
                <a:lnTo>
                  <a:pt x="246" y="178"/>
                </a:lnTo>
                <a:lnTo>
                  <a:pt x="229" y="163"/>
                </a:lnTo>
                <a:lnTo>
                  <a:pt x="213" y="148"/>
                </a:lnTo>
                <a:lnTo>
                  <a:pt x="196" y="133"/>
                </a:lnTo>
                <a:lnTo>
                  <a:pt x="180" y="118"/>
                </a:lnTo>
                <a:lnTo>
                  <a:pt x="164" y="103"/>
                </a:lnTo>
                <a:lnTo>
                  <a:pt x="147" y="89"/>
                </a:lnTo>
                <a:lnTo>
                  <a:pt x="131" y="75"/>
                </a:lnTo>
                <a:lnTo>
                  <a:pt x="114" y="62"/>
                </a:lnTo>
                <a:lnTo>
                  <a:pt x="98" y="50"/>
                </a:lnTo>
                <a:lnTo>
                  <a:pt x="82" y="39"/>
                </a:lnTo>
                <a:lnTo>
                  <a:pt x="65" y="30"/>
                </a:lnTo>
                <a:lnTo>
                  <a:pt x="49" y="22"/>
                </a:lnTo>
                <a:lnTo>
                  <a:pt x="33" y="17"/>
                </a:lnTo>
                <a:lnTo>
                  <a:pt x="16" y="13"/>
                </a:lnTo>
                <a:lnTo>
                  <a:pt x="0" y="1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2276475"/>
            <a:ext cx="3743325" cy="1343025"/>
          </a:xfrm>
          <a:custGeom>
            <a:avLst/>
            <a:gdLst/>
            <a:ahLst/>
            <a:cxnLst/>
            <a:rect l="l" t="t" r="r" b="b"/>
            <a:pathLst>
              <a:path w="393" h="141">
                <a:moveTo>
                  <a:pt x="0" y="120"/>
                </a:moveTo>
                <a:lnTo>
                  <a:pt x="16" y="119"/>
                </a:lnTo>
                <a:lnTo>
                  <a:pt x="33" y="118"/>
                </a:lnTo>
                <a:lnTo>
                  <a:pt x="49" y="115"/>
                </a:lnTo>
                <a:lnTo>
                  <a:pt x="65" y="111"/>
                </a:lnTo>
                <a:lnTo>
                  <a:pt x="82" y="107"/>
                </a:lnTo>
                <a:lnTo>
                  <a:pt x="98" y="101"/>
                </a:lnTo>
                <a:lnTo>
                  <a:pt x="114" y="95"/>
                </a:lnTo>
                <a:lnTo>
                  <a:pt x="131" y="89"/>
                </a:lnTo>
                <a:lnTo>
                  <a:pt x="147" y="82"/>
                </a:lnTo>
                <a:lnTo>
                  <a:pt x="164" y="75"/>
                </a:lnTo>
                <a:lnTo>
                  <a:pt x="180" y="67"/>
                </a:lnTo>
                <a:lnTo>
                  <a:pt x="196" y="60"/>
                </a:lnTo>
                <a:lnTo>
                  <a:pt x="213" y="53"/>
                </a:lnTo>
                <a:lnTo>
                  <a:pt x="229" y="45"/>
                </a:lnTo>
                <a:lnTo>
                  <a:pt x="246" y="38"/>
                </a:lnTo>
                <a:lnTo>
                  <a:pt x="262" y="31"/>
                </a:lnTo>
                <a:lnTo>
                  <a:pt x="278" y="25"/>
                </a:lnTo>
                <a:lnTo>
                  <a:pt x="295" y="19"/>
                </a:lnTo>
                <a:lnTo>
                  <a:pt x="311" y="13"/>
                </a:lnTo>
                <a:lnTo>
                  <a:pt x="327" y="9"/>
                </a:lnTo>
                <a:lnTo>
                  <a:pt x="344" y="5"/>
                </a:lnTo>
                <a:lnTo>
                  <a:pt x="360" y="2"/>
                </a:lnTo>
                <a:lnTo>
                  <a:pt x="377" y="1"/>
                </a:lnTo>
                <a:lnTo>
                  <a:pt x="393" y="0"/>
                </a:lnTo>
                <a:lnTo>
                  <a:pt x="393" y="21"/>
                </a:lnTo>
                <a:lnTo>
                  <a:pt x="377" y="21"/>
                </a:lnTo>
                <a:lnTo>
                  <a:pt x="360" y="23"/>
                </a:lnTo>
                <a:lnTo>
                  <a:pt x="344" y="26"/>
                </a:lnTo>
                <a:lnTo>
                  <a:pt x="327" y="30"/>
                </a:lnTo>
                <a:lnTo>
                  <a:pt x="311" y="34"/>
                </a:lnTo>
                <a:lnTo>
                  <a:pt x="295" y="39"/>
                </a:lnTo>
                <a:lnTo>
                  <a:pt x="278" y="45"/>
                </a:lnTo>
                <a:lnTo>
                  <a:pt x="262" y="52"/>
                </a:lnTo>
                <a:lnTo>
                  <a:pt x="246" y="59"/>
                </a:lnTo>
                <a:lnTo>
                  <a:pt x="229" y="66"/>
                </a:lnTo>
                <a:lnTo>
                  <a:pt x="213" y="73"/>
                </a:lnTo>
                <a:lnTo>
                  <a:pt x="196" y="81"/>
                </a:lnTo>
                <a:lnTo>
                  <a:pt x="180" y="88"/>
                </a:lnTo>
                <a:lnTo>
                  <a:pt x="164" y="96"/>
                </a:lnTo>
                <a:lnTo>
                  <a:pt x="147" y="103"/>
                </a:lnTo>
                <a:lnTo>
                  <a:pt x="131" y="110"/>
                </a:lnTo>
                <a:lnTo>
                  <a:pt x="114" y="116"/>
                </a:lnTo>
                <a:lnTo>
                  <a:pt x="98" y="122"/>
                </a:lnTo>
                <a:lnTo>
                  <a:pt x="82" y="127"/>
                </a:lnTo>
                <a:lnTo>
                  <a:pt x="65" y="132"/>
                </a:lnTo>
                <a:lnTo>
                  <a:pt x="49" y="136"/>
                </a:lnTo>
                <a:lnTo>
                  <a:pt x="33" y="138"/>
                </a:lnTo>
                <a:lnTo>
                  <a:pt x="16" y="140"/>
                </a:lnTo>
                <a:lnTo>
                  <a:pt x="0" y="141"/>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3619500"/>
            <a:ext cx="3743325" cy="704850"/>
          </a:xfrm>
          <a:custGeom>
            <a:avLst/>
            <a:gdLst/>
            <a:ahLst/>
            <a:cxnLst/>
            <a:rect l="l" t="t" r="r" b="b"/>
            <a:pathLst>
              <a:path w="393" h="74">
                <a:moveTo>
                  <a:pt x="0" y="0"/>
                </a:moveTo>
                <a:lnTo>
                  <a:pt x="16" y="0"/>
                </a:lnTo>
                <a:lnTo>
                  <a:pt x="33" y="1"/>
                </a:lnTo>
                <a:lnTo>
                  <a:pt x="49" y="2"/>
                </a:lnTo>
                <a:lnTo>
                  <a:pt x="65" y="4"/>
                </a:lnTo>
                <a:lnTo>
                  <a:pt x="82" y="6"/>
                </a:lnTo>
                <a:lnTo>
                  <a:pt x="98" y="9"/>
                </a:lnTo>
                <a:lnTo>
                  <a:pt x="114" y="11"/>
                </a:lnTo>
                <a:lnTo>
                  <a:pt x="131" y="14"/>
                </a:lnTo>
                <a:lnTo>
                  <a:pt x="147" y="18"/>
                </a:lnTo>
                <a:lnTo>
                  <a:pt x="164" y="21"/>
                </a:lnTo>
                <a:lnTo>
                  <a:pt x="180" y="24"/>
                </a:lnTo>
                <a:lnTo>
                  <a:pt x="196" y="28"/>
                </a:lnTo>
                <a:lnTo>
                  <a:pt x="213" y="31"/>
                </a:lnTo>
                <a:lnTo>
                  <a:pt x="229" y="35"/>
                </a:lnTo>
                <a:lnTo>
                  <a:pt x="246" y="38"/>
                </a:lnTo>
                <a:lnTo>
                  <a:pt x="262" y="42"/>
                </a:lnTo>
                <a:lnTo>
                  <a:pt x="278" y="45"/>
                </a:lnTo>
                <a:lnTo>
                  <a:pt x="295" y="47"/>
                </a:lnTo>
                <a:lnTo>
                  <a:pt x="311" y="50"/>
                </a:lnTo>
                <a:lnTo>
                  <a:pt x="327" y="52"/>
                </a:lnTo>
                <a:lnTo>
                  <a:pt x="344" y="54"/>
                </a:lnTo>
                <a:lnTo>
                  <a:pt x="360" y="55"/>
                </a:lnTo>
                <a:lnTo>
                  <a:pt x="377" y="56"/>
                </a:lnTo>
                <a:lnTo>
                  <a:pt x="393" y="56"/>
                </a:lnTo>
                <a:lnTo>
                  <a:pt x="393" y="74"/>
                </a:lnTo>
                <a:lnTo>
                  <a:pt x="377" y="73"/>
                </a:lnTo>
                <a:lnTo>
                  <a:pt x="360" y="73"/>
                </a:lnTo>
                <a:lnTo>
                  <a:pt x="344" y="71"/>
                </a:lnTo>
                <a:lnTo>
                  <a:pt x="327" y="69"/>
                </a:lnTo>
                <a:lnTo>
                  <a:pt x="311" y="67"/>
                </a:lnTo>
                <a:lnTo>
                  <a:pt x="295" y="65"/>
                </a:lnTo>
                <a:lnTo>
                  <a:pt x="278" y="62"/>
                </a:lnTo>
                <a:lnTo>
                  <a:pt x="262" y="59"/>
                </a:lnTo>
                <a:lnTo>
                  <a:pt x="246" y="56"/>
                </a:lnTo>
                <a:lnTo>
                  <a:pt x="229" y="52"/>
                </a:lnTo>
                <a:lnTo>
                  <a:pt x="213" y="49"/>
                </a:lnTo>
                <a:lnTo>
                  <a:pt x="196" y="45"/>
                </a:lnTo>
                <a:lnTo>
                  <a:pt x="180" y="42"/>
                </a:lnTo>
                <a:lnTo>
                  <a:pt x="164" y="38"/>
                </a:lnTo>
                <a:lnTo>
                  <a:pt x="147" y="35"/>
                </a:lnTo>
                <a:lnTo>
                  <a:pt x="131" y="32"/>
                </a:lnTo>
                <a:lnTo>
                  <a:pt x="114" y="29"/>
                </a:lnTo>
                <a:lnTo>
                  <a:pt x="98" y="26"/>
                </a:lnTo>
                <a:lnTo>
                  <a:pt x="82" y="24"/>
                </a:lnTo>
                <a:lnTo>
                  <a:pt x="65" y="21"/>
                </a:lnTo>
                <a:lnTo>
                  <a:pt x="49" y="20"/>
                </a:lnTo>
                <a:lnTo>
                  <a:pt x="33" y="18"/>
                </a:lnTo>
                <a:lnTo>
                  <a:pt x="16" y="18"/>
                </a:lnTo>
                <a:lnTo>
                  <a:pt x="0" y="17"/>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3781425"/>
            <a:ext cx="3743325" cy="2000250"/>
          </a:xfrm>
          <a:custGeom>
            <a:avLst/>
            <a:gdLst/>
            <a:ahLst/>
            <a:cxnLst/>
            <a:rect l="l" t="t" r="r" b="b"/>
            <a:pathLst>
              <a:path w="393" h="210">
                <a:moveTo>
                  <a:pt x="0" y="0"/>
                </a:moveTo>
                <a:lnTo>
                  <a:pt x="16" y="1"/>
                </a:lnTo>
                <a:lnTo>
                  <a:pt x="33" y="4"/>
                </a:lnTo>
                <a:lnTo>
                  <a:pt x="49" y="9"/>
                </a:lnTo>
                <a:lnTo>
                  <a:pt x="65" y="15"/>
                </a:lnTo>
                <a:lnTo>
                  <a:pt x="82" y="23"/>
                </a:lnTo>
                <a:lnTo>
                  <a:pt x="98" y="31"/>
                </a:lnTo>
                <a:lnTo>
                  <a:pt x="114" y="41"/>
                </a:lnTo>
                <a:lnTo>
                  <a:pt x="131" y="52"/>
                </a:lnTo>
                <a:lnTo>
                  <a:pt x="147" y="63"/>
                </a:lnTo>
                <a:lnTo>
                  <a:pt x="164" y="75"/>
                </a:lnTo>
                <a:lnTo>
                  <a:pt x="180" y="87"/>
                </a:lnTo>
                <a:lnTo>
                  <a:pt x="196" y="99"/>
                </a:lnTo>
                <a:lnTo>
                  <a:pt x="213" y="112"/>
                </a:lnTo>
                <a:lnTo>
                  <a:pt x="229" y="124"/>
                </a:lnTo>
                <a:lnTo>
                  <a:pt x="246" y="136"/>
                </a:lnTo>
                <a:lnTo>
                  <a:pt x="262" y="147"/>
                </a:lnTo>
                <a:lnTo>
                  <a:pt x="278" y="158"/>
                </a:lnTo>
                <a:lnTo>
                  <a:pt x="295" y="168"/>
                </a:lnTo>
                <a:lnTo>
                  <a:pt x="311" y="176"/>
                </a:lnTo>
                <a:lnTo>
                  <a:pt x="327" y="184"/>
                </a:lnTo>
                <a:lnTo>
                  <a:pt x="344" y="190"/>
                </a:lnTo>
                <a:lnTo>
                  <a:pt x="360" y="195"/>
                </a:lnTo>
                <a:lnTo>
                  <a:pt x="377" y="197"/>
                </a:lnTo>
                <a:lnTo>
                  <a:pt x="393" y="199"/>
                </a:lnTo>
                <a:lnTo>
                  <a:pt x="393" y="210"/>
                </a:lnTo>
                <a:lnTo>
                  <a:pt x="377" y="209"/>
                </a:lnTo>
                <a:lnTo>
                  <a:pt x="360" y="206"/>
                </a:lnTo>
                <a:lnTo>
                  <a:pt x="344" y="201"/>
                </a:lnTo>
                <a:lnTo>
                  <a:pt x="327" y="195"/>
                </a:lnTo>
                <a:lnTo>
                  <a:pt x="311" y="187"/>
                </a:lnTo>
                <a:lnTo>
                  <a:pt x="295" y="179"/>
                </a:lnTo>
                <a:lnTo>
                  <a:pt x="278" y="169"/>
                </a:lnTo>
                <a:lnTo>
                  <a:pt x="262" y="158"/>
                </a:lnTo>
                <a:lnTo>
                  <a:pt x="246" y="147"/>
                </a:lnTo>
                <a:lnTo>
                  <a:pt x="229" y="135"/>
                </a:lnTo>
                <a:lnTo>
                  <a:pt x="213" y="123"/>
                </a:lnTo>
                <a:lnTo>
                  <a:pt x="196" y="111"/>
                </a:lnTo>
                <a:lnTo>
                  <a:pt x="180" y="98"/>
                </a:lnTo>
                <a:lnTo>
                  <a:pt x="164" y="86"/>
                </a:lnTo>
                <a:lnTo>
                  <a:pt x="147" y="74"/>
                </a:lnTo>
                <a:lnTo>
                  <a:pt x="131" y="63"/>
                </a:lnTo>
                <a:lnTo>
                  <a:pt x="114" y="52"/>
                </a:lnTo>
                <a:lnTo>
                  <a:pt x="98" y="42"/>
                </a:lnTo>
                <a:lnTo>
                  <a:pt x="82" y="34"/>
                </a:lnTo>
                <a:lnTo>
                  <a:pt x="65" y="26"/>
                </a:lnTo>
                <a:lnTo>
                  <a:pt x="49" y="20"/>
                </a:lnTo>
                <a:lnTo>
                  <a:pt x="33" y="15"/>
                </a:lnTo>
                <a:lnTo>
                  <a:pt x="16" y="13"/>
                </a:lnTo>
                <a:lnTo>
                  <a:pt x="0" y="1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2476500"/>
            <a:ext cx="3743325" cy="1657350"/>
          </a:xfrm>
          <a:custGeom>
            <a:avLst/>
            <a:gdLst/>
            <a:ahLst/>
            <a:cxnLst/>
            <a:rect l="l" t="t" r="r" b="b"/>
            <a:pathLst>
              <a:path w="393" h="174">
                <a:moveTo>
                  <a:pt x="0" y="155"/>
                </a:moveTo>
                <a:lnTo>
                  <a:pt x="16" y="154"/>
                </a:lnTo>
                <a:lnTo>
                  <a:pt x="33" y="151"/>
                </a:lnTo>
                <a:lnTo>
                  <a:pt x="49" y="148"/>
                </a:lnTo>
                <a:lnTo>
                  <a:pt x="65" y="143"/>
                </a:lnTo>
                <a:lnTo>
                  <a:pt x="82" y="137"/>
                </a:lnTo>
                <a:lnTo>
                  <a:pt x="98" y="130"/>
                </a:lnTo>
                <a:lnTo>
                  <a:pt x="114" y="123"/>
                </a:lnTo>
                <a:lnTo>
                  <a:pt x="131" y="114"/>
                </a:lnTo>
                <a:lnTo>
                  <a:pt x="147" y="106"/>
                </a:lnTo>
                <a:lnTo>
                  <a:pt x="164" y="96"/>
                </a:lnTo>
                <a:lnTo>
                  <a:pt x="180" y="87"/>
                </a:lnTo>
                <a:lnTo>
                  <a:pt x="196" y="77"/>
                </a:lnTo>
                <a:lnTo>
                  <a:pt x="213" y="67"/>
                </a:lnTo>
                <a:lnTo>
                  <a:pt x="229" y="58"/>
                </a:lnTo>
                <a:lnTo>
                  <a:pt x="246" y="49"/>
                </a:lnTo>
                <a:lnTo>
                  <a:pt x="262" y="40"/>
                </a:lnTo>
                <a:lnTo>
                  <a:pt x="278" y="32"/>
                </a:lnTo>
                <a:lnTo>
                  <a:pt x="295" y="24"/>
                </a:lnTo>
                <a:lnTo>
                  <a:pt x="311" y="17"/>
                </a:lnTo>
                <a:lnTo>
                  <a:pt x="327" y="11"/>
                </a:lnTo>
                <a:lnTo>
                  <a:pt x="344" y="6"/>
                </a:lnTo>
                <a:lnTo>
                  <a:pt x="360" y="3"/>
                </a:lnTo>
                <a:lnTo>
                  <a:pt x="377" y="1"/>
                </a:lnTo>
                <a:lnTo>
                  <a:pt x="393" y="0"/>
                </a:lnTo>
                <a:lnTo>
                  <a:pt x="393" y="19"/>
                </a:lnTo>
                <a:lnTo>
                  <a:pt x="377" y="20"/>
                </a:lnTo>
                <a:lnTo>
                  <a:pt x="360" y="22"/>
                </a:lnTo>
                <a:lnTo>
                  <a:pt x="344" y="26"/>
                </a:lnTo>
                <a:lnTo>
                  <a:pt x="327" y="30"/>
                </a:lnTo>
                <a:lnTo>
                  <a:pt x="311" y="36"/>
                </a:lnTo>
                <a:lnTo>
                  <a:pt x="295" y="43"/>
                </a:lnTo>
                <a:lnTo>
                  <a:pt x="278" y="51"/>
                </a:lnTo>
                <a:lnTo>
                  <a:pt x="262" y="59"/>
                </a:lnTo>
                <a:lnTo>
                  <a:pt x="246" y="68"/>
                </a:lnTo>
                <a:lnTo>
                  <a:pt x="229" y="77"/>
                </a:lnTo>
                <a:lnTo>
                  <a:pt x="213" y="87"/>
                </a:lnTo>
                <a:lnTo>
                  <a:pt x="196" y="96"/>
                </a:lnTo>
                <a:lnTo>
                  <a:pt x="180" y="106"/>
                </a:lnTo>
                <a:lnTo>
                  <a:pt x="164" y="115"/>
                </a:lnTo>
                <a:lnTo>
                  <a:pt x="147" y="125"/>
                </a:lnTo>
                <a:lnTo>
                  <a:pt x="131" y="134"/>
                </a:lnTo>
                <a:lnTo>
                  <a:pt x="114" y="142"/>
                </a:lnTo>
                <a:lnTo>
                  <a:pt x="98" y="149"/>
                </a:lnTo>
                <a:lnTo>
                  <a:pt x="82" y="156"/>
                </a:lnTo>
                <a:lnTo>
                  <a:pt x="65" y="162"/>
                </a:lnTo>
                <a:lnTo>
                  <a:pt x="49" y="167"/>
                </a:lnTo>
                <a:lnTo>
                  <a:pt x="33" y="171"/>
                </a:lnTo>
                <a:lnTo>
                  <a:pt x="16" y="173"/>
                </a:lnTo>
                <a:lnTo>
                  <a:pt x="0" y="174"/>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133850"/>
            <a:ext cx="3743325" cy="361950"/>
          </a:xfrm>
          <a:custGeom>
            <a:avLst/>
            <a:gdLst/>
            <a:ahLst/>
            <a:cxnLst/>
            <a:rect l="l" t="t" r="r" b="b"/>
            <a:pathLst>
              <a:path w="393" h="38">
                <a:moveTo>
                  <a:pt x="0" y="0"/>
                </a:moveTo>
                <a:lnTo>
                  <a:pt x="16" y="0"/>
                </a:lnTo>
                <a:lnTo>
                  <a:pt x="33" y="0"/>
                </a:lnTo>
                <a:lnTo>
                  <a:pt x="49" y="1"/>
                </a:lnTo>
                <a:lnTo>
                  <a:pt x="65" y="1"/>
                </a:lnTo>
                <a:lnTo>
                  <a:pt x="82" y="2"/>
                </a:lnTo>
                <a:lnTo>
                  <a:pt x="98" y="3"/>
                </a:lnTo>
                <a:lnTo>
                  <a:pt x="114" y="4"/>
                </a:lnTo>
                <a:lnTo>
                  <a:pt x="131" y="5"/>
                </a:lnTo>
                <a:lnTo>
                  <a:pt x="147" y="6"/>
                </a:lnTo>
                <a:lnTo>
                  <a:pt x="164" y="7"/>
                </a:lnTo>
                <a:lnTo>
                  <a:pt x="180" y="8"/>
                </a:lnTo>
                <a:lnTo>
                  <a:pt x="196" y="10"/>
                </a:lnTo>
                <a:lnTo>
                  <a:pt x="213" y="11"/>
                </a:lnTo>
                <a:lnTo>
                  <a:pt x="229" y="12"/>
                </a:lnTo>
                <a:lnTo>
                  <a:pt x="246" y="13"/>
                </a:lnTo>
                <a:lnTo>
                  <a:pt x="262" y="14"/>
                </a:lnTo>
                <a:lnTo>
                  <a:pt x="278" y="16"/>
                </a:lnTo>
                <a:lnTo>
                  <a:pt x="295" y="17"/>
                </a:lnTo>
                <a:lnTo>
                  <a:pt x="311" y="17"/>
                </a:lnTo>
                <a:lnTo>
                  <a:pt x="327" y="18"/>
                </a:lnTo>
                <a:lnTo>
                  <a:pt x="344" y="19"/>
                </a:lnTo>
                <a:lnTo>
                  <a:pt x="360" y="19"/>
                </a:lnTo>
                <a:lnTo>
                  <a:pt x="377" y="20"/>
                </a:lnTo>
                <a:lnTo>
                  <a:pt x="393" y="20"/>
                </a:lnTo>
                <a:lnTo>
                  <a:pt x="393" y="38"/>
                </a:lnTo>
                <a:lnTo>
                  <a:pt x="377" y="38"/>
                </a:lnTo>
                <a:lnTo>
                  <a:pt x="360" y="38"/>
                </a:lnTo>
                <a:lnTo>
                  <a:pt x="344" y="37"/>
                </a:lnTo>
                <a:lnTo>
                  <a:pt x="327" y="37"/>
                </a:lnTo>
                <a:lnTo>
                  <a:pt x="311" y="36"/>
                </a:lnTo>
                <a:lnTo>
                  <a:pt x="295" y="35"/>
                </a:lnTo>
                <a:lnTo>
                  <a:pt x="278" y="34"/>
                </a:lnTo>
                <a:lnTo>
                  <a:pt x="262" y="33"/>
                </a:lnTo>
                <a:lnTo>
                  <a:pt x="246" y="32"/>
                </a:lnTo>
                <a:lnTo>
                  <a:pt x="229" y="31"/>
                </a:lnTo>
                <a:lnTo>
                  <a:pt x="213" y="29"/>
                </a:lnTo>
                <a:lnTo>
                  <a:pt x="196" y="28"/>
                </a:lnTo>
                <a:lnTo>
                  <a:pt x="180" y="27"/>
                </a:lnTo>
                <a:lnTo>
                  <a:pt x="164" y="26"/>
                </a:lnTo>
                <a:lnTo>
                  <a:pt x="147" y="25"/>
                </a:lnTo>
                <a:lnTo>
                  <a:pt x="131" y="23"/>
                </a:lnTo>
                <a:lnTo>
                  <a:pt x="114" y="22"/>
                </a:lnTo>
                <a:lnTo>
                  <a:pt x="98" y="21"/>
                </a:lnTo>
                <a:lnTo>
                  <a:pt x="82" y="20"/>
                </a:lnTo>
                <a:lnTo>
                  <a:pt x="65" y="20"/>
                </a:lnTo>
                <a:lnTo>
                  <a:pt x="49" y="19"/>
                </a:lnTo>
                <a:lnTo>
                  <a:pt x="33" y="19"/>
                </a:lnTo>
                <a:lnTo>
                  <a:pt x="16" y="18"/>
                </a:lnTo>
                <a:lnTo>
                  <a:pt x="0" y="18"/>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4305300"/>
            <a:ext cx="3743325" cy="1581150"/>
          </a:xfrm>
          <a:custGeom>
            <a:avLst/>
            <a:gdLst/>
            <a:ahLst/>
            <a:cxnLst/>
            <a:rect l="l" t="t" r="r" b="b"/>
            <a:pathLst>
              <a:path w="393" h="166">
                <a:moveTo>
                  <a:pt x="0" y="0"/>
                </a:moveTo>
                <a:lnTo>
                  <a:pt x="16" y="1"/>
                </a:lnTo>
                <a:lnTo>
                  <a:pt x="33" y="3"/>
                </a:lnTo>
                <a:lnTo>
                  <a:pt x="49" y="7"/>
                </a:lnTo>
                <a:lnTo>
                  <a:pt x="65" y="12"/>
                </a:lnTo>
                <a:lnTo>
                  <a:pt x="82" y="18"/>
                </a:lnTo>
                <a:lnTo>
                  <a:pt x="98" y="24"/>
                </a:lnTo>
                <a:lnTo>
                  <a:pt x="114" y="32"/>
                </a:lnTo>
                <a:lnTo>
                  <a:pt x="131" y="40"/>
                </a:lnTo>
                <a:lnTo>
                  <a:pt x="147" y="49"/>
                </a:lnTo>
                <a:lnTo>
                  <a:pt x="164" y="58"/>
                </a:lnTo>
                <a:lnTo>
                  <a:pt x="180" y="68"/>
                </a:lnTo>
                <a:lnTo>
                  <a:pt x="196" y="77"/>
                </a:lnTo>
                <a:lnTo>
                  <a:pt x="213" y="87"/>
                </a:lnTo>
                <a:lnTo>
                  <a:pt x="229" y="97"/>
                </a:lnTo>
                <a:lnTo>
                  <a:pt x="246" y="106"/>
                </a:lnTo>
                <a:lnTo>
                  <a:pt x="262" y="115"/>
                </a:lnTo>
                <a:lnTo>
                  <a:pt x="278" y="123"/>
                </a:lnTo>
                <a:lnTo>
                  <a:pt x="295" y="131"/>
                </a:lnTo>
                <a:lnTo>
                  <a:pt x="311" y="137"/>
                </a:lnTo>
                <a:lnTo>
                  <a:pt x="327" y="143"/>
                </a:lnTo>
                <a:lnTo>
                  <a:pt x="344" y="148"/>
                </a:lnTo>
                <a:lnTo>
                  <a:pt x="360" y="152"/>
                </a:lnTo>
                <a:lnTo>
                  <a:pt x="377" y="154"/>
                </a:lnTo>
                <a:lnTo>
                  <a:pt x="393" y="155"/>
                </a:lnTo>
                <a:lnTo>
                  <a:pt x="393" y="166"/>
                </a:lnTo>
                <a:lnTo>
                  <a:pt x="377" y="166"/>
                </a:lnTo>
                <a:lnTo>
                  <a:pt x="360" y="163"/>
                </a:lnTo>
                <a:lnTo>
                  <a:pt x="344" y="160"/>
                </a:lnTo>
                <a:lnTo>
                  <a:pt x="327" y="155"/>
                </a:lnTo>
                <a:lnTo>
                  <a:pt x="311" y="149"/>
                </a:lnTo>
                <a:lnTo>
                  <a:pt x="295" y="142"/>
                </a:lnTo>
                <a:lnTo>
                  <a:pt x="278" y="135"/>
                </a:lnTo>
                <a:lnTo>
                  <a:pt x="262" y="126"/>
                </a:lnTo>
                <a:lnTo>
                  <a:pt x="246" y="118"/>
                </a:lnTo>
                <a:lnTo>
                  <a:pt x="229" y="108"/>
                </a:lnTo>
                <a:lnTo>
                  <a:pt x="213" y="99"/>
                </a:lnTo>
                <a:lnTo>
                  <a:pt x="196" y="89"/>
                </a:lnTo>
                <a:lnTo>
                  <a:pt x="180" y="80"/>
                </a:lnTo>
                <a:lnTo>
                  <a:pt x="164" y="70"/>
                </a:lnTo>
                <a:lnTo>
                  <a:pt x="147" y="61"/>
                </a:lnTo>
                <a:lnTo>
                  <a:pt x="131" y="52"/>
                </a:lnTo>
                <a:lnTo>
                  <a:pt x="114" y="44"/>
                </a:lnTo>
                <a:lnTo>
                  <a:pt x="98" y="36"/>
                </a:lnTo>
                <a:lnTo>
                  <a:pt x="82" y="29"/>
                </a:lnTo>
                <a:lnTo>
                  <a:pt x="65" y="23"/>
                </a:lnTo>
                <a:lnTo>
                  <a:pt x="49" y="19"/>
                </a:lnTo>
                <a:lnTo>
                  <a:pt x="33" y="15"/>
                </a:lnTo>
                <a:lnTo>
                  <a:pt x="16" y="13"/>
                </a:lnTo>
                <a:lnTo>
                  <a:pt x="0" y="12"/>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2657475"/>
            <a:ext cx="3743325" cy="2009775"/>
          </a:xfrm>
          <a:custGeom>
            <a:avLst/>
            <a:gdLst/>
            <a:ahLst/>
            <a:cxnLst/>
            <a:rect l="l" t="t" r="r" b="b"/>
            <a:pathLst>
              <a:path w="393" h="211">
                <a:moveTo>
                  <a:pt x="0" y="191"/>
                </a:moveTo>
                <a:lnTo>
                  <a:pt x="16" y="190"/>
                </a:lnTo>
                <a:lnTo>
                  <a:pt x="33" y="187"/>
                </a:lnTo>
                <a:lnTo>
                  <a:pt x="49" y="183"/>
                </a:lnTo>
                <a:lnTo>
                  <a:pt x="65" y="177"/>
                </a:lnTo>
                <a:lnTo>
                  <a:pt x="82" y="170"/>
                </a:lnTo>
                <a:lnTo>
                  <a:pt x="98" y="161"/>
                </a:lnTo>
                <a:lnTo>
                  <a:pt x="114" y="152"/>
                </a:lnTo>
                <a:lnTo>
                  <a:pt x="131" y="141"/>
                </a:lnTo>
                <a:lnTo>
                  <a:pt x="147" y="131"/>
                </a:lnTo>
                <a:lnTo>
                  <a:pt x="164" y="119"/>
                </a:lnTo>
                <a:lnTo>
                  <a:pt x="180" y="107"/>
                </a:lnTo>
                <a:lnTo>
                  <a:pt x="196" y="95"/>
                </a:lnTo>
                <a:lnTo>
                  <a:pt x="213" y="84"/>
                </a:lnTo>
                <a:lnTo>
                  <a:pt x="229" y="72"/>
                </a:lnTo>
                <a:lnTo>
                  <a:pt x="246" y="60"/>
                </a:lnTo>
                <a:lnTo>
                  <a:pt x="262" y="49"/>
                </a:lnTo>
                <a:lnTo>
                  <a:pt x="278" y="39"/>
                </a:lnTo>
                <a:lnTo>
                  <a:pt x="295" y="30"/>
                </a:lnTo>
                <a:lnTo>
                  <a:pt x="311" y="21"/>
                </a:lnTo>
                <a:lnTo>
                  <a:pt x="327" y="14"/>
                </a:lnTo>
                <a:lnTo>
                  <a:pt x="344" y="8"/>
                </a:lnTo>
                <a:lnTo>
                  <a:pt x="360" y="4"/>
                </a:lnTo>
                <a:lnTo>
                  <a:pt x="377" y="1"/>
                </a:lnTo>
                <a:lnTo>
                  <a:pt x="393" y="0"/>
                </a:lnTo>
                <a:lnTo>
                  <a:pt x="393" y="20"/>
                </a:lnTo>
                <a:lnTo>
                  <a:pt x="377" y="21"/>
                </a:lnTo>
                <a:lnTo>
                  <a:pt x="360" y="24"/>
                </a:lnTo>
                <a:lnTo>
                  <a:pt x="344" y="28"/>
                </a:lnTo>
                <a:lnTo>
                  <a:pt x="327" y="34"/>
                </a:lnTo>
                <a:lnTo>
                  <a:pt x="311" y="41"/>
                </a:lnTo>
                <a:lnTo>
                  <a:pt x="295" y="50"/>
                </a:lnTo>
                <a:lnTo>
                  <a:pt x="278" y="59"/>
                </a:lnTo>
                <a:lnTo>
                  <a:pt x="262" y="70"/>
                </a:lnTo>
                <a:lnTo>
                  <a:pt x="246" y="80"/>
                </a:lnTo>
                <a:lnTo>
                  <a:pt x="229" y="92"/>
                </a:lnTo>
                <a:lnTo>
                  <a:pt x="213" y="104"/>
                </a:lnTo>
                <a:lnTo>
                  <a:pt x="196" y="116"/>
                </a:lnTo>
                <a:lnTo>
                  <a:pt x="180" y="127"/>
                </a:lnTo>
                <a:lnTo>
                  <a:pt x="164" y="139"/>
                </a:lnTo>
                <a:lnTo>
                  <a:pt x="147" y="151"/>
                </a:lnTo>
                <a:lnTo>
                  <a:pt x="131" y="162"/>
                </a:lnTo>
                <a:lnTo>
                  <a:pt x="114" y="172"/>
                </a:lnTo>
                <a:lnTo>
                  <a:pt x="98" y="181"/>
                </a:lnTo>
                <a:lnTo>
                  <a:pt x="82" y="190"/>
                </a:lnTo>
                <a:lnTo>
                  <a:pt x="65" y="197"/>
                </a:lnTo>
                <a:lnTo>
                  <a:pt x="49" y="203"/>
                </a:lnTo>
                <a:lnTo>
                  <a:pt x="33" y="207"/>
                </a:lnTo>
                <a:lnTo>
                  <a:pt x="16" y="210"/>
                </a:lnTo>
                <a:lnTo>
                  <a:pt x="0" y="211"/>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4495800"/>
            <a:ext cx="3743325" cy="342900"/>
          </a:xfrm>
          <a:custGeom>
            <a:avLst/>
            <a:gdLst/>
            <a:ahLst/>
            <a:cxnLst/>
            <a:rect l="l" t="t" r="r" b="b"/>
            <a:pathLst>
              <a:path w="393" h="36">
                <a:moveTo>
                  <a:pt x="0" y="18"/>
                </a:moveTo>
                <a:lnTo>
                  <a:pt x="16" y="18"/>
                </a:lnTo>
                <a:lnTo>
                  <a:pt x="33" y="18"/>
                </a:lnTo>
                <a:lnTo>
                  <a:pt x="49" y="17"/>
                </a:lnTo>
                <a:lnTo>
                  <a:pt x="65" y="17"/>
                </a:lnTo>
                <a:lnTo>
                  <a:pt x="82" y="16"/>
                </a:lnTo>
                <a:lnTo>
                  <a:pt x="98" y="15"/>
                </a:lnTo>
                <a:lnTo>
                  <a:pt x="114" y="14"/>
                </a:lnTo>
                <a:lnTo>
                  <a:pt x="131" y="13"/>
                </a:lnTo>
                <a:lnTo>
                  <a:pt x="147" y="12"/>
                </a:lnTo>
                <a:lnTo>
                  <a:pt x="164" y="11"/>
                </a:lnTo>
                <a:lnTo>
                  <a:pt x="180" y="10"/>
                </a:lnTo>
                <a:lnTo>
                  <a:pt x="196" y="9"/>
                </a:lnTo>
                <a:lnTo>
                  <a:pt x="213" y="8"/>
                </a:lnTo>
                <a:lnTo>
                  <a:pt x="229" y="7"/>
                </a:lnTo>
                <a:lnTo>
                  <a:pt x="246" y="6"/>
                </a:lnTo>
                <a:lnTo>
                  <a:pt x="262" y="5"/>
                </a:lnTo>
                <a:lnTo>
                  <a:pt x="278" y="4"/>
                </a:lnTo>
                <a:lnTo>
                  <a:pt x="295" y="3"/>
                </a:lnTo>
                <a:lnTo>
                  <a:pt x="311" y="2"/>
                </a:lnTo>
                <a:lnTo>
                  <a:pt x="327" y="2"/>
                </a:lnTo>
                <a:lnTo>
                  <a:pt x="344" y="1"/>
                </a:lnTo>
                <a:lnTo>
                  <a:pt x="360" y="1"/>
                </a:lnTo>
                <a:lnTo>
                  <a:pt x="377" y="0"/>
                </a:lnTo>
                <a:lnTo>
                  <a:pt x="393" y="0"/>
                </a:lnTo>
                <a:lnTo>
                  <a:pt x="393" y="18"/>
                </a:lnTo>
                <a:lnTo>
                  <a:pt x="377" y="18"/>
                </a:lnTo>
                <a:lnTo>
                  <a:pt x="360" y="18"/>
                </a:lnTo>
                <a:lnTo>
                  <a:pt x="344" y="19"/>
                </a:lnTo>
                <a:lnTo>
                  <a:pt x="327" y="19"/>
                </a:lnTo>
                <a:lnTo>
                  <a:pt x="311" y="20"/>
                </a:lnTo>
                <a:lnTo>
                  <a:pt x="295" y="21"/>
                </a:lnTo>
                <a:lnTo>
                  <a:pt x="278" y="22"/>
                </a:lnTo>
                <a:lnTo>
                  <a:pt x="262" y="23"/>
                </a:lnTo>
                <a:lnTo>
                  <a:pt x="246" y="24"/>
                </a:lnTo>
                <a:lnTo>
                  <a:pt x="229" y="25"/>
                </a:lnTo>
                <a:lnTo>
                  <a:pt x="213" y="26"/>
                </a:lnTo>
                <a:lnTo>
                  <a:pt x="196" y="27"/>
                </a:lnTo>
                <a:lnTo>
                  <a:pt x="180" y="28"/>
                </a:lnTo>
                <a:lnTo>
                  <a:pt x="164" y="29"/>
                </a:lnTo>
                <a:lnTo>
                  <a:pt x="147" y="30"/>
                </a:lnTo>
                <a:lnTo>
                  <a:pt x="131" y="31"/>
                </a:lnTo>
                <a:lnTo>
                  <a:pt x="114" y="32"/>
                </a:lnTo>
                <a:lnTo>
                  <a:pt x="98" y="33"/>
                </a:lnTo>
                <a:lnTo>
                  <a:pt x="82" y="34"/>
                </a:lnTo>
                <a:lnTo>
                  <a:pt x="65" y="34"/>
                </a:lnTo>
                <a:lnTo>
                  <a:pt x="49" y="35"/>
                </a:lnTo>
                <a:lnTo>
                  <a:pt x="33" y="35"/>
                </a:lnTo>
                <a:lnTo>
                  <a:pt x="16" y="36"/>
                </a:lnTo>
                <a:lnTo>
                  <a:pt x="0" y="36"/>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4838700"/>
            <a:ext cx="3743325" cy="1162050"/>
          </a:xfrm>
          <a:custGeom>
            <a:avLst/>
            <a:gdLst/>
            <a:ahLst/>
            <a:cxnLst/>
            <a:rect l="l" t="t" r="r" b="b"/>
            <a:pathLst>
              <a:path w="393" h="122">
                <a:moveTo>
                  <a:pt x="0" y="0"/>
                </a:moveTo>
                <a:lnTo>
                  <a:pt x="16" y="0"/>
                </a:lnTo>
                <a:lnTo>
                  <a:pt x="33" y="2"/>
                </a:lnTo>
                <a:lnTo>
                  <a:pt x="49" y="5"/>
                </a:lnTo>
                <a:lnTo>
                  <a:pt x="65" y="8"/>
                </a:lnTo>
                <a:lnTo>
                  <a:pt x="82" y="12"/>
                </a:lnTo>
                <a:lnTo>
                  <a:pt x="98" y="17"/>
                </a:lnTo>
                <a:lnTo>
                  <a:pt x="114" y="23"/>
                </a:lnTo>
                <a:lnTo>
                  <a:pt x="131" y="28"/>
                </a:lnTo>
                <a:lnTo>
                  <a:pt x="147" y="35"/>
                </a:lnTo>
                <a:lnTo>
                  <a:pt x="164" y="41"/>
                </a:lnTo>
                <a:lnTo>
                  <a:pt x="180" y="48"/>
                </a:lnTo>
                <a:lnTo>
                  <a:pt x="196" y="55"/>
                </a:lnTo>
                <a:lnTo>
                  <a:pt x="213" y="62"/>
                </a:lnTo>
                <a:lnTo>
                  <a:pt x="229" y="69"/>
                </a:lnTo>
                <a:lnTo>
                  <a:pt x="246" y="75"/>
                </a:lnTo>
                <a:lnTo>
                  <a:pt x="262" y="82"/>
                </a:lnTo>
                <a:lnTo>
                  <a:pt x="278" y="88"/>
                </a:lnTo>
                <a:lnTo>
                  <a:pt x="295" y="93"/>
                </a:lnTo>
                <a:lnTo>
                  <a:pt x="311" y="98"/>
                </a:lnTo>
                <a:lnTo>
                  <a:pt x="327" y="102"/>
                </a:lnTo>
                <a:lnTo>
                  <a:pt x="344" y="106"/>
                </a:lnTo>
                <a:lnTo>
                  <a:pt x="360" y="108"/>
                </a:lnTo>
                <a:lnTo>
                  <a:pt x="377" y="110"/>
                </a:lnTo>
                <a:lnTo>
                  <a:pt x="393" y="110"/>
                </a:lnTo>
                <a:lnTo>
                  <a:pt x="393" y="122"/>
                </a:lnTo>
                <a:lnTo>
                  <a:pt x="377" y="122"/>
                </a:lnTo>
                <a:lnTo>
                  <a:pt x="360" y="120"/>
                </a:lnTo>
                <a:lnTo>
                  <a:pt x="344" y="117"/>
                </a:lnTo>
                <a:lnTo>
                  <a:pt x="327" y="114"/>
                </a:lnTo>
                <a:lnTo>
                  <a:pt x="311" y="110"/>
                </a:lnTo>
                <a:lnTo>
                  <a:pt x="295" y="105"/>
                </a:lnTo>
                <a:lnTo>
                  <a:pt x="278" y="99"/>
                </a:lnTo>
                <a:lnTo>
                  <a:pt x="262" y="94"/>
                </a:lnTo>
                <a:lnTo>
                  <a:pt x="246" y="87"/>
                </a:lnTo>
                <a:lnTo>
                  <a:pt x="229" y="81"/>
                </a:lnTo>
                <a:lnTo>
                  <a:pt x="213" y="74"/>
                </a:lnTo>
                <a:lnTo>
                  <a:pt x="196" y="67"/>
                </a:lnTo>
                <a:lnTo>
                  <a:pt x="180" y="60"/>
                </a:lnTo>
                <a:lnTo>
                  <a:pt x="164" y="53"/>
                </a:lnTo>
                <a:lnTo>
                  <a:pt x="147" y="47"/>
                </a:lnTo>
                <a:lnTo>
                  <a:pt x="131" y="40"/>
                </a:lnTo>
                <a:lnTo>
                  <a:pt x="114" y="34"/>
                </a:lnTo>
                <a:lnTo>
                  <a:pt x="98" y="29"/>
                </a:lnTo>
                <a:lnTo>
                  <a:pt x="82" y="24"/>
                </a:lnTo>
                <a:lnTo>
                  <a:pt x="65" y="20"/>
                </a:lnTo>
                <a:lnTo>
                  <a:pt x="49" y="16"/>
                </a:lnTo>
                <a:lnTo>
                  <a:pt x="33" y="14"/>
                </a:lnTo>
                <a:lnTo>
                  <a:pt x="16" y="12"/>
                </a:lnTo>
                <a:lnTo>
                  <a:pt x="0" y="12"/>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2847975"/>
            <a:ext cx="3743325" cy="2343150"/>
          </a:xfrm>
          <a:custGeom>
            <a:avLst/>
            <a:gdLst/>
            <a:ahLst/>
            <a:cxnLst/>
            <a:rect l="l" t="t" r="r" b="b"/>
            <a:pathLst>
              <a:path w="393" h="246">
                <a:moveTo>
                  <a:pt x="0" y="227"/>
                </a:moveTo>
                <a:lnTo>
                  <a:pt x="16" y="225"/>
                </a:lnTo>
                <a:lnTo>
                  <a:pt x="33" y="222"/>
                </a:lnTo>
                <a:lnTo>
                  <a:pt x="49" y="217"/>
                </a:lnTo>
                <a:lnTo>
                  <a:pt x="65" y="210"/>
                </a:lnTo>
                <a:lnTo>
                  <a:pt x="82" y="201"/>
                </a:lnTo>
                <a:lnTo>
                  <a:pt x="98" y="191"/>
                </a:lnTo>
                <a:lnTo>
                  <a:pt x="114" y="180"/>
                </a:lnTo>
                <a:lnTo>
                  <a:pt x="131" y="168"/>
                </a:lnTo>
                <a:lnTo>
                  <a:pt x="147" y="155"/>
                </a:lnTo>
                <a:lnTo>
                  <a:pt x="164" y="141"/>
                </a:lnTo>
                <a:lnTo>
                  <a:pt x="180" y="127"/>
                </a:lnTo>
                <a:lnTo>
                  <a:pt x="196" y="113"/>
                </a:lnTo>
                <a:lnTo>
                  <a:pt x="213" y="99"/>
                </a:lnTo>
                <a:lnTo>
                  <a:pt x="229" y="85"/>
                </a:lnTo>
                <a:lnTo>
                  <a:pt x="246" y="72"/>
                </a:lnTo>
                <a:lnTo>
                  <a:pt x="262" y="59"/>
                </a:lnTo>
                <a:lnTo>
                  <a:pt x="278" y="47"/>
                </a:lnTo>
                <a:lnTo>
                  <a:pt x="295" y="35"/>
                </a:lnTo>
                <a:lnTo>
                  <a:pt x="311" y="25"/>
                </a:lnTo>
                <a:lnTo>
                  <a:pt x="327" y="17"/>
                </a:lnTo>
                <a:lnTo>
                  <a:pt x="344" y="10"/>
                </a:lnTo>
                <a:lnTo>
                  <a:pt x="360" y="4"/>
                </a:lnTo>
                <a:lnTo>
                  <a:pt x="377" y="1"/>
                </a:lnTo>
                <a:lnTo>
                  <a:pt x="393" y="0"/>
                </a:lnTo>
                <a:lnTo>
                  <a:pt x="393" y="20"/>
                </a:lnTo>
                <a:lnTo>
                  <a:pt x="377" y="21"/>
                </a:lnTo>
                <a:lnTo>
                  <a:pt x="360" y="24"/>
                </a:lnTo>
                <a:lnTo>
                  <a:pt x="344" y="30"/>
                </a:lnTo>
                <a:lnTo>
                  <a:pt x="327" y="37"/>
                </a:lnTo>
                <a:lnTo>
                  <a:pt x="311" y="45"/>
                </a:lnTo>
                <a:lnTo>
                  <a:pt x="295" y="55"/>
                </a:lnTo>
                <a:lnTo>
                  <a:pt x="278" y="67"/>
                </a:lnTo>
                <a:lnTo>
                  <a:pt x="262" y="79"/>
                </a:lnTo>
                <a:lnTo>
                  <a:pt x="246" y="92"/>
                </a:lnTo>
                <a:lnTo>
                  <a:pt x="229" y="105"/>
                </a:lnTo>
                <a:lnTo>
                  <a:pt x="213" y="119"/>
                </a:lnTo>
                <a:lnTo>
                  <a:pt x="196" y="133"/>
                </a:lnTo>
                <a:lnTo>
                  <a:pt x="180" y="147"/>
                </a:lnTo>
                <a:lnTo>
                  <a:pt x="164" y="161"/>
                </a:lnTo>
                <a:lnTo>
                  <a:pt x="147" y="175"/>
                </a:lnTo>
                <a:lnTo>
                  <a:pt x="131" y="188"/>
                </a:lnTo>
                <a:lnTo>
                  <a:pt x="114" y="200"/>
                </a:lnTo>
                <a:lnTo>
                  <a:pt x="98" y="211"/>
                </a:lnTo>
                <a:lnTo>
                  <a:pt x="82" y="221"/>
                </a:lnTo>
                <a:lnTo>
                  <a:pt x="65" y="230"/>
                </a:lnTo>
                <a:lnTo>
                  <a:pt x="49" y="237"/>
                </a:lnTo>
                <a:lnTo>
                  <a:pt x="33" y="242"/>
                </a:lnTo>
                <a:lnTo>
                  <a:pt x="16" y="245"/>
                </a:lnTo>
                <a:lnTo>
                  <a:pt x="0" y="246"/>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4667250"/>
            <a:ext cx="3743325" cy="695325"/>
          </a:xfrm>
          <a:custGeom>
            <a:avLst/>
            <a:gdLst/>
            <a:ahLst/>
            <a:cxnLst/>
            <a:rect l="l" t="t" r="r" b="b"/>
            <a:pathLst>
              <a:path w="393" h="73">
                <a:moveTo>
                  <a:pt x="0" y="55"/>
                </a:moveTo>
                <a:lnTo>
                  <a:pt x="16" y="55"/>
                </a:lnTo>
                <a:lnTo>
                  <a:pt x="33" y="54"/>
                </a:lnTo>
                <a:lnTo>
                  <a:pt x="49" y="53"/>
                </a:lnTo>
                <a:lnTo>
                  <a:pt x="65" y="51"/>
                </a:lnTo>
                <a:lnTo>
                  <a:pt x="82" y="49"/>
                </a:lnTo>
                <a:lnTo>
                  <a:pt x="98" y="47"/>
                </a:lnTo>
                <a:lnTo>
                  <a:pt x="114" y="44"/>
                </a:lnTo>
                <a:lnTo>
                  <a:pt x="131" y="41"/>
                </a:lnTo>
                <a:lnTo>
                  <a:pt x="147" y="38"/>
                </a:lnTo>
                <a:lnTo>
                  <a:pt x="164" y="35"/>
                </a:lnTo>
                <a:lnTo>
                  <a:pt x="180" y="31"/>
                </a:lnTo>
                <a:lnTo>
                  <a:pt x="196" y="28"/>
                </a:lnTo>
                <a:lnTo>
                  <a:pt x="213" y="24"/>
                </a:lnTo>
                <a:lnTo>
                  <a:pt x="229" y="21"/>
                </a:lnTo>
                <a:lnTo>
                  <a:pt x="246" y="17"/>
                </a:lnTo>
                <a:lnTo>
                  <a:pt x="262" y="14"/>
                </a:lnTo>
                <a:lnTo>
                  <a:pt x="278" y="11"/>
                </a:lnTo>
                <a:lnTo>
                  <a:pt x="295" y="9"/>
                </a:lnTo>
                <a:lnTo>
                  <a:pt x="311" y="6"/>
                </a:lnTo>
                <a:lnTo>
                  <a:pt x="327" y="4"/>
                </a:lnTo>
                <a:lnTo>
                  <a:pt x="344" y="2"/>
                </a:lnTo>
                <a:lnTo>
                  <a:pt x="360" y="1"/>
                </a:lnTo>
                <a:lnTo>
                  <a:pt x="377" y="0"/>
                </a:lnTo>
                <a:lnTo>
                  <a:pt x="393" y="0"/>
                </a:lnTo>
                <a:lnTo>
                  <a:pt x="393" y="17"/>
                </a:lnTo>
                <a:lnTo>
                  <a:pt x="377" y="18"/>
                </a:lnTo>
                <a:lnTo>
                  <a:pt x="360" y="19"/>
                </a:lnTo>
                <a:lnTo>
                  <a:pt x="344" y="20"/>
                </a:lnTo>
                <a:lnTo>
                  <a:pt x="327" y="22"/>
                </a:lnTo>
                <a:lnTo>
                  <a:pt x="311" y="24"/>
                </a:lnTo>
                <a:lnTo>
                  <a:pt x="295" y="26"/>
                </a:lnTo>
                <a:lnTo>
                  <a:pt x="278" y="29"/>
                </a:lnTo>
                <a:lnTo>
                  <a:pt x="262" y="32"/>
                </a:lnTo>
                <a:lnTo>
                  <a:pt x="246" y="35"/>
                </a:lnTo>
                <a:lnTo>
                  <a:pt x="229" y="38"/>
                </a:lnTo>
                <a:lnTo>
                  <a:pt x="213" y="42"/>
                </a:lnTo>
                <a:lnTo>
                  <a:pt x="196" y="45"/>
                </a:lnTo>
                <a:lnTo>
                  <a:pt x="180" y="49"/>
                </a:lnTo>
                <a:lnTo>
                  <a:pt x="164" y="52"/>
                </a:lnTo>
                <a:lnTo>
                  <a:pt x="147" y="55"/>
                </a:lnTo>
                <a:lnTo>
                  <a:pt x="131" y="59"/>
                </a:lnTo>
                <a:lnTo>
                  <a:pt x="114" y="62"/>
                </a:lnTo>
                <a:lnTo>
                  <a:pt x="98" y="64"/>
                </a:lnTo>
                <a:lnTo>
                  <a:pt x="82" y="67"/>
                </a:lnTo>
                <a:lnTo>
                  <a:pt x="65" y="69"/>
                </a:lnTo>
                <a:lnTo>
                  <a:pt x="49" y="71"/>
                </a:lnTo>
                <a:lnTo>
                  <a:pt x="33" y="72"/>
                </a:lnTo>
                <a:lnTo>
                  <a:pt x="16" y="73"/>
                </a:lnTo>
                <a:lnTo>
                  <a:pt x="0" y="73"/>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5362575"/>
            <a:ext cx="3743325" cy="752475"/>
          </a:xfrm>
          <a:custGeom>
            <a:avLst/>
            <a:gdLst/>
            <a:ahLst/>
            <a:cxnLst/>
            <a:rect l="l" t="t" r="r" b="b"/>
            <a:pathLst>
              <a:path w="393" h="79">
                <a:moveTo>
                  <a:pt x="0" y="0"/>
                </a:moveTo>
                <a:lnTo>
                  <a:pt x="16" y="0"/>
                </a:lnTo>
                <a:lnTo>
                  <a:pt x="33" y="1"/>
                </a:lnTo>
                <a:lnTo>
                  <a:pt x="49" y="3"/>
                </a:lnTo>
                <a:lnTo>
                  <a:pt x="65" y="5"/>
                </a:lnTo>
                <a:lnTo>
                  <a:pt x="82" y="8"/>
                </a:lnTo>
                <a:lnTo>
                  <a:pt x="98" y="11"/>
                </a:lnTo>
                <a:lnTo>
                  <a:pt x="114" y="14"/>
                </a:lnTo>
                <a:lnTo>
                  <a:pt x="131" y="17"/>
                </a:lnTo>
                <a:lnTo>
                  <a:pt x="147" y="21"/>
                </a:lnTo>
                <a:lnTo>
                  <a:pt x="164" y="25"/>
                </a:lnTo>
                <a:lnTo>
                  <a:pt x="180" y="29"/>
                </a:lnTo>
                <a:lnTo>
                  <a:pt x="196" y="34"/>
                </a:lnTo>
                <a:lnTo>
                  <a:pt x="213" y="38"/>
                </a:lnTo>
                <a:lnTo>
                  <a:pt x="229" y="42"/>
                </a:lnTo>
                <a:lnTo>
                  <a:pt x="246" y="46"/>
                </a:lnTo>
                <a:lnTo>
                  <a:pt x="262" y="50"/>
                </a:lnTo>
                <a:lnTo>
                  <a:pt x="278" y="53"/>
                </a:lnTo>
                <a:lnTo>
                  <a:pt x="295" y="57"/>
                </a:lnTo>
                <a:lnTo>
                  <a:pt x="311" y="60"/>
                </a:lnTo>
                <a:lnTo>
                  <a:pt x="327" y="62"/>
                </a:lnTo>
                <a:lnTo>
                  <a:pt x="344" y="64"/>
                </a:lnTo>
                <a:lnTo>
                  <a:pt x="360" y="66"/>
                </a:lnTo>
                <a:lnTo>
                  <a:pt x="377" y="67"/>
                </a:lnTo>
                <a:lnTo>
                  <a:pt x="393" y="67"/>
                </a:lnTo>
                <a:lnTo>
                  <a:pt x="393" y="79"/>
                </a:lnTo>
                <a:lnTo>
                  <a:pt x="377" y="79"/>
                </a:lnTo>
                <a:lnTo>
                  <a:pt x="360" y="78"/>
                </a:lnTo>
                <a:lnTo>
                  <a:pt x="344" y="76"/>
                </a:lnTo>
                <a:lnTo>
                  <a:pt x="327" y="74"/>
                </a:lnTo>
                <a:lnTo>
                  <a:pt x="311" y="72"/>
                </a:lnTo>
                <a:lnTo>
                  <a:pt x="295" y="69"/>
                </a:lnTo>
                <a:lnTo>
                  <a:pt x="278" y="65"/>
                </a:lnTo>
                <a:lnTo>
                  <a:pt x="262" y="62"/>
                </a:lnTo>
                <a:lnTo>
                  <a:pt x="246" y="58"/>
                </a:lnTo>
                <a:lnTo>
                  <a:pt x="229" y="54"/>
                </a:lnTo>
                <a:lnTo>
                  <a:pt x="213" y="50"/>
                </a:lnTo>
                <a:lnTo>
                  <a:pt x="196" y="46"/>
                </a:lnTo>
                <a:lnTo>
                  <a:pt x="180" y="41"/>
                </a:lnTo>
                <a:lnTo>
                  <a:pt x="164" y="37"/>
                </a:lnTo>
                <a:lnTo>
                  <a:pt x="147" y="33"/>
                </a:lnTo>
                <a:lnTo>
                  <a:pt x="131" y="29"/>
                </a:lnTo>
                <a:lnTo>
                  <a:pt x="114" y="26"/>
                </a:lnTo>
                <a:lnTo>
                  <a:pt x="98" y="22"/>
                </a:lnTo>
                <a:lnTo>
                  <a:pt x="82" y="20"/>
                </a:lnTo>
                <a:lnTo>
                  <a:pt x="65" y="17"/>
                </a:lnTo>
                <a:lnTo>
                  <a:pt x="49" y="15"/>
                </a:lnTo>
                <a:lnTo>
                  <a:pt x="33" y="13"/>
                </a:lnTo>
                <a:lnTo>
                  <a:pt x="16" y="12"/>
                </a:lnTo>
                <a:lnTo>
                  <a:pt x="0" y="12"/>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3038475"/>
            <a:ext cx="3743325" cy="2686050"/>
          </a:xfrm>
          <a:custGeom>
            <a:avLst/>
            <a:gdLst/>
            <a:ahLst/>
            <a:cxnLst/>
            <a:rect l="l" t="t" r="r" b="b"/>
            <a:pathLst>
              <a:path w="393" h="282">
                <a:moveTo>
                  <a:pt x="0" y="262"/>
                </a:moveTo>
                <a:lnTo>
                  <a:pt x="16" y="261"/>
                </a:lnTo>
                <a:lnTo>
                  <a:pt x="33" y="257"/>
                </a:lnTo>
                <a:lnTo>
                  <a:pt x="49" y="251"/>
                </a:lnTo>
                <a:lnTo>
                  <a:pt x="65" y="243"/>
                </a:lnTo>
                <a:lnTo>
                  <a:pt x="82" y="233"/>
                </a:lnTo>
                <a:lnTo>
                  <a:pt x="98" y="221"/>
                </a:lnTo>
                <a:lnTo>
                  <a:pt x="114" y="208"/>
                </a:lnTo>
                <a:lnTo>
                  <a:pt x="131" y="194"/>
                </a:lnTo>
                <a:lnTo>
                  <a:pt x="147" y="179"/>
                </a:lnTo>
                <a:lnTo>
                  <a:pt x="164" y="163"/>
                </a:lnTo>
                <a:lnTo>
                  <a:pt x="180" y="147"/>
                </a:lnTo>
                <a:lnTo>
                  <a:pt x="196" y="131"/>
                </a:lnTo>
                <a:lnTo>
                  <a:pt x="213" y="115"/>
                </a:lnTo>
                <a:lnTo>
                  <a:pt x="229" y="99"/>
                </a:lnTo>
                <a:lnTo>
                  <a:pt x="246" y="83"/>
                </a:lnTo>
                <a:lnTo>
                  <a:pt x="262" y="68"/>
                </a:lnTo>
                <a:lnTo>
                  <a:pt x="278" y="54"/>
                </a:lnTo>
                <a:lnTo>
                  <a:pt x="295" y="41"/>
                </a:lnTo>
                <a:lnTo>
                  <a:pt x="311" y="29"/>
                </a:lnTo>
                <a:lnTo>
                  <a:pt x="327" y="19"/>
                </a:lnTo>
                <a:lnTo>
                  <a:pt x="344" y="11"/>
                </a:lnTo>
                <a:lnTo>
                  <a:pt x="360" y="5"/>
                </a:lnTo>
                <a:lnTo>
                  <a:pt x="377" y="1"/>
                </a:lnTo>
                <a:lnTo>
                  <a:pt x="393" y="0"/>
                </a:lnTo>
                <a:lnTo>
                  <a:pt x="393" y="20"/>
                </a:lnTo>
                <a:lnTo>
                  <a:pt x="377" y="21"/>
                </a:lnTo>
                <a:lnTo>
                  <a:pt x="360" y="25"/>
                </a:lnTo>
                <a:lnTo>
                  <a:pt x="344" y="31"/>
                </a:lnTo>
                <a:lnTo>
                  <a:pt x="327" y="39"/>
                </a:lnTo>
                <a:lnTo>
                  <a:pt x="311" y="49"/>
                </a:lnTo>
                <a:lnTo>
                  <a:pt x="295" y="61"/>
                </a:lnTo>
                <a:lnTo>
                  <a:pt x="278" y="74"/>
                </a:lnTo>
                <a:lnTo>
                  <a:pt x="262" y="88"/>
                </a:lnTo>
                <a:lnTo>
                  <a:pt x="246" y="103"/>
                </a:lnTo>
                <a:lnTo>
                  <a:pt x="229" y="119"/>
                </a:lnTo>
                <a:lnTo>
                  <a:pt x="213" y="135"/>
                </a:lnTo>
                <a:lnTo>
                  <a:pt x="196" y="151"/>
                </a:lnTo>
                <a:lnTo>
                  <a:pt x="180" y="167"/>
                </a:lnTo>
                <a:lnTo>
                  <a:pt x="164" y="183"/>
                </a:lnTo>
                <a:lnTo>
                  <a:pt x="147" y="199"/>
                </a:lnTo>
                <a:lnTo>
                  <a:pt x="131" y="214"/>
                </a:lnTo>
                <a:lnTo>
                  <a:pt x="114" y="228"/>
                </a:lnTo>
                <a:lnTo>
                  <a:pt x="98" y="241"/>
                </a:lnTo>
                <a:lnTo>
                  <a:pt x="82" y="253"/>
                </a:lnTo>
                <a:lnTo>
                  <a:pt x="65" y="263"/>
                </a:lnTo>
                <a:lnTo>
                  <a:pt x="49" y="271"/>
                </a:lnTo>
                <a:lnTo>
                  <a:pt x="33" y="277"/>
                </a:lnTo>
                <a:lnTo>
                  <a:pt x="16" y="281"/>
                </a:lnTo>
                <a:lnTo>
                  <a:pt x="0" y="282"/>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4829175"/>
            <a:ext cx="3743325" cy="1066800"/>
          </a:xfrm>
          <a:custGeom>
            <a:avLst/>
            <a:gdLst/>
            <a:ahLst/>
            <a:cxnLst/>
            <a:rect l="l" t="t" r="r" b="b"/>
            <a:pathLst>
              <a:path w="393" h="112">
                <a:moveTo>
                  <a:pt x="0" y="94"/>
                </a:moveTo>
                <a:lnTo>
                  <a:pt x="16" y="94"/>
                </a:lnTo>
                <a:lnTo>
                  <a:pt x="33" y="92"/>
                </a:lnTo>
                <a:lnTo>
                  <a:pt x="49" y="90"/>
                </a:lnTo>
                <a:lnTo>
                  <a:pt x="65" y="87"/>
                </a:lnTo>
                <a:lnTo>
                  <a:pt x="82" y="84"/>
                </a:lnTo>
                <a:lnTo>
                  <a:pt x="98" y="79"/>
                </a:lnTo>
                <a:lnTo>
                  <a:pt x="114" y="75"/>
                </a:lnTo>
                <a:lnTo>
                  <a:pt x="131" y="70"/>
                </a:lnTo>
                <a:lnTo>
                  <a:pt x="147" y="64"/>
                </a:lnTo>
                <a:lnTo>
                  <a:pt x="164" y="59"/>
                </a:lnTo>
                <a:lnTo>
                  <a:pt x="180" y="53"/>
                </a:lnTo>
                <a:lnTo>
                  <a:pt x="196" y="47"/>
                </a:lnTo>
                <a:lnTo>
                  <a:pt x="213" y="41"/>
                </a:lnTo>
                <a:lnTo>
                  <a:pt x="229" y="36"/>
                </a:lnTo>
                <a:lnTo>
                  <a:pt x="246" y="30"/>
                </a:lnTo>
                <a:lnTo>
                  <a:pt x="262" y="25"/>
                </a:lnTo>
                <a:lnTo>
                  <a:pt x="278" y="20"/>
                </a:lnTo>
                <a:lnTo>
                  <a:pt x="295" y="15"/>
                </a:lnTo>
                <a:lnTo>
                  <a:pt x="311" y="11"/>
                </a:lnTo>
                <a:lnTo>
                  <a:pt x="327" y="7"/>
                </a:lnTo>
                <a:lnTo>
                  <a:pt x="344" y="5"/>
                </a:lnTo>
                <a:lnTo>
                  <a:pt x="360" y="2"/>
                </a:lnTo>
                <a:lnTo>
                  <a:pt x="377" y="1"/>
                </a:lnTo>
                <a:lnTo>
                  <a:pt x="393" y="0"/>
                </a:lnTo>
                <a:lnTo>
                  <a:pt x="393" y="18"/>
                </a:lnTo>
                <a:lnTo>
                  <a:pt x="377" y="19"/>
                </a:lnTo>
                <a:lnTo>
                  <a:pt x="360" y="20"/>
                </a:lnTo>
                <a:lnTo>
                  <a:pt x="344" y="22"/>
                </a:lnTo>
                <a:lnTo>
                  <a:pt x="327" y="25"/>
                </a:lnTo>
                <a:lnTo>
                  <a:pt x="311" y="29"/>
                </a:lnTo>
                <a:lnTo>
                  <a:pt x="295" y="33"/>
                </a:lnTo>
                <a:lnTo>
                  <a:pt x="278" y="37"/>
                </a:lnTo>
                <a:lnTo>
                  <a:pt x="262" y="43"/>
                </a:lnTo>
                <a:lnTo>
                  <a:pt x="246" y="48"/>
                </a:lnTo>
                <a:lnTo>
                  <a:pt x="229" y="53"/>
                </a:lnTo>
                <a:lnTo>
                  <a:pt x="213" y="59"/>
                </a:lnTo>
                <a:lnTo>
                  <a:pt x="196" y="65"/>
                </a:lnTo>
                <a:lnTo>
                  <a:pt x="180" y="71"/>
                </a:lnTo>
                <a:lnTo>
                  <a:pt x="164" y="77"/>
                </a:lnTo>
                <a:lnTo>
                  <a:pt x="147" y="82"/>
                </a:lnTo>
                <a:lnTo>
                  <a:pt x="131" y="88"/>
                </a:lnTo>
                <a:lnTo>
                  <a:pt x="114" y="93"/>
                </a:lnTo>
                <a:lnTo>
                  <a:pt x="98" y="97"/>
                </a:lnTo>
                <a:lnTo>
                  <a:pt x="82" y="101"/>
                </a:lnTo>
                <a:lnTo>
                  <a:pt x="65" y="105"/>
                </a:lnTo>
                <a:lnTo>
                  <a:pt x="49" y="108"/>
                </a:lnTo>
                <a:lnTo>
                  <a:pt x="33" y="110"/>
                </a:lnTo>
                <a:lnTo>
                  <a:pt x="16" y="111"/>
                </a:lnTo>
                <a:lnTo>
                  <a:pt x="0" y="112"/>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5895975"/>
            <a:ext cx="3743325" cy="333375"/>
          </a:xfrm>
          <a:custGeom>
            <a:avLst/>
            <a:gdLst/>
            <a:ahLst/>
            <a:cxnLst/>
            <a:rect l="l" t="t" r="r" b="b"/>
            <a:pathLst>
              <a:path w="393" h="35">
                <a:moveTo>
                  <a:pt x="0" y="0"/>
                </a:moveTo>
                <a:lnTo>
                  <a:pt x="16" y="0"/>
                </a:lnTo>
                <a:lnTo>
                  <a:pt x="33" y="0"/>
                </a:lnTo>
                <a:lnTo>
                  <a:pt x="49" y="1"/>
                </a:lnTo>
                <a:lnTo>
                  <a:pt x="65" y="2"/>
                </a:lnTo>
                <a:lnTo>
                  <a:pt x="82" y="2"/>
                </a:lnTo>
                <a:lnTo>
                  <a:pt x="98" y="3"/>
                </a:lnTo>
                <a:lnTo>
                  <a:pt x="114" y="5"/>
                </a:lnTo>
                <a:lnTo>
                  <a:pt x="131" y="6"/>
                </a:lnTo>
                <a:lnTo>
                  <a:pt x="147" y="7"/>
                </a:lnTo>
                <a:lnTo>
                  <a:pt x="164" y="9"/>
                </a:lnTo>
                <a:lnTo>
                  <a:pt x="180" y="10"/>
                </a:lnTo>
                <a:lnTo>
                  <a:pt x="196" y="11"/>
                </a:lnTo>
                <a:lnTo>
                  <a:pt x="213" y="13"/>
                </a:lnTo>
                <a:lnTo>
                  <a:pt x="229" y="14"/>
                </a:lnTo>
                <a:lnTo>
                  <a:pt x="246" y="16"/>
                </a:lnTo>
                <a:lnTo>
                  <a:pt x="262" y="17"/>
                </a:lnTo>
                <a:lnTo>
                  <a:pt x="278" y="18"/>
                </a:lnTo>
                <a:lnTo>
                  <a:pt x="295" y="19"/>
                </a:lnTo>
                <a:lnTo>
                  <a:pt x="311" y="21"/>
                </a:lnTo>
                <a:lnTo>
                  <a:pt x="327" y="21"/>
                </a:lnTo>
                <a:lnTo>
                  <a:pt x="344" y="22"/>
                </a:lnTo>
                <a:lnTo>
                  <a:pt x="360" y="23"/>
                </a:lnTo>
                <a:lnTo>
                  <a:pt x="377" y="23"/>
                </a:lnTo>
                <a:lnTo>
                  <a:pt x="393" y="23"/>
                </a:lnTo>
                <a:lnTo>
                  <a:pt x="393" y="35"/>
                </a:lnTo>
                <a:lnTo>
                  <a:pt x="377" y="35"/>
                </a:lnTo>
                <a:lnTo>
                  <a:pt x="360" y="34"/>
                </a:lnTo>
                <a:lnTo>
                  <a:pt x="344" y="34"/>
                </a:lnTo>
                <a:lnTo>
                  <a:pt x="327" y="33"/>
                </a:lnTo>
                <a:lnTo>
                  <a:pt x="311" y="32"/>
                </a:lnTo>
                <a:lnTo>
                  <a:pt x="295" y="31"/>
                </a:lnTo>
                <a:lnTo>
                  <a:pt x="278" y="30"/>
                </a:lnTo>
                <a:lnTo>
                  <a:pt x="262" y="29"/>
                </a:lnTo>
                <a:lnTo>
                  <a:pt x="246" y="27"/>
                </a:lnTo>
                <a:lnTo>
                  <a:pt x="229" y="26"/>
                </a:lnTo>
                <a:lnTo>
                  <a:pt x="213" y="25"/>
                </a:lnTo>
                <a:lnTo>
                  <a:pt x="196" y="23"/>
                </a:lnTo>
                <a:lnTo>
                  <a:pt x="180" y="22"/>
                </a:lnTo>
                <a:lnTo>
                  <a:pt x="164" y="20"/>
                </a:lnTo>
                <a:lnTo>
                  <a:pt x="147" y="19"/>
                </a:lnTo>
                <a:lnTo>
                  <a:pt x="131" y="18"/>
                </a:lnTo>
                <a:lnTo>
                  <a:pt x="114" y="16"/>
                </a:lnTo>
                <a:lnTo>
                  <a:pt x="98" y="15"/>
                </a:lnTo>
                <a:lnTo>
                  <a:pt x="82" y="14"/>
                </a:lnTo>
                <a:lnTo>
                  <a:pt x="65" y="13"/>
                </a:lnTo>
                <a:lnTo>
                  <a:pt x="49" y="13"/>
                </a:lnTo>
                <a:lnTo>
                  <a:pt x="33" y="12"/>
                </a:lnTo>
                <a:lnTo>
                  <a:pt x="16" y="12"/>
                </a:lnTo>
                <a:lnTo>
                  <a:pt x="0" y="12"/>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3228975"/>
            <a:ext cx="3743325" cy="3028950"/>
          </a:xfrm>
          <a:custGeom>
            <a:avLst/>
            <a:gdLst/>
            <a:ahLst/>
            <a:cxnLst/>
            <a:rect l="l" t="t" r="r" b="b"/>
            <a:pathLst>
              <a:path w="393" h="318">
                <a:moveTo>
                  <a:pt x="0" y="298"/>
                </a:moveTo>
                <a:lnTo>
                  <a:pt x="16" y="296"/>
                </a:lnTo>
                <a:lnTo>
                  <a:pt x="33" y="292"/>
                </a:lnTo>
                <a:lnTo>
                  <a:pt x="49" y="285"/>
                </a:lnTo>
                <a:lnTo>
                  <a:pt x="65" y="275"/>
                </a:lnTo>
                <a:lnTo>
                  <a:pt x="82" y="264"/>
                </a:lnTo>
                <a:lnTo>
                  <a:pt x="98" y="251"/>
                </a:lnTo>
                <a:lnTo>
                  <a:pt x="114" y="236"/>
                </a:lnTo>
                <a:lnTo>
                  <a:pt x="131" y="220"/>
                </a:lnTo>
                <a:lnTo>
                  <a:pt x="147" y="203"/>
                </a:lnTo>
                <a:lnTo>
                  <a:pt x="164" y="186"/>
                </a:lnTo>
                <a:lnTo>
                  <a:pt x="180" y="167"/>
                </a:lnTo>
                <a:lnTo>
                  <a:pt x="196" y="149"/>
                </a:lnTo>
                <a:lnTo>
                  <a:pt x="213" y="130"/>
                </a:lnTo>
                <a:lnTo>
                  <a:pt x="229" y="112"/>
                </a:lnTo>
                <a:lnTo>
                  <a:pt x="246" y="94"/>
                </a:lnTo>
                <a:lnTo>
                  <a:pt x="262" y="77"/>
                </a:lnTo>
                <a:lnTo>
                  <a:pt x="278" y="61"/>
                </a:lnTo>
                <a:lnTo>
                  <a:pt x="295" y="46"/>
                </a:lnTo>
                <a:lnTo>
                  <a:pt x="311" y="33"/>
                </a:lnTo>
                <a:lnTo>
                  <a:pt x="327" y="22"/>
                </a:lnTo>
                <a:lnTo>
                  <a:pt x="344" y="13"/>
                </a:lnTo>
                <a:lnTo>
                  <a:pt x="360" y="6"/>
                </a:lnTo>
                <a:lnTo>
                  <a:pt x="377" y="2"/>
                </a:lnTo>
                <a:lnTo>
                  <a:pt x="393" y="0"/>
                </a:lnTo>
                <a:lnTo>
                  <a:pt x="393" y="21"/>
                </a:lnTo>
                <a:lnTo>
                  <a:pt x="377" y="22"/>
                </a:lnTo>
                <a:lnTo>
                  <a:pt x="360" y="27"/>
                </a:lnTo>
                <a:lnTo>
                  <a:pt x="344" y="33"/>
                </a:lnTo>
                <a:lnTo>
                  <a:pt x="327" y="43"/>
                </a:lnTo>
                <a:lnTo>
                  <a:pt x="311" y="54"/>
                </a:lnTo>
                <a:lnTo>
                  <a:pt x="295" y="67"/>
                </a:lnTo>
                <a:lnTo>
                  <a:pt x="278" y="82"/>
                </a:lnTo>
                <a:lnTo>
                  <a:pt x="262" y="98"/>
                </a:lnTo>
                <a:lnTo>
                  <a:pt x="246" y="115"/>
                </a:lnTo>
                <a:lnTo>
                  <a:pt x="229" y="133"/>
                </a:lnTo>
                <a:lnTo>
                  <a:pt x="213" y="151"/>
                </a:lnTo>
                <a:lnTo>
                  <a:pt x="196" y="169"/>
                </a:lnTo>
                <a:lnTo>
                  <a:pt x="180" y="188"/>
                </a:lnTo>
                <a:lnTo>
                  <a:pt x="164" y="206"/>
                </a:lnTo>
                <a:lnTo>
                  <a:pt x="147" y="224"/>
                </a:lnTo>
                <a:lnTo>
                  <a:pt x="131" y="241"/>
                </a:lnTo>
                <a:lnTo>
                  <a:pt x="114" y="257"/>
                </a:lnTo>
                <a:lnTo>
                  <a:pt x="98" y="272"/>
                </a:lnTo>
                <a:lnTo>
                  <a:pt x="82" y="285"/>
                </a:lnTo>
                <a:lnTo>
                  <a:pt x="65" y="296"/>
                </a:lnTo>
                <a:lnTo>
                  <a:pt x="49" y="305"/>
                </a:lnTo>
                <a:lnTo>
                  <a:pt x="33" y="312"/>
                </a:lnTo>
                <a:lnTo>
                  <a:pt x="16" y="317"/>
                </a:lnTo>
                <a:lnTo>
                  <a:pt x="0" y="318"/>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5000625"/>
            <a:ext cx="3743325" cy="1428750"/>
          </a:xfrm>
          <a:custGeom>
            <a:avLst/>
            <a:gdLst/>
            <a:ahLst/>
            <a:cxnLst/>
            <a:rect l="l" t="t" r="r" b="b"/>
            <a:pathLst>
              <a:path w="393" h="150">
                <a:moveTo>
                  <a:pt x="0" y="132"/>
                </a:moveTo>
                <a:lnTo>
                  <a:pt x="16" y="132"/>
                </a:lnTo>
                <a:lnTo>
                  <a:pt x="33" y="130"/>
                </a:lnTo>
                <a:lnTo>
                  <a:pt x="49" y="127"/>
                </a:lnTo>
                <a:lnTo>
                  <a:pt x="65" y="122"/>
                </a:lnTo>
                <a:lnTo>
                  <a:pt x="82" y="117"/>
                </a:lnTo>
                <a:lnTo>
                  <a:pt x="98" y="112"/>
                </a:lnTo>
                <a:lnTo>
                  <a:pt x="114" y="105"/>
                </a:lnTo>
                <a:lnTo>
                  <a:pt x="131" y="98"/>
                </a:lnTo>
                <a:lnTo>
                  <a:pt x="147" y="90"/>
                </a:lnTo>
                <a:lnTo>
                  <a:pt x="164" y="83"/>
                </a:lnTo>
                <a:lnTo>
                  <a:pt x="180" y="74"/>
                </a:lnTo>
                <a:lnTo>
                  <a:pt x="196" y="66"/>
                </a:lnTo>
                <a:lnTo>
                  <a:pt x="213" y="58"/>
                </a:lnTo>
                <a:lnTo>
                  <a:pt x="229" y="50"/>
                </a:lnTo>
                <a:lnTo>
                  <a:pt x="246" y="42"/>
                </a:lnTo>
                <a:lnTo>
                  <a:pt x="262" y="34"/>
                </a:lnTo>
                <a:lnTo>
                  <a:pt x="278" y="27"/>
                </a:lnTo>
                <a:lnTo>
                  <a:pt x="295" y="21"/>
                </a:lnTo>
                <a:lnTo>
                  <a:pt x="311" y="15"/>
                </a:lnTo>
                <a:lnTo>
                  <a:pt x="327" y="10"/>
                </a:lnTo>
                <a:lnTo>
                  <a:pt x="344" y="6"/>
                </a:lnTo>
                <a:lnTo>
                  <a:pt x="360" y="3"/>
                </a:lnTo>
                <a:lnTo>
                  <a:pt x="377" y="1"/>
                </a:lnTo>
                <a:lnTo>
                  <a:pt x="393" y="0"/>
                </a:lnTo>
                <a:lnTo>
                  <a:pt x="393" y="18"/>
                </a:lnTo>
                <a:lnTo>
                  <a:pt x="377" y="19"/>
                </a:lnTo>
                <a:lnTo>
                  <a:pt x="360" y="21"/>
                </a:lnTo>
                <a:lnTo>
                  <a:pt x="344" y="24"/>
                </a:lnTo>
                <a:lnTo>
                  <a:pt x="327" y="28"/>
                </a:lnTo>
                <a:lnTo>
                  <a:pt x="311" y="33"/>
                </a:lnTo>
                <a:lnTo>
                  <a:pt x="295" y="39"/>
                </a:lnTo>
                <a:lnTo>
                  <a:pt x="278" y="45"/>
                </a:lnTo>
                <a:lnTo>
                  <a:pt x="262" y="52"/>
                </a:lnTo>
                <a:lnTo>
                  <a:pt x="246" y="60"/>
                </a:lnTo>
                <a:lnTo>
                  <a:pt x="229" y="68"/>
                </a:lnTo>
                <a:lnTo>
                  <a:pt x="213" y="76"/>
                </a:lnTo>
                <a:lnTo>
                  <a:pt x="196" y="84"/>
                </a:lnTo>
                <a:lnTo>
                  <a:pt x="180" y="92"/>
                </a:lnTo>
                <a:lnTo>
                  <a:pt x="164" y="100"/>
                </a:lnTo>
                <a:lnTo>
                  <a:pt x="147" y="108"/>
                </a:lnTo>
                <a:lnTo>
                  <a:pt x="131" y="116"/>
                </a:lnTo>
                <a:lnTo>
                  <a:pt x="114" y="123"/>
                </a:lnTo>
                <a:lnTo>
                  <a:pt x="98" y="129"/>
                </a:lnTo>
                <a:lnTo>
                  <a:pt x="82" y="135"/>
                </a:lnTo>
                <a:lnTo>
                  <a:pt x="65" y="140"/>
                </a:lnTo>
                <a:lnTo>
                  <a:pt x="49" y="144"/>
                </a:lnTo>
                <a:lnTo>
                  <a:pt x="33" y="147"/>
                </a:lnTo>
                <a:lnTo>
                  <a:pt x="16" y="149"/>
                </a:lnTo>
                <a:lnTo>
                  <a:pt x="0" y="150"/>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6229350"/>
            <a:ext cx="3743325" cy="304800"/>
          </a:xfrm>
          <a:custGeom>
            <a:avLst/>
            <a:gdLst/>
            <a:ahLst/>
            <a:cxnLst/>
            <a:rect l="l" t="t" r="r" b="b"/>
            <a:pathLst>
              <a:path w="393" h="32">
                <a:moveTo>
                  <a:pt x="0" y="21"/>
                </a:moveTo>
                <a:lnTo>
                  <a:pt x="16" y="21"/>
                </a:lnTo>
                <a:lnTo>
                  <a:pt x="33" y="20"/>
                </a:lnTo>
                <a:lnTo>
                  <a:pt x="49" y="20"/>
                </a:lnTo>
                <a:lnTo>
                  <a:pt x="65" y="19"/>
                </a:lnTo>
                <a:lnTo>
                  <a:pt x="82" y="19"/>
                </a:lnTo>
                <a:lnTo>
                  <a:pt x="98" y="18"/>
                </a:lnTo>
                <a:lnTo>
                  <a:pt x="114" y="17"/>
                </a:lnTo>
                <a:lnTo>
                  <a:pt x="131" y="15"/>
                </a:lnTo>
                <a:lnTo>
                  <a:pt x="147" y="14"/>
                </a:lnTo>
                <a:lnTo>
                  <a:pt x="164" y="13"/>
                </a:lnTo>
                <a:lnTo>
                  <a:pt x="180" y="12"/>
                </a:lnTo>
                <a:lnTo>
                  <a:pt x="196" y="10"/>
                </a:lnTo>
                <a:lnTo>
                  <a:pt x="213" y="9"/>
                </a:lnTo>
                <a:lnTo>
                  <a:pt x="229" y="8"/>
                </a:lnTo>
                <a:lnTo>
                  <a:pt x="246" y="7"/>
                </a:lnTo>
                <a:lnTo>
                  <a:pt x="262" y="5"/>
                </a:lnTo>
                <a:lnTo>
                  <a:pt x="278" y="4"/>
                </a:lnTo>
                <a:lnTo>
                  <a:pt x="295" y="3"/>
                </a:lnTo>
                <a:lnTo>
                  <a:pt x="311" y="2"/>
                </a:lnTo>
                <a:lnTo>
                  <a:pt x="327" y="1"/>
                </a:lnTo>
                <a:lnTo>
                  <a:pt x="344" y="1"/>
                </a:lnTo>
                <a:lnTo>
                  <a:pt x="360" y="0"/>
                </a:lnTo>
                <a:lnTo>
                  <a:pt x="377" y="0"/>
                </a:lnTo>
                <a:lnTo>
                  <a:pt x="393" y="0"/>
                </a:lnTo>
                <a:lnTo>
                  <a:pt x="393" y="11"/>
                </a:lnTo>
                <a:lnTo>
                  <a:pt x="377" y="11"/>
                </a:lnTo>
                <a:lnTo>
                  <a:pt x="360" y="11"/>
                </a:lnTo>
                <a:lnTo>
                  <a:pt x="344" y="12"/>
                </a:lnTo>
                <a:lnTo>
                  <a:pt x="327" y="13"/>
                </a:lnTo>
                <a:lnTo>
                  <a:pt x="311" y="13"/>
                </a:lnTo>
                <a:lnTo>
                  <a:pt x="295" y="14"/>
                </a:lnTo>
                <a:lnTo>
                  <a:pt x="278" y="15"/>
                </a:lnTo>
                <a:lnTo>
                  <a:pt x="262" y="16"/>
                </a:lnTo>
                <a:lnTo>
                  <a:pt x="246" y="18"/>
                </a:lnTo>
                <a:lnTo>
                  <a:pt x="229" y="19"/>
                </a:lnTo>
                <a:lnTo>
                  <a:pt x="213" y="20"/>
                </a:lnTo>
                <a:lnTo>
                  <a:pt x="196" y="22"/>
                </a:lnTo>
                <a:lnTo>
                  <a:pt x="180" y="23"/>
                </a:lnTo>
                <a:lnTo>
                  <a:pt x="164" y="24"/>
                </a:lnTo>
                <a:lnTo>
                  <a:pt x="147" y="25"/>
                </a:lnTo>
                <a:lnTo>
                  <a:pt x="131" y="27"/>
                </a:lnTo>
                <a:lnTo>
                  <a:pt x="114" y="28"/>
                </a:lnTo>
                <a:lnTo>
                  <a:pt x="98" y="29"/>
                </a:lnTo>
                <a:lnTo>
                  <a:pt x="82" y="30"/>
                </a:lnTo>
                <a:lnTo>
                  <a:pt x="65" y="30"/>
                </a:lnTo>
                <a:lnTo>
                  <a:pt x="49" y="31"/>
                </a:lnTo>
                <a:lnTo>
                  <a:pt x="33" y="32"/>
                </a:lnTo>
                <a:lnTo>
                  <a:pt x="16" y="32"/>
                </a:lnTo>
                <a:lnTo>
                  <a:pt x="0" y="32"/>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41195" y="1304925"/>
            <a:ext cx="114300" cy="471497"/>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7175" y="1304925"/>
            <a:ext cx="1626870" cy="47149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Rectangle 43"/>
          <p:cNvSpPr/>
          <p:nvPr/>
        </p:nvSpPr>
        <p:spPr>
          <a:xfrm>
            <a:off x="1941195" y="1833572"/>
            <a:ext cx="114300" cy="471496"/>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7175" y="1833572"/>
            <a:ext cx="1626870" cy="471496"/>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Rectangle 45"/>
          <p:cNvSpPr/>
          <p:nvPr/>
        </p:nvSpPr>
        <p:spPr>
          <a:xfrm>
            <a:off x="1941195" y="2362218"/>
            <a:ext cx="114300" cy="47149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7175" y="2362218"/>
            <a:ext cx="1626870" cy="471494"/>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Rectangle 47"/>
          <p:cNvSpPr/>
          <p:nvPr/>
        </p:nvSpPr>
        <p:spPr>
          <a:xfrm>
            <a:off x="1941195" y="2890862"/>
            <a:ext cx="114300" cy="471490"/>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7175" y="2890862"/>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Rectangle 49"/>
          <p:cNvSpPr/>
          <p:nvPr/>
        </p:nvSpPr>
        <p:spPr>
          <a:xfrm>
            <a:off x="1941195" y="3419502"/>
            <a:ext cx="114300" cy="471488"/>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7175" y="3419502"/>
            <a:ext cx="1626870" cy="471488"/>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Rectangle 51"/>
          <p:cNvSpPr/>
          <p:nvPr/>
        </p:nvSpPr>
        <p:spPr>
          <a:xfrm>
            <a:off x="1941195" y="3948140"/>
            <a:ext cx="114300" cy="4714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7175" y="3948140"/>
            <a:ext cx="1626870" cy="47148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4" name="Rectangle 53"/>
          <p:cNvSpPr/>
          <p:nvPr/>
        </p:nvSpPr>
        <p:spPr>
          <a:xfrm>
            <a:off x="1941195" y="4476777"/>
            <a:ext cx="114300" cy="471487"/>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7175" y="4476777"/>
            <a:ext cx="1626870" cy="47148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6" name="Rectangle 55"/>
          <p:cNvSpPr/>
          <p:nvPr/>
        </p:nvSpPr>
        <p:spPr>
          <a:xfrm>
            <a:off x="1941195" y="5005414"/>
            <a:ext cx="114300" cy="471483"/>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7175" y="5005414"/>
            <a:ext cx="1626870" cy="471483"/>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8" name="Rectangle 57"/>
          <p:cNvSpPr/>
          <p:nvPr/>
        </p:nvSpPr>
        <p:spPr>
          <a:xfrm>
            <a:off x="1941195" y="5534047"/>
            <a:ext cx="114300" cy="471477"/>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7175" y="5534047"/>
            <a:ext cx="1626870" cy="47147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0" name="Rectangle 59"/>
          <p:cNvSpPr/>
          <p:nvPr/>
        </p:nvSpPr>
        <p:spPr>
          <a:xfrm>
            <a:off x="1941195" y="6062674"/>
            <a:ext cx="114300" cy="471476"/>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7175" y="6062674"/>
            <a:ext cx="1626870" cy="471476"/>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2" name="Rectangle 61"/>
          <p:cNvSpPr/>
          <p:nvPr/>
        </p:nvSpPr>
        <p:spPr>
          <a:xfrm>
            <a:off x="5800725" y="1504950"/>
            <a:ext cx="114300" cy="192123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72175" y="1504950"/>
            <a:ext cx="1381125" cy="1921231"/>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4" name="Rectangle 63"/>
          <p:cNvSpPr/>
          <p:nvPr/>
        </p:nvSpPr>
        <p:spPr>
          <a:xfrm>
            <a:off x="5800725" y="3483331"/>
            <a:ext cx="114300" cy="168800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72175" y="3483331"/>
            <a:ext cx="1381125" cy="1688001"/>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6" name="Rectangle 65"/>
          <p:cNvSpPr/>
          <p:nvPr/>
        </p:nvSpPr>
        <p:spPr>
          <a:xfrm>
            <a:off x="5800725" y="5228481"/>
            <a:ext cx="114300" cy="110564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72175" y="5228481"/>
            <a:ext cx="1381125" cy="1105644"/>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8" name="Rounded Rectangle 67"/>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70" name="Rectangle 69"/>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2" name="TextBox 7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73" name="TextBox 72"/>
          <p:cNvSpPr txBox="1"/>
          <p:nvPr/>
        </p:nvSpPr>
        <p:spPr>
          <a:xfrm>
            <a:off x="391894" y="1373033"/>
            <a:ext cx="1473100" cy="186689"/>
          </a:xfrm>
          <a:prstGeom prst="rect">
            <a:avLst/>
          </a:prstGeom>
          <a:noFill/>
        </p:spPr>
        <p:txBody>
          <a:bodyPr wrap="none" lIns="0" rIns="0" tIns="0" bIns="0">
            <a:spAutoFit/>
          </a:bodyPr>
          <a:lstStyle/>
          <a:p>
            <a:r>
              <a:rPr sz="1100" b="1">
                <a:solidFill>
                  <a:srgbClr val="2E2E2E"/>
                </a:solidFill>
                <a:latin typeface="Calibri"/>
              </a:rPr>
              <a:t>Jubilant HollisterStier LLC</a:t>
            </a:r>
          </a:p>
        </p:txBody>
      </p:sp>
      <p:pic>
        <p:nvPicPr>
          <p:cNvPr id="74" name="Picture 73" descr="lock.png"/>
          <p:cNvPicPr>
            <a:picLocks noChangeAspect="1"/>
          </p:cNvPicPr>
          <p:nvPr/>
        </p:nvPicPr>
        <p:blipFill>
          <a:blip r:embed="rId4"/>
          <a:stretch>
            <a:fillRect/>
          </a:stretch>
        </p:blipFill>
        <p:spPr>
          <a:xfrm>
            <a:off x="1735218" y="1530894"/>
            <a:ext cx="128699" cy="187198"/>
          </a:xfrm>
          <a:prstGeom prst="rect">
            <a:avLst/>
          </a:prstGeom>
        </p:spPr>
      </p:pic>
      <p:sp>
        <p:nvSpPr>
          <p:cNvPr id="75" name="TextBox 74"/>
          <p:cNvSpPr txBox="1"/>
          <p:nvPr/>
        </p:nvSpPr>
        <p:spPr>
          <a:xfrm>
            <a:off x="646026" y="1985500"/>
            <a:ext cx="1141139" cy="186689"/>
          </a:xfrm>
          <a:prstGeom prst="rect">
            <a:avLst/>
          </a:prstGeom>
          <a:noFill/>
        </p:spPr>
        <p:txBody>
          <a:bodyPr wrap="none" lIns="0" rIns="0" tIns="0" bIns="0">
            <a:spAutoFit/>
          </a:bodyPr>
          <a:lstStyle/>
          <a:p>
            <a:r>
              <a:rPr sz="1100" b="1">
                <a:solidFill>
                  <a:srgbClr val="2E2E2E"/>
                </a:solidFill>
                <a:latin typeface="Calibri"/>
              </a:rPr>
              <a:t>HAL Allergy Group</a:t>
            </a:r>
          </a:p>
        </p:txBody>
      </p:sp>
      <p:pic>
        <p:nvPicPr>
          <p:cNvPr id="76" name="Picture 75" descr="lock.png"/>
          <p:cNvPicPr>
            <a:picLocks noChangeAspect="1"/>
          </p:cNvPicPr>
          <p:nvPr/>
        </p:nvPicPr>
        <p:blipFill>
          <a:blip r:embed="rId4"/>
          <a:stretch>
            <a:fillRect/>
          </a:stretch>
        </p:blipFill>
        <p:spPr>
          <a:xfrm>
            <a:off x="1735218" y="1975721"/>
            <a:ext cx="128699" cy="187198"/>
          </a:xfrm>
          <a:prstGeom prst="rect">
            <a:avLst/>
          </a:prstGeom>
        </p:spPr>
      </p:pic>
      <p:sp>
        <p:nvSpPr>
          <p:cNvPr id="77" name="TextBox 76"/>
          <p:cNvSpPr txBox="1"/>
          <p:nvPr/>
        </p:nvSpPr>
        <p:spPr>
          <a:xfrm>
            <a:off x="289550" y="2430325"/>
            <a:ext cx="1575444" cy="186689"/>
          </a:xfrm>
          <a:prstGeom prst="rect">
            <a:avLst/>
          </a:prstGeom>
          <a:noFill/>
        </p:spPr>
        <p:txBody>
          <a:bodyPr wrap="none" lIns="0" rIns="0" tIns="0" bIns="0">
            <a:spAutoFit/>
          </a:bodyPr>
          <a:lstStyle/>
          <a:p>
            <a:r>
              <a:rPr sz="1100" b="1">
                <a:solidFill>
                  <a:srgbClr val="2E2E2E"/>
                </a:solidFill>
                <a:latin typeface="Calibri"/>
              </a:rPr>
              <a:t>LETI Pharma / Laboratorios</a:t>
            </a:r>
          </a:p>
        </p:txBody>
      </p:sp>
      <p:sp>
        <p:nvSpPr>
          <p:cNvPr id="78" name="TextBox 77"/>
          <p:cNvSpPr txBox="1"/>
          <p:nvPr/>
        </p:nvSpPr>
        <p:spPr>
          <a:xfrm>
            <a:off x="1080679" y="2597965"/>
            <a:ext cx="706487" cy="186689"/>
          </a:xfrm>
          <a:prstGeom prst="rect">
            <a:avLst/>
          </a:prstGeom>
          <a:noFill/>
        </p:spPr>
        <p:txBody>
          <a:bodyPr wrap="none" lIns="0" rIns="0" tIns="0" bIns="0">
            <a:spAutoFit/>
          </a:bodyPr>
          <a:lstStyle/>
          <a:p>
            <a:r>
              <a:rPr sz="1100" b="1">
                <a:solidFill>
                  <a:srgbClr val="2E2E2E"/>
                </a:solidFill>
                <a:latin typeface="Calibri"/>
              </a:rPr>
              <a:t>LETI, S.L.U.</a:t>
            </a:r>
          </a:p>
        </p:txBody>
      </p:sp>
      <p:pic>
        <p:nvPicPr>
          <p:cNvPr id="79" name="Picture 78" descr="lock.png"/>
          <p:cNvPicPr>
            <a:picLocks noChangeAspect="1"/>
          </p:cNvPicPr>
          <p:nvPr/>
        </p:nvPicPr>
        <p:blipFill>
          <a:blip r:embed="rId4"/>
          <a:stretch>
            <a:fillRect/>
          </a:stretch>
        </p:blipFill>
        <p:spPr>
          <a:xfrm>
            <a:off x="1735218" y="2588186"/>
            <a:ext cx="128699" cy="187198"/>
          </a:xfrm>
          <a:prstGeom prst="rect">
            <a:avLst/>
          </a:prstGeom>
        </p:spPr>
      </p:pic>
      <p:sp>
        <p:nvSpPr>
          <p:cNvPr id="80" name="TextBox 79"/>
          <p:cNvSpPr txBox="1"/>
          <p:nvPr/>
        </p:nvSpPr>
        <p:spPr>
          <a:xfrm>
            <a:off x="794052" y="2958967"/>
            <a:ext cx="1070942" cy="186689"/>
          </a:xfrm>
          <a:prstGeom prst="rect">
            <a:avLst/>
          </a:prstGeom>
          <a:noFill/>
        </p:spPr>
        <p:txBody>
          <a:bodyPr wrap="none" lIns="0" rIns="0" tIns="0" bIns="0">
            <a:spAutoFit/>
          </a:bodyPr>
          <a:lstStyle/>
          <a:p>
            <a:r>
              <a:rPr sz="1100" b="1">
                <a:solidFill>
                  <a:srgbClr val="2E2E2E"/>
                </a:solidFill>
                <a:latin typeface="Calibri"/>
              </a:rPr>
              <a:t>Stallergenes Greer</a:t>
            </a:r>
          </a:p>
        </p:txBody>
      </p:sp>
      <p:sp>
        <p:nvSpPr>
          <p:cNvPr id="81" name="TextBox 80"/>
          <p:cNvSpPr txBox="1"/>
          <p:nvPr/>
        </p:nvSpPr>
        <p:spPr>
          <a:xfrm>
            <a:off x="744279" y="3126607"/>
            <a:ext cx="1042887" cy="186689"/>
          </a:xfrm>
          <a:prstGeom prst="rect">
            <a:avLst/>
          </a:prstGeom>
          <a:noFill/>
        </p:spPr>
        <p:txBody>
          <a:bodyPr wrap="none" lIns="0" rIns="0" tIns="0" bIns="0">
            <a:spAutoFit/>
          </a:bodyPr>
          <a:lstStyle/>
          <a:p>
            <a:r>
              <a:rPr sz="1100" b="1">
                <a:solidFill>
                  <a:srgbClr val="2E2E2E"/>
                </a:solidFill>
                <a:latin typeface="Calibri"/>
              </a:rPr>
              <a:t>International AG</a:t>
            </a:r>
          </a:p>
        </p:txBody>
      </p:sp>
      <p:pic>
        <p:nvPicPr>
          <p:cNvPr id="82" name="Picture 81" descr="lock.png"/>
          <p:cNvPicPr>
            <a:picLocks noChangeAspect="1"/>
          </p:cNvPicPr>
          <p:nvPr/>
        </p:nvPicPr>
        <p:blipFill>
          <a:blip r:embed="rId4"/>
          <a:stretch>
            <a:fillRect/>
          </a:stretch>
        </p:blipFill>
        <p:spPr>
          <a:xfrm>
            <a:off x="1735218" y="3116828"/>
            <a:ext cx="128699" cy="187198"/>
          </a:xfrm>
          <a:prstGeom prst="rect">
            <a:avLst/>
          </a:prstGeom>
        </p:spPr>
      </p:pic>
      <p:sp>
        <p:nvSpPr>
          <p:cNvPr id="83" name="TextBox 82"/>
          <p:cNvSpPr txBox="1"/>
          <p:nvPr/>
        </p:nvSpPr>
        <p:spPr>
          <a:xfrm>
            <a:off x="841934" y="3571426"/>
            <a:ext cx="945232" cy="186689"/>
          </a:xfrm>
          <a:prstGeom prst="rect">
            <a:avLst/>
          </a:prstGeom>
          <a:noFill/>
        </p:spPr>
        <p:txBody>
          <a:bodyPr wrap="none" lIns="0" rIns="0" tIns="0" bIns="0">
            <a:spAutoFit/>
          </a:bodyPr>
          <a:lstStyle/>
          <a:p>
            <a:r>
              <a:rPr sz="1100" b="1">
                <a:solidFill>
                  <a:srgbClr val="2E2E2E"/>
                </a:solidFill>
                <a:latin typeface="Calibri"/>
              </a:rPr>
              <a:t>Inmunotek S.L.</a:t>
            </a:r>
          </a:p>
        </p:txBody>
      </p:sp>
      <p:pic>
        <p:nvPicPr>
          <p:cNvPr id="84" name="Picture 83" descr="lock.png"/>
          <p:cNvPicPr>
            <a:picLocks noChangeAspect="1"/>
          </p:cNvPicPr>
          <p:nvPr/>
        </p:nvPicPr>
        <p:blipFill>
          <a:blip r:embed="rId4"/>
          <a:stretch>
            <a:fillRect/>
          </a:stretch>
        </p:blipFill>
        <p:spPr>
          <a:xfrm>
            <a:off x="1735218" y="3561647"/>
            <a:ext cx="128699" cy="187198"/>
          </a:xfrm>
          <a:prstGeom prst="rect">
            <a:avLst/>
          </a:prstGeom>
        </p:spPr>
      </p:pic>
      <p:sp>
        <p:nvSpPr>
          <p:cNvPr id="85" name="TextBox 84"/>
          <p:cNvSpPr txBox="1"/>
          <p:nvPr/>
        </p:nvSpPr>
        <p:spPr>
          <a:xfrm>
            <a:off x="831881" y="4100063"/>
            <a:ext cx="955285" cy="186689"/>
          </a:xfrm>
          <a:prstGeom prst="rect">
            <a:avLst/>
          </a:prstGeom>
          <a:noFill/>
        </p:spPr>
        <p:txBody>
          <a:bodyPr wrap="none" lIns="0" rIns="0" tIns="0" bIns="0">
            <a:spAutoFit/>
          </a:bodyPr>
          <a:lstStyle/>
          <a:p>
            <a:r>
              <a:rPr sz="1100" b="1">
                <a:solidFill>
                  <a:srgbClr val="2E2E2E"/>
                </a:solidFill>
                <a:latin typeface="Calibri"/>
              </a:rPr>
              <a:t>ALK-Abelló A/S</a:t>
            </a:r>
          </a:p>
        </p:txBody>
      </p:sp>
      <p:pic>
        <p:nvPicPr>
          <p:cNvPr id="86" name="Picture 85" descr="lock.png"/>
          <p:cNvPicPr>
            <a:picLocks noChangeAspect="1"/>
          </p:cNvPicPr>
          <p:nvPr/>
        </p:nvPicPr>
        <p:blipFill>
          <a:blip r:embed="rId4"/>
          <a:stretch>
            <a:fillRect/>
          </a:stretch>
        </p:blipFill>
        <p:spPr>
          <a:xfrm>
            <a:off x="1735218" y="4090284"/>
            <a:ext cx="128699" cy="187198"/>
          </a:xfrm>
          <a:prstGeom prst="rect">
            <a:avLst/>
          </a:prstGeom>
        </p:spPr>
      </p:pic>
      <p:sp>
        <p:nvSpPr>
          <p:cNvPr id="87" name="TextBox 86"/>
          <p:cNvSpPr txBox="1"/>
          <p:nvPr/>
        </p:nvSpPr>
        <p:spPr>
          <a:xfrm>
            <a:off x="416971" y="4544880"/>
            <a:ext cx="1448023" cy="186689"/>
          </a:xfrm>
          <a:prstGeom prst="rect">
            <a:avLst/>
          </a:prstGeom>
          <a:noFill/>
        </p:spPr>
        <p:txBody>
          <a:bodyPr wrap="none" lIns="0" rIns="0" tIns="0" bIns="0">
            <a:spAutoFit/>
          </a:bodyPr>
          <a:lstStyle/>
          <a:p>
            <a:r>
              <a:rPr sz="1100" b="1">
                <a:solidFill>
                  <a:srgbClr val="2E2E2E"/>
                </a:solidFill>
                <a:latin typeface="Calibri"/>
              </a:rPr>
              <a:t>Torii Pharmaceutical Co.,</a:t>
            </a:r>
          </a:p>
        </p:txBody>
      </p:sp>
      <p:sp>
        <p:nvSpPr>
          <p:cNvPr id="88" name="TextBox 87"/>
          <p:cNvSpPr txBox="1"/>
          <p:nvPr/>
        </p:nvSpPr>
        <p:spPr>
          <a:xfrm>
            <a:off x="1490818" y="4712520"/>
            <a:ext cx="296348" cy="186689"/>
          </a:xfrm>
          <a:prstGeom prst="rect">
            <a:avLst/>
          </a:prstGeom>
          <a:noFill/>
        </p:spPr>
        <p:txBody>
          <a:bodyPr wrap="none" lIns="0" rIns="0" tIns="0" bIns="0">
            <a:spAutoFit/>
          </a:bodyPr>
          <a:lstStyle/>
          <a:p>
            <a:r>
              <a:rPr sz="1100" b="1">
                <a:solidFill>
                  <a:srgbClr val="2E2E2E"/>
                </a:solidFill>
                <a:latin typeface="Calibri"/>
              </a:rPr>
              <a:t>Ltd.</a:t>
            </a:r>
          </a:p>
        </p:txBody>
      </p:sp>
      <p:pic>
        <p:nvPicPr>
          <p:cNvPr id="89" name="Picture 88" descr="lock.png"/>
          <p:cNvPicPr>
            <a:picLocks noChangeAspect="1"/>
          </p:cNvPicPr>
          <p:nvPr/>
        </p:nvPicPr>
        <p:blipFill>
          <a:blip r:embed="rId4"/>
          <a:stretch>
            <a:fillRect/>
          </a:stretch>
        </p:blipFill>
        <p:spPr>
          <a:xfrm>
            <a:off x="1735218" y="4702741"/>
            <a:ext cx="128699" cy="187198"/>
          </a:xfrm>
          <a:prstGeom prst="rect">
            <a:avLst/>
          </a:prstGeom>
        </p:spPr>
      </p:pic>
      <p:sp>
        <p:nvSpPr>
          <p:cNvPr id="90" name="TextBox 89"/>
          <p:cNvSpPr txBox="1"/>
          <p:nvPr/>
        </p:nvSpPr>
        <p:spPr>
          <a:xfrm>
            <a:off x="470996" y="5073515"/>
            <a:ext cx="1393998" cy="186689"/>
          </a:xfrm>
          <a:prstGeom prst="rect">
            <a:avLst/>
          </a:prstGeom>
          <a:noFill/>
        </p:spPr>
        <p:txBody>
          <a:bodyPr wrap="none" lIns="0" rIns="0" tIns="0" bIns="0">
            <a:spAutoFit/>
          </a:bodyPr>
          <a:lstStyle/>
          <a:p>
            <a:r>
              <a:rPr sz="1100" b="1">
                <a:solidFill>
                  <a:srgbClr val="2E2E2E"/>
                </a:solidFill>
                <a:latin typeface="Calibri"/>
              </a:rPr>
              <a:t>Allergopharma GmbH &amp;</a:t>
            </a:r>
          </a:p>
        </p:txBody>
      </p:sp>
      <p:sp>
        <p:nvSpPr>
          <p:cNvPr id="91" name="TextBox 90"/>
          <p:cNvSpPr txBox="1"/>
          <p:nvPr/>
        </p:nvSpPr>
        <p:spPr>
          <a:xfrm>
            <a:off x="1327695" y="5241155"/>
            <a:ext cx="459471" cy="186689"/>
          </a:xfrm>
          <a:prstGeom prst="rect">
            <a:avLst/>
          </a:prstGeom>
          <a:noFill/>
        </p:spPr>
        <p:txBody>
          <a:bodyPr wrap="none" lIns="0" rIns="0" tIns="0" bIns="0">
            <a:spAutoFit/>
          </a:bodyPr>
          <a:lstStyle/>
          <a:p>
            <a:r>
              <a:rPr sz="1100" b="1">
                <a:solidFill>
                  <a:srgbClr val="2E2E2E"/>
                </a:solidFill>
                <a:latin typeface="Calibri"/>
              </a:rPr>
              <a:t>Co. KG</a:t>
            </a:r>
          </a:p>
        </p:txBody>
      </p:sp>
      <p:pic>
        <p:nvPicPr>
          <p:cNvPr id="92" name="Picture 91" descr="lock.png"/>
          <p:cNvPicPr>
            <a:picLocks noChangeAspect="1"/>
          </p:cNvPicPr>
          <p:nvPr/>
        </p:nvPicPr>
        <p:blipFill>
          <a:blip r:embed="rId4"/>
          <a:stretch>
            <a:fillRect/>
          </a:stretch>
        </p:blipFill>
        <p:spPr>
          <a:xfrm>
            <a:off x="1735218" y="5231376"/>
            <a:ext cx="128699" cy="187198"/>
          </a:xfrm>
          <a:prstGeom prst="rect">
            <a:avLst/>
          </a:prstGeom>
        </p:spPr>
      </p:pic>
      <p:sp>
        <p:nvSpPr>
          <p:cNvPr id="93" name="TextBox 92"/>
          <p:cNvSpPr txBox="1"/>
          <p:nvPr/>
        </p:nvSpPr>
        <p:spPr>
          <a:xfrm>
            <a:off x="476999" y="5602145"/>
            <a:ext cx="1387995" cy="186689"/>
          </a:xfrm>
          <a:prstGeom prst="rect">
            <a:avLst/>
          </a:prstGeom>
          <a:noFill/>
        </p:spPr>
        <p:txBody>
          <a:bodyPr wrap="none" lIns="0" rIns="0" tIns="0" bIns="0">
            <a:spAutoFit/>
          </a:bodyPr>
          <a:lstStyle/>
          <a:p>
            <a:r>
              <a:rPr sz="1100" b="1">
                <a:solidFill>
                  <a:srgbClr val="2E2E2E"/>
                </a:solidFill>
                <a:latin typeface="Calibri"/>
              </a:rPr>
              <a:t>Allergy Therapeutics plc</a:t>
            </a:r>
          </a:p>
        </p:txBody>
      </p:sp>
      <p:pic>
        <p:nvPicPr>
          <p:cNvPr id="94" name="Picture 93" descr="lock.png"/>
          <p:cNvPicPr>
            <a:picLocks noChangeAspect="1"/>
          </p:cNvPicPr>
          <p:nvPr/>
        </p:nvPicPr>
        <p:blipFill>
          <a:blip r:embed="rId4"/>
          <a:stretch>
            <a:fillRect/>
          </a:stretch>
        </p:blipFill>
        <p:spPr>
          <a:xfrm>
            <a:off x="1735218" y="5760006"/>
            <a:ext cx="128699" cy="187198"/>
          </a:xfrm>
          <a:prstGeom prst="rect">
            <a:avLst/>
          </a:prstGeom>
        </p:spPr>
      </p:pic>
      <p:sp>
        <p:nvSpPr>
          <p:cNvPr id="95" name="TextBox 94"/>
          <p:cNvSpPr txBox="1"/>
          <p:nvPr/>
        </p:nvSpPr>
        <p:spPr>
          <a:xfrm>
            <a:off x="522595" y="6214592"/>
            <a:ext cx="1264570" cy="186689"/>
          </a:xfrm>
          <a:prstGeom prst="rect">
            <a:avLst/>
          </a:prstGeom>
          <a:noFill/>
        </p:spPr>
        <p:txBody>
          <a:bodyPr wrap="none" lIns="0" rIns="0" tIns="0" bIns="0">
            <a:spAutoFit/>
          </a:bodyPr>
          <a:lstStyle/>
          <a:p>
            <a:r>
              <a:rPr sz="1100" b="1">
                <a:solidFill>
                  <a:srgbClr val="2E2E2E"/>
                </a:solidFill>
                <a:latin typeface="Calibri"/>
              </a:rPr>
              <a:t>DIATER Laboratories</a:t>
            </a:r>
          </a:p>
        </p:txBody>
      </p:sp>
      <p:pic>
        <p:nvPicPr>
          <p:cNvPr id="96" name="Picture 95" descr="lock.png"/>
          <p:cNvPicPr>
            <a:picLocks noChangeAspect="1"/>
          </p:cNvPicPr>
          <p:nvPr/>
        </p:nvPicPr>
        <p:blipFill>
          <a:blip r:embed="rId4"/>
          <a:stretch>
            <a:fillRect/>
          </a:stretch>
        </p:blipFill>
        <p:spPr>
          <a:xfrm>
            <a:off x="1735218" y="6204813"/>
            <a:ext cx="128699" cy="187198"/>
          </a:xfrm>
          <a:prstGeom prst="rect">
            <a:avLst/>
          </a:prstGeom>
        </p:spPr>
      </p:pic>
      <p:sp>
        <p:nvSpPr>
          <p:cNvPr id="97" name="TextBox 96"/>
          <p:cNvSpPr txBox="1"/>
          <p:nvPr/>
        </p:nvSpPr>
        <p:spPr>
          <a:xfrm>
            <a:off x="5972175" y="2381745"/>
            <a:ext cx="1123677" cy="186689"/>
          </a:xfrm>
          <a:prstGeom prst="rect">
            <a:avLst/>
          </a:prstGeom>
          <a:noFill/>
        </p:spPr>
        <p:txBody>
          <a:bodyPr wrap="none" lIns="0" rIns="0" tIns="0" bIns="0">
            <a:spAutoFit/>
          </a:bodyPr>
          <a:lstStyle/>
          <a:p>
            <a:r>
              <a:rPr sz="1100" b="1">
                <a:solidFill>
                  <a:srgbClr val="2E2E2E"/>
                </a:solidFill>
                <a:latin typeface="Calibri"/>
              </a:rPr>
              <a:t>Modified Allergen</a:t>
            </a:r>
          </a:p>
        </p:txBody>
      </p:sp>
      <p:pic>
        <p:nvPicPr>
          <p:cNvPr id="98" name="Picture 97" descr="lock.png"/>
          <p:cNvPicPr>
            <a:picLocks noChangeAspect="1"/>
          </p:cNvPicPr>
          <p:nvPr/>
        </p:nvPicPr>
        <p:blipFill>
          <a:blip r:embed="rId4"/>
          <a:stretch>
            <a:fillRect/>
          </a:stretch>
        </p:blipFill>
        <p:spPr>
          <a:xfrm>
            <a:off x="7043903" y="2371966"/>
            <a:ext cx="128699" cy="187198"/>
          </a:xfrm>
          <a:prstGeom prst="rect">
            <a:avLst/>
          </a:prstGeom>
        </p:spPr>
      </p:pic>
      <p:sp>
        <p:nvSpPr>
          <p:cNvPr id="99" name="TextBox 98"/>
          <p:cNvSpPr txBox="1"/>
          <p:nvPr/>
        </p:nvSpPr>
        <p:spPr>
          <a:xfrm>
            <a:off x="5972175" y="4159691"/>
            <a:ext cx="973335" cy="186689"/>
          </a:xfrm>
          <a:prstGeom prst="rect">
            <a:avLst/>
          </a:prstGeom>
          <a:noFill/>
        </p:spPr>
        <p:txBody>
          <a:bodyPr wrap="none" lIns="0" rIns="0" tIns="0" bIns="0">
            <a:spAutoFit/>
          </a:bodyPr>
          <a:lstStyle/>
          <a:p>
            <a:r>
              <a:rPr sz="1100" b="1">
                <a:solidFill>
                  <a:srgbClr val="2E2E2E"/>
                </a:solidFill>
                <a:latin typeface="Calibri"/>
              </a:rPr>
              <a:t>Native Allergen</a:t>
            </a:r>
          </a:p>
        </p:txBody>
      </p:sp>
      <p:sp>
        <p:nvSpPr>
          <p:cNvPr id="100" name="TextBox 99"/>
          <p:cNvSpPr txBox="1"/>
          <p:nvPr/>
        </p:nvSpPr>
        <p:spPr>
          <a:xfrm>
            <a:off x="5972175" y="4327331"/>
            <a:ext cx="538410" cy="186689"/>
          </a:xfrm>
          <a:prstGeom prst="rect">
            <a:avLst/>
          </a:prstGeom>
          <a:noFill/>
        </p:spPr>
        <p:txBody>
          <a:bodyPr wrap="none" lIns="0" rIns="0" tIns="0" bIns="0">
            <a:spAutoFit/>
          </a:bodyPr>
          <a:lstStyle/>
          <a:p>
            <a:r>
              <a:rPr sz="1100" b="1">
                <a:solidFill>
                  <a:srgbClr val="2E2E2E"/>
                </a:solidFill>
                <a:latin typeface="Calibri"/>
              </a:rPr>
              <a:t>Extracts</a:t>
            </a:r>
          </a:p>
        </p:txBody>
      </p:sp>
      <p:pic>
        <p:nvPicPr>
          <p:cNvPr id="101" name="Picture 100" descr="lock.png"/>
          <p:cNvPicPr>
            <a:picLocks noChangeAspect="1"/>
          </p:cNvPicPr>
          <p:nvPr/>
        </p:nvPicPr>
        <p:blipFill>
          <a:blip r:embed="rId4"/>
          <a:stretch>
            <a:fillRect/>
          </a:stretch>
        </p:blipFill>
        <p:spPr>
          <a:xfrm>
            <a:off x="6458637" y="4317552"/>
            <a:ext cx="128699" cy="187198"/>
          </a:xfrm>
          <a:prstGeom prst="rect">
            <a:avLst/>
          </a:prstGeom>
        </p:spPr>
      </p:pic>
      <p:sp>
        <p:nvSpPr>
          <p:cNvPr id="102" name="TextBox 101"/>
          <p:cNvSpPr txBox="1"/>
          <p:nvPr/>
        </p:nvSpPr>
        <p:spPr>
          <a:xfrm>
            <a:off x="5972175" y="5613663"/>
            <a:ext cx="1181521" cy="186689"/>
          </a:xfrm>
          <a:prstGeom prst="rect">
            <a:avLst/>
          </a:prstGeom>
          <a:noFill/>
        </p:spPr>
        <p:txBody>
          <a:bodyPr wrap="none" lIns="0" rIns="0" tIns="0" bIns="0">
            <a:spAutoFit/>
          </a:bodyPr>
          <a:lstStyle/>
          <a:p>
            <a:r>
              <a:rPr sz="1100" b="1">
                <a:solidFill>
                  <a:srgbClr val="2E2E2E"/>
                </a:solidFill>
                <a:latin typeface="Calibri"/>
              </a:rPr>
              <a:t>Molecular Allergen</a:t>
            </a:r>
          </a:p>
        </p:txBody>
      </p:sp>
      <p:sp>
        <p:nvSpPr>
          <p:cNvPr id="103" name="TextBox 102"/>
          <p:cNvSpPr txBox="1"/>
          <p:nvPr/>
        </p:nvSpPr>
        <p:spPr>
          <a:xfrm>
            <a:off x="5972175" y="5781303"/>
            <a:ext cx="822176" cy="186689"/>
          </a:xfrm>
          <a:prstGeom prst="rect">
            <a:avLst/>
          </a:prstGeom>
          <a:noFill/>
        </p:spPr>
        <p:txBody>
          <a:bodyPr wrap="none" lIns="0" rIns="0" tIns="0" bIns="0">
            <a:spAutoFit/>
          </a:bodyPr>
          <a:lstStyle/>
          <a:p>
            <a:r>
              <a:rPr sz="1100" b="1">
                <a:solidFill>
                  <a:srgbClr val="2E2E2E"/>
                </a:solidFill>
                <a:latin typeface="Calibri"/>
              </a:rPr>
              <a:t>Preparations</a:t>
            </a:r>
          </a:p>
        </p:txBody>
      </p:sp>
      <p:pic>
        <p:nvPicPr>
          <p:cNvPr id="104" name="Picture 103" descr="lock.png"/>
          <p:cNvPicPr>
            <a:picLocks noChangeAspect="1"/>
          </p:cNvPicPr>
          <p:nvPr/>
        </p:nvPicPr>
        <p:blipFill>
          <a:blip r:embed="rId4"/>
          <a:stretch>
            <a:fillRect/>
          </a:stretch>
        </p:blipFill>
        <p:spPr>
          <a:xfrm>
            <a:off x="6742402" y="5771523"/>
            <a:ext cx="128699" cy="187198"/>
          </a:xfrm>
          <a:prstGeom prst="rect">
            <a:avLst/>
          </a:prstGeom>
        </p:spPr>
      </p:pic>
      <p:sp>
        <p:nvSpPr>
          <p:cNvPr id="105" name="TextBox 104"/>
          <p:cNvSpPr txBox="1"/>
          <p:nvPr/>
        </p:nvSpPr>
        <p:spPr>
          <a:xfrm>
            <a:off x="7715250" y="1400175"/>
            <a:ext cx="3933666" cy="194310"/>
          </a:xfrm>
          <a:prstGeom prst="rect">
            <a:avLst/>
          </a:prstGeom>
          <a:noFill/>
        </p:spPr>
        <p:txBody>
          <a:bodyPr wrap="none" lIns="0" rIns="0" tIns="0" bIns="0">
            <a:spAutoFit/>
          </a:bodyPr>
          <a:lstStyle/>
          <a:p>
            <a:r>
              <a:rPr sz="1150" b="0">
                <a:solidFill>
                  <a:srgbClr val="2E2E2E"/>
                </a:solidFill>
                <a:latin typeface="Calibri"/>
              </a:rPr>
              <a:t>Jubilant hollisterstier LLC segment is projected to account for the</a:t>
            </a:r>
          </a:p>
        </p:txBody>
      </p:sp>
      <p:sp>
        <p:nvSpPr>
          <p:cNvPr id="106" name="TextBox 105"/>
          <p:cNvSpPr txBox="1"/>
          <p:nvPr/>
        </p:nvSpPr>
        <p:spPr>
          <a:xfrm>
            <a:off x="7715250" y="1575435"/>
            <a:ext cx="3927698" cy="194310"/>
          </a:xfrm>
          <a:prstGeom prst="rect">
            <a:avLst/>
          </a:prstGeom>
          <a:noFill/>
        </p:spPr>
        <p:txBody>
          <a:bodyPr wrap="none" lIns="0" rIns="0" tIns="0" bIns="0">
            <a:spAutoFit/>
          </a:bodyPr>
          <a:lstStyle/>
          <a:p>
            <a:r>
              <a:rPr sz="1150" b="0">
                <a:solidFill>
                  <a:srgbClr val="2E2E2E"/>
                </a:solidFill>
                <a:latin typeface="Calibri"/>
              </a:rPr>
              <a:t>largest share of the global allergy immunotherapy market, led by</a:t>
            </a:r>
          </a:p>
        </p:txBody>
      </p:sp>
      <p:sp>
        <p:nvSpPr>
          <p:cNvPr id="107" name="TextBox 106"/>
          <p:cNvSpPr txBox="1"/>
          <p:nvPr/>
        </p:nvSpPr>
        <p:spPr>
          <a:xfrm>
            <a:off x="7715250" y="1750695"/>
            <a:ext cx="1540408" cy="194310"/>
          </a:xfrm>
          <a:prstGeom prst="rect">
            <a:avLst/>
          </a:prstGeom>
          <a:noFill/>
        </p:spPr>
        <p:txBody>
          <a:bodyPr wrap="none" lIns="0" rIns="0" tIns="0" bIns="0">
            <a:spAutoFit/>
          </a:bodyPr>
          <a:lstStyle/>
          <a:p>
            <a:r>
              <a:rPr sz="1150" b="0">
                <a:solidFill>
                  <a:srgbClr val="2E2E2E"/>
                </a:solidFill>
                <a:latin typeface="Calibri"/>
              </a:rPr>
              <a:t>modified allergen at US$</a:t>
            </a:r>
          </a:p>
        </p:txBody>
      </p:sp>
      <p:pic>
        <p:nvPicPr>
          <p:cNvPr id="108" name="Picture 107" descr="lock.png"/>
          <p:cNvPicPr>
            <a:picLocks noChangeAspect="1"/>
          </p:cNvPicPr>
          <p:nvPr/>
        </p:nvPicPr>
        <p:blipFill>
          <a:blip r:embed="rId4"/>
          <a:stretch>
            <a:fillRect/>
          </a:stretch>
        </p:blipFill>
        <p:spPr>
          <a:xfrm>
            <a:off x="9204812" y="1740471"/>
            <a:ext cx="134549" cy="195707"/>
          </a:xfrm>
          <a:prstGeom prst="rect">
            <a:avLst/>
          </a:prstGeom>
        </p:spPr>
      </p:pic>
      <p:sp>
        <p:nvSpPr>
          <p:cNvPr id="109" name="TextBox 108"/>
          <p:cNvSpPr txBox="1"/>
          <p:nvPr/>
        </p:nvSpPr>
        <p:spPr>
          <a:xfrm>
            <a:off x="9379921" y="1750695"/>
            <a:ext cx="2416137" cy="194310"/>
          </a:xfrm>
          <a:prstGeom prst="rect">
            <a:avLst/>
          </a:prstGeom>
          <a:noFill/>
        </p:spPr>
        <p:txBody>
          <a:bodyPr wrap="none" lIns="0" rIns="0" tIns="0" bIns="0">
            <a:spAutoFit/>
          </a:bodyPr>
          <a:lstStyle/>
          <a:p>
            <a:r>
              <a:rPr sz="1150" b="0">
                <a:solidFill>
                  <a:srgbClr val="2E2E2E"/>
                </a:solidFill>
                <a:latin typeface="Calibri"/>
              </a:rPr>
              <a:t>Mn in 2036. 'Inmunotek S.L. × Modified</a:t>
            </a:r>
          </a:p>
        </p:txBody>
      </p:sp>
      <p:sp>
        <p:nvSpPr>
          <p:cNvPr id="110" name="TextBox 109"/>
          <p:cNvSpPr txBox="1"/>
          <p:nvPr/>
        </p:nvSpPr>
        <p:spPr>
          <a:xfrm>
            <a:off x="7715250" y="1925955"/>
            <a:ext cx="2994632" cy="194310"/>
          </a:xfrm>
          <a:prstGeom prst="rect">
            <a:avLst/>
          </a:prstGeom>
          <a:noFill/>
        </p:spPr>
        <p:txBody>
          <a:bodyPr wrap="none" lIns="0" rIns="0" tIns="0" bIns="0">
            <a:spAutoFit/>
          </a:bodyPr>
          <a:lstStyle/>
          <a:p>
            <a:r>
              <a:rPr sz="1150" b="0">
                <a:solidFill>
                  <a:srgbClr val="2E2E2E"/>
                </a:solidFill>
                <a:latin typeface="Calibri"/>
              </a:rPr>
              <a:t>Allergen' is the single largest cross-sectional cell (</a:t>
            </a:r>
          </a:p>
        </p:txBody>
      </p:sp>
      <p:pic>
        <p:nvPicPr>
          <p:cNvPr id="111" name="Picture 110" descr="lock.png"/>
          <p:cNvPicPr>
            <a:picLocks noChangeAspect="1"/>
          </p:cNvPicPr>
          <p:nvPr/>
        </p:nvPicPr>
        <p:blipFill>
          <a:blip r:embed="rId4"/>
          <a:stretch>
            <a:fillRect/>
          </a:stretch>
        </p:blipFill>
        <p:spPr>
          <a:xfrm>
            <a:off x="10659036" y="1915731"/>
            <a:ext cx="134549" cy="195707"/>
          </a:xfrm>
          <a:prstGeom prst="rect">
            <a:avLst/>
          </a:prstGeom>
        </p:spPr>
      </p:pic>
      <p:sp>
        <p:nvSpPr>
          <p:cNvPr id="112" name="TextBox 111"/>
          <p:cNvSpPr txBox="1"/>
          <p:nvPr/>
        </p:nvSpPr>
        <p:spPr>
          <a:xfrm>
            <a:off x="10834145" y="1925955"/>
            <a:ext cx="582525"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113" name="TextBox 112"/>
          <p:cNvSpPr txBox="1"/>
          <p:nvPr/>
        </p:nvSpPr>
        <p:spPr>
          <a:xfrm>
            <a:off x="7715250" y="2101215"/>
            <a:ext cx="4130228" cy="194310"/>
          </a:xfrm>
          <a:prstGeom prst="rect">
            <a:avLst/>
          </a:prstGeom>
          <a:noFill/>
        </p:spPr>
        <p:txBody>
          <a:bodyPr wrap="none" lIns="0" rIns="0" tIns="0" bIns="0">
            <a:spAutoFit/>
          </a:bodyPr>
          <a:lstStyle/>
          <a:p>
            <a:r>
              <a:rPr sz="1150" b="0">
                <a:solidFill>
                  <a:srgbClr val="2E2E2E"/>
                </a:solidFill>
                <a:latin typeface="Calibri"/>
              </a:rPr>
              <a:t>2026E), while 'Inmunotek S.L. × Native Allergen Extracts' records the</a:t>
            </a:r>
          </a:p>
        </p:txBody>
      </p:sp>
      <p:sp>
        <p:nvSpPr>
          <p:cNvPr id="114" name="TextBox 113"/>
          <p:cNvSpPr txBox="1"/>
          <p:nvPr/>
        </p:nvSpPr>
        <p:spPr>
          <a:xfrm>
            <a:off x="7715250" y="2276475"/>
            <a:ext cx="1712113" cy="194310"/>
          </a:xfrm>
          <a:prstGeom prst="rect">
            <a:avLst/>
          </a:prstGeom>
          <a:noFill/>
        </p:spPr>
        <p:txBody>
          <a:bodyPr wrap="none" lIns="0" rIns="0" tIns="0" bIns="0">
            <a:spAutoFit/>
          </a:bodyPr>
          <a:lstStyle/>
          <a:p>
            <a:r>
              <a:rPr sz="1150" b="0">
                <a:solidFill>
                  <a:srgbClr val="2E2E2E"/>
                </a:solidFill>
                <a:latin typeface="Calibri"/>
              </a:rPr>
              <a:t>fastest growth at a CAGR of</a:t>
            </a:r>
          </a:p>
        </p:txBody>
      </p:sp>
      <p:pic>
        <p:nvPicPr>
          <p:cNvPr id="115" name="Picture 114" descr="lock.png"/>
          <p:cNvPicPr>
            <a:picLocks noChangeAspect="1"/>
          </p:cNvPicPr>
          <p:nvPr/>
        </p:nvPicPr>
        <p:blipFill>
          <a:blip r:embed="rId4"/>
          <a:stretch>
            <a:fillRect/>
          </a:stretch>
        </p:blipFill>
        <p:spPr>
          <a:xfrm>
            <a:off x="9376517" y="2266251"/>
            <a:ext cx="134549" cy="195707"/>
          </a:xfrm>
          <a:prstGeom prst="rect">
            <a:avLst/>
          </a:prstGeom>
        </p:spPr>
      </p:pic>
      <p:sp>
        <p:nvSpPr>
          <p:cNvPr id="116" name="TextBox 115"/>
          <p:cNvSpPr txBox="1"/>
          <p:nvPr/>
        </p:nvSpPr>
        <p:spPr>
          <a:xfrm>
            <a:off x="9551626" y="227647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17" name="TextBox 116"/>
          <p:cNvSpPr txBox="1"/>
          <p:nvPr/>
        </p:nvSpPr>
        <p:spPr>
          <a:xfrm>
            <a:off x="7715250" y="2504313"/>
            <a:ext cx="4170734" cy="194310"/>
          </a:xfrm>
          <a:prstGeom prst="rect">
            <a:avLst/>
          </a:prstGeom>
          <a:noFill/>
        </p:spPr>
        <p:txBody>
          <a:bodyPr wrap="none" lIns="0" rIns="0" tIns="0" bIns="0">
            <a:spAutoFit/>
          </a:bodyPr>
          <a:lstStyle/>
          <a:p>
            <a:r>
              <a:rPr sz="1150" b="0">
                <a:solidFill>
                  <a:srgbClr val="2E2E2E"/>
                </a:solidFill>
                <a:latin typeface="Calibri"/>
              </a:rPr>
              <a:t>Combined, the top three company × allergen preparation technology</a:t>
            </a:r>
          </a:p>
        </p:txBody>
      </p:sp>
      <p:sp>
        <p:nvSpPr>
          <p:cNvPr id="118" name="TextBox 117"/>
          <p:cNvSpPr txBox="1"/>
          <p:nvPr/>
        </p:nvSpPr>
        <p:spPr>
          <a:xfrm>
            <a:off x="7715250" y="2679573"/>
            <a:ext cx="2632645" cy="194310"/>
          </a:xfrm>
          <a:prstGeom prst="rect">
            <a:avLst/>
          </a:prstGeom>
          <a:noFill/>
        </p:spPr>
        <p:txBody>
          <a:bodyPr wrap="none" lIns="0" rIns="0" tIns="0" bIns="0">
            <a:spAutoFit/>
          </a:bodyPr>
          <a:lstStyle/>
          <a:p>
            <a:r>
              <a:rPr sz="1150" b="0">
                <a:solidFill>
                  <a:srgbClr val="2E2E2E"/>
                </a:solidFill>
                <a:latin typeface="Calibri"/>
              </a:rPr>
              <a:t>cells generate an absolute $ opportunity of</a:t>
            </a:r>
          </a:p>
        </p:txBody>
      </p:sp>
      <p:pic>
        <p:nvPicPr>
          <p:cNvPr id="119" name="Picture 118" descr="lock.png"/>
          <p:cNvPicPr>
            <a:picLocks noChangeAspect="1"/>
          </p:cNvPicPr>
          <p:nvPr/>
        </p:nvPicPr>
        <p:blipFill>
          <a:blip r:embed="rId4"/>
          <a:stretch>
            <a:fillRect/>
          </a:stretch>
        </p:blipFill>
        <p:spPr>
          <a:xfrm>
            <a:off x="10297049" y="2669349"/>
            <a:ext cx="134549" cy="195707"/>
          </a:xfrm>
          <a:prstGeom prst="rect">
            <a:avLst/>
          </a:prstGeom>
        </p:spPr>
      </p:pic>
      <p:sp>
        <p:nvSpPr>
          <p:cNvPr id="120" name="TextBox 119"/>
          <p:cNvSpPr txBox="1"/>
          <p:nvPr/>
        </p:nvSpPr>
        <p:spPr>
          <a:xfrm>
            <a:off x="10472158" y="2679573"/>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Company × Allergen Preparation Technology, 2026E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allergen preparation technology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4248150"/>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Company × Allergen Preparation Technology, 2026E (% of each row)</a:t>
            </a:r>
          </a:p>
        </p:txBody>
      </p:sp>
      <p:graphicFrame>
        <p:nvGraphicFramePr>
          <p:cNvPr id="13" name="Table 12"/>
          <p:cNvGraphicFramePr>
            <a:graphicFrameLocks noGrp="1"/>
          </p:cNvGraphicFramePr>
          <p:nvPr/>
        </p:nvGraphicFramePr>
        <p:xfrm>
          <a:off x="152400" y="1238250"/>
          <a:ext cx="11888718" cy="3781427"/>
        </p:xfrm>
        <a:graphic>
          <a:graphicData uri="http://schemas.openxmlformats.org/drawingml/2006/table">
            <a:tbl>
              <a:tblPr>
                <a:tableStyleId>{5C22544A-7EE6-4342-B048-85BDC9FD1C3A}</a:tableStyleId>
              </a:tblPr>
              <a:tblGrid>
                <a:gridCol w="2446564"/>
                <a:gridCol w="1480896"/>
                <a:gridCol w="1638368"/>
                <a:gridCol w="1202200"/>
                <a:gridCol w="1738433"/>
                <a:gridCol w="1300033"/>
                <a:gridCol w="1538418"/>
                <a:gridCol w="543806"/>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Native Allergen Extracts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3">
                  <a:txBody>
                    <a:bodyPr wrap="none"/>
                    <a:lstStyle/>
                    <a:p>
                      <a:pPr algn="ctr"/>
                      <a:r>
                        <a:rPr sz="1100" b="1">
                          <a:solidFill>
                            <a:srgbClr val="0B2E4A"/>
                          </a:solidFill>
                          <a:latin typeface="Calibri"/>
                        </a:rPr>
                        <a:t>Modified Allergen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Molecular Allergen</a:t>
                      </a:r>
                      <a:endParaRPr sz="1100"/>
                    </a:p>
                    <a:p>
                      <a:pPr algn="ctr"/>
                      <a:r>
                        <a:rPr sz="1100" b="1">
                          <a:solidFill>
                            <a:srgbClr val="0B2E4A"/>
                          </a:solidFill>
                          <a:latin typeface="Calibri"/>
                        </a:rPr>
                        <a:t>Preparations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631983">
                <a:tc vMerge="1">
                  <a:txBody>
                    <a:bodyPr wrap="none"/>
                    <a:lstStyle/>
                    <a:p>
                      <a:pPr algn="l"/>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Standardized Allergen Extracts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Non-standardized Allergen Extracts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Polymerized Allergoids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Depigmented-Polymerized Allergoids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Carbamylated Allergoids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Molecular Allergen Preparations</a:t>
                      </a:r>
                      <a:endParaRPr sz="1100"/>
                    </a:p>
                  </a:txBody>
                  <a:tcPr marL="47625" marR="38100" marT="19050" marB="19050" anchor="ctr">
                    <a:solidFill>
                      <a:srgbClr val="E0E8EF"/>
                    </a:solidFill>
                  </a:tcPr>
                </a:tc>
                <a:tc>
                  <a:txBody>
                    <a:bodyPr wrap="none"/>
                    <a:lstStyle/>
                    <a:p>
                      <a:pPr algn="ctr"/>
                      <a:endParaRPr sz="1100"/>
                    </a:p>
                  </a:txBody>
                  <a:tcPr marL="47625" marR="38100" marT="19050" marB="19050" anchor="ctr">
                    <a:solidFill>
                      <a:srgbClr val="E0E8EF"/>
                    </a:solidFill>
                  </a:tcPr>
                </a:tc>
              </a:tr>
              <a:tr h="246412">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5029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119365" y="3397712"/>
            <a:ext cx="366712" cy="533400"/>
          </a:xfrm>
          <a:prstGeom prst="rect">
            <a:avLst/>
          </a:prstGeom>
        </p:spPr>
      </p:pic>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Company × Allergen Preparation Technology, 2026E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allergen preparation technology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Allergen Preparation Technology Mix by Company, 2026E (% share)</a:t>
            </a:r>
          </a:p>
        </p:txBody>
      </p:sp>
      <p:graphicFrame>
        <p:nvGraphicFramePr>
          <p:cNvPr id="12" name="Chart 11"/>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5" name="Rectangle 14"/>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816628" y="2804566"/>
            <a:ext cx="230207" cy="334847"/>
          </a:xfrm>
          <a:prstGeom prst="rect">
            <a:avLst/>
          </a:prstGeom>
        </p:spPr>
      </p:pic>
      <p:sp>
        <p:nvSpPr>
          <p:cNvPr id="19" name="TextBox 18"/>
          <p:cNvSpPr txBox="1"/>
          <p:nvPr/>
        </p:nvSpPr>
        <p:spPr>
          <a:xfrm>
            <a:off x="7715250" y="1400175"/>
            <a:ext cx="3716325" cy="194310"/>
          </a:xfrm>
          <a:prstGeom prst="rect">
            <a:avLst/>
          </a:prstGeom>
          <a:noFill/>
        </p:spPr>
        <p:txBody>
          <a:bodyPr wrap="none" lIns="0" rIns="0" tIns="0" bIns="0">
            <a:spAutoFit/>
          </a:bodyPr>
          <a:lstStyle/>
          <a:p>
            <a:r>
              <a:rPr sz="1150" b="0">
                <a:solidFill>
                  <a:srgbClr val="2E2E2E"/>
                </a:solidFill>
                <a:latin typeface="Calibri"/>
              </a:rPr>
              <a:t>▪ 'Molecular Allergen Preparations' holds the highest share of</a:t>
            </a:r>
          </a:p>
        </p:txBody>
      </p:sp>
      <p:sp>
        <p:nvSpPr>
          <p:cNvPr id="20" name="TextBox 19"/>
          <p:cNvSpPr txBox="1"/>
          <p:nvPr/>
        </p:nvSpPr>
        <p:spPr>
          <a:xfrm>
            <a:off x="7715250" y="1575435"/>
            <a:ext cx="2143060" cy="194310"/>
          </a:xfrm>
          <a:prstGeom prst="rect">
            <a:avLst/>
          </a:prstGeom>
          <a:noFill/>
        </p:spPr>
        <p:txBody>
          <a:bodyPr wrap="none" lIns="0" rIns="0" tIns="0" bIns="0">
            <a:spAutoFit/>
          </a:bodyPr>
          <a:lstStyle/>
          <a:p>
            <a:r>
              <a:rPr sz="1150" b="0">
                <a:solidFill>
                  <a:srgbClr val="2E2E2E"/>
                </a:solidFill>
                <a:latin typeface="Calibri"/>
              </a:rPr>
              <a:t>'Allergopharma GmbH &amp; Co. KG' at</a:t>
            </a:r>
          </a:p>
        </p:txBody>
      </p:sp>
      <p:pic>
        <p:nvPicPr>
          <p:cNvPr id="21" name="Picture 20" descr="lock.png"/>
          <p:cNvPicPr>
            <a:picLocks noChangeAspect="1"/>
          </p:cNvPicPr>
          <p:nvPr/>
        </p:nvPicPr>
        <p:blipFill>
          <a:blip r:embed="rId5"/>
          <a:stretch>
            <a:fillRect/>
          </a:stretch>
        </p:blipFill>
        <p:spPr>
          <a:xfrm>
            <a:off x="9807464" y="1565211"/>
            <a:ext cx="134549" cy="195707"/>
          </a:xfrm>
          <a:prstGeom prst="rect">
            <a:avLst/>
          </a:prstGeom>
        </p:spPr>
      </p:pic>
      <p:sp>
        <p:nvSpPr>
          <p:cNvPr id="22" name="TextBox 21"/>
          <p:cNvSpPr txBox="1"/>
          <p:nvPr/>
        </p:nvSpPr>
        <p:spPr>
          <a:xfrm>
            <a:off x="9982573"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3" name="TextBox 22"/>
          <p:cNvSpPr txBox="1"/>
          <p:nvPr/>
        </p:nvSpPr>
        <p:spPr>
          <a:xfrm>
            <a:off x="7715250" y="1803273"/>
            <a:ext cx="4170930" cy="194310"/>
          </a:xfrm>
          <a:prstGeom prst="rect">
            <a:avLst/>
          </a:prstGeom>
          <a:noFill/>
        </p:spPr>
        <p:txBody>
          <a:bodyPr wrap="none" lIns="0" rIns="0" tIns="0" bIns="0">
            <a:spAutoFit/>
          </a:bodyPr>
          <a:lstStyle/>
          <a:p>
            <a:r>
              <a:rPr sz="1150" b="0">
                <a:solidFill>
                  <a:srgbClr val="2E2E2E"/>
                </a:solidFill>
                <a:latin typeface="Calibri"/>
              </a:rPr>
              <a:t>▪ 'Allergopharma GmbH &amp; Co. KG' is the most concentrated company</a:t>
            </a:r>
          </a:p>
        </p:txBody>
      </p:sp>
      <p:sp>
        <p:nvSpPr>
          <p:cNvPr id="24" name="TextBox 23"/>
          <p:cNvSpPr txBox="1"/>
          <p:nvPr/>
        </p:nvSpPr>
        <p:spPr>
          <a:xfrm>
            <a:off x="7715250" y="1978533"/>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5" name="Picture 24" descr="lock.png"/>
          <p:cNvPicPr>
            <a:picLocks noChangeAspect="1"/>
          </p:cNvPicPr>
          <p:nvPr/>
        </p:nvPicPr>
        <p:blipFill>
          <a:blip r:embed="rId5"/>
          <a:stretch>
            <a:fillRect/>
          </a:stretch>
        </p:blipFill>
        <p:spPr>
          <a:xfrm>
            <a:off x="8843110" y="1968309"/>
            <a:ext cx="134549" cy="195707"/>
          </a:xfrm>
          <a:prstGeom prst="rect">
            <a:avLst/>
          </a:prstGeom>
        </p:spPr>
      </p:pic>
      <p:sp>
        <p:nvSpPr>
          <p:cNvPr id="26" name="TextBox 25"/>
          <p:cNvSpPr txBox="1"/>
          <p:nvPr/>
        </p:nvSpPr>
        <p:spPr>
          <a:xfrm>
            <a:off x="9018219" y="1978533"/>
            <a:ext cx="2118903" cy="194310"/>
          </a:xfrm>
          <a:prstGeom prst="rect">
            <a:avLst/>
          </a:prstGeom>
          <a:noFill/>
        </p:spPr>
        <p:txBody>
          <a:bodyPr wrap="none" lIns="0" rIns="0" tIns="0" bIns="0">
            <a:spAutoFit/>
          </a:bodyPr>
          <a:lstStyle/>
          <a:p>
            <a:r>
              <a:rPr sz="1150" b="0">
                <a:solidFill>
                  <a:srgbClr val="2E2E2E"/>
                </a:solidFill>
                <a:latin typeface="Calibri"/>
              </a:rPr>
              <a:t>of its value via 'Molecular Allergen</a:t>
            </a:r>
          </a:p>
        </p:txBody>
      </p:sp>
      <p:sp>
        <p:nvSpPr>
          <p:cNvPr id="27" name="TextBox 26"/>
          <p:cNvSpPr txBox="1"/>
          <p:nvPr/>
        </p:nvSpPr>
        <p:spPr>
          <a:xfrm>
            <a:off x="7715250" y="2153793"/>
            <a:ext cx="905718" cy="194310"/>
          </a:xfrm>
          <a:prstGeom prst="rect">
            <a:avLst/>
          </a:prstGeom>
          <a:noFill/>
        </p:spPr>
        <p:txBody>
          <a:bodyPr wrap="none" lIns="0" rIns="0" tIns="0" bIns="0">
            <a:spAutoFit/>
          </a:bodyPr>
          <a:lstStyle/>
          <a:p>
            <a:r>
              <a:rPr sz="1150" b="0">
                <a:solidFill>
                  <a:srgbClr val="2E2E2E"/>
                </a:solidFill>
                <a:latin typeface="Calibri"/>
              </a:rPr>
              <a:t>Preparations'.</a:t>
            </a:r>
          </a:p>
        </p:txBody>
      </p:sp>
      <p:sp>
        <p:nvSpPr>
          <p:cNvPr id="28" name="TextBox 27"/>
          <p:cNvSpPr txBox="1"/>
          <p:nvPr/>
        </p:nvSpPr>
        <p:spPr>
          <a:xfrm>
            <a:off x="7715250" y="2381631"/>
            <a:ext cx="2763862" cy="194310"/>
          </a:xfrm>
          <a:prstGeom prst="rect">
            <a:avLst/>
          </a:prstGeom>
          <a:noFill/>
        </p:spPr>
        <p:txBody>
          <a:bodyPr wrap="none" lIns="0" rIns="0" tIns="0" bIns="0">
            <a:spAutoFit/>
          </a:bodyPr>
          <a:lstStyle/>
          <a:p>
            <a:r>
              <a:rPr sz="1150" b="0">
                <a:solidFill>
                  <a:srgbClr val="2E2E2E"/>
                </a:solidFill>
                <a:latin typeface="Calibri"/>
              </a:rPr>
              <a:t>▪ 'Non-standardized Allergen Extracts' gains +</a:t>
            </a:r>
          </a:p>
        </p:txBody>
      </p:sp>
      <p:pic>
        <p:nvPicPr>
          <p:cNvPr id="29" name="Picture 28" descr="lock.png"/>
          <p:cNvPicPr>
            <a:picLocks noChangeAspect="1"/>
          </p:cNvPicPr>
          <p:nvPr/>
        </p:nvPicPr>
        <p:blipFill>
          <a:blip r:embed="rId5"/>
          <a:stretch>
            <a:fillRect/>
          </a:stretch>
        </p:blipFill>
        <p:spPr>
          <a:xfrm>
            <a:off x="10428266" y="2371407"/>
            <a:ext cx="134549" cy="195707"/>
          </a:xfrm>
          <a:prstGeom prst="rect">
            <a:avLst/>
          </a:prstGeom>
        </p:spPr>
      </p:pic>
      <p:sp>
        <p:nvSpPr>
          <p:cNvPr id="30" name="TextBox 29"/>
          <p:cNvSpPr txBox="1"/>
          <p:nvPr/>
        </p:nvSpPr>
        <p:spPr>
          <a:xfrm>
            <a:off x="10603375" y="2381631"/>
            <a:ext cx="1199815" cy="194310"/>
          </a:xfrm>
          <a:prstGeom prst="rect">
            <a:avLst/>
          </a:prstGeom>
          <a:noFill/>
        </p:spPr>
        <p:txBody>
          <a:bodyPr wrap="none" lIns="0" rIns="0" tIns="0" bIns="0">
            <a:spAutoFit/>
          </a:bodyPr>
          <a:lstStyle/>
          <a:p>
            <a:r>
              <a:rPr sz="1150" b="0">
                <a:solidFill>
                  <a:srgbClr val="2E2E2E"/>
                </a:solidFill>
                <a:latin typeface="Calibri"/>
              </a:rPr>
              <a:t>BPS of share of the</a:t>
            </a:r>
          </a:p>
        </p:txBody>
      </p:sp>
      <p:sp>
        <p:nvSpPr>
          <p:cNvPr id="31" name="TextBox 30"/>
          <p:cNvSpPr txBox="1"/>
          <p:nvPr/>
        </p:nvSpPr>
        <p:spPr>
          <a:xfrm>
            <a:off x="7715250" y="2556891"/>
            <a:ext cx="1878790" cy="194310"/>
          </a:xfrm>
          <a:prstGeom prst="rect">
            <a:avLst/>
          </a:prstGeom>
          <a:noFill/>
        </p:spPr>
        <p:txBody>
          <a:bodyPr wrap="none" lIns="0" rIns="0" tIns="0" bIns="0">
            <a:spAutoFit/>
          </a:bodyPr>
          <a:lstStyle/>
          <a:p>
            <a:r>
              <a:rPr sz="1150" b="0">
                <a:solidFill>
                  <a:srgbClr val="2E2E2E"/>
                </a:solidFill>
                <a:latin typeface="Calibri"/>
              </a:rPr>
              <a:t>Global cross-section by 2036F.</a:t>
            </a:r>
          </a:p>
        </p:txBody>
      </p:sp>
      <p:sp>
        <p:nvSpPr>
          <p:cNvPr id="32" name="lockshield_12"/>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Company × Allergen Preparation Technology,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Company × Allergen Preparation Technology, 2026E–2036F</a:t>
            </a:r>
          </a:p>
        </p:txBody>
      </p:sp>
      <p:graphicFrame>
        <p:nvGraphicFramePr>
          <p:cNvPr id="13" name="Table 12"/>
          <p:cNvGraphicFramePr>
            <a:graphicFrameLocks noGrp="1"/>
          </p:cNvGraphicFramePr>
          <p:nvPr/>
        </p:nvGraphicFramePr>
        <p:xfrm>
          <a:off x="152400" y="1238250"/>
          <a:ext cx="11887197" cy="3400428"/>
        </p:xfrm>
        <a:graphic>
          <a:graphicData uri="http://schemas.openxmlformats.org/drawingml/2006/table">
            <a:tbl>
              <a:tblPr>
                <a:tableStyleId>{5C22544A-7EE6-4342-B048-85BDC9FD1C3A}</a:tableStyleId>
              </a:tblPr>
              <a:tblGrid>
                <a:gridCol w="4072021"/>
                <a:gridCol w="976897"/>
                <a:gridCol w="976897"/>
                <a:gridCol w="976897"/>
                <a:gridCol w="976897"/>
                <a:gridCol w="976897"/>
                <a:gridCol w="976897"/>
                <a:gridCol w="976897"/>
                <a:gridCol w="976897"/>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Native Allergen Extracts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Modified Allergen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Molecular Allergen</a:t>
                      </a:r>
                      <a:endParaRPr sz="1100"/>
                    </a:p>
                    <a:p>
                      <a:pPr algn="ctr"/>
                      <a:r>
                        <a:rPr sz="1100" b="1">
                          <a:solidFill>
                            <a:srgbClr val="0B2E4A"/>
                          </a:solidFill>
                          <a:latin typeface="Calibri"/>
                        </a:rPr>
                        <a:t>Preparations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93">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93">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8.4%</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b="0">
                          <a:solidFill>
                            <a:srgbClr val="2E2E2E"/>
                          </a:solidFill>
                          <a:latin typeface="Calibri"/>
                        </a:rPr>
                        <a:t>8.4%</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b="1">
                          <a:solidFill>
                            <a:srgbClr val="2E2E2E"/>
                          </a:solidFill>
                          <a:latin typeface="Calibri"/>
                        </a:rPr>
                        <a:t>8.4%</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648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981575"/>
            <a:ext cx="5600700" cy="1647825"/>
          </a:xfrm>
          <a:prstGeom prst="roundRect">
            <a:avLst>
              <a:gd name="adj" fmla="val 46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506730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7" name="Rectangle 16"/>
          <p:cNvSpPr/>
          <p:nvPr/>
        </p:nvSpPr>
        <p:spPr>
          <a:xfrm>
            <a:off x="276225" y="53054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391150"/>
            <a:ext cx="5334000" cy="116205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9" name="Rounded Rectangle 18"/>
          <p:cNvSpPr/>
          <p:nvPr/>
        </p:nvSpPr>
        <p:spPr>
          <a:xfrm>
            <a:off x="5895975" y="4981575"/>
            <a:ext cx="1943100" cy="1647825"/>
          </a:xfrm>
          <a:prstGeom prst="roundRect">
            <a:avLst>
              <a:gd name="adj" fmla="val 46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29325" y="506730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1" name="Rectangle 20"/>
          <p:cNvSpPr/>
          <p:nvPr/>
        </p:nvSpPr>
        <p:spPr>
          <a:xfrm>
            <a:off x="6029325" y="53054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29325" y="5391150"/>
            <a:ext cx="1676400" cy="116205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3" name="Rounded Rectangle 22"/>
          <p:cNvSpPr/>
          <p:nvPr/>
        </p:nvSpPr>
        <p:spPr>
          <a:xfrm>
            <a:off x="7991475" y="4981575"/>
            <a:ext cx="1943100" cy="1647825"/>
          </a:xfrm>
          <a:prstGeom prst="roundRect">
            <a:avLst>
              <a:gd name="adj" fmla="val 46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24825" y="506730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5" name="Rectangle 24"/>
          <p:cNvSpPr/>
          <p:nvPr/>
        </p:nvSpPr>
        <p:spPr>
          <a:xfrm>
            <a:off x="8124825" y="53054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24825" y="5391150"/>
            <a:ext cx="1676400" cy="116205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7" name="Rounded Rectangle 26"/>
          <p:cNvSpPr/>
          <p:nvPr/>
        </p:nvSpPr>
        <p:spPr>
          <a:xfrm>
            <a:off x="10086975" y="4981575"/>
            <a:ext cx="1943100" cy="1647825"/>
          </a:xfrm>
          <a:prstGeom prst="roundRect">
            <a:avLst>
              <a:gd name="adj" fmla="val 46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20325" y="506730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9" name="Rectangle 28"/>
          <p:cNvSpPr/>
          <p:nvPr/>
        </p:nvSpPr>
        <p:spPr>
          <a:xfrm>
            <a:off x="10220325" y="53054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20325" y="5391150"/>
            <a:ext cx="1676400" cy="116205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'ALK-Abelló A/S × Native Allergen Extracts' ranks highest (5/5); 'ALK-Abelló A/S × Molecular Allergen Preparations' lowest (1/5), a deprioritised cell.</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4"/>
          <a:stretch>
            <a:fillRect/>
          </a:stretch>
        </p:blipFill>
        <p:spPr>
          <a:xfrm>
            <a:off x="7945318" y="3014616"/>
            <a:ext cx="366712" cy="533400"/>
          </a:xfrm>
          <a:prstGeom prst="rect">
            <a:avLst/>
          </a:prstGeom>
        </p:spPr>
      </p:pic>
      <p:sp>
        <p:nvSpPr>
          <p:cNvPr id="33" name="TextBox 32"/>
          <p:cNvSpPr txBox="1"/>
          <p:nvPr/>
        </p:nvSpPr>
        <p:spPr>
          <a:xfrm>
            <a:off x="276225" y="5400675"/>
            <a:ext cx="2732921" cy="186689"/>
          </a:xfrm>
          <a:prstGeom prst="rect">
            <a:avLst/>
          </a:prstGeom>
          <a:noFill/>
        </p:spPr>
        <p:txBody>
          <a:bodyPr wrap="none" lIns="0" rIns="0" tIns="0" bIns="0">
            <a:spAutoFit/>
          </a:bodyPr>
          <a:lstStyle/>
          <a:p>
            <a:r>
              <a:rPr sz="1100" b="0">
                <a:solidFill>
                  <a:srgbClr val="2E2E2E"/>
                </a:solidFill>
                <a:latin typeface="Calibri"/>
              </a:rPr>
              <a:t>▪ 1. ALK-Abelló A/S × Native Allergen Extracts –</a:t>
            </a:r>
          </a:p>
        </p:txBody>
      </p:sp>
      <p:pic>
        <p:nvPicPr>
          <p:cNvPr id="34" name="Picture 33" descr="lock.png"/>
          <p:cNvPicPr>
            <a:picLocks noChangeAspect="1"/>
          </p:cNvPicPr>
          <p:nvPr/>
        </p:nvPicPr>
        <p:blipFill>
          <a:blip r:embed="rId4"/>
          <a:stretch>
            <a:fillRect/>
          </a:stretch>
        </p:blipFill>
        <p:spPr>
          <a:xfrm>
            <a:off x="2957198" y="5390895"/>
            <a:ext cx="128699" cy="187198"/>
          </a:xfrm>
          <a:prstGeom prst="rect">
            <a:avLst/>
          </a:prstGeom>
        </p:spPr>
      </p:pic>
      <p:sp>
        <p:nvSpPr>
          <p:cNvPr id="35" name="TextBox 34"/>
          <p:cNvSpPr txBox="1"/>
          <p:nvPr/>
        </p:nvSpPr>
        <p:spPr>
          <a:xfrm>
            <a:off x="3124693" y="5400675"/>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36" name="Picture 35" descr="lock.png"/>
          <p:cNvPicPr>
            <a:picLocks noChangeAspect="1"/>
          </p:cNvPicPr>
          <p:nvPr/>
        </p:nvPicPr>
        <p:blipFill>
          <a:blip r:embed="rId4"/>
          <a:stretch>
            <a:fillRect/>
          </a:stretch>
        </p:blipFill>
        <p:spPr>
          <a:xfrm>
            <a:off x="3184143" y="5390895"/>
            <a:ext cx="128699" cy="187198"/>
          </a:xfrm>
          <a:prstGeom prst="rect">
            <a:avLst/>
          </a:prstGeom>
        </p:spPr>
      </p:pic>
      <p:sp>
        <p:nvSpPr>
          <p:cNvPr id="37" name="TextBox 36"/>
          <p:cNvSpPr txBox="1"/>
          <p:nvPr/>
        </p:nvSpPr>
        <p:spPr>
          <a:xfrm>
            <a:off x="3351639" y="5400675"/>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38" name="TextBox 37"/>
          <p:cNvSpPr txBox="1"/>
          <p:nvPr/>
        </p:nvSpPr>
        <p:spPr>
          <a:xfrm>
            <a:off x="276225" y="5618607"/>
            <a:ext cx="3907564" cy="186689"/>
          </a:xfrm>
          <a:prstGeom prst="rect">
            <a:avLst/>
          </a:prstGeom>
          <a:noFill/>
        </p:spPr>
        <p:txBody>
          <a:bodyPr wrap="none" lIns="0" rIns="0" tIns="0" bIns="0">
            <a:spAutoFit/>
          </a:bodyPr>
          <a:lstStyle/>
          <a:p>
            <a:r>
              <a:rPr sz="1100" b="0">
                <a:solidFill>
                  <a:srgbClr val="2E2E2E"/>
                </a:solidFill>
                <a:latin typeface="Calibri"/>
              </a:rPr>
              <a:t>▪ 2. Stallergenes Greer International AG × Native Allergen Extracts –</a:t>
            </a:r>
          </a:p>
        </p:txBody>
      </p:sp>
      <p:pic>
        <p:nvPicPr>
          <p:cNvPr id="39" name="Picture 38" descr="lock.png"/>
          <p:cNvPicPr>
            <a:picLocks noChangeAspect="1"/>
          </p:cNvPicPr>
          <p:nvPr/>
        </p:nvPicPr>
        <p:blipFill>
          <a:blip r:embed="rId4"/>
          <a:stretch>
            <a:fillRect/>
          </a:stretch>
        </p:blipFill>
        <p:spPr>
          <a:xfrm>
            <a:off x="4131841" y="5608827"/>
            <a:ext cx="128699" cy="187198"/>
          </a:xfrm>
          <a:prstGeom prst="rect">
            <a:avLst/>
          </a:prstGeom>
        </p:spPr>
      </p:pic>
      <p:sp>
        <p:nvSpPr>
          <p:cNvPr id="40" name="TextBox 39"/>
          <p:cNvSpPr txBox="1"/>
          <p:nvPr/>
        </p:nvSpPr>
        <p:spPr>
          <a:xfrm>
            <a:off x="4299337" y="5618607"/>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1" name="Picture 40" descr="lock.png"/>
          <p:cNvPicPr>
            <a:picLocks noChangeAspect="1"/>
          </p:cNvPicPr>
          <p:nvPr/>
        </p:nvPicPr>
        <p:blipFill>
          <a:blip r:embed="rId4"/>
          <a:stretch>
            <a:fillRect/>
          </a:stretch>
        </p:blipFill>
        <p:spPr>
          <a:xfrm>
            <a:off x="4358786" y="5608827"/>
            <a:ext cx="128699" cy="187198"/>
          </a:xfrm>
          <a:prstGeom prst="rect">
            <a:avLst/>
          </a:prstGeom>
        </p:spPr>
      </p:pic>
      <p:sp>
        <p:nvSpPr>
          <p:cNvPr id="42" name="TextBox 41"/>
          <p:cNvSpPr txBox="1"/>
          <p:nvPr/>
        </p:nvSpPr>
        <p:spPr>
          <a:xfrm>
            <a:off x="4526282" y="5618607"/>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43" name="TextBox 42"/>
          <p:cNvSpPr txBox="1"/>
          <p:nvPr/>
        </p:nvSpPr>
        <p:spPr>
          <a:xfrm>
            <a:off x="276225" y="5836539"/>
            <a:ext cx="2709319" cy="186689"/>
          </a:xfrm>
          <a:prstGeom prst="rect">
            <a:avLst/>
          </a:prstGeom>
          <a:noFill/>
        </p:spPr>
        <p:txBody>
          <a:bodyPr wrap="none" lIns="0" rIns="0" tIns="0" bIns="0">
            <a:spAutoFit/>
          </a:bodyPr>
          <a:lstStyle/>
          <a:p>
            <a:r>
              <a:rPr sz="1100" b="0">
                <a:solidFill>
                  <a:srgbClr val="2E2E2E"/>
                </a:solidFill>
                <a:latin typeface="Calibri"/>
              </a:rPr>
              <a:t>▪ 3. DIATER Laboratories × Modified Allergen –</a:t>
            </a:r>
          </a:p>
        </p:txBody>
      </p:sp>
      <p:pic>
        <p:nvPicPr>
          <p:cNvPr id="44" name="Picture 43" descr="lock.png"/>
          <p:cNvPicPr>
            <a:picLocks noChangeAspect="1"/>
          </p:cNvPicPr>
          <p:nvPr/>
        </p:nvPicPr>
        <p:blipFill>
          <a:blip r:embed="rId4"/>
          <a:stretch>
            <a:fillRect/>
          </a:stretch>
        </p:blipFill>
        <p:spPr>
          <a:xfrm>
            <a:off x="2933596" y="5826759"/>
            <a:ext cx="128699" cy="187198"/>
          </a:xfrm>
          <a:prstGeom prst="rect">
            <a:avLst/>
          </a:prstGeom>
        </p:spPr>
      </p:pic>
      <p:sp>
        <p:nvSpPr>
          <p:cNvPr id="45" name="TextBox 44"/>
          <p:cNvSpPr txBox="1"/>
          <p:nvPr/>
        </p:nvSpPr>
        <p:spPr>
          <a:xfrm>
            <a:off x="3101092" y="5836539"/>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6" name="Picture 45" descr="lock.png"/>
          <p:cNvPicPr>
            <a:picLocks noChangeAspect="1"/>
          </p:cNvPicPr>
          <p:nvPr/>
        </p:nvPicPr>
        <p:blipFill>
          <a:blip r:embed="rId4"/>
          <a:stretch>
            <a:fillRect/>
          </a:stretch>
        </p:blipFill>
        <p:spPr>
          <a:xfrm>
            <a:off x="3160541" y="5826759"/>
            <a:ext cx="128699" cy="187198"/>
          </a:xfrm>
          <a:prstGeom prst="rect">
            <a:avLst/>
          </a:prstGeom>
        </p:spPr>
      </p:pic>
      <p:sp>
        <p:nvSpPr>
          <p:cNvPr id="47" name="TextBox 46"/>
          <p:cNvSpPr txBox="1"/>
          <p:nvPr/>
        </p:nvSpPr>
        <p:spPr>
          <a:xfrm>
            <a:off x="3328037" y="5836539"/>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48" name="TextBox 47"/>
          <p:cNvSpPr txBox="1"/>
          <p:nvPr/>
        </p:nvSpPr>
        <p:spPr>
          <a:xfrm>
            <a:off x="276225" y="6054471"/>
            <a:ext cx="2395165" cy="186689"/>
          </a:xfrm>
          <a:prstGeom prst="rect">
            <a:avLst/>
          </a:prstGeom>
          <a:noFill/>
        </p:spPr>
        <p:txBody>
          <a:bodyPr wrap="none" lIns="0" rIns="0" tIns="0" bIns="0">
            <a:spAutoFit/>
          </a:bodyPr>
          <a:lstStyle/>
          <a:p>
            <a:r>
              <a:rPr sz="1100" b="0">
                <a:solidFill>
                  <a:srgbClr val="2E2E2E"/>
                </a:solidFill>
                <a:latin typeface="Calibri"/>
              </a:rPr>
              <a:t>▪ 4. Inmunotek S.L. × Modified Allergen –</a:t>
            </a:r>
          </a:p>
        </p:txBody>
      </p:sp>
      <p:pic>
        <p:nvPicPr>
          <p:cNvPr id="49" name="Picture 48" descr="lock.png"/>
          <p:cNvPicPr>
            <a:picLocks noChangeAspect="1"/>
          </p:cNvPicPr>
          <p:nvPr/>
        </p:nvPicPr>
        <p:blipFill>
          <a:blip r:embed="rId4"/>
          <a:stretch>
            <a:fillRect/>
          </a:stretch>
        </p:blipFill>
        <p:spPr>
          <a:xfrm>
            <a:off x="2619442" y="6044691"/>
            <a:ext cx="128699" cy="187198"/>
          </a:xfrm>
          <a:prstGeom prst="rect">
            <a:avLst/>
          </a:prstGeom>
        </p:spPr>
      </p:pic>
      <p:sp>
        <p:nvSpPr>
          <p:cNvPr id="50" name="TextBox 49"/>
          <p:cNvSpPr txBox="1"/>
          <p:nvPr/>
        </p:nvSpPr>
        <p:spPr>
          <a:xfrm>
            <a:off x="2786937" y="6054471"/>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1" name="Picture 50" descr="lock.png"/>
          <p:cNvPicPr>
            <a:picLocks noChangeAspect="1"/>
          </p:cNvPicPr>
          <p:nvPr/>
        </p:nvPicPr>
        <p:blipFill>
          <a:blip r:embed="rId4"/>
          <a:stretch>
            <a:fillRect/>
          </a:stretch>
        </p:blipFill>
        <p:spPr>
          <a:xfrm>
            <a:off x="2846387" y="6044691"/>
            <a:ext cx="128699" cy="187198"/>
          </a:xfrm>
          <a:prstGeom prst="rect">
            <a:avLst/>
          </a:prstGeom>
        </p:spPr>
      </p:pic>
      <p:sp>
        <p:nvSpPr>
          <p:cNvPr id="52" name="TextBox 51"/>
          <p:cNvSpPr txBox="1"/>
          <p:nvPr/>
        </p:nvSpPr>
        <p:spPr>
          <a:xfrm>
            <a:off x="3013883" y="6054471"/>
            <a:ext cx="338956" cy="186689"/>
          </a:xfrm>
          <a:prstGeom prst="rect">
            <a:avLst/>
          </a:prstGeom>
          <a:noFill/>
        </p:spPr>
        <p:txBody>
          <a:bodyPr wrap="none" lIns="0" rIns="0" tIns="0" bIns="0">
            <a:spAutoFit/>
          </a:bodyPr>
          <a:lstStyle/>
          <a:p>
            <a:r>
              <a:rPr sz="1100" b="0">
                <a:solidFill>
                  <a:srgbClr val="2E2E2E"/>
                </a:solidFill>
                <a:latin typeface="Calibri"/>
              </a:rPr>
              <a:t>· 4/5</a:t>
            </a:r>
          </a:p>
        </p:txBody>
      </p:sp>
      <p:sp>
        <p:nvSpPr>
          <p:cNvPr id="53" name="TextBox 52"/>
          <p:cNvSpPr txBox="1"/>
          <p:nvPr/>
        </p:nvSpPr>
        <p:spPr>
          <a:xfrm>
            <a:off x="276225" y="6272403"/>
            <a:ext cx="3733502" cy="186689"/>
          </a:xfrm>
          <a:prstGeom prst="rect">
            <a:avLst/>
          </a:prstGeom>
          <a:noFill/>
        </p:spPr>
        <p:txBody>
          <a:bodyPr wrap="none" lIns="0" rIns="0" tIns="0" bIns="0">
            <a:spAutoFit/>
          </a:bodyPr>
          <a:lstStyle/>
          <a:p>
            <a:r>
              <a:rPr sz="1100" b="0">
                <a:solidFill>
                  <a:srgbClr val="2E2E2E"/>
                </a:solidFill>
                <a:latin typeface="Calibri"/>
              </a:rPr>
              <a:t>▪ 5. LETI Pharma / Laboratorios LETI, S.L.U. × Modified Allergen –</a:t>
            </a:r>
          </a:p>
        </p:txBody>
      </p:sp>
      <p:pic>
        <p:nvPicPr>
          <p:cNvPr id="54" name="Picture 53" descr="lock.png"/>
          <p:cNvPicPr>
            <a:picLocks noChangeAspect="1"/>
          </p:cNvPicPr>
          <p:nvPr/>
        </p:nvPicPr>
        <p:blipFill>
          <a:blip r:embed="rId4"/>
          <a:stretch>
            <a:fillRect/>
          </a:stretch>
        </p:blipFill>
        <p:spPr>
          <a:xfrm>
            <a:off x="3957778" y="6262623"/>
            <a:ext cx="128699" cy="187198"/>
          </a:xfrm>
          <a:prstGeom prst="rect">
            <a:avLst/>
          </a:prstGeom>
        </p:spPr>
      </p:pic>
      <p:sp>
        <p:nvSpPr>
          <p:cNvPr id="55" name="TextBox 54"/>
          <p:cNvSpPr txBox="1"/>
          <p:nvPr/>
        </p:nvSpPr>
        <p:spPr>
          <a:xfrm>
            <a:off x="4125274" y="6272403"/>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6" name="Picture 55" descr="lock.png"/>
          <p:cNvPicPr>
            <a:picLocks noChangeAspect="1"/>
          </p:cNvPicPr>
          <p:nvPr/>
        </p:nvPicPr>
        <p:blipFill>
          <a:blip r:embed="rId4"/>
          <a:stretch>
            <a:fillRect/>
          </a:stretch>
        </p:blipFill>
        <p:spPr>
          <a:xfrm>
            <a:off x="4184724" y="6262623"/>
            <a:ext cx="128699" cy="187198"/>
          </a:xfrm>
          <a:prstGeom prst="rect">
            <a:avLst/>
          </a:prstGeom>
        </p:spPr>
      </p:pic>
      <p:sp>
        <p:nvSpPr>
          <p:cNvPr id="57" name="TextBox 56"/>
          <p:cNvSpPr txBox="1"/>
          <p:nvPr/>
        </p:nvSpPr>
        <p:spPr>
          <a:xfrm>
            <a:off x="4352220" y="6272403"/>
            <a:ext cx="338956" cy="186689"/>
          </a:xfrm>
          <a:prstGeom prst="rect">
            <a:avLst/>
          </a:prstGeom>
          <a:noFill/>
        </p:spPr>
        <p:txBody>
          <a:bodyPr wrap="none" lIns="0" rIns="0" tIns="0" bIns="0">
            <a:spAutoFit/>
          </a:bodyPr>
          <a:lstStyle/>
          <a:p>
            <a:r>
              <a:rPr sz="1100" b="0">
                <a:solidFill>
                  <a:srgbClr val="2E2E2E"/>
                </a:solidFill>
                <a:latin typeface="Calibri"/>
              </a:rPr>
              <a:t>· 4/5</a:t>
            </a:r>
          </a:p>
        </p:txBody>
      </p:sp>
      <p:sp>
        <p:nvSpPr>
          <p:cNvPr id="58" name="TextBox 57"/>
          <p:cNvSpPr txBox="1"/>
          <p:nvPr/>
        </p:nvSpPr>
        <p:spPr>
          <a:xfrm>
            <a:off x="6029325" y="5400675"/>
            <a:ext cx="1537013" cy="186689"/>
          </a:xfrm>
          <a:prstGeom prst="rect">
            <a:avLst/>
          </a:prstGeom>
          <a:noFill/>
        </p:spPr>
        <p:txBody>
          <a:bodyPr wrap="none" lIns="0" rIns="0" tIns="0" bIns="0">
            <a:spAutoFit/>
          </a:bodyPr>
          <a:lstStyle/>
          <a:p>
            <a:r>
              <a:rPr sz="1100" b="0">
                <a:solidFill>
                  <a:srgbClr val="2E2E2E"/>
                </a:solidFill>
                <a:latin typeface="Calibri"/>
              </a:rPr>
              <a:t>▪ 'ALK-Abelló A/S × Native</a:t>
            </a:r>
          </a:p>
        </p:txBody>
      </p:sp>
      <p:sp>
        <p:nvSpPr>
          <p:cNvPr id="59" name="TextBox 58"/>
          <p:cNvSpPr txBox="1"/>
          <p:nvPr/>
        </p:nvSpPr>
        <p:spPr>
          <a:xfrm>
            <a:off x="6029325" y="5568315"/>
            <a:ext cx="1362967" cy="186689"/>
          </a:xfrm>
          <a:prstGeom prst="rect">
            <a:avLst/>
          </a:prstGeom>
          <a:noFill/>
        </p:spPr>
        <p:txBody>
          <a:bodyPr wrap="none" lIns="0" rIns="0" tIns="0" bIns="0">
            <a:spAutoFit/>
          </a:bodyPr>
          <a:lstStyle/>
          <a:p>
            <a:r>
              <a:rPr sz="1100" b="0">
                <a:solidFill>
                  <a:srgbClr val="2E2E2E"/>
                </a:solidFill>
                <a:latin typeface="Calibri"/>
              </a:rPr>
              <a:t>Allergen Extracts' adds</a:t>
            </a:r>
          </a:p>
        </p:txBody>
      </p:sp>
      <p:pic>
        <p:nvPicPr>
          <p:cNvPr id="60" name="Picture 59" descr="lock.png"/>
          <p:cNvPicPr>
            <a:picLocks noChangeAspect="1"/>
          </p:cNvPicPr>
          <p:nvPr/>
        </p:nvPicPr>
        <p:blipFill>
          <a:blip r:embed="rId4"/>
          <a:stretch>
            <a:fillRect/>
          </a:stretch>
        </p:blipFill>
        <p:spPr>
          <a:xfrm>
            <a:off x="7340344" y="5558535"/>
            <a:ext cx="128699" cy="187198"/>
          </a:xfrm>
          <a:prstGeom prst="rect">
            <a:avLst/>
          </a:prstGeom>
        </p:spPr>
      </p:pic>
      <p:sp>
        <p:nvSpPr>
          <p:cNvPr id="61" name="TextBox 60"/>
          <p:cNvSpPr txBox="1"/>
          <p:nvPr/>
        </p:nvSpPr>
        <p:spPr>
          <a:xfrm>
            <a:off x="6029325" y="5735955"/>
            <a:ext cx="1174700" cy="186689"/>
          </a:xfrm>
          <a:prstGeom prst="rect">
            <a:avLst/>
          </a:prstGeom>
          <a:noFill/>
        </p:spPr>
        <p:txBody>
          <a:bodyPr wrap="none" lIns="0" rIns="0" tIns="0" bIns="0">
            <a:spAutoFit/>
          </a:bodyPr>
          <a:lstStyle/>
          <a:p>
            <a:r>
              <a:rPr sz="1100" b="0">
                <a:solidFill>
                  <a:srgbClr val="2E2E2E"/>
                </a:solidFill>
                <a:latin typeface="Calibri"/>
              </a:rPr>
              <a:t>US$ Mn by 2036F –</a:t>
            </a:r>
          </a:p>
        </p:txBody>
      </p:sp>
      <p:pic>
        <p:nvPicPr>
          <p:cNvPr id="62" name="Picture 61" descr="lock.png"/>
          <p:cNvPicPr>
            <a:picLocks noChangeAspect="1"/>
          </p:cNvPicPr>
          <p:nvPr/>
        </p:nvPicPr>
        <p:blipFill>
          <a:blip r:embed="rId4"/>
          <a:stretch>
            <a:fillRect/>
          </a:stretch>
        </p:blipFill>
        <p:spPr>
          <a:xfrm>
            <a:off x="7152076" y="5726176"/>
            <a:ext cx="128699" cy="187198"/>
          </a:xfrm>
          <a:prstGeom prst="rect">
            <a:avLst/>
          </a:prstGeom>
        </p:spPr>
      </p:pic>
      <p:sp>
        <p:nvSpPr>
          <p:cNvPr id="63" name="TextBox 62"/>
          <p:cNvSpPr txBox="1"/>
          <p:nvPr/>
        </p:nvSpPr>
        <p:spPr>
          <a:xfrm>
            <a:off x="7319572" y="5735955"/>
            <a:ext cx="192434" cy="186689"/>
          </a:xfrm>
          <a:prstGeom prst="rect">
            <a:avLst/>
          </a:prstGeom>
          <a:noFill/>
        </p:spPr>
        <p:txBody>
          <a:bodyPr wrap="none" lIns="0" rIns="0" tIns="0" bIns="0">
            <a:spAutoFit/>
          </a:bodyPr>
          <a:lstStyle/>
          <a:p>
            <a:r>
              <a:rPr sz="1100" b="0">
                <a:solidFill>
                  <a:srgbClr val="2E2E2E"/>
                </a:solidFill>
                <a:latin typeface="Calibri"/>
              </a:rPr>
              <a:t>of</a:t>
            </a:r>
          </a:p>
        </p:txBody>
      </p:sp>
      <p:sp>
        <p:nvSpPr>
          <p:cNvPr id="64" name="TextBox 63"/>
          <p:cNvSpPr txBox="1"/>
          <p:nvPr/>
        </p:nvSpPr>
        <p:spPr>
          <a:xfrm>
            <a:off x="6029325" y="5903595"/>
            <a:ext cx="1310307" cy="186689"/>
          </a:xfrm>
          <a:prstGeom prst="rect">
            <a:avLst/>
          </a:prstGeom>
          <a:noFill/>
        </p:spPr>
        <p:txBody>
          <a:bodyPr wrap="none" lIns="0" rIns="0" tIns="0" bIns="0">
            <a:spAutoFit/>
          </a:bodyPr>
          <a:lstStyle/>
          <a:p>
            <a:r>
              <a:rPr sz="1100" b="0">
                <a:solidFill>
                  <a:srgbClr val="2E2E2E"/>
                </a:solidFill>
                <a:latin typeface="Calibri"/>
              </a:rPr>
              <a:t>the total opportunity.</a:t>
            </a:r>
          </a:p>
        </p:txBody>
      </p:sp>
      <p:sp>
        <p:nvSpPr>
          <p:cNvPr id="65" name="TextBox 64"/>
          <p:cNvSpPr txBox="1"/>
          <p:nvPr/>
        </p:nvSpPr>
        <p:spPr>
          <a:xfrm>
            <a:off x="8124825" y="5400675"/>
            <a:ext cx="1535410" cy="186689"/>
          </a:xfrm>
          <a:prstGeom prst="rect">
            <a:avLst/>
          </a:prstGeom>
          <a:noFill/>
        </p:spPr>
        <p:txBody>
          <a:bodyPr wrap="none" lIns="0" rIns="0" tIns="0" bIns="0">
            <a:spAutoFit/>
          </a:bodyPr>
          <a:lstStyle/>
          <a:p>
            <a:r>
              <a:rPr sz="1100" b="0">
                <a:solidFill>
                  <a:srgbClr val="2E2E2E"/>
                </a:solidFill>
                <a:latin typeface="Calibri"/>
              </a:rPr>
              <a:t>▪ 'Inmunotek S.L. × Native</a:t>
            </a:r>
          </a:p>
        </p:txBody>
      </p:sp>
      <p:sp>
        <p:nvSpPr>
          <p:cNvPr id="66" name="TextBox 65"/>
          <p:cNvSpPr txBox="1"/>
          <p:nvPr/>
        </p:nvSpPr>
        <p:spPr>
          <a:xfrm>
            <a:off x="8124825" y="5568315"/>
            <a:ext cx="1657350" cy="186689"/>
          </a:xfrm>
          <a:prstGeom prst="rect">
            <a:avLst/>
          </a:prstGeom>
          <a:noFill/>
        </p:spPr>
        <p:txBody>
          <a:bodyPr wrap="none" lIns="0" rIns="0" tIns="0" bIns="0">
            <a:spAutoFit/>
          </a:bodyPr>
          <a:lstStyle/>
          <a:p>
            <a:r>
              <a:rPr sz="1100" b="0">
                <a:solidFill>
                  <a:srgbClr val="2E2E2E"/>
                </a:solidFill>
                <a:latin typeface="Calibri"/>
              </a:rPr>
              <a:t>Allergen Extracts' grows at a</a:t>
            </a:r>
          </a:p>
        </p:txBody>
      </p:sp>
      <p:pic>
        <p:nvPicPr>
          <p:cNvPr id="67" name="Picture 66" descr="lock.png"/>
          <p:cNvPicPr>
            <a:picLocks noChangeAspect="1"/>
          </p:cNvPicPr>
          <p:nvPr/>
        </p:nvPicPr>
        <p:blipFill>
          <a:blip r:embed="rId4"/>
          <a:stretch>
            <a:fillRect/>
          </a:stretch>
        </p:blipFill>
        <p:spPr>
          <a:xfrm>
            <a:off x="8111357" y="5726176"/>
            <a:ext cx="128699" cy="187198"/>
          </a:xfrm>
          <a:prstGeom prst="rect">
            <a:avLst/>
          </a:prstGeom>
        </p:spPr>
      </p:pic>
      <p:sp>
        <p:nvSpPr>
          <p:cNvPr id="68" name="TextBox 67"/>
          <p:cNvSpPr txBox="1"/>
          <p:nvPr/>
        </p:nvSpPr>
        <p:spPr>
          <a:xfrm>
            <a:off x="8278853" y="5735955"/>
            <a:ext cx="430344" cy="186689"/>
          </a:xfrm>
          <a:prstGeom prst="rect">
            <a:avLst/>
          </a:prstGeom>
          <a:noFill/>
        </p:spPr>
        <p:txBody>
          <a:bodyPr wrap="none" lIns="0" rIns="0" tIns="0" bIns="0">
            <a:spAutoFit/>
          </a:bodyPr>
          <a:lstStyle/>
          <a:p>
            <a:r>
              <a:rPr sz="1100" b="0">
                <a:solidFill>
                  <a:srgbClr val="2E2E2E"/>
                </a:solidFill>
                <a:latin typeface="Calibri"/>
              </a:rPr>
              <a:t>CAGR,</a:t>
            </a:r>
          </a:p>
        </p:txBody>
      </p:sp>
      <p:pic>
        <p:nvPicPr>
          <p:cNvPr id="69" name="Picture 68" descr="lock.png"/>
          <p:cNvPicPr>
            <a:picLocks noChangeAspect="1"/>
          </p:cNvPicPr>
          <p:nvPr/>
        </p:nvPicPr>
        <p:blipFill>
          <a:blip r:embed="rId4"/>
          <a:stretch>
            <a:fillRect/>
          </a:stretch>
        </p:blipFill>
        <p:spPr>
          <a:xfrm>
            <a:off x="8657249" y="5726176"/>
            <a:ext cx="128699" cy="187198"/>
          </a:xfrm>
          <a:prstGeom prst="rect">
            <a:avLst/>
          </a:prstGeom>
        </p:spPr>
      </p:pic>
      <p:sp>
        <p:nvSpPr>
          <p:cNvPr id="70" name="TextBox 69"/>
          <p:cNvSpPr txBox="1"/>
          <p:nvPr/>
        </p:nvSpPr>
        <p:spPr>
          <a:xfrm>
            <a:off x="8824745" y="5735955"/>
            <a:ext cx="666923" cy="186689"/>
          </a:xfrm>
          <a:prstGeom prst="rect">
            <a:avLst/>
          </a:prstGeom>
          <a:noFill/>
        </p:spPr>
        <p:txBody>
          <a:bodyPr wrap="none" lIns="0" rIns="0" tIns="0" bIns="0">
            <a:spAutoFit/>
          </a:bodyPr>
          <a:lstStyle/>
          <a:p>
            <a:r>
              <a:rPr sz="1100" b="0">
                <a:solidFill>
                  <a:srgbClr val="2E2E2E"/>
                </a:solidFill>
                <a:latin typeface="Calibri"/>
              </a:rPr>
              <a:t>BPS above</a:t>
            </a:r>
          </a:p>
        </p:txBody>
      </p:sp>
      <p:sp>
        <p:nvSpPr>
          <p:cNvPr id="71" name="TextBox 70"/>
          <p:cNvSpPr txBox="1"/>
          <p:nvPr/>
        </p:nvSpPr>
        <p:spPr>
          <a:xfrm>
            <a:off x="8124825" y="5903595"/>
            <a:ext cx="1076200" cy="186689"/>
          </a:xfrm>
          <a:prstGeom prst="rect">
            <a:avLst/>
          </a:prstGeom>
          <a:noFill/>
        </p:spPr>
        <p:txBody>
          <a:bodyPr wrap="none" lIns="0" rIns="0" tIns="0" bIns="0">
            <a:spAutoFit/>
          </a:bodyPr>
          <a:lstStyle/>
          <a:p>
            <a:r>
              <a:rPr sz="1100" b="0">
                <a:solidFill>
                  <a:srgbClr val="2E2E2E"/>
                </a:solidFill>
                <a:latin typeface="Calibri"/>
              </a:rPr>
              <a:t>the cross-section.</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338705"/>
            <a:ext cx="7239000" cy="247650"/>
          </a:xfrm>
          <a:prstGeom prst="rect">
            <a:avLst/>
          </a:prstGeom>
          <a:noFill/>
        </p:spPr>
        <p:txBody>
          <a:bodyPr wrap="none" lIns="0" tIns="0">
            <a:spAutoFit/>
          </a:bodyPr>
          <a:lstStyle/>
          <a:p>
            <a:r>
              <a:rPr sz="1400" b="0">
                <a:solidFill>
                  <a:srgbClr val="8FC8F2"/>
                </a:solidFill>
                <a:latin typeface="Calibri"/>
              </a:rPr>
              <a:t>Allergy Immunotherapy Market</a:t>
            </a:r>
          </a:p>
        </p:txBody>
      </p:sp>
      <p:sp>
        <p:nvSpPr>
          <p:cNvPr id="6" name="FMI Breaker Title"/>
          <p:cNvSpPr txBox="1"/>
          <p:nvPr/>
        </p:nvSpPr>
        <p:spPr>
          <a:xfrm>
            <a:off x="914400" y="2643505"/>
            <a:ext cx="7239000" cy="971550"/>
          </a:xfrm>
          <a:prstGeom prst="rect">
            <a:avLst/>
          </a:prstGeom>
          <a:noFill/>
        </p:spPr>
        <p:txBody>
          <a:bodyPr wrap="square" lIns="0" rIns="0" tIns="0">
            <a:spAutoFit/>
          </a:bodyPr>
          <a:lstStyle/>
          <a:p>
            <a:r>
              <a:rPr sz="3000" b="1" cap="all" spc="400">
                <a:solidFill>
                  <a:srgbClr val="FFFFFF"/>
                </a:solidFill>
                <a:latin typeface="Calibri"/>
              </a:rPr>
              <a:t>North America Market Outlook</a:t>
            </a:r>
          </a:p>
        </p:txBody>
      </p:sp>
      <p:sp>
        <p:nvSpPr>
          <p:cNvPr id="7" name="TextBox 6"/>
          <p:cNvSpPr txBox="1"/>
          <p:nvPr/>
        </p:nvSpPr>
        <p:spPr>
          <a:xfrm>
            <a:off x="914400" y="3805555"/>
            <a:ext cx="5067300" cy="210312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Therapy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Allergen Class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Commercial Product Model</a:t>
            </a:r>
          </a:p>
        </p:txBody>
      </p:sp>
      <p:sp>
        <p:nvSpPr>
          <p:cNvPr id="8" name="TextBox 7"/>
          <p:cNvSpPr txBox="1"/>
          <p:nvPr/>
        </p:nvSpPr>
        <p:spPr>
          <a:xfrm>
            <a:off x="6096000" y="3805555"/>
            <a:ext cx="5067300" cy="2142490"/>
          </a:xfrm>
          <a:prstGeom prst="rect">
            <a:avLst/>
          </a:prstGeom>
          <a:noFill/>
        </p:spPr>
        <p:txBody>
          <a:bodyPr wrap="square" lIns="0" rIns="0" tIns="0" bIns="0">
            <a:spAutoFit/>
          </a:bodyPr>
          <a:lstStyle/>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Allergen Preparation Technology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Allergen Composition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Sales / Procurement Channel</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Company × Allergen Class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Company × Therapy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Company × Allergen Preparation Technology</a:t>
            </a:r>
          </a:p>
        </p:txBody>
      </p:sp>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North America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Allergy Immunotherapy Market Summary, By Volume (Patient Treatment Courses)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volume growth, incremental opportunity and the geographies driving it,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(PATIENT TREATMENT COURSES)</a:t>
            </a:r>
          </a:p>
          <a:p>
            <a:pPr algn="ctr">
              <a:lnSpc>
                <a:spcPct val="95000"/>
              </a:lnSpc>
            </a:pPr>
            <a:r>
              <a:rPr sz="1500" b="1">
                <a:solidFill>
                  <a:srgbClr val="0E72AE"/>
                </a:solidFill>
                <a:latin typeface="Calibri"/>
              </a:rPr>
              <a:t> </a:t>
            </a:r>
          </a:p>
        </p:txBody>
      </p:sp>
      <p:sp>
        <p:nvSpPr>
          <p:cNvPr id="12" name="Rounded Rectangle 11"/>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(PATIENT TREATMENT COURSES)</a:t>
            </a:r>
          </a:p>
          <a:p>
            <a:pPr algn="ctr">
              <a:lnSpc>
                <a:spcPct val="95000"/>
              </a:lnSpc>
            </a:pPr>
            <a:r>
              <a:rPr sz="1500" b="1">
                <a:solidFill>
                  <a:srgbClr val="0E72AE"/>
                </a:solidFill>
                <a:latin typeface="Calibri"/>
              </a:rPr>
              <a:t> </a:t>
            </a:r>
          </a:p>
        </p:txBody>
      </p:sp>
      <p:sp>
        <p:nvSpPr>
          <p:cNvPr id="13" name="Rounded Rectangle 12"/>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4" name="Rounded Rectangle 13"/>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5" name="Rounded Rectangle 14"/>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8" name="Rounded Rectangle 17"/>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(Patient Treatment Courses)</a:t>
            </a:r>
          </a:p>
        </p:txBody>
      </p:sp>
      <p:graphicFrame>
        <p:nvGraphicFramePr>
          <p:cNvPr id="20" name="Chart 19"/>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1" name="Rounded Rectangle 20"/>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3" name="Rectangle 22"/>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2037462"/>
            <a:ext cx="3867150" cy="1868952"/>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5" name="Rounded Rectangle 24"/>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7" name="Rectangle 26"/>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6"/>
          <a:stretch>
            <a:fillRect/>
          </a:stretch>
        </p:blipFill>
        <p:spPr>
          <a:xfrm>
            <a:off x="1502569"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45029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75128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10522744" y="1250587"/>
            <a:ext cx="157162" cy="228600"/>
          </a:xfrm>
          <a:prstGeom prst="rect">
            <a:avLst/>
          </a:prstGeom>
        </p:spPr>
      </p:pic>
      <p:pic>
        <p:nvPicPr>
          <p:cNvPr id="34" name="Picture 33" descr="lock.png"/>
          <p:cNvPicPr>
            <a:picLocks noChangeAspect="1"/>
          </p:cNvPicPr>
          <p:nvPr/>
        </p:nvPicPr>
        <p:blipFill>
          <a:blip r:embed="rId6"/>
          <a:stretch>
            <a:fillRect/>
          </a:stretch>
        </p:blipFill>
        <p:spPr>
          <a:xfrm>
            <a:off x="3991062" y="5157531"/>
            <a:ext cx="289830" cy="421571"/>
          </a:xfrm>
          <a:prstGeom prst="rect">
            <a:avLst/>
          </a:prstGeom>
        </p:spPr>
      </p:pic>
      <p:sp>
        <p:nvSpPr>
          <p:cNvPr id="35" name="TextBox 34"/>
          <p:cNvSpPr txBox="1"/>
          <p:nvPr/>
        </p:nvSpPr>
        <p:spPr>
          <a:xfrm>
            <a:off x="8048625" y="2046987"/>
            <a:ext cx="3559695" cy="186689"/>
          </a:xfrm>
          <a:prstGeom prst="rect">
            <a:avLst/>
          </a:prstGeom>
          <a:noFill/>
        </p:spPr>
        <p:txBody>
          <a:bodyPr wrap="none" lIns="0" rIns="0" tIns="0" bIns="0">
            <a:spAutoFit/>
          </a:bodyPr>
          <a:lstStyle/>
          <a:p>
            <a:r>
              <a:rPr sz="1100" b="0">
                <a:solidFill>
                  <a:srgbClr val="2E2E2E"/>
                </a:solidFill>
                <a:latin typeface="Calibri"/>
              </a:rPr>
              <a:t>North America allergy immunotherapy market is projected to</a:t>
            </a:r>
          </a:p>
        </p:txBody>
      </p:sp>
      <p:sp>
        <p:nvSpPr>
          <p:cNvPr id="36" name="TextBox 35"/>
          <p:cNvSpPr txBox="1"/>
          <p:nvPr/>
        </p:nvSpPr>
        <p:spPr>
          <a:xfrm>
            <a:off x="8048625" y="2214627"/>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37" name="Picture 36" descr="lock.png"/>
          <p:cNvPicPr>
            <a:picLocks noChangeAspect="1"/>
          </p:cNvPicPr>
          <p:nvPr/>
        </p:nvPicPr>
        <p:blipFill>
          <a:blip r:embed="rId6"/>
          <a:stretch>
            <a:fillRect/>
          </a:stretch>
        </p:blipFill>
        <p:spPr>
          <a:xfrm>
            <a:off x="8509166" y="2204848"/>
            <a:ext cx="128699" cy="187198"/>
          </a:xfrm>
          <a:prstGeom prst="rect">
            <a:avLst/>
          </a:prstGeom>
        </p:spPr>
      </p:pic>
      <p:sp>
        <p:nvSpPr>
          <p:cNvPr id="38" name="TextBox 37"/>
          <p:cNvSpPr txBox="1"/>
          <p:nvPr/>
        </p:nvSpPr>
        <p:spPr>
          <a:xfrm>
            <a:off x="8676662" y="2214627"/>
            <a:ext cx="2964333"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a:t>
            </a:r>
          </a:p>
        </p:txBody>
      </p:sp>
      <p:sp>
        <p:nvSpPr>
          <p:cNvPr id="39" name="TextBox 38"/>
          <p:cNvSpPr txBox="1"/>
          <p:nvPr/>
        </p:nvSpPr>
        <p:spPr>
          <a:xfrm>
            <a:off x="8048625" y="2382267"/>
            <a:ext cx="3848100" cy="186689"/>
          </a:xfrm>
          <a:prstGeom prst="rect">
            <a:avLst/>
          </a:prstGeom>
          <a:noFill/>
        </p:spPr>
        <p:txBody>
          <a:bodyPr wrap="none" lIns="0" rIns="0" tIns="0" bIns="0">
            <a:spAutoFit/>
          </a:bodyPr>
          <a:lstStyle/>
          <a:p>
            <a:r>
              <a:rPr sz="1100" b="0">
                <a:solidFill>
                  <a:srgbClr val="2E2E2E"/>
                </a:solidFill>
                <a:latin typeface="Calibri"/>
              </a:rPr>
              <a:t>2036. North America allergy immunotherapy market volume stood</a:t>
            </a:r>
          </a:p>
        </p:txBody>
      </p:sp>
      <p:sp>
        <p:nvSpPr>
          <p:cNvPr id="40" name="TextBox 39"/>
          <p:cNvSpPr txBox="1"/>
          <p:nvPr/>
        </p:nvSpPr>
        <p:spPr>
          <a:xfrm>
            <a:off x="8048625" y="2549907"/>
            <a:ext cx="189979" cy="186689"/>
          </a:xfrm>
          <a:prstGeom prst="rect">
            <a:avLst/>
          </a:prstGeom>
          <a:noFill/>
        </p:spPr>
        <p:txBody>
          <a:bodyPr wrap="none" lIns="0" rIns="0" tIns="0" bIns="0">
            <a:spAutoFit/>
          </a:bodyPr>
          <a:lstStyle/>
          <a:p>
            <a:r>
              <a:rPr sz="1100" b="0">
                <a:solidFill>
                  <a:srgbClr val="2E2E2E"/>
                </a:solidFill>
                <a:latin typeface="Calibri"/>
              </a:rPr>
              <a:t>at</a:t>
            </a:r>
          </a:p>
        </p:txBody>
      </p:sp>
      <p:pic>
        <p:nvPicPr>
          <p:cNvPr id="41" name="Picture 40" descr="lock.png"/>
          <p:cNvPicPr>
            <a:picLocks noChangeAspect="1"/>
          </p:cNvPicPr>
          <p:nvPr/>
        </p:nvPicPr>
        <p:blipFill>
          <a:blip r:embed="rId6"/>
          <a:stretch>
            <a:fillRect/>
          </a:stretch>
        </p:blipFill>
        <p:spPr>
          <a:xfrm>
            <a:off x="8186655" y="2540128"/>
            <a:ext cx="128699" cy="187198"/>
          </a:xfrm>
          <a:prstGeom prst="rect">
            <a:avLst/>
          </a:prstGeom>
        </p:spPr>
      </p:pic>
      <p:sp>
        <p:nvSpPr>
          <p:cNvPr id="42" name="TextBox 41"/>
          <p:cNvSpPr txBox="1"/>
          <p:nvPr/>
        </p:nvSpPr>
        <p:spPr>
          <a:xfrm>
            <a:off x="8354151" y="2549907"/>
            <a:ext cx="3470746" cy="186689"/>
          </a:xfrm>
          <a:prstGeom prst="rect">
            <a:avLst/>
          </a:prstGeom>
          <a:noFill/>
        </p:spPr>
        <p:txBody>
          <a:bodyPr wrap="none" lIns="0" rIns="0" tIns="0" bIns="0">
            <a:spAutoFit/>
          </a:bodyPr>
          <a:lstStyle/>
          <a:p>
            <a:r>
              <a:rPr sz="1100" b="0">
                <a:solidFill>
                  <a:srgbClr val="2E2E2E"/>
                </a:solidFill>
                <a:latin typeface="Calibri"/>
              </a:rPr>
              <a:t>Patient Treatment Courses in 2025 and is expected to reach</a:t>
            </a:r>
          </a:p>
        </p:txBody>
      </p:sp>
      <p:pic>
        <p:nvPicPr>
          <p:cNvPr id="43" name="Picture 42" descr="lock.png"/>
          <p:cNvPicPr>
            <a:picLocks noChangeAspect="1"/>
          </p:cNvPicPr>
          <p:nvPr/>
        </p:nvPicPr>
        <p:blipFill>
          <a:blip r:embed="rId6"/>
          <a:stretch>
            <a:fillRect/>
          </a:stretch>
        </p:blipFill>
        <p:spPr>
          <a:xfrm>
            <a:off x="8035157" y="2707768"/>
            <a:ext cx="128699" cy="187198"/>
          </a:xfrm>
          <a:prstGeom prst="rect">
            <a:avLst/>
          </a:prstGeom>
        </p:spPr>
      </p:pic>
      <p:sp>
        <p:nvSpPr>
          <p:cNvPr id="44" name="TextBox 43"/>
          <p:cNvSpPr txBox="1"/>
          <p:nvPr/>
        </p:nvSpPr>
        <p:spPr>
          <a:xfrm>
            <a:off x="8202653" y="2717547"/>
            <a:ext cx="3108109" cy="186689"/>
          </a:xfrm>
          <a:prstGeom prst="rect">
            <a:avLst/>
          </a:prstGeom>
          <a:noFill/>
        </p:spPr>
        <p:txBody>
          <a:bodyPr wrap="none" lIns="0" rIns="0" tIns="0" bIns="0">
            <a:spAutoFit/>
          </a:bodyPr>
          <a:lstStyle/>
          <a:p>
            <a:r>
              <a:rPr sz="1100" b="0">
                <a:solidFill>
                  <a:srgbClr val="2E2E2E"/>
                </a:solidFill>
                <a:latin typeface="Calibri"/>
              </a:rPr>
              <a:t>Patient Treatment Courses by 2036 end, at a CAGR of</a:t>
            </a:r>
          </a:p>
        </p:txBody>
      </p:sp>
      <p:pic>
        <p:nvPicPr>
          <p:cNvPr id="45" name="Picture 44" descr="lock.png"/>
          <p:cNvPicPr>
            <a:picLocks noChangeAspect="1"/>
          </p:cNvPicPr>
          <p:nvPr/>
        </p:nvPicPr>
        <p:blipFill>
          <a:blip r:embed="rId6"/>
          <a:stretch>
            <a:fillRect/>
          </a:stretch>
        </p:blipFill>
        <p:spPr>
          <a:xfrm>
            <a:off x="11258814" y="2707768"/>
            <a:ext cx="128699" cy="187198"/>
          </a:xfrm>
          <a:prstGeom prst="rect">
            <a:avLst/>
          </a:prstGeom>
        </p:spPr>
      </p:pic>
      <p:sp>
        <p:nvSpPr>
          <p:cNvPr id="46" name="TextBox 45"/>
          <p:cNvSpPr txBox="1"/>
          <p:nvPr/>
        </p:nvSpPr>
        <p:spPr>
          <a:xfrm>
            <a:off x="11426310"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7" name="TextBox 46"/>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8" name="TextBox 47"/>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9" name="TextBox 48"/>
          <p:cNvSpPr txBox="1"/>
          <p:nvPr/>
        </p:nvSpPr>
        <p:spPr>
          <a:xfrm>
            <a:off x="8048625" y="4456475"/>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50" name="Picture 49" descr="lock.png"/>
          <p:cNvPicPr>
            <a:picLocks noChangeAspect="1"/>
          </p:cNvPicPr>
          <p:nvPr/>
        </p:nvPicPr>
        <p:blipFill>
          <a:blip r:embed="rId6"/>
          <a:stretch>
            <a:fillRect/>
          </a:stretch>
        </p:blipFill>
        <p:spPr>
          <a:xfrm>
            <a:off x="10136079" y="4446251"/>
            <a:ext cx="134549" cy="195707"/>
          </a:xfrm>
          <a:prstGeom prst="rect">
            <a:avLst/>
          </a:prstGeom>
        </p:spPr>
      </p:pic>
      <p:sp>
        <p:nvSpPr>
          <p:cNvPr id="51" name="TextBox 50"/>
          <p:cNvSpPr txBox="1"/>
          <p:nvPr/>
        </p:nvSpPr>
        <p:spPr>
          <a:xfrm>
            <a:off x="10311188"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2" name="TextBox 51"/>
          <p:cNvSpPr txBox="1"/>
          <p:nvPr/>
        </p:nvSpPr>
        <p:spPr>
          <a:xfrm>
            <a:off x="8048625" y="4684312"/>
            <a:ext cx="3681238" cy="194310"/>
          </a:xfrm>
          <a:prstGeom prst="rect">
            <a:avLst/>
          </a:prstGeom>
          <a:noFill/>
        </p:spPr>
        <p:txBody>
          <a:bodyPr wrap="none" lIns="0" rIns="0" tIns="0" bIns="0">
            <a:spAutoFit/>
          </a:bodyPr>
          <a:lstStyle/>
          <a:p>
            <a:r>
              <a:rPr sz="1150" b="0">
                <a:solidFill>
                  <a:srgbClr val="2E2E2E"/>
                </a:solidFill>
                <a:latin typeface="Calibri"/>
              </a:rPr>
              <a:t>▪ Demand concentrates in 'Sublingual Immunotherapy (SLIT)'</a:t>
            </a:r>
          </a:p>
        </p:txBody>
      </p:sp>
      <p:sp>
        <p:nvSpPr>
          <p:cNvPr id="53" name="TextBox 52"/>
          <p:cNvSpPr txBox="1"/>
          <p:nvPr/>
        </p:nvSpPr>
        <p:spPr>
          <a:xfrm>
            <a:off x="8048625" y="4859572"/>
            <a:ext cx="1468778" cy="194310"/>
          </a:xfrm>
          <a:prstGeom prst="rect">
            <a:avLst/>
          </a:prstGeom>
          <a:noFill/>
        </p:spPr>
        <p:txBody>
          <a:bodyPr wrap="none" lIns="0" rIns="0" tIns="0" bIns="0">
            <a:spAutoFit/>
          </a:bodyPr>
          <a:lstStyle/>
          <a:p>
            <a:r>
              <a:rPr sz="1150" b="0">
                <a:solidFill>
                  <a:srgbClr val="2E2E2E"/>
                </a:solidFill>
                <a:latin typeface="Calibri"/>
              </a:rPr>
              <a:t>within Therapy Format.</a:t>
            </a:r>
          </a:p>
        </p:txBody>
      </p:sp>
      <p:sp>
        <p:nvSpPr>
          <p:cNvPr id="54" name="TextBox 53"/>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5" name="TextBox 54"/>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6" name="lockshield_17"/>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20"/>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Allergy Immunotherapy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Therapy Format  ·  range across 2021–2036 (US$/Patient Treatment Courses)</a:t>
            </a:r>
          </a:p>
        </p:txBody>
      </p:sp>
      <p:cxnSp>
        <p:nvCxnSpPr>
          <p:cNvPr id="13" name="Connector 12"/>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57225" y="1452945"/>
            <a:ext cx="0" cy="18839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33369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8659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23949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92394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4" name="FMI Scale tick"/>
          <p:cNvSpPr txBox="1"/>
          <p:nvPr/>
        </p:nvSpPr>
        <p:spPr>
          <a:xfrm>
            <a:off x="219075" y="327026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5" name="FMI Scale tick"/>
          <p:cNvSpPr txBox="1"/>
          <p:nvPr/>
        </p:nvSpPr>
        <p:spPr>
          <a:xfrm>
            <a:off x="219075" y="232826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6"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7" name="Connector 26"/>
          <p:cNvCxnSpPr/>
          <p:nvPr/>
        </p:nvCxnSpPr>
        <p:spPr>
          <a:xfrm flipV="1">
            <a:off x="1825625" y="1670329"/>
            <a:ext cx="0" cy="67571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694180" y="234604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6941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606550" y="1853170"/>
            <a:ext cx="438150" cy="33733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606550" y="2026382"/>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7225" y="1517929"/>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3" name="Connector 32"/>
          <p:cNvCxnSpPr/>
          <p:nvPr/>
        </p:nvCxnSpPr>
        <p:spPr>
          <a:xfrm flipV="1">
            <a:off x="4162425" y="2591417"/>
            <a:ext cx="0" cy="52813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0309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0980" y="259141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3943350" y="2734274"/>
            <a:ext cx="438150" cy="263659"/>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3943350" y="286964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94025" y="2439017"/>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9" name="Connector 38"/>
          <p:cNvCxnSpPr/>
          <p:nvPr/>
        </p:nvCxnSpPr>
        <p:spPr>
          <a:xfrm flipV="1">
            <a:off x="6499225" y="2207111"/>
            <a:ext cx="0" cy="57542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367780" y="278253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367780" y="220711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6280150" y="2362833"/>
            <a:ext cx="438150" cy="287289"/>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6280150" y="251036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330825" y="2054711"/>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45" name="TextBox 44"/>
          <p:cNvSpPr txBox="1"/>
          <p:nvPr/>
        </p:nvSpPr>
        <p:spPr>
          <a:xfrm>
            <a:off x="6572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Subcutaneous Immunoth…</a:t>
            </a:r>
          </a:p>
        </p:txBody>
      </p:sp>
      <p:sp>
        <p:nvSpPr>
          <p:cNvPr id="46" name="TextBox 45"/>
          <p:cNvSpPr txBox="1"/>
          <p:nvPr/>
        </p:nvSpPr>
        <p:spPr>
          <a:xfrm>
            <a:off x="29940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Sublingual Immunother…</a:t>
            </a:r>
          </a:p>
        </p:txBody>
      </p:sp>
      <p:sp>
        <p:nvSpPr>
          <p:cNvPr id="47" name="TextBox 46"/>
          <p:cNvSpPr txBox="1"/>
          <p:nvPr/>
        </p:nvSpPr>
        <p:spPr>
          <a:xfrm>
            <a:off x="5330825" y="3365510"/>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Oral Immunotherapy</a:t>
            </a:r>
          </a:p>
        </p:txBody>
      </p:sp>
      <p:sp>
        <p:nvSpPr>
          <p:cNvPr id="48" name="Rounded Rectangle 47"/>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North America  ·  2026–2036</a:t>
            </a:r>
          </a:p>
        </p:txBody>
      </p:sp>
      <p:cxnSp>
        <p:nvCxnSpPr>
          <p:cNvPr id="50" name="Connector 49"/>
          <p:cNvCxnSpPr/>
          <p:nvPr/>
        </p:nvCxnSpPr>
        <p:spPr>
          <a:xfrm>
            <a:off x="619125" y="433114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19125" y="476213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19125" y="562410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19125" y="605508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19125" y="4331147"/>
            <a:ext cx="0" cy="1723938"/>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550" y="433114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90550" y="476213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90550" y="51931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90550" y="562410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90550" y="605508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61" name="FMI Scale tick"/>
          <p:cNvSpPr txBox="1"/>
          <p:nvPr/>
        </p:nvSpPr>
        <p:spPr>
          <a:xfrm>
            <a:off x="138112" y="4264472"/>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sp>
        <p:nvSpPr>
          <p:cNvPr id="62" name="FMI Scale tick"/>
          <p:cNvSpPr txBox="1"/>
          <p:nvPr/>
        </p:nvSpPr>
        <p:spPr>
          <a:xfrm>
            <a:off x="138112" y="4695456"/>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63"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C7A89"/>
                </a:solidFill>
                <a:latin typeface="Calibri"/>
              </a:rPr>
              <a:t>North America</a:t>
            </a:r>
          </a:p>
        </p:txBody>
      </p:sp>
      <p:sp>
        <p:nvSpPr>
          <p:cNvPr id="64" name="FMI Scale tick"/>
          <p:cNvSpPr txBox="1"/>
          <p:nvPr/>
        </p:nvSpPr>
        <p:spPr>
          <a:xfrm>
            <a:off x="164306" y="5557425"/>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65" name="FMI Scale tick"/>
          <p:cNvSpPr txBox="1"/>
          <p:nvPr/>
        </p:nvSpPr>
        <p:spPr>
          <a:xfrm>
            <a:off x="164306" y="5988410"/>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cxnSp>
        <p:nvCxnSpPr>
          <p:cNvPr id="66" name="Connector 65"/>
          <p:cNvCxnSpPr/>
          <p:nvPr/>
        </p:nvCxnSpPr>
        <p:spPr>
          <a:xfrm>
            <a:off x="619125" y="519311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2152650" y="5193116"/>
            <a:ext cx="457200" cy="33340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MI Data Label"/>
          <p:cNvSpPr txBox="1"/>
          <p:nvPr/>
        </p:nvSpPr>
        <p:spPr>
          <a:xfrm>
            <a:off x="619125" y="5536045"/>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9" name="Rectangle 68"/>
          <p:cNvSpPr/>
          <p:nvPr/>
        </p:nvSpPr>
        <p:spPr>
          <a:xfrm>
            <a:off x="5676900" y="4437287"/>
            <a:ext cx="457200" cy="75582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MI Data Label"/>
          <p:cNvSpPr txBox="1"/>
          <p:nvPr/>
        </p:nvSpPr>
        <p:spPr>
          <a:xfrm>
            <a:off x="4143375" y="4294412"/>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1" name="TextBox 70"/>
          <p:cNvSpPr txBox="1"/>
          <p:nvPr/>
        </p:nvSpPr>
        <p:spPr>
          <a:xfrm>
            <a:off x="61912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U.S.</a:t>
            </a:r>
          </a:p>
        </p:txBody>
      </p:sp>
      <p:sp>
        <p:nvSpPr>
          <p:cNvPr id="72" name="TextBox 71"/>
          <p:cNvSpPr txBox="1"/>
          <p:nvPr/>
        </p:nvSpPr>
        <p:spPr>
          <a:xfrm>
            <a:off x="414337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Canada</a:t>
            </a:r>
          </a:p>
        </p:txBody>
      </p:sp>
      <p:sp>
        <p:nvSpPr>
          <p:cNvPr id="73" name="Rounded Rectangle 72"/>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75" name="Rectangle 74"/>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7" name="TextBox 7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8" name="Picture 77" descr="lock.png"/>
          <p:cNvPicPr>
            <a:picLocks noChangeAspect="1"/>
          </p:cNvPicPr>
          <p:nvPr/>
        </p:nvPicPr>
        <p:blipFill>
          <a:blip r:embed="rId4"/>
          <a:stretch>
            <a:fillRect/>
          </a:stretch>
        </p:blipFill>
        <p:spPr>
          <a:xfrm>
            <a:off x="1761275" y="1491005"/>
            <a:ext cx="128699" cy="187198"/>
          </a:xfrm>
          <a:prstGeom prst="rect">
            <a:avLst/>
          </a:prstGeom>
        </p:spPr>
      </p:pic>
      <p:pic>
        <p:nvPicPr>
          <p:cNvPr id="79" name="Picture 78" descr="lock.png"/>
          <p:cNvPicPr>
            <a:picLocks noChangeAspect="1"/>
          </p:cNvPicPr>
          <p:nvPr/>
        </p:nvPicPr>
        <p:blipFill>
          <a:blip r:embed="rId4"/>
          <a:stretch>
            <a:fillRect/>
          </a:stretch>
        </p:blipFill>
        <p:spPr>
          <a:xfrm>
            <a:off x="4098075" y="2412093"/>
            <a:ext cx="128699" cy="187198"/>
          </a:xfrm>
          <a:prstGeom prst="rect">
            <a:avLst/>
          </a:prstGeom>
        </p:spPr>
      </p:pic>
      <p:pic>
        <p:nvPicPr>
          <p:cNvPr id="80" name="Picture 79" descr="lock.png"/>
          <p:cNvPicPr>
            <a:picLocks noChangeAspect="1"/>
          </p:cNvPicPr>
          <p:nvPr/>
        </p:nvPicPr>
        <p:blipFill>
          <a:blip r:embed="rId4"/>
          <a:stretch>
            <a:fillRect/>
          </a:stretch>
        </p:blipFill>
        <p:spPr>
          <a:xfrm>
            <a:off x="6434875" y="2027787"/>
            <a:ext cx="128699" cy="187198"/>
          </a:xfrm>
          <a:prstGeom prst="rect">
            <a:avLst/>
          </a:prstGeom>
        </p:spPr>
      </p:pic>
      <p:pic>
        <p:nvPicPr>
          <p:cNvPr id="81" name="Picture 80" descr="lock.png"/>
          <p:cNvPicPr>
            <a:picLocks noChangeAspect="1"/>
          </p:cNvPicPr>
          <p:nvPr/>
        </p:nvPicPr>
        <p:blipFill>
          <a:blip r:embed="rId4"/>
          <a:stretch>
            <a:fillRect/>
          </a:stretch>
        </p:blipFill>
        <p:spPr>
          <a:xfrm>
            <a:off x="2316900" y="5509120"/>
            <a:ext cx="128699" cy="187198"/>
          </a:xfrm>
          <a:prstGeom prst="rect">
            <a:avLst/>
          </a:prstGeom>
        </p:spPr>
      </p:pic>
      <p:pic>
        <p:nvPicPr>
          <p:cNvPr id="82" name="Picture 81" descr="lock.png"/>
          <p:cNvPicPr>
            <a:picLocks noChangeAspect="1"/>
          </p:cNvPicPr>
          <p:nvPr/>
        </p:nvPicPr>
        <p:blipFill>
          <a:blip r:embed="rId4"/>
          <a:stretch>
            <a:fillRect/>
          </a:stretch>
        </p:blipFill>
        <p:spPr>
          <a:xfrm>
            <a:off x="5841150" y="4267488"/>
            <a:ext cx="128699" cy="187198"/>
          </a:xfrm>
          <a:prstGeom prst="rect">
            <a:avLst/>
          </a:prstGeom>
        </p:spPr>
      </p:pic>
      <p:sp>
        <p:nvSpPr>
          <p:cNvPr id="83" name="TextBox 82"/>
          <p:cNvSpPr txBox="1"/>
          <p:nvPr/>
        </p:nvSpPr>
        <p:spPr>
          <a:xfrm>
            <a:off x="8048625" y="1471995"/>
            <a:ext cx="3690937" cy="194310"/>
          </a:xfrm>
          <a:prstGeom prst="rect">
            <a:avLst/>
          </a:prstGeom>
          <a:noFill/>
        </p:spPr>
        <p:txBody>
          <a:bodyPr wrap="none" lIns="0" rIns="0" tIns="0" bIns="0">
            <a:spAutoFit/>
          </a:bodyPr>
          <a:lstStyle/>
          <a:p>
            <a:r>
              <a:rPr sz="1150" b="0">
                <a:solidFill>
                  <a:srgbClr val="2E2E2E"/>
                </a:solidFill>
                <a:latin typeface="Calibri"/>
              </a:rPr>
              <a:t>Subcutaneous immunotherapy (SCIT) segment is expected to</a:t>
            </a:r>
          </a:p>
        </p:txBody>
      </p:sp>
      <p:sp>
        <p:nvSpPr>
          <p:cNvPr id="84" name="TextBox 83"/>
          <p:cNvSpPr txBox="1"/>
          <p:nvPr/>
        </p:nvSpPr>
        <p:spPr>
          <a:xfrm>
            <a:off x="8048625" y="1647255"/>
            <a:ext cx="2627225" cy="194310"/>
          </a:xfrm>
          <a:prstGeom prst="rect">
            <a:avLst/>
          </a:prstGeom>
          <a:noFill/>
        </p:spPr>
        <p:txBody>
          <a:bodyPr wrap="none" lIns="0" rIns="0" tIns="0" bIns="0">
            <a:spAutoFit/>
          </a:bodyPr>
          <a:lstStyle/>
          <a:p>
            <a:r>
              <a:rPr sz="1150" b="0">
                <a:solidFill>
                  <a:srgbClr val="2E2E2E"/>
                </a:solidFill>
                <a:latin typeface="Calibri"/>
              </a:rPr>
              <a:t>command the highest average price of US$</a:t>
            </a:r>
          </a:p>
        </p:txBody>
      </p:sp>
      <p:pic>
        <p:nvPicPr>
          <p:cNvPr id="85" name="Picture 84" descr="lock.png"/>
          <p:cNvPicPr>
            <a:picLocks noChangeAspect="1"/>
          </p:cNvPicPr>
          <p:nvPr/>
        </p:nvPicPr>
        <p:blipFill>
          <a:blip r:embed="rId4"/>
          <a:stretch>
            <a:fillRect/>
          </a:stretch>
        </p:blipFill>
        <p:spPr>
          <a:xfrm>
            <a:off x="10625004" y="1637031"/>
            <a:ext cx="134549" cy="195707"/>
          </a:xfrm>
          <a:prstGeom prst="rect">
            <a:avLst/>
          </a:prstGeom>
        </p:spPr>
      </p:pic>
      <p:sp>
        <p:nvSpPr>
          <p:cNvPr id="86" name="TextBox 85"/>
          <p:cNvSpPr txBox="1"/>
          <p:nvPr/>
        </p:nvSpPr>
        <p:spPr>
          <a:xfrm>
            <a:off x="10800113" y="1647255"/>
            <a:ext cx="736562" cy="194310"/>
          </a:xfrm>
          <a:prstGeom prst="rect">
            <a:avLst/>
          </a:prstGeom>
          <a:noFill/>
        </p:spPr>
        <p:txBody>
          <a:bodyPr wrap="none" lIns="0" rIns="0" tIns="0" bIns="0">
            <a:spAutoFit/>
          </a:bodyPr>
          <a:lstStyle/>
          <a:p>
            <a:r>
              <a:rPr sz="1150" b="0">
                <a:solidFill>
                  <a:srgbClr val="2E2E2E"/>
                </a:solidFill>
                <a:latin typeface="Calibri"/>
              </a:rPr>
              <a:t>per Patient</a:t>
            </a:r>
          </a:p>
        </p:txBody>
      </p:sp>
      <p:sp>
        <p:nvSpPr>
          <p:cNvPr id="87" name="TextBox 86"/>
          <p:cNvSpPr txBox="1"/>
          <p:nvPr/>
        </p:nvSpPr>
        <p:spPr>
          <a:xfrm>
            <a:off x="8048625" y="1822515"/>
            <a:ext cx="3501774" cy="194310"/>
          </a:xfrm>
          <a:prstGeom prst="rect">
            <a:avLst/>
          </a:prstGeom>
          <a:noFill/>
        </p:spPr>
        <p:txBody>
          <a:bodyPr wrap="none" lIns="0" rIns="0" tIns="0" bIns="0">
            <a:spAutoFit/>
          </a:bodyPr>
          <a:lstStyle/>
          <a:p>
            <a:r>
              <a:rPr sz="1150" b="0">
                <a:solidFill>
                  <a:srgbClr val="2E2E2E"/>
                </a:solidFill>
                <a:latin typeface="Calibri"/>
              </a:rPr>
              <a:t>Treatment Course in 2036. Average selling price of allergy</a:t>
            </a:r>
          </a:p>
        </p:txBody>
      </p:sp>
      <p:sp>
        <p:nvSpPr>
          <p:cNvPr id="88" name="TextBox 87"/>
          <p:cNvSpPr txBox="1"/>
          <p:nvPr/>
        </p:nvSpPr>
        <p:spPr>
          <a:xfrm>
            <a:off x="8048625" y="1997775"/>
            <a:ext cx="2210754" cy="194310"/>
          </a:xfrm>
          <a:prstGeom prst="rect">
            <a:avLst/>
          </a:prstGeom>
          <a:noFill/>
        </p:spPr>
        <p:txBody>
          <a:bodyPr wrap="none" lIns="0" rIns="0" tIns="0" bIns="0">
            <a:spAutoFit/>
          </a:bodyPr>
          <a:lstStyle/>
          <a:p>
            <a:r>
              <a:rPr sz="1150" b="0">
                <a:solidFill>
                  <a:srgbClr val="2E2E2E"/>
                </a:solidFill>
                <a:latin typeface="Calibri"/>
              </a:rPr>
              <a:t>immunotherapy is estimated at US$</a:t>
            </a:r>
          </a:p>
        </p:txBody>
      </p:sp>
      <p:pic>
        <p:nvPicPr>
          <p:cNvPr id="89" name="Picture 88" descr="lock.png"/>
          <p:cNvPicPr>
            <a:picLocks noChangeAspect="1"/>
          </p:cNvPicPr>
          <p:nvPr/>
        </p:nvPicPr>
        <p:blipFill>
          <a:blip r:embed="rId4"/>
          <a:stretch>
            <a:fillRect/>
          </a:stretch>
        </p:blipFill>
        <p:spPr>
          <a:xfrm>
            <a:off x="10208533" y="1987551"/>
            <a:ext cx="134549" cy="195707"/>
          </a:xfrm>
          <a:prstGeom prst="rect">
            <a:avLst/>
          </a:prstGeom>
        </p:spPr>
      </p:pic>
      <p:sp>
        <p:nvSpPr>
          <p:cNvPr id="90" name="TextBox 89"/>
          <p:cNvSpPr txBox="1"/>
          <p:nvPr/>
        </p:nvSpPr>
        <p:spPr>
          <a:xfrm>
            <a:off x="10383643" y="1997775"/>
            <a:ext cx="1398922" cy="194310"/>
          </a:xfrm>
          <a:prstGeom prst="rect">
            <a:avLst/>
          </a:prstGeom>
          <a:noFill/>
        </p:spPr>
        <p:txBody>
          <a:bodyPr wrap="none" lIns="0" rIns="0" tIns="0" bIns="0">
            <a:spAutoFit/>
          </a:bodyPr>
          <a:lstStyle/>
          <a:p>
            <a:r>
              <a:rPr sz="1150" b="0">
                <a:solidFill>
                  <a:srgbClr val="2E2E2E"/>
                </a:solidFill>
                <a:latin typeface="Calibri"/>
              </a:rPr>
              <a:t>per Patient Treatment</a:t>
            </a:r>
          </a:p>
        </p:txBody>
      </p:sp>
      <p:sp>
        <p:nvSpPr>
          <p:cNvPr id="91" name="TextBox 90"/>
          <p:cNvSpPr txBox="1"/>
          <p:nvPr/>
        </p:nvSpPr>
        <p:spPr>
          <a:xfrm>
            <a:off x="8048625" y="2173035"/>
            <a:ext cx="3063664" cy="194310"/>
          </a:xfrm>
          <a:prstGeom prst="rect">
            <a:avLst/>
          </a:prstGeom>
          <a:noFill/>
        </p:spPr>
        <p:txBody>
          <a:bodyPr wrap="none" lIns="0" rIns="0" tIns="0" bIns="0">
            <a:spAutoFit/>
          </a:bodyPr>
          <a:lstStyle/>
          <a:p>
            <a:r>
              <a:rPr sz="1150" b="0">
                <a:solidFill>
                  <a:srgbClr val="2E2E2E"/>
                </a:solidFill>
                <a:latin typeface="Calibri"/>
              </a:rPr>
              <a:t>Course in 2025 and is projected to increase to US$</a:t>
            </a:r>
          </a:p>
        </p:txBody>
      </p:sp>
      <p:pic>
        <p:nvPicPr>
          <p:cNvPr id="92" name="Picture 91" descr="lock.png"/>
          <p:cNvPicPr>
            <a:picLocks noChangeAspect="1"/>
          </p:cNvPicPr>
          <p:nvPr/>
        </p:nvPicPr>
        <p:blipFill>
          <a:blip r:embed="rId4"/>
          <a:stretch>
            <a:fillRect/>
          </a:stretch>
        </p:blipFill>
        <p:spPr>
          <a:xfrm>
            <a:off x="11061443" y="2162811"/>
            <a:ext cx="134549" cy="195707"/>
          </a:xfrm>
          <a:prstGeom prst="rect">
            <a:avLst/>
          </a:prstGeom>
        </p:spPr>
      </p:pic>
      <p:sp>
        <p:nvSpPr>
          <p:cNvPr id="93" name="TextBox 92"/>
          <p:cNvSpPr txBox="1"/>
          <p:nvPr/>
        </p:nvSpPr>
        <p:spPr>
          <a:xfrm>
            <a:off x="11236552" y="217303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94" name="TextBox 93"/>
          <p:cNvSpPr txBox="1"/>
          <p:nvPr/>
        </p:nvSpPr>
        <p:spPr>
          <a:xfrm>
            <a:off x="8048625" y="2348295"/>
            <a:ext cx="2153418" cy="194310"/>
          </a:xfrm>
          <a:prstGeom prst="rect">
            <a:avLst/>
          </a:prstGeom>
          <a:noFill/>
        </p:spPr>
        <p:txBody>
          <a:bodyPr wrap="none" lIns="0" rIns="0" tIns="0" bIns="0">
            <a:spAutoFit/>
          </a:bodyPr>
          <a:lstStyle/>
          <a:p>
            <a:r>
              <a:rPr sz="1150" b="0">
                <a:solidFill>
                  <a:srgbClr val="2E2E2E"/>
                </a:solidFill>
                <a:latin typeface="Calibri"/>
              </a:rPr>
              <a:t>Patient Treatment Course by 2036.</a:t>
            </a:r>
          </a:p>
        </p:txBody>
      </p:sp>
      <p:sp>
        <p:nvSpPr>
          <p:cNvPr id="95" name="TextBox 94"/>
          <p:cNvSpPr txBox="1"/>
          <p:nvPr/>
        </p:nvSpPr>
        <p:spPr>
          <a:xfrm>
            <a:off x="8048625" y="2576133"/>
            <a:ext cx="3596518" cy="194310"/>
          </a:xfrm>
          <a:prstGeom prst="rect">
            <a:avLst/>
          </a:prstGeom>
          <a:noFill/>
        </p:spPr>
        <p:txBody>
          <a:bodyPr wrap="none" lIns="0" rIns="0" tIns="0" bIns="0">
            <a:spAutoFit/>
          </a:bodyPr>
          <a:lstStyle/>
          <a:p>
            <a:r>
              <a:rPr sz="1150" b="0">
                <a:solidFill>
                  <a:srgbClr val="2E2E2E"/>
                </a:solidFill>
                <a:latin typeface="Calibri"/>
              </a:rPr>
              <a:t>Canada is the highest-priced country, while U.S. is the most</a:t>
            </a:r>
          </a:p>
        </p:txBody>
      </p:sp>
      <p:sp>
        <p:nvSpPr>
          <p:cNvPr id="96" name="TextBox 95"/>
          <p:cNvSpPr txBox="1"/>
          <p:nvPr/>
        </p:nvSpPr>
        <p:spPr>
          <a:xfrm>
            <a:off x="8048625" y="2751393"/>
            <a:ext cx="3714898" cy="194310"/>
          </a:xfrm>
          <a:prstGeom prst="rect">
            <a:avLst/>
          </a:prstGeom>
          <a:noFill/>
        </p:spPr>
        <p:txBody>
          <a:bodyPr wrap="none" lIns="0" rIns="0" tIns="0" bIns="0">
            <a:spAutoFit/>
          </a:bodyPr>
          <a:lstStyle/>
          <a:p>
            <a:r>
              <a:rPr sz="1150" b="0">
                <a:solidFill>
                  <a:srgbClr val="2E2E2E"/>
                </a:solidFill>
                <a:latin typeface="Calibri"/>
              </a:rPr>
              <a:t>price-competitive market. Against the North America price of</a:t>
            </a:r>
          </a:p>
        </p:txBody>
      </p:sp>
      <p:pic>
        <p:nvPicPr>
          <p:cNvPr id="97" name="Picture 96" descr="lock.png"/>
          <p:cNvPicPr>
            <a:picLocks noChangeAspect="1"/>
          </p:cNvPicPr>
          <p:nvPr/>
        </p:nvPicPr>
        <p:blipFill>
          <a:blip r:embed="rId4"/>
          <a:stretch>
            <a:fillRect/>
          </a:stretch>
        </p:blipFill>
        <p:spPr>
          <a:xfrm>
            <a:off x="8034545" y="2916429"/>
            <a:ext cx="134549" cy="195707"/>
          </a:xfrm>
          <a:prstGeom prst="rect">
            <a:avLst/>
          </a:prstGeom>
        </p:spPr>
      </p:pic>
      <p:sp>
        <p:nvSpPr>
          <p:cNvPr id="98" name="TextBox 97"/>
          <p:cNvSpPr txBox="1"/>
          <p:nvPr/>
        </p:nvSpPr>
        <p:spPr>
          <a:xfrm>
            <a:off x="8209654" y="2926653"/>
            <a:ext cx="3283309" cy="194310"/>
          </a:xfrm>
          <a:prstGeom prst="rect">
            <a:avLst/>
          </a:prstGeom>
          <a:noFill/>
        </p:spPr>
        <p:txBody>
          <a:bodyPr wrap="none" lIns="0" rIns="0" tIns="0" bIns="0">
            <a:spAutoFit/>
          </a:bodyPr>
          <a:lstStyle/>
          <a:p>
            <a:r>
              <a:rPr sz="1150" b="0">
                <a:solidFill>
                  <a:srgbClr val="2E2E2E"/>
                </a:solidFill>
                <a:latin typeface="Calibri"/>
              </a:rPr>
              <a:t>US$/Patient Treatment Courses, 1 of 2 countries price</a:t>
            </a:r>
          </a:p>
        </p:txBody>
      </p:sp>
      <p:sp>
        <p:nvSpPr>
          <p:cNvPr id="99" name="TextBox 98"/>
          <p:cNvSpPr txBox="1"/>
          <p:nvPr/>
        </p:nvSpPr>
        <p:spPr>
          <a:xfrm>
            <a:off x="8048625" y="3101912"/>
            <a:ext cx="1236612" cy="194310"/>
          </a:xfrm>
          <a:prstGeom prst="rect">
            <a:avLst/>
          </a:prstGeom>
          <a:noFill/>
        </p:spPr>
        <p:txBody>
          <a:bodyPr wrap="none" lIns="0" rIns="0" tIns="0" bIns="0">
            <a:spAutoFit/>
          </a:bodyPr>
          <a:lstStyle/>
          <a:p>
            <a:r>
              <a:rPr sz="1150" b="0">
                <a:solidFill>
                  <a:srgbClr val="2E2E2E"/>
                </a:solidFill>
                <a:latin typeface="Calibri"/>
              </a:rPr>
              <a:t>above and 1 below.</a:t>
            </a:r>
          </a:p>
        </p:txBody>
      </p:sp>
      <p:sp>
        <p:nvSpPr>
          <p:cNvPr id="100" name="TextBox 99"/>
          <p:cNvSpPr txBox="1"/>
          <p:nvPr/>
        </p:nvSpPr>
        <p:spPr>
          <a:xfrm>
            <a:off x="8048625" y="3329750"/>
            <a:ext cx="1677330" cy="194310"/>
          </a:xfrm>
          <a:prstGeom prst="rect">
            <a:avLst/>
          </a:prstGeom>
          <a:noFill/>
        </p:spPr>
        <p:txBody>
          <a:bodyPr wrap="none" lIns="0" rIns="0" tIns="0" bIns="0">
            <a:spAutoFit/>
          </a:bodyPr>
          <a:lstStyle/>
          <a:p>
            <a:r>
              <a:rPr sz="1150" b="0">
                <a:solidFill>
                  <a:srgbClr val="2E2E2E"/>
                </a:solidFill>
                <a:latin typeface="Calibri"/>
              </a:rPr>
              <a:t>'Canada' is the dearest at +</a:t>
            </a:r>
          </a:p>
        </p:txBody>
      </p:sp>
      <p:pic>
        <p:nvPicPr>
          <p:cNvPr id="101" name="Picture 100" descr="lock.png"/>
          <p:cNvPicPr>
            <a:picLocks noChangeAspect="1"/>
          </p:cNvPicPr>
          <p:nvPr/>
        </p:nvPicPr>
        <p:blipFill>
          <a:blip r:embed="rId4"/>
          <a:stretch>
            <a:fillRect/>
          </a:stretch>
        </p:blipFill>
        <p:spPr>
          <a:xfrm>
            <a:off x="9675109" y="3319527"/>
            <a:ext cx="134549" cy="195707"/>
          </a:xfrm>
          <a:prstGeom prst="rect">
            <a:avLst/>
          </a:prstGeom>
        </p:spPr>
      </p:pic>
      <p:sp>
        <p:nvSpPr>
          <p:cNvPr id="102" name="TextBox 101"/>
          <p:cNvSpPr txBox="1"/>
          <p:nvPr/>
        </p:nvSpPr>
        <p:spPr>
          <a:xfrm>
            <a:off x="9850218" y="3329750"/>
            <a:ext cx="1961728" cy="194310"/>
          </a:xfrm>
          <a:prstGeom prst="rect">
            <a:avLst/>
          </a:prstGeom>
          <a:noFill/>
        </p:spPr>
        <p:txBody>
          <a:bodyPr wrap="none" lIns="0" rIns="0" tIns="0" bIns="0">
            <a:spAutoFit/>
          </a:bodyPr>
          <a:lstStyle/>
          <a:p>
            <a:r>
              <a:rPr sz="1150" b="0">
                <a:solidFill>
                  <a:srgbClr val="2E2E2E"/>
                </a:solidFill>
                <a:latin typeface="Calibri"/>
              </a:rPr>
              <a:t>versus North America, 'U.S.' the</a:t>
            </a:r>
          </a:p>
        </p:txBody>
      </p:sp>
      <p:sp>
        <p:nvSpPr>
          <p:cNvPr id="103" name="TextBox 102"/>
          <p:cNvSpPr txBox="1"/>
          <p:nvPr/>
        </p:nvSpPr>
        <p:spPr>
          <a:xfrm>
            <a:off x="8048625" y="3505010"/>
            <a:ext cx="842962" cy="194310"/>
          </a:xfrm>
          <a:prstGeom prst="rect">
            <a:avLst/>
          </a:prstGeom>
          <a:noFill/>
        </p:spPr>
        <p:txBody>
          <a:bodyPr wrap="none" lIns="0" rIns="0" tIns="0" bIns="0">
            <a:spAutoFit/>
          </a:bodyPr>
          <a:lstStyle/>
          <a:p>
            <a:r>
              <a:rPr sz="1150" b="0">
                <a:solidFill>
                  <a:srgbClr val="2E2E2E"/>
                </a:solidFill>
                <a:latin typeface="Calibri"/>
              </a:rPr>
              <a:t>cheapest at -</a:t>
            </a:r>
          </a:p>
        </p:txBody>
      </p:sp>
      <p:pic>
        <p:nvPicPr>
          <p:cNvPr id="104" name="Picture 103" descr="lock.png"/>
          <p:cNvPicPr>
            <a:picLocks noChangeAspect="1"/>
          </p:cNvPicPr>
          <p:nvPr/>
        </p:nvPicPr>
        <p:blipFill>
          <a:blip r:embed="rId4"/>
          <a:stretch>
            <a:fillRect/>
          </a:stretch>
        </p:blipFill>
        <p:spPr>
          <a:xfrm>
            <a:off x="8840741" y="3494787"/>
            <a:ext cx="134549" cy="195707"/>
          </a:xfrm>
          <a:prstGeom prst="rect">
            <a:avLst/>
          </a:prstGeom>
        </p:spPr>
      </p:pic>
      <p:sp>
        <p:nvSpPr>
          <p:cNvPr id="105" name="TextBox 104"/>
          <p:cNvSpPr txBox="1"/>
          <p:nvPr/>
        </p:nvSpPr>
        <p:spPr>
          <a:xfrm>
            <a:off x="9015850" y="3505010"/>
            <a:ext cx="2728205" cy="194310"/>
          </a:xfrm>
          <a:prstGeom prst="rect">
            <a:avLst/>
          </a:prstGeom>
          <a:noFill/>
        </p:spPr>
        <p:txBody>
          <a:bodyPr wrap="none" lIns="0" rIns="0" tIns="0" bIns="0">
            <a:spAutoFit/>
          </a:bodyPr>
          <a:lstStyle/>
          <a:p>
            <a:r>
              <a:rPr sz="1150" b="0">
                <a:solidFill>
                  <a:srgbClr val="2E2E2E"/>
                </a:solidFill>
                <a:latin typeface="Calibri"/>
              </a:rPr>
              <a:t>pointing to premiumisation headroom in the</a:t>
            </a:r>
          </a:p>
        </p:txBody>
      </p:sp>
      <p:sp>
        <p:nvSpPr>
          <p:cNvPr id="106" name="TextBox 105"/>
          <p:cNvSpPr txBox="1"/>
          <p:nvPr/>
        </p:nvSpPr>
        <p:spPr>
          <a:xfrm>
            <a:off x="8048625" y="3680270"/>
            <a:ext cx="1458540" cy="194310"/>
          </a:xfrm>
          <a:prstGeom prst="rect">
            <a:avLst/>
          </a:prstGeom>
          <a:noFill/>
        </p:spPr>
        <p:txBody>
          <a:bodyPr wrap="none" lIns="0" rIns="0" tIns="0" bIns="0">
            <a:spAutoFit/>
          </a:bodyPr>
          <a:lstStyle/>
          <a:p>
            <a:r>
              <a:rPr sz="1150" b="0">
                <a:solidFill>
                  <a:srgbClr val="2E2E2E"/>
                </a:solidFill>
                <a:latin typeface="Calibri"/>
              </a:rPr>
              <a:t>lower-priced countries.</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Allergy Immunotherapy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value growth, incremental opportunity and the geographies driving it,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3" name="Rounded Rectangle 12"/>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4" name="Rounded Rectangle 13"/>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5" name="Rounded Rectangle 14"/>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8" name="Rounded Rectangle 17"/>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20" name="Chart 19"/>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1" name="Rounded Rectangle 20"/>
          <p:cNvSpPr/>
          <p:nvPr/>
        </p:nvSpPr>
        <p:spPr>
          <a:xfrm>
            <a:off x="7915275" y="1627887"/>
            <a:ext cx="4133850" cy="3051231"/>
          </a:xfrm>
          <a:prstGeom prst="roundRect">
            <a:avLst>
              <a:gd name="adj" fmla="val 24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3" name="Rectangle 22"/>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2037462"/>
            <a:ext cx="3867150" cy="2565456"/>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5" name="Rounded Rectangle 24"/>
          <p:cNvSpPr/>
          <p:nvPr/>
        </p:nvSpPr>
        <p:spPr>
          <a:xfrm>
            <a:off x="7915275" y="4733879"/>
            <a:ext cx="4133850" cy="1822506"/>
          </a:xfrm>
          <a:prstGeom prst="roundRect">
            <a:avLst>
              <a:gd name="adj" fmla="val 41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819604"/>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7" name="Rectangle 26"/>
          <p:cNvSpPr/>
          <p:nvPr/>
        </p:nvSpPr>
        <p:spPr>
          <a:xfrm>
            <a:off x="8048625" y="5057729"/>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8625" y="5143454"/>
            <a:ext cx="3867150" cy="133673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6"/>
          <a:stretch>
            <a:fillRect/>
          </a:stretch>
        </p:blipFill>
        <p:spPr>
          <a:xfrm>
            <a:off x="1502569"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45029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75128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10522744" y="1250587"/>
            <a:ext cx="157162" cy="228600"/>
          </a:xfrm>
          <a:prstGeom prst="rect">
            <a:avLst/>
          </a:prstGeom>
        </p:spPr>
      </p:pic>
      <p:pic>
        <p:nvPicPr>
          <p:cNvPr id="34" name="Picture 33" descr="lock.png"/>
          <p:cNvPicPr>
            <a:picLocks noChangeAspect="1"/>
          </p:cNvPicPr>
          <p:nvPr/>
        </p:nvPicPr>
        <p:blipFill>
          <a:blip r:embed="rId6"/>
          <a:stretch>
            <a:fillRect/>
          </a:stretch>
        </p:blipFill>
        <p:spPr>
          <a:xfrm>
            <a:off x="3991062" y="5157531"/>
            <a:ext cx="289830" cy="421571"/>
          </a:xfrm>
          <a:prstGeom prst="rect">
            <a:avLst/>
          </a:prstGeom>
        </p:spPr>
      </p:pic>
      <p:sp>
        <p:nvSpPr>
          <p:cNvPr id="35" name="TextBox 34"/>
          <p:cNvSpPr txBox="1"/>
          <p:nvPr/>
        </p:nvSpPr>
        <p:spPr>
          <a:xfrm>
            <a:off x="8048625" y="2046987"/>
            <a:ext cx="3848100" cy="186689"/>
          </a:xfrm>
          <a:prstGeom prst="rect">
            <a:avLst/>
          </a:prstGeom>
          <a:noFill/>
        </p:spPr>
        <p:txBody>
          <a:bodyPr wrap="none" lIns="0" rIns="0" tIns="0" bIns="0">
            <a:spAutoFit/>
          </a:bodyPr>
          <a:lstStyle/>
          <a:p>
            <a:r>
              <a:rPr sz="1100" b="0">
                <a:solidFill>
                  <a:srgbClr val="2E2E2E"/>
                </a:solidFill>
                <a:latin typeface="Calibri"/>
              </a:rPr>
              <a:t>Allergy immunotherapy market value in North America is expected</a:t>
            </a:r>
          </a:p>
        </p:txBody>
      </p:sp>
      <p:sp>
        <p:nvSpPr>
          <p:cNvPr id="36" name="TextBox 35"/>
          <p:cNvSpPr txBox="1"/>
          <p:nvPr/>
        </p:nvSpPr>
        <p:spPr>
          <a:xfrm>
            <a:off x="8048625" y="2214627"/>
            <a:ext cx="702667" cy="186689"/>
          </a:xfrm>
          <a:prstGeom prst="rect">
            <a:avLst/>
          </a:prstGeom>
          <a:noFill/>
        </p:spPr>
        <p:txBody>
          <a:bodyPr wrap="none" lIns="0" rIns="0" tIns="0" bIns="0">
            <a:spAutoFit/>
          </a:bodyPr>
          <a:lstStyle/>
          <a:p>
            <a:r>
              <a:rPr sz="1100" b="0">
                <a:solidFill>
                  <a:srgbClr val="2E2E2E"/>
                </a:solidFill>
                <a:latin typeface="Calibri"/>
              </a:rPr>
              <a:t>to increase</a:t>
            </a:r>
          </a:p>
        </p:txBody>
      </p:sp>
      <p:pic>
        <p:nvPicPr>
          <p:cNvPr id="37" name="Picture 36" descr="lock.png"/>
          <p:cNvPicPr>
            <a:picLocks noChangeAspect="1"/>
          </p:cNvPicPr>
          <p:nvPr/>
        </p:nvPicPr>
        <p:blipFill>
          <a:blip r:embed="rId6"/>
          <a:stretch>
            <a:fillRect/>
          </a:stretch>
        </p:blipFill>
        <p:spPr>
          <a:xfrm>
            <a:off x="8699343" y="2204848"/>
            <a:ext cx="128699" cy="187198"/>
          </a:xfrm>
          <a:prstGeom prst="rect">
            <a:avLst/>
          </a:prstGeom>
        </p:spPr>
      </p:pic>
      <p:sp>
        <p:nvSpPr>
          <p:cNvPr id="38" name="TextBox 37"/>
          <p:cNvSpPr txBox="1"/>
          <p:nvPr/>
        </p:nvSpPr>
        <p:spPr>
          <a:xfrm>
            <a:off x="8866839" y="2214627"/>
            <a:ext cx="2716584" cy="186689"/>
          </a:xfrm>
          <a:prstGeom prst="rect">
            <a:avLst/>
          </a:prstGeom>
          <a:noFill/>
        </p:spPr>
        <p:txBody>
          <a:bodyPr wrap="none" lIns="0" rIns="0" tIns="0" bIns="0">
            <a:spAutoFit/>
          </a:bodyPr>
          <a:lstStyle/>
          <a:p>
            <a:r>
              <a:rPr sz="1100" b="0">
                <a:solidFill>
                  <a:srgbClr val="2E2E2E"/>
                </a:solidFill>
                <a:latin typeface="Calibri"/>
              </a:rPr>
              <a:t>X between 2025 and 2036. In 2025, the allergy</a:t>
            </a:r>
          </a:p>
        </p:txBody>
      </p:sp>
      <p:sp>
        <p:nvSpPr>
          <p:cNvPr id="39" name="TextBox 38"/>
          <p:cNvSpPr txBox="1"/>
          <p:nvPr/>
        </p:nvSpPr>
        <p:spPr>
          <a:xfrm>
            <a:off x="8048625" y="2382267"/>
            <a:ext cx="3501032" cy="186689"/>
          </a:xfrm>
          <a:prstGeom prst="rect">
            <a:avLst/>
          </a:prstGeom>
          <a:noFill/>
        </p:spPr>
        <p:txBody>
          <a:bodyPr wrap="none" lIns="0" rIns="0" tIns="0" bIns="0">
            <a:spAutoFit/>
          </a:bodyPr>
          <a:lstStyle/>
          <a:p>
            <a:r>
              <a:rPr sz="1100" b="0">
                <a:solidFill>
                  <a:srgbClr val="2E2E2E"/>
                </a:solidFill>
                <a:latin typeface="Calibri"/>
              </a:rPr>
              <a:t>immunotherapy market in North America was valued at US$</a:t>
            </a:r>
          </a:p>
        </p:txBody>
      </p:sp>
      <p:pic>
        <p:nvPicPr>
          <p:cNvPr id="40" name="Picture 39" descr="lock.png"/>
          <p:cNvPicPr>
            <a:picLocks noChangeAspect="1"/>
          </p:cNvPicPr>
          <p:nvPr/>
        </p:nvPicPr>
        <p:blipFill>
          <a:blip r:embed="rId6"/>
          <a:stretch>
            <a:fillRect/>
          </a:stretch>
        </p:blipFill>
        <p:spPr>
          <a:xfrm>
            <a:off x="8035157" y="2540128"/>
            <a:ext cx="128699" cy="187198"/>
          </a:xfrm>
          <a:prstGeom prst="rect">
            <a:avLst/>
          </a:prstGeom>
        </p:spPr>
      </p:pic>
      <p:sp>
        <p:nvSpPr>
          <p:cNvPr id="41" name="TextBox 40"/>
          <p:cNvSpPr txBox="1"/>
          <p:nvPr/>
        </p:nvSpPr>
        <p:spPr>
          <a:xfrm>
            <a:off x="8202653" y="2549907"/>
            <a:ext cx="2325861" cy="186689"/>
          </a:xfrm>
          <a:prstGeom prst="rect">
            <a:avLst/>
          </a:prstGeom>
          <a:noFill/>
        </p:spPr>
        <p:txBody>
          <a:bodyPr wrap="none" lIns="0" rIns="0" tIns="0" bIns="0">
            <a:spAutoFit/>
          </a:bodyPr>
          <a:lstStyle/>
          <a:p>
            <a:r>
              <a:rPr sz="1100" b="0">
                <a:solidFill>
                  <a:srgbClr val="2E2E2E"/>
                </a:solidFill>
                <a:latin typeface="Calibri"/>
              </a:rPr>
              <a:t>Mn and is estimated to account for US$</a:t>
            </a:r>
          </a:p>
        </p:txBody>
      </p:sp>
      <p:pic>
        <p:nvPicPr>
          <p:cNvPr id="42" name="Picture 41" descr="lock.png"/>
          <p:cNvPicPr>
            <a:picLocks noChangeAspect="1"/>
          </p:cNvPicPr>
          <p:nvPr/>
        </p:nvPicPr>
        <p:blipFill>
          <a:blip r:embed="rId6"/>
          <a:stretch>
            <a:fillRect/>
          </a:stretch>
        </p:blipFill>
        <p:spPr>
          <a:xfrm>
            <a:off x="10476566" y="2540128"/>
            <a:ext cx="128699" cy="187198"/>
          </a:xfrm>
          <a:prstGeom prst="rect">
            <a:avLst/>
          </a:prstGeom>
        </p:spPr>
      </p:pic>
      <p:sp>
        <p:nvSpPr>
          <p:cNvPr id="43" name="TextBox 42"/>
          <p:cNvSpPr txBox="1"/>
          <p:nvPr/>
        </p:nvSpPr>
        <p:spPr>
          <a:xfrm>
            <a:off x="10644061" y="2549907"/>
            <a:ext cx="1054918" cy="186689"/>
          </a:xfrm>
          <a:prstGeom prst="rect">
            <a:avLst/>
          </a:prstGeom>
          <a:noFill/>
        </p:spPr>
        <p:txBody>
          <a:bodyPr wrap="none" lIns="0" rIns="0" tIns="0" bIns="0">
            <a:spAutoFit/>
          </a:bodyPr>
          <a:lstStyle/>
          <a:p>
            <a:r>
              <a:rPr sz="1100" b="0">
                <a:solidFill>
                  <a:srgbClr val="2E2E2E"/>
                </a:solidFill>
                <a:latin typeface="Calibri"/>
              </a:rPr>
              <a:t>Mn by the end of</a:t>
            </a:r>
          </a:p>
        </p:txBody>
      </p:sp>
      <p:sp>
        <p:nvSpPr>
          <p:cNvPr id="44" name="TextBox 43"/>
          <p:cNvSpPr txBox="1"/>
          <p:nvPr/>
        </p:nvSpPr>
        <p:spPr>
          <a:xfrm>
            <a:off x="8048625" y="2717547"/>
            <a:ext cx="2244551" cy="186689"/>
          </a:xfrm>
          <a:prstGeom prst="rect">
            <a:avLst/>
          </a:prstGeom>
          <a:noFill/>
        </p:spPr>
        <p:txBody>
          <a:bodyPr wrap="none" lIns="0" rIns="0" tIns="0" bIns="0">
            <a:spAutoFit/>
          </a:bodyPr>
          <a:lstStyle/>
          <a:p>
            <a:r>
              <a:rPr sz="1100" b="0">
                <a:solidFill>
                  <a:srgbClr val="2E2E2E"/>
                </a:solidFill>
                <a:latin typeface="Calibri"/>
              </a:rPr>
              <a:t>2026, reflecting a Y-o-Y growth rate of</a:t>
            </a:r>
          </a:p>
        </p:txBody>
      </p:sp>
      <p:pic>
        <p:nvPicPr>
          <p:cNvPr id="45" name="Picture 44" descr="lock.png"/>
          <p:cNvPicPr>
            <a:picLocks noChangeAspect="1"/>
          </p:cNvPicPr>
          <p:nvPr/>
        </p:nvPicPr>
        <p:blipFill>
          <a:blip r:embed="rId6"/>
          <a:stretch>
            <a:fillRect/>
          </a:stretch>
        </p:blipFill>
        <p:spPr>
          <a:xfrm>
            <a:off x="10241227" y="2707768"/>
            <a:ext cx="128699" cy="187198"/>
          </a:xfrm>
          <a:prstGeom prst="rect">
            <a:avLst/>
          </a:prstGeom>
        </p:spPr>
      </p:pic>
      <p:sp>
        <p:nvSpPr>
          <p:cNvPr id="46" name="TextBox 45"/>
          <p:cNvSpPr txBox="1"/>
          <p:nvPr/>
        </p:nvSpPr>
        <p:spPr>
          <a:xfrm>
            <a:off x="10408723"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7" name="TextBox 46"/>
          <p:cNvSpPr txBox="1"/>
          <p:nvPr/>
        </p:nvSpPr>
        <p:spPr>
          <a:xfrm>
            <a:off x="8048625" y="2935479"/>
            <a:ext cx="3491210" cy="186689"/>
          </a:xfrm>
          <a:prstGeom prst="rect">
            <a:avLst/>
          </a:prstGeom>
          <a:noFill/>
        </p:spPr>
        <p:txBody>
          <a:bodyPr wrap="none" lIns="0" rIns="0" tIns="0" bIns="0">
            <a:spAutoFit/>
          </a:bodyPr>
          <a:lstStyle/>
          <a:p>
            <a:r>
              <a:rPr sz="1100" b="0">
                <a:solidFill>
                  <a:srgbClr val="2E2E2E"/>
                </a:solidFill>
                <a:latin typeface="Calibri"/>
              </a:rPr>
              <a:t>The market in North America is expected to account for US$</a:t>
            </a:r>
          </a:p>
        </p:txBody>
      </p:sp>
      <p:pic>
        <p:nvPicPr>
          <p:cNvPr id="48" name="Picture 47" descr="lock.png"/>
          <p:cNvPicPr>
            <a:picLocks noChangeAspect="1"/>
          </p:cNvPicPr>
          <p:nvPr/>
        </p:nvPicPr>
        <p:blipFill>
          <a:blip r:embed="rId6"/>
          <a:stretch>
            <a:fillRect/>
          </a:stretch>
        </p:blipFill>
        <p:spPr>
          <a:xfrm>
            <a:off x="8035157" y="3093340"/>
            <a:ext cx="128699" cy="187198"/>
          </a:xfrm>
          <a:prstGeom prst="rect">
            <a:avLst/>
          </a:prstGeom>
        </p:spPr>
      </p:pic>
      <p:sp>
        <p:nvSpPr>
          <p:cNvPr id="49" name="TextBox 48"/>
          <p:cNvSpPr txBox="1"/>
          <p:nvPr/>
        </p:nvSpPr>
        <p:spPr>
          <a:xfrm>
            <a:off x="8202653" y="3103119"/>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50" name="Picture 49" descr="lock.png"/>
          <p:cNvPicPr>
            <a:picLocks noChangeAspect="1"/>
          </p:cNvPicPr>
          <p:nvPr/>
        </p:nvPicPr>
        <p:blipFill>
          <a:blip r:embed="rId6"/>
          <a:stretch>
            <a:fillRect/>
          </a:stretch>
        </p:blipFill>
        <p:spPr>
          <a:xfrm>
            <a:off x="9646261" y="3093340"/>
            <a:ext cx="128699" cy="187198"/>
          </a:xfrm>
          <a:prstGeom prst="rect">
            <a:avLst/>
          </a:prstGeom>
        </p:spPr>
      </p:pic>
      <p:sp>
        <p:nvSpPr>
          <p:cNvPr id="51" name="TextBox 50"/>
          <p:cNvSpPr txBox="1"/>
          <p:nvPr/>
        </p:nvSpPr>
        <p:spPr>
          <a:xfrm>
            <a:off x="9813757" y="3103119"/>
            <a:ext cx="1849462" cy="186689"/>
          </a:xfrm>
          <a:prstGeom prst="rect">
            <a:avLst/>
          </a:prstGeom>
          <a:noFill/>
        </p:spPr>
        <p:txBody>
          <a:bodyPr wrap="none" lIns="0" rIns="0" tIns="0" bIns="0">
            <a:spAutoFit/>
          </a:bodyPr>
          <a:lstStyle/>
          <a:p>
            <a:r>
              <a:rPr sz="1100" b="0">
                <a:solidFill>
                  <a:srgbClr val="2E2E2E"/>
                </a:solidFill>
                <a:latin typeface="Calibri"/>
              </a:rPr>
              <a:t>over the forecast period. North</a:t>
            </a:r>
          </a:p>
        </p:txBody>
      </p:sp>
      <p:sp>
        <p:nvSpPr>
          <p:cNvPr id="52" name="TextBox 51"/>
          <p:cNvSpPr txBox="1"/>
          <p:nvPr/>
        </p:nvSpPr>
        <p:spPr>
          <a:xfrm>
            <a:off x="8048625" y="3270759"/>
            <a:ext cx="3764880" cy="186689"/>
          </a:xfrm>
          <a:prstGeom prst="rect">
            <a:avLst/>
          </a:prstGeom>
          <a:noFill/>
        </p:spPr>
        <p:txBody>
          <a:bodyPr wrap="none" lIns="0" rIns="0" tIns="0" bIns="0">
            <a:spAutoFit/>
          </a:bodyPr>
          <a:lstStyle/>
          <a:p>
            <a:r>
              <a:rPr sz="1100" b="0">
                <a:solidFill>
                  <a:srgbClr val="2E2E2E"/>
                </a:solidFill>
                <a:latin typeface="Calibri"/>
              </a:rPr>
              <a:t>America is expected to create an incremental opportunity of US$</a:t>
            </a:r>
          </a:p>
        </p:txBody>
      </p:sp>
      <p:pic>
        <p:nvPicPr>
          <p:cNvPr id="53" name="Picture 52" descr="lock.png"/>
          <p:cNvPicPr>
            <a:picLocks noChangeAspect="1"/>
          </p:cNvPicPr>
          <p:nvPr/>
        </p:nvPicPr>
        <p:blipFill>
          <a:blip r:embed="rId6"/>
          <a:stretch>
            <a:fillRect/>
          </a:stretch>
        </p:blipFill>
        <p:spPr>
          <a:xfrm>
            <a:off x="8035157" y="3428620"/>
            <a:ext cx="128699" cy="187198"/>
          </a:xfrm>
          <a:prstGeom prst="rect">
            <a:avLst/>
          </a:prstGeom>
        </p:spPr>
      </p:pic>
      <p:sp>
        <p:nvSpPr>
          <p:cNvPr id="54" name="TextBox 53"/>
          <p:cNvSpPr txBox="1"/>
          <p:nvPr/>
        </p:nvSpPr>
        <p:spPr>
          <a:xfrm>
            <a:off x="8202653" y="3438399"/>
            <a:ext cx="3680569" cy="186689"/>
          </a:xfrm>
          <a:prstGeom prst="rect">
            <a:avLst/>
          </a:prstGeom>
          <a:noFill/>
        </p:spPr>
        <p:txBody>
          <a:bodyPr wrap="none" lIns="0" rIns="0" tIns="0" bIns="0">
            <a:spAutoFit/>
          </a:bodyPr>
          <a:lstStyle/>
          <a:p>
            <a:r>
              <a:rPr sz="1100" b="0">
                <a:solidFill>
                  <a:srgbClr val="2E2E2E"/>
                </a:solidFill>
                <a:latin typeface="Calibri"/>
              </a:rPr>
              <a:t>Mn for the overall allergy immunotherapy market from 2025 to</a:t>
            </a:r>
          </a:p>
        </p:txBody>
      </p:sp>
      <p:sp>
        <p:nvSpPr>
          <p:cNvPr id="55" name="TextBox 54"/>
          <p:cNvSpPr txBox="1"/>
          <p:nvPr/>
        </p:nvSpPr>
        <p:spPr>
          <a:xfrm>
            <a:off x="8048625" y="360603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56" name="TextBox 55"/>
          <p:cNvSpPr txBox="1"/>
          <p:nvPr/>
        </p:nvSpPr>
        <p:spPr>
          <a:xfrm>
            <a:off x="8048625" y="3823971"/>
            <a:ext cx="2837184" cy="186689"/>
          </a:xfrm>
          <a:prstGeom prst="rect">
            <a:avLst/>
          </a:prstGeom>
          <a:noFill/>
        </p:spPr>
        <p:txBody>
          <a:bodyPr wrap="none" lIns="0" rIns="0" tIns="0" bIns="0">
            <a:spAutoFit/>
          </a:bodyPr>
          <a:lstStyle/>
          <a:p>
            <a:r>
              <a:rPr sz="1100" b="0">
                <a:solidFill>
                  <a:srgbClr val="2E2E2E"/>
                </a:solidFill>
                <a:latin typeface="Calibri"/>
              </a:rPr>
              <a:t>Absolute $ value for 2026 is estimated to be US$</a:t>
            </a:r>
          </a:p>
        </p:txBody>
      </p:sp>
      <p:pic>
        <p:nvPicPr>
          <p:cNvPr id="57" name="Picture 56" descr="lock.png"/>
          <p:cNvPicPr>
            <a:picLocks noChangeAspect="1"/>
          </p:cNvPicPr>
          <p:nvPr/>
        </p:nvPicPr>
        <p:blipFill>
          <a:blip r:embed="rId6"/>
          <a:stretch>
            <a:fillRect/>
          </a:stretch>
        </p:blipFill>
        <p:spPr>
          <a:xfrm>
            <a:off x="10833861" y="3814192"/>
            <a:ext cx="128699" cy="187198"/>
          </a:xfrm>
          <a:prstGeom prst="rect">
            <a:avLst/>
          </a:prstGeom>
        </p:spPr>
      </p:pic>
      <p:sp>
        <p:nvSpPr>
          <p:cNvPr id="58" name="TextBox 57"/>
          <p:cNvSpPr txBox="1"/>
          <p:nvPr/>
        </p:nvSpPr>
        <p:spPr>
          <a:xfrm>
            <a:off x="11001357" y="3823971"/>
            <a:ext cx="304303"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59" name="TextBox 58"/>
          <p:cNvSpPr txBox="1"/>
          <p:nvPr/>
        </p:nvSpPr>
        <p:spPr>
          <a:xfrm>
            <a:off x="8048625" y="5152979"/>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60" name="Picture 59" descr="lock.png"/>
          <p:cNvPicPr>
            <a:picLocks noChangeAspect="1"/>
          </p:cNvPicPr>
          <p:nvPr/>
        </p:nvPicPr>
        <p:blipFill>
          <a:blip r:embed="rId6"/>
          <a:stretch>
            <a:fillRect/>
          </a:stretch>
        </p:blipFill>
        <p:spPr>
          <a:xfrm>
            <a:off x="10136079" y="5142755"/>
            <a:ext cx="134549" cy="195707"/>
          </a:xfrm>
          <a:prstGeom prst="rect">
            <a:avLst/>
          </a:prstGeom>
        </p:spPr>
      </p:pic>
      <p:sp>
        <p:nvSpPr>
          <p:cNvPr id="61" name="TextBox 60"/>
          <p:cNvSpPr txBox="1"/>
          <p:nvPr/>
        </p:nvSpPr>
        <p:spPr>
          <a:xfrm>
            <a:off x="10311188" y="5152979"/>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2" name="TextBox 61"/>
          <p:cNvSpPr txBox="1"/>
          <p:nvPr/>
        </p:nvSpPr>
        <p:spPr>
          <a:xfrm>
            <a:off x="8048625" y="5380816"/>
            <a:ext cx="3681238" cy="194310"/>
          </a:xfrm>
          <a:prstGeom prst="rect">
            <a:avLst/>
          </a:prstGeom>
          <a:noFill/>
        </p:spPr>
        <p:txBody>
          <a:bodyPr wrap="none" lIns="0" rIns="0" tIns="0" bIns="0">
            <a:spAutoFit/>
          </a:bodyPr>
          <a:lstStyle/>
          <a:p>
            <a:r>
              <a:rPr sz="1150" b="0">
                <a:solidFill>
                  <a:srgbClr val="2E2E2E"/>
                </a:solidFill>
                <a:latin typeface="Calibri"/>
              </a:rPr>
              <a:t>▪ Demand concentrates in 'Sublingual Immunotherapy (SLIT)'</a:t>
            </a:r>
          </a:p>
        </p:txBody>
      </p:sp>
      <p:sp>
        <p:nvSpPr>
          <p:cNvPr id="63" name="TextBox 62"/>
          <p:cNvSpPr txBox="1"/>
          <p:nvPr/>
        </p:nvSpPr>
        <p:spPr>
          <a:xfrm>
            <a:off x="8048625" y="5556076"/>
            <a:ext cx="1468778" cy="194310"/>
          </a:xfrm>
          <a:prstGeom prst="rect">
            <a:avLst/>
          </a:prstGeom>
          <a:noFill/>
        </p:spPr>
        <p:txBody>
          <a:bodyPr wrap="none" lIns="0" rIns="0" tIns="0" bIns="0">
            <a:spAutoFit/>
          </a:bodyPr>
          <a:lstStyle/>
          <a:p>
            <a:r>
              <a:rPr sz="1150" b="0">
                <a:solidFill>
                  <a:srgbClr val="2E2E2E"/>
                </a:solidFill>
                <a:latin typeface="Calibri"/>
              </a:rPr>
              <a:t>within Therapy Format.</a:t>
            </a:r>
          </a:p>
        </p:txBody>
      </p:sp>
      <p:sp>
        <p:nvSpPr>
          <p:cNvPr id="64" name="TextBox 63"/>
          <p:cNvSpPr txBox="1"/>
          <p:nvPr/>
        </p:nvSpPr>
        <p:spPr>
          <a:xfrm>
            <a:off x="8048625" y="5783914"/>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5" name="TextBox 64"/>
          <p:cNvSpPr txBox="1"/>
          <p:nvPr/>
        </p:nvSpPr>
        <p:spPr>
          <a:xfrm>
            <a:off x="8048625" y="6011752"/>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6" name="lockshield_17"/>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20"/>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Allergy Immunotherapy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North America market and the incremental $ opportunity it creates,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4695825"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2021–2025 (Historical)</a:t>
            </a:r>
          </a:p>
        </p:txBody>
      </p:sp>
      <p:graphicFrame>
        <p:nvGraphicFramePr>
          <p:cNvPr id="13" name="Chart 12"/>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981075"/>
            <a:ext cx="7048500"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2026–2036 (Forecast)</a:t>
            </a:r>
          </a:p>
        </p:txBody>
      </p:sp>
      <p:graphicFrame>
        <p:nvGraphicFramePr>
          <p:cNvPr id="16" name="Chart 15"/>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8" name="Rounded Rectangle 17"/>
          <p:cNvSpPr/>
          <p:nvPr/>
        </p:nvSpPr>
        <p:spPr>
          <a:xfrm>
            <a:off x="2809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9" name="Rounded Rectangle 18"/>
          <p:cNvSpPr/>
          <p:nvPr/>
        </p:nvSpPr>
        <p:spPr>
          <a:xfrm>
            <a:off x="54768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20" name="Rounded Rectangle 19"/>
          <p:cNvSpPr/>
          <p:nvPr/>
        </p:nvSpPr>
        <p:spPr>
          <a:xfrm>
            <a:off x="88296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1" name="Rounded Rectangle 20"/>
          <p:cNvSpPr/>
          <p:nvPr/>
        </p:nvSpPr>
        <p:spPr>
          <a:xfrm>
            <a:off x="142875" y="4457700"/>
            <a:ext cx="11906250" cy="2152650"/>
          </a:xfrm>
          <a:prstGeom prst="roundRect">
            <a:avLst>
              <a:gd name="adj" fmla="val 35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&amp; Value Analysis</a:t>
            </a:r>
          </a:p>
        </p:txBody>
      </p:sp>
      <p:sp>
        <p:nvSpPr>
          <p:cNvPr id="23" name="Rectangle 22"/>
          <p:cNvSpPr/>
          <p:nvPr/>
        </p:nvSpPr>
        <p:spPr>
          <a:xfrm>
            <a:off x="276225" y="4781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2535356" y="2029222"/>
            <a:ext cx="202455" cy="294480"/>
          </a:xfrm>
          <a:prstGeom prst="rect">
            <a:avLst/>
          </a:prstGeom>
        </p:spPr>
      </p:pic>
      <p:pic>
        <p:nvPicPr>
          <p:cNvPr id="27" name="Picture 26" descr="lock.png"/>
          <p:cNvPicPr>
            <a:picLocks noChangeAspect="1"/>
          </p:cNvPicPr>
          <p:nvPr/>
        </p:nvPicPr>
        <p:blipFill>
          <a:blip r:embed="rId6"/>
          <a:stretch>
            <a:fillRect/>
          </a:stretch>
        </p:blipFill>
        <p:spPr>
          <a:xfrm>
            <a:off x="8532694" y="1990329"/>
            <a:ext cx="255933" cy="372266"/>
          </a:xfrm>
          <a:prstGeom prst="rect">
            <a:avLst/>
          </a:prstGeom>
        </p:spPr>
      </p:pic>
      <p:pic>
        <p:nvPicPr>
          <p:cNvPr id="28" name="Picture 27" descr="lock.png"/>
          <p:cNvPicPr>
            <a:picLocks noChangeAspect="1"/>
          </p:cNvPicPr>
          <p:nvPr/>
        </p:nvPicPr>
        <p:blipFill>
          <a:blip r:embed="rId6"/>
          <a:stretch>
            <a:fillRect/>
          </a:stretch>
        </p:blipFill>
        <p:spPr>
          <a:xfrm>
            <a:off x="1321594" y="3950970"/>
            <a:ext cx="157162" cy="228600"/>
          </a:xfrm>
          <a:prstGeom prst="rect">
            <a:avLst/>
          </a:prstGeom>
        </p:spPr>
      </p:pic>
      <p:pic>
        <p:nvPicPr>
          <p:cNvPr id="29" name="Picture 28" descr="lock.png"/>
          <p:cNvPicPr>
            <a:picLocks noChangeAspect="1"/>
          </p:cNvPicPr>
          <p:nvPr/>
        </p:nvPicPr>
        <p:blipFill>
          <a:blip r:embed="rId6"/>
          <a:stretch>
            <a:fillRect/>
          </a:stretch>
        </p:blipFill>
        <p:spPr>
          <a:xfrm>
            <a:off x="3988594" y="3950970"/>
            <a:ext cx="157162" cy="228600"/>
          </a:xfrm>
          <a:prstGeom prst="rect">
            <a:avLst/>
          </a:prstGeom>
        </p:spPr>
      </p:pic>
      <p:pic>
        <p:nvPicPr>
          <p:cNvPr id="30" name="Picture 29" descr="lock.png"/>
          <p:cNvPicPr>
            <a:picLocks noChangeAspect="1"/>
          </p:cNvPicPr>
          <p:nvPr/>
        </p:nvPicPr>
        <p:blipFill>
          <a:blip r:embed="rId6"/>
          <a:stretch>
            <a:fillRect/>
          </a:stretch>
        </p:blipFill>
        <p:spPr>
          <a:xfrm>
            <a:off x="6998494" y="3950970"/>
            <a:ext cx="157162" cy="228600"/>
          </a:xfrm>
          <a:prstGeom prst="rect">
            <a:avLst/>
          </a:prstGeom>
        </p:spPr>
      </p:pic>
      <p:pic>
        <p:nvPicPr>
          <p:cNvPr id="31" name="Picture 30" descr="lock.png"/>
          <p:cNvPicPr>
            <a:picLocks noChangeAspect="1"/>
          </p:cNvPicPr>
          <p:nvPr/>
        </p:nvPicPr>
        <p:blipFill>
          <a:blip r:embed="rId6"/>
          <a:stretch>
            <a:fillRect/>
          </a:stretch>
        </p:blipFill>
        <p:spPr>
          <a:xfrm>
            <a:off x="10351294" y="3950970"/>
            <a:ext cx="157162" cy="228600"/>
          </a:xfrm>
          <a:prstGeom prst="rect">
            <a:avLst/>
          </a:prstGeom>
        </p:spPr>
      </p:pic>
      <p:sp>
        <p:nvSpPr>
          <p:cNvPr id="32" name="TextBox 31"/>
          <p:cNvSpPr txBox="1"/>
          <p:nvPr/>
        </p:nvSpPr>
        <p:spPr>
          <a:xfrm>
            <a:off x="276225" y="4876800"/>
            <a:ext cx="4729832" cy="194310"/>
          </a:xfrm>
          <a:prstGeom prst="rect">
            <a:avLst/>
          </a:prstGeom>
          <a:noFill/>
        </p:spPr>
        <p:txBody>
          <a:bodyPr wrap="none" lIns="0" rIns="0" tIns="0" bIns="0">
            <a:spAutoFit/>
          </a:bodyPr>
          <a:lstStyle/>
          <a:p>
            <a:r>
              <a:rPr sz="1150" b="0">
                <a:solidFill>
                  <a:srgbClr val="2E2E2E"/>
                </a:solidFill>
                <a:latin typeface="Calibri"/>
              </a:rPr>
              <a:t>Allergy immunotherapy market value in North America is expected to increase</a:t>
            </a:r>
          </a:p>
        </p:txBody>
      </p:sp>
      <p:pic>
        <p:nvPicPr>
          <p:cNvPr id="33" name="Picture 32" descr="lock.png"/>
          <p:cNvPicPr>
            <a:picLocks noChangeAspect="1"/>
          </p:cNvPicPr>
          <p:nvPr/>
        </p:nvPicPr>
        <p:blipFill>
          <a:blip r:embed="rId6"/>
          <a:stretch>
            <a:fillRect/>
          </a:stretch>
        </p:blipFill>
        <p:spPr>
          <a:xfrm>
            <a:off x="4955211" y="4866576"/>
            <a:ext cx="134549" cy="195707"/>
          </a:xfrm>
          <a:prstGeom prst="rect">
            <a:avLst/>
          </a:prstGeom>
        </p:spPr>
      </p:pic>
      <p:sp>
        <p:nvSpPr>
          <p:cNvPr id="34" name="TextBox 33"/>
          <p:cNvSpPr txBox="1"/>
          <p:nvPr/>
        </p:nvSpPr>
        <p:spPr>
          <a:xfrm>
            <a:off x="5130320" y="4876800"/>
            <a:ext cx="6450198" cy="194310"/>
          </a:xfrm>
          <a:prstGeom prst="rect">
            <a:avLst/>
          </a:prstGeom>
          <a:noFill/>
        </p:spPr>
        <p:txBody>
          <a:bodyPr wrap="none" lIns="0" rIns="0" tIns="0" bIns="0">
            <a:spAutoFit/>
          </a:bodyPr>
          <a:lstStyle/>
          <a:p>
            <a:r>
              <a:rPr sz="1150" b="0">
                <a:solidFill>
                  <a:srgbClr val="2E2E2E"/>
                </a:solidFill>
                <a:latin typeface="Calibri"/>
              </a:rPr>
              <a:t>X between 2025 and 2036. In 2025, the allergy immunotherapy market in North America was valued at US$</a:t>
            </a:r>
          </a:p>
        </p:txBody>
      </p:sp>
      <p:pic>
        <p:nvPicPr>
          <p:cNvPr id="35" name="Picture 34" descr="lock.png"/>
          <p:cNvPicPr>
            <a:picLocks noChangeAspect="1"/>
          </p:cNvPicPr>
          <p:nvPr/>
        </p:nvPicPr>
        <p:blipFill>
          <a:blip r:embed="rId6"/>
          <a:stretch>
            <a:fillRect/>
          </a:stretch>
        </p:blipFill>
        <p:spPr>
          <a:xfrm>
            <a:off x="262145" y="5041836"/>
            <a:ext cx="134549" cy="195707"/>
          </a:xfrm>
          <a:prstGeom prst="rect">
            <a:avLst/>
          </a:prstGeom>
        </p:spPr>
      </p:pic>
      <p:sp>
        <p:nvSpPr>
          <p:cNvPr id="36" name="TextBox 35"/>
          <p:cNvSpPr txBox="1"/>
          <p:nvPr/>
        </p:nvSpPr>
        <p:spPr>
          <a:xfrm>
            <a:off x="437254" y="5052060"/>
            <a:ext cx="2428118" cy="194310"/>
          </a:xfrm>
          <a:prstGeom prst="rect">
            <a:avLst/>
          </a:prstGeom>
          <a:noFill/>
        </p:spPr>
        <p:txBody>
          <a:bodyPr wrap="none" lIns="0" rIns="0" tIns="0" bIns="0">
            <a:spAutoFit/>
          </a:bodyPr>
          <a:lstStyle/>
          <a:p>
            <a:r>
              <a:rPr sz="1150" b="0">
                <a:solidFill>
                  <a:srgbClr val="2E2E2E"/>
                </a:solidFill>
                <a:latin typeface="Calibri"/>
              </a:rPr>
              <a:t>Mn and is estimated to account for US$</a:t>
            </a:r>
          </a:p>
        </p:txBody>
      </p:sp>
      <p:pic>
        <p:nvPicPr>
          <p:cNvPr id="37" name="Picture 36" descr="lock.png"/>
          <p:cNvPicPr>
            <a:picLocks noChangeAspect="1"/>
          </p:cNvPicPr>
          <p:nvPr/>
        </p:nvPicPr>
        <p:blipFill>
          <a:blip r:embed="rId6"/>
          <a:stretch>
            <a:fillRect/>
          </a:stretch>
        </p:blipFill>
        <p:spPr>
          <a:xfrm>
            <a:off x="2814527" y="5041836"/>
            <a:ext cx="134549" cy="195707"/>
          </a:xfrm>
          <a:prstGeom prst="rect">
            <a:avLst/>
          </a:prstGeom>
        </p:spPr>
      </p:pic>
      <p:sp>
        <p:nvSpPr>
          <p:cNvPr id="38" name="TextBox 37"/>
          <p:cNvSpPr txBox="1"/>
          <p:nvPr/>
        </p:nvSpPr>
        <p:spPr>
          <a:xfrm>
            <a:off x="2989636" y="5052060"/>
            <a:ext cx="3399408" cy="194310"/>
          </a:xfrm>
          <a:prstGeom prst="rect">
            <a:avLst/>
          </a:prstGeom>
          <a:noFill/>
        </p:spPr>
        <p:txBody>
          <a:bodyPr wrap="none" lIns="0" rIns="0" tIns="0" bIns="0">
            <a:spAutoFit/>
          </a:bodyPr>
          <a:lstStyle/>
          <a:p>
            <a:r>
              <a:rPr sz="1150" b="0">
                <a:solidFill>
                  <a:srgbClr val="2E2E2E"/>
                </a:solidFill>
                <a:latin typeface="Calibri"/>
              </a:rPr>
              <a:t>Mn by the end of 2026, reflecting a Y-o-Y growth rate of</a:t>
            </a:r>
          </a:p>
        </p:txBody>
      </p:sp>
      <p:pic>
        <p:nvPicPr>
          <p:cNvPr id="39" name="Picture 38" descr="lock.png"/>
          <p:cNvPicPr>
            <a:picLocks noChangeAspect="1"/>
          </p:cNvPicPr>
          <p:nvPr/>
        </p:nvPicPr>
        <p:blipFill>
          <a:blip r:embed="rId6"/>
          <a:stretch>
            <a:fillRect/>
          </a:stretch>
        </p:blipFill>
        <p:spPr>
          <a:xfrm>
            <a:off x="6338198" y="5041836"/>
            <a:ext cx="134549" cy="195707"/>
          </a:xfrm>
          <a:prstGeom prst="rect">
            <a:avLst/>
          </a:prstGeom>
        </p:spPr>
      </p:pic>
      <p:sp>
        <p:nvSpPr>
          <p:cNvPr id="40" name="TextBox 39"/>
          <p:cNvSpPr txBox="1"/>
          <p:nvPr/>
        </p:nvSpPr>
        <p:spPr>
          <a:xfrm>
            <a:off x="6513307" y="5052060"/>
            <a:ext cx="3716325" cy="194310"/>
          </a:xfrm>
          <a:prstGeom prst="rect">
            <a:avLst/>
          </a:prstGeom>
          <a:noFill/>
        </p:spPr>
        <p:txBody>
          <a:bodyPr wrap="none" lIns="0" rIns="0" tIns="0" bIns="0">
            <a:spAutoFit/>
          </a:bodyPr>
          <a:lstStyle/>
          <a:p>
            <a:r>
              <a:rPr sz="1150" b="0">
                <a:solidFill>
                  <a:srgbClr val="2E2E2E"/>
                </a:solidFill>
                <a:latin typeface="Calibri"/>
              </a:rPr>
              <a:t>. The market in North America is expected to account for US$</a:t>
            </a:r>
          </a:p>
        </p:txBody>
      </p:sp>
      <p:pic>
        <p:nvPicPr>
          <p:cNvPr id="41" name="Picture 40" descr="lock.png"/>
          <p:cNvPicPr>
            <a:picLocks noChangeAspect="1"/>
          </p:cNvPicPr>
          <p:nvPr/>
        </p:nvPicPr>
        <p:blipFill>
          <a:blip r:embed="rId6"/>
          <a:stretch>
            <a:fillRect/>
          </a:stretch>
        </p:blipFill>
        <p:spPr>
          <a:xfrm>
            <a:off x="10178786" y="5041836"/>
            <a:ext cx="134549" cy="195707"/>
          </a:xfrm>
          <a:prstGeom prst="rect">
            <a:avLst/>
          </a:prstGeom>
        </p:spPr>
      </p:pic>
      <p:sp>
        <p:nvSpPr>
          <p:cNvPr id="42" name="TextBox 41"/>
          <p:cNvSpPr txBox="1"/>
          <p:nvPr/>
        </p:nvSpPr>
        <p:spPr>
          <a:xfrm>
            <a:off x="10353895" y="5052060"/>
            <a:ext cx="1038646" cy="194310"/>
          </a:xfrm>
          <a:prstGeom prst="rect">
            <a:avLst/>
          </a:prstGeom>
          <a:noFill/>
        </p:spPr>
        <p:txBody>
          <a:bodyPr wrap="none" lIns="0" rIns="0" tIns="0" bIns="0">
            <a:spAutoFit/>
          </a:bodyPr>
          <a:lstStyle/>
          <a:p>
            <a:r>
              <a:rPr sz="1150" b="0">
                <a:solidFill>
                  <a:srgbClr val="2E2E2E"/>
                </a:solidFill>
                <a:latin typeface="Calibri"/>
              </a:rPr>
              <a:t>Mn by 2036 at a</a:t>
            </a:r>
          </a:p>
        </p:txBody>
      </p:sp>
      <p:sp>
        <p:nvSpPr>
          <p:cNvPr id="43" name="TextBox 42"/>
          <p:cNvSpPr txBox="1"/>
          <p:nvPr/>
        </p:nvSpPr>
        <p:spPr>
          <a:xfrm>
            <a:off x="276225" y="522732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4" name="Picture 43" descr="lock.png"/>
          <p:cNvPicPr>
            <a:picLocks noChangeAspect="1"/>
          </p:cNvPicPr>
          <p:nvPr/>
        </p:nvPicPr>
        <p:blipFill>
          <a:blip r:embed="rId6"/>
          <a:stretch>
            <a:fillRect/>
          </a:stretch>
        </p:blipFill>
        <p:spPr>
          <a:xfrm>
            <a:off x="789915" y="5217096"/>
            <a:ext cx="134549" cy="195707"/>
          </a:xfrm>
          <a:prstGeom prst="rect">
            <a:avLst/>
          </a:prstGeom>
        </p:spPr>
      </p:pic>
      <p:sp>
        <p:nvSpPr>
          <p:cNvPr id="45" name="TextBox 44"/>
          <p:cNvSpPr txBox="1"/>
          <p:nvPr/>
        </p:nvSpPr>
        <p:spPr>
          <a:xfrm>
            <a:off x="965025" y="522732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6" name="TextBox 45"/>
          <p:cNvSpPr txBox="1"/>
          <p:nvPr/>
        </p:nvSpPr>
        <p:spPr>
          <a:xfrm>
            <a:off x="276225" y="5455157"/>
            <a:ext cx="4313932" cy="194310"/>
          </a:xfrm>
          <a:prstGeom prst="rect">
            <a:avLst/>
          </a:prstGeom>
          <a:noFill/>
        </p:spPr>
        <p:txBody>
          <a:bodyPr wrap="none" lIns="0" rIns="0" tIns="0" bIns="0">
            <a:spAutoFit/>
          </a:bodyPr>
          <a:lstStyle/>
          <a:p>
            <a:r>
              <a:rPr sz="1150" b="0">
                <a:solidFill>
                  <a:srgbClr val="2E2E2E"/>
                </a:solidFill>
                <a:latin typeface="Calibri"/>
              </a:rPr>
              <a:t>North America is expected to create an incremental opportunity of US$</a:t>
            </a:r>
          </a:p>
        </p:txBody>
      </p:sp>
      <p:pic>
        <p:nvPicPr>
          <p:cNvPr id="47" name="Picture 46" descr="lock.png"/>
          <p:cNvPicPr>
            <a:picLocks noChangeAspect="1"/>
          </p:cNvPicPr>
          <p:nvPr/>
        </p:nvPicPr>
        <p:blipFill>
          <a:blip r:embed="rId6"/>
          <a:stretch>
            <a:fillRect/>
          </a:stretch>
        </p:blipFill>
        <p:spPr>
          <a:xfrm>
            <a:off x="4539310" y="5444934"/>
            <a:ext cx="134549" cy="195707"/>
          </a:xfrm>
          <a:prstGeom prst="rect">
            <a:avLst/>
          </a:prstGeom>
        </p:spPr>
      </p:pic>
      <p:sp>
        <p:nvSpPr>
          <p:cNvPr id="48" name="TextBox 47"/>
          <p:cNvSpPr txBox="1"/>
          <p:nvPr/>
        </p:nvSpPr>
        <p:spPr>
          <a:xfrm>
            <a:off x="4714420" y="5455157"/>
            <a:ext cx="7130529"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2025 to 2036. Absolute $ value for 2026 is estimated to be US$</a:t>
            </a:r>
          </a:p>
        </p:txBody>
      </p:sp>
      <p:pic>
        <p:nvPicPr>
          <p:cNvPr id="49" name="Picture 48" descr="lock.png"/>
          <p:cNvPicPr>
            <a:picLocks noChangeAspect="1"/>
          </p:cNvPicPr>
          <p:nvPr/>
        </p:nvPicPr>
        <p:blipFill>
          <a:blip r:embed="rId6"/>
          <a:stretch>
            <a:fillRect/>
          </a:stretch>
        </p:blipFill>
        <p:spPr>
          <a:xfrm>
            <a:off x="262145" y="5620194"/>
            <a:ext cx="134549" cy="195707"/>
          </a:xfrm>
          <a:prstGeom prst="rect">
            <a:avLst/>
          </a:prstGeom>
        </p:spPr>
      </p:pic>
      <p:sp>
        <p:nvSpPr>
          <p:cNvPr id="50" name="TextBox 49"/>
          <p:cNvSpPr txBox="1"/>
          <p:nvPr/>
        </p:nvSpPr>
        <p:spPr>
          <a:xfrm>
            <a:off x="437254" y="5630417"/>
            <a:ext cx="4478808" cy="194310"/>
          </a:xfrm>
          <a:prstGeom prst="rect">
            <a:avLst/>
          </a:prstGeom>
          <a:noFill/>
        </p:spPr>
        <p:txBody>
          <a:bodyPr wrap="none" lIns="0" rIns="0" tIns="0" bIns="0">
            <a:spAutoFit/>
          </a:bodyPr>
          <a:lstStyle/>
          <a:p>
            <a:r>
              <a:rPr sz="1150" b="0">
                <a:solidFill>
                  <a:srgbClr val="2E2E2E"/>
                </a:solidFill>
                <a:latin typeface="Calibri"/>
              </a:rPr>
              <a:t>Mn. North America allergy immunotherapy market is projected to register</a:t>
            </a:r>
          </a:p>
        </p:txBody>
      </p:sp>
      <p:pic>
        <p:nvPicPr>
          <p:cNvPr id="51" name="Picture 50" descr="lock.png"/>
          <p:cNvPicPr>
            <a:picLocks noChangeAspect="1"/>
          </p:cNvPicPr>
          <p:nvPr/>
        </p:nvPicPr>
        <p:blipFill>
          <a:blip r:embed="rId6"/>
          <a:stretch>
            <a:fillRect/>
          </a:stretch>
        </p:blipFill>
        <p:spPr>
          <a:xfrm>
            <a:off x="4865217" y="5620194"/>
            <a:ext cx="134549" cy="195707"/>
          </a:xfrm>
          <a:prstGeom prst="rect">
            <a:avLst/>
          </a:prstGeom>
        </p:spPr>
      </p:pic>
      <p:sp>
        <p:nvSpPr>
          <p:cNvPr id="52" name="TextBox 51"/>
          <p:cNvSpPr txBox="1"/>
          <p:nvPr/>
        </p:nvSpPr>
        <p:spPr>
          <a:xfrm>
            <a:off x="5040326" y="5630417"/>
            <a:ext cx="3462163"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 2036.</a:t>
            </a:r>
          </a:p>
        </p:txBody>
      </p:sp>
      <p:sp>
        <p:nvSpPr>
          <p:cNvPr id="53" name="TextBox 52"/>
          <p:cNvSpPr txBox="1"/>
          <p:nvPr/>
        </p:nvSpPr>
        <p:spPr>
          <a:xfrm>
            <a:off x="276225" y="5858255"/>
            <a:ext cx="3826718" cy="194310"/>
          </a:xfrm>
          <a:prstGeom prst="rect">
            <a:avLst/>
          </a:prstGeom>
          <a:noFill/>
        </p:spPr>
        <p:txBody>
          <a:bodyPr wrap="none" lIns="0" rIns="0" tIns="0" bIns="0">
            <a:spAutoFit/>
          </a:bodyPr>
          <a:lstStyle/>
          <a:p>
            <a:r>
              <a:rPr sz="1150" b="0">
                <a:solidFill>
                  <a:srgbClr val="2E2E2E"/>
                </a:solidFill>
                <a:latin typeface="Calibri"/>
              </a:rPr>
              <a:t>North America allergy immunotherapy market volume stood at</a:t>
            </a:r>
          </a:p>
        </p:txBody>
      </p:sp>
      <p:pic>
        <p:nvPicPr>
          <p:cNvPr id="54" name="Picture 53" descr="lock.png"/>
          <p:cNvPicPr>
            <a:picLocks noChangeAspect="1"/>
          </p:cNvPicPr>
          <p:nvPr/>
        </p:nvPicPr>
        <p:blipFill>
          <a:blip r:embed="rId6"/>
          <a:stretch>
            <a:fillRect/>
          </a:stretch>
        </p:blipFill>
        <p:spPr>
          <a:xfrm>
            <a:off x="4052097" y="5848032"/>
            <a:ext cx="134549" cy="195707"/>
          </a:xfrm>
          <a:prstGeom prst="rect">
            <a:avLst/>
          </a:prstGeom>
        </p:spPr>
      </p:pic>
      <p:sp>
        <p:nvSpPr>
          <p:cNvPr id="55" name="TextBox 54"/>
          <p:cNvSpPr txBox="1"/>
          <p:nvPr/>
        </p:nvSpPr>
        <p:spPr>
          <a:xfrm>
            <a:off x="4227206" y="5858255"/>
            <a:ext cx="3625043" cy="194310"/>
          </a:xfrm>
          <a:prstGeom prst="rect">
            <a:avLst/>
          </a:prstGeom>
          <a:noFill/>
        </p:spPr>
        <p:txBody>
          <a:bodyPr wrap="none" lIns="0" rIns="0" tIns="0" bIns="0">
            <a:spAutoFit/>
          </a:bodyPr>
          <a:lstStyle/>
          <a:p>
            <a:r>
              <a:rPr sz="1150" b="0">
                <a:solidFill>
                  <a:srgbClr val="2E2E2E"/>
                </a:solidFill>
                <a:latin typeface="Calibri"/>
              </a:rPr>
              <a:t>Patient Treatment Courses in 2025 and is expected to reach</a:t>
            </a:r>
          </a:p>
        </p:txBody>
      </p:sp>
      <p:pic>
        <p:nvPicPr>
          <p:cNvPr id="56" name="Picture 55" descr="lock.png"/>
          <p:cNvPicPr>
            <a:picLocks noChangeAspect="1"/>
          </p:cNvPicPr>
          <p:nvPr/>
        </p:nvPicPr>
        <p:blipFill>
          <a:blip r:embed="rId6"/>
          <a:stretch>
            <a:fillRect/>
          </a:stretch>
        </p:blipFill>
        <p:spPr>
          <a:xfrm>
            <a:off x="7801404" y="5848032"/>
            <a:ext cx="134549" cy="195707"/>
          </a:xfrm>
          <a:prstGeom prst="rect">
            <a:avLst/>
          </a:prstGeom>
        </p:spPr>
      </p:pic>
      <p:sp>
        <p:nvSpPr>
          <p:cNvPr id="57" name="TextBox 56"/>
          <p:cNvSpPr txBox="1"/>
          <p:nvPr/>
        </p:nvSpPr>
        <p:spPr>
          <a:xfrm>
            <a:off x="7976513" y="5858255"/>
            <a:ext cx="3245923" cy="194310"/>
          </a:xfrm>
          <a:prstGeom prst="rect">
            <a:avLst/>
          </a:prstGeom>
          <a:noFill/>
        </p:spPr>
        <p:txBody>
          <a:bodyPr wrap="none" lIns="0" rIns="0" tIns="0" bIns="0">
            <a:spAutoFit/>
          </a:bodyPr>
          <a:lstStyle/>
          <a:p>
            <a:r>
              <a:rPr sz="1150" b="0">
                <a:solidFill>
                  <a:srgbClr val="2E2E2E"/>
                </a:solidFill>
                <a:latin typeface="Calibri"/>
              </a:rPr>
              <a:t>Patient Treatment Courses by 2036 end, at a CAGR of</a:t>
            </a:r>
          </a:p>
        </p:txBody>
      </p:sp>
      <p:pic>
        <p:nvPicPr>
          <p:cNvPr id="58" name="Picture 57" descr="lock.png"/>
          <p:cNvPicPr>
            <a:picLocks noChangeAspect="1"/>
          </p:cNvPicPr>
          <p:nvPr/>
        </p:nvPicPr>
        <p:blipFill>
          <a:blip r:embed="rId6"/>
          <a:stretch>
            <a:fillRect/>
          </a:stretch>
        </p:blipFill>
        <p:spPr>
          <a:xfrm>
            <a:off x="11171591" y="5848032"/>
            <a:ext cx="134549" cy="195707"/>
          </a:xfrm>
          <a:prstGeom prst="rect">
            <a:avLst/>
          </a:prstGeom>
        </p:spPr>
      </p:pic>
      <p:sp>
        <p:nvSpPr>
          <p:cNvPr id="59" name="TextBox 58"/>
          <p:cNvSpPr txBox="1"/>
          <p:nvPr/>
        </p:nvSpPr>
        <p:spPr>
          <a:xfrm>
            <a:off x="11346700" y="585825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60" name="TextBox 59"/>
          <p:cNvSpPr txBox="1"/>
          <p:nvPr/>
        </p:nvSpPr>
        <p:spPr>
          <a:xfrm>
            <a:off x="276225" y="6033515"/>
            <a:ext cx="6983908" cy="194310"/>
          </a:xfrm>
          <a:prstGeom prst="rect">
            <a:avLst/>
          </a:prstGeom>
          <a:noFill/>
        </p:spPr>
        <p:txBody>
          <a:bodyPr wrap="none" lIns="0" rIns="0" tIns="0" bIns="0">
            <a:spAutoFit/>
          </a:bodyPr>
          <a:lstStyle/>
          <a:p>
            <a:r>
              <a:rPr sz="1150" b="0">
                <a:solidFill>
                  <a:srgbClr val="2E2E2E"/>
                </a:solidFill>
                <a:latin typeface="Calibri"/>
              </a:rPr>
              <a:t>Value is projected to grow faster than volume over the forecast period, owing to an increase in average selling price.</a:t>
            </a:r>
          </a:p>
        </p:txBody>
      </p:sp>
      <p:sp>
        <p:nvSpPr>
          <p:cNvPr id="61" name="lockshield_13"/>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lockshield_16"/>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Allergy Immunotherapy Market Summary Country Indices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28892" cy="2132068"/>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42971">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42971">
                <a:tc>
                  <a:txBody>
                    <a:bodyPr wrap="none"/>
                    <a:lstStyle/>
                    <a:p>
                      <a:pPr algn="l"/>
                      <a:r>
                        <a:rPr sz="1100" b="1">
                          <a:solidFill>
                            <a:srgbClr val="2E2E2E"/>
                          </a:solidFill>
                          <a:latin typeface="Calibri"/>
                        </a:rPr>
                        <a:t>U.S.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3743325" cy="3091857"/>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4210050" y="4384868"/>
            <a:ext cx="3743325" cy="1493741"/>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0" name="Rounded Rectangle 19"/>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2" name="Chart 21"/>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3" name="Rounded Rectangle 22"/>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4" name="Table 23"/>
          <p:cNvGraphicFramePr>
            <a:graphicFrameLocks noGrp="1"/>
          </p:cNvGraphicFramePr>
          <p:nvPr/>
        </p:nvGraphicFramePr>
        <p:xfrm>
          <a:off x="8096250" y="3547710"/>
          <a:ext cx="3928892" cy="2159450"/>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56662">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56662">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5" name="TextBox 24"/>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6" name="Rounded Rectangle 25"/>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6"/>
          <a:stretch>
            <a:fillRect/>
          </a:stretch>
        </p:blipFill>
        <p:spPr>
          <a:xfrm>
            <a:off x="3188017" y="2125483"/>
            <a:ext cx="183356" cy="266700"/>
          </a:xfrm>
          <a:prstGeom prst="rect">
            <a:avLst/>
          </a:prstGeom>
        </p:spPr>
      </p:pic>
      <p:pic>
        <p:nvPicPr>
          <p:cNvPr id="29" name="Picture 28" descr="lock.png"/>
          <p:cNvPicPr>
            <a:picLocks noChangeAspect="1"/>
          </p:cNvPicPr>
          <p:nvPr/>
        </p:nvPicPr>
        <p:blipFill>
          <a:blip r:embed="rId6"/>
          <a:stretch>
            <a:fillRect/>
          </a:stretch>
        </p:blipFill>
        <p:spPr>
          <a:xfrm>
            <a:off x="2232897" y="4496595"/>
            <a:ext cx="355389" cy="516930"/>
          </a:xfrm>
          <a:prstGeom prst="rect">
            <a:avLst/>
          </a:prstGeom>
        </p:spPr>
      </p:pic>
      <p:pic>
        <p:nvPicPr>
          <p:cNvPr id="30" name="Picture 29" descr="lock.png"/>
          <p:cNvPicPr>
            <a:picLocks noChangeAspect="1"/>
          </p:cNvPicPr>
          <p:nvPr/>
        </p:nvPicPr>
        <p:blipFill>
          <a:blip r:embed="rId6"/>
          <a:stretch>
            <a:fillRect/>
          </a:stretch>
        </p:blipFill>
        <p:spPr>
          <a:xfrm>
            <a:off x="6024086" y="2838939"/>
            <a:ext cx="115252" cy="167639"/>
          </a:xfrm>
          <a:prstGeom prst="rect">
            <a:avLst/>
          </a:prstGeom>
        </p:spPr>
      </p:pic>
      <p:pic>
        <p:nvPicPr>
          <p:cNvPr id="31" name="Picture 30" descr="lock.png"/>
          <p:cNvPicPr>
            <a:picLocks noChangeAspect="1"/>
          </p:cNvPicPr>
          <p:nvPr/>
        </p:nvPicPr>
        <p:blipFill>
          <a:blip r:embed="rId6"/>
          <a:stretch>
            <a:fillRect/>
          </a:stretch>
        </p:blipFill>
        <p:spPr>
          <a:xfrm>
            <a:off x="6024086" y="5131738"/>
            <a:ext cx="115252" cy="167639"/>
          </a:xfrm>
          <a:prstGeom prst="rect">
            <a:avLst/>
          </a:prstGeom>
        </p:spPr>
      </p:pic>
      <p:pic>
        <p:nvPicPr>
          <p:cNvPr id="32" name="Picture 31" descr="lock.png"/>
          <p:cNvPicPr>
            <a:picLocks noChangeAspect="1"/>
          </p:cNvPicPr>
          <p:nvPr/>
        </p:nvPicPr>
        <p:blipFill>
          <a:blip r:embed="rId6"/>
          <a:stretch>
            <a:fillRect/>
          </a:stretch>
        </p:blipFill>
        <p:spPr>
          <a:xfrm>
            <a:off x="11131867" y="2120920"/>
            <a:ext cx="183356" cy="266700"/>
          </a:xfrm>
          <a:prstGeom prst="rect">
            <a:avLst/>
          </a:prstGeom>
        </p:spPr>
      </p:pic>
      <p:pic>
        <p:nvPicPr>
          <p:cNvPr id="33" name="Picture 32" descr="lock.png"/>
          <p:cNvPicPr>
            <a:picLocks noChangeAspect="1"/>
          </p:cNvPicPr>
          <p:nvPr/>
        </p:nvPicPr>
        <p:blipFill>
          <a:blip r:embed="rId6"/>
          <a:stretch>
            <a:fillRect/>
          </a:stretch>
        </p:blipFill>
        <p:spPr>
          <a:xfrm>
            <a:off x="10175439" y="4490163"/>
            <a:ext cx="357960" cy="520669"/>
          </a:xfrm>
          <a:prstGeom prst="rect">
            <a:avLst/>
          </a:prstGeom>
        </p:spPr>
      </p:pic>
      <p:sp>
        <p:nvSpPr>
          <p:cNvPr id="34" name="TextBox 33"/>
          <p:cNvSpPr txBox="1"/>
          <p:nvPr/>
        </p:nvSpPr>
        <p:spPr>
          <a:xfrm>
            <a:off x="257175" y="6160574"/>
            <a:ext cx="3660923" cy="186689"/>
          </a:xfrm>
          <a:prstGeom prst="rect">
            <a:avLst/>
          </a:prstGeom>
          <a:noFill/>
        </p:spPr>
        <p:txBody>
          <a:bodyPr wrap="none" lIns="0" rIns="0" tIns="0" bIns="0">
            <a:spAutoFit/>
          </a:bodyPr>
          <a:lstStyle/>
          <a:p>
            <a:r>
              <a:rPr sz="1100" b="0">
                <a:solidFill>
                  <a:srgbClr val="2E2E2E"/>
                </a:solidFill>
                <a:latin typeface="Calibri"/>
              </a:rPr>
              <a:t>The U.S. allergy immunotherapy market is projected to register</a:t>
            </a:r>
          </a:p>
        </p:txBody>
      </p:sp>
      <p:pic>
        <p:nvPicPr>
          <p:cNvPr id="35" name="Picture 34" descr="lock.png"/>
          <p:cNvPicPr>
            <a:picLocks noChangeAspect="1"/>
          </p:cNvPicPr>
          <p:nvPr/>
        </p:nvPicPr>
        <p:blipFill>
          <a:blip r:embed="rId6"/>
          <a:stretch>
            <a:fillRect/>
          </a:stretch>
        </p:blipFill>
        <p:spPr>
          <a:xfrm>
            <a:off x="3866150" y="6150795"/>
            <a:ext cx="128699" cy="187198"/>
          </a:xfrm>
          <a:prstGeom prst="rect">
            <a:avLst/>
          </a:prstGeom>
        </p:spPr>
      </p:pic>
      <p:sp>
        <p:nvSpPr>
          <p:cNvPr id="36" name="TextBox 35"/>
          <p:cNvSpPr txBox="1"/>
          <p:nvPr/>
        </p:nvSpPr>
        <p:spPr>
          <a:xfrm>
            <a:off x="4033646" y="6160574"/>
            <a:ext cx="4339761" cy="186689"/>
          </a:xfrm>
          <a:prstGeom prst="rect">
            <a:avLst/>
          </a:prstGeom>
          <a:noFill/>
        </p:spPr>
        <p:txBody>
          <a:bodyPr wrap="none" lIns="0" rIns="0" tIns="0" bIns="0">
            <a:spAutoFit/>
          </a:bodyPr>
          <a:lstStyle/>
          <a:p>
            <a:r>
              <a:rPr sz="1100" b="0">
                <a:solidFill>
                  <a:srgbClr val="2E2E2E"/>
                </a:solidFill>
                <a:latin typeface="Calibri"/>
              </a:rPr>
              <a:t>X higher value than Canada in 2036. Canada posts the highest CAGR Index (</a:t>
            </a:r>
          </a:p>
        </p:txBody>
      </p:sp>
      <p:pic>
        <p:nvPicPr>
          <p:cNvPr id="37" name="Picture 36" descr="lock.png"/>
          <p:cNvPicPr>
            <a:picLocks noChangeAspect="1"/>
          </p:cNvPicPr>
          <p:nvPr/>
        </p:nvPicPr>
        <p:blipFill>
          <a:blip r:embed="rId6"/>
          <a:stretch>
            <a:fillRect/>
          </a:stretch>
        </p:blipFill>
        <p:spPr>
          <a:xfrm>
            <a:off x="8321459" y="6150795"/>
            <a:ext cx="128699" cy="187198"/>
          </a:xfrm>
          <a:prstGeom prst="rect">
            <a:avLst/>
          </a:prstGeom>
        </p:spPr>
      </p:pic>
      <p:sp>
        <p:nvSpPr>
          <p:cNvPr id="38" name="TextBox 37"/>
          <p:cNvSpPr txBox="1"/>
          <p:nvPr/>
        </p:nvSpPr>
        <p:spPr>
          <a:xfrm>
            <a:off x="8488955"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39" name="Picture 38" descr="lock.png"/>
          <p:cNvPicPr>
            <a:picLocks noChangeAspect="1"/>
          </p:cNvPicPr>
          <p:nvPr/>
        </p:nvPicPr>
        <p:blipFill>
          <a:blip r:embed="rId6"/>
          <a:stretch>
            <a:fillRect/>
          </a:stretch>
        </p:blipFill>
        <p:spPr>
          <a:xfrm>
            <a:off x="9226986" y="6150795"/>
            <a:ext cx="128699" cy="187198"/>
          </a:xfrm>
          <a:prstGeom prst="rect">
            <a:avLst/>
          </a:prstGeom>
        </p:spPr>
      </p:pic>
      <p:sp>
        <p:nvSpPr>
          <p:cNvPr id="40" name="TextBox 39"/>
          <p:cNvSpPr txBox="1"/>
          <p:nvPr/>
        </p:nvSpPr>
        <p:spPr>
          <a:xfrm>
            <a:off x="9394482" y="6160574"/>
            <a:ext cx="1069106" cy="186689"/>
          </a:xfrm>
          <a:prstGeom prst="rect">
            <a:avLst/>
          </a:prstGeom>
          <a:noFill/>
        </p:spPr>
        <p:txBody>
          <a:bodyPr wrap="none" lIns="0" rIns="0" tIns="0" bIns="0">
            <a:spAutoFit/>
          </a:bodyPr>
          <a:lstStyle/>
          <a:p>
            <a:r>
              <a:rPr sz="1100" b="0">
                <a:solidFill>
                  <a:srgbClr val="2E2E2E"/>
                </a:solidFill>
                <a:latin typeface="Calibri"/>
              </a:rPr>
              <a:t>against the North</a:t>
            </a:r>
          </a:p>
        </p:txBody>
      </p:sp>
      <p:sp>
        <p:nvSpPr>
          <p:cNvPr id="41" name="TextBox 40"/>
          <p:cNvSpPr txBox="1"/>
          <p:nvPr/>
        </p:nvSpPr>
        <p:spPr>
          <a:xfrm>
            <a:off x="257175" y="6328214"/>
            <a:ext cx="4080842" cy="186689"/>
          </a:xfrm>
          <a:prstGeom prst="rect">
            <a:avLst/>
          </a:prstGeom>
          <a:noFill/>
        </p:spPr>
        <p:txBody>
          <a:bodyPr wrap="none" lIns="0" rIns="0" tIns="0" bIns="0">
            <a:spAutoFit/>
          </a:bodyPr>
          <a:lstStyle/>
          <a:p>
            <a:r>
              <a:rPr sz="1100" b="0">
                <a:solidFill>
                  <a:srgbClr val="2E2E2E"/>
                </a:solidFill>
                <a:latin typeface="Calibri"/>
              </a:rPr>
              <a:t>America benchmark, while U.S. offers the largest absolute opportunity</a:t>
            </a:r>
          </a:p>
        </p:txBody>
      </p:sp>
      <p:pic>
        <p:nvPicPr>
          <p:cNvPr id="42" name="Picture 41" descr="lock.png"/>
          <p:cNvPicPr>
            <a:picLocks noChangeAspect="1"/>
          </p:cNvPicPr>
          <p:nvPr/>
        </p:nvPicPr>
        <p:blipFill>
          <a:blip r:embed="rId6"/>
          <a:stretch>
            <a:fillRect/>
          </a:stretch>
        </p:blipFill>
        <p:spPr>
          <a:xfrm>
            <a:off x="4286068" y="6318435"/>
            <a:ext cx="128699" cy="187198"/>
          </a:xfrm>
          <a:prstGeom prst="rect">
            <a:avLst/>
          </a:prstGeom>
        </p:spPr>
      </p:pic>
      <p:sp>
        <p:nvSpPr>
          <p:cNvPr id="43" name="TextBox 42"/>
          <p:cNvSpPr txBox="1"/>
          <p:nvPr/>
        </p:nvSpPr>
        <p:spPr>
          <a:xfrm>
            <a:off x="4453564"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44" name="Picture 43" descr="lock.png"/>
          <p:cNvPicPr>
            <a:picLocks noChangeAspect="1"/>
          </p:cNvPicPr>
          <p:nvPr/>
        </p:nvPicPr>
        <p:blipFill>
          <a:blip r:embed="rId6"/>
          <a:stretch>
            <a:fillRect/>
          </a:stretch>
        </p:blipFill>
        <p:spPr>
          <a:xfrm>
            <a:off x="7713563" y="6318435"/>
            <a:ext cx="128699" cy="187198"/>
          </a:xfrm>
          <a:prstGeom prst="rect">
            <a:avLst/>
          </a:prstGeom>
        </p:spPr>
      </p:pic>
      <p:sp>
        <p:nvSpPr>
          <p:cNvPr id="45" name="TextBox 44"/>
          <p:cNvSpPr txBox="1"/>
          <p:nvPr/>
        </p:nvSpPr>
        <p:spPr>
          <a:xfrm>
            <a:off x="7881058" y="6328214"/>
            <a:ext cx="1973336" cy="186689"/>
          </a:xfrm>
          <a:prstGeom prst="rect">
            <a:avLst/>
          </a:prstGeom>
          <a:noFill/>
        </p:spPr>
        <p:txBody>
          <a:bodyPr wrap="none" lIns="0" rIns="0" tIns="0" bIns="0">
            <a:spAutoFit/>
          </a:bodyPr>
          <a:lstStyle/>
          <a:p>
            <a:r>
              <a:rPr sz="1100" b="0">
                <a:solidFill>
                  <a:srgbClr val="2E2E2E"/>
                </a:solidFill>
                <a:latin typeface="Calibri"/>
              </a:rPr>
              <a:t>of the North America increment).</a:t>
            </a:r>
          </a:p>
        </p:txBody>
      </p:sp>
      <p:sp>
        <p:nvSpPr>
          <p:cNvPr id="46"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ockshield_22"/>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00350"/>
            <a:ext cx="11906250"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88607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242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099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505325"/>
            <a:ext cx="3943350"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910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8291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14900"/>
            <a:ext cx="3676650"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'Licensed Finished AIT Products'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Canada outpacing the North America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3 commercial product model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3686088" cy="194310"/>
          </a:xfrm>
          <a:prstGeom prst="rect">
            <a:avLst/>
          </a:prstGeom>
          <a:noFill/>
        </p:spPr>
        <p:txBody>
          <a:bodyPr wrap="none" lIns="0" rIns="0" tIns="0" bIns="0">
            <a:spAutoFit/>
          </a:bodyPr>
          <a:lstStyle/>
          <a:p>
            <a:r>
              <a:rPr sz="1150" b="0">
                <a:solidFill>
                  <a:srgbClr val="2E2E2E"/>
                </a:solidFill>
                <a:latin typeface="Calibri"/>
              </a:rPr>
              <a:t>Global allergy immunotherapy market is expected to witness</a:t>
            </a:r>
          </a:p>
        </p:txBody>
      </p:sp>
      <p:pic>
        <p:nvPicPr>
          <p:cNvPr id="32" name="Picture 31" descr="lock.png"/>
          <p:cNvPicPr>
            <a:picLocks noChangeAspect="1"/>
          </p:cNvPicPr>
          <p:nvPr/>
        </p:nvPicPr>
        <p:blipFill>
          <a:blip r:embed="rId4"/>
          <a:stretch>
            <a:fillRect/>
          </a:stretch>
        </p:blipFill>
        <p:spPr>
          <a:xfrm>
            <a:off x="3911467" y="1389951"/>
            <a:ext cx="134549" cy="195707"/>
          </a:xfrm>
          <a:prstGeom prst="rect">
            <a:avLst/>
          </a:prstGeom>
        </p:spPr>
      </p:pic>
      <p:sp>
        <p:nvSpPr>
          <p:cNvPr id="33" name="TextBox 32"/>
          <p:cNvSpPr txBox="1"/>
          <p:nvPr/>
        </p:nvSpPr>
        <p:spPr>
          <a:xfrm>
            <a:off x="4086576" y="1400175"/>
            <a:ext cx="5574754" cy="194310"/>
          </a:xfrm>
          <a:prstGeom prst="rect">
            <a:avLst/>
          </a:prstGeom>
          <a:noFill/>
        </p:spPr>
        <p:txBody>
          <a:bodyPr wrap="none" lIns="0" rIns="0" tIns="0" bIns="0">
            <a:spAutoFit/>
          </a:bodyPr>
          <a:lstStyle/>
          <a:p>
            <a:r>
              <a:rPr sz="1150" b="0">
                <a:solidFill>
                  <a:srgbClr val="2E2E2E"/>
                </a:solidFill>
                <a:latin typeface="Calibri"/>
              </a:rPr>
              <a:t>X increase in revenue by 2036 end. Global allergy immunotherapy market accounted for US$</a:t>
            </a:r>
          </a:p>
        </p:txBody>
      </p:sp>
      <p:pic>
        <p:nvPicPr>
          <p:cNvPr id="34" name="Picture 33" descr="lock.png"/>
          <p:cNvPicPr>
            <a:picLocks noChangeAspect="1"/>
          </p:cNvPicPr>
          <p:nvPr/>
        </p:nvPicPr>
        <p:blipFill>
          <a:blip r:embed="rId4"/>
          <a:stretch>
            <a:fillRect/>
          </a:stretch>
        </p:blipFill>
        <p:spPr>
          <a:xfrm>
            <a:off x="9610484" y="1389951"/>
            <a:ext cx="134549" cy="195707"/>
          </a:xfrm>
          <a:prstGeom prst="rect">
            <a:avLst/>
          </a:prstGeom>
        </p:spPr>
      </p:pic>
      <p:sp>
        <p:nvSpPr>
          <p:cNvPr id="35" name="TextBox 34"/>
          <p:cNvSpPr txBox="1"/>
          <p:nvPr/>
        </p:nvSpPr>
        <p:spPr>
          <a:xfrm>
            <a:off x="9785593" y="1400175"/>
            <a:ext cx="1877007" cy="194310"/>
          </a:xfrm>
          <a:prstGeom prst="rect">
            <a:avLst/>
          </a:prstGeom>
          <a:noFill/>
        </p:spPr>
        <p:txBody>
          <a:bodyPr wrap="none" lIns="0" rIns="0" tIns="0" bIns="0">
            <a:spAutoFit/>
          </a:bodyPr>
          <a:lstStyle/>
          <a:p>
            <a:r>
              <a:rPr sz="1150" b="0">
                <a:solidFill>
                  <a:srgbClr val="2E2E2E"/>
                </a:solidFill>
                <a:latin typeface="Calibri"/>
              </a:rPr>
              <a:t>Mn in 2025, which is expected</a:t>
            </a:r>
          </a:p>
        </p:txBody>
      </p:sp>
      <p:sp>
        <p:nvSpPr>
          <p:cNvPr id="36" name="TextBox 35"/>
          <p:cNvSpPr txBox="1"/>
          <p:nvPr/>
        </p:nvSpPr>
        <p:spPr>
          <a:xfrm>
            <a:off x="276225" y="1575435"/>
            <a:ext cx="1158453" cy="194310"/>
          </a:xfrm>
          <a:prstGeom prst="rect">
            <a:avLst/>
          </a:prstGeom>
          <a:noFill/>
        </p:spPr>
        <p:txBody>
          <a:bodyPr wrap="none" lIns="0" rIns="0" tIns="0" bIns="0">
            <a:spAutoFit/>
          </a:bodyPr>
          <a:lstStyle/>
          <a:p>
            <a:r>
              <a:rPr sz="1150" b="0">
                <a:solidFill>
                  <a:srgbClr val="2E2E2E"/>
                </a:solidFill>
                <a:latin typeface="Calibri"/>
              </a:rPr>
              <a:t>to increase to US$</a:t>
            </a:r>
          </a:p>
        </p:txBody>
      </p:sp>
      <p:pic>
        <p:nvPicPr>
          <p:cNvPr id="37" name="Picture 36" descr="lock.png"/>
          <p:cNvPicPr>
            <a:picLocks noChangeAspect="1"/>
          </p:cNvPicPr>
          <p:nvPr/>
        </p:nvPicPr>
        <p:blipFill>
          <a:blip r:embed="rId4"/>
          <a:stretch>
            <a:fillRect/>
          </a:stretch>
        </p:blipFill>
        <p:spPr>
          <a:xfrm>
            <a:off x="1383832" y="1565211"/>
            <a:ext cx="134549" cy="195707"/>
          </a:xfrm>
          <a:prstGeom prst="rect">
            <a:avLst/>
          </a:prstGeom>
        </p:spPr>
      </p:pic>
      <p:sp>
        <p:nvSpPr>
          <p:cNvPr id="38" name="TextBox 37"/>
          <p:cNvSpPr txBox="1"/>
          <p:nvPr/>
        </p:nvSpPr>
        <p:spPr>
          <a:xfrm>
            <a:off x="1558941"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3035649" y="1565211"/>
            <a:ext cx="134549" cy="195707"/>
          </a:xfrm>
          <a:prstGeom prst="rect">
            <a:avLst/>
          </a:prstGeom>
        </p:spPr>
      </p:pic>
      <p:sp>
        <p:nvSpPr>
          <p:cNvPr id="40" name="TextBox 39"/>
          <p:cNvSpPr txBox="1"/>
          <p:nvPr/>
        </p:nvSpPr>
        <p:spPr>
          <a:xfrm>
            <a:off x="3210758"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575640" cy="194310"/>
          </a:xfrm>
          <a:prstGeom prst="rect">
            <a:avLst/>
          </a:prstGeom>
          <a:noFill/>
        </p:spPr>
        <p:txBody>
          <a:bodyPr wrap="none" lIns="0" rIns="0" tIns="0" bIns="0">
            <a:spAutoFit/>
          </a:bodyPr>
          <a:lstStyle/>
          <a:p>
            <a:r>
              <a:rPr sz="1150" b="0">
                <a:solidFill>
                  <a:srgbClr val="2E2E2E"/>
                </a:solidFill>
                <a:latin typeface="Calibri"/>
              </a:rPr>
              <a:t>The global allergy immunotherapy market has been analysed on the basis of therapy format, allergen class, commercial product model and allergen preparation technology across the globe. U.S.</a:t>
            </a:r>
          </a:p>
        </p:txBody>
      </p:sp>
      <p:sp>
        <p:nvSpPr>
          <p:cNvPr id="42" name="TextBox 41"/>
          <p:cNvSpPr txBox="1"/>
          <p:nvPr/>
        </p:nvSpPr>
        <p:spPr>
          <a:xfrm>
            <a:off x="276225" y="1978533"/>
            <a:ext cx="8434406" cy="194310"/>
          </a:xfrm>
          <a:prstGeom prst="rect">
            <a:avLst/>
          </a:prstGeom>
          <a:noFill/>
        </p:spPr>
        <p:txBody>
          <a:bodyPr wrap="none" lIns="0" rIns="0" tIns="0" bIns="0">
            <a:spAutoFit/>
          </a:bodyPr>
          <a:lstStyle/>
          <a:p>
            <a:r>
              <a:rPr sz="1150" b="0">
                <a:solidFill>
                  <a:srgbClr val="2E2E2E"/>
                </a:solidFill>
                <a:latin typeface="Calibri"/>
              </a:rPr>
              <a:t>is expected to remain the largest market for allergy immunotherapy, while demand in Canada is projected to increase at the highest CAGR of</a:t>
            </a:r>
          </a:p>
        </p:txBody>
      </p:sp>
      <p:pic>
        <p:nvPicPr>
          <p:cNvPr id="43" name="Picture 42" descr="lock.png"/>
          <p:cNvPicPr>
            <a:picLocks noChangeAspect="1"/>
          </p:cNvPicPr>
          <p:nvPr/>
        </p:nvPicPr>
        <p:blipFill>
          <a:blip r:embed="rId4"/>
          <a:stretch>
            <a:fillRect/>
          </a:stretch>
        </p:blipFill>
        <p:spPr>
          <a:xfrm>
            <a:off x="8659785" y="1968309"/>
            <a:ext cx="134549" cy="195707"/>
          </a:xfrm>
          <a:prstGeom prst="rect">
            <a:avLst/>
          </a:prstGeom>
        </p:spPr>
      </p:pic>
      <p:sp>
        <p:nvSpPr>
          <p:cNvPr id="44" name="TextBox 43"/>
          <p:cNvSpPr txBox="1"/>
          <p:nvPr/>
        </p:nvSpPr>
        <p:spPr>
          <a:xfrm>
            <a:off x="8834895"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19450"/>
            <a:ext cx="7617457"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commercial product model category 'Licensed Finished AIT Products' holds</a:t>
            </a:r>
          </a:p>
        </p:txBody>
      </p:sp>
      <p:pic>
        <p:nvPicPr>
          <p:cNvPr id="46" name="Picture 45" descr="lock.png"/>
          <p:cNvPicPr>
            <a:picLocks noChangeAspect="1"/>
          </p:cNvPicPr>
          <p:nvPr/>
        </p:nvPicPr>
        <p:blipFill>
          <a:blip r:embed="rId4"/>
          <a:stretch>
            <a:fillRect/>
          </a:stretch>
        </p:blipFill>
        <p:spPr>
          <a:xfrm>
            <a:off x="7842836" y="3209226"/>
            <a:ext cx="134549" cy="195707"/>
          </a:xfrm>
          <a:prstGeom prst="rect">
            <a:avLst/>
          </a:prstGeom>
        </p:spPr>
      </p:pic>
      <p:sp>
        <p:nvSpPr>
          <p:cNvPr id="47" name="TextBox 46"/>
          <p:cNvSpPr txBox="1"/>
          <p:nvPr/>
        </p:nvSpPr>
        <p:spPr>
          <a:xfrm>
            <a:off x="8017945" y="32194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447287"/>
            <a:ext cx="5870277" cy="194310"/>
          </a:xfrm>
          <a:prstGeom prst="rect">
            <a:avLst/>
          </a:prstGeom>
          <a:noFill/>
        </p:spPr>
        <p:txBody>
          <a:bodyPr wrap="none" lIns="0" rIns="0" tIns="0" bIns="0">
            <a:spAutoFit/>
          </a:bodyPr>
          <a:lstStyle/>
          <a:p>
            <a:r>
              <a:rPr sz="1150" b="0">
                <a:solidFill>
                  <a:srgbClr val="2E2E2E"/>
                </a:solidFill>
                <a:latin typeface="Calibri"/>
              </a:rPr>
              <a:t>▪ Demand spans 2 countries and 9 segmentation lenses (3 commercial product model categories).</a:t>
            </a:r>
          </a:p>
        </p:txBody>
      </p:sp>
      <p:sp>
        <p:nvSpPr>
          <p:cNvPr id="49" name="TextBox 48"/>
          <p:cNvSpPr txBox="1"/>
          <p:nvPr/>
        </p:nvSpPr>
        <p:spPr>
          <a:xfrm>
            <a:off x="276225" y="3675125"/>
            <a:ext cx="2288914" cy="194310"/>
          </a:xfrm>
          <a:prstGeom prst="rect">
            <a:avLst/>
          </a:prstGeom>
          <a:noFill/>
        </p:spPr>
        <p:txBody>
          <a:bodyPr wrap="none" lIns="0" rIns="0" tIns="0" bIns="0">
            <a:spAutoFit/>
          </a:bodyPr>
          <a:lstStyle/>
          <a:p>
            <a:r>
              <a:rPr sz="1150" b="0">
                <a:solidFill>
                  <a:srgbClr val="2E2E2E"/>
                </a:solidFill>
                <a:latin typeface="Calibri"/>
              </a:rPr>
              <a:t>▪ U.S. is the largest country market at</a:t>
            </a:r>
          </a:p>
        </p:txBody>
      </p:sp>
      <p:pic>
        <p:nvPicPr>
          <p:cNvPr id="50" name="Picture 49" descr="lock.png"/>
          <p:cNvPicPr>
            <a:picLocks noChangeAspect="1"/>
          </p:cNvPicPr>
          <p:nvPr/>
        </p:nvPicPr>
        <p:blipFill>
          <a:blip r:embed="rId4"/>
          <a:stretch>
            <a:fillRect/>
          </a:stretch>
        </p:blipFill>
        <p:spPr>
          <a:xfrm>
            <a:off x="2514293" y="3664902"/>
            <a:ext cx="134549" cy="195707"/>
          </a:xfrm>
          <a:prstGeom prst="rect">
            <a:avLst/>
          </a:prstGeom>
        </p:spPr>
      </p:pic>
      <p:sp>
        <p:nvSpPr>
          <p:cNvPr id="51" name="TextBox 50"/>
          <p:cNvSpPr txBox="1"/>
          <p:nvPr/>
        </p:nvSpPr>
        <p:spPr>
          <a:xfrm>
            <a:off x="2689402" y="367512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4924425"/>
            <a:ext cx="3418520" cy="194310"/>
          </a:xfrm>
          <a:prstGeom prst="rect">
            <a:avLst/>
          </a:prstGeom>
          <a:noFill/>
        </p:spPr>
        <p:txBody>
          <a:bodyPr wrap="none" lIns="0" rIns="0" tIns="0" bIns="0">
            <a:spAutoFit/>
          </a:bodyPr>
          <a:lstStyle/>
          <a:p>
            <a:r>
              <a:rPr sz="1150" b="0">
                <a:solidFill>
                  <a:srgbClr val="2E2E2E"/>
                </a:solidFill>
                <a:latin typeface="Calibri"/>
              </a:rPr>
              <a:t>▪ Accelerating uptake of 'Licensed Finished AIT Products'</a:t>
            </a:r>
          </a:p>
        </p:txBody>
      </p:sp>
      <p:sp>
        <p:nvSpPr>
          <p:cNvPr id="53" name="TextBox 52"/>
          <p:cNvSpPr txBox="1"/>
          <p:nvPr/>
        </p:nvSpPr>
        <p:spPr>
          <a:xfrm>
            <a:off x="276225" y="5099685"/>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4" name="Picture 53" descr="lock.png"/>
          <p:cNvPicPr>
            <a:picLocks noChangeAspect="1"/>
          </p:cNvPicPr>
          <p:nvPr/>
        </p:nvPicPr>
        <p:blipFill>
          <a:blip r:embed="rId4"/>
          <a:stretch>
            <a:fillRect/>
          </a:stretch>
        </p:blipFill>
        <p:spPr>
          <a:xfrm>
            <a:off x="345793" y="5089461"/>
            <a:ext cx="134549" cy="195707"/>
          </a:xfrm>
          <a:prstGeom prst="rect">
            <a:avLst/>
          </a:prstGeom>
        </p:spPr>
      </p:pic>
      <p:sp>
        <p:nvSpPr>
          <p:cNvPr id="55" name="TextBox 54"/>
          <p:cNvSpPr txBox="1"/>
          <p:nvPr/>
        </p:nvSpPr>
        <p:spPr>
          <a:xfrm>
            <a:off x="520902" y="509968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6" name="TextBox 55"/>
          <p:cNvSpPr txBox="1"/>
          <p:nvPr/>
        </p:nvSpPr>
        <p:spPr>
          <a:xfrm>
            <a:off x="276225" y="5327522"/>
            <a:ext cx="2146510" cy="194310"/>
          </a:xfrm>
          <a:prstGeom prst="rect">
            <a:avLst/>
          </a:prstGeom>
          <a:noFill/>
        </p:spPr>
        <p:txBody>
          <a:bodyPr wrap="none" lIns="0" rIns="0" tIns="0" bIns="0">
            <a:spAutoFit/>
          </a:bodyPr>
          <a:lstStyle/>
          <a:p>
            <a:r>
              <a:rPr sz="1150" b="0">
                <a:solidFill>
                  <a:srgbClr val="2E2E2E"/>
                </a:solidFill>
                <a:latin typeface="Calibri"/>
              </a:rPr>
              <a:t>▪ Fast-growing demand in Canada (</a:t>
            </a:r>
          </a:p>
        </p:txBody>
      </p:sp>
      <p:pic>
        <p:nvPicPr>
          <p:cNvPr id="57" name="Picture 56" descr="lock.png"/>
          <p:cNvPicPr>
            <a:picLocks noChangeAspect="1"/>
          </p:cNvPicPr>
          <p:nvPr/>
        </p:nvPicPr>
        <p:blipFill>
          <a:blip r:embed="rId4"/>
          <a:stretch>
            <a:fillRect/>
          </a:stretch>
        </p:blipFill>
        <p:spPr>
          <a:xfrm>
            <a:off x="2371889" y="5317299"/>
            <a:ext cx="134549" cy="195707"/>
          </a:xfrm>
          <a:prstGeom prst="rect">
            <a:avLst/>
          </a:prstGeom>
        </p:spPr>
      </p:pic>
      <p:sp>
        <p:nvSpPr>
          <p:cNvPr id="58" name="TextBox 57"/>
          <p:cNvSpPr txBox="1"/>
          <p:nvPr/>
        </p:nvSpPr>
        <p:spPr>
          <a:xfrm>
            <a:off x="2546998" y="532752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9" name="TextBox 58"/>
          <p:cNvSpPr txBox="1"/>
          <p:nvPr/>
        </p:nvSpPr>
        <p:spPr>
          <a:xfrm>
            <a:off x="276225" y="5555360"/>
            <a:ext cx="3643300" cy="194310"/>
          </a:xfrm>
          <a:prstGeom prst="rect">
            <a:avLst/>
          </a:prstGeom>
          <a:noFill/>
        </p:spPr>
        <p:txBody>
          <a:bodyPr wrap="none" lIns="0" rIns="0" tIns="0" bIns="0">
            <a:spAutoFit/>
          </a:bodyPr>
          <a:lstStyle/>
          <a:p>
            <a:r>
              <a:rPr sz="1150" b="0">
                <a:solidFill>
                  <a:srgbClr val="2E2E2E"/>
                </a:solidFill>
                <a:latin typeface="Calibri"/>
              </a:rPr>
              <a:t>▪ Momentum in Retail Pharmacy within sales / procurement</a:t>
            </a:r>
          </a:p>
        </p:txBody>
      </p:sp>
      <p:sp>
        <p:nvSpPr>
          <p:cNvPr id="60" name="TextBox 59"/>
          <p:cNvSpPr txBox="1"/>
          <p:nvPr/>
        </p:nvSpPr>
        <p:spPr>
          <a:xfrm>
            <a:off x="276225" y="5730620"/>
            <a:ext cx="621890" cy="194310"/>
          </a:xfrm>
          <a:prstGeom prst="rect">
            <a:avLst/>
          </a:prstGeom>
          <a:noFill/>
        </p:spPr>
        <p:txBody>
          <a:bodyPr wrap="none" lIns="0" rIns="0" tIns="0" bIns="0">
            <a:spAutoFit/>
          </a:bodyPr>
          <a:lstStyle/>
          <a:p>
            <a:r>
              <a:rPr sz="1150" b="0">
                <a:solidFill>
                  <a:srgbClr val="2E2E2E"/>
                </a:solidFill>
                <a:latin typeface="Calibri"/>
              </a:rPr>
              <a:t>channel (</a:t>
            </a:r>
          </a:p>
        </p:txBody>
      </p:sp>
      <p:pic>
        <p:nvPicPr>
          <p:cNvPr id="61" name="Picture 60" descr="lock.png"/>
          <p:cNvPicPr>
            <a:picLocks noChangeAspect="1"/>
          </p:cNvPicPr>
          <p:nvPr/>
        </p:nvPicPr>
        <p:blipFill>
          <a:blip r:embed="rId4"/>
          <a:stretch>
            <a:fillRect/>
          </a:stretch>
        </p:blipFill>
        <p:spPr>
          <a:xfrm>
            <a:off x="847269" y="5720397"/>
            <a:ext cx="134549" cy="195707"/>
          </a:xfrm>
          <a:prstGeom prst="rect">
            <a:avLst/>
          </a:prstGeom>
        </p:spPr>
      </p:pic>
      <p:sp>
        <p:nvSpPr>
          <p:cNvPr id="62" name="TextBox 61"/>
          <p:cNvSpPr txBox="1"/>
          <p:nvPr/>
        </p:nvSpPr>
        <p:spPr>
          <a:xfrm>
            <a:off x="1022378" y="573062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3" name="TextBox 62"/>
          <p:cNvSpPr txBox="1"/>
          <p:nvPr/>
        </p:nvSpPr>
        <p:spPr>
          <a:xfrm>
            <a:off x="4371975" y="4924425"/>
            <a:ext cx="3443051" cy="194310"/>
          </a:xfrm>
          <a:prstGeom prst="rect">
            <a:avLst/>
          </a:prstGeom>
          <a:noFill/>
        </p:spPr>
        <p:txBody>
          <a:bodyPr wrap="none" lIns="0" rIns="0" tIns="0" bIns="0">
            <a:spAutoFit/>
          </a:bodyPr>
          <a:lstStyle/>
          <a:p>
            <a:r>
              <a:rPr sz="1150" b="0">
                <a:solidFill>
                  <a:srgbClr val="2E2E2E"/>
                </a:solidFill>
                <a:latin typeface="Calibri"/>
              </a:rPr>
              <a:t>▪ Slower momentum in 'Individual-Prescription Products'</a:t>
            </a:r>
          </a:p>
        </p:txBody>
      </p:sp>
      <p:sp>
        <p:nvSpPr>
          <p:cNvPr id="64" name="TextBox 63"/>
          <p:cNvSpPr txBox="1"/>
          <p:nvPr/>
        </p:nvSpPr>
        <p:spPr>
          <a:xfrm>
            <a:off x="4371975" y="5099685"/>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5" name="Picture 64" descr="lock.png"/>
          <p:cNvPicPr>
            <a:picLocks noChangeAspect="1"/>
          </p:cNvPicPr>
          <p:nvPr/>
        </p:nvPicPr>
        <p:blipFill>
          <a:blip r:embed="rId4"/>
          <a:stretch>
            <a:fillRect/>
          </a:stretch>
        </p:blipFill>
        <p:spPr>
          <a:xfrm>
            <a:off x="4441543" y="5089461"/>
            <a:ext cx="134549" cy="195707"/>
          </a:xfrm>
          <a:prstGeom prst="rect">
            <a:avLst/>
          </a:prstGeom>
        </p:spPr>
      </p:pic>
      <p:sp>
        <p:nvSpPr>
          <p:cNvPr id="66" name="TextBox 65"/>
          <p:cNvSpPr txBox="1"/>
          <p:nvPr/>
        </p:nvSpPr>
        <p:spPr>
          <a:xfrm>
            <a:off x="4616652" y="509968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7" name="TextBox 66"/>
          <p:cNvSpPr txBox="1"/>
          <p:nvPr/>
        </p:nvSpPr>
        <p:spPr>
          <a:xfrm>
            <a:off x="4371975" y="5327522"/>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8" name="TextBox 67"/>
          <p:cNvSpPr txBox="1"/>
          <p:nvPr/>
        </p:nvSpPr>
        <p:spPr>
          <a:xfrm>
            <a:off x="4371975" y="550278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9" name="Picture 68" descr="lock.png"/>
          <p:cNvPicPr>
            <a:picLocks noChangeAspect="1"/>
          </p:cNvPicPr>
          <p:nvPr/>
        </p:nvPicPr>
        <p:blipFill>
          <a:blip r:embed="rId4"/>
          <a:stretch>
            <a:fillRect/>
          </a:stretch>
        </p:blipFill>
        <p:spPr>
          <a:xfrm>
            <a:off x="4883401" y="5492559"/>
            <a:ext cx="134549" cy="195707"/>
          </a:xfrm>
          <a:prstGeom prst="rect">
            <a:avLst/>
          </a:prstGeom>
        </p:spPr>
      </p:pic>
      <p:sp>
        <p:nvSpPr>
          <p:cNvPr id="70" name="TextBox 69"/>
          <p:cNvSpPr txBox="1"/>
          <p:nvPr/>
        </p:nvSpPr>
        <p:spPr>
          <a:xfrm>
            <a:off x="5058510" y="550278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1" name="TextBox 70"/>
          <p:cNvSpPr txBox="1"/>
          <p:nvPr/>
        </p:nvSpPr>
        <p:spPr>
          <a:xfrm>
            <a:off x="4371975" y="5730620"/>
            <a:ext cx="3428789" cy="194310"/>
          </a:xfrm>
          <a:prstGeom prst="rect">
            <a:avLst/>
          </a:prstGeom>
          <a:noFill/>
        </p:spPr>
        <p:txBody>
          <a:bodyPr wrap="none" lIns="0" rIns="0" tIns="0" bIns="0">
            <a:spAutoFit/>
          </a:bodyPr>
          <a:lstStyle/>
          <a:p>
            <a:r>
              <a:rPr sz="1150" b="0">
                <a:solidFill>
                  <a:srgbClr val="2E2E2E"/>
                </a:solidFill>
                <a:latin typeface="Calibri"/>
              </a:rPr>
              <a:t>▪ Value concentration in 'Licensed Finished AIT Products'</a:t>
            </a:r>
          </a:p>
        </p:txBody>
      </p:sp>
      <p:sp>
        <p:nvSpPr>
          <p:cNvPr id="72" name="TextBox 71"/>
          <p:cNvSpPr txBox="1"/>
          <p:nvPr/>
        </p:nvSpPr>
        <p:spPr>
          <a:xfrm>
            <a:off x="4371975" y="5905880"/>
            <a:ext cx="1978843" cy="194310"/>
          </a:xfrm>
          <a:prstGeom prst="rect">
            <a:avLst/>
          </a:prstGeom>
          <a:noFill/>
        </p:spPr>
        <p:txBody>
          <a:bodyPr wrap="none" lIns="0" rIns="0" tIns="0" bIns="0">
            <a:spAutoFit/>
          </a:bodyPr>
          <a:lstStyle/>
          <a:p>
            <a:r>
              <a:rPr sz="1150" b="0">
                <a:solidFill>
                  <a:srgbClr val="2E2E2E"/>
                </a:solidFill>
                <a:latin typeface="Calibri"/>
              </a:rPr>
              <a:t>raises barriers for new entrants.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52600"/>
          </a:xfrm>
          <a:prstGeom prst="roundRect">
            <a:avLst>
              <a:gd name="adj" fmla="val 434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668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Capacity and product development are concentrating in 'Licensed Finished AIT Products' and in Canada, the fastest-growing country.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Portfolio expansion is tracking the shift toward higher-growth commercial product model categories.</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Commercial focus is intensifying in U.S. and Canada, the two countries that make up the North America market.</a:t>
            </a:r>
          </a:p>
        </p:txBody>
      </p:sp>
      <p:sp>
        <p:nvSpPr>
          <p:cNvPr id="14" name="Rounded Rectangle 13"/>
          <p:cNvSpPr/>
          <p:nvPr/>
        </p:nvSpPr>
        <p:spPr>
          <a:xfrm>
            <a:off x="6172200" y="981075"/>
            <a:ext cx="5876925" cy="1752600"/>
          </a:xfrm>
          <a:prstGeom prst="roundRect">
            <a:avLst>
              <a:gd name="adj" fmla="val 434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668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67025"/>
            <a:ext cx="5876925"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52750"/>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19087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76600"/>
            <a:ext cx="5610225"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67025"/>
            <a:ext cx="5876925"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52750"/>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19087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76600"/>
            <a:ext cx="5610225" cy="11906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6" name="Rounded Rectangle 25"/>
          <p:cNvSpPr/>
          <p:nvPr/>
        </p:nvSpPr>
        <p:spPr>
          <a:xfrm>
            <a:off x="142875" y="4676775"/>
            <a:ext cx="11906250" cy="1933575"/>
          </a:xfrm>
          <a:prstGeom prst="roundRect">
            <a:avLst>
              <a:gd name="adj" fmla="val 39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7339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Commercial Product Model Share (2036)</a:t>
            </a:r>
          </a:p>
        </p:txBody>
      </p:sp>
      <p:graphicFrame>
        <p:nvGraphicFramePr>
          <p:cNvPr id="28" name="Chart 27"/>
          <p:cNvGraphicFramePr>
            <a:graphicFrameLocks noGrp="1"/>
          </p:cNvGraphicFramePr>
          <p:nvPr/>
        </p:nvGraphicFramePr>
        <p:xfrm>
          <a:off x="238125" y="4962525"/>
          <a:ext cx="11715750" cy="1590675"/>
        </p:xfrm>
        <a:graphic>
          <a:graphicData uri="http://schemas.openxmlformats.org/drawingml/2006/chart">
            <c:chart xmlns:c="http://schemas.openxmlformats.org/drawingml/2006/chart" r:id="rId3"/>
          </a:graphicData>
        </a:graphic>
      </p:graphicFrame>
      <p:sp>
        <p:nvSpPr>
          <p:cNvPr id="29" name="TextBox 28"/>
          <p:cNvSpPr txBox="1"/>
          <p:nvPr/>
        </p:nvSpPr>
        <p:spPr>
          <a:xfrm>
            <a:off x="3958148" y="5643562"/>
            <a:ext cx="760979"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72768" y="5519690"/>
            <a:ext cx="311891" cy="453660"/>
          </a:xfrm>
          <a:prstGeom prst="rect">
            <a:avLst/>
          </a:prstGeom>
        </p:spPr>
      </p:pic>
      <p:sp>
        <p:nvSpPr>
          <p:cNvPr id="32" name="TextBox 31"/>
          <p:cNvSpPr txBox="1"/>
          <p:nvPr/>
        </p:nvSpPr>
        <p:spPr>
          <a:xfrm>
            <a:off x="6305550" y="1400175"/>
            <a:ext cx="1451633" cy="179984"/>
          </a:xfrm>
          <a:prstGeom prst="rect">
            <a:avLst/>
          </a:prstGeom>
          <a:noFill/>
        </p:spPr>
        <p:txBody>
          <a:bodyPr wrap="none" lIns="0" rIns="0" tIns="0" bIns="0">
            <a:spAutoFit/>
          </a:bodyPr>
          <a:lstStyle/>
          <a:p>
            <a:r>
              <a:rPr sz="1055" b="0">
                <a:solidFill>
                  <a:srgbClr val="2E2E2E"/>
                </a:solidFill>
                <a:latin typeface="Calibri"/>
              </a:rPr>
              <a:t>▪ Market value rises from</a:t>
            </a:r>
          </a:p>
        </p:txBody>
      </p:sp>
      <p:pic>
        <p:nvPicPr>
          <p:cNvPr id="33" name="Picture 32" descr="lock.png"/>
          <p:cNvPicPr>
            <a:picLocks noChangeAspect="1"/>
          </p:cNvPicPr>
          <p:nvPr/>
        </p:nvPicPr>
        <p:blipFill>
          <a:blip r:embed="rId5"/>
          <a:stretch>
            <a:fillRect/>
          </a:stretch>
        </p:blipFill>
        <p:spPr>
          <a:xfrm>
            <a:off x="7704265" y="1390787"/>
            <a:ext cx="123551" cy="179710"/>
          </a:xfrm>
          <a:prstGeom prst="rect">
            <a:avLst/>
          </a:prstGeom>
        </p:spPr>
      </p:pic>
      <p:sp>
        <p:nvSpPr>
          <p:cNvPr id="34" name="TextBox 33"/>
          <p:cNvSpPr txBox="1"/>
          <p:nvPr/>
        </p:nvSpPr>
        <p:spPr>
          <a:xfrm>
            <a:off x="7865061" y="1400175"/>
            <a:ext cx="1088326" cy="179984"/>
          </a:xfrm>
          <a:prstGeom prst="rect">
            <a:avLst/>
          </a:prstGeom>
          <a:noFill/>
        </p:spPr>
        <p:txBody>
          <a:bodyPr wrap="none" lIns="0" rIns="0" tIns="0" bIns="0">
            <a:spAutoFit/>
          </a:bodyPr>
          <a:lstStyle/>
          <a:p>
            <a:r>
              <a:rPr sz="1055" b="0">
                <a:solidFill>
                  <a:srgbClr val="2E2E2E"/>
                </a:solidFill>
                <a:latin typeface="Calibri"/>
              </a:rPr>
              <a:t>US$ Mn in 2026 to</a:t>
            </a:r>
          </a:p>
        </p:txBody>
      </p:sp>
      <p:pic>
        <p:nvPicPr>
          <p:cNvPr id="35" name="Picture 34" descr="lock.png"/>
          <p:cNvPicPr>
            <a:picLocks noChangeAspect="1"/>
          </p:cNvPicPr>
          <p:nvPr/>
        </p:nvPicPr>
        <p:blipFill>
          <a:blip r:embed="rId5"/>
          <a:stretch>
            <a:fillRect/>
          </a:stretch>
        </p:blipFill>
        <p:spPr>
          <a:xfrm>
            <a:off x="8900469" y="1390787"/>
            <a:ext cx="123551" cy="179710"/>
          </a:xfrm>
          <a:prstGeom prst="rect">
            <a:avLst/>
          </a:prstGeom>
        </p:spPr>
      </p:pic>
      <p:sp>
        <p:nvSpPr>
          <p:cNvPr id="36" name="TextBox 35"/>
          <p:cNvSpPr txBox="1"/>
          <p:nvPr/>
        </p:nvSpPr>
        <p:spPr>
          <a:xfrm>
            <a:off x="9061265" y="1400175"/>
            <a:ext cx="975955" cy="179984"/>
          </a:xfrm>
          <a:prstGeom prst="rect">
            <a:avLst/>
          </a:prstGeom>
          <a:noFill/>
        </p:spPr>
        <p:txBody>
          <a:bodyPr wrap="none" lIns="0" rIns="0" tIns="0" bIns="0">
            <a:spAutoFit/>
          </a:bodyPr>
          <a:lstStyle/>
          <a:p>
            <a:r>
              <a:rPr sz="1055" b="0">
                <a:solidFill>
                  <a:srgbClr val="2E2E2E"/>
                </a:solidFill>
                <a:latin typeface="Calibri"/>
              </a:rPr>
              <a:t>US$ Mn in 2036.</a:t>
            </a:r>
          </a:p>
        </p:txBody>
      </p:sp>
      <p:sp>
        <p:nvSpPr>
          <p:cNvPr id="37" name="TextBox 36"/>
          <p:cNvSpPr txBox="1"/>
          <p:nvPr/>
        </p:nvSpPr>
        <p:spPr>
          <a:xfrm>
            <a:off x="6305550" y="1609389"/>
            <a:ext cx="1281358" cy="179984"/>
          </a:xfrm>
          <a:prstGeom prst="rect">
            <a:avLst/>
          </a:prstGeom>
          <a:noFill/>
        </p:spPr>
        <p:txBody>
          <a:bodyPr wrap="none" lIns="0" rIns="0" tIns="0" bIns="0">
            <a:spAutoFit/>
          </a:bodyPr>
          <a:lstStyle/>
          <a:p>
            <a:r>
              <a:rPr sz="1055" b="0">
                <a:solidFill>
                  <a:srgbClr val="2E2E2E"/>
                </a:solidFill>
                <a:latin typeface="Calibri"/>
              </a:rPr>
              <a:t>▪ The forecast CAGR is</a:t>
            </a:r>
          </a:p>
        </p:txBody>
      </p:sp>
      <p:pic>
        <p:nvPicPr>
          <p:cNvPr id="38" name="Picture 37" descr="lock.png"/>
          <p:cNvPicPr>
            <a:picLocks noChangeAspect="1"/>
          </p:cNvPicPr>
          <p:nvPr/>
        </p:nvPicPr>
        <p:blipFill>
          <a:blip r:embed="rId5"/>
          <a:stretch>
            <a:fillRect/>
          </a:stretch>
        </p:blipFill>
        <p:spPr>
          <a:xfrm>
            <a:off x="7533989" y="1600001"/>
            <a:ext cx="123551" cy="179710"/>
          </a:xfrm>
          <a:prstGeom prst="rect">
            <a:avLst/>
          </a:prstGeom>
        </p:spPr>
      </p:pic>
      <p:sp>
        <p:nvSpPr>
          <p:cNvPr id="39" name="TextBox 38"/>
          <p:cNvSpPr txBox="1"/>
          <p:nvPr/>
        </p:nvSpPr>
        <p:spPr>
          <a:xfrm>
            <a:off x="7694785" y="1609389"/>
            <a:ext cx="971240" cy="179984"/>
          </a:xfrm>
          <a:prstGeom prst="rect">
            <a:avLst/>
          </a:prstGeom>
          <a:noFill/>
        </p:spPr>
        <p:txBody>
          <a:bodyPr wrap="none" lIns="0" rIns="0" tIns="0" bIns="0">
            <a:spAutoFit/>
          </a:bodyPr>
          <a:lstStyle/>
          <a:p>
            <a:r>
              <a:rPr sz="1055" b="0">
                <a:solidFill>
                  <a:srgbClr val="2E2E2E"/>
                </a:solidFill>
                <a:latin typeface="Calibri"/>
              </a:rPr>
              <a:t>over 2026-2036.</a:t>
            </a:r>
          </a:p>
        </p:txBody>
      </p:sp>
      <p:sp>
        <p:nvSpPr>
          <p:cNvPr id="40" name="TextBox 39"/>
          <p:cNvSpPr txBox="1"/>
          <p:nvPr/>
        </p:nvSpPr>
        <p:spPr>
          <a:xfrm>
            <a:off x="6305550" y="1818604"/>
            <a:ext cx="4761214" cy="179984"/>
          </a:xfrm>
          <a:prstGeom prst="rect">
            <a:avLst/>
          </a:prstGeom>
          <a:noFill/>
        </p:spPr>
        <p:txBody>
          <a:bodyPr wrap="none" lIns="0" rIns="0" tIns="0" bIns="0">
            <a:spAutoFit/>
          </a:bodyPr>
          <a:lstStyle/>
          <a:p>
            <a:r>
              <a:rPr sz="1055" b="0">
                <a:solidFill>
                  <a:srgbClr val="2E2E2E"/>
                </a:solidFill>
                <a:latin typeface="Calibri"/>
              </a:rPr>
              <a:t>▪ 'Licensed Finished AIT Products' is the lead commercial product model category with</a:t>
            </a:r>
          </a:p>
        </p:txBody>
      </p:sp>
      <p:pic>
        <p:nvPicPr>
          <p:cNvPr id="41" name="Picture 40" descr="lock.png"/>
          <p:cNvPicPr>
            <a:picLocks noChangeAspect="1"/>
          </p:cNvPicPr>
          <p:nvPr/>
        </p:nvPicPr>
        <p:blipFill>
          <a:blip r:embed="rId5"/>
          <a:stretch>
            <a:fillRect/>
          </a:stretch>
        </p:blipFill>
        <p:spPr>
          <a:xfrm>
            <a:off x="11013845" y="1809216"/>
            <a:ext cx="123551" cy="179710"/>
          </a:xfrm>
          <a:prstGeom prst="rect">
            <a:avLst/>
          </a:prstGeom>
        </p:spPr>
      </p:pic>
      <p:sp>
        <p:nvSpPr>
          <p:cNvPr id="42" name="TextBox 41"/>
          <p:cNvSpPr txBox="1"/>
          <p:nvPr/>
        </p:nvSpPr>
        <p:spPr>
          <a:xfrm>
            <a:off x="11174641" y="1818604"/>
            <a:ext cx="490585" cy="179984"/>
          </a:xfrm>
          <a:prstGeom prst="rect">
            <a:avLst/>
          </a:prstGeom>
          <a:noFill/>
        </p:spPr>
        <p:txBody>
          <a:bodyPr wrap="none" lIns="0" rIns="0" tIns="0" bIns="0">
            <a:spAutoFit/>
          </a:bodyPr>
          <a:lstStyle/>
          <a:p>
            <a:r>
              <a:rPr sz="1055" b="0">
                <a:solidFill>
                  <a:srgbClr val="2E2E2E"/>
                </a:solidFill>
                <a:latin typeface="Calibri"/>
              </a:rPr>
              <a:t>of 2036</a:t>
            </a:r>
          </a:p>
        </p:txBody>
      </p:sp>
      <p:sp>
        <p:nvSpPr>
          <p:cNvPr id="43" name="TextBox 42"/>
          <p:cNvSpPr txBox="1"/>
          <p:nvPr/>
        </p:nvSpPr>
        <p:spPr>
          <a:xfrm>
            <a:off x="6305550" y="1979538"/>
            <a:ext cx="402836" cy="179984"/>
          </a:xfrm>
          <a:prstGeom prst="rect">
            <a:avLst/>
          </a:prstGeom>
          <a:noFill/>
        </p:spPr>
        <p:txBody>
          <a:bodyPr wrap="none" lIns="0" rIns="0" tIns="0" bIns="0">
            <a:spAutoFit/>
          </a:bodyPr>
          <a:lstStyle/>
          <a:p>
            <a:r>
              <a:rPr sz="1055" b="0">
                <a:solidFill>
                  <a:srgbClr val="2E2E2E"/>
                </a:solidFill>
                <a:latin typeface="Calibri"/>
              </a:rPr>
              <a:t>value.</a:t>
            </a:r>
          </a:p>
        </p:txBody>
      </p:sp>
      <p:sp>
        <p:nvSpPr>
          <p:cNvPr id="44" name="TextBox 43"/>
          <p:cNvSpPr txBox="1"/>
          <p:nvPr/>
        </p:nvSpPr>
        <p:spPr>
          <a:xfrm>
            <a:off x="6305550" y="2188753"/>
            <a:ext cx="1682662" cy="179984"/>
          </a:xfrm>
          <a:prstGeom prst="rect">
            <a:avLst/>
          </a:prstGeom>
          <a:noFill/>
        </p:spPr>
        <p:txBody>
          <a:bodyPr wrap="none" lIns="0" rIns="0" tIns="0" bIns="0">
            <a:spAutoFit/>
          </a:bodyPr>
          <a:lstStyle/>
          <a:p>
            <a:r>
              <a:rPr sz="1055" b="0">
                <a:solidFill>
                  <a:srgbClr val="2E2E2E"/>
                </a:solidFill>
                <a:latin typeface="Calibri"/>
              </a:rPr>
              <a:t>▪ U.S. is the lead country with</a:t>
            </a:r>
          </a:p>
        </p:txBody>
      </p:sp>
      <p:pic>
        <p:nvPicPr>
          <p:cNvPr id="45" name="Picture 44" descr="lock.png"/>
          <p:cNvPicPr>
            <a:picLocks noChangeAspect="1"/>
          </p:cNvPicPr>
          <p:nvPr/>
        </p:nvPicPr>
        <p:blipFill>
          <a:blip r:embed="rId5"/>
          <a:stretch>
            <a:fillRect/>
          </a:stretch>
        </p:blipFill>
        <p:spPr>
          <a:xfrm>
            <a:off x="7935294" y="2179365"/>
            <a:ext cx="123551" cy="179710"/>
          </a:xfrm>
          <a:prstGeom prst="rect">
            <a:avLst/>
          </a:prstGeom>
        </p:spPr>
      </p:pic>
      <p:sp>
        <p:nvSpPr>
          <p:cNvPr id="46" name="TextBox 45"/>
          <p:cNvSpPr txBox="1"/>
          <p:nvPr/>
        </p:nvSpPr>
        <p:spPr>
          <a:xfrm>
            <a:off x="8096090" y="2188753"/>
            <a:ext cx="847605" cy="179984"/>
          </a:xfrm>
          <a:prstGeom prst="rect">
            <a:avLst/>
          </a:prstGeom>
          <a:noFill/>
        </p:spPr>
        <p:txBody>
          <a:bodyPr wrap="none" lIns="0" rIns="0" tIns="0" bIns="0">
            <a:spAutoFit/>
          </a:bodyPr>
          <a:lstStyle/>
          <a:p>
            <a:r>
              <a:rPr sz="1055" b="0">
                <a:solidFill>
                  <a:srgbClr val="2E2E2E"/>
                </a:solidFill>
                <a:latin typeface="Calibri"/>
              </a:rPr>
              <a:t>of 2036 value.</a:t>
            </a:r>
          </a:p>
        </p:txBody>
      </p:sp>
      <p:sp>
        <p:nvSpPr>
          <p:cNvPr id="47" name="TextBox 46"/>
          <p:cNvSpPr txBox="1"/>
          <p:nvPr/>
        </p:nvSpPr>
        <p:spPr>
          <a:xfrm>
            <a:off x="6305550" y="2397968"/>
            <a:ext cx="2731198" cy="179984"/>
          </a:xfrm>
          <a:prstGeom prst="rect">
            <a:avLst/>
          </a:prstGeom>
          <a:noFill/>
        </p:spPr>
        <p:txBody>
          <a:bodyPr wrap="none" lIns="0" rIns="0" tIns="0" bIns="0">
            <a:spAutoFit/>
          </a:bodyPr>
          <a:lstStyle/>
          <a:p>
            <a:r>
              <a:rPr sz="1055" b="0">
                <a:solidFill>
                  <a:srgbClr val="2E2E2E"/>
                </a:solidFill>
                <a:latin typeface="Calibri"/>
              </a:rPr>
              <a:t>▪ The incremental opportunity over 2026-2036 is</a:t>
            </a:r>
          </a:p>
        </p:txBody>
      </p:sp>
      <p:pic>
        <p:nvPicPr>
          <p:cNvPr id="48" name="Picture 47" descr="lock.png"/>
          <p:cNvPicPr>
            <a:picLocks noChangeAspect="1"/>
          </p:cNvPicPr>
          <p:nvPr/>
        </p:nvPicPr>
        <p:blipFill>
          <a:blip r:embed="rId5"/>
          <a:stretch>
            <a:fillRect/>
          </a:stretch>
        </p:blipFill>
        <p:spPr>
          <a:xfrm>
            <a:off x="8983830" y="2388580"/>
            <a:ext cx="123551" cy="179710"/>
          </a:xfrm>
          <a:prstGeom prst="rect">
            <a:avLst/>
          </a:prstGeom>
        </p:spPr>
      </p:pic>
      <p:sp>
        <p:nvSpPr>
          <p:cNvPr id="49" name="TextBox 48"/>
          <p:cNvSpPr txBox="1"/>
          <p:nvPr/>
        </p:nvSpPr>
        <p:spPr>
          <a:xfrm>
            <a:off x="9144626" y="2397968"/>
            <a:ext cx="5414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50" name="TextBox 49"/>
          <p:cNvSpPr txBox="1"/>
          <p:nvPr/>
        </p:nvSpPr>
        <p:spPr>
          <a:xfrm>
            <a:off x="276225" y="3286125"/>
            <a:ext cx="5038762" cy="194310"/>
          </a:xfrm>
          <a:prstGeom prst="rect">
            <a:avLst/>
          </a:prstGeom>
          <a:noFill/>
        </p:spPr>
        <p:txBody>
          <a:bodyPr wrap="none" lIns="0" rIns="0" tIns="0" bIns="0">
            <a:spAutoFit/>
          </a:bodyPr>
          <a:lstStyle/>
          <a:p>
            <a:r>
              <a:rPr sz="1150" b="0">
                <a:solidFill>
                  <a:srgbClr val="2E2E2E"/>
                </a:solidFill>
                <a:latin typeface="Calibri"/>
              </a:rPr>
              <a:t>▪ Investment is flowing toward 'Licensed Finished AIT Products', the fastest-growing</a:t>
            </a:r>
          </a:p>
        </p:txBody>
      </p:sp>
      <p:sp>
        <p:nvSpPr>
          <p:cNvPr id="51" name="TextBox 50"/>
          <p:cNvSpPr txBox="1"/>
          <p:nvPr/>
        </p:nvSpPr>
        <p:spPr>
          <a:xfrm>
            <a:off x="276225" y="3461385"/>
            <a:ext cx="2385330" cy="194310"/>
          </a:xfrm>
          <a:prstGeom prst="rect">
            <a:avLst/>
          </a:prstGeom>
          <a:noFill/>
        </p:spPr>
        <p:txBody>
          <a:bodyPr wrap="none" lIns="0" rIns="0" tIns="0" bIns="0">
            <a:spAutoFit/>
          </a:bodyPr>
          <a:lstStyle/>
          <a:p>
            <a:r>
              <a:rPr sz="1150" b="0">
                <a:solidFill>
                  <a:srgbClr val="2E2E2E"/>
                </a:solidFill>
                <a:latin typeface="Calibri"/>
              </a:rPr>
              <a:t>commercial product model category at</a:t>
            </a:r>
          </a:p>
        </p:txBody>
      </p:sp>
      <p:pic>
        <p:nvPicPr>
          <p:cNvPr id="52" name="Picture 51" descr="lock.png"/>
          <p:cNvPicPr>
            <a:picLocks noChangeAspect="1"/>
          </p:cNvPicPr>
          <p:nvPr/>
        </p:nvPicPr>
        <p:blipFill>
          <a:blip r:embed="rId5"/>
          <a:stretch>
            <a:fillRect/>
          </a:stretch>
        </p:blipFill>
        <p:spPr>
          <a:xfrm>
            <a:off x="2610709" y="3451161"/>
            <a:ext cx="134549" cy="195707"/>
          </a:xfrm>
          <a:prstGeom prst="rect">
            <a:avLst/>
          </a:prstGeom>
        </p:spPr>
      </p:pic>
      <p:sp>
        <p:nvSpPr>
          <p:cNvPr id="53" name="TextBox 52"/>
          <p:cNvSpPr txBox="1"/>
          <p:nvPr/>
        </p:nvSpPr>
        <p:spPr>
          <a:xfrm>
            <a:off x="2785818" y="346138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4" name="TextBox 53"/>
          <p:cNvSpPr txBox="1"/>
          <p:nvPr/>
        </p:nvSpPr>
        <p:spPr>
          <a:xfrm>
            <a:off x="276225" y="3689222"/>
            <a:ext cx="679226" cy="194310"/>
          </a:xfrm>
          <a:prstGeom prst="rect">
            <a:avLst/>
          </a:prstGeom>
          <a:noFill/>
        </p:spPr>
        <p:txBody>
          <a:bodyPr wrap="none" lIns="0" rIns="0" tIns="0" bIns="0">
            <a:spAutoFit/>
          </a:bodyPr>
          <a:lstStyle/>
          <a:p>
            <a:r>
              <a:rPr sz="1150" b="0">
                <a:solidFill>
                  <a:srgbClr val="2E2E2E"/>
                </a:solidFill>
                <a:latin typeface="Calibri"/>
              </a:rPr>
              <a:t>▪ Canada (</a:t>
            </a:r>
          </a:p>
        </p:txBody>
      </p:sp>
      <p:pic>
        <p:nvPicPr>
          <p:cNvPr id="55" name="Picture 54" descr="lock.png"/>
          <p:cNvPicPr>
            <a:picLocks noChangeAspect="1"/>
          </p:cNvPicPr>
          <p:nvPr/>
        </p:nvPicPr>
        <p:blipFill>
          <a:blip r:embed="rId5"/>
          <a:stretch>
            <a:fillRect/>
          </a:stretch>
        </p:blipFill>
        <p:spPr>
          <a:xfrm>
            <a:off x="904605" y="3678999"/>
            <a:ext cx="134549" cy="195707"/>
          </a:xfrm>
          <a:prstGeom prst="rect">
            <a:avLst/>
          </a:prstGeom>
        </p:spPr>
      </p:pic>
      <p:sp>
        <p:nvSpPr>
          <p:cNvPr id="56" name="TextBox 55"/>
          <p:cNvSpPr txBox="1"/>
          <p:nvPr/>
        </p:nvSpPr>
        <p:spPr>
          <a:xfrm>
            <a:off x="1079714" y="3689222"/>
            <a:ext cx="3676656" cy="194310"/>
          </a:xfrm>
          <a:prstGeom prst="rect">
            <a:avLst/>
          </a:prstGeom>
          <a:noFill/>
        </p:spPr>
        <p:txBody>
          <a:bodyPr wrap="none" lIns="0" rIns="0" tIns="0" bIns="0">
            <a:spAutoFit/>
          </a:bodyPr>
          <a:lstStyle/>
          <a:p>
            <a:r>
              <a:rPr sz="1150" b="0">
                <a:solidFill>
                  <a:srgbClr val="2E2E2E"/>
                </a:solidFill>
                <a:latin typeface="Calibri"/>
              </a:rPr>
              <a:t>CAGR) is a priority country for new capacity and distribution.</a:t>
            </a:r>
          </a:p>
        </p:txBody>
      </p:sp>
      <p:sp>
        <p:nvSpPr>
          <p:cNvPr id="57" name="TextBox 56"/>
          <p:cNvSpPr txBox="1"/>
          <p:nvPr/>
        </p:nvSpPr>
        <p:spPr>
          <a:xfrm>
            <a:off x="276225" y="3917060"/>
            <a:ext cx="5511142" cy="194310"/>
          </a:xfrm>
          <a:prstGeom prst="rect">
            <a:avLst/>
          </a:prstGeom>
          <a:noFill/>
        </p:spPr>
        <p:txBody>
          <a:bodyPr wrap="none" lIns="0" rIns="0" tIns="0" bIns="0">
            <a:spAutoFit/>
          </a:bodyPr>
          <a:lstStyle/>
          <a:p>
            <a:r>
              <a:rPr sz="1150" b="0">
                <a:solidFill>
                  <a:srgbClr val="2E2E2E"/>
                </a:solidFill>
                <a:latin typeface="Calibri"/>
              </a:rPr>
              <a:t>▪ Scale players are anchoring their portfolios around 'Licensed Finished AIT Products', which</a:t>
            </a:r>
          </a:p>
        </p:txBody>
      </p:sp>
      <p:sp>
        <p:nvSpPr>
          <p:cNvPr id="58" name="TextBox 57"/>
          <p:cNvSpPr txBox="1"/>
          <p:nvPr/>
        </p:nvSpPr>
        <p:spPr>
          <a:xfrm>
            <a:off x="276225" y="4092320"/>
            <a:ext cx="397395" cy="194310"/>
          </a:xfrm>
          <a:prstGeom prst="rect">
            <a:avLst/>
          </a:prstGeom>
          <a:noFill/>
        </p:spPr>
        <p:txBody>
          <a:bodyPr wrap="none" lIns="0" rIns="0" tIns="0" bIns="0">
            <a:spAutoFit/>
          </a:bodyPr>
          <a:lstStyle/>
          <a:p>
            <a:r>
              <a:rPr sz="1150" b="0">
                <a:solidFill>
                  <a:srgbClr val="2E2E2E"/>
                </a:solidFill>
                <a:latin typeface="Calibri"/>
              </a:rPr>
              <a:t>holds</a:t>
            </a:r>
          </a:p>
        </p:txBody>
      </p:sp>
      <p:pic>
        <p:nvPicPr>
          <p:cNvPr id="59" name="Picture 58" descr="lock.png"/>
          <p:cNvPicPr>
            <a:picLocks noChangeAspect="1"/>
          </p:cNvPicPr>
          <p:nvPr/>
        </p:nvPicPr>
        <p:blipFill>
          <a:blip r:embed="rId5"/>
          <a:stretch>
            <a:fillRect/>
          </a:stretch>
        </p:blipFill>
        <p:spPr>
          <a:xfrm>
            <a:off x="622774" y="4082097"/>
            <a:ext cx="134549" cy="195707"/>
          </a:xfrm>
          <a:prstGeom prst="rect">
            <a:avLst/>
          </a:prstGeom>
        </p:spPr>
      </p:pic>
      <p:sp>
        <p:nvSpPr>
          <p:cNvPr id="60" name="TextBox 59"/>
          <p:cNvSpPr txBox="1"/>
          <p:nvPr/>
        </p:nvSpPr>
        <p:spPr>
          <a:xfrm>
            <a:off x="797884" y="4092320"/>
            <a:ext cx="440469"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61" name="TextBox 60"/>
          <p:cNvSpPr txBox="1"/>
          <p:nvPr/>
        </p:nvSpPr>
        <p:spPr>
          <a:xfrm>
            <a:off x="6305550" y="3286125"/>
            <a:ext cx="5569520" cy="186689"/>
          </a:xfrm>
          <a:prstGeom prst="rect">
            <a:avLst/>
          </a:prstGeom>
          <a:noFill/>
        </p:spPr>
        <p:txBody>
          <a:bodyPr wrap="none" lIns="0" rIns="0" tIns="0" bIns="0">
            <a:spAutoFit/>
          </a:bodyPr>
          <a:lstStyle/>
          <a:p>
            <a:r>
              <a:rPr sz="1100" b="0">
                <a:solidFill>
                  <a:srgbClr val="2E2E2E"/>
                </a:solidFill>
                <a:latin typeface="Calibri"/>
              </a:rPr>
              <a:t>▪ R&amp;D programmes are focused on next-generation product design and digital integration, in line</a:t>
            </a:r>
          </a:p>
        </p:txBody>
      </p:sp>
      <p:sp>
        <p:nvSpPr>
          <p:cNvPr id="62" name="TextBox 61"/>
          <p:cNvSpPr txBox="1"/>
          <p:nvPr/>
        </p:nvSpPr>
        <p:spPr>
          <a:xfrm>
            <a:off x="6305550" y="3453765"/>
            <a:ext cx="3447826" cy="186689"/>
          </a:xfrm>
          <a:prstGeom prst="rect">
            <a:avLst/>
          </a:prstGeom>
          <a:noFill/>
        </p:spPr>
        <p:txBody>
          <a:bodyPr wrap="none" lIns="0" rIns="0" tIns="0" bIns="0">
            <a:spAutoFit/>
          </a:bodyPr>
          <a:lstStyle/>
          <a:p>
            <a:r>
              <a:rPr sz="1100" b="0">
                <a:solidFill>
                  <a:srgbClr val="2E2E2E"/>
                </a:solidFill>
                <a:latin typeface="Calibri"/>
              </a:rPr>
              <a:t>with the migration toward 'Licensed Finished AIT Products'.</a:t>
            </a:r>
          </a:p>
        </p:txBody>
      </p:sp>
      <p:sp>
        <p:nvSpPr>
          <p:cNvPr id="63" name="TextBox 62"/>
          <p:cNvSpPr txBox="1"/>
          <p:nvPr/>
        </p:nvSpPr>
        <p:spPr>
          <a:xfrm>
            <a:off x="6305550" y="3671697"/>
            <a:ext cx="5258469" cy="186689"/>
          </a:xfrm>
          <a:prstGeom prst="rect">
            <a:avLst/>
          </a:prstGeom>
          <a:noFill/>
        </p:spPr>
        <p:txBody>
          <a:bodyPr wrap="none" lIns="0" rIns="0" tIns="0" bIns="0">
            <a:spAutoFit/>
          </a:bodyPr>
          <a:lstStyle/>
          <a:p>
            <a:r>
              <a:rPr sz="1100" b="0">
                <a:solidFill>
                  <a:srgbClr val="2E2E2E"/>
                </a:solidFill>
                <a:latin typeface="Calibri"/>
              </a:rPr>
              <a:t>▪ Development spend is targeting the commercial product model categories that gain share</a:t>
            </a:r>
          </a:p>
        </p:txBody>
      </p:sp>
      <p:sp>
        <p:nvSpPr>
          <p:cNvPr id="64" name="TextBox 63"/>
          <p:cNvSpPr txBox="1"/>
          <p:nvPr/>
        </p:nvSpPr>
        <p:spPr>
          <a:xfrm>
            <a:off x="6305550" y="3839337"/>
            <a:ext cx="882203" cy="186689"/>
          </a:xfrm>
          <a:prstGeom prst="rect">
            <a:avLst/>
          </a:prstGeom>
          <a:noFill/>
        </p:spPr>
        <p:txBody>
          <a:bodyPr wrap="none" lIns="0" rIns="0" tIns="0" bIns="0">
            <a:spAutoFit/>
          </a:bodyPr>
          <a:lstStyle/>
          <a:p>
            <a:r>
              <a:rPr sz="1100" b="0">
                <a:solidFill>
                  <a:srgbClr val="2E2E2E"/>
                </a:solidFill>
                <a:latin typeface="Calibri"/>
              </a:rPr>
              <a:t>through 2036.</a:t>
            </a:r>
          </a:p>
        </p:txBody>
      </p:sp>
      <p:sp>
        <p:nvSpPr>
          <p:cNvPr id="65" name="TextBox 64"/>
          <p:cNvSpPr txBox="1"/>
          <p:nvPr/>
        </p:nvSpPr>
        <p:spPr>
          <a:xfrm>
            <a:off x="6305550" y="4057269"/>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66" name="Picture 65" descr="lock.png"/>
          <p:cNvPicPr>
            <a:picLocks noChangeAspect="1"/>
          </p:cNvPicPr>
          <p:nvPr/>
        </p:nvPicPr>
        <p:blipFill>
          <a:blip r:embed="rId5"/>
          <a:stretch>
            <a:fillRect/>
          </a:stretch>
        </p:blipFill>
        <p:spPr>
          <a:xfrm>
            <a:off x="7847947" y="4047490"/>
            <a:ext cx="128699" cy="187198"/>
          </a:xfrm>
          <a:prstGeom prst="rect">
            <a:avLst/>
          </a:prstGeom>
        </p:spPr>
      </p:pic>
      <p:sp>
        <p:nvSpPr>
          <p:cNvPr id="67" name="TextBox 66"/>
          <p:cNvSpPr txBox="1"/>
          <p:nvPr/>
        </p:nvSpPr>
        <p:spPr>
          <a:xfrm>
            <a:off x="8015443" y="4057269"/>
            <a:ext cx="3416977" cy="186689"/>
          </a:xfrm>
          <a:prstGeom prst="rect">
            <a:avLst/>
          </a:prstGeom>
          <a:noFill/>
        </p:spPr>
        <p:txBody>
          <a:bodyPr wrap="none" lIns="0" rIns="0" tIns="0" bIns="0">
            <a:spAutoFit/>
          </a:bodyPr>
          <a:lstStyle/>
          <a:p>
            <a:r>
              <a:rPr sz="1100" b="0">
                <a:solidFill>
                  <a:srgbClr val="2E2E2E"/>
                </a:solidFill>
                <a:latin typeface="Calibri"/>
              </a:rPr>
              <a:t>forecast CAGR by sustaining both volume growth and price</a:t>
            </a:r>
          </a:p>
        </p:txBody>
      </p:sp>
      <p:sp>
        <p:nvSpPr>
          <p:cNvPr id="68" name="TextBox 67"/>
          <p:cNvSpPr txBox="1"/>
          <p:nvPr/>
        </p:nvSpPr>
        <p:spPr>
          <a:xfrm>
            <a:off x="6305550" y="4224909"/>
            <a:ext cx="708669" cy="186689"/>
          </a:xfrm>
          <a:prstGeom prst="rect">
            <a:avLst/>
          </a:prstGeom>
          <a:noFill/>
        </p:spPr>
        <p:txBody>
          <a:bodyPr wrap="none" lIns="0" rIns="0" tIns="0" bIns="0">
            <a:spAutoFit/>
          </a:bodyPr>
          <a:lstStyle/>
          <a:p>
            <a:r>
              <a:rPr sz="1100" b="0">
                <a:solidFill>
                  <a:srgbClr val="2E2E2E"/>
                </a:solidFill>
                <a:latin typeface="Calibri"/>
              </a:rPr>
              <a:t>realisation.</a:t>
            </a:r>
          </a:p>
        </p:txBody>
      </p:sp>
      <p:sp>
        <p:nvSpPr>
          <p:cNvPr id="69" name="lockshield_28"/>
          <p:cNvSpPr/>
          <p:nvPr/>
        </p:nvSpPr>
        <p:spPr>
          <a:xfrm>
            <a:off x="238125" y="4962525"/>
            <a:ext cx="11715750" cy="15906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'Licensed Finished AIT Products' category and the 'Retail Pharmacy' sales / procurement channel route, where growth outpaces the market.</a:t>
            </a:r>
          </a:p>
        </p:txBody>
      </p:sp>
      <p:sp>
        <p:nvSpPr>
          <p:cNvPr id="18" name="Rounded Rectangle 17"/>
          <p:cNvSpPr/>
          <p:nvPr/>
        </p:nvSpPr>
        <p:spPr>
          <a:xfrm>
            <a:off x="142875" y="2962275"/>
            <a:ext cx="5876925"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048000"/>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2861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71850"/>
            <a:ext cx="5610225"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962275"/>
            <a:ext cx="5876925"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048000"/>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Country</a:t>
            </a:r>
          </a:p>
        </p:txBody>
      </p:sp>
      <p:sp>
        <p:nvSpPr>
          <p:cNvPr id="24" name="Rectangle 23"/>
          <p:cNvSpPr/>
          <p:nvPr/>
        </p:nvSpPr>
        <p:spPr>
          <a:xfrm>
            <a:off x="6305550" y="32861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71850"/>
            <a:ext cx="5610225"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695825"/>
            <a:ext cx="11906250" cy="1914525"/>
          </a:xfrm>
          <a:prstGeom prst="roundRect">
            <a:avLst>
              <a:gd name="adj" fmla="val 39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781550"/>
            <a:ext cx="11639550" cy="209550"/>
          </a:xfrm>
          <a:prstGeom prst="rect">
            <a:avLst/>
          </a:prstGeom>
          <a:noFill/>
        </p:spPr>
        <p:txBody>
          <a:bodyPr wrap="square" lIns="0" rIns="19050" tIns="9525" bIns="9525">
            <a:spAutoFit/>
          </a:bodyPr>
          <a:lstStyle/>
          <a:p>
            <a:pPr algn="l"/>
            <a:r>
              <a:rPr sz="1300" b="1">
                <a:solidFill>
                  <a:srgbClr val="0B2E4A"/>
                </a:solidFill>
                <a:latin typeface="Calibri"/>
              </a:rPr>
              <a:t>FMI Analysis and Recommendation</a:t>
            </a:r>
          </a:p>
        </p:txBody>
      </p:sp>
      <p:sp>
        <p:nvSpPr>
          <p:cNvPr id="28" name="Rectangle 27"/>
          <p:cNvSpPr/>
          <p:nvPr/>
        </p:nvSpPr>
        <p:spPr>
          <a:xfrm>
            <a:off x="276225" y="5019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105400"/>
            <a:ext cx="11639550" cy="14287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Concentrate resources on the leading segment and country while seeding the fastest-growing pockets early.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Defend share in 'Licensed Finished AIT Products' as the value anchor of the portfolio.</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regulatory clearance and clinical evidence into the offer to protect pricing as competition intensifies.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4869321" cy="194310"/>
          </a:xfrm>
          <a:prstGeom prst="rect">
            <a:avLst/>
          </a:prstGeom>
          <a:noFill/>
        </p:spPr>
        <p:txBody>
          <a:bodyPr wrap="none" lIns="0" rIns="0" tIns="0" bIns="0">
            <a:spAutoFit/>
          </a:bodyPr>
          <a:lstStyle/>
          <a:p>
            <a:r>
              <a:rPr sz="1150" b="0">
                <a:solidFill>
                  <a:srgbClr val="2E2E2E"/>
                </a:solidFill>
                <a:latin typeface="Calibri"/>
              </a:rPr>
              <a:t>▪ Build scale in 'Licensed Finished AIT Products', which is both the largest and the</a:t>
            </a:r>
          </a:p>
        </p:txBody>
      </p:sp>
      <p:sp>
        <p:nvSpPr>
          <p:cNvPr id="32" name="TextBox 31"/>
          <p:cNvSpPr txBox="1"/>
          <p:nvPr/>
        </p:nvSpPr>
        <p:spPr>
          <a:xfrm>
            <a:off x="276225" y="1575435"/>
            <a:ext cx="4109404" cy="194310"/>
          </a:xfrm>
          <a:prstGeom prst="rect">
            <a:avLst/>
          </a:prstGeom>
          <a:noFill/>
        </p:spPr>
        <p:txBody>
          <a:bodyPr wrap="none" lIns="0" rIns="0" tIns="0" bIns="0">
            <a:spAutoFit/>
          </a:bodyPr>
          <a:lstStyle/>
          <a:p>
            <a:r>
              <a:rPr sz="1150" b="0">
                <a:solidFill>
                  <a:srgbClr val="2E2E2E"/>
                </a:solidFill>
                <a:latin typeface="Calibri"/>
              </a:rPr>
              <a:t>fastest-growing commercial product model category, to capture the</a:t>
            </a:r>
          </a:p>
        </p:txBody>
      </p:sp>
      <p:pic>
        <p:nvPicPr>
          <p:cNvPr id="33" name="Picture 32" descr="lock.png"/>
          <p:cNvPicPr>
            <a:picLocks noChangeAspect="1"/>
          </p:cNvPicPr>
          <p:nvPr/>
        </p:nvPicPr>
        <p:blipFill>
          <a:blip r:embed="rId4"/>
          <a:stretch>
            <a:fillRect/>
          </a:stretch>
        </p:blipFill>
        <p:spPr>
          <a:xfrm>
            <a:off x="4334783" y="1565211"/>
            <a:ext cx="134549" cy="195707"/>
          </a:xfrm>
          <a:prstGeom prst="rect">
            <a:avLst/>
          </a:prstGeom>
        </p:spPr>
      </p:pic>
      <p:sp>
        <p:nvSpPr>
          <p:cNvPr id="34" name="TextBox 33"/>
          <p:cNvSpPr txBox="1"/>
          <p:nvPr/>
        </p:nvSpPr>
        <p:spPr>
          <a:xfrm>
            <a:off x="4509893" y="1575435"/>
            <a:ext cx="1185249" cy="194310"/>
          </a:xfrm>
          <a:prstGeom prst="rect">
            <a:avLst/>
          </a:prstGeom>
          <a:noFill/>
        </p:spPr>
        <p:txBody>
          <a:bodyPr wrap="none" lIns="0" rIns="0" tIns="0" bIns="0">
            <a:spAutoFit/>
          </a:bodyPr>
          <a:lstStyle/>
          <a:p>
            <a:r>
              <a:rPr sz="1150" b="0">
                <a:solidFill>
                  <a:srgbClr val="2E2E2E"/>
                </a:solidFill>
                <a:latin typeface="Calibri"/>
              </a:rPr>
              <a:t>CAGR trajectory to</a:t>
            </a:r>
          </a:p>
        </p:txBody>
      </p:sp>
      <p:sp>
        <p:nvSpPr>
          <p:cNvPr id="35" name="TextBox 34"/>
          <p:cNvSpPr txBox="1"/>
          <p:nvPr/>
        </p:nvSpPr>
        <p:spPr>
          <a:xfrm>
            <a:off x="276225" y="1750695"/>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36" name="TextBox 35"/>
          <p:cNvSpPr txBox="1"/>
          <p:nvPr/>
        </p:nvSpPr>
        <p:spPr>
          <a:xfrm>
            <a:off x="276225" y="1978533"/>
            <a:ext cx="1154174" cy="194310"/>
          </a:xfrm>
          <a:prstGeom prst="rect">
            <a:avLst/>
          </a:prstGeom>
          <a:noFill/>
        </p:spPr>
        <p:txBody>
          <a:bodyPr wrap="none" lIns="0" rIns="0" tIns="0" bIns="0">
            <a:spAutoFit/>
          </a:bodyPr>
          <a:lstStyle/>
          <a:p>
            <a:r>
              <a:rPr sz="1150" b="0">
                <a:solidFill>
                  <a:srgbClr val="2E2E2E"/>
                </a:solidFill>
                <a:latin typeface="Calibri"/>
              </a:rPr>
              <a:t>▪ The market adds</a:t>
            </a:r>
          </a:p>
        </p:txBody>
      </p:sp>
      <p:pic>
        <p:nvPicPr>
          <p:cNvPr id="37" name="Picture 36" descr="lock.png"/>
          <p:cNvPicPr>
            <a:picLocks noChangeAspect="1"/>
          </p:cNvPicPr>
          <p:nvPr/>
        </p:nvPicPr>
        <p:blipFill>
          <a:blip r:embed="rId4"/>
          <a:stretch>
            <a:fillRect/>
          </a:stretch>
        </p:blipFill>
        <p:spPr>
          <a:xfrm>
            <a:off x="1379553" y="1968309"/>
            <a:ext cx="134549" cy="195707"/>
          </a:xfrm>
          <a:prstGeom prst="rect">
            <a:avLst/>
          </a:prstGeom>
        </p:spPr>
      </p:pic>
      <p:sp>
        <p:nvSpPr>
          <p:cNvPr id="38" name="TextBox 37"/>
          <p:cNvSpPr txBox="1"/>
          <p:nvPr/>
        </p:nvSpPr>
        <p:spPr>
          <a:xfrm>
            <a:off x="1554662" y="1978533"/>
            <a:ext cx="1851620"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39" name="Picture 38" descr="lock.png"/>
          <p:cNvPicPr>
            <a:picLocks noChangeAspect="1"/>
          </p:cNvPicPr>
          <p:nvPr/>
        </p:nvPicPr>
        <p:blipFill>
          <a:blip r:embed="rId4"/>
          <a:stretch>
            <a:fillRect/>
          </a:stretch>
        </p:blipFill>
        <p:spPr>
          <a:xfrm>
            <a:off x="3355436" y="1968309"/>
            <a:ext cx="134549" cy="195707"/>
          </a:xfrm>
          <a:prstGeom prst="rect">
            <a:avLst/>
          </a:prstGeom>
        </p:spPr>
      </p:pic>
      <p:sp>
        <p:nvSpPr>
          <p:cNvPr id="40" name="TextBox 39"/>
          <p:cNvSpPr txBox="1"/>
          <p:nvPr/>
        </p:nvSpPr>
        <p:spPr>
          <a:xfrm>
            <a:off x="3530546" y="1978533"/>
            <a:ext cx="1871017" cy="194310"/>
          </a:xfrm>
          <a:prstGeom prst="rect">
            <a:avLst/>
          </a:prstGeom>
          <a:noFill/>
        </p:spPr>
        <p:txBody>
          <a:bodyPr wrap="none" lIns="0" rIns="0" tIns="0" bIns="0">
            <a:spAutoFit/>
          </a:bodyPr>
          <a:lstStyle/>
          <a:p>
            <a:r>
              <a:rPr sz="1150" b="0">
                <a:solidFill>
                  <a:srgbClr val="2E2E2E"/>
                </a:solidFill>
                <a:latin typeface="Calibri"/>
              </a:rPr>
              <a:t>x expansion on the 2026 base.</a:t>
            </a:r>
          </a:p>
        </p:txBody>
      </p:sp>
      <p:sp>
        <p:nvSpPr>
          <p:cNvPr id="41" name="TextBox 40"/>
          <p:cNvSpPr txBox="1"/>
          <p:nvPr/>
        </p:nvSpPr>
        <p:spPr>
          <a:xfrm>
            <a:off x="276225" y="3381375"/>
            <a:ext cx="3543746" cy="194310"/>
          </a:xfrm>
          <a:prstGeom prst="rect">
            <a:avLst/>
          </a:prstGeom>
          <a:noFill/>
        </p:spPr>
        <p:txBody>
          <a:bodyPr wrap="none" lIns="0" rIns="0" tIns="0" bIns="0">
            <a:spAutoFit/>
          </a:bodyPr>
          <a:lstStyle/>
          <a:p>
            <a:r>
              <a:rPr sz="1150" b="0">
                <a:solidFill>
                  <a:srgbClr val="2E2E2E"/>
                </a:solidFill>
                <a:latin typeface="Calibri"/>
              </a:rPr>
              <a:t>▪ Prioritise 'Licensed Finished AIT Products', which anchors</a:t>
            </a:r>
          </a:p>
        </p:txBody>
      </p:sp>
      <p:pic>
        <p:nvPicPr>
          <p:cNvPr id="42" name="Picture 41" descr="lock.png"/>
          <p:cNvPicPr>
            <a:picLocks noChangeAspect="1"/>
          </p:cNvPicPr>
          <p:nvPr/>
        </p:nvPicPr>
        <p:blipFill>
          <a:blip r:embed="rId4"/>
          <a:stretch>
            <a:fillRect/>
          </a:stretch>
        </p:blipFill>
        <p:spPr>
          <a:xfrm>
            <a:off x="3769125" y="3371151"/>
            <a:ext cx="134549" cy="195707"/>
          </a:xfrm>
          <a:prstGeom prst="rect">
            <a:avLst/>
          </a:prstGeom>
        </p:spPr>
      </p:pic>
      <p:sp>
        <p:nvSpPr>
          <p:cNvPr id="43" name="TextBox 42"/>
          <p:cNvSpPr txBox="1"/>
          <p:nvPr/>
        </p:nvSpPr>
        <p:spPr>
          <a:xfrm>
            <a:off x="3944234" y="3381375"/>
            <a:ext cx="1349573" cy="194310"/>
          </a:xfrm>
          <a:prstGeom prst="rect">
            <a:avLst/>
          </a:prstGeom>
          <a:noFill/>
        </p:spPr>
        <p:txBody>
          <a:bodyPr wrap="none" lIns="0" rIns="0" tIns="0" bIns="0">
            <a:spAutoFit/>
          </a:bodyPr>
          <a:lstStyle/>
          <a:p>
            <a:r>
              <a:rPr sz="1150" b="0">
                <a:solidFill>
                  <a:srgbClr val="2E2E2E"/>
                </a:solidFill>
                <a:latin typeface="Calibri"/>
              </a:rPr>
              <a:t>of value and grows at</a:t>
            </a:r>
          </a:p>
        </p:txBody>
      </p:sp>
      <p:pic>
        <p:nvPicPr>
          <p:cNvPr id="44" name="Picture 43" descr="lock.png"/>
          <p:cNvPicPr>
            <a:picLocks noChangeAspect="1"/>
          </p:cNvPicPr>
          <p:nvPr/>
        </p:nvPicPr>
        <p:blipFill>
          <a:blip r:embed="rId4"/>
          <a:stretch>
            <a:fillRect/>
          </a:stretch>
        </p:blipFill>
        <p:spPr>
          <a:xfrm>
            <a:off x="5242962" y="3371151"/>
            <a:ext cx="134549" cy="195707"/>
          </a:xfrm>
          <a:prstGeom prst="rect">
            <a:avLst/>
          </a:prstGeom>
        </p:spPr>
      </p:pic>
      <p:sp>
        <p:nvSpPr>
          <p:cNvPr id="45" name="TextBox 44"/>
          <p:cNvSpPr txBox="1"/>
          <p:nvPr/>
        </p:nvSpPr>
        <p:spPr>
          <a:xfrm>
            <a:off x="276225" y="3556635"/>
            <a:ext cx="3597071" cy="194310"/>
          </a:xfrm>
          <a:prstGeom prst="rect">
            <a:avLst/>
          </a:prstGeom>
          <a:noFill/>
        </p:spPr>
        <p:txBody>
          <a:bodyPr wrap="none" lIns="0" rIns="0" tIns="0" bIns="0">
            <a:spAutoFit/>
          </a:bodyPr>
          <a:lstStyle/>
          <a:p>
            <a:r>
              <a:rPr sz="1150" b="0">
                <a:solidFill>
                  <a:srgbClr val="2E2E2E"/>
                </a:solidFill>
                <a:latin typeface="Calibri"/>
              </a:rPr>
              <a:t>CAGR, while seeding adjacent categories for diversification.</a:t>
            </a:r>
          </a:p>
        </p:txBody>
      </p:sp>
      <p:sp>
        <p:nvSpPr>
          <p:cNvPr id="46" name="TextBox 45"/>
          <p:cNvSpPr txBox="1"/>
          <p:nvPr/>
        </p:nvSpPr>
        <p:spPr>
          <a:xfrm>
            <a:off x="6305550" y="3381375"/>
            <a:ext cx="1083431" cy="194310"/>
          </a:xfrm>
          <a:prstGeom prst="rect">
            <a:avLst/>
          </a:prstGeom>
          <a:noFill/>
        </p:spPr>
        <p:txBody>
          <a:bodyPr wrap="none" lIns="0" rIns="0" tIns="0" bIns="0">
            <a:spAutoFit/>
          </a:bodyPr>
          <a:lstStyle/>
          <a:p>
            <a:r>
              <a:rPr sz="1150" b="0">
                <a:solidFill>
                  <a:srgbClr val="2E2E2E"/>
                </a:solidFill>
                <a:latin typeface="Calibri"/>
              </a:rPr>
              <a:t>▪ Lead with U.S. (</a:t>
            </a:r>
          </a:p>
        </p:txBody>
      </p:sp>
      <p:pic>
        <p:nvPicPr>
          <p:cNvPr id="47" name="Picture 46" descr="lock.png"/>
          <p:cNvPicPr>
            <a:picLocks noChangeAspect="1"/>
          </p:cNvPicPr>
          <p:nvPr/>
        </p:nvPicPr>
        <p:blipFill>
          <a:blip r:embed="rId4"/>
          <a:stretch>
            <a:fillRect/>
          </a:stretch>
        </p:blipFill>
        <p:spPr>
          <a:xfrm>
            <a:off x="7338135" y="3371151"/>
            <a:ext cx="134549" cy="195707"/>
          </a:xfrm>
          <a:prstGeom prst="rect">
            <a:avLst/>
          </a:prstGeom>
        </p:spPr>
      </p:pic>
      <p:sp>
        <p:nvSpPr>
          <p:cNvPr id="48" name="TextBox 47"/>
          <p:cNvSpPr txBox="1"/>
          <p:nvPr/>
        </p:nvSpPr>
        <p:spPr>
          <a:xfrm>
            <a:off x="7513244" y="3381375"/>
            <a:ext cx="2463204" cy="194310"/>
          </a:xfrm>
          <a:prstGeom prst="rect">
            <a:avLst/>
          </a:prstGeom>
          <a:noFill/>
        </p:spPr>
        <p:txBody>
          <a:bodyPr wrap="none" lIns="0" rIns="0" tIns="0" bIns="0">
            <a:spAutoFit/>
          </a:bodyPr>
          <a:lstStyle/>
          <a:p>
            <a:r>
              <a:rPr sz="1150" b="0">
                <a:solidFill>
                  <a:srgbClr val="2E2E2E"/>
                </a:solidFill>
                <a:latin typeface="Calibri"/>
              </a:rPr>
              <a:t>of value) and capture upside in Canada (</a:t>
            </a:r>
          </a:p>
        </p:txBody>
      </p:sp>
      <p:pic>
        <p:nvPicPr>
          <p:cNvPr id="49" name="Picture 48" descr="lock.png"/>
          <p:cNvPicPr>
            <a:picLocks noChangeAspect="1"/>
          </p:cNvPicPr>
          <p:nvPr/>
        </p:nvPicPr>
        <p:blipFill>
          <a:blip r:embed="rId4"/>
          <a:stretch>
            <a:fillRect/>
          </a:stretch>
        </p:blipFill>
        <p:spPr>
          <a:xfrm>
            <a:off x="9925603" y="3371151"/>
            <a:ext cx="134549" cy="195707"/>
          </a:xfrm>
          <a:prstGeom prst="rect">
            <a:avLst/>
          </a:prstGeom>
        </p:spPr>
      </p:pic>
      <p:sp>
        <p:nvSpPr>
          <p:cNvPr id="50" name="TextBox 49"/>
          <p:cNvSpPr txBox="1"/>
          <p:nvPr/>
        </p:nvSpPr>
        <p:spPr>
          <a:xfrm>
            <a:off x="10100712" y="3381375"/>
            <a:ext cx="490941" cy="194310"/>
          </a:xfrm>
          <a:prstGeom prst="rect">
            <a:avLst/>
          </a:prstGeom>
          <a:noFill/>
        </p:spPr>
        <p:txBody>
          <a:bodyPr wrap="none" lIns="0" rIns="0" tIns="0" bIns="0">
            <a:spAutoFit/>
          </a:bodyPr>
          <a:lstStyle/>
          <a:p>
            <a:r>
              <a:rPr sz="1150" b="0">
                <a:solidFill>
                  <a:srgbClr val="2E2E2E"/>
                </a:solidFill>
                <a:latin typeface="Calibri"/>
              </a:rPr>
              <a:t>CAGR).</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724025"/>
            <a:ext cx="5876925"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78117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Allergy Immunotherapy Market Value (US$ Mn): Scenario Forecast, 2025 and 2036</a:t>
            </a:r>
          </a:p>
        </p:txBody>
      </p:sp>
      <p:cxnSp>
        <p:nvCxnSpPr>
          <p:cNvPr id="15" name="Connector 14"/>
          <p:cNvCxnSpPr/>
          <p:nvPr/>
        </p:nvCxnSpPr>
        <p:spPr>
          <a:xfrm>
            <a:off x="238125" y="413385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523056"/>
            <a:ext cx="635826" cy="610794"/>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022714"/>
            <a:ext cx="635826" cy="1111136"/>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786929"/>
            <a:ext cx="635826" cy="1346921"/>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506504"/>
            <a:ext cx="635826" cy="1627346"/>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889364"/>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784589"/>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632189"/>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527414"/>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373154"/>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268379"/>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16242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16242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40055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40055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40055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724025"/>
            <a:ext cx="5876925"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78117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Allergy Immunotherapy Market Attractiveness Analysis By Region, 2026–2036</a:t>
            </a:r>
          </a:p>
        </p:txBody>
      </p:sp>
      <p:graphicFrame>
        <p:nvGraphicFramePr>
          <p:cNvPr id="36" name="Chart 35"/>
          <p:cNvGraphicFramePr>
            <a:graphicFrameLocks noGrp="1"/>
          </p:cNvGraphicFramePr>
          <p:nvPr/>
        </p:nvGraphicFramePr>
        <p:xfrm>
          <a:off x="6267450" y="2181225"/>
          <a:ext cx="5686425" cy="2409825"/>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781550"/>
            <a:ext cx="11906250"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191125"/>
            <a:ext cx="11639550" cy="135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171575"/>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171575"/>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171575"/>
            <a:ext cx="157162" cy="228600"/>
          </a:xfrm>
          <a:prstGeom prst="rect">
            <a:avLst/>
          </a:prstGeom>
        </p:spPr>
      </p:pic>
      <p:sp>
        <p:nvSpPr>
          <p:cNvPr id="45" name="TextBox 44"/>
          <p:cNvSpPr txBox="1"/>
          <p:nvPr/>
        </p:nvSpPr>
        <p:spPr>
          <a:xfrm>
            <a:off x="1702407" y="1026429"/>
            <a:ext cx="900484" cy="146456"/>
          </a:xfrm>
          <a:prstGeom prst="rect">
            <a:avLst/>
          </a:prstGeom>
          <a:noFill/>
        </p:spPr>
        <p:txBody>
          <a:bodyPr wrap="none" lIns="0" rIns="0" tIns="0" bIns="0">
            <a:spAutoFit/>
          </a:bodyPr>
          <a:lstStyle/>
          <a:p>
            <a:r>
              <a:rPr sz="835" b="1">
                <a:solidFill>
                  <a:srgbClr val="6C7A89"/>
                </a:solidFill>
                <a:latin typeface="Calibri"/>
              </a:rPr>
              <a:t>OPTIMISTIC (2036)</a:t>
            </a:r>
          </a:p>
        </p:txBody>
      </p:sp>
      <p:sp>
        <p:nvSpPr>
          <p:cNvPr id="46" name="TextBox 45"/>
          <p:cNvSpPr txBox="1"/>
          <p:nvPr/>
        </p:nvSpPr>
        <p:spPr>
          <a:xfrm>
            <a:off x="1934715" y="1417914"/>
            <a:ext cx="318806" cy="146456"/>
          </a:xfrm>
          <a:prstGeom prst="rect">
            <a:avLst/>
          </a:prstGeom>
          <a:noFill/>
        </p:spPr>
        <p:txBody>
          <a:bodyPr wrap="none" lIns="0" rIns="0" tIns="0" bIns="0">
            <a:spAutoFit/>
          </a:bodyPr>
          <a:lstStyle/>
          <a:p>
            <a:r>
              <a:rPr sz="835"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195753" y="1410482"/>
            <a:ext cx="97811" cy="142270"/>
          </a:xfrm>
          <a:prstGeom prst="rect">
            <a:avLst/>
          </a:prstGeom>
        </p:spPr>
      </p:pic>
      <p:sp>
        <p:nvSpPr>
          <p:cNvPr id="48" name="TextBox 47"/>
          <p:cNvSpPr txBox="1"/>
          <p:nvPr/>
        </p:nvSpPr>
        <p:spPr>
          <a:xfrm>
            <a:off x="5853687" y="1026429"/>
            <a:ext cx="665599" cy="146456"/>
          </a:xfrm>
          <a:prstGeom prst="rect">
            <a:avLst/>
          </a:prstGeom>
          <a:noFill/>
        </p:spPr>
        <p:txBody>
          <a:bodyPr wrap="none" lIns="0" rIns="0" tIns="0" bIns="0">
            <a:spAutoFit/>
          </a:bodyPr>
          <a:lstStyle/>
          <a:p>
            <a:r>
              <a:rPr sz="835" b="1">
                <a:solidFill>
                  <a:srgbClr val="6C7A89"/>
                </a:solidFill>
                <a:latin typeface="Calibri"/>
              </a:rPr>
              <a:t>LIKELY (2036)</a:t>
            </a:r>
          </a:p>
        </p:txBody>
      </p:sp>
      <p:sp>
        <p:nvSpPr>
          <p:cNvPr id="49" name="TextBox 48"/>
          <p:cNvSpPr txBox="1"/>
          <p:nvPr/>
        </p:nvSpPr>
        <p:spPr>
          <a:xfrm>
            <a:off x="5968553" y="1417914"/>
            <a:ext cx="318806" cy="146456"/>
          </a:xfrm>
          <a:prstGeom prst="rect">
            <a:avLst/>
          </a:prstGeom>
          <a:noFill/>
        </p:spPr>
        <p:txBody>
          <a:bodyPr wrap="none" lIns="0" rIns="0" tIns="0" bIns="0">
            <a:spAutoFit/>
          </a:bodyPr>
          <a:lstStyle/>
          <a:p>
            <a:r>
              <a:rPr sz="835"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29591" y="1410482"/>
            <a:ext cx="97811" cy="142270"/>
          </a:xfrm>
          <a:prstGeom prst="rect">
            <a:avLst/>
          </a:prstGeom>
        </p:spPr>
      </p:pic>
      <p:sp>
        <p:nvSpPr>
          <p:cNvPr id="51" name="TextBox 50"/>
          <p:cNvSpPr txBox="1"/>
          <p:nvPr/>
        </p:nvSpPr>
        <p:spPr>
          <a:xfrm>
            <a:off x="9626124" y="1026429"/>
            <a:ext cx="1064576" cy="146456"/>
          </a:xfrm>
          <a:prstGeom prst="rect">
            <a:avLst/>
          </a:prstGeom>
          <a:noFill/>
        </p:spPr>
        <p:txBody>
          <a:bodyPr wrap="none" lIns="0" rIns="0" tIns="0" bIns="0">
            <a:spAutoFit/>
          </a:bodyPr>
          <a:lstStyle/>
          <a:p>
            <a:r>
              <a:rPr sz="835" b="1">
                <a:solidFill>
                  <a:srgbClr val="6C7A89"/>
                </a:solidFill>
                <a:latin typeface="Calibri"/>
              </a:rPr>
              <a:t>CONSERVATIVE (2036)</a:t>
            </a:r>
          </a:p>
        </p:txBody>
      </p:sp>
      <p:sp>
        <p:nvSpPr>
          <p:cNvPr id="52" name="TextBox 51"/>
          <p:cNvSpPr txBox="1"/>
          <p:nvPr/>
        </p:nvSpPr>
        <p:spPr>
          <a:xfrm>
            <a:off x="9940478" y="1417914"/>
            <a:ext cx="318806" cy="146456"/>
          </a:xfrm>
          <a:prstGeom prst="rect">
            <a:avLst/>
          </a:prstGeom>
          <a:noFill/>
        </p:spPr>
        <p:txBody>
          <a:bodyPr wrap="none" lIns="0" rIns="0" tIns="0" bIns="0">
            <a:spAutoFit/>
          </a:bodyPr>
          <a:lstStyle/>
          <a:p>
            <a:r>
              <a:rPr sz="835"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01516" y="1410482"/>
            <a:ext cx="97811" cy="142270"/>
          </a:xfrm>
          <a:prstGeom prst="rect">
            <a:avLst/>
          </a:prstGeom>
        </p:spPr>
      </p:pic>
      <p:sp>
        <p:nvSpPr>
          <p:cNvPr id="54" name="TextBox 53"/>
          <p:cNvSpPr txBox="1"/>
          <p:nvPr/>
        </p:nvSpPr>
        <p:spPr>
          <a:xfrm>
            <a:off x="2032418" y="2818955"/>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810740"/>
            <a:ext cx="108107" cy="157246"/>
          </a:xfrm>
          <a:prstGeom prst="rect">
            <a:avLst/>
          </a:prstGeom>
        </p:spPr>
      </p:pic>
      <p:sp>
        <p:nvSpPr>
          <p:cNvPr id="56" name="TextBox 55"/>
          <p:cNvSpPr txBox="1"/>
          <p:nvPr/>
        </p:nvSpPr>
        <p:spPr>
          <a:xfrm>
            <a:off x="2032418" y="2561780"/>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553565"/>
            <a:ext cx="108107" cy="157246"/>
          </a:xfrm>
          <a:prstGeom prst="rect">
            <a:avLst/>
          </a:prstGeom>
        </p:spPr>
      </p:pic>
      <p:sp>
        <p:nvSpPr>
          <p:cNvPr id="58" name="TextBox 57"/>
          <p:cNvSpPr txBox="1"/>
          <p:nvPr/>
        </p:nvSpPr>
        <p:spPr>
          <a:xfrm>
            <a:off x="2032418" y="2302745"/>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294530"/>
            <a:ext cx="108107" cy="157246"/>
          </a:xfrm>
          <a:prstGeom prst="rect">
            <a:avLst/>
          </a:prstGeom>
        </p:spPr>
      </p:pic>
      <p:sp>
        <p:nvSpPr>
          <p:cNvPr id="60" name="TextBox 59"/>
          <p:cNvSpPr txBox="1"/>
          <p:nvPr/>
        </p:nvSpPr>
        <p:spPr>
          <a:xfrm>
            <a:off x="276225" y="5200650"/>
            <a:ext cx="1993962" cy="194310"/>
          </a:xfrm>
          <a:prstGeom prst="rect">
            <a:avLst/>
          </a:prstGeom>
          <a:noFill/>
        </p:spPr>
        <p:txBody>
          <a:bodyPr wrap="none" lIns="0" rIns="0" tIns="0" bIns="0">
            <a:spAutoFit/>
          </a:bodyPr>
          <a:lstStyle/>
          <a:p>
            <a:r>
              <a:rPr sz="1150" b="0">
                <a:solidFill>
                  <a:srgbClr val="2E2E2E"/>
                </a:solidFill>
                <a:latin typeface="Calibri"/>
              </a:rPr>
              <a:t>▪ Optimistic: the market reaches</a:t>
            </a:r>
          </a:p>
        </p:txBody>
      </p:sp>
      <p:pic>
        <p:nvPicPr>
          <p:cNvPr id="61" name="Picture 60" descr="lock.png"/>
          <p:cNvPicPr>
            <a:picLocks noChangeAspect="1"/>
          </p:cNvPicPr>
          <p:nvPr/>
        </p:nvPicPr>
        <p:blipFill>
          <a:blip r:embed="rId5"/>
          <a:stretch>
            <a:fillRect/>
          </a:stretch>
        </p:blipFill>
        <p:spPr>
          <a:xfrm>
            <a:off x="2219340" y="5190426"/>
            <a:ext cx="134549" cy="195707"/>
          </a:xfrm>
          <a:prstGeom prst="rect">
            <a:avLst/>
          </a:prstGeom>
        </p:spPr>
      </p:pic>
      <p:sp>
        <p:nvSpPr>
          <p:cNvPr id="62" name="TextBox 61"/>
          <p:cNvSpPr txBox="1"/>
          <p:nvPr/>
        </p:nvSpPr>
        <p:spPr>
          <a:xfrm>
            <a:off x="2394450" y="520065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3547412" y="5190426"/>
            <a:ext cx="134549" cy="195707"/>
          </a:xfrm>
          <a:prstGeom prst="rect">
            <a:avLst/>
          </a:prstGeom>
        </p:spPr>
      </p:pic>
      <p:sp>
        <p:nvSpPr>
          <p:cNvPr id="64" name="TextBox 63"/>
          <p:cNvSpPr txBox="1"/>
          <p:nvPr/>
        </p:nvSpPr>
        <p:spPr>
          <a:xfrm>
            <a:off x="3722522" y="5200650"/>
            <a:ext cx="3799886" cy="194310"/>
          </a:xfrm>
          <a:prstGeom prst="rect">
            <a:avLst/>
          </a:prstGeom>
          <a:noFill/>
        </p:spPr>
        <p:txBody>
          <a:bodyPr wrap="none" lIns="0" rIns="0" tIns="0" bIns="0">
            <a:spAutoFit/>
          </a:bodyPr>
          <a:lstStyle/>
          <a:p>
            <a:r>
              <a:rPr sz="1150" b="0">
                <a:solidFill>
                  <a:srgbClr val="2E2E2E"/>
                </a:solidFill>
                <a:latin typeface="Calibri"/>
              </a:rPr>
              <a:t>CAGR, assuming faster adoption and stronger price realisation.</a:t>
            </a:r>
          </a:p>
        </p:txBody>
      </p:sp>
      <p:sp>
        <p:nvSpPr>
          <p:cNvPr id="65" name="TextBox 64"/>
          <p:cNvSpPr txBox="1"/>
          <p:nvPr/>
        </p:nvSpPr>
        <p:spPr>
          <a:xfrm>
            <a:off x="276225" y="5428488"/>
            <a:ext cx="2634071" cy="194310"/>
          </a:xfrm>
          <a:prstGeom prst="rect">
            <a:avLst/>
          </a:prstGeom>
          <a:noFill/>
        </p:spPr>
        <p:txBody>
          <a:bodyPr wrap="none" lIns="0" rIns="0" tIns="0" bIns="0">
            <a:spAutoFit/>
          </a:bodyPr>
          <a:lstStyle/>
          <a:p>
            <a:r>
              <a:rPr sz="1150" b="0">
                <a:solidFill>
                  <a:srgbClr val="2E2E2E"/>
                </a:solidFill>
                <a:latin typeface="Calibri"/>
              </a:rPr>
              <a:t>▪ Likely (base forecast): the market reaches</a:t>
            </a:r>
          </a:p>
        </p:txBody>
      </p:sp>
      <p:pic>
        <p:nvPicPr>
          <p:cNvPr id="66" name="Picture 65" descr="lock.png"/>
          <p:cNvPicPr>
            <a:picLocks noChangeAspect="1"/>
          </p:cNvPicPr>
          <p:nvPr/>
        </p:nvPicPr>
        <p:blipFill>
          <a:blip r:embed="rId5"/>
          <a:stretch>
            <a:fillRect/>
          </a:stretch>
        </p:blipFill>
        <p:spPr>
          <a:xfrm>
            <a:off x="2859450" y="5418264"/>
            <a:ext cx="134549" cy="195707"/>
          </a:xfrm>
          <a:prstGeom prst="rect">
            <a:avLst/>
          </a:prstGeom>
        </p:spPr>
      </p:pic>
      <p:sp>
        <p:nvSpPr>
          <p:cNvPr id="67" name="TextBox 66"/>
          <p:cNvSpPr txBox="1"/>
          <p:nvPr/>
        </p:nvSpPr>
        <p:spPr>
          <a:xfrm>
            <a:off x="3034559" y="5428488"/>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8" name="Picture 67" descr="lock.png"/>
          <p:cNvPicPr>
            <a:picLocks noChangeAspect="1"/>
          </p:cNvPicPr>
          <p:nvPr/>
        </p:nvPicPr>
        <p:blipFill>
          <a:blip r:embed="rId5"/>
          <a:stretch>
            <a:fillRect/>
          </a:stretch>
        </p:blipFill>
        <p:spPr>
          <a:xfrm>
            <a:off x="4187522" y="5418264"/>
            <a:ext cx="134549" cy="195707"/>
          </a:xfrm>
          <a:prstGeom prst="rect">
            <a:avLst/>
          </a:prstGeom>
        </p:spPr>
      </p:pic>
      <p:sp>
        <p:nvSpPr>
          <p:cNvPr id="69" name="TextBox 68"/>
          <p:cNvSpPr txBox="1"/>
          <p:nvPr/>
        </p:nvSpPr>
        <p:spPr>
          <a:xfrm>
            <a:off x="4362631" y="542848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656325"/>
            <a:ext cx="2155415" cy="194310"/>
          </a:xfrm>
          <a:prstGeom prst="rect">
            <a:avLst/>
          </a:prstGeom>
          <a:noFill/>
        </p:spPr>
        <p:txBody>
          <a:bodyPr wrap="none" lIns="0" rIns="0" tIns="0" bIns="0">
            <a:spAutoFit/>
          </a:bodyPr>
          <a:lstStyle/>
          <a:p>
            <a:r>
              <a:rPr sz="1150" b="0">
                <a:solidFill>
                  <a:srgbClr val="2E2E2E"/>
                </a:solidFill>
                <a:latin typeface="Calibri"/>
              </a:rPr>
              <a:t>▪ Conservative: the market reaches</a:t>
            </a:r>
          </a:p>
        </p:txBody>
      </p:sp>
      <p:pic>
        <p:nvPicPr>
          <p:cNvPr id="71" name="Picture 70" descr="lock.png"/>
          <p:cNvPicPr>
            <a:picLocks noChangeAspect="1"/>
          </p:cNvPicPr>
          <p:nvPr/>
        </p:nvPicPr>
        <p:blipFill>
          <a:blip r:embed="rId5"/>
          <a:stretch>
            <a:fillRect/>
          </a:stretch>
        </p:blipFill>
        <p:spPr>
          <a:xfrm>
            <a:off x="2380794" y="5646102"/>
            <a:ext cx="134549" cy="195707"/>
          </a:xfrm>
          <a:prstGeom prst="rect">
            <a:avLst/>
          </a:prstGeom>
        </p:spPr>
      </p:pic>
      <p:sp>
        <p:nvSpPr>
          <p:cNvPr id="72" name="TextBox 71"/>
          <p:cNvSpPr txBox="1"/>
          <p:nvPr/>
        </p:nvSpPr>
        <p:spPr>
          <a:xfrm>
            <a:off x="2555903" y="5656325"/>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73" name="Picture 72" descr="lock.png"/>
          <p:cNvPicPr>
            <a:picLocks noChangeAspect="1"/>
          </p:cNvPicPr>
          <p:nvPr/>
        </p:nvPicPr>
        <p:blipFill>
          <a:blip r:embed="rId5"/>
          <a:stretch>
            <a:fillRect/>
          </a:stretch>
        </p:blipFill>
        <p:spPr>
          <a:xfrm>
            <a:off x="3708866" y="5646102"/>
            <a:ext cx="134549" cy="195707"/>
          </a:xfrm>
          <a:prstGeom prst="rect">
            <a:avLst/>
          </a:prstGeom>
        </p:spPr>
      </p:pic>
      <p:sp>
        <p:nvSpPr>
          <p:cNvPr id="74" name="TextBox 73"/>
          <p:cNvSpPr txBox="1"/>
          <p:nvPr/>
        </p:nvSpPr>
        <p:spPr>
          <a:xfrm>
            <a:off x="3883975" y="5656325"/>
            <a:ext cx="3198000" cy="194310"/>
          </a:xfrm>
          <a:prstGeom prst="rect">
            <a:avLst/>
          </a:prstGeom>
          <a:noFill/>
        </p:spPr>
        <p:txBody>
          <a:bodyPr wrap="none" lIns="0" rIns="0" tIns="0" bIns="0">
            <a:spAutoFit/>
          </a:bodyPr>
          <a:lstStyle/>
          <a:p>
            <a:r>
              <a:rPr sz="1150" b="0">
                <a:solidFill>
                  <a:srgbClr val="2E2E2E"/>
                </a:solidFill>
                <a:latin typeface="Calibri"/>
              </a:rPr>
              <a:t>CAGR, assuming slower adoption and tighter pricing.</a:t>
            </a:r>
          </a:p>
        </p:txBody>
      </p:sp>
      <p:sp>
        <p:nvSpPr>
          <p:cNvPr id="75" name="TextBox 74"/>
          <p:cNvSpPr txBox="1"/>
          <p:nvPr/>
        </p:nvSpPr>
        <p:spPr>
          <a:xfrm>
            <a:off x="276225" y="5884163"/>
            <a:ext cx="4386671"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plus or minus</a:t>
            </a:r>
          </a:p>
        </p:txBody>
      </p:sp>
      <p:pic>
        <p:nvPicPr>
          <p:cNvPr id="76" name="Picture 75" descr="lock.png"/>
          <p:cNvPicPr>
            <a:picLocks noChangeAspect="1"/>
          </p:cNvPicPr>
          <p:nvPr/>
        </p:nvPicPr>
        <p:blipFill>
          <a:blip r:embed="rId5"/>
          <a:stretch>
            <a:fillRect/>
          </a:stretch>
        </p:blipFill>
        <p:spPr>
          <a:xfrm>
            <a:off x="4612050" y="5873940"/>
            <a:ext cx="134549" cy="195707"/>
          </a:xfrm>
          <a:prstGeom prst="rect">
            <a:avLst/>
          </a:prstGeom>
        </p:spPr>
      </p:pic>
      <p:sp>
        <p:nvSpPr>
          <p:cNvPr id="77" name="TextBox 76"/>
          <p:cNvSpPr txBox="1"/>
          <p:nvPr/>
        </p:nvSpPr>
        <p:spPr>
          <a:xfrm>
            <a:off x="4787159" y="5884163"/>
            <a:ext cx="1158168" cy="194310"/>
          </a:xfrm>
          <a:prstGeom prst="rect">
            <a:avLst/>
          </a:prstGeom>
          <a:noFill/>
        </p:spPr>
        <p:txBody>
          <a:bodyPr wrap="none" lIns="0" rIns="0" tIns="0" bIns="0">
            <a:spAutoFit/>
          </a:bodyPr>
          <a:lstStyle/>
          <a:p>
            <a:r>
              <a:rPr sz="1150" b="0">
                <a:solidFill>
                  <a:srgbClr val="2E2E2E"/>
                </a:solidFill>
                <a:latin typeface="Calibri"/>
              </a:rPr>
              <a:t>across 2026-2036.</a:t>
            </a:r>
          </a:p>
        </p:txBody>
      </p:sp>
      <p:sp>
        <p:nvSpPr>
          <p:cNvPr id="78" name="TextBox 77"/>
          <p:cNvSpPr txBox="1"/>
          <p:nvPr/>
        </p:nvSpPr>
        <p:spPr>
          <a:xfrm>
            <a:off x="276225" y="6112001"/>
            <a:ext cx="3829856" cy="194310"/>
          </a:xfrm>
          <a:prstGeom prst="rect">
            <a:avLst/>
          </a:prstGeom>
          <a:noFill/>
        </p:spPr>
        <p:txBody>
          <a:bodyPr wrap="none" lIns="0" rIns="0" tIns="0" bIns="0">
            <a:spAutoFit/>
          </a:bodyPr>
          <a:lstStyle/>
          <a:p>
            <a:r>
              <a:rPr sz="1150" b="0">
                <a:solidFill>
                  <a:srgbClr val="2E2E2E"/>
                </a:solidFill>
                <a:latin typeface="Calibri"/>
              </a:rPr>
              <a:t>▪ The gap between the optimistic and conservative outcomes is</a:t>
            </a:r>
          </a:p>
        </p:txBody>
      </p:sp>
      <p:pic>
        <p:nvPicPr>
          <p:cNvPr id="79" name="Picture 78" descr="lock.png"/>
          <p:cNvPicPr>
            <a:picLocks noChangeAspect="1"/>
          </p:cNvPicPr>
          <p:nvPr/>
        </p:nvPicPr>
        <p:blipFill>
          <a:blip r:embed="rId5"/>
          <a:stretch>
            <a:fillRect/>
          </a:stretch>
        </p:blipFill>
        <p:spPr>
          <a:xfrm>
            <a:off x="4055235" y="6101778"/>
            <a:ext cx="134549" cy="195707"/>
          </a:xfrm>
          <a:prstGeom prst="rect">
            <a:avLst/>
          </a:prstGeom>
        </p:spPr>
      </p:pic>
      <p:sp>
        <p:nvSpPr>
          <p:cNvPr id="80" name="TextBox 79"/>
          <p:cNvSpPr txBox="1"/>
          <p:nvPr/>
        </p:nvSpPr>
        <p:spPr>
          <a:xfrm>
            <a:off x="4230344" y="6112001"/>
            <a:ext cx="5341416" cy="194310"/>
          </a:xfrm>
          <a:prstGeom prst="rect">
            <a:avLst/>
          </a:prstGeom>
          <a:noFill/>
        </p:spPr>
        <p:txBody>
          <a:bodyPr wrap="none" lIns="0" rIns="0" tIns="0" bIns="0">
            <a:spAutoFit/>
          </a:bodyPr>
          <a:lstStyle/>
          <a:p>
            <a:r>
              <a:rPr sz="1150" b="0">
                <a:solidFill>
                  <a:srgbClr val="2E2E2E"/>
                </a:solidFill>
                <a:latin typeface="Calibri"/>
              </a:rPr>
              <a:t>US$ Mn in 2036, which frames the planning range for capacity and investment decisions.</a:t>
            </a:r>
          </a:p>
        </p:txBody>
      </p:sp>
      <p:sp>
        <p:nvSpPr>
          <p:cNvPr id="81" name="lockshield_36"/>
          <p:cNvSpPr/>
          <p:nvPr/>
        </p:nvSpPr>
        <p:spPr>
          <a:xfrm>
            <a:off x="6267450" y="21812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North America Allergy Immunotherapy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Allergy Immunotherapy – Country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2 countries, highlighting where value concentrates,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North America market down geographically. Each country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U.S.</a:t>
            </a:r>
          </a:p>
        </p:txBody>
      </p:sp>
      <p:sp>
        <p:nvSpPr>
          <p:cNvPr id="23" name="Rectangle 22"/>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4" name="Rectangle 23"/>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5" name="Rectangle 24"/>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6" name="Oval 25"/>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Canada</a:t>
            </a:r>
          </a:p>
        </p:txBody>
      </p:sp>
      <p:sp>
        <p:nvSpPr>
          <p:cNvPr id="30" name="Rectangle 29"/>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1" name="Rectangle 30"/>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2" name="Rectangle 31"/>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3" name="Oval 32"/>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6" name="Rectangle 3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8" name="Rounded Rectangle 3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40" name="Rectangle 3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2" name="Rounded Rectangle 4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44" name="Rectangle 4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46" name="Rectangle 4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8" name="TextBox 4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9" name="TextBox 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0" name="Picture 49" descr="lock.png"/>
          <p:cNvPicPr>
            <a:picLocks noChangeAspect="1"/>
          </p:cNvPicPr>
          <p:nvPr/>
        </p:nvPicPr>
        <p:blipFill>
          <a:blip r:embed="rId4"/>
          <a:stretch>
            <a:fillRect/>
          </a:stretch>
        </p:blipFill>
        <p:spPr>
          <a:xfrm>
            <a:off x="4250888" y="2339922"/>
            <a:ext cx="175498" cy="255270"/>
          </a:xfrm>
          <a:prstGeom prst="rect">
            <a:avLst/>
          </a:prstGeom>
        </p:spPr>
      </p:pic>
      <p:pic>
        <p:nvPicPr>
          <p:cNvPr id="51" name="Picture 50" descr="lock.png"/>
          <p:cNvPicPr>
            <a:picLocks noChangeAspect="1"/>
          </p:cNvPicPr>
          <p:nvPr/>
        </p:nvPicPr>
        <p:blipFill>
          <a:blip r:embed="rId4"/>
          <a:stretch>
            <a:fillRect/>
          </a:stretch>
        </p:blipFill>
        <p:spPr>
          <a:xfrm>
            <a:off x="4250888" y="2832772"/>
            <a:ext cx="175498" cy="255270"/>
          </a:xfrm>
          <a:prstGeom prst="rect">
            <a:avLst/>
          </a:prstGeom>
        </p:spPr>
      </p:pic>
      <p:pic>
        <p:nvPicPr>
          <p:cNvPr id="52" name="Picture 51" descr="lock.png"/>
          <p:cNvPicPr>
            <a:picLocks noChangeAspect="1"/>
          </p:cNvPicPr>
          <p:nvPr/>
        </p:nvPicPr>
        <p:blipFill>
          <a:blip r:embed="rId4"/>
          <a:stretch>
            <a:fillRect/>
          </a:stretch>
        </p:blipFill>
        <p:spPr>
          <a:xfrm>
            <a:off x="4250888" y="3325622"/>
            <a:ext cx="175498" cy="255270"/>
          </a:xfrm>
          <a:prstGeom prst="rect">
            <a:avLst/>
          </a:prstGeom>
        </p:spPr>
      </p:pic>
      <p:pic>
        <p:nvPicPr>
          <p:cNvPr id="53" name="Picture 52" descr="lock.png"/>
          <p:cNvPicPr>
            <a:picLocks noChangeAspect="1"/>
          </p:cNvPicPr>
          <p:nvPr/>
        </p:nvPicPr>
        <p:blipFill>
          <a:blip r:embed="rId4"/>
          <a:stretch>
            <a:fillRect/>
          </a:stretch>
        </p:blipFill>
        <p:spPr>
          <a:xfrm>
            <a:off x="9308663" y="2339922"/>
            <a:ext cx="175498" cy="255270"/>
          </a:xfrm>
          <a:prstGeom prst="rect">
            <a:avLst/>
          </a:prstGeom>
        </p:spPr>
      </p:pic>
      <p:pic>
        <p:nvPicPr>
          <p:cNvPr id="54" name="Picture 53" descr="lock.png"/>
          <p:cNvPicPr>
            <a:picLocks noChangeAspect="1"/>
          </p:cNvPicPr>
          <p:nvPr/>
        </p:nvPicPr>
        <p:blipFill>
          <a:blip r:embed="rId4"/>
          <a:stretch>
            <a:fillRect/>
          </a:stretch>
        </p:blipFill>
        <p:spPr>
          <a:xfrm>
            <a:off x="9308663" y="2832772"/>
            <a:ext cx="175498" cy="255270"/>
          </a:xfrm>
          <a:prstGeom prst="rect">
            <a:avLst/>
          </a:prstGeom>
        </p:spPr>
      </p:pic>
      <p:pic>
        <p:nvPicPr>
          <p:cNvPr id="55" name="Picture 54" descr="lock.png"/>
          <p:cNvPicPr>
            <a:picLocks noChangeAspect="1"/>
          </p:cNvPicPr>
          <p:nvPr/>
        </p:nvPicPr>
        <p:blipFill>
          <a:blip r:embed="rId4"/>
          <a:stretch>
            <a:fillRect/>
          </a:stretch>
        </p:blipFill>
        <p:spPr>
          <a:xfrm>
            <a:off x="9308663" y="3325622"/>
            <a:ext cx="175498" cy="255270"/>
          </a:xfrm>
          <a:prstGeom prst="rect">
            <a:avLst/>
          </a:prstGeom>
        </p:spPr>
      </p:pic>
      <p:sp>
        <p:nvSpPr>
          <p:cNvPr id="56" name="TextBox 55"/>
          <p:cNvSpPr txBox="1"/>
          <p:nvPr/>
        </p:nvSpPr>
        <p:spPr>
          <a:xfrm>
            <a:off x="485775" y="4229437"/>
            <a:ext cx="2460922" cy="186689"/>
          </a:xfrm>
          <a:prstGeom prst="rect">
            <a:avLst/>
          </a:prstGeom>
          <a:noFill/>
        </p:spPr>
        <p:txBody>
          <a:bodyPr wrap="none" lIns="0" rIns="0" tIns="0" bIns="0">
            <a:spAutoFit/>
          </a:bodyPr>
          <a:lstStyle/>
          <a:p>
            <a:r>
              <a:rPr sz="1100" b="0">
                <a:solidFill>
                  <a:srgbClr val="2E2E2E"/>
                </a:solidFill>
                <a:latin typeface="Calibri"/>
              </a:rPr>
              <a:t>The U.S. allergy immunotherapy market is</a:t>
            </a:r>
          </a:p>
        </p:txBody>
      </p:sp>
      <p:sp>
        <p:nvSpPr>
          <p:cNvPr id="57" name="TextBox 56"/>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58" name="Picture 57" descr="lock.png"/>
          <p:cNvPicPr>
            <a:picLocks noChangeAspect="1"/>
          </p:cNvPicPr>
          <p:nvPr/>
        </p:nvPicPr>
        <p:blipFill>
          <a:blip r:embed="rId4"/>
          <a:stretch>
            <a:fillRect/>
          </a:stretch>
        </p:blipFill>
        <p:spPr>
          <a:xfrm>
            <a:off x="1678376" y="4387298"/>
            <a:ext cx="128699" cy="187198"/>
          </a:xfrm>
          <a:prstGeom prst="rect">
            <a:avLst/>
          </a:prstGeom>
        </p:spPr>
      </p:pic>
      <p:sp>
        <p:nvSpPr>
          <p:cNvPr id="59" name="TextBox 58"/>
          <p:cNvSpPr txBox="1"/>
          <p:nvPr/>
        </p:nvSpPr>
        <p:spPr>
          <a:xfrm>
            <a:off x="1845872" y="4397077"/>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60" name="TextBox 59"/>
          <p:cNvSpPr txBox="1"/>
          <p:nvPr/>
        </p:nvSpPr>
        <p:spPr>
          <a:xfrm>
            <a:off x="485775" y="4564717"/>
            <a:ext cx="2914650" cy="186689"/>
          </a:xfrm>
          <a:prstGeom prst="rect">
            <a:avLst/>
          </a:prstGeom>
          <a:noFill/>
        </p:spPr>
        <p:txBody>
          <a:bodyPr wrap="none" lIns="0" rIns="0" tIns="0" bIns="0">
            <a:spAutoFit/>
          </a:bodyPr>
          <a:lstStyle/>
          <a:p>
            <a:r>
              <a:rPr sz="1100" b="0">
                <a:solidFill>
                  <a:srgbClr val="2E2E2E"/>
                </a:solidFill>
                <a:latin typeface="Calibri"/>
              </a:rPr>
              <a:t>Canada in 2036. Among allergy immunotherapy by</a:t>
            </a:r>
          </a:p>
        </p:txBody>
      </p:sp>
      <p:sp>
        <p:nvSpPr>
          <p:cNvPr id="61" name="TextBox 60"/>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country, Canada is expected to witness the highest</a:t>
            </a:r>
          </a:p>
        </p:txBody>
      </p:sp>
      <p:sp>
        <p:nvSpPr>
          <p:cNvPr id="62" name="TextBox 61"/>
          <p:cNvSpPr txBox="1"/>
          <p:nvPr/>
        </p:nvSpPr>
        <p:spPr>
          <a:xfrm>
            <a:off x="485775" y="489999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63" name="Picture 62" descr="lock.png"/>
          <p:cNvPicPr>
            <a:picLocks noChangeAspect="1"/>
          </p:cNvPicPr>
          <p:nvPr/>
        </p:nvPicPr>
        <p:blipFill>
          <a:blip r:embed="rId4"/>
          <a:stretch>
            <a:fillRect/>
          </a:stretch>
        </p:blipFill>
        <p:spPr>
          <a:xfrm>
            <a:off x="977131" y="4890217"/>
            <a:ext cx="128699" cy="187198"/>
          </a:xfrm>
          <a:prstGeom prst="rect">
            <a:avLst/>
          </a:prstGeom>
        </p:spPr>
      </p:pic>
      <p:sp>
        <p:nvSpPr>
          <p:cNvPr id="64" name="TextBox 63"/>
          <p:cNvSpPr txBox="1"/>
          <p:nvPr/>
        </p:nvSpPr>
        <p:spPr>
          <a:xfrm>
            <a:off x="1144627" y="489999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65" name="TextBox 64"/>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country, U.S. is expected</a:t>
            </a:r>
          </a:p>
        </p:txBody>
      </p:sp>
      <p:sp>
        <p:nvSpPr>
          <p:cNvPr id="66" name="TextBox 65"/>
          <p:cNvSpPr txBox="1"/>
          <p:nvPr/>
        </p:nvSpPr>
        <p:spPr>
          <a:xfrm>
            <a:off x="485775" y="5285569"/>
            <a:ext cx="1835001" cy="186689"/>
          </a:xfrm>
          <a:prstGeom prst="rect">
            <a:avLst/>
          </a:prstGeom>
          <a:noFill/>
        </p:spPr>
        <p:txBody>
          <a:bodyPr wrap="none" lIns="0" rIns="0" tIns="0" bIns="0">
            <a:spAutoFit/>
          </a:bodyPr>
          <a:lstStyle/>
          <a:p>
            <a:r>
              <a:rPr sz="1100" b="0">
                <a:solidFill>
                  <a:srgbClr val="2E2E2E"/>
                </a:solidFill>
                <a:latin typeface="Calibri"/>
              </a:rPr>
              <a:t>to dominate the market, losing</a:t>
            </a:r>
          </a:p>
        </p:txBody>
      </p:sp>
      <p:pic>
        <p:nvPicPr>
          <p:cNvPr id="67" name="Picture 66" descr="lock.png"/>
          <p:cNvPicPr>
            <a:picLocks noChangeAspect="1"/>
          </p:cNvPicPr>
          <p:nvPr/>
        </p:nvPicPr>
        <p:blipFill>
          <a:blip r:embed="rId4"/>
          <a:stretch>
            <a:fillRect/>
          </a:stretch>
        </p:blipFill>
        <p:spPr>
          <a:xfrm>
            <a:off x="2268827" y="5275790"/>
            <a:ext cx="128699" cy="187198"/>
          </a:xfrm>
          <a:prstGeom prst="rect">
            <a:avLst/>
          </a:prstGeom>
        </p:spPr>
      </p:pic>
      <p:sp>
        <p:nvSpPr>
          <p:cNvPr id="68" name="TextBox 67"/>
          <p:cNvSpPr txBox="1"/>
          <p:nvPr/>
        </p:nvSpPr>
        <p:spPr>
          <a:xfrm>
            <a:off x="2436323" y="5285569"/>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69" name="TextBox 68"/>
          <p:cNvSpPr txBox="1"/>
          <p:nvPr/>
        </p:nvSpPr>
        <p:spPr>
          <a:xfrm>
            <a:off x="485775" y="5453209"/>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70" name="Picture 69" descr="lock.png"/>
          <p:cNvPicPr>
            <a:picLocks noChangeAspect="1"/>
          </p:cNvPicPr>
          <p:nvPr/>
        </p:nvPicPr>
        <p:blipFill>
          <a:blip r:embed="rId4"/>
          <a:stretch>
            <a:fillRect/>
          </a:stretch>
        </p:blipFill>
        <p:spPr>
          <a:xfrm>
            <a:off x="1330764" y="5443430"/>
            <a:ext cx="128699" cy="187198"/>
          </a:xfrm>
          <a:prstGeom prst="rect">
            <a:avLst/>
          </a:prstGeom>
        </p:spPr>
      </p:pic>
      <p:sp>
        <p:nvSpPr>
          <p:cNvPr id="71" name="TextBox 70"/>
          <p:cNvSpPr txBox="1"/>
          <p:nvPr/>
        </p:nvSpPr>
        <p:spPr>
          <a:xfrm>
            <a:off x="1498259"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2" name="TextBox 71"/>
          <p:cNvSpPr txBox="1"/>
          <p:nvPr/>
        </p:nvSpPr>
        <p:spPr>
          <a:xfrm>
            <a:off x="3838575" y="4229437"/>
            <a:ext cx="453826" cy="186689"/>
          </a:xfrm>
          <a:prstGeom prst="rect">
            <a:avLst/>
          </a:prstGeom>
          <a:noFill/>
        </p:spPr>
        <p:txBody>
          <a:bodyPr wrap="none" lIns="0" rIns="0" tIns="0" bIns="0">
            <a:spAutoFit/>
          </a:bodyPr>
          <a:lstStyle/>
          <a:p>
            <a:r>
              <a:rPr sz="1100" b="0">
                <a:solidFill>
                  <a:srgbClr val="2E2E2E"/>
                </a:solidFill>
                <a:latin typeface="Calibri"/>
              </a:rPr>
              <a:t>● U.S.:</a:t>
            </a:r>
          </a:p>
        </p:txBody>
      </p:sp>
      <p:pic>
        <p:nvPicPr>
          <p:cNvPr id="73" name="Picture 72" descr="lock.png"/>
          <p:cNvPicPr>
            <a:picLocks noChangeAspect="1"/>
          </p:cNvPicPr>
          <p:nvPr/>
        </p:nvPicPr>
        <p:blipFill>
          <a:blip r:embed="rId4"/>
          <a:stretch>
            <a:fillRect/>
          </a:stretch>
        </p:blipFill>
        <p:spPr>
          <a:xfrm>
            <a:off x="4240453" y="4219658"/>
            <a:ext cx="128699" cy="187198"/>
          </a:xfrm>
          <a:prstGeom prst="rect">
            <a:avLst/>
          </a:prstGeom>
        </p:spPr>
      </p:pic>
      <p:sp>
        <p:nvSpPr>
          <p:cNvPr id="74" name="TextBox 73"/>
          <p:cNvSpPr txBox="1"/>
          <p:nvPr/>
        </p:nvSpPr>
        <p:spPr>
          <a:xfrm>
            <a:off x="44079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5" name="Picture 74" descr="lock.png"/>
          <p:cNvPicPr>
            <a:picLocks noChangeAspect="1"/>
          </p:cNvPicPr>
          <p:nvPr/>
        </p:nvPicPr>
        <p:blipFill>
          <a:blip r:embed="rId4"/>
          <a:stretch>
            <a:fillRect/>
          </a:stretch>
        </p:blipFill>
        <p:spPr>
          <a:xfrm>
            <a:off x="5267399" y="4219658"/>
            <a:ext cx="128699" cy="187198"/>
          </a:xfrm>
          <a:prstGeom prst="rect">
            <a:avLst/>
          </a:prstGeom>
        </p:spPr>
      </p:pic>
      <p:sp>
        <p:nvSpPr>
          <p:cNvPr id="76" name="TextBox 75"/>
          <p:cNvSpPr txBox="1"/>
          <p:nvPr/>
        </p:nvSpPr>
        <p:spPr>
          <a:xfrm>
            <a:off x="543489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77" name="TextBox 76"/>
          <p:cNvSpPr txBox="1"/>
          <p:nvPr/>
        </p:nvSpPr>
        <p:spPr>
          <a:xfrm>
            <a:off x="3838575" y="4447369"/>
            <a:ext cx="651371" cy="186689"/>
          </a:xfrm>
          <a:prstGeom prst="rect">
            <a:avLst/>
          </a:prstGeom>
          <a:noFill/>
        </p:spPr>
        <p:txBody>
          <a:bodyPr wrap="none" lIns="0" rIns="0" tIns="0" bIns="0">
            <a:spAutoFit/>
          </a:bodyPr>
          <a:lstStyle/>
          <a:p>
            <a:r>
              <a:rPr sz="1100" b="0">
                <a:solidFill>
                  <a:srgbClr val="2E2E2E"/>
                </a:solidFill>
                <a:latin typeface="Calibri"/>
              </a:rPr>
              <a:t>● Canada:</a:t>
            </a:r>
          </a:p>
        </p:txBody>
      </p:sp>
      <p:pic>
        <p:nvPicPr>
          <p:cNvPr id="78" name="Picture 77" descr="lock.png"/>
          <p:cNvPicPr>
            <a:picLocks noChangeAspect="1"/>
          </p:cNvPicPr>
          <p:nvPr/>
        </p:nvPicPr>
        <p:blipFill>
          <a:blip r:embed="rId4"/>
          <a:stretch>
            <a:fillRect/>
          </a:stretch>
        </p:blipFill>
        <p:spPr>
          <a:xfrm>
            <a:off x="4437997" y="4437590"/>
            <a:ext cx="128699" cy="187198"/>
          </a:xfrm>
          <a:prstGeom prst="rect">
            <a:avLst/>
          </a:prstGeom>
        </p:spPr>
      </p:pic>
      <p:sp>
        <p:nvSpPr>
          <p:cNvPr id="79" name="TextBox 78"/>
          <p:cNvSpPr txBox="1"/>
          <p:nvPr/>
        </p:nvSpPr>
        <p:spPr>
          <a:xfrm>
            <a:off x="46054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0" name="Picture 79" descr="lock.png"/>
          <p:cNvPicPr>
            <a:picLocks noChangeAspect="1"/>
          </p:cNvPicPr>
          <p:nvPr/>
        </p:nvPicPr>
        <p:blipFill>
          <a:blip r:embed="rId4"/>
          <a:stretch>
            <a:fillRect/>
          </a:stretch>
        </p:blipFill>
        <p:spPr>
          <a:xfrm>
            <a:off x="5464943" y="4437590"/>
            <a:ext cx="128699" cy="187198"/>
          </a:xfrm>
          <a:prstGeom prst="rect">
            <a:avLst/>
          </a:prstGeom>
        </p:spPr>
      </p:pic>
      <p:sp>
        <p:nvSpPr>
          <p:cNvPr id="81" name="TextBox 80"/>
          <p:cNvSpPr txBox="1"/>
          <p:nvPr/>
        </p:nvSpPr>
        <p:spPr>
          <a:xfrm>
            <a:off x="563243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2" name="TextBox 81"/>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North America market is projected to grow at a</a:t>
            </a:r>
          </a:p>
        </p:txBody>
      </p:sp>
      <p:sp>
        <p:nvSpPr>
          <p:cNvPr id="83" name="TextBox 82"/>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4" name="Picture 83" descr="lock.png"/>
          <p:cNvPicPr>
            <a:picLocks noChangeAspect="1"/>
          </p:cNvPicPr>
          <p:nvPr/>
        </p:nvPicPr>
        <p:blipFill>
          <a:blip r:embed="rId4"/>
          <a:stretch>
            <a:fillRect/>
          </a:stretch>
        </p:blipFill>
        <p:spPr>
          <a:xfrm>
            <a:off x="9048826" y="6007677"/>
            <a:ext cx="134549" cy="195707"/>
          </a:xfrm>
          <a:prstGeom prst="rect">
            <a:avLst/>
          </a:prstGeom>
        </p:spPr>
      </p:pic>
      <p:sp>
        <p:nvSpPr>
          <p:cNvPr id="85" name="TextBox 84"/>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Allergy Immunotherapy Market Analysis, By Country Volume (Patient Treatment Courses)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3" name="Chart 12"/>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4" name="TextBox 13"/>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5" name="FMI Lock Anchor"/>
          <p:cNvSpPr txBox="1"/>
          <p:nvPr/>
        </p:nvSpPr>
        <p:spPr>
          <a:xfrm>
            <a:off x="2489835" y="3352800"/>
            <a:ext cx="38100" cy="38100"/>
          </a:xfrm>
          <a:prstGeom prst="rect">
            <a:avLst/>
          </a:prstGeom>
          <a:noFill/>
        </p:spPr>
        <p:txBody>
          <a:bodyPr wrap="none">
            <a:spAutoFit/>
          </a:bodyPr>
          <a:lstStyle/>
          <a:p/>
        </p:txBody>
      </p:sp>
      <p:sp>
        <p:nvSpPr>
          <p:cNvPr id="16" name="FMI Legend Chip"/>
          <p:cNvSpPr/>
          <p:nvPr/>
        </p:nvSpPr>
        <p:spPr>
          <a:xfrm>
            <a:off x="4551045" y="203258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202782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4855845" y="195162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9" name="BPS Value 1"/>
          <p:cNvSpPr txBox="1"/>
          <p:nvPr/>
        </p:nvSpPr>
        <p:spPr>
          <a:xfrm>
            <a:off x="6305550" y="201353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551045" y="386614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386138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4855845" y="378518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3" name="BPS Value 2"/>
          <p:cNvSpPr txBox="1"/>
          <p:nvPr/>
        </p:nvSpPr>
        <p:spPr>
          <a:xfrm>
            <a:off x="6305550" y="384709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Rounded Rectangle 23"/>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6" name="Rectangle 25"/>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8" name="Rounded Rectangle 27"/>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(PATIENT TREATMENT COURSES)</a:t>
            </a:r>
          </a:p>
          <a:p>
            <a:pPr algn="ctr">
              <a:lnSpc>
                <a:spcPct val="95000"/>
              </a:lnSpc>
            </a:pPr>
            <a:r>
              <a:rPr sz="2000" b="1">
                <a:solidFill>
                  <a:srgbClr val="0E72AE"/>
                </a:solidFill>
                <a:latin typeface="Calibri"/>
              </a:rPr>
              <a:t> </a:t>
            </a:r>
          </a:p>
        </p:txBody>
      </p:sp>
      <p:sp>
        <p:nvSpPr>
          <p:cNvPr id="29" name="Rounded Rectangle 28"/>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(PATIENT TREATMENT COURSES)</a:t>
            </a:r>
          </a:p>
          <a:p>
            <a:pPr algn="ctr">
              <a:lnSpc>
                <a:spcPct val="95000"/>
              </a:lnSpc>
            </a:pPr>
            <a:r>
              <a:rPr sz="2000" b="1">
                <a:solidFill>
                  <a:srgbClr val="0E72AE"/>
                </a:solidFill>
                <a:latin typeface="Calibri"/>
              </a:rPr>
              <a:t> </a:t>
            </a:r>
          </a:p>
        </p:txBody>
      </p:sp>
      <p:sp>
        <p:nvSpPr>
          <p:cNvPr id="30" name="Rounded Rectangle 29"/>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368867" y="3171825"/>
            <a:ext cx="275034" cy="400050"/>
          </a:xfrm>
          <a:prstGeom prst="rect">
            <a:avLst/>
          </a:prstGeom>
        </p:spPr>
      </p:pic>
      <p:pic>
        <p:nvPicPr>
          <p:cNvPr id="33" name="Picture 32" descr="lock.png"/>
          <p:cNvPicPr>
            <a:picLocks noChangeAspect="1"/>
          </p:cNvPicPr>
          <p:nvPr/>
        </p:nvPicPr>
        <p:blipFill>
          <a:blip r:embed="rId5"/>
          <a:stretch>
            <a:fillRect/>
          </a:stretch>
        </p:blipFill>
        <p:spPr>
          <a:xfrm>
            <a:off x="2009775" y="6070282"/>
            <a:ext cx="209550" cy="304800"/>
          </a:xfrm>
          <a:prstGeom prst="rect">
            <a:avLst/>
          </a:prstGeom>
        </p:spPr>
      </p:pic>
      <p:pic>
        <p:nvPicPr>
          <p:cNvPr id="34" name="Picture 33" descr="lock.png"/>
          <p:cNvPicPr>
            <a:picLocks noChangeAspect="1"/>
          </p:cNvPicPr>
          <p:nvPr/>
        </p:nvPicPr>
        <p:blipFill>
          <a:blip r:embed="rId5"/>
          <a:stretch>
            <a:fillRect/>
          </a:stretch>
        </p:blipFill>
        <p:spPr>
          <a:xfrm>
            <a:off x="6043612" y="6070282"/>
            <a:ext cx="209550" cy="304800"/>
          </a:xfrm>
          <a:prstGeom prst="rect">
            <a:avLst/>
          </a:prstGeom>
        </p:spPr>
      </p:pic>
      <p:pic>
        <p:nvPicPr>
          <p:cNvPr id="35" name="Picture 34" descr="lock.png"/>
          <p:cNvPicPr>
            <a:picLocks noChangeAspect="1"/>
          </p:cNvPicPr>
          <p:nvPr/>
        </p:nvPicPr>
        <p:blipFill>
          <a:blip r:embed="rId5"/>
          <a:stretch>
            <a:fillRect/>
          </a:stretch>
        </p:blipFill>
        <p:spPr>
          <a:xfrm>
            <a:off x="10015537" y="6070282"/>
            <a:ext cx="209550" cy="304800"/>
          </a:xfrm>
          <a:prstGeom prst="rect">
            <a:avLst/>
          </a:prstGeom>
        </p:spPr>
      </p:pic>
      <p:sp>
        <p:nvSpPr>
          <p:cNvPr id="36" name="TextBox 35"/>
          <p:cNvSpPr txBox="1"/>
          <p:nvPr/>
        </p:nvSpPr>
        <p:spPr>
          <a:xfrm>
            <a:off x="7239000" y="1400175"/>
            <a:ext cx="3823865" cy="194310"/>
          </a:xfrm>
          <a:prstGeom prst="rect">
            <a:avLst/>
          </a:prstGeom>
          <a:noFill/>
        </p:spPr>
        <p:txBody>
          <a:bodyPr wrap="none" lIns="0" rIns="0" tIns="0" bIns="0">
            <a:spAutoFit/>
          </a:bodyPr>
          <a:lstStyle/>
          <a:p>
            <a:r>
              <a:rPr sz="1150" b="0">
                <a:solidFill>
                  <a:srgbClr val="2E2E2E"/>
                </a:solidFill>
                <a:latin typeface="Calibri"/>
              </a:rPr>
              <a:t>The U.S. allergy immunotherapy market is projected to register</a:t>
            </a:r>
          </a:p>
        </p:txBody>
      </p:sp>
      <p:pic>
        <p:nvPicPr>
          <p:cNvPr id="37" name="Picture 36" descr="lock.png"/>
          <p:cNvPicPr>
            <a:picLocks noChangeAspect="1"/>
          </p:cNvPicPr>
          <p:nvPr/>
        </p:nvPicPr>
        <p:blipFill>
          <a:blip r:embed="rId5"/>
          <a:stretch>
            <a:fillRect/>
          </a:stretch>
        </p:blipFill>
        <p:spPr>
          <a:xfrm>
            <a:off x="11012019" y="1389951"/>
            <a:ext cx="134549" cy="195707"/>
          </a:xfrm>
          <a:prstGeom prst="rect">
            <a:avLst/>
          </a:prstGeom>
        </p:spPr>
      </p:pic>
      <p:sp>
        <p:nvSpPr>
          <p:cNvPr id="38" name="TextBox 37"/>
          <p:cNvSpPr txBox="1"/>
          <p:nvPr/>
        </p:nvSpPr>
        <p:spPr>
          <a:xfrm>
            <a:off x="11187129"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39" name="TextBox 38"/>
          <p:cNvSpPr txBox="1"/>
          <p:nvPr/>
        </p:nvSpPr>
        <p:spPr>
          <a:xfrm>
            <a:off x="7239000" y="1575435"/>
            <a:ext cx="4391521" cy="194310"/>
          </a:xfrm>
          <a:prstGeom prst="rect">
            <a:avLst/>
          </a:prstGeom>
          <a:noFill/>
        </p:spPr>
        <p:txBody>
          <a:bodyPr wrap="none" lIns="0" rIns="0" tIns="0" bIns="0">
            <a:spAutoFit/>
          </a:bodyPr>
          <a:lstStyle/>
          <a:p>
            <a:r>
              <a:rPr sz="1150" b="0">
                <a:solidFill>
                  <a:srgbClr val="2E2E2E"/>
                </a:solidFill>
                <a:latin typeface="Calibri"/>
              </a:rPr>
              <a:t>volume than Canada in 2036. Among allergy immunotherapy by country,</a:t>
            </a:r>
          </a:p>
        </p:txBody>
      </p:sp>
      <p:sp>
        <p:nvSpPr>
          <p:cNvPr id="40" name="TextBox 39"/>
          <p:cNvSpPr txBox="1"/>
          <p:nvPr/>
        </p:nvSpPr>
        <p:spPr>
          <a:xfrm>
            <a:off x="7239000" y="1750695"/>
            <a:ext cx="3083899" cy="194310"/>
          </a:xfrm>
          <a:prstGeom prst="rect">
            <a:avLst/>
          </a:prstGeom>
          <a:noFill/>
        </p:spPr>
        <p:txBody>
          <a:bodyPr wrap="none" lIns="0" rIns="0" tIns="0" bIns="0">
            <a:spAutoFit/>
          </a:bodyPr>
          <a:lstStyle/>
          <a:p>
            <a:r>
              <a:rPr sz="1150" b="0">
                <a:solidFill>
                  <a:srgbClr val="2E2E2E"/>
                </a:solidFill>
                <a:latin typeface="Calibri"/>
              </a:rPr>
              <a:t>Canada is expected to witness the highest CAGR of</a:t>
            </a:r>
          </a:p>
        </p:txBody>
      </p:sp>
      <p:pic>
        <p:nvPicPr>
          <p:cNvPr id="41" name="Picture 40" descr="lock.png"/>
          <p:cNvPicPr>
            <a:picLocks noChangeAspect="1"/>
          </p:cNvPicPr>
          <p:nvPr/>
        </p:nvPicPr>
        <p:blipFill>
          <a:blip r:embed="rId5"/>
          <a:stretch>
            <a:fillRect/>
          </a:stretch>
        </p:blipFill>
        <p:spPr>
          <a:xfrm>
            <a:off x="10272053" y="1740471"/>
            <a:ext cx="134549" cy="195707"/>
          </a:xfrm>
          <a:prstGeom prst="rect">
            <a:avLst/>
          </a:prstGeom>
        </p:spPr>
      </p:pic>
      <p:sp>
        <p:nvSpPr>
          <p:cNvPr id="42" name="TextBox 41"/>
          <p:cNvSpPr txBox="1"/>
          <p:nvPr/>
        </p:nvSpPr>
        <p:spPr>
          <a:xfrm>
            <a:off x="10447162" y="175069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3" name="TextBox 42"/>
          <p:cNvSpPr txBox="1"/>
          <p:nvPr/>
        </p:nvSpPr>
        <p:spPr>
          <a:xfrm>
            <a:off x="7239000" y="1925955"/>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44" name="TextBox 43"/>
          <p:cNvSpPr txBox="1"/>
          <p:nvPr/>
        </p:nvSpPr>
        <p:spPr>
          <a:xfrm>
            <a:off x="7239000" y="2153793"/>
            <a:ext cx="4231493"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a:t>
            </a:r>
          </a:p>
        </p:txBody>
      </p:sp>
      <p:sp>
        <p:nvSpPr>
          <p:cNvPr id="45" name="TextBox 44"/>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6" name="Picture 45" descr="lock.png"/>
          <p:cNvPicPr>
            <a:picLocks noChangeAspect="1"/>
          </p:cNvPicPr>
          <p:nvPr/>
        </p:nvPicPr>
        <p:blipFill>
          <a:blip r:embed="rId5"/>
          <a:stretch>
            <a:fillRect/>
          </a:stretch>
        </p:blipFill>
        <p:spPr>
          <a:xfrm>
            <a:off x="8106708" y="2318829"/>
            <a:ext cx="134549" cy="195707"/>
          </a:xfrm>
          <a:prstGeom prst="rect">
            <a:avLst/>
          </a:prstGeom>
        </p:spPr>
      </p:pic>
      <p:sp>
        <p:nvSpPr>
          <p:cNvPr id="47" name="TextBox 46"/>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8" name="Picture 47" descr="lock.png"/>
          <p:cNvPicPr>
            <a:picLocks noChangeAspect="1"/>
          </p:cNvPicPr>
          <p:nvPr/>
        </p:nvPicPr>
        <p:blipFill>
          <a:blip r:embed="rId5"/>
          <a:stretch>
            <a:fillRect/>
          </a:stretch>
        </p:blipFill>
        <p:spPr>
          <a:xfrm>
            <a:off x="9676961" y="2318829"/>
            <a:ext cx="134549" cy="195707"/>
          </a:xfrm>
          <a:prstGeom prst="rect">
            <a:avLst/>
          </a:prstGeom>
        </p:spPr>
      </p:pic>
      <p:sp>
        <p:nvSpPr>
          <p:cNvPr id="49" name="TextBox 48"/>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0" name="lockshield_13"/>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Allergy Immunotherapy Market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3" name="Chart 12"/>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4" name="TextBox 13"/>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5" name="FMI Lock Anchor"/>
          <p:cNvSpPr txBox="1"/>
          <p:nvPr/>
        </p:nvSpPr>
        <p:spPr>
          <a:xfrm>
            <a:off x="2489835" y="3352800"/>
            <a:ext cx="38100" cy="38100"/>
          </a:xfrm>
          <a:prstGeom prst="rect">
            <a:avLst/>
          </a:prstGeom>
          <a:noFill/>
        </p:spPr>
        <p:txBody>
          <a:bodyPr wrap="none">
            <a:spAutoFit/>
          </a:bodyPr>
          <a:lstStyle/>
          <a:p/>
        </p:txBody>
      </p:sp>
      <p:sp>
        <p:nvSpPr>
          <p:cNvPr id="16" name="FMI Legend Chip"/>
          <p:cNvSpPr/>
          <p:nvPr/>
        </p:nvSpPr>
        <p:spPr>
          <a:xfrm>
            <a:off x="4551045" y="205936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205460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4855845" y="197840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9" name="BPS Value 1"/>
          <p:cNvSpPr txBox="1"/>
          <p:nvPr/>
        </p:nvSpPr>
        <p:spPr>
          <a:xfrm>
            <a:off x="6305550" y="204031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551045" y="389292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388816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4855845" y="381196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3" name="BPS Value 2"/>
          <p:cNvSpPr txBox="1"/>
          <p:nvPr/>
        </p:nvSpPr>
        <p:spPr>
          <a:xfrm>
            <a:off x="6305550" y="387387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Rounded Rectangle 23"/>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6" name="Rectangle 25"/>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8" name="Rounded Rectangle 27"/>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t>
            </a:r>
          </a:p>
        </p:txBody>
      </p:sp>
      <p:sp>
        <p:nvSpPr>
          <p:cNvPr id="29" name="Rounded Rectangle 28"/>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t>
            </a:r>
          </a:p>
        </p:txBody>
      </p:sp>
      <p:sp>
        <p:nvSpPr>
          <p:cNvPr id="30" name="Rounded Rectangle 29"/>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368867" y="3171825"/>
            <a:ext cx="275034" cy="400050"/>
          </a:xfrm>
          <a:prstGeom prst="rect">
            <a:avLst/>
          </a:prstGeom>
        </p:spPr>
      </p:pic>
      <p:pic>
        <p:nvPicPr>
          <p:cNvPr id="33" name="Picture 32" descr="lock.png"/>
          <p:cNvPicPr>
            <a:picLocks noChangeAspect="1"/>
          </p:cNvPicPr>
          <p:nvPr/>
        </p:nvPicPr>
        <p:blipFill>
          <a:blip r:embed="rId5"/>
          <a:stretch>
            <a:fillRect/>
          </a:stretch>
        </p:blipFill>
        <p:spPr>
          <a:xfrm>
            <a:off x="2009775" y="6070282"/>
            <a:ext cx="209550" cy="304800"/>
          </a:xfrm>
          <a:prstGeom prst="rect">
            <a:avLst/>
          </a:prstGeom>
        </p:spPr>
      </p:pic>
      <p:pic>
        <p:nvPicPr>
          <p:cNvPr id="34" name="Picture 33" descr="lock.png"/>
          <p:cNvPicPr>
            <a:picLocks noChangeAspect="1"/>
          </p:cNvPicPr>
          <p:nvPr/>
        </p:nvPicPr>
        <p:blipFill>
          <a:blip r:embed="rId5"/>
          <a:stretch>
            <a:fillRect/>
          </a:stretch>
        </p:blipFill>
        <p:spPr>
          <a:xfrm>
            <a:off x="6043612" y="6070282"/>
            <a:ext cx="209550" cy="304800"/>
          </a:xfrm>
          <a:prstGeom prst="rect">
            <a:avLst/>
          </a:prstGeom>
        </p:spPr>
      </p:pic>
      <p:pic>
        <p:nvPicPr>
          <p:cNvPr id="35" name="Picture 34" descr="lock.png"/>
          <p:cNvPicPr>
            <a:picLocks noChangeAspect="1"/>
          </p:cNvPicPr>
          <p:nvPr/>
        </p:nvPicPr>
        <p:blipFill>
          <a:blip r:embed="rId5"/>
          <a:stretch>
            <a:fillRect/>
          </a:stretch>
        </p:blipFill>
        <p:spPr>
          <a:xfrm>
            <a:off x="10015537" y="6070282"/>
            <a:ext cx="209550" cy="304800"/>
          </a:xfrm>
          <a:prstGeom prst="rect">
            <a:avLst/>
          </a:prstGeom>
        </p:spPr>
      </p:pic>
      <p:sp>
        <p:nvSpPr>
          <p:cNvPr id="36" name="TextBox 35"/>
          <p:cNvSpPr txBox="1"/>
          <p:nvPr/>
        </p:nvSpPr>
        <p:spPr>
          <a:xfrm>
            <a:off x="7239000" y="1400175"/>
            <a:ext cx="3823865" cy="194310"/>
          </a:xfrm>
          <a:prstGeom prst="rect">
            <a:avLst/>
          </a:prstGeom>
          <a:noFill/>
        </p:spPr>
        <p:txBody>
          <a:bodyPr wrap="none" lIns="0" rIns="0" tIns="0" bIns="0">
            <a:spAutoFit/>
          </a:bodyPr>
          <a:lstStyle/>
          <a:p>
            <a:r>
              <a:rPr sz="1150" b="0">
                <a:solidFill>
                  <a:srgbClr val="2E2E2E"/>
                </a:solidFill>
                <a:latin typeface="Calibri"/>
              </a:rPr>
              <a:t>The U.S. allergy immunotherapy market is projected to register</a:t>
            </a:r>
          </a:p>
        </p:txBody>
      </p:sp>
      <p:pic>
        <p:nvPicPr>
          <p:cNvPr id="37" name="Picture 36" descr="lock.png"/>
          <p:cNvPicPr>
            <a:picLocks noChangeAspect="1"/>
          </p:cNvPicPr>
          <p:nvPr/>
        </p:nvPicPr>
        <p:blipFill>
          <a:blip r:embed="rId5"/>
          <a:stretch>
            <a:fillRect/>
          </a:stretch>
        </p:blipFill>
        <p:spPr>
          <a:xfrm>
            <a:off x="11012019" y="1389951"/>
            <a:ext cx="134549" cy="195707"/>
          </a:xfrm>
          <a:prstGeom prst="rect">
            <a:avLst/>
          </a:prstGeom>
        </p:spPr>
      </p:pic>
      <p:sp>
        <p:nvSpPr>
          <p:cNvPr id="38" name="TextBox 37"/>
          <p:cNvSpPr txBox="1"/>
          <p:nvPr/>
        </p:nvSpPr>
        <p:spPr>
          <a:xfrm>
            <a:off x="11187129"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39" name="TextBox 38"/>
          <p:cNvSpPr txBox="1"/>
          <p:nvPr/>
        </p:nvSpPr>
        <p:spPr>
          <a:xfrm>
            <a:off x="7239000" y="1575435"/>
            <a:ext cx="4267720" cy="194310"/>
          </a:xfrm>
          <a:prstGeom prst="rect">
            <a:avLst/>
          </a:prstGeom>
          <a:noFill/>
        </p:spPr>
        <p:txBody>
          <a:bodyPr wrap="none" lIns="0" rIns="0" tIns="0" bIns="0">
            <a:spAutoFit/>
          </a:bodyPr>
          <a:lstStyle/>
          <a:p>
            <a:r>
              <a:rPr sz="1150" b="0">
                <a:solidFill>
                  <a:srgbClr val="2E2E2E"/>
                </a:solidFill>
                <a:latin typeface="Calibri"/>
              </a:rPr>
              <a:t>value than Canada in 2036. Among allergy immunotherapy by country,</a:t>
            </a:r>
          </a:p>
        </p:txBody>
      </p:sp>
      <p:sp>
        <p:nvSpPr>
          <p:cNvPr id="40" name="TextBox 39"/>
          <p:cNvSpPr txBox="1"/>
          <p:nvPr/>
        </p:nvSpPr>
        <p:spPr>
          <a:xfrm>
            <a:off x="7239000" y="1750695"/>
            <a:ext cx="3083899" cy="194310"/>
          </a:xfrm>
          <a:prstGeom prst="rect">
            <a:avLst/>
          </a:prstGeom>
          <a:noFill/>
        </p:spPr>
        <p:txBody>
          <a:bodyPr wrap="none" lIns="0" rIns="0" tIns="0" bIns="0">
            <a:spAutoFit/>
          </a:bodyPr>
          <a:lstStyle/>
          <a:p>
            <a:r>
              <a:rPr sz="1150" b="0">
                <a:solidFill>
                  <a:srgbClr val="2E2E2E"/>
                </a:solidFill>
                <a:latin typeface="Calibri"/>
              </a:rPr>
              <a:t>Canada is expected to witness the highest CAGR of</a:t>
            </a:r>
          </a:p>
        </p:txBody>
      </p:sp>
      <p:pic>
        <p:nvPicPr>
          <p:cNvPr id="41" name="Picture 40" descr="lock.png"/>
          <p:cNvPicPr>
            <a:picLocks noChangeAspect="1"/>
          </p:cNvPicPr>
          <p:nvPr/>
        </p:nvPicPr>
        <p:blipFill>
          <a:blip r:embed="rId5"/>
          <a:stretch>
            <a:fillRect/>
          </a:stretch>
        </p:blipFill>
        <p:spPr>
          <a:xfrm>
            <a:off x="10272053" y="1740471"/>
            <a:ext cx="134549" cy="195707"/>
          </a:xfrm>
          <a:prstGeom prst="rect">
            <a:avLst/>
          </a:prstGeom>
        </p:spPr>
      </p:pic>
      <p:sp>
        <p:nvSpPr>
          <p:cNvPr id="42" name="TextBox 41"/>
          <p:cNvSpPr txBox="1"/>
          <p:nvPr/>
        </p:nvSpPr>
        <p:spPr>
          <a:xfrm>
            <a:off x="10447162" y="175069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3" name="TextBox 42"/>
          <p:cNvSpPr txBox="1"/>
          <p:nvPr/>
        </p:nvSpPr>
        <p:spPr>
          <a:xfrm>
            <a:off x="7239000" y="1925955"/>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44" name="TextBox 43"/>
          <p:cNvSpPr txBox="1"/>
          <p:nvPr/>
        </p:nvSpPr>
        <p:spPr>
          <a:xfrm>
            <a:off x="7239000" y="2153793"/>
            <a:ext cx="4603179"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a:t>
            </a:r>
          </a:p>
        </p:txBody>
      </p:sp>
      <p:sp>
        <p:nvSpPr>
          <p:cNvPr id="45" name="TextBox 44"/>
          <p:cNvSpPr txBox="1"/>
          <p:nvPr/>
        </p:nvSpPr>
        <p:spPr>
          <a:xfrm>
            <a:off x="7239000" y="232905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6" name="Picture 45" descr="lock.png"/>
          <p:cNvPicPr>
            <a:picLocks noChangeAspect="1"/>
          </p:cNvPicPr>
          <p:nvPr/>
        </p:nvPicPr>
        <p:blipFill>
          <a:blip r:embed="rId5"/>
          <a:stretch>
            <a:fillRect/>
          </a:stretch>
        </p:blipFill>
        <p:spPr>
          <a:xfrm>
            <a:off x="7611222" y="2318829"/>
            <a:ext cx="134549" cy="195707"/>
          </a:xfrm>
          <a:prstGeom prst="rect">
            <a:avLst/>
          </a:prstGeom>
        </p:spPr>
      </p:pic>
      <p:sp>
        <p:nvSpPr>
          <p:cNvPr id="47" name="TextBox 46"/>
          <p:cNvSpPr txBox="1"/>
          <p:nvPr/>
        </p:nvSpPr>
        <p:spPr>
          <a:xfrm>
            <a:off x="7786331"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8" name="Picture 47" descr="lock.png"/>
          <p:cNvPicPr>
            <a:picLocks noChangeAspect="1"/>
          </p:cNvPicPr>
          <p:nvPr/>
        </p:nvPicPr>
        <p:blipFill>
          <a:blip r:embed="rId5"/>
          <a:stretch>
            <a:fillRect/>
          </a:stretch>
        </p:blipFill>
        <p:spPr>
          <a:xfrm>
            <a:off x="9181475" y="2318829"/>
            <a:ext cx="134549" cy="195707"/>
          </a:xfrm>
          <a:prstGeom prst="rect">
            <a:avLst/>
          </a:prstGeom>
        </p:spPr>
      </p:pic>
      <p:sp>
        <p:nvSpPr>
          <p:cNvPr id="49" name="TextBox 48"/>
          <p:cNvSpPr txBox="1"/>
          <p:nvPr/>
        </p:nvSpPr>
        <p:spPr>
          <a:xfrm>
            <a:off x="9356584"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0" name="lockshield_13"/>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Allergy Immunotherapy Market Share Analysis, By Country Volume (Patient Treatment Courses)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(Patient Treatment Courses)</a:t>
            </a:r>
          </a:p>
        </p:txBody>
      </p:sp>
      <p:graphicFrame>
        <p:nvGraphicFramePr>
          <p:cNvPr id="13" name="Table 12"/>
          <p:cNvGraphicFramePr>
            <a:graphicFrameLocks noGrp="1"/>
          </p:cNvGraphicFramePr>
          <p:nvPr/>
        </p:nvGraphicFramePr>
        <p:xfrm>
          <a:off x="152400" y="1238250"/>
          <a:ext cx="11887205" cy="990600"/>
        </p:xfrm>
        <a:graphic>
          <a:graphicData uri="http://schemas.openxmlformats.org/drawingml/2006/table">
            <a:tbl>
              <a:tblPr>
                <a:tableStyleId>{5C22544A-7EE6-4342-B048-85BDC9FD1C3A}</a:tableStyleId>
              </a:tblPr>
              <a:tblGrid>
                <a:gridCol w="663023"/>
                <a:gridCol w="660246"/>
                <a:gridCol w="660246"/>
                <a:gridCol w="660246"/>
                <a:gridCol w="660246"/>
                <a:gridCol w="660246"/>
                <a:gridCol w="660246"/>
                <a:gridCol w="660246"/>
                <a:gridCol w="660246"/>
                <a:gridCol w="660246"/>
                <a:gridCol w="660246"/>
                <a:gridCol w="660246"/>
                <a:gridCol w="660246"/>
                <a:gridCol w="660246"/>
                <a:gridCol w="660246"/>
                <a:gridCol w="660246"/>
                <a:gridCol w="660246"/>
                <a:gridCol w="660246"/>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Share Read-out, By Country</a:t>
            </a:r>
          </a:p>
        </p:txBody>
      </p:sp>
      <p:sp>
        <p:nvSpPr>
          <p:cNvPr id="17" name="Rectangle 16"/>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240824" y="1589913"/>
            <a:ext cx="366712" cy="533400"/>
          </a:xfrm>
          <a:prstGeom prst="rect">
            <a:avLst/>
          </a:prstGeom>
        </p:spPr>
      </p:pic>
      <p:sp>
        <p:nvSpPr>
          <p:cNvPr id="21" name="TextBox 20"/>
          <p:cNvSpPr txBox="1"/>
          <p:nvPr/>
        </p:nvSpPr>
        <p:spPr>
          <a:xfrm>
            <a:off x="276225" y="2990850"/>
            <a:ext cx="3823865" cy="194310"/>
          </a:xfrm>
          <a:prstGeom prst="rect">
            <a:avLst/>
          </a:prstGeom>
          <a:noFill/>
        </p:spPr>
        <p:txBody>
          <a:bodyPr wrap="none" lIns="0" rIns="0" tIns="0" bIns="0">
            <a:spAutoFit/>
          </a:bodyPr>
          <a:lstStyle/>
          <a:p>
            <a:r>
              <a:rPr sz="1150" b="0">
                <a:solidFill>
                  <a:srgbClr val="2E2E2E"/>
                </a:solidFill>
                <a:latin typeface="Calibri"/>
              </a:rPr>
              <a:t>The U.S. allergy immunotherapy market is projected to register</a:t>
            </a:r>
          </a:p>
        </p:txBody>
      </p:sp>
      <p:pic>
        <p:nvPicPr>
          <p:cNvPr id="22" name="Picture 21" descr="lock.png"/>
          <p:cNvPicPr>
            <a:picLocks noChangeAspect="1"/>
          </p:cNvPicPr>
          <p:nvPr/>
        </p:nvPicPr>
        <p:blipFill>
          <a:blip r:embed="rId4"/>
          <a:stretch>
            <a:fillRect/>
          </a:stretch>
        </p:blipFill>
        <p:spPr>
          <a:xfrm>
            <a:off x="4049244" y="2980626"/>
            <a:ext cx="134549" cy="195707"/>
          </a:xfrm>
          <a:prstGeom prst="rect">
            <a:avLst/>
          </a:prstGeom>
        </p:spPr>
      </p:pic>
      <p:sp>
        <p:nvSpPr>
          <p:cNvPr id="23" name="TextBox 22"/>
          <p:cNvSpPr txBox="1"/>
          <p:nvPr/>
        </p:nvSpPr>
        <p:spPr>
          <a:xfrm>
            <a:off x="4224354" y="2990850"/>
            <a:ext cx="7432612" cy="194310"/>
          </a:xfrm>
          <a:prstGeom prst="rect">
            <a:avLst/>
          </a:prstGeom>
          <a:noFill/>
        </p:spPr>
        <p:txBody>
          <a:bodyPr wrap="none" lIns="0" rIns="0" tIns="0" bIns="0">
            <a:spAutoFit/>
          </a:bodyPr>
          <a:lstStyle/>
          <a:p>
            <a:r>
              <a:rPr sz="1150" b="0">
                <a:solidFill>
                  <a:srgbClr val="2E2E2E"/>
                </a:solidFill>
                <a:latin typeface="Calibri"/>
              </a:rPr>
              <a:t>X higher volume than Canada in 2036. Among allergy immunotherapy by country, Canada is expected to witness the highest</a:t>
            </a:r>
          </a:p>
        </p:txBody>
      </p:sp>
      <p:sp>
        <p:nvSpPr>
          <p:cNvPr id="24" name="TextBox 23"/>
          <p:cNvSpPr txBox="1"/>
          <p:nvPr/>
        </p:nvSpPr>
        <p:spPr>
          <a:xfrm>
            <a:off x="276225" y="316611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25" name="Picture 24" descr="lock.png"/>
          <p:cNvPicPr>
            <a:picLocks noChangeAspect="1"/>
          </p:cNvPicPr>
          <p:nvPr/>
        </p:nvPicPr>
        <p:blipFill>
          <a:blip r:embed="rId4"/>
          <a:stretch>
            <a:fillRect/>
          </a:stretch>
        </p:blipFill>
        <p:spPr>
          <a:xfrm>
            <a:off x="789915" y="3155886"/>
            <a:ext cx="134549" cy="195707"/>
          </a:xfrm>
          <a:prstGeom prst="rect">
            <a:avLst/>
          </a:prstGeom>
        </p:spPr>
      </p:pic>
      <p:sp>
        <p:nvSpPr>
          <p:cNvPr id="26" name="TextBox 25"/>
          <p:cNvSpPr txBox="1"/>
          <p:nvPr/>
        </p:nvSpPr>
        <p:spPr>
          <a:xfrm>
            <a:off x="965025"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3393947"/>
            <a:ext cx="5106937"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 market, losing</a:t>
            </a:r>
          </a:p>
        </p:txBody>
      </p:sp>
      <p:pic>
        <p:nvPicPr>
          <p:cNvPr id="28" name="Picture 27" descr="lock.png"/>
          <p:cNvPicPr>
            <a:picLocks noChangeAspect="1"/>
          </p:cNvPicPr>
          <p:nvPr/>
        </p:nvPicPr>
        <p:blipFill>
          <a:blip r:embed="rId4"/>
          <a:stretch>
            <a:fillRect/>
          </a:stretch>
        </p:blipFill>
        <p:spPr>
          <a:xfrm>
            <a:off x="5332316" y="3383724"/>
            <a:ext cx="134549" cy="195707"/>
          </a:xfrm>
          <a:prstGeom prst="rect">
            <a:avLst/>
          </a:prstGeom>
        </p:spPr>
      </p:pic>
      <p:sp>
        <p:nvSpPr>
          <p:cNvPr id="29" name="TextBox 28"/>
          <p:cNvSpPr txBox="1"/>
          <p:nvPr/>
        </p:nvSpPr>
        <p:spPr>
          <a:xfrm>
            <a:off x="550742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6902569" y="3383724"/>
            <a:ext cx="134549" cy="195707"/>
          </a:xfrm>
          <a:prstGeom prst="rect">
            <a:avLst/>
          </a:prstGeom>
        </p:spPr>
      </p:pic>
      <p:sp>
        <p:nvSpPr>
          <p:cNvPr id="31" name="TextBox 30"/>
          <p:cNvSpPr txBox="1"/>
          <p:nvPr/>
        </p:nvSpPr>
        <p:spPr>
          <a:xfrm>
            <a:off x="70776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Allergy Immunotherapy Market Share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(US$ Mn)</a:t>
            </a:r>
          </a:p>
        </p:txBody>
      </p:sp>
      <p:graphicFrame>
        <p:nvGraphicFramePr>
          <p:cNvPr id="13" name="Table 12"/>
          <p:cNvGraphicFramePr>
            <a:graphicFrameLocks noGrp="1"/>
          </p:cNvGraphicFramePr>
          <p:nvPr/>
        </p:nvGraphicFramePr>
        <p:xfrm>
          <a:off x="152400" y="1238250"/>
          <a:ext cx="11887200" cy="99060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Share Read-out, By Country</a:t>
            </a:r>
          </a:p>
        </p:txBody>
      </p:sp>
      <p:sp>
        <p:nvSpPr>
          <p:cNvPr id="17" name="Rectangle 16"/>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257436" y="1589913"/>
            <a:ext cx="366712" cy="533400"/>
          </a:xfrm>
          <a:prstGeom prst="rect">
            <a:avLst/>
          </a:prstGeom>
        </p:spPr>
      </p:pic>
      <p:sp>
        <p:nvSpPr>
          <p:cNvPr id="21" name="TextBox 20"/>
          <p:cNvSpPr txBox="1"/>
          <p:nvPr/>
        </p:nvSpPr>
        <p:spPr>
          <a:xfrm>
            <a:off x="276225" y="2990850"/>
            <a:ext cx="3823865" cy="194310"/>
          </a:xfrm>
          <a:prstGeom prst="rect">
            <a:avLst/>
          </a:prstGeom>
          <a:noFill/>
        </p:spPr>
        <p:txBody>
          <a:bodyPr wrap="none" lIns="0" rIns="0" tIns="0" bIns="0">
            <a:spAutoFit/>
          </a:bodyPr>
          <a:lstStyle/>
          <a:p>
            <a:r>
              <a:rPr sz="1150" b="0">
                <a:solidFill>
                  <a:srgbClr val="2E2E2E"/>
                </a:solidFill>
                <a:latin typeface="Calibri"/>
              </a:rPr>
              <a:t>The U.S. allergy immunotherapy market is projected to register</a:t>
            </a:r>
          </a:p>
        </p:txBody>
      </p:sp>
      <p:pic>
        <p:nvPicPr>
          <p:cNvPr id="22" name="Picture 21" descr="lock.png"/>
          <p:cNvPicPr>
            <a:picLocks noChangeAspect="1"/>
          </p:cNvPicPr>
          <p:nvPr/>
        </p:nvPicPr>
        <p:blipFill>
          <a:blip r:embed="rId4"/>
          <a:stretch>
            <a:fillRect/>
          </a:stretch>
        </p:blipFill>
        <p:spPr>
          <a:xfrm>
            <a:off x="4049244" y="2980626"/>
            <a:ext cx="134549" cy="195707"/>
          </a:xfrm>
          <a:prstGeom prst="rect">
            <a:avLst/>
          </a:prstGeom>
        </p:spPr>
      </p:pic>
      <p:sp>
        <p:nvSpPr>
          <p:cNvPr id="23" name="TextBox 22"/>
          <p:cNvSpPr txBox="1"/>
          <p:nvPr/>
        </p:nvSpPr>
        <p:spPr>
          <a:xfrm>
            <a:off x="4224354" y="2990850"/>
            <a:ext cx="7308812" cy="194310"/>
          </a:xfrm>
          <a:prstGeom prst="rect">
            <a:avLst/>
          </a:prstGeom>
          <a:noFill/>
        </p:spPr>
        <p:txBody>
          <a:bodyPr wrap="none" lIns="0" rIns="0" tIns="0" bIns="0">
            <a:spAutoFit/>
          </a:bodyPr>
          <a:lstStyle/>
          <a:p>
            <a:r>
              <a:rPr sz="1150" b="0">
                <a:solidFill>
                  <a:srgbClr val="2E2E2E"/>
                </a:solidFill>
                <a:latin typeface="Calibri"/>
              </a:rPr>
              <a:t>X higher value than Canada in 2036. Among allergy immunotherapy by country, Canada is expected to witness the highest</a:t>
            </a:r>
          </a:p>
        </p:txBody>
      </p:sp>
      <p:sp>
        <p:nvSpPr>
          <p:cNvPr id="24" name="TextBox 23"/>
          <p:cNvSpPr txBox="1"/>
          <p:nvPr/>
        </p:nvSpPr>
        <p:spPr>
          <a:xfrm>
            <a:off x="276225" y="316611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25" name="Picture 24" descr="lock.png"/>
          <p:cNvPicPr>
            <a:picLocks noChangeAspect="1"/>
          </p:cNvPicPr>
          <p:nvPr/>
        </p:nvPicPr>
        <p:blipFill>
          <a:blip r:embed="rId4"/>
          <a:stretch>
            <a:fillRect/>
          </a:stretch>
        </p:blipFill>
        <p:spPr>
          <a:xfrm>
            <a:off x="789915" y="3155886"/>
            <a:ext cx="134549" cy="195707"/>
          </a:xfrm>
          <a:prstGeom prst="rect">
            <a:avLst/>
          </a:prstGeom>
        </p:spPr>
      </p:pic>
      <p:sp>
        <p:nvSpPr>
          <p:cNvPr id="26" name="TextBox 25"/>
          <p:cNvSpPr txBox="1"/>
          <p:nvPr/>
        </p:nvSpPr>
        <p:spPr>
          <a:xfrm>
            <a:off x="965025"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3393947"/>
            <a:ext cx="4983137"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 losing</a:t>
            </a:r>
          </a:p>
        </p:txBody>
      </p:sp>
      <p:pic>
        <p:nvPicPr>
          <p:cNvPr id="28" name="Picture 27" descr="lock.png"/>
          <p:cNvPicPr>
            <a:picLocks noChangeAspect="1"/>
          </p:cNvPicPr>
          <p:nvPr/>
        </p:nvPicPr>
        <p:blipFill>
          <a:blip r:embed="rId4"/>
          <a:stretch>
            <a:fillRect/>
          </a:stretch>
        </p:blipFill>
        <p:spPr>
          <a:xfrm>
            <a:off x="5208516" y="3383724"/>
            <a:ext cx="134549" cy="195707"/>
          </a:xfrm>
          <a:prstGeom prst="rect">
            <a:avLst/>
          </a:prstGeom>
        </p:spPr>
      </p:pic>
      <p:sp>
        <p:nvSpPr>
          <p:cNvPr id="29" name="TextBox 28"/>
          <p:cNvSpPr txBox="1"/>
          <p:nvPr/>
        </p:nvSpPr>
        <p:spPr>
          <a:xfrm>
            <a:off x="5383625"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6778769" y="3383724"/>
            <a:ext cx="134549" cy="195707"/>
          </a:xfrm>
          <a:prstGeom prst="rect">
            <a:avLst/>
          </a:prstGeom>
        </p:spPr>
      </p:pic>
      <p:sp>
        <p:nvSpPr>
          <p:cNvPr id="31" name="TextBox 30"/>
          <p:cNvSpPr txBox="1"/>
          <p:nvPr/>
        </p:nvSpPr>
        <p:spPr>
          <a:xfrm>
            <a:off x="69538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Allergy Immunotherapy Market Trends, By Country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Country (Patient Treatment Courses)</a:t>
            </a:r>
          </a:p>
        </p:txBody>
      </p:sp>
      <p:graphicFrame>
        <p:nvGraphicFramePr>
          <p:cNvPr id="13" name="Chart 12"/>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Country (US$ Mn)</a:t>
            </a:r>
          </a:p>
        </p:txBody>
      </p:sp>
      <p:graphicFrame>
        <p:nvGraphicFramePr>
          <p:cNvPr id="16" name="Chart 15"/>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6058646" y="2026489"/>
            <a:ext cx="363375" cy="528545"/>
          </a:xfrm>
          <a:prstGeom prst="rect">
            <a:avLst/>
          </a:prstGeom>
        </p:spPr>
      </p:pic>
      <p:pic>
        <p:nvPicPr>
          <p:cNvPr id="19" name="Picture 18" descr="lock.png"/>
          <p:cNvPicPr>
            <a:picLocks noChangeAspect="1"/>
          </p:cNvPicPr>
          <p:nvPr/>
        </p:nvPicPr>
        <p:blipFill>
          <a:blip r:embed="rId6"/>
          <a:stretch>
            <a:fillRect/>
          </a:stretch>
        </p:blipFill>
        <p:spPr>
          <a:xfrm>
            <a:off x="6058646" y="4912564"/>
            <a:ext cx="363375" cy="528545"/>
          </a:xfrm>
          <a:prstGeom prst="rect">
            <a:avLst/>
          </a:prstGeom>
        </p:spPr>
      </p:pic>
      <p:sp>
        <p:nvSpPr>
          <p:cNvPr id="20" name="lockshield_13"/>
          <p:cNvSpPr/>
          <p:nvPr/>
        </p:nvSpPr>
        <p:spPr>
          <a:xfrm>
            <a:off x="238125" y="1266825"/>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ockshield_16"/>
          <p:cNvSpPr/>
          <p:nvPr/>
        </p:nvSpPr>
        <p:spPr>
          <a:xfrm>
            <a:off x="238125" y="4152900"/>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Allergy Immunotherapy Market Top 2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North America market in 2036, highlighting the leading countries within each region by value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by country  ·  2036 (US$ Mn)  ·  tile size = market value</a:t>
            </a:r>
          </a:p>
        </p:txBody>
      </p:sp>
      <p:sp>
        <p:nvSpPr>
          <p:cNvPr id="13" name="Rectangle 12"/>
          <p:cNvSpPr/>
          <p:nvPr/>
        </p:nvSpPr>
        <p:spPr>
          <a:xfrm>
            <a:off x="238125" y="1266825"/>
            <a:ext cx="7899389"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4" name="Rectangle 13"/>
          <p:cNvSpPr/>
          <p:nvPr/>
        </p:nvSpPr>
        <p:spPr>
          <a:xfrm>
            <a:off x="8137514" y="1266825"/>
            <a:ext cx="3816361" cy="5305425"/>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4130193" y="3919537"/>
            <a:ext cx="115252" cy="167639"/>
          </a:xfrm>
          <a:prstGeom prst="rect">
            <a:avLst/>
          </a:prstGeom>
        </p:spPr>
      </p:pic>
      <p:pic>
        <p:nvPicPr>
          <p:cNvPr id="17" name="Picture 16" descr="lock.png"/>
          <p:cNvPicPr>
            <a:picLocks noChangeAspect="1"/>
          </p:cNvPicPr>
          <p:nvPr/>
        </p:nvPicPr>
        <p:blipFill>
          <a:blip r:embed="rId4"/>
          <a:stretch>
            <a:fillRect/>
          </a:stretch>
        </p:blipFill>
        <p:spPr>
          <a:xfrm>
            <a:off x="9988068" y="3919537"/>
            <a:ext cx="115252" cy="167639"/>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50507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Segments</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Therapy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Allergen Class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Commercial Product Model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Allergen Preparation Technology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Allergen Composition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 Procurement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Therapy Format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Therapy Format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Therapy Format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Therapy Format,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Therapy Format segment categorizes the market by therapy format.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Sublingual Immunotherapy</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Subcutaneous Immunotherapy</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Oral Immunotherapy</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Therapy Format split shows how demand is distributed across therapy format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403_5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859_3_605E5C.png"/>
          <p:cNvPicPr>
            <a:picLocks noChangeAspect="1"/>
          </p:cNvPicPr>
          <p:nvPr/>
        </p:nvPicPr>
        <p:blipFill>
          <a:blip r:embed="rId5"/>
          <a:stretch>
            <a:fillRect/>
          </a:stretch>
        </p:blipFill>
        <p:spPr>
          <a:xfrm>
            <a:off x="2897811" y="2779432"/>
            <a:ext cx="1195728" cy="361950"/>
          </a:xfrm>
          <a:prstGeom prst="rect">
            <a:avLst/>
          </a:prstGeom>
        </p:spPr>
      </p:pic>
      <p:pic>
        <p:nvPicPr>
          <p:cNvPr id="59" name="Picture 58" descr="7_9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333_0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685_6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7_5__605E5C.png"/>
          <p:cNvPicPr>
            <a:picLocks noChangeAspect="1"/>
          </p:cNvPicPr>
          <p:nvPr/>
        </p:nvPicPr>
        <p:blipFill>
          <a:blip r:embed="rId9"/>
          <a:stretch>
            <a:fillRect/>
          </a:stretch>
        </p:blipFill>
        <p:spPr>
          <a:xfrm>
            <a:off x="6376307" y="3272281"/>
            <a:ext cx="982436" cy="361950"/>
          </a:xfrm>
          <a:prstGeom prst="rect">
            <a:avLst/>
          </a:prstGeom>
        </p:spPr>
      </p:pic>
      <p:pic>
        <p:nvPicPr>
          <p:cNvPr id="63" name="Picture 62" descr="64_6_605E5C.png"/>
          <p:cNvPicPr>
            <a:picLocks noChangeAspect="1"/>
          </p:cNvPicPr>
          <p:nvPr/>
        </p:nvPicPr>
        <p:blipFill>
          <a:blip r:embed="rId10"/>
          <a:stretch>
            <a:fillRect/>
          </a:stretch>
        </p:blipFill>
        <p:spPr>
          <a:xfrm>
            <a:off x="9748157" y="2286582"/>
            <a:ext cx="982436" cy="361950"/>
          </a:xfrm>
          <a:prstGeom prst="rect">
            <a:avLst/>
          </a:prstGeom>
        </p:spPr>
      </p:pic>
      <p:pic>
        <p:nvPicPr>
          <p:cNvPr id="64" name="Picture 63" descr="101_4_605E5C.png"/>
          <p:cNvPicPr>
            <a:picLocks noChangeAspect="1"/>
          </p:cNvPicPr>
          <p:nvPr/>
        </p:nvPicPr>
        <p:blipFill>
          <a:blip r:embed="rId11"/>
          <a:stretch>
            <a:fillRect/>
          </a:stretch>
        </p:blipFill>
        <p:spPr>
          <a:xfrm>
            <a:off x="9641511" y="2779432"/>
            <a:ext cx="1195728" cy="361950"/>
          </a:xfrm>
          <a:prstGeom prst="rect">
            <a:avLst/>
          </a:prstGeom>
        </p:spPr>
      </p:pic>
      <p:pic>
        <p:nvPicPr>
          <p:cNvPr id="65" name="Picture 64" descr="4_6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826281" cy="179984"/>
          </a:xfrm>
          <a:prstGeom prst="rect">
            <a:avLst/>
          </a:prstGeom>
          <a:noFill/>
        </p:spPr>
        <p:txBody>
          <a:bodyPr wrap="none" lIns="0" rIns="0" tIns="0" bIns="0">
            <a:spAutoFit/>
          </a:bodyPr>
          <a:lstStyle/>
          <a:p>
            <a:r>
              <a:rPr sz="1055" b="0">
                <a:solidFill>
                  <a:srgbClr val="2E2E2E"/>
                </a:solidFill>
                <a:latin typeface="Calibri"/>
              </a:rPr>
              <a:t>Among allergy immunotherapy by therapy format,</a:t>
            </a:r>
          </a:p>
        </p:txBody>
      </p:sp>
      <p:sp>
        <p:nvSpPr>
          <p:cNvPr id="70" name="TextBox 69"/>
          <p:cNvSpPr txBox="1"/>
          <p:nvPr/>
        </p:nvSpPr>
        <p:spPr>
          <a:xfrm>
            <a:off x="485775" y="4390371"/>
            <a:ext cx="2486810" cy="179984"/>
          </a:xfrm>
          <a:prstGeom prst="rect">
            <a:avLst/>
          </a:prstGeom>
          <a:noFill/>
        </p:spPr>
        <p:txBody>
          <a:bodyPr wrap="none" lIns="0" rIns="0" tIns="0" bIns="0">
            <a:spAutoFit/>
          </a:bodyPr>
          <a:lstStyle/>
          <a:p>
            <a:r>
              <a:rPr sz="1055" b="0">
                <a:solidFill>
                  <a:srgbClr val="2E2E2E"/>
                </a:solidFill>
                <a:latin typeface="Calibri"/>
              </a:rPr>
              <a:t>sublingual immunotherapy (SLIT) segment is</a:t>
            </a:r>
          </a:p>
        </p:txBody>
      </p:sp>
      <p:sp>
        <p:nvSpPr>
          <p:cNvPr id="71" name="TextBox 70"/>
          <p:cNvSpPr txBox="1"/>
          <p:nvPr/>
        </p:nvSpPr>
        <p:spPr>
          <a:xfrm>
            <a:off x="485775" y="4551305"/>
            <a:ext cx="2289031" cy="179984"/>
          </a:xfrm>
          <a:prstGeom prst="rect">
            <a:avLst/>
          </a:prstGeom>
          <a:noFill/>
        </p:spPr>
        <p:txBody>
          <a:bodyPr wrap="none" lIns="0" rIns="0" tIns="0" bIns="0">
            <a:spAutoFit/>
          </a:bodyPr>
          <a:lstStyle/>
          <a:p>
            <a:r>
              <a:rPr sz="1055" b="0">
                <a:solidFill>
                  <a:srgbClr val="2E2E2E"/>
                </a:solidFill>
                <a:latin typeface="Calibri"/>
              </a:rPr>
              <a:t>expected to witness the highest CAGR of</a:t>
            </a:r>
          </a:p>
        </p:txBody>
      </p:sp>
      <p:pic>
        <p:nvPicPr>
          <p:cNvPr id="72" name="Picture 71" descr="lock.png"/>
          <p:cNvPicPr>
            <a:picLocks noChangeAspect="1"/>
          </p:cNvPicPr>
          <p:nvPr/>
        </p:nvPicPr>
        <p:blipFill>
          <a:blip r:embed="rId13"/>
          <a:stretch>
            <a:fillRect/>
          </a:stretch>
        </p:blipFill>
        <p:spPr>
          <a:xfrm>
            <a:off x="2721888" y="4541917"/>
            <a:ext cx="123551" cy="179710"/>
          </a:xfrm>
          <a:prstGeom prst="rect">
            <a:avLst/>
          </a:prstGeom>
        </p:spPr>
      </p:pic>
      <p:sp>
        <p:nvSpPr>
          <p:cNvPr id="73" name="TextBox 72"/>
          <p:cNvSpPr txBox="1"/>
          <p:nvPr/>
        </p:nvSpPr>
        <p:spPr>
          <a:xfrm>
            <a:off x="2882684" y="4551305"/>
            <a:ext cx="321111" cy="179984"/>
          </a:xfrm>
          <a:prstGeom prst="rect">
            <a:avLst/>
          </a:prstGeom>
          <a:noFill/>
        </p:spPr>
        <p:txBody>
          <a:bodyPr wrap="none" lIns="0" rIns="0" tIns="0" bIns="0">
            <a:spAutoFit/>
          </a:bodyPr>
          <a:lstStyle/>
          <a:p>
            <a:r>
              <a:rPr sz="1055" b="0">
                <a:solidFill>
                  <a:srgbClr val="2E2E2E"/>
                </a:solidFill>
                <a:latin typeface="Calibri"/>
              </a:rPr>
              <a:t>over</a:t>
            </a:r>
          </a:p>
        </p:txBody>
      </p:sp>
      <p:sp>
        <p:nvSpPr>
          <p:cNvPr id="74" name="TextBox 73"/>
          <p:cNvSpPr txBox="1"/>
          <p:nvPr/>
        </p:nvSpPr>
        <p:spPr>
          <a:xfrm>
            <a:off x="485775" y="4712240"/>
            <a:ext cx="2594205" cy="179984"/>
          </a:xfrm>
          <a:prstGeom prst="rect">
            <a:avLst/>
          </a:prstGeom>
          <a:noFill/>
        </p:spPr>
        <p:txBody>
          <a:bodyPr wrap="none" lIns="0" rIns="0" tIns="0" bIns="0">
            <a:spAutoFit/>
          </a:bodyPr>
          <a:lstStyle/>
          <a:p>
            <a:r>
              <a:rPr sz="1055" b="0">
                <a:solidFill>
                  <a:srgbClr val="2E2E2E"/>
                </a:solidFill>
                <a:latin typeface="Calibri"/>
              </a:rPr>
              <a:t>the forecast period. In terms of value share by</a:t>
            </a:r>
          </a:p>
        </p:txBody>
      </p:sp>
      <p:sp>
        <p:nvSpPr>
          <p:cNvPr id="75" name="TextBox 74"/>
          <p:cNvSpPr txBox="1"/>
          <p:nvPr/>
        </p:nvSpPr>
        <p:spPr>
          <a:xfrm>
            <a:off x="485775" y="4873174"/>
            <a:ext cx="2914650" cy="179984"/>
          </a:xfrm>
          <a:prstGeom prst="rect">
            <a:avLst/>
          </a:prstGeom>
          <a:noFill/>
        </p:spPr>
        <p:txBody>
          <a:bodyPr wrap="none" lIns="0" rIns="0" tIns="0" bIns="0">
            <a:spAutoFit/>
          </a:bodyPr>
          <a:lstStyle/>
          <a:p>
            <a:r>
              <a:rPr sz="1055" b="0">
                <a:solidFill>
                  <a:srgbClr val="2E2E2E"/>
                </a:solidFill>
                <a:latin typeface="Calibri"/>
              </a:rPr>
              <a:t>therapy format, the sublingual immunotherapy (SLIT)</a:t>
            </a:r>
          </a:p>
        </p:txBody>
      </p:sp>
      <p:sp>
        <p:nvSpPr>
          <p:cNvPr id="76" name="TextBox 75"/>
          <p:cNvSpPr txBox="1"/>
          <p:nvPr/>
        </p:nvSpPr>
        <p:spPr>
          <a:xfrm>
            <a:off x="485775" y="5034109"/>
            <a:ext cx="2914650" cy="179984"/>
          </a:xfrm>
          <a:prstGeom prst="rect">
            <a:avLst/>
          </a:prstGeom>
          <a:noFill/>
        </p:spPr>
        <p:txBody>
          <a:bodyPr wrap="none" lIns="0" rIns="0" tIns="0" bIns="0">
            <a:spAutoFit/>
          </a:bodyPr>
          <a:lstStyle/>
          <a:p>
            <a:r>
              <a:rPr sz="1055" b="0">
                <a:solidFill>
                  <a:srgbClr val="2E2E2E"/>
                </a:solidFill>
                <a:latin typeface="Calibri"/>
              </a:rPr>
              <a:t>segment is expected to dominate the market, gaining</a:t>
            </a:r>
          </a:p>
        </p:txBody>
      </p:sp>
      <p:pic>
        <p:nvPicPr>
          <p:cNvPr id="77" name="Picture 76" descr="lock.png"/>
          <p:cNvPicPr>
            <a:picLocks noChangeAspect="1"/>
          </p:cNvPicPr>
          <p:nvPr/>
        </p:nvPicPr>
        <p:blipFill>
          <a:blip r:embed="rId13"/>
          <a:stretch>
            <a:fillRect/>
          </a:stretch>
        </p:blipFill>
        <p:spPr>
          <a:xfrm>
            <a:off x="472846" y="5185655"/>
            <a:ext cx="123551" cy="179710"/>
          </a:xfrm>
          <a:prstGeom prst="rect">
            <a:avLst/>
          </a:prstGeom>
        </p:spPr>
      </p:pic>
      <p:sp>
        <p:nvSpPr>
          <p:cNvPr id="78" name="TextBox 77"/>
          <p:cNvSpPr txBox="1"/>
          <p:nvPr/>
        </p:nvSpPr>
        <p:spPr>
          <a:xfrm>
            <a:off x="633642" y="5195043"/>
            <a:ext cx="1334023" cy="179984"/>
          </a:xfrm>
          <a:prstGeom prst="rect">
            <a:avLst/>
          </a:prstGeom>
          <a:noFill/>
        </p:spPr>
        <p:txBody>
          <a:bodyPr wrap="none" lIns="0" rIns="0" tIns="0" bIns="0">
            <a:spAutoFit/>
          </a:bodyPr>
          <a:lstStyle/>
          <a:p>
            <a:r>
              <a:rPr sz="1055" b="0">
                <a:solidFill>
                  <a:srgbClr val="2E2E2E"/>
                </a:solidFill>
                <a:latin typeface="Calibri"/>
              </a:rPr>
              <a:t>BPS and accounting for</a:t>
            </a:r>
          </a:p>
        </p:txBody>
      </p:sp>
      <p:pic>
        <p:nvPicPr>
          <p:cNvPr id="79" name="Picture 78" descr="lock.png"/>
          <p:cNvPicPr>
            <a:picLocks noChangeAspect="1"/>
          </p:cNvPicPr>
          <p:nvPr/>
        </p:nvPicPr>
        <p:blipFill>
          <a:blip r:embed="rId13"/>
          <a:stretch>
            <a:fillRect/>
          </a:stretch>
        </p:blipFill>
        <p:spPr>
          <a:xfrm>
            <a:off x="1914747" y="5185655"/>
            <a:ext cx="123551" cy="179710"/>
          </a:xfrm>
          <a:prstGeom prst="rect">
            <a:avLst/>
          </a:prstGeom>
        </p:spPr>
      </p:pic>
      <p:sp>
        <p:nvSpPr>
          <p:cNvPr id="80" name="TextBox 79"/>
          <p:cNvSpPr txBox="1"/>
          <p:nvPr/>
        </p:nvSpPr>
        <p:spPr>
          <a:xfrm>
            <a:off x="2075543" y="5195043"/>
            <a:ext cx="875109" cy="179984"/>
          </a:xfrm>
          <a:prstGeom prst="rect">
            <a:avLst/>
          </a:prstGeom>
          <a:noFill/>
        </p:spPr>
        <p:txBody>
          <a:bodyPr wrap="none" lIns="0" rIns="0" tIns="0" bIns="0">
            <a:spAutoFit/>
          </a:bodyPr>
          <a:lstStyle/>
          <a:p>
            <a:r>
              <a:rPr sz="1055" b="0">
                <a:solidFill>
                  <a:srgbClr val="2E2E2E"/>
                </a:solidFill>
                <a:latin typeface="Calibri"/>
              </a:rPr>
              <a:t>share by 2036.</a:t>
            </a:r>
          </a:p>
        </p:txBody>
      </p:sp>
      <p:sp>
        <p:nvSpPr>
          <p:cNvPr id="81" name="TextBox 80"/>
          <p:cNvSpPr txBox="1"/>
          <p:nvPr/>
        </p:nvSpPr>
        <p:spPr>
          <a:xfrm>
            <a:off x="485775" y="5404258"/>
            <a:ext cx="2495978" cy="179984"/>
          </a:xfrm>
          <a:prstGeom prst="rect">
            <a:avLst/>
          </a:prstGeom>
          <a:noFill/>
        </p:spPr>
        <p:txBody>
          <a:bodyPr wrap="none" lIns="0" rIns="0" tIns="0" bIns="0">
            <a:spAutoFit/>
          </a:bodyPr>
          <a:lstStyle/>
          <a:p>
            <a:r>
              <a:rPr sz="1055" b="0">
                <a:solidFill>
                  <a:srgbClr val="2E2E2E"/>
                </a:solidFill>
                <a:latin typeface="Calibri"/>
              </a:rPr>
              <a:t>Sublingual immunotherapy (SLIT) segment is</a:t>
            </a:r>
          </a:p>
        </p:txBody>
      </p:sp>
      <p:sp>
        <p:nvSpPr>
          <p:cNvPr id="82" name="TextBox 81"/>
          <p:cNvSpPr txBox="1"/>
          <p:nvPr/>
        </p:nvSpPr>
        <p:spPr>
          <a:xfrm>
            <a:off x="485775" y="5565192"/>
            <a:ext cx="1197816" cy="179984"/>
          </a:xfrm>
          <a:prstGeom prst="rect">
            <a:avLst/>
          </a:prstGeom>
          <a:noFill/>
        </p:spPr>
        <p:txBody>
          <a:bodyPr wrap="none" lIns="0" rIns="0" tIns="0" bIns="0">
            <a:spAutoFit/>
          </a:bodyPr>
          <a:lstStyle/>
          <a:p>
            <a:r>
              <a:rPr sz="1055" b="0">
                <a:solidFill>
                  <a:srgbClr val="2E2E2E"/>
                </a:solidFill>
                <a:latin typeface="Calibri"/>
              </a:rPr>
              <a:t>projected to register</a:t>
            </a:r>
          </a:p>
        </p:txBody>
      </p:sp>
      <p:pic>
        <p:nvPicPr>
          <p:cNvPr id="83" name="Picture 82" descr="lock.png"/>
          <p:cNvPicPr>
            <a:picLocks noChangeAspect="1"/>
          </p:cNvPicPr>
          <p:nvPr/>
        </p:nvPicPr>
        <p:blipFill>
          <a:blip r:embed="rId13"/>
          <a:stretch>
            <a:fillRect/>
          </a:stretch>
        </p:blipFill>
        <p:spPr>
          <a:xfrm>
            <a:off x="1630672" y="5555804"/>
            <a:ext cx="123551" cy="179710"/>
          </a:xfrm>
          <a:prstGeom prst="rect">
            <a:avLst/>
          </a:prstGeom>
        </p:spPr>
      </p:pic>
      <p:sp>
        <p:nvSpPr>
          <p:cNvPr id="84" name="TextBox 83"/>
          <p:cNvSpPr txBox="1"/>
          <p:nvPr/>
        </p:nvSpPr>
        <p:spPr>
          <a:xfrm>
            <a:off x="1791468" y="5565192"/>
            <a:ext cx="1128664" cy="179984"/>
          </a:xfrm>
          <a:prstGeom prst="rect">
            <a:avLst/>
          </a:prstGeom>
          <a:noFill/>
        </p:spPr>
        <p:txBody>
          <a:bodyPr wrap="none" lIns="0" rIns="0" tIns="0" bIns="0">
            <a:spAutoFit/>
          </a:bodyPr>
          <a:lstStyle/>
          <a:p>
            <a:r>
              <a:rPr sz="1055" b="0">
                <a:solidFill>
                  <a:srgbClr val="2E2E2E"/>
                </a:solidFill>
                <a:latin typeface="Calibri"/>
              </a:rPr>
              <a:t>X higher value than</a:t>
            </a:r>
          </a:p>
        </p:txBody>
      </p:sp>
      <p:sp>
        <p:nvSpPr>
          <p:cNvPr id="85" name="TextBox 84"/>
          <p:cNvSpPr txBox="1"/>
          <p:nvPr/>
        </p:nvSpPr>
        <p:spPr>
          <a:xfrm>
            <a:off x="485775" y="5726126"/>
            <a:ext cx="2726483" cy="179984"/>
          </a:xfrm>
          <a:prstGeom prst="rect">
            <a:avLst/>
          </a:prstGeom>
          <a:noFill/>
        </p:spPr>
        <p:txBody>
          <a:bodyPr wrap="none" lIns="0" rIns="0" tIns="0" bIns="0">
            <a:spAutoFit/>
          </a:bodyPr>
          <a:lstStyle/>
          <a:p>
            <a:r>
              <a:rPr sz="1055" b="0">
                <a:solidFill>
                  <a:srgbClr val="2E2E2E"/>
                </a:solidFill>
                <a:latin typeface="Calibri"/>
              </a:rPr>
              <a:t>subcutaneous immunotherapy (SCIT) segment in</a:t>
            </a:r>
          </a:p>
        </p:txBody>
      </p:sp>
      <p:sp>
        <p:nvSpPr>
          <p:cNvPr id="86" name="TextBox 85"/>
          <p:cNvSpPr txBox="1"/>
          <p:nvPr/>
        </p:nvSpPr>
        <p:spPr>
          <a:xfrm>
            <a:off x="485775" y="5887061"/>
            <a:ext cx="382404" cy="179984"/>
          </a:xfrm>
          <a:prstGeom prst="rect">
            <a:avLst/>
          </a:prstGeom>
          <a:noFill/>
        </p:spPr>
        <p:txBody>
          <a:bodyPr wrap="none" lIns="0" rIns="0" tIns="0" bIns="0">
            <a:spAutoFit/>
          </a:bodyPr>
          <a:lstStyle/>
          <a:p>
            <a:r>
              <a:rPr sz="1055" b="0">
                <a:solidFill>
                  <a:srgbClr val="2E2E2E"/>
                </a:solidFill>
                <a:latin typeface="Calibri"/>
              </a:rPr>
              <a:t>2036.</a:t>
            </a:r>
          </a:p>
        </p:txBody>
      </p:sp>
      <p:sp>
        <p:nvSpPr>
          <p:cNvPr id="87" name="TextBox 86"/>
          <p:cNvSpPr txBox="1"/>
          <p:nvPr/>
        </p:nvSpPr>
        <p:spPr>
          <a:xfrm>
            <a:off x="3838575" y="4229437"/>
            <a:ext cx="2111672" cy="186689"/>
          </a:xfrm>
          <a:prstGeom prst="rect">
            <a:avLst/>
          </a:prstGeom>
          <a:noFill/>
        </p:spPr>
        <p:txBody>
          <a:bodyPr wrap="none" lIns="0" rIns="0" tIns="0" bIns="0">
            <a:spAutoFit/>
          </a:bodyPr>
          <a:lstStyle/>
          <a:p>
            <a:r>
              <a:rPr sz="1100" b="0">
                <a:solidFill>
                  <a:srgbClr val="2E2E2E"/>
                </a:solidFill>
                <a:latin typeface="Calibri"/>
              </a:rPr>
              <a:t>● Sublingual Immunotherapy (SLIT):</a:t>
            </a:r>
          </a:p>
        </p:txBody>
      </p:sp>
      <p:pic>
        <p:nvPicPr>
          <p:cNvPr id="88" name="Picture 87" descr="lock.png"/>
          <p:cNvPicPr>
            <a:picLocks noChangeAspect="1"/>
          </p:cNvPicPr>
          <p:nvPr/>
        </p:nvPicPr>
        <p:blipFill>
          <a:blip r:embed="rId13"/>
          <a:stretch>
            <a:fillRect/>
          </a:stretch>
        </p:blipFill>
        <p:spPr>
          <a:xfrm>
            <a:off x="5898299" y="4219658"/>
            <a:ext cx="128699" cy="187198"/>
          </a:xfrm>
          <a:prstGeom prst="rect">
            <a:avLst/>
          </a:prstGeom>
        </p:spPr>
      </p:pic>
      <p:sp>
        <p:nvSpPr>
          <p:cNvPr id="89" name="TextBox 88"/>
          <p:cNvSpPr txBox="1"/>
          <p:nvPr/>
        </p:nvSpPr>
        <p:spPr>
          <a:xfrm>
            <a:off x="606579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0" name="Picture 89" descr="lock.png"/>
          <p:cNvPicPr>
            <a:picLocks noChangeAspect="1"/>
          </p:cNvPicPr>
          <p:nvPr/>
        </p:nvPicPr>
        <p:blipFill>
          <a:blip r:embed="rId13"/>
          <a:stretch>
            <a:fillRect/>
          </a:stretch>
        </p:blipFill>
        <p:spPr>
          <a:xfrm>
            <a:off x="6925245" y="4219658"/>
            <a:ext cx="128699" cy="187198"/>
          </a:xfrm>
          <a:prstGeom prst="rect">
            <a:avLst/>
          </a:prstGeom>
        </p:spPr>
      </p:pic>
      <p:sp>
        <p:nvSpPr>
          <p:cNvPr id="91" name="TextBox 90"/>
          <p:cNvSpPr txBox="1"/>
          <p:nvPr/>
        </p:nvSpPr>
        <p:spPr>
          <a:xfrm>
            <a:off x="7092741"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92" name="TextBox 91"/>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93" name="TextBox 92"/>
          <p:cNvSpPr txBox="1"/>
          <p:nvPr/>
        </p:nvSpPr>
        <p:spPr>
          <a:xfrm>
            <a:off x="3838575" y="4615009"/>
            <a:ext cx="2342505" cy="186689"/>
          </a:xfrm>
          <a:prstGeom prst="rect">
            <a:avLst/>
          </a:prstGeom>
          <a:noFill/>
        </p:spPr>
        <p:txBody>
          <a:bodyPr wrap="none" lIns="0" rIns="0" tIns="0" bIns="0">
            <a:spAutoFit/>
          </a:bodyPr>
          <a:lstStyle/>
          <a:p>
            <a:r>
              <a:rPr sz="1100" b="0">
                <a:solidFill>
                  <a:srgbClr val="2E2E2E"/>
                </a:solidFill>
                <a:latin typeface="Calibri"/>
              </a:rPr>
              <a:t>● Subcutaneous Immunotherapy (SCIT):</a:t>
            </a:r>
          </a:p>
        </p:txBody>
      </p:sp>
      <p:pic>
        <p:nvPicPr>
          <p:cNvPr id="94" name="Picture 93" descr="lock.png"/>
          <p:cNvPicPr>
            <a:picLocks noChangeAspect="1"/>
          </p:cNvPicPr>
          <p:nvPr/>
        </p:nvPicPr>
        <p:blipFill>
          <a:blip r:embed="rId13"/>
          <a:stretch>
            <a:fillRect/>
          </a:stretch>
        </p:blipFill>
        <p:spPr>
          <a:xfrm>
            <a:off x="6129131" y="4605230"/>
            <a:ext cx="128699" cy="187198"/>
          </a:xfrm>
          <a:prstGeom prst="rect">
            <a:avLst/>
          </a:prstGeom>
        </p:spPr>
      </p:pic>
      <p:sp>
        <p:nvSpPr>
          <p:cNvPr id="95" name="TextBox 94"/>
          <p:cNvSpPr txBox="1"/>
          <p:nvPr/>
        </p:nvSpPr>
        <p:spPr>
          <a:xfrm>
            <a:off x="6296627"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6" name="Picture 95" descr="lock.png"/>
          <p:cNvPicPr>
            <a:picLocks noChangeAspect="1"/>
          </p:cNvPicPr>
          <p:nvPr/>
        </p:nvPicPr>
        <p:blipFill>
          <a:blip r:embed="rId13"/>
          <a:stretch>
            <a:fillRect/>
          </a:stretch>
        </p:blipFill>
        <p:spPr>
          <a:xfrm>
            <a:off x="7156077" y="4605230"/>
            <a:ext cx="128699" cy="187198"/>
          </a:xfrm>
          <a:prstGeom prst="rect">
            <a:avLst/>
          </a:prstGeom>
        </p:spPr>
      </p:pic>
      <p:sp>
        <p:nvSpPr>
          <p:cNvPr id="97" name="TextBox 96"/>
          <p:cNvSpPr txBox="1"/>
          <p:nvPr/>
        </p:nvSpPr>
        <p:spPr>
          <a:xfrm>
            <a:off x="7323573"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98" name="TextBox 97"/>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99" name="TextBox 98"/>
          <p:cNvSpPr txBox="1"/>
          <p:nvPr/>
        </p:nvSpPr>
        <p:spPr>
          <a:xfrm>
            <a:off x="3838575" y="5000581"/>
            <a:ext cx="1734864" cy="186689"/>
          </a:xfrm>
          <a:prstGeom prst="rect">
            <a:avLst/>
          </a:prstGeom>
          <a:noFill/>
        </p:spPr>
        <p:txBody>
          <a:bodyPr wrap="none" lIns="0" rIns="0" tIns="0" bIns="0">
            <a:spAutoFit/>
          </a:bodyPr>
          <a:lstStyle/>
          <a:p>
            <a:r>
              <a:rPr sz="1100" b="0">
                <a:solidFill>
                  <a:srgbClr val="2E2E2E"/>
                </a:solidFill>
                <a:latin typeface="Calibri"/>
              </a:rPr>
              <a:t>● Oral Immunotherapy (OIT):</a:t>
            </a:r>
          </a:p>
        </p:txBody>
      </p:sp>
      <p:pic>
        <p:nvPicPr>
          <p:cNvPr id="100" name="Picture 99" descr="lock.png"/>
          <p:cNvPicPr>
            <a:picLocks noChangeAspect="1"/>
          </p:cNvPicPr>
          <p:nvPr/>
        </p:nvPicPr>
        <p:blipFill>
          <a:blip r:embed="rId13"/>
          <a:stretch>
            <a:fillRect/>
          </a:stretch>
        </p:blipFill>
        <p:spPr>
          <a:xfrm>
            <a:off x="5521491" y="4990801"/>
            <a:ext cx="128699" cy="187198"/>
          </a:xfrm>
          <a:prstGeom prst="rect">
            <a:avLst/>
          </a:prstGeom>
        </p:spPr>
      </p:pic>
      <p:sp>
        <p:nvSpPr>
          <p:cNvPr id="101" name="TextBox 100"/>
          <p:cNvSpPr txBox="1"/>
          <p:nvPr/>
        </p:nvSpPr>
        <p:spPr>
          <a:xfrm>
            <a:off x="5688987"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2" name="Picture 101" descr="lock.png"/>
          <p:cNvPicPr>
            <a:picLocks noChangeAspect="1"/>
          </p:cNvPicPr>
          <p:nvPr/>
        </p:nvPicPr>
        <p:blipFill>
          <a:blip r:embed="rId13"/>
          <a:stretch>
            <a:fillRect/>
          </a:stretch>
        </p:blipFill>
        <p:spPr>
          <a:xfrm>
            <a:off x="6548437" y="4990801"/>
            <a:ext cx="128699" cy="187198"/>
          </a:xfrm>
          <a:prstGeom prst="rect">
            <a:avLst/>
          </a:prstGeom>
        </p:spPr>
      </p:pic>
      <p:sp>
        <p:nvSpPr>
          <p:cNvPr id="103" name="TextBox 102"/>
          <p:cNvSpPr txBox="1"/>
          <p:nvPr/>
        </p:nvSpPr>
        <p:spPr>
          <a:xfrm>
            <a:off x="6715933" y="5000581"/>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04" name="TextBox 103"/>
          <p:cNvSpPr txBox="1"/>
          <p:nvPr/>
        </p:nvSpPr>
        <p:spPr>
          <a:xfrm>
            <a:off x="3838575" y="5168221"/>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05" name="TextBox 104"/>
          <p:cNvSpPr txBox="1"/>
          <p:nvPr/>
        </p:nvSpPr>
        <p:spPr>
          <a:xfrm>
            <a:off x="8524875" y="5842641"/>
            <a:ext cx="3106425" cy="194310"/>
          </a:xfrm>
          <a:prstGeom prst="rect">
            <a:avLst/>
          </a:prstGeom>
          <a:noFill/>
        </p:spPr>
        <p:txBody>
          <a:bodyPr wrap="none" lIns="0" rIns="0" tIns="0" bIns="0">
            <a:spAutoFit/>
          </a:bodyPr>
          <a:lstStyle/>
          <a:p>
            <a:r>
              <a:rPr sz="1150" b="1">
                <a:solidFill>
                  <a:srgbClr val="0B2E4A"/>
                </a:solidFill>
                <a:latin typeface="Calibri"/>
              </a:rPr>
              <a:t>The Therapy Format segment is projected to grow</a:t>
            </a:r>
          </a:p>
        </p:txBody>
      </p:sp>
      <p:sp>
        <p:nvSpPr>
          <p:cNvPr id="106" name="TextBox 105"/>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07" name="Picture 106" descr="lock.png"/>
          <p:cNvPicPr>
            <a:picLocks noChangeAspect="1"/>
          </p:cNvPicPr>
          <p:nvPr/>
        </p:nvPicPr>
        <p:blipFill>
          <a:blip r:embed="rId13"/>
          <a:stretch>
            <a:fillRect/>
          </a:stretch>
        </p:blipFill>
        <p:spPr>
          <a:xfrm>
            <a:off x="9310118" y="6007677"/>
            <a:ext cx="134549" cy="195707"/>
          </a:xfrm>
          <a:prstGeom prst="rect">
            <a:avLst/>
          </a:prstGeom>
        </p:spPr>
      </p:pic>
      <p:sp>
        <p:nvSpPr>
          <p:cNvPr id="108" name="TextBox 107"/>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Therapy Format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Therapy Format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Therapy Format mix within each country (share of 2036 value) · row label = country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Therapy Format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Sublingual immunotherapy (SLIT) followed by subcutaneous immunotherapy (SCIT) are expected to be the two most attractive therapy format segments in the North America allergy immunotherapy market</a:t>
            </a:r>
          </a:p>
        </p:txBody>
      </p:sp>
      <p:sp>
        <p:nvSpPr>
          <p:cNvPr id="21" name="TextBox 20"/>
          <p:cNvSpPr txBox="1"/>
          <p:nvPr/>
        </p:nvSpPr>
        <p:spPr>
          <a:xfrm>
            <a:off x="257175" y="5861685"/>
            <a:ext cx="8115754" cy="186689"/>
          </a:xfrm>
          <a:prstGeom prst="rect">
            <a:avLst/>
          </a:prstGeom>
          <a:noFill/>
        </p:spPr>
        <p:txBody>
          <a:bodyPr wrap="none" lIns="0" rIns="0" tIns="0" bIns="0">
            <a:spAutoFit/>
          </a:bodyPr>
          <a:lstStyle/>
          <a:p>
            <a:r>
              <a:rPr sz="1100" b="0">
                <a:solidFill>
                  <a:srgbClr val="2E2E2E"/>
                </a:solidFill>
                <a:latin typeface="Calibri"/>
              </a:rPr>
              <a:t>in terms of value over the forecast period. Sublingual immunotherapy (SLIT) and subcutaneous immunotherapy (SCIT) exhibit a CAGR index of</a:t>
            </a:r>
          </a:p>
        </p:txBody>
      </p:sp>
      <p:pic>
        <p:nvPicPr>
          <p:cNvPr id="22" name="Picture 21" descr="lock.png"/>
          <p:cNvPicPr>
            <a:picLocks noChangeAspect="1"/>
          </p:cNvPicPr>
          <p:nvPr/>
        </p:nvPicPr>
        <p:blipFill>
          <a:blip r:embed="rId6"/>
          <a:stretch>
            <a:fillRect/>
          </a:stretch>
        </p:blipFill>
        <p:spPr>
          <a:xfrm>
            <a:off x="8320980" y="5851905"/>
            <a:ext cx="128699" cy="187198"/>
          </a:xfrm>
          <a:prstGeom prst="rect">
            <a:avLst/>
          </a:prstGeom>
        </p:spPr>
      </p:pic>
      <p:sp>
        <p:nvSpPr>
          <p:cNvPr id="23" name="TextBox 22"/>
          <p:cNvSpPr txBox="1"/>
          <p:nvPr/>
        </p:nvSpPr>
        <p:spPr>
          <a:xfrm>
            <a:off x="848847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8726371" y="5851905"/>
            <a:ext cx="128699" cy="187198"/>
          </a:xfrm>
          <a:prstGeom prst="rect">
            <a:avLst/>
          </a:prstGeom>
        </p:spPr>
      </p:pic>
      <p:sp>
        <p:nvSpPr>
          <p:cNvPr id="25" name="TextBox 24"/>
          <p:cNvSpPr txBox="1"/>
          <p:nvPr/>
        </p:nvSpPr>
        <p:spPr>
          <a:xfrm>
            <a:off x="8893866"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10502840" y="5851905"/>
            <a:ext cx="128699" cy="187198"/>
          </a:xfrm>
          <a:prstGeom prst="rect">
            <a:avLst/>
          </a:prstGeom>
        </p:spPr>
      </p:pic>
      <p:sp>
        <p:nvSpPr>
          <p:cNvPr id="27" name="TextBox 26"/>
          <p:cNvSpPr txBox="1"/>
          <p:nvPr/>
        </p:nvSpPr>
        <p:spPr>
          <a:xfrm>
            <a:off x="1067033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10908230" y="5851905"/>
            <a:ext cx="128699" cy="187198"/>
          </a:xfrm>
          <a:prstGeom prst="rect">
            <a:avLst/>
          </a:prstGeom>
        </p:spPr>
      </p:pic>
      <p:sp>
        <p:nvSpPr>
          <p:cNvPr id="29" name="TextBox 28"/>
          <p:cNvSpPr txBox="1"/>
          <p:nvPr/>
        </p:nvSpPr>
        <p:spPr>
          <a:xfrm>
            <a:off x="257175" y="602932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2811579" y="6019545"/>
            <a:ext cx="128699" cy="187198"/>
          </a:xfrm>
          <a:prstGeom prst="rect">
            <a:avLst/>
          </a:prstGeom>
        </p:spPr>
      </p:pic>
      <p:sp>
        <p:nvSpPr>
          <p:cNvPr id="31" name="TextBox 30"/>
          <p:cNvSpPr txBox="1"/>
          <p:nvPr/>
        </p:nvSpPr>
        <p:spPr>
          <a:xfrm>
            <a:off x="2979074" y="6029325"/>
            <a:ext cx="8889015" cy="186689"/>
          </a:xfrm>
          <a:prstGeom prst="rect">
            <a:avLst/>
          </a:prstGeom>
          <a:noFill/>
        </p:spPr>
        <p:txBody>
          <a:bodyPr wrap="none" lIns="0" rIns="0" tIns="0" bIns="0">
            <a:spAutoFit/>
          </a:bodyPr>
          <a:lstStyle/>
          <a:p>
            <a:r>
              <a:rPr sz="1100" b="0">
                <a:solidFill>
                  <a:srgbClr val="2E2E2E"/>
                </a:solidFill>
                <a:latin typeface="Calibri"/>
              </a:rPr>
              <a:t>. The oral immunotherapy (OIT) segment is expected to be less attractive as compared to other segments over the forecast period, owing to its lower CAGR</a:t>
            </a:r>
          </a:p>
        </p:txBody>
      </p:sp>
      <p:sp>
        <p:nvSpPr>
          <p:cNvPr id="32" name="TextBox 31"/>
          <p:cNvSpPr txBox="1"/>
          <p:nvPr/>
        </p:nvSpPr>
        <p:spPr>
          <a:xfrm>
            <a:off x="257175" y="6196965"/>
            <a:ext cx="6083555" cy="186689"/>
          </a:xfrm>
          <a:prstGeom prst="rect">
            <a:avLst/>
          </a:prstGeom>
          <a:noFill/>
        </p:spPr>
        <p:txBody>
          <a:bodyPr wrap="none" lIns="0" rIns="0" tIns="0" bIns="0">
            <a:spAutoFit/>
          </a:bodyPr>
          <a:lstStyle/>
          <a:p>
            <a:r>
              <a:rPr sz="1100" b="0">
                <a:solidFill>
                  <a:srgbClr val="2E2E2E"/>
                </a:solidFill>
                <a:latin typeface="Calibri"/>
              </a:rPr>
              <a:t>and incremental opportunity. Bubbles right of the CAGR-Index line grow faster than the segment average.</a:t>
            </a:r>
          </a:p>
        </p:txBody>
      </p:sp>
      <p:sp>
        <p:nvSpPr>
          <p:cNvPr id="33"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Therapy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Therapy Format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Subcutaneous Immunotherapy (SCIT)</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Sublingual Immunotherapy (SLIT)</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Oral Immunotherapy (OIT)</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Therapy Format</a:t>
            </a:r>
          </a:p>
        </p:txBody>
      </p:sp>
      <p:sp>
        <p:nvSpPr>
          <p:cNvPr id="22" name="Rectangle 21"/>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3100230"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9129555" y="2330679"/>
            <a:ext cx="252890" cy="367840"/>
          </a:xfrm>
          <a:prstGeom prst="rect">
            <a:avLst/>
          </a:prstGeom>
        </p:spPr>
      </p:pic>
      <p:pic>
        <p:nvPicPr>
          <p:cNvPr id="27" name="Picture 26" descr="lock.png"/>
          <p:cNvPicPr>
            <a:picLocks noChangeAspect="1"/>
          </p:cNvPicPr>
          <p:nvPr/>
        </p:nvPicPr>
        <p:blipFill>
          <a:blip r:embed="rId7"/>
          <a:stretch>
            <a:fillRect/>
          </a:stretch>
        </p:blipFill>
        <p:spPr>
          <a:xfrm>
            <a:off x="3100230" y="5216754"/>
            <a:ext cx="252890" cy="367840"/>
          </a:xfrm>
          <a:prstGeom prst="rect">
            <a:avLst/>
          </a:prstGeom>
        </p:spPr>
      </p:pic>
      <p:sp>
        <p:nvSpPr>
          <p:cNvPr id="28" name="TextBox 27"/>
          <p:cNvSpPr txBox="1"/>
          <p:nvPr/>
        </p:nvSpPr>
        <p:spPr>
          <a:xfrm>
            <a:off x="6305550" y="4484320"/>
            <a:ext cx="5221886" cy="186689"/>
          </a:xfrm>
          <a:prstGeom prst="rect">
            <a:avLst/>
          </a:prstGeom>
          <a:noFill/>
        </p:spPr>
        <p:txBody>
          <a:bodyPr wrap="none" lIns="0" rIns="0" tIns="0" bIns="0">
            <a:spAutoFit/>
          </a:bodyPr>
          <a:lstStyle/>
          <a:p>
            <a:r>
              <a:rPr sz="1100" b="0">
                <a:solidFill>
                  <a:srgbClr val="2E2E2E"/>
                </a:solidFill>
                <a:latin typeface="Calibri"/>
              </a:rPr>
              <a:t>By 2036, sublingual immunotherapy (SLIT) segment is anticipated to witness an increase of</a:t>
            </a:r>
          </a:p>
        </p:txBody>
      </p:sp>
      <p:pic>
        <p:nvPicPr>
          <p:cNvPr id="29" name="Picture 28" descr="lock.png"/>
          <p:cNvPicPr>
            <a:picLocks noChangeAspect="1"/>
          </p:cNvPicPr>
          <p:nvPr/>
        </p:nvPicPr>
        <p:blipFill>
          <a:blip r:embed="rId7"/>
          <a:stretch>
            <a:fillRect/>
          </a:stretch>
        </p:blipFill>
        <p:spPr>
          <a:xfrm>
            <a:off x="11475487" y="4474541"/>
            <a:ext cx="128699" cy="187198"/>
          </a:xfrm>
          <a:prstGeom prst="rect">
            <a:avLst/>
          </a:prstGeom>
        </p:spPr>
      </p:pic>
      <p:sp>
        <p:nvSpPr>
          <p:cNvPr id="30" name="TextBox 29"/>
          <p:cNvSpPr txBox="1"/>
          <p:nvPr/>
        </p:nvSpPr>
        <p:spPr>
          <a:xfrm>
            <a:off x="11642983" y="4484320"/>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31" name="TextBox 30"/>
          <p:cNvSpPr txBox="1"/>
          <p:nvPr/>
        </p:nvSpPr>
        <p:spPr>
          <a:xfrm>
            <a:off x="6305550" y="4651960"/>
            <a:ext cx="5591175" cy="186689"/>
          </a:xfrm>
          <a:prstGeom prst="rect">
            <a:avLst/>
          </a:prstGeom>
          <a:noFill/>
        </p:spPr>
        <p:txBody>
          <a:bodyPr wrap="none" lIns="0" rIns="0" tIns="0" bIns="0">
            <a:spAutoFit/>
          </a:bodyPr>
          <a:lstStyle/>
          <a:p>
            <a:r>
              <a:rPr sz="1100" b="0">
                <a:solidFill>
                  <a:srgbClr val="2E2E2E"/>
                </a:solidFill>
                <a:latin typeface="Calibri"/>
              </a:rPr>
              <a:t>in terms of value as compared to 2026. The sublingual immunotherapy (SLIT) segment is expected</a:t>
            </a:r>
          </a:p>
        </p:txBody>
      </p:sp>
      <p:sp>
        <p:nvSpPr>
          <p:cNvPr id="32" name="TextBox 31"/>
          <p:cNvSpPr txBox="1"/>
          <p:nvPr/>
        </p:nvSpPr>
        <p:spPr>
          <a:xfrm>
            <a:off x="6305550" y="4819600"/>
            <a:ext cx="2591891" cy="186689"/>
          </a:xfrm>
          <a:prstGeom prst="rect">
            <a:avLst/>
          </a:prstGeom>
          <a:noFill/>
        </p:spPr>
        <p:txBody>
          <a:bodyPr wrap="none" lIns="0" rIns="0" tIns="0" bIns="0">
            <a:spAutoFit/>
          </a:bodyPr>
          <a:lstStyle/>
          <a:p>
            <a:r>
              <a:rPr sz="1100" b="0">
                <a:solidFill>
                  <a:srgbClr val="2E2E2E"/>
                </a:solidFill>
                <a:latin typeface="Calibri"/>
              </a:rPr>
              <a:t>to create an incremental opportunity of US$</a:t>
            </a:r>
          </a:p>
        </p:txBody>
      </p:sp>
      <p:pic>
        <p:nvPicPr>
          <p:cNvPr id="33" name="Picture 32" descr="lock.png"/>
          <p:cNvPicPr>
            <a:picLocks noChangeAspect="1"/>
          </p:cNvPicPr>
          <p:nvPr/>
        </p:nvPicPr>
        <p:blipFill>
          <a:blip r:embed="rId7"/>
          <a:stretch>
            <a:fillRect/>
          </a:stretch>
        </p:blipFill>
        <p:spPr>
          <a:xfrm>
            <a:off x="8845493" y="4809821"/>
            <a:ext cx="128699" cy="187198"/>
          </a:xfrm>
          <a:prstGeom prst="rect">
            <a:avLst/>
          </a:prstGeom>
        </p:spPr>
      </p:pic>
      <p:sp>
        <p:nvSpPr>
          <p:cNvPr id="34" name="TextBox 33"/>
          <p:cNvSpPr txBox="1"/>
          <p:nvPr/>
        </p:nvSpPr>
        <p:spPr>
          <a:xfrm>
            <a:off x="9012988" y="4819600"/>
            <a:ext cx="2465561" cy="186689"/>
          </a:xfrm>
          <a:prstGeom prst="rect">
            <a:avLst/>
          </a:prstGeom>
          <a:noFill/>
        </p:spPr>
        <p:txBody>
          <a:bodyPr wrap="none" lIns="0" rIns="0" tIns="0" bIns="0">
            <a:spAutoFit/>
          </a:bodyPr>
          <a:lstStyle/>
          <a:p>
            <a:r>
              <a:rPr sz="1100" b="0">
                <a:solidFill>
                  <a:srgbClr val="2E2E2E"/>
                </a:solidFill>
                <a:latin typeface="Calibri"/>
              </a:rPr>
              <a:t>Mn for the overall allergy immunotherapy</a:t>
            </a:r>
          </a:p>
        </p:txBody>
      </p:sp>
      <p:sp>
        <p:nvSpPr>
          <p:cNvPr id="35" name="TextBox 34"/>
          <p:cNvSpPr txBox="1"/>
          <p:nvPr/>
        </p:nvSpPr>
        <p:spPr>
          <a:xfrm>
            <a:off x="6305550" y="4987240"/>
            <a:ext cx="1610171" cy="186689"/>
          </a:xfrm>
          <a:prstGeom prst="rect">
            <a:avLst/>
          </a:prstGeom>
          <a:noFill/>
        </p:spPr>
        <p:txBody>
          <a:bodyPr wrap="none" lIns="0" rIns="0" tIns="0" bIns="0">
            <a:spAutoFit/>
          </a:bodyPr>
          <a:lstStyle/>
          <a:p>
            <a:r>
              <a:rPr sz="1100" b="0">
                <a:solidFill>
                  <a:srgbClr val="2E2E2E"/>
                </a:solidFill>
                <a:latin typeface="Calibri"/>
              </a:rPr>
              <a:t>market from 2026 to 2036.</a:t>
            </a:r>
          </a:p>
        </p:txBody>
      </p:sp>
      <p:sp>
        <p:nvSpPr>
          <p:cNvPr id="36" name="TextBox 35"/>
          <p:cNvSpPr txBox="1"/>
          <p:nvPr/>
        </p:nvSpPr>
        <p:spPr>
          <a:xfrm>
            <a:off x="6305550" y="5205172"/>
            <a:ext cx="5047009" cy="186689"/>
          </a:xfrm>
          <a:prstGeom prst="rect">
            <a:avLst/>
          </a:prstGeom>
          <a:noFill/>
        </p:spPr>
        <p:txBody>
          <a:bodyPr wrap="none" lIns="0" rIns="0" tIns="0" bIns="0">
            <a:spAutoFit/>
          </a:bodyPr>
          <a:lstStyle/>
          <a:p>
            <a:r>
              <a:rPr sz="1100" b="0">
                <a:solidFill>
                  <a:srgbClr val="2E2E2E"/>
                </a:solidFill>
                <a:latin typeface="Calibri"/>
              </a:rPr>
              <a:t>The subcutaneous immunotherapy (SCIT) segment is expected to create an incremental</a:t>
            </a:r>
          </a:p>
        </p:txBody>
      </p:sp>
      <p:sp>
        <p:nvSpPr>
          <p:cNvPr id="37" name="TextBox 36"/>
          <p:cNvSpPr txBox="1"/>
          <p:nvPr/>
        </p:nvSpPr>
        <p:spPr>
          <a:xfrm>
            <a:off x="6305550" y="5372812"/>
            <a:ext cx="1159693" cy="186689"/>
          </a:xfrm>
          <a:prstGeom prst="rect">
            <a:avLst/>
          </a:prstGeom>
          <a:noFill/>
        </p:spPr>
        <p:txBody>
          <a:bodyPr wrap="none" lIns="0" rIns="0" tIns="0" bIns="0">
            <a:spAutoFit/>
          </a:bodyPr>
          <a:lstStyle/>
          <a:p>
            <a:r>
              <a:rPr sz="1100" b="0">
                <a:solidFill>
                  <a:srgbClr val="2E2E2E"/>
                </a:solidFill>
                <a:latin typeface="Calibri"/>
              </a:rPr>
              <a:t>opportunity of US$</a:t>
            </a:r>
          </a:p>
        </p:txBody>
      </p:sp>
      <p:pic>
        <p:nvPicPr>
          <p:cNvPr id="38" name="Picture 37" descr="lock.png"/>
          <p:cNvPicPr>
            <a:picLocks noChangeAspect="1"/>
          </p:cNvPicPr>
          <p:nvPr/>
        </p:nvPicPr>
        <p:blipFill>
          <a:blip r:embed="rId7"/>
          <a:stretch>
            <a:fillRect/>
          </a:stretch>
        </p:blipFill>
        <p:spPr>
          <a:xfrm>
            <a:off x="7413295" y="5363033"/>
            <a:ext cx="128699" cy="187198"/>
          </a:xfrm>
          <a:prstGeom prst="rect">
            <a:avLst/>
          </a:prstGeom>
        </p:spPr>
      </p:pic>
      <p:sp>
        <p:nvSpPr>
          <p:cNvPr id="39" name="TextBox 38"/>
          <p:cNvSpPr txBox="1"/>
          <p:nvPr/>
        </p:nvSpPr>
        <p:spPr>
          <a:xfrm>
            <a:off x="7580790" y="5372812"/>
            <a:ext cx="4274021" cy="186689"/>
          </a:xfrm>
          <a:prstGeom prst="rect">
            <a:avLst/>
          </a:prstGeom>
          <a:noFill/>
        </p:spPr>
        <p:txBody>
          <a:bodyPr wrap="none" lIns="0" rIns="0" tIns="0" bIns="0">
            <a:spAutoFit/>
          </a:bodyPr>
          <a:lstStyle/>
          <a:p>
            <a:r>
              <a:rPr sz="1100" b="0">
                <a:solidFill>
                  <a:srgbClr val="2E2E2E"/>
                </a:solidFill>
                <a:latin typeface="Calibri"/>
              </a:rPr>
              <a:t>Mn for the overall allergy immunotherapy market from 2026 to 2036. The</a:t>
            </a:r>
          </a:p>
        </p:txBody>
      </p:sp>
      <p:sp>
        <p:nvSpPr>
          <p:cNvPr id="40" name="TextBox 39"/>
          <p:cNvSpPr txBox="1"/>
          <p:nvPr/>
        </p:nvSpPr>
        <p:spPr>
          <a:xfrm>
            <a:off x="6305550" y="5540452"/>
            <a:ext cx="5302398" cy="186689"/>
          </a:xfrm>
          <a:prstGeom prst="rect">
            <a:avLst/>
          </a:prstGeom>
          <a:noFill/>
        </p:spPr>
        <p:txBody>
          <a:bodyPr wrap="none" lIns="0" rIns="0" tIns="0" bIns="0">
            <a:spAutoFit/>
          </a:bodyPr>
          <a:lstStyle/>
          <a:p>
            <a:r>
              <a:rPr sz="1100" b="0">
                <a:solidFill>
                  <a:srgbClr val="2E2E2E"/>
                </a:solidFill>
                <a:latin typeface="Calibri"/>
              </a:rPr>
              <a:t>oral immunotherapy (OIT) segment is expected to create an incremental opportunity of US$</a:t>
            </a:r>
          </a:p>
        </p:txBody>
      </p:sp>
      <p:pic>
        <p:nvPicPr>
          <p:cNvPr id="41" name="Picture 40" descr="lock.png"/>
          <p:cNvPicPr>
            <a:picLocks noChangeAspect="1"/>
          </p:cNvPicPr>
          <p:nvPr/>
        </p:nvPicPr>
        <p:blipFill>
          <a:blip r:embed="rId7"/>
          <a:stretch>
            <a:fillRect/>
          </a:stretch>
        </p:blipFill>
        <p:spPr>
          <a:xfrm>
            <a:off x="6292082" y="5698313"/>
            <a:ext cx="128699" cy="187198"/>
          </a:xfrm>
          <a:prstGeom prst="rect">
            <a:avLst/>
          </a:prstGeom>
        </p:spPr>
      </p:pic>
      <p:sp>
        <p:nvSpPr>
          <p:cNvPr id="42" name="TextBox 41"/>
          <p:cNvSpPr txBox="1"/>
          <p:nvPr/>
        </p:nvSpPr>
        <p:spPr>
          <a:xfrm>
            <a:off x="6459578" y="5708092"/>
            <a:ext cx="4031183" cy="186689"/>
          </a:xfrm>
          <a:prstGeom prst="rect">
            <a:avLst/>
          </a:prstGeom>
          <a:noFill/>
        </p:spPr>
        <p:txBody>
          <a:bodyPr wrap="none" lIns="0" rIns="0" tIns="0" bIns="0">
            <a:spAutoFit/>
          </a:bodyPr>
          <a:lstStyle/>
          <a:p>
            <a:r>
              <a:rPr sz="1100" b="0">
                <a:solidFill>
                  <a:srgbClr val="2E2E2E"/>
                </a:solidFill>
                <a:latin typeface="Calibri"/>
              </a:rPr>
              <a:t>Mn for the overall allergy immunotherapy market from 2026 to 2036.</a:t>
            </a:r>
          </a:p>
        </p:txBody>
      </p:sp>
      <p:sp>
        <p:nvSpPr>
          <p:cNvPr id="43"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Therapy Format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Therapy Format,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Therapy Format (US$ Mn)</a:t>
            </a:r>
          </a:p>
        </p:txBody>
      </p:sp>
      <p:graphicFrame>
        <p:nvGraphicFramePr>
          <p:cNvPr id="13" name="Table 12"/>
          <p:cNvGraphicFramePr>
            <a:graphicFrameLocks noGrp="1"/>
          </p:cNvGraphicFramePr>
          <p:nvPr/>
        </p:nvGraphicFramePr>
        <p:xfrm>
          <a:off x="152400" y="1238250"/>
          <a:ext cx="11887196" cy="1724028"/>
        </p:xfrm>
        <a:graphic>
          <a:graphicData uri="http://schemas.openxmlformats.org/drawingml/2006/table">
            <a:tbl>
              <a:tblPr>
                <a:tableStyleId>{5C22544A-7EE6-4342-B048-85BDC9FD1C3A}</a:tableStyleId>
              </a:tblPr>
              <a:tblGrid>
                <a:gridCol w="2058748"/>
                <a:gridCol w="578144"/>
                <a:gridCol w="578144"/>
                <a:gridCol w="578144"/>
                <a:gridCol w="578144"/>
                <a:gridCol w="578144"/>
                <a:gridCol w="578144"/>
                <a:gridCol w="578144"/>
                <a:gridCol w="578144"/>
                <a:gridCol w="578144"/>
                <a:gridCol w="578144"/>
                <a:gridCol w="578144"/>
                <a:gridCol w="578144"/>
                <a:gridCol w="578144"/>
                <a:gridCol w="578144"/>
                <a:gridCol w="578144"/>
                <a:gridCol w="578144"/>
                <a:gridCol w="578144"/>
              </a:tblGrid>
              <a:tr h="246126">
                <a:tc>
                  <a:txBody>
                    <a:bodyPr wrap="none"/>
                    <a:lstStyle/>
                    <a:p>
                      <a:pPr algn="l"/>
                      <a:r>
                        <a:rPr sz="1100" b="1">
                          <a:solidFill>
                            <a:srgbClr val="0B2E4A"/>
                          </a:solidFill>
                          <a:latin typeface="Calibri"/>
                        </a:rPr>
                        <a:t>Therapy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Subcutaneous Immunotherapy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Sublingual Immunotherapy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 SLIT Tablets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SLIT Solutions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Oral Immunotherapy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Therapy Format</a:t>
            </a:r>
          </a:p>
        </p:txBody>
      </p:sp>
      <p:sp>
        <p:nvSpPr>
          <p:cNvPr id="17" name="Rectangle 16"/>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938682" y="1956627"/>
            <a:ext cx="366712" cy="533400"/>
          </a:xfrm>
          <a:prstGeom prst="rect">
            <a:avLst/>
          </a:prstGeom>
        </p:spPr>
      </p:pic>
      <p:sp>
        <p:nvSpPr>
          <p:cNvPr id="21" name="TextBox 20"/>
          <p:cNvSpPr txBox="1"/>
          <p:nvPr/>
        </p:nvSpPr>
        <p:spPr>
          <a:xfrm>
            <a:off x="276225" y="3724275"/>
            <a:ext cx="3965922" cy="194310"/>
          </a:xfrm>
          <a:prstGeom prst="rect">
            <a:avLst/>
          </a:prstGeom>
          <a:noFill/>
        </p:spPr>
        <p:txBody>
          <a:bodyPr wrap="none" lIns="0" rIns="0" tIns="0" bIns="0">
            <a:spAutoFit/>
          </a:bodyPr>
          <a:lstStyle/>
          <a:p>
            <a:r>
              <a:rPr sz="1150" b="0">
                <a:solidFill>
                  <a:srgbClr val="2E2E2E"/>
                </a:solidFill>
                <a:latin typeface="Calibri"/>
              </a:rPr>
              <a:t>Sublingual immunotherapy (SLIT) segment is projected to register</a:t>
            </a:r>
          </a:p>
        </p:txBody>
      </p:sp>
      <p:pic>
        <p:nvPicPr>
          <p:cNvPr id="22" name="Picture 21" descr="lock.png"/>
          <p:cNvPicPr>
            <a:picLocks noChangeAspect="1"/>
          </p:cNvPicPr>
          <p:nvPr/>
        </p:nvPicPr>
        <p:blipFill>
          <a:blip r:embed="rId4"/>
          <a:stretch>
            <a:fillRect/>
          </a:stretch>
        </p:blipFill>
        <p:spPr>
          <a:xfrm>
            <a:off x="4191301" y="3714051"/>
            <a:ext cx="134549" cy="195707"/>
          </a:xfrm>
          <a:prstGeom prst="rect">
            <a:avLst/>
          </a:prstGeom>
        </p:spPr>
      </p:pic>
      <p:sp>
        <p:nvSpPr>
          <p:cNvPr id="23" name="TextBox 22"/>
          <p:cNvSpPr txBox="1"/>
          <p:nvPr/>
        </p:nvSpPr>
        <p:spPr>
          <a:xfrm>
            <a:off x="4366410" y="3724275"/>
            <a:ext cx="7058359" cy="194310"/>
          </a:xfrm>
          <a:prstGeom prst="rect">
            <a:avLst/>
          </a:prstGeom>
          <a:noFill/>
        </p:spPr>
        <p:txBody>
          <a:bodyPr wrap="none" lIns="0" rIns="0" tIns="0" bIns="0">
            <a:spAutoFit/>
          </a:bodyPr>
          <a:lstStyle/>
          <a:p>
            <a:r>
              <a:rPr sz="1150" b="0">
                <a:solidFill>
                  <a:srgbClr val="2E2E2E"/>
                </a:solidFill>
                <a:latin typeface="Calibri"/>
              </a:rPr>
              <a:t>X higher value than subcutaneous immunotherapy (SCIT) segment in 2036. Among allergy immunotherapy by therapy</a:t>
            </a:r>
          </a:p>
        </p:txBody>
      </p:sp>
      <p:sp>
        <p:nvSpPr>
          <p:cNvPr id="24" name="TextBox 23"/>
          <p:cNvSpPr txBox="1"/>
          <p:nvPr/>
        </p:nvSpPr>
        <p:spPr>
          <a:xfrm>
            <a:off x="276225" y="3899535"/>
            <a:ext cx="5622088" cy="194310"/>
          </a:xfrm>
          <a:prstGeom prst="rect">
            <a:avLst/>
          </a:prstGeom>
          <a:noFill/>
        </p:spPr>
        <p:txBody>
          <a:bodyPr wrap="none" lIns="0" rIns="0" tIns="0" bIns="0">
            <a:spAutoFit/>
          </a:bodyPr>
          <a:lstStyle/>
          <a:p>
            <a:r>
              <a:rPr sz="1150" b="0">
                <a:solidFill>
                  <a:srgbClr val="2E2E2E"/>
                </a:solidFill>
                <a:latin typeface="Calibri"/>
              </a:rPr>
              <a:t>format, sublingual immunotherapy (SLIT) segment is expected to witness the highest CAGR of</a:t>
            </a:r>
          </a:p>
        </p:txBody>
      </p:sp>
      <p:pic>
        <p:nvPicPr>
          <p:cNvPr id="25" name="Picture 24" descr="lock.png"/>
          <p:cNvPicPr>
            <a:picLocks noChangeAspect="1"/>
          </p:cNvPicPr>
          <p:nvPr/>
        </p:nvPicPr>
        <p:blipFill>
          <a:blip r:embed="rId4"/>
          <a:stretch>
            <a:fillRect/>
          </a:stretch>
        </p:blipFill>
        <p:spPr>
          <a:xfrm>
            <a:off x="5847467" y="3889311"/>
            <a:ext cx="134549" cy="195707"/>
          </a:xfrm>
          <a:prstGeom prst="rect">
            <a:avLst/>
          </a:prstGeom>
        </p:spPr>
      </p:pic>
      <p:sp>
        <p:nvSpPr>
          <p:cNvPr id="26" name="TextBox 25"/>
          <p:cNvSpPr txBox="1"/>
          <p:nvPr/>
        </p:nvSpPr>
        <p:spPr>
          <a:xfrm>
            <a:off x="6022576"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127372"/>
            <a:ext cx="8007970" cy="194310"/>
          </a:xfrm>
          <a:prstGeom prst="rect">
            <a:avLst/>
          </a:prstGeom>
          <a:noFill/>
        </p:spPr>
        <p:txBody>
          <a:bodyPr wrap="none" lIns="0" rIns="0" tIns="0" bIns="0">
            <a:spAutoFit/>
          </a:bodyPr>
          <a:lstStyle/>
          <a:p>
            <a:r>
              <a:rPr sz="1150" b="0">
                <a:solidFill>
                  <a:srgbClr val="2E2E2E"/>
                </a:solidFill>
                <a:latin typeface="Calibri"/>
              </a:rPr>
              <a:t>In terms of value share by therapy format, the sublingual immunotherapy (SLIT) segment is expected to dominate the market, gaining</a:t>
            </a:r>
          </a:p>
        </p:txBody>
      </p:sp>
      <p:pic>
        <p:nvPicPr>
          <p:cNvPr id="28" name="Picture 27" descr="lock.png"/>
          <p:cNvPicPr>
            <a:picLocks noChangeAspect="1"/>
          </p:cNvPicPr>
          <p:nvPr/>
        </p:nvPicPr>
        <p:blipFill>
          <a:blip r:embed="rId4"/>
          <a:stretch>
            <a:fillRect/>
          </a:stretch>
        </p:blipFill>
        <p:spPr>
          <a:xfrm>
            <a:off x="8233349" y="4117149"/>
            <a:ext cx="134549" cy="195707"/>
          </a:xfrm>
          <a:prstGeom prst="rect">
            <a:avLst/>
          </a:prstGeom>
        </p:spPr>
      </p:pic>
      <p:sp>
        <p:nvSpPr>
          <p:cNvPr id="29" name="TextBox 28"/>
          <p:cNvSpPr txBox="1"/>
          <p:nvPr/>
        </p:nvSpPr>
        <p:spPr>
          <a:xfrm>
            <a:off x="8408458"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9803601" y="4117149"/>
            <a:ext cx="134549" cy="195707"/>
          </a:xfrm>
          <a:prstGeom prst="rect">
            <a:avLst/>
          </a:prstGeom>
        </p:spPr>
      </p:pic>
      <p:sp>
        <p:nvSpPr>
          <p:cNvPr id="31" name="TextBox 30"/>
          <p:cNvSpPr txBox="1"/>
          <p:nvPr/>
        </p:nvSpPr>
        <p:spPr>
          <a:xfrm>
            <a:off x="9978710" y="4127372"/>
            <a:ext cx="1464816" cy="194310"/>
          </a:xfrm>
          <a:prstGeom prst="rect">
            <a:avLst/>
          </a:prstGeom>
          <a:noFill/>
        </p:spPr>
        <p:txBody>
          <a:bodyPr wrap="none" lIns="0" rIns="0" tIns="0" bIns="0">
            <a:spAutoFit/>
          </a:bodyPr>
          <a:lstStyle/>
          <a:p>
            <a:r>
              <a:rPr sz="1150" b="0">
                <a:solidFill>
                  <a:srgbClr val="2E2E2E"/>
                </a:solidFill>
                <a:latin typeface="Calibri"/>
              </a:rPr>
              <a:t>share by 2036. The oral</a:t>
            </a:r>
          </a:p>
        </p:txBody>
      </p:sp>
      <p:sp>
        <p:nvSpPr>
          <p:cNvPr id="32" name="TextBox 31"/>
          <p:cNvSpPr txBox="1"/>
          <p:nvPr/>
        </p:nvSpPr>
        <p:spPr>
          <a:xfrm>
            <a:off x="276225" y="4302632"/>
            <a:ext cx="3044837" cy="194310"/>
          </a:xfrm>
          <a:prstGeom prst="rect">
            <a:avLst/>
          </a:prstGeom>
          <a:noFill/>
        </p:spPr>
        <p:txBody>
          <a:bodyPr wrap="none" lIns="0" rIns="0" tIns="0" bIns="0">
            <a:spAutoFit/>
          </a:bodyPr>
          <a:lstStyle/>
          <a:p>
            <a:r>
              <a:rPr sz="1150" b="0">
                <a:solidFill>
                  <a:srgbClr val="2E2E2E"/>
                </a:solidFill>
                <a:latin typeface="Calibri"/>
              </a:rPr>
              <a:t>immunotherapy (OIT) segment is expected to lose</a:t>
            </a:r>
          </a:p>
        </p:txBody>
      </p:sp>
      <p:pic>
        <p:nvPicPr>
          <p:cNvPr id="33" name="Picture 32" descr="lock.png"/>
          <p:cNvPicPr>
            <a:picLocks noChangeAspect="1"/>
          </p:cNvPicPr>
          <p:nvPr/>
        </p:nvPicPr>
        <p:blipFill>
          <a:blip r:embed="rId4"/>
          <a:stretch>
            <a:fillRect/>
          </a:stretch>
        </p:blipFill>
        <p:spPr>
          <a:xfrm>
            <a:off x="3270216" y="4292409"/>
            <a:ext cx="134549" cy="195707"/>
          </a:xfrm>
          <a:prstGeom prst="rect">
            <a:avLst/>
          </a:prstGeom>
        </p:spPr>
      </p:pic>
      <p:sp>
        <p:nvSpPr>
          <p:cNvPr id="34" name="TextBox 33"/>
          <p:cNvSpPr txBox="1"/>
          <p:nvPr/>
        </p:nvSpPr>
        <p:spPr>
          <a:xfrm>
            <a:off x="3445325"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6032830" y="4292409"/>
            <a:ext cx="134549" cy="195707"/>
          </a:xfrm>
          <a:prstGeom prst="rect">
            <a:avLst/>
          </a:prstGeom>
        </p:spPr>
      </p:pic>
      <p:sp>
        <p:nvSpPr>
          <p:cNvPr id="36" name="TextBox 35"/>
          <p:cNvSpPr txBox="1"/>
          <p:nvPr/>
        </p:nvSpPr>
        <p:spPr>
          <a:xfrm>
            <a:off x="6207939"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Therapy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Therapy Format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Therapy Format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812084"/>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180732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73112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Oral Immunotherapy</a:t>
            </a:r>
          </a:p>
        </p:txBody>
      </p:sp>
      <p:sp>
        <p:nvSpPr>
          <p:cNvPr id="19" name="BPS Value 1"/>
          <p:cNvSpPr txBox="1"/>
          <p:nvPr/>
        </p:nvSpPr>
        <p:spPr>
          <a:xfrm>
            <a:off x="6896100" y="179303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90498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90022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8240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Subcutaneous Immunotherapy</a:t>
            </a:r>
          </a:p>
        </p:txBody>
      </p:sp>
      <p:sp>
        <p:nvSpPr>
          <p:cNvPr id="23" name="BPS Value 2"/>
          <p:cNvSpPr txBox="1"/>
          <p:nvPr/>
        </p:nvSpPr>
        <p:spPr>
          <a:xfrm>
            <a:off x="6896100" y="288593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928997" y="505035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504558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49693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Sublingual Immunotherapy</a:t>
            </a:r>
          </a:p>
        </p:txBody>
      </p:sp>
      <p:sp>
        <p:nvSpPr>
          <p:cNvPr id="27" name="BPS Value 3"/>
          <p:cNvSpPr txBox="1"/>
          <p:nvPr/>
        </p:nvSpPr>
        <p:spPr>
          <a:xfrm>
            <a:off x="6896100" y="503130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Therapy Format</a:t>
            </a:r>
          </a:p>
        </p:txBody>
      </p:sp>
      <p:sp>
        <p:nvSpPr>
          <p:cNvPr id="30" name="Rectangle 29"/>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5"/>
          <a:stretch>
            <a:fillRect/>
          </a:stretch>
        </p:blipFill>
        <p:spPr>
          <a:xfrm>
            <a:off x="2557843" y="3833622"/>
            <a:ext cx="275034" cy="400050"/>
          </a:xfrm>
          <a:prstGeom prst="rect">
            <a:avLst/>
          </a:prstGeom>
        </p:spPr>
      </p:pic>
      <p:sp>
        <p:nvSpPr>
          <p:cNvPr id="34" name="TextBox 33"/>
          <p:cNvSpPr txBox="1"/>
          <p:nvPr/>
        </p:nvSpPr>
        <p:spPr>
          <a:xfrm>
            <a:off x="7829550" y="1400175"/>
            <a:ext cx="3707767" cy="194310"/>
          </a:xfrm>
          <a:prstGeom prst="rect">
            <a:avLst/>
          </a:prstGeom>
          <a:noFill/>
        </p:spPr>
        <p:txBody>
          <a:bodyPr wrap="none" lIns="0" rIns="0" tIns="0" bIns="0">
            <a:spAutoFit/>
          </a:bodyPr>
          <a:lstStyle/>
          <a:p>
            <a:r>
              <a:rPr sz="1150" b="0">
                <a:solidFill>
                  <a:srgbClr val="2E2E2E"/>
                </a:solidFill>
                <a:latin typeface="Calibri"/>
              </a:rPr>
              <a:t>Among allergy immunotherapy by therapy format, sublingual</a:t>
            </a:r>
          </a:p>
        </p:txBody>
      </p:sp>
      <p:sp>
        <p:nvSpPr>
          <p:cNvPr id="35" name="TextBox 34"/>
          <p:cNvSpPr txBox="1"/>
          <p:nvPr/>
        </p:nvSpPr>
        <p:spPr>
          <a:xfrm>
            <a:off x="7829550" y="1575435"/>
            <a:ext cx="3986175" cy="194310"/>
          </a:xfrm>
          <a:prstGeom prst="rect">
            <a:avLst/>
          </a:prstGeom>
          <a:noFill/>
        </p:spPr>
        <p:txBody>
          <a:bodyPr wrap="none" lIns="0" rIns="0" tIns="0" bIns="0">
            <a:spAutoFit/>
          </a:bodyPr>
          <a:lstStyle/>
          <a:p>
            <a:r>
              <a:rPr sz="1150" b="0">
                <a:solidFill>
                  <a:srgbClr val="2E2E2E"/>
                </a:solidFill>
                <a:latin typeface="Calibri"/>
              </a:rPr>
              <a:t>immunotherapy (SLIT) segment is expected to witness the highest</a:t>
            </a:r>
          </a:p>
        </p:txBody>
      </p:sp>
      <p:sp>
        <p:nvSpPr>
          <p:cNvPr id="36" name="TextBox 35"/>
          <p:cNvSpPr txBox="1"/>
          <p:nvPr/>
        </p:nvSpPr>
        <p:spPr>
          <a:xfrm>
            <a:off x="7829550" y="175069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37" name="Picture 36" descr="lock.png"/>
          <p:cNvPicPr>
            <a:picLocks noChangeAspect="1"/>
          </p:cNvPicPr>
          <p:nvPr/>
        </p:nvPicPr>
        <p:blipFill>
          <a:blip r:embed="rId5"/>
          <a:stretch>
            <a:fillRect/>
          </a:stretch>
        </p:blipFill>
        <p:spPr>
          <a:xfrm>
            <a:off x="8343240" y="1740471"/>
            <a:ext cx="134549" cy="195707"/>
          </a:xfrm>
          <a:prstGeom prst="rect">
            <a:avLst/>
          </a:prstGeom>
        </p:spPr>
      </p:pic>
      <p:sp>
        <p:nvSpPr>
          <p:cNvPr id="38" name="TextBox 37"/>
          <p:cNvSpPr txBox="1"/>
          <p:nvPr/>
        </p:nvSpPr>
        <p:spPr>
          <a:xfrm>
            <a:off x="8518350" y="175069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39" name="TextBox 38"/>
          <p:cNvSpPr txBox="1"/>
          <p:nvPr/>
        </p:nvSpPr>
        <p:spPr>
          <a:xfrm>
            <a:off x="7829550" y="1925955"/>
            <a:ext cx="3906304" cy="194310"/>
          </a:xfrm>
          <a:prstGeom prst="rect">
            <a:avLst/>
          </a:prstGeom>
          <a:noFill/>
        </p:spPr>
        <p:txBody>
          <a:bodyPr wrap="none" lIns="0" rIns="0" tIns="0" bIns="0">
            <a:spAutoFit/>
          </a:bodyPr>
          <a:lstStyle/>
          <a:p>
            <a:r>
              <a:rPr sz="1150" b="0">
                <a:solidFill>
                  <a:srgbClr val="2E2E2E"/>
                </a:solidFill>
                <a:latin typeface="Calibri"/>
              </a:rPr>
              <a:t>therapy format, the sublingual immunotherapy (SLIT) segment is</a:t>
            </a:r>
          </a:p>
        </p:txBody>
      </p:sp>
      <p:sp>
        <p:nvSpPr>
          <p:cNvPr id="40" name="TextBox 39"/>
          <p:cNvSpPr txBox="1"/>
          <p:nvPr/>
        </p:nvSpPr>
        <p:spPr>
          <a:xfrm>
            <a:off x="7829550" y="2101215"/>
            <a:ext cx="2575309" cy="194310"/>
          </a:xfrm>
          <a:prstGeom prst="rect">
            <a:avLst/>
          </a:prstGeom>
          <a:noFill/>
        </p:spPr>
        <p:txBody>
          <a:bodyPr wrap="none" lIns="0" rIns="0" tIns="0" bIns="0">
            <a:spAutoFit/>
          </a:bodyPr>
          <a:lstStyle/>
          <a:p>
            <a:r>
              <a:rPr sz="1150" b="0">
                <a:solidFill>
                  <a:srgbClr val="2E2E2E"/>
                </a:solidFill>
                <a:latin typeface="Calibri"/>
              </a:rPr>
              <a:t>expected to dominate the market, gaining</a:t>
            </a:r>
          </a:p>
        </p:txBody>
      </p:sp>
      <p:pic>
        <p:nvPicPr>
          <p:cNvPr id="41" name="Picture 40" descr="lock.png"/>
          <p:cNvPicPr>
            <a:picLocks noChangeAspect="1"/>
          </p:cNvPicPr>
          <p:nvPr/>
        </p:nvPicPr>
        <p:blipFill>
          <a:blip r:embed="rId5"/>
          <a:stretch>
            <a:fillRect/>
          </a:stretch>
        </p:blipFill>
        <p:spPr>
          <a:xfrm>
            <a:off x="10354013" y="2090991"/>
            <a:ext cx="134549" cy="195707"/>
          </a:xfrm>
          <a:prstGeom prst="rect">
            <a:avLst/>
          </a:prstGeom>
        </p:spPr>
      </p:pic>
      <p:sp>
        <p:nvSpPr>
          <p:cNvPr id="42" name="TextBox 41"/>
          <p:cNvSpPr txBox="1"/>
          <p:nvPr/>
        </p:nvSpPr>
        <p:spPr>
          <a:xfrm>
            <a:off x="10529122" y="210121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43" name="TextBox 42"/>
          <p:cNvSpPr txBox="1"/>
          <p:nvPr/>
        </p:nvSpPr>
        <p:spPr>
          <a:xfrm>
            <a:off x="7829550" y="227647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44" name="Picture 43" descr="lock.png"/>
          <p:cNvPicPr>
            <a:picLocks noChangeAspect="1"/>
          </p:cNvPicPr>
          <p:nvPr/>
        </p:nvPicPr>
        <p:blipFill>
          <a:blip r:embed="rId5"/>
          <a:stretch>
            <a:fillRect/>
          </a:stretch>
        </p:blipFill>
        <p:spPr>
          <a:xfrm>
            <a:off x="8027482" y="2266251"/>
            <a:ext cx="134549" cy="195707"/>
          </a:xfrm>
          <a:prstGeom prst="rect">
            <a:avLst/>
          </a:prstGeom>
        </p:spPr>
      </p:pic>
      <p:sp>
        <p:nvSpPr>
          <p:cNvPr id="45" name="TextBox 44"/>
          <p:cNvSpPr txBox="1"/>
          <p:nvPr/>
        </p:nvSpPr>
        <p:spPr>
          <a:xfrm>
            <a:off x="8202591"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6" name="TextBox 45"/>
          <p:cNvSpPr txBox="1"/>
          <p:nvPr/>
        </p:nvSpPr>
        <p:spPr>
          <a:xfrm>
            <a:off x="7829550" y="2504313"/>
            <a:ext cx="3563429" cy="194310"/>
          </a:xfrm>
          <a:prstGeom prst="rect">
            <a:avLst/>
          </a:prstGeom>
          <a:noFill/>
        </p:spPr>
        <p:txBody>
          <a:bodyPr wrap="none" lIns="0" rIns="0" tIns="0" bIns="0">
            <a:spAutoFit/>
          </a:bodyPr>
          <a:lstStyle/>
          <a:p>
            <a:r>
              <a:rPr sz="1150" b="0">
                <a:solidFill>
                  <a:srgbClr val="2E2E2E"/>
                </a:solidFill>
                <a:latin typeface="Calibri"/>
              </a:rPr>
              <a:t>The oral immunotherapy (OIT) segment is expected to lose</a:t>
            </a:r>
          </a:p>
        </p:txBody>
      </p:sp>
      <p:pic>
        <p:nvPicPr>
          <p:cNvPr id="47" name="Picture 46" descr="lock.png"/>
          <p:cNvPicPr>
            <a:picLocks noChangeAspect="1"/>
          </p:cNvPicPr>
          <p:nvPr/>
        </p:nvPicPr>
        <p:blipFill>
          <a:blip r:embed="rId5"/>
          <a:stretch>
            <a:fillRect/>
          </a:stretch>
        </p:blipFill>
        <p:spPr>
          <a:xfrm>
            <a:off x="11342132" y="2494089"/>
            <a:ext cx="134549" cy="195707"/>
          </a:xfrm>
          <a:prstGeom prst="rect">
            <a:avLst/>
          </a:prstGeom>
        </p:spPr>
      </p:pic>
      <p:sp>
        <p:nvSpPr>
          <p:cNvPr id="48" name="TextBox 47"/>
          <p:cNvSpPr txBox="1"/>
          <p:nvPr/>
        </p:nvSpPr>
        <p:spPr>
          <a:xfrm>
            <a:off x="11517242" y="250431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49" name="TextBox 48"/>
          <p:cNvSpPr txBox="1"/>
          <p:nvPr/>
        </p:nvSpPr>
        <p:spPr>
          <a:xfrm>
            <a:off x="7829550" y="267957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0" name="Picture 49" descr="lock.png"/>
          <p:cNvPicPr>
            <a:picLocks noChangeAspect="1"/>
          </p:cNvPicPr>
          <p:nvPr/>
        </p:nvPicPr>
        <p:blipFill>
          <a:blip r:embed="rId5"/>
          <a:stretch>
            <a:fillRect/>
          </a:stretch>
        </p:blipFill>
        <p:spPr>
          <a:xfrm>
            <a:off x="10161752" y="2669349"/>
            <a:ext cx="134549" cy="195707"/>
          </a:xfrm>
          <a:prstGeom prst="rect">
            <a:avLst/>
          </a:prstGeom>
        </p:spPr>
      </p:pic>
      <p:sp>
        <p:nvSpPr>
          <p:cNvPr id="51" name="TextBox 50"/>
          <p:cNvSpPr txBox="1"/>
          <p:nvPr/>
        </p:nvSpPr>
        <p:spPr>
          <a:xfrm>
            <a:off x="10336861"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Allergen Class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Allergen Class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Allergen Class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Allergen Class,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Allergen Class segment categorizes the market by allergen class.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Inhalant Allergens</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Food Allergens</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Venom Allergens</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Allergen Class split shows how demand is distributed across allergen class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465_9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1_037_605E5C.png"/>
          <p:cNvPicPr>
            <a:picLocks noChangeAspect="1"/>
          </p:cNvPicPr>
          <p:nvPr/>
        </p:nvPicPr>
        <p:blipFill>
          <a:blip r:embed="rId5"/>
          <a:stretch>
            <a:fillRect/>
          </a:stretch>
        </p:blipFill>
        <p:spPr>
          <a:xfrm>
            <a:off x="2897811" y="2779432"/>
            <a:ext cx="1195728" cy="361950"/>
          </a:xfrm>
          <a:prstGeom prst="rect">
            <a:avLst/>
          </a:prstGeom>
        </p:spPr>
      </p:pic>
      <p:pic>
        <p:nvPicPr>
          <p:cNvPr id="59" name="Picture 58" descr="8_3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187_0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335_9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6_0__605E5C.png"/>
          <p:cNvPicPr>
            <a:picLocks noChangeAspect="1"/>
          </p:cNvPicPr>
          <p:nvPr/>
        </p:nvPicPr>
        <p:blipFill>
          <a:blip r:embed="rId9"/>
          <a:stretch>
            <a:fillRect/>
          </a:stretch>
        </p:blipFill>
        <p:spPr>
          <a:xfrm>
            <a:off x="6376307" y="3272281"/>
            <a:ext cx="982436" cy="361950"/>
          </a:xfrm>
          <a:prstGeom prst="rect">
            <a:avLst/>
          </a:prstGeom>
        </p:spPr>
      </p:pic>
      <p:pic>
        <p:nvPicPr>
          <p:cNvPr id="63" name="Picture 62" descr="148_2_605E5C.png"/>
          <p:cNvPicPr>
            <a:picLocks noChangeAspect="1"/>
          </p:cNvPicPr>
          <p:nvPr/>
        </p:nvPicPr>
        <p:blipFill>
          <a:blip r:embed="rId10"/>
          <a:stretch>
            <a:fillRect/>
          </a:stretch>
        </p:blipFill>
        <p:spPr>
          <a:xfrm>
            <a:off x="9641511" y="2286582"/>
            <a:ext cx="1195728" cy="361950"/>
          </a:xfrm>
          <a:prstGeom prst="rect">
            <a:avLst/>
          </a:prstGeom>
        </p:spPr>
      </p:pic>
      <p:pic>
        <p:nvPicPr>
          <p:cNvPr id="64" name="Picture 63" descr="273_2_605E5C.png"/>
          <p:cNvPicPr>
            <a:picLocks noChangeAspect="1"/>
          </p:cNvPicPr>
          <p:nvPr/>
        </p:nvPicPr>
        <p:blipFill>
          <a:blip r:embed="rId11"/>
          <a:stretch>
            <a:fillRect/>
          </a:stretch>
        </p:blipFill>
        <p:spPr>
          <a:xfrm>
            <a:off x="9641511" y="2779432"/>
            <a:ext cx="1195728" cy="361950"/>
          </a:xfrm>
          <a:prstGeom prst="rect">
            <a:avLst/>
          </a:prstGeom>
        </p:spPr>
      </p:pic>
      <p:pic>
        <p:nvPicPr>
          <p:cNvPr id="65" name="Picture 64" descr="6_3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833910" cy="186689"/>
          </a:xfrm>
          <a:prstGeom prst="rect">
            <a:avLst/>
          </a:prstGeom>
          <a:noFill/>
        </p:spPr>
        <p:txBody>
          <a:bodyPr wrap="none" lIns="0" rIns="0" tIns="0" bIns="0">
            <a:spAutoFit/>
          </a:bodyPr>
          <a:lstStyle/>
          <a:p>
            <a:r>
              <a:rPr sz="1100" b="0">
                <a:solidFill>
                  <a:srgbClr val="2E2E2E"/>
                </a:solidFill>
                <a:latin typeface="Calibri"/>
              </a:rPr>
              <a:t>Among allergy immunotherapy by allergen class,</a:t>
            </a:r>
          </a:p>
        </p:txBody>
      </p:sp>
      <p:sp>
        <p:nvSpPr>
          <p:cNvPr id="70" name="TextBox 69"/>
          <p:cNvSpPr txBox="1"/>
          <p:nvPr/>
        </p:nvSpPr>
        <p:spPr>
          <a:xfrm>
            <a:off x="485775" y="4397077"/>
            <a:ext cx="2896393" cy="186689"/>
          </a:xfrm>
          <a:prstGeom prst="rect">
            <a:avLst/>
          </a:prstGeom>
          <a:noFill/>
        </p:spPr>
        <p:txBody>
          <a:bodyPr wrap="none" lIns="0" rIns="0" tIns="0" bIns="0">
            <a:spAutoFit/>
          </a:bodyPr>
          <a:lstStyle/>
          <a:p>
            <a:r>
              <a:rPr sz="1100" b="0">
                <a:solidFill>
                  <a:srgbClr val="2E2E2E"/>
                </a:solidFill>
                <a:latin typeface="Calibri"/>
              </a:rPr>
              <a:t>inhalant allergens segment is expected to witness</a:t>
            </a:r>
          </a:p>
        </p:txBody>
      </p:sp>
      <p:sp>
        <p:nvSpPr>
          <p:cNvPr id="71" name="TextBox 70"/>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72" name="Picture 71" descr="lock.png"/>
          <p:cNvPicPr>
            <a:picLocks noChangeAspect="1"/>
          </p:cNvPicPr>
          <p:nvPr/>
        </p:nvPicPr>
        <p:blipFill>
          <a:blip r:embed="rId13"/>
          <a:stretch>
            <a:fillRect/>
          </a:stretch>
        </p:blipFill>
        <p:spPr>
          <a:xfrm>
            <a:off x="1646163" y="4554938"/>
            <a:ext cx="128699" cy="187198"/>
          </a:xfrm>
          <a:prstGeom prst="rect">
            <a:avLst/>
          </a:prstGeom>
        </p:spPr>
      </p:pic>
      <p:sp>
        <p:nvSpPr>
          <p:cNvPr id="73" name="TextBox 72"/>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74" name="TextBox 73"/>
          <p:cNvSpPr txBox="1"/>
          <p:nvPr/>
        </p:nvSpPr>
        <p:spPr>
          <a:xfrm>
            <a:off x="485775" y="4732357"/>
            <a:ext cx="2591345" cy="186689"/>
          </a:xfrm>
          <a:prstGeom prst="rect">
            <a:avLst/>
          </a:prstGeom>
          <a:noFill/>
        </p:spPr>
        <p:txBody>
          <a:bodyPr wrap="none" lIns="0" rIns="0" tIns="0" bIns="0">
            <a:spAutoFit/>
          </a:bodyPr>
          <a:lstStyle/>
          <a:p>
            <a:r>
              <a:rPr sz="1100" b="0">
                <a:solidFill>
                  <a:srgbClr val="2E2E2E"/>
                </a:solidFill>
                <a:latin typeface="Calibri"/>
              </a:rPr>
              <a:t>In terms of value share by allergen class, the</a:t>
            </a:r>
          </a:p>
        </p:txBody>
      </p:sp>
      <p:sp>
        <p:nvSpPr>
          <p:cNvPr id="75" name="TextBox 74"/>
          <p:cNvSpPr txBox="1"/>
          <p:nvPr/>
        </p:nvSpPr>
        <p:spPr>
          <a:xfrm>
            <a:off x="485775" y="4899997"/>
            <a:ext cx="2433637" cy="186689"/>
          </a:xfrm>
          <a:prstGeom prst="rect">
            <a:avLst/>
          </a:prstGeom>
          <a:noFill/>
        </p:spPr>
        <p:txBody>
          <a:bodyPr wrap="none" lIns="0" rIns="0" tIns="0" bIns="0">
            <a:spAutoFit/>
          </a:bodyPr>
          <a:lstStyle/>
          <a:p>
            <a:r>
              <a:rPr sz="1100" b="0">
                <a:solidFill>
                  <a:srgbClr val="2E2E2E"/>
                </a:solidFill>
                <a:latin typeface="Calibri"/>
              </a:rPr>
              <a:t>inhalant allergens segment is expected to</a:t>
            </a:r>
          </a:p>
        </p:txBody>
      </p:sp>
      <p:sp>
        <p:nvSpPr>
          <p:cNvPr id="76" name="TextBox 75"/>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77" name="Picture 76" descr="lock.png"/>
          <p:cNvPicPr>
            <a:picLocks noChangeAspect="1"/>
          </p:cNvPicPr>
          <p:nvPr/>
        </p:nvPicPr>
        <p:blipFill>
          <a:blip r:embed="rId13"/>
          <a:stretch>
            <a:fillRect/>
          </a:stretch>
        </p:blipFill>
        <p:spPr>
          <a:xfrm>
            <a:off x="2194339" y="5057858"/>
            <a:ext cx="128699" cy="187198"/>
          </a:xfrm>
          <a:prstGeom prst="rect">
            <a:avLst/>
          </a:prstGeom>
        </p:spPr>
      </p:pic>
      <p:sp>
        <p:nvSpPr>
          <p:cNvPr id="78" name="TextBox 77"/>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79" name="TextBox 78"/>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80" name="Picture 79" descr="lock.png"/>
          <p:cNvPicPr>
            <a:picLocks noChangeAspect="1"/>
          </p:cNvPicPr>
          <p:nvPr/>
        </p:nvPicPr>
        <p:blipFill>
          <a:blip r:embed="rId13"/>
          <a:stretch>
            <a:fillRect/>
          </a:stretch>
        </p:blipFill>
        <p:spPr>
          <a:xfrm>
            <a:off x="1330764" y="5225498"/>
            <a:ext cx="128699" cy="187198"/>
          </a:xfrm>
          <a:prstGeom prst="rect">
            <a:avLst/>
          </a:prstGeom>
        </p:spPr>
      </p:pic>
      <p:sp>
        <p:nvSpPr>
          <p:cNvPr id="81" name="TextBox 80"/>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2" name="TextBox 81"/>
          <p:cNvSpPr txBox="1"/>
          <p:nvPr/>
        </p:nvSpPr>
        <p:spPr>
          <a:xfrm>
            <a:off x="485775" y="5453209"/>
            <a:ext cx="2914650" cy="186689"/>
          </a:xfrm>
          <a:prstGeom prst="rect">
            <a:avLst/>
          </a:prstGeom>
          <a:noFill/>
        </p:spPr>
        <p:txBody>
          <a:bodyPr wrap="none" lIns="0" rIns="0" tIns="0" bIns="0">
            <a:spAutoFit/>
          </a:bodyPr>
          <a:lstStyle/>
          <a:p>
            <a:r>
              <a:rPr sz="1100" b="0">
                <a:solidFill>
                  <a:srgbClr val="2E2E2E"/>
                </a:solidFill>
                <a:latin typeface="Calibri"/>
              </a:rPr>
              <a:t>Inhalant allergens segment is projected to register</a:t>
            </a:r>
          </a:p>
        </p:txBody>
      </p:sp>
      <p:pic>
        <p:nvPicPr>
          <p:cNvPr id="83" name="Picture 82" descr="lock.png"/>
          <p:cNvPicPr>
            <a:picLocks noChangeAspect="1"/>
          </p:cNvPicPr>
          <p:nvPr/>
        </p:nvPicPr>
        <p:blipFill>
          <a:blip r:embed="rId13"/>
          <a:stretch>
            <a:fillRect/>
          </a:stretch>
        </p:blipFill>
        <p:spPr>
          <a:xfrm>
            <a:off x="472307" y="5611070"/>
            <a:ext cx="128699" cy="187198"/>
          </a:xfrm>
          <a:prstGeom prst="rect">
            <a:avLst/>
          </a:prstGeom>
        </p:spPr>
      </p:pic>
      <p:sp>
        <p:nvSpPr>
          <p:cNvPr id="84" name="TextBox 83"/>
          <p:cNvSpPr txBox="1"/>
          <p:nvPr/>
        </p:nvSpPr>
        <p:spPr>
          <a:xfrm>
            <a:off x="639803" y="5620849"/>
            <a:ext cx="2672382" cy="186689"/>
          </a:xfrm>
          <a:prstGeom prst="rect">
            <a:avLst/>
          </a:prstGeom>
          <a:noFill/>
        </p:spPr>
        <p:txBody>
          <a:bodyPr wrap="none" lIns="0" rIns="0" tIns="0" bIns="0">
            <a:spAutoFit/>
          </a:bodyPr>
          <a:lstStyle/>
          <a:p>
            <a:r>
              <a:rPr sz="1100" b="0">
                <a:solidFill>
                  <a:srgbClr val="2E2E2E"/>
                </a:solidFill>
                <a:latin typeface="Calibri"/>
              </a:rPr>
              <a:t>X higher value than food allergens segment in</a:t>
            </a:r>
          </a:p>
        </p:txBody>
      </p:sp>
      <p:sp>
        <p:nvSpPr>
          <p:cNvPr id="85" name="TextBox 84"/>
          <p:cNvSpPr txBox="1"/>
          <p:nvPr/>
        </p:nvSpPr>
        <p:spPr>
          <a:xfrm>
            <a:off x="485775" y="578848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86" name="TextBox 85"/>
          <p:cNvSpPr txBox="1"/>
          <p:nvPr/>
        </p:nvSpPr>
        <p:spPr>
          <a:xfrm>
            <a:off x="3838575" y="4229437"/>
            <a:ext cx="1256283" cy="186689"/>
          </a:xfrm>
          <a:prstGeom prst="rect">
            <a:avLst/>
          </a:prstGeom>
          <a:noFill/>
        </p:spPr>
        <p:txBody>
          <a:bodyPr wrap="none" lIns="0" rIns="0" tIns="0" bIns="0">
            <a:spAutoFit/>
          </a:bodyPr>
          <a:lstStyle/>
          <a:p>
            <a:r>
              <a:rPr sz="1100" b="0">
                <a:solidFill>
                  <a:srgbClr val="2E2E2E"/>
                </a:solidFill>
                <a:latin typeface="Calibri"/>
              </a:rPr>
              <a:t>● Inhalant Allergens:</a:t>
            </a:r>
          </a:p>
        </p:txBody>
      </p:sp>
      <p:pic>
        <p:nvPicPr>
          <p:cNvPr id="87" name="Picture 86" descr="lock.png"/>
          <p:cNvPicPr>
            <a:picLocks noChangeAspect="1"/>
          </p:cNvPicPr>
          <p:nvPr/>
        </p:nvPicPr>
        <p:blipFill>
          <a:blip r:embed="rId13"/>
          <a:stretch>
            <a:fillRect/>
          </a:stretch>
        </p:blipFill>
        <p:spPr>
          <a:xfrm>
            <a:off x="5042909" y="4219658"/>
            <a:ext cx="128699" cy="187198"/>
          </a:xfrm>
          <a:prstGeom prst="rect">
            <a:avLst/>
          </a:prstGeom>
        </p:spPr>
      </p:pic>
      <p:sp>
        <p:nvSpPr>
          <p:cNvPr id="88" name="TextBox 87"/>
          <p:cNvSpPr txBox="1"/>
          <p:nvPr/>
        </p:nvSpPr>
        <p:spPr>
          <a:xfrm>
            <a:off x="521040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9" name="Picture 88" descr="lock.png"/>
          <p:cNvPicPr>
            <a:picLocks noChangeAspect="1"/>
          </p:cNvPicPr>
          <p:nvPr/>
        </p:nvPicPr>
        <p:blipFill>
          <a:blip r:embed="rId13"/>
          <a:stretch>
            <a:fillRect/>
          </a:stretch>
        </p:blipFill>
        <p:spPr>
          <a:xfrm>
            <a:off x="6069855" y="4219658"/>
            <a:ext cx="128699" cy="187198"/>
          </a:xfrm>
          <a:prstGeom prst="rect">
            <a:avLst/>
          </a:prstGeom>
        </p:spPr>
      </p:pic>
      <p:sp>
        <p:nvSpPr>
          <p:cNvPr id="90" name="TextBox 89"/>
          <p:cNvSpPr txBox="1"/>
          <p:nvPr/>
        </p:nvSpPr>
        <p:spPr>
          <a:xfrm>
            <a:off x="6237351"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91" name="TextBox 90"/>
          <p:cNvSpPr txBox="1"/>
          <p:nvPr/>
        </p:nvSpPr>
        <p:spPr>
          <a:xfrm>
            <a:off x="3838575" y="4447369"/>
            <a:ext cx="1072896" cy="186689"/>
          </a:xfrm>
          <a:prstGeom prst="rect">
            <a:avLst/>
          </a:prstGeom>
          <a:noFill/>
        </p:spPr>
        <p:txBody>
          <a:bodyPr wrap="none" lIns="0" rIns="0" tIns="0" bIns="0">
            <a:spAutoFit/>
          </a:bodyPr>
          <a:lstStyle/>
          <a:p>
            <a:r>
              <a:rPr sz="1100" b="0">
                <a:solidFill>
                  <a:srgbClr val="2E2E2E"/>
                </a:solidFill>
                <a:latin typeface="Calibri"/>
              </a:rPr>
              <a:t>● Food Allergens:</a:t>
            </a:r>
          </a:p>
        </p:txBody>
      </p:sp>
      <p:pic>
        <p:nvPicPr>
          <p:cNvPr id="92" name="Picture 91" descr="lock.png"/>
          <p:cNvPicPr>
            <a:picLocks noChangeAspect="1"/>
          </p:cNvPicPr>
          <p:nvPr/>
        </p:nvPicPr>
        <p:blipFill>
          <a:blip r:embed="rId13"/>
          <a:stretch>
            <a:fillRect/>
          </a:stretch>
        </p:blipFill>
        <p:spPr>
          <a:xfrm>
            <a:off x="4859523" y="4437590"/>
            <a:ext cx="128699" cy="187198"/>
          </a:xfrm>
          <a:prstGeom prst="rect">
            <a:avLst/>
          </a:prstGeom>
        </p:spPr>
      </p:pic>
      <p:sp>
        <p:nvSpPr>
          <p:cNvPr id="93" name="TextBox 92"/>
          <p:cNvSpPr txBox="1"/>
          <p:nvPr/>
        </p:nvSpPr>
        <p:spPr>
          <a:xfrm>
            <a:off x="502701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4" name="Picture 93" descr="lock.png"/>
          <p:cNvPicPr>
            <a:picLocks noChangeAspect="1"/>
          </p:cNvPicPr>
          <p:nvPr/>
        </p:nvPicPr>
        <p:blipFill>
          <a:blip r:embed="rId13"/>
          <a:stretch>
            <a:fillRect/>
          </a:stretch>
        </p:blipFill>
        <p:spPr>
          <a:xfrm>
            <a:off x="5886469" y="4437590"/>
            <a:ext cx="128699" cy="187198"/>
          </a:xfrm>
          <a:prstGeom prst="rect">
            <a:avLst/>
          </a:prstGeom>
        </p:spPr>
      </p:pic>
      <p:sp>
        <p:nvSpPr>
          <p:cNvPr id="95" name="TextBox 94"/>
          <p:cNvSpPr txBox="1"/>
          <p:nvPr/>
        </p:nvSpPr>
        <p:spPr>
          <a:xfrm>
            <a:off x="6053965"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96" name="TextBox 95"/>
          <p:cNvSpPr txBox="1"/>
          <p:nvPr/>
        </p:nvSpPr>
        <p:spPr>
          <a:xfrm>
            <a:off x="3838575" y="4665301"/>
            <a:ext cx="1195709" cy="186689"/>
          </a:xfrm>
          <a:prstGeom prst="rect">
            <a:avLst/>
          </a:prstGeom>
          <a:noFill/>
        </p:spPr>
        <p:txBody>
          <a:bodyPr wrap="none" lIns="0" rIns="0" tIns="0" bIns="0">
            <a:spAutoFit/>
          </a:bodyPr>
          <a:lstStyle/>
          <a:p>
            <a:r>
              <a:rPr sz="1100" b="0">
                <a:solidFill>
                  <a:srgbClr val="2E2E2E"/>
                </a:solidFill>
                <a:latin typeface="Calibri"/>
              </a:rPr>
              <a:t>● Venom Allergens:</a:t>
            </a:r>
          </a:p>
        </p:txBody>
      </p:sp>
      <p:pic>
        <p:nvPicPr>
          <p:cNvPr id="97" name="Picture 96" descr="lock.png"/>
          <p:cNvPicPr>
            <a:picLocks noChangeAspect="1"/>
          </p:cNvPicPr>
          <p:nvPr/>
        </p:nvPicPr>
        <p:blipFill>
          <a:blip r:embed="rId13"/>
          <a:stretch>
            <a:fillRect/>
          </a:stretch>
        </p:blipFill>
        <p:spPr>
          <a:xfrm>
            <a:off x="4982336" y="4655522"/>
            <a:ext cx="128699" cy="187198"/>
          </a:xfrm>
          <a:prstGeom prst="rect">
            <a:avLst/>
          </a:prstGeom>
        </p:spPr>
      </p:pic>
      <p:sp>
        <p:nvSpPr>
          <p:cNvPr id="98" name="TextBox 97"/>
          <p:cNvSpPr txBox="1"/>
          <p:nvPr/>
        </p:nvSpPr>
        <p:spPr>
          <a:xfrm>
            <a:off x="5149832"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9" name="Picture 98" descr="lock.png"/>
          <p:cNvPicPr>
            <a:picLocks noChangeAspect="1"/>
          </p:cNvPicPr>
          <p:nvPr/>
        </p:nvPicPr>
        <p:blipFill>
          <a:blip r:embed="rId13"/>
          <a:stretch>
            <a:fillRect/>
          </a:stretch>
        </p:blipFill>
        <p:spPr>
          <a:xfrm>
            <a:off x="6009282" y="4655522"/>
            <a:ext cx="128699" cy="187198"/>
          </a:xfrm>
          <a:prstGeom prst="rect">
            <a:avLst/>
          </a:prstGeom>
        </p:spPr>
      </p:pic>
      <p:sp>
        <p:nvSpPr>
          <p:cNvPr id="100" name="TextBox 99"/>
          <p:cNvSpPr txBox="1"/>
          <p:nvPr/>
        </p:nvSpPr>
        <p:spPr>
          <a:xfrm>
            <a:off x="6176778"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1" name="TextBox 100"/>
          <p:cNvSpPr txBox="1"/>
          <p:nvPr/>
        </p:nvSpPr>
        <p:spPr>
          <a:xfrm>
            <a:off x="8524875" y="5842641"/>
            <a:ext cx="3135833" cy="194310"/>
          </a:xfrm>
          <a:prstGeom prst="rect">
            <a:avLst/>
          </a:prstGeom>
          <a:noFill/>
        </p:spPr>
        <p:txBody>
          <a:bodyPr wrap="none" lIns="0" rIns="0" tIns="0" bIns="0">
            <a:spAutoFit/>
          </a:bodyPr>
          <a:lstStyle/>
          <a:p>
            <a:r>
              <a:rPr sz="1150" b="1">
                <a:solidFill>
                  <a:srgbClr val="0B2E4A"/>
                </a:solidFill>
                <a:latin typeface="Calibri"/>
              </a:rPr>
              <a:t>The Allergen Class segment is projected to grow at</a:t>
            </a:r>
          </a:p>
        </p:txBody>
      </p:sp>
      <p:sp>
        <p:nvSpPr>
          <p:cNvPr id="102" name="TextBox 101"/>
          <p:cNvSpPr txBox="1"/>
          <p:nvPr/>
        </p:nvSpPr>
        <p:spPr>
          <a:xfrm>
            <a:off x="8524875" y="6017901"/>
            <a:ext cx="680055" cy="194310"/>
          </a:xfrm>
          <a:prstGeom prst="rect">
            <a:avLst/>
          </a:prstGeom>
          <a:noFill/>
        </p:spPr>
        <p:txBody>
          <a:bodyPr wrap="none" lIns="0" rIns="0" tIns="0" bIns="0">
            <a:spAutoFit/>
          </a:bodyPr>
          <a:lstStyle/>
          <a:p>
            <a:r>
              <a:rPr sz="1150" b="1">
                <a:solidFill>
                  <a:srgbClr val="0B2E4A"/>
                </a:solidFill>
                <a:latin typeface="Calibri"/>
              </a:rPr>
              <a:t>a CAGR of</a:t>
            </a:r>
          </a:p>
        </p:txBody>
      </p:sp>
      <p:pic>
        <p:nvPicPr>
          <p:cNvPr id="103" name="Picture 102" descr="lock.png"/>
          <p:cNvPicPr>
            <a:picLocks noChangeAspect="1"/>
          </p:cNvPicPr>
          <p:nvPr/>
        </p:nvPicPr>
        <p:blipFill>
          <a:blip r:embed="rId13"/>
          <a:stretch>
            <a:fillRect/>
          </a:stretch>
        </p:blipFill>
        <p:spPr>
          <a:xfrm>
            <a:off x="9154084" y="6007677"/>
            <a:ext cx="134549" cy="195707"/>
          </a:xfrm>
          <a:prstGeom prst="rect">
            <a:avLst/>
          </a:prstGeom>
        </p:spPr>
      </p:pic>
      <p:sp>
        <p:nvSpPr>
          <p:cNvPr id="104" name="TextBox 103"/>
          <p:cNvSpPr txBox="1"/>
          <p:nvPr/>
        </p:nvSpPr>
        <p:spPr>
          <a:xfrm>
            <a:off x="9329193"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Allergen Class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Allergen Class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Allergen Class mix within each country (share of 2036 value) · row label = country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Allergen Class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471845" cy="186689"/>
          </a:xfrm>
          <a:prstGeom prst="rect">
            <a:avLst/>
          </a:prstGeom>
          <a:noFill/>
        </p:spPr>
        <p:txBody>
          <a:bodyPr wrap="none" lIns="0" rIns="0" tIns="0" bIns="0">
            <a:spAutoFit/>
          </a:bodyPr>
          <a:lstStyle/>
          <a:p>
            <a:r>
              <a:rPr sz="1100" b="0">
                <a:solidFill>
                  <a:srgbClr val="2E2E2E"/>
                </a:solidFill>
                <a:latin typeface="Calibri"/>
              </a:rPr>
              <a:t>Inhalant allergens followed by food allergens are expected to be the two most attractive allergen class segments in the North America allergy immunotherapy market in terms of value over the forecast</a:t>
            </a:r>
          </a:p>
        </p:txBody>
      </p:sp>
      <p:sp>
        <p:nvSpPr>
          <p:cNvPr id="21" name="TextBox 20"/>
          <p:cNvSpPr txBox="1"/>
          <p:nvPr/>
        </p:nvSpPr>
        <p:spPr>
          <a:xfrm>
            <a:off x="257175" y="5861685"/>
            <a:ext cx="3969774" cy="186689"/>
          </a:xfrm>
          <a:prstGeom prst="rect">
            <a:avLst/>
          </a:prstGeom>
          <a:noFill/>
        </p:spPr>
        <p:txBody>
          <a:bodyPr wrap="none" lIns="0" rIns="0" tIns="0" bIns="0">
            <a:spAutoFit/>
          </a:bodyPr>
          <a:lstStyle/>
          <a:p>
            <a:r>
              <a:rPr sz="1100" b="0">
                <a:solidFill>
                  <a:srgbClr val="2E2E2E"/>
                </a:solidFill>
                <a:latin typeface="Calibri"/>
              </a:rPr>
              <a:t>period. Inhalant allergens and food allergens exhibit a CAGR index of</a:t>
            </a:r>
          </a:p>
        </p:txBody>
      </p:sp>
      <p:pic>
        <p:nvPicPr>
          <p:cNvPr id="22" name="Picture 21" descr="lock.png"/>
          <p:cNvPicPr>
            <a:picLocks noChangeAspect="1"/>
          </p:cNvPicPr>
          <p:nvPr/>
        </p:nvPicPr>
        <p:blipFill>
          <a:blip r:embed="rId6"/>
          <a:stretch>
            <a:fillRect/>
          </a:stretch>
        </p:blipFill>
        <p:spPr>
          <a:xfrm>
            <a:off x="4175001" y="5851905"/>
            <a:ext cx="128699" cy="187198"/>
          </a:xfrm>
          <a:prstGeom prst="rect">
            <a:avLst/>
          </a:prstGeom>
        </p:spPr>
      </p:pic>
      <p:sp>
        <p:nvSpPr>
          <p:cNvPr id="23" name="TextBox 22"/>
          <p:cNvSpPr txBox="1"/>
          <p:nvPr/>
        </p:nvSpPr>
        <p:spPr>
          <a:xfrm>
            <a:off x="434249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4580391" y="5851905"/>
            <a:ext cx="128699" cy="187198"/>
          </a:xfrm>
          <a:prstGeom prst="rect">
            <a:avLst/>
          </a:prstGeom>
        </p:spPr>
      </p:pic>
      <p:sp>
        <p:nvSpPr>
          <p:cNvPr id="25" name="TextBox 24"/>
          <p:cNvSpPr txBox="1"/>
          <p:nvPr/>
        </p:nvSpPr>
        <p:spPr>
          <a:xfrm>
            <a:off x="4747887"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6356860" y="5851905"/>
            <a:ext cx="128699" cy="187198"/>
          </a:xfrm>
          <a:prstGeom prst="rect">
            <a:avLst/>
          </a:prstGeom>
        </p:spPr>
      </p:pic>
      <p:sp>
        <p:nvSpPr>
          <p:cNvPr id="27" name="TextBox 26"/>
          <p:cNvSpPr txBox="1"/>
          <p:nvPr/>
        </p:nvSpPr>
        <p:spPr>
          <a:xfrm>
            <a:off x="652435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6762251" y="5851905"/>
            <a:ext cx="128699" cy="187198"/>
          </a:xfrm>
          <a:prstGeom prst="rect">
            <a:avLst/>
          </a:prstGeom>
        </p:spPr>
      </p:pic>
      <p:sp>
        <p:nvSpPr>
          <p:cNvPr id="29" name="TextBox 28"/>
          <p:cNvSpPr txBox="1"/>
          <p:nvPr/>
        </p:nvSpPr>
        <p:spPr>
          <a:xfrm>
            <a:off x="6929746"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9484150" y="5851905"/>
            <a:ext cx="128699" cy="187198"/>
          </a:xfrm>
          <a:prstGeom prst="rect">
            <a:avLst/>
          </a:prstGeom>
        </p:spPr>
      </p:pic>
      <p:sp>
        <p:nvSpPr>
          <p:cNvPr id="31" name="TextBox 30"/>
          <p:cNvSpPr txBox="1"/>
          <p:nvPr/>
        </p:nvSpPr>
        <p:spPr>
          <a:xfrm>
            <a:off x="9651646" y="5861685"/>
            <a:ext cx="1321767" cy="186689"/>
          </a:xfrm>
          <a:prstGeom prst="rect">
            <a:avLst/>
          </a:prstGeom>
          <a:noFill/>
        </p:spPr>
        <p:txBody>
          <a:bodyPr wrap="none" lIns="0" rIns="0" tIns="0" bIns="0">
            <a:spAutoFit/>
          </a:bodyPr>
          <a:lstStyle/>
          <a:p>
            <a:r>
              <a:rPr sz="1100" b="0">
                <a:solidFill>
                  <a:srgbClr val="2E2E2E"/>
                </a:solidFill>
                <a:latin typeface="Calibri"/>
              </a:rPr>
              <a:t>. The venom allergens</a:t>
            </a:r>
          </a:p>
        </p:txBody>
      </p:sp>
      <p:sp>
        <p:nvSpPr>
          <p:cNvPr id="32" name="TextBox 31"/>
          <p:cNvSpPr txBox="1"/>
          <p:nvPr/>
        </p:nvSpPr>
        <p:spPr>
          <a:xfrm>
            <a:off x="257175" y="6029325"/>
            <a:ext cx="11549028" cy="186689"/>
          </a:xfrm>
          <a:prstGeom prst="rect">
            <a:avLst/>
          </a:prstGeom>
          <a:noFill/>
        </p:spPr>
        <p:txBody>
          <a:bodyPr wrap="none" lIns="0" rIns="0" tIns="0" bIns="0">
            <a:spAutoFit/>
          </a:bodyPr>
          <a:lstStyle/>
          <a:p>
            <a:r>
              <a:rPr sz="1100" b="0">
                <a:solidFill>
                  <a:srgbClr val="2E2E2E"/>
                </a:solidFill>
                <a:latin typeface="Calibri"/>
              </a:rPr>
              <a:t>segment is expected to be less attractive as compared to other segments over the forecast period, owing to its lower CAGR and incremental opportunity. Bubbles right of the CAGR-Index line grow faster</a:t>
            </a:r>
          </a:p>
        </p:txBody>
      </p:sp>
      <p:sp>
        <p:nvSpPr>
          <p:cNvPr id="33" name="TextBox 32"/>
          <p:cNvSpPr txBox="1"/>
          <p:nvPr/>
        </p:nvSpPr>
        <p:spPr>
          <a:xfrm>
            <a:off x="257175" y="6196965"/>
            <a:ext cx="1598711" cy="186689"/>
          </a:xfrm>
          <a:prstGeom prst="rect">
            <a:avLst/>
          </a:prstGeom>
          <a:noFill/>
        </p:spPr>
        <p:txBody>
          <a:bodyPr wrap="none" lIns="0" rIns="0" tIns="0" bIns="0">
            <a:spAutoFit/>
          </a:bodyPr>
          <a:lstStyle/>
          <a:p>
            <a:r>
              <a:rPr sz="1100" b="0">
                <a:solidFill>
                  <a:srgbClr val="2E2E2E"/>
                </a:solidFill>
                <a:latin typeface="Calibri"/>
              </a:rPr>
              <a:t>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Allergen Class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Allergen Class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Inhalant Allergens</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Venom Allergens</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Food Allergens</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Allergen Class</a:t>
            </a:r>
          </a:p>
        </p:txBody>
      </p:sp>
      <p:sp>
        <p:nvSpPr>
          <p:cNvPr id="22" name="Rectangle 21"/>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3100230"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9129555" y="2330679"/>
            <a:ext cx="252890" cy="367840"/>
          </a:xfrm>
          <a:prstGeom prst="rect">
            <a:avLst/>
          </a:prstGeom>
        </p:spPr>
      </p:pic>
      <p:pic>
        <p:nvPicPr>
          <p:cNvPr id="27" name="Picture 26" descr="lock.png"/>
          <p:cNvPicPr>
            <a:picLocks noChangeAspect="1"/>
          </p:cNvPicPr>
          <p:nvPr/>
        </p:nvPicPr>
        <p:blipFill>
          <a:blip r:embed="rId7"/>
          <a:stretch>
            <a:fillRect/>
          </a:stretch>
        </p:blipFill>
        <p:spPr>
          <a:xfrm>
            <a:off x="3100230" y="5216754"/>
            <a:ext cx="252890" cy="367840"/>
          </a:xfrm>
          <a:prstGeom prst="rect">
            <a:avLst/>
          </a:prstGeom>
        </p:spPr>
      </p:pic>
      <p:sp>
        <p:nvSpPr>
          <p:cNvPr id="28" name="TextBox 27"/>
          <p:cNvSpPr txBox="1"/>
          <p:nvPr/>
        </p:nvSpPr>
        <p:spPr>
          <a:xfrm>
            <a:off x="6305550" y="4484320"/>
            <a:ext cx="4556946" cy="194310"/>
          </a:xfrm>
          <a:prstGeom prst="rect">
            <a:avLst/>
          </a:prstGeom>
          <a:noFill/>
        </p:spPr>
        <p:txBody>
          <a:bodyPr wrap="none" lIns="0" rIns="0" tIns="0" bIns="0">
            <a:spAutoFit/>
          </a:bodyPr>
          <a:lstStyle/>
          <a:p>
            <a:r>
              <a:rPr sz="1150" b="0">
                <a:solidFill>
                  <a:srgbClr val="2E2E2E"/>
                </a:solidFill>
                <a:latin typeface="Calibri"/>
              </a:rPr>
              <a:t>By 2036, inhalant allergens segment is anticipated to witness an increase of</a:t>
            </a:r>
          </a:p>
        </p:txBody>
      </p:sp>
      <p:pic>
        <p:nvPicPr>
          <p:cNvPr id="29" name="Picture 28" descr="lock.png"/>
          <p:cNvPicPr>
            <a:picLocks noChangeAspect="1"/>
          </p:cNvPicPr>
          <p:nvPr/>
        </p:nvPicPr>
        <p:blipFill>
          <a:blip r:embed="rId7"/>
          <a:stretch>
            <a:fillRect/>
          </a:stretch>
        </p:blipFill>
        <p:spPr>
          <a:xfrm>
            <a:off x="10811650" y="4474096"/>
            <a:ext cx="134549" cy="195707"/>
          </a:xfrm>
          <a:prstGeom prst="rect">
            <a:avLst/>
          </a:prstGeom>
        </p:spPr>
      </p:pic>
      <p:sp>
        <p:nvSpPr>
          <p:cNvPr id="30" name="TextBox 29"/>
          <p:cNvSpPr txBox="1"/>
          <p:nvPr/>
        </p:nvSpPr>
        <p:spPr>
          <a:xfrm>
            <a:off x="10986759" y="4484320"/>
            <a:ext cx="829840" cy="194310"/>
          </a:xfrm>
          <a:prstGeom prst="rect">
            <a:avLst/>
          </a:prstGeom>
          <a:noFill/>
        </p:spPr>
        <p:txBody>
          <a:bodyPr wrap="none" lIns="0" rIns="0" tIns="0" bIns="0">
            <a:spAutoFit/>
          </a:bodyPr>
          <a:lstStyle/>
          <a:p>
            <a:r>
              <a:rPr sz="1150" b="0">
                <a:solidFill>
                  <a:srgbClr val="2E2E2E"/>
                </a:solidFill>
                <a:latin typeface="Calibri"/>
              </a:rPr>
              <a:t>X in terms of</a:t>
            </a:r>
          </a:p>
        </p:txBody>
      </p:sp>
      <p:sp>
        <p:nvSpPr>
          <p:cNvPr id="31" name="TextBox 30"/>
          <p:cNvSpPr txBox="1"/>
          <p:nvPr/>
        </p:nvSpPr>
        <p:spPr>
          <a:xfrm>
            <a:off x="6305550" y="4659580"/>
            <a:ext cx="5058444" cy="194310"/>
          </a:xfrm>
          <a:prstGeom prst="rect">
            <a:avLst/>
          </a:prstGeom>
          <a:noFill/>
        </p:spPr>
        <p:txBody>
          <a:bodyPr wrap="none" lIns="0" rIns="0" tIns="0" bIns="0">
            <a:spAutoFit/>
          </a:bodyPr>
          <a:lstStyle/>
          <a:p>
            <a:r>
              <a:rPr sz="1150" b="0">
                <a:solidFill>
                  <a:srgbClr val="2E2E2E"/>
                </a:solidFill>
                <a:latin typeface="Calibri"/>
              </a:rPr>
              <a:t>value as compared to 2026. The inhalant allergens segment is expected to create an</a:t>
            </a:r>
          </a:p>
        </p:txBody>
      </p:sp>
      <p:sp>
        <p:nvSpPr>
          <p:cNvPr id="32" name="TextBox 31"/>
          <p:cNvSpPr txBox="1"/>
          <p:nvPr/>
        </p:nvSpPr>
        <p:spPr>
          <a:xfrm>
            <a:off x="6305550" y="4834840"/>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33" name="Picture 32" descr="lock.png"/>
          <p:cNvPicPr>
            <a:picLocks noChangeAspect="1"/>
          </p:cNvPicPr>
          <p:nvPr/>
        </p:nvPicPr>
        <p:blipFill>
          <a:blip r:embed="rId7"/>
          <a:stretch>
            <a:fillRect/>
          </a:stretch>
        </p:blipFill>
        <p:spPr>
          <a:xfrm>
            <a:off x="8211582" y="4824616"/>
            <a:ext cx="134549" cy="195707"/>
          </a:xfrm>
          <a:prstGeom prst="rect">
            <a:avLst/>
          </a:prstGeom>
        </p:spPr>
      </p:pic>
      <p:sp>
        <p:nvSpPr>
          <p:cNvPr id="34" name="TextBox 33"/>
          <p:cNvSpPr txBox="1"/>
          <p:nvPr/>
        </p:nvSpPr>
        <p:spPr>
          <a:xfrm>
            <a:off x="8386692" y="4834840"/>
            <a:ext cx="3355478"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a:t>
            </a:r>
          </a:p>
        </p:txBody>
      </p:sp>
      <p:sp>
        <p:nvSpPr>
          <p:cNvPr id="35" name="TextBox 34"/>
          <p:cNvSpPr txBox="1"/>
          <p:nvPr/>
        </p:nvSpPr>
        <p:spPr>
          <a:xfrm>
            <a:off x="6305550" y="5010100"/>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36" name="TextBox 35"/>
          <p:cNvSpPr txBox="1"/>
          <p:nvPr/>
        </p:nvSpPr>
        <p:spPr>
          <a:xfrm>
            <a:off x="6305550" y="5237938"/>
            <a:ext cx="5087540" cy="194310"/>
          </a:xfrm>
          <a:prstGeom prst="rect">
            <a:avLst/>
          </a:prstGeom>
          <a:noFill/>
        </p:spPr>
        <p:txBody>
          <a:bodyPr wrap="none" lIns="0" rIns="0" tIns="0" bIns="0">
            <a:spAutoFit/>
          </a:bodyPr>
          <a:lstStyle/>
          <a:p>
            <a:r>
              <a:rPr sz="1150" b="0">
                <a:solidFill>
                  <a:srgbClr val="2E2E2E"/>
                </a:solidFill>
                <a:latin typeface="Calibri"/>
              </a:rPr>
              <a:t>The food allergens segment is expected to create an incremental opportunity of US$</a:t>
            </a:r>
          </a:p>
        </p:txBody>
      </p:sp>
      <p:pic>
        <p:nvPicPr>
          <p:cNvPr id="37" name="Picture 36" descr="lock.png"/>
          <p:cNvPicPr>
            <a:picLocks noChangeAspect="1"/>
          </p:cNvPicPr>
          <p:nvPr/>
        </p:nvPicPr>
        <p:blipFill>
          <a:blip r:embed="rId7"/>
          <a:stretch>
            <a:fillRect/>
          </a:stretch>
        </p:blipFill>
        <p:spPr>
          <a:xfrm>
            <a:off x="11342244" y="5227714"/>
            <a:ext cx="134549" cy="195707"/>
          </a:xfrm>
          <a:prstGeom prst="rect">
            <a:avLst/>
          </a:prstGeom>
        </p:spPr>
      </p:pic>
      <p:sp>
        <p:nvSpPr>
          <p:cNvPr id="38" name="TextBox 37"/>
          <p:cNvSpPr txBox="1"/>
          <p:nvPr/>
        </p:nvSpPr>
        <p:spPr>
          <a:xfrm>
            <a:off x="11517353" y="5237938"/>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9" name="TextBox 38"/>
          <p:cNvSpPr txBox="1"/>
          <p:nvPr/>
        </p:nvSpPr>
        <p:spPr>
          <a:xfrm>
            <a:off x="6305550" y="5413197"/>
            <a:ext cx="5241577" cy="194310"/>
          </a:xfrm>
          <a:prstGeom prst="rect">
            <a:avLst/>
          </a:prstGeom>
          <a:noFill/>
        </p:spPr>
        <p:txBody>
          <a:bodyPr wrap="none" lIns="0" rIns="0" tIns="0" bIns="0">
            <a:spAutoFit/>
          </a:bodyPr>
          <a:lstStyle/>
          <a:p>
            <a:r>
              <a:rPr sz="1150" b="0">
                <a:solidFill>
                  <a:srgbClr val="2E2E2E"/>
                </a:solidFill>
                <a:latin typeface="Calibri"/>
              </a:rPr>
              <a:t>for the overall allergy immunotherapy market from 2026 to 2036. The venom allergens</a:t>
            </a:r>
          </a:p>
        </p:txBody>
      </p:sp>
      <p:sp>
        <p:nvSpPr>
          <p:cNvPr id="40" name="TextBox 39"/>
          <p:cNvSpPr txBox="1"/>
          <p:nvPr/>
        </p:nvSpPr>
        <p:spPr>
          <a:xfrm>
            <a:off x="6305550" y="5588457"/>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41" name="Picture 40" descr="lock.png"/>
          <p:cNvPicPr>
            <a:picLocks noChangeAspect="1"/>
          </p:cNvPicPr>
          <p:nvPr/>
        </p:nvPicPr>
        <p:blipFill>
          <a:blip r:embed="rId7"/>
          <a:stretch>
            <a:fillRect/>
          </a:stretch>
        </p:blipFill>
        <p:spPr>
          <a:xfrm>
            <a:off x="10210642" y="5578234"/>
            <a:ext cx="134549" cy="195707"/>
          </a:xfrm>
          <a:prstGeom prst="rect">
            <a:avLst/>
          </a:prstGeom>
        </p:spPr>
      </p:pic>
      <p:sp>
        <p:nvSpPr>
          <p:cNvPr id="42" name="TextBox 41"/>
          <p:cNvSpPr txBox="1"/>
          <p:nvPr/>
        </p:nvSpPr>
        <p:spPr>
          <a:xfrm>
            <a:off x="10385751" y="5588457"/>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43" name="TextBox 42"/>
          <p:cNvSpPr txBox="1"/>
          <p:nvPr/>
        </p:nvSpPr>
        <p:spPr>
          <a:xfrm>
            <a:off x="6305550" y="5763717"/>
            <a:ext cx="3101888" cy="194310"/>
          </a:xfrm>
          <a:prstGeom prst="rect">
            <a:avLst/>
          </a:prstGeom>
          <a:noFill/>
        </p:spPr>
        <p:txBody>
          <a:bodyPr wrap="none" lIns="0" rIns="0" tIns="0" bIns="0">
            <a:spAutoFit/>
          </a:bodyPr>
          <a:lstStyle/>
          <a:p>
            <a:r>
              <a:rPr sz="1150" b="0">
                <a:solidFill>
                  <a:srgbClr val="2E2E2E"/>
                </a:solidFill>
                <a:latin typeface="Calibri"/>
              </a:rPr>
              <a:t>allergy immunotherapy market from 2026 to 2036.</a:t>
            </a:r>
          </a:p>
        </p:txBody>
      </p:sp>
      <p:sp>
        <p:nvSpPr>
          <p:cNvPr id="44"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Allergen Class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Allergen Class,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3933825"/>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Allergen Class (US$ Mn)</a:t>
            </a:r>
          </a:p>
        </p:txBody>
      </p:sp>
      <p:graphicFrame>
        <p:nvGraphicFramePr>
          <p:cNvPr id="13" name="Table 12"/>
          <p:cNvGraphicFramePr>
            <a:graphicFrameLocks noGrp="1"/>
          </p:cNvGraphicFramePr>
          <p:nvPr/>
        </p:nvGraphicFramePr>
        <p:xfrm>
          <a:off x="152400" y="1238250"/>
          <a:ext cx="11923999" cy="3505200"/>
        </p:xfrm>
        <a:graphic>
          <a:graphicData uri="http://schemas.openxmlformats.org/drawingml/2006/table">
            <a:tbl>
              <a:tblPr>
                <a:tableStyleId>{5C22544A-7EE6-4342-B048-85BDC9FD1C3A}</a:tableStyleId>
              </a:tblPr>
              <a:tblGrid>
                <a:gridCol w="2496457"/>
                <a:gridCol w="552397"/>
                <a:gridCol w="552397"/>
                <a:gridCol w="552397"/>
                <a:gridCol w="552397"/>
                <a:gridCol w="552397"/>
                <a:gridCol w="552397"/>
                <a:gridCol w="552397"/>
                <a:gridCol w="552397"/>
                <a:gridCol w="552397"/>
                <a:gridCol w="552397"/>
                <a:gridCol w="552397"/>
                <a:gridCol w="552397"/>
                <a:gridCol w="552397"/>
                <a:gridCol w="552397"/>
                <a:gridCol w="552397"/>
                <a:gridCol w="552397"/>
                <a:gridCol w="589190"/>
              </a:tblGrid>
              <a:tr h="219075">
                <a:tc>
                  <a:txBody>
                    <a:bodyPr wrap="none"/>
                    <a:lstStyle/>
                    <a:p>
                      <a:pPr algn="l"/>
                      <a:r>
                        <a:rPr sz="1100" b="1">
                          <a:solidFill>
                            <a:srgbClr val="0B2E4A"/>
                          </a:solidFill>
                          <a:latin typeface="Calibri"/>
                        </a:rPr>
                        <a:t>Allergen Class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19075">
                <a:tc>
                  <a:txBody>
                    <a:bodyPr wrap="none"/>
                    <a:lstStyle/>
                    <a:p>
                      <a:pPr algn="l"/>
                      <a:r>
                        <a:rPr sz="1100" b="1">
                          <a:solidFill>
                            <a:srgbClr val="2E2E2E"/>
                          </a:solidFill>
                          <a:latin typeface="Calibri"/>
                        </a:rPr>
                        <a:t>Inhalant Allergens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Grass Pollen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Tree Pollen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Weed &amp; Ragweed Pollen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House Dust Mite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Animal Dander / Epithelia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Mold &amp; Fungal Allergens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Venom Allergens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Honeybee Venom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Wasp / Yellow Jacket / Hornet Venom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Mixed Vespid Venom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Food Allergens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Peanut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Other Food Allergens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762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6844794" y="2724150"/>
            <a:ext cx="366712" cy="533400"/>
          </a:xfrm>
          <a:prstGeom prst="rect">
            <a:avLst/>
          </a:prstGeom>
        </p:spPr>
      </p:pic>
      <p:sp>
        <p:nvSpPr>
          <p:cNvPr id="14" name="Rounded Rectangle 13"/>
          <p:cNvSpPr/>
          <p:nvPr/>
        </p:nvSpPr>
        <p:spPr>
          <a:xfrm>
            <a:off x="142875" y="5010150"/>
            <a:ext cx="11906250" cy="1619250"/>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0958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Allergen Class</a:t>
            </a:r>
          </a:p>
        </p:txBody>
      </p:sp>
      <p:sp>
        <p:nvSpPr>
          <p:cNvPr id="16" name="Rectangle 15"/>
          <p:cNvSpPr/>
          <p:nvPr/>
        </p:nvSpPr>
        <p:spPr>
          <a:xfrm>
            <a:off x="276225" y="53340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419725"/>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276225" y="5429250"/>
            <a:ext cx="3060241" cy="194310"/>
          </a:xfrm>
          <a:prstGeom prst="rect">
            <a:avLst/>
          </a:prstGeom>
          <a:noFill/>
        </p:spPr>
        <p:txBody>
          <a:bodyPr wrap="none" lIns="0" rIns="0" tIns="0" bIns="0">
            <a:spAutoFit/>
          </a:bodyPr>
          <a:lstStyle/>
          <a:p>
            <a:r>
              <a:rPr sz="1150" b="0">
                <a:solidFill>
                  <a:srgbClr val="2E2E2E"/>
                </a:solidFill>
                <a:latin typeface="Calibri"/>
              </a:rPr>
              <a:t>Inhalant allergens segment is projected to register</a:t>
            </a:r>
          </a:p>
        </p:txBody>
      </p:sp>
      <p:pic>
        <p:nvPicPr>
          <p:cNvPr id="21" name="Picture 20" descr="image.png"/>
          <p:cNvPicPr>
            <a:picLocks noChangeAspect="1"/>
          </p:cNvPicPr>
          <p:nvPr/>
        </p:nvPicPr>
        <p:blipFill>
          <a:blip r:embed="rId4"/>
          <a:stretch>
            <a:fillRect/>
          </a:stretch>
        </p:blipFill>
        <p:spPr>
          <a:xfrm>
            <a:off x="3285620" y="5419026"/>
            <a:ext cx="134549" cy="195707"/>
          </a:xfrm>
          <a:prstGeom prst="rect">
            <a:avLst/>
          </a:prstGeom>
        </p:spPr>
      </p:pic>
      <p:sp>
        <p:nvSpPr>
          <p:cNvPr id="22" name="TextBox 21"/>
          <p:cNvSpPr txBox="1"/>
          <p:nvPr/>
        </p:nvSpPr>
        <p:spPr>
          <a:xfrm>
            <a:off x="3460729" y="5429250"/>
            <a:ext cx="8411604" cy="194310"/>
          </a:xfrm>
          <a:prstGeom prst="rect">
            <a:avLst/>
          </a:prstGeom>
          <a:noFill/>
        </p:spPr>
        <p:txBody>
          <a:bodyPr wrap="none" lIns="0" rIns="0" tIns="0" bIns="0">
            <a:spAutoFit/>
          </a:bodyPr>
          <a:lstStyle/>
          <a:p>
            <a:r>
              <a:rPr sz="1150" b="0">
                <a:solidFill>
                  <a:srgbClr val="2E2E2E"/>
                </a:solidFill>
                <a:latin typeface="Calibri"/>
              </a:rPr>
              <a:t>X higher value than food allergens segment in 2036. Among allergy immunotherapy by allergen class, inhalant allergens segment is expected</a:t>
            </a:r>
          </a:p>
        </p:txBody>
      </p:sp>
      <p:sp>
        <p:nvSpPr>
          <p:cNvPr id="23" name="TextBox 22"/>
          <p:cNvSpPr txBox="1"/>
          <p:nvPr/>
        </p:nvSpPr>
        <p:spPr>
          <a:xfrm>
            <a:off x="276225" y="5604510"/>
            <a:ext cx="1906941" cy="194310"/>
          </a:xfrm>
          <a:prstGeom prst="rect">
            <a:avLst/>
          </a:prstGeom>
          <a:noFill/>
        </p:spPr>
        <p:txBody>
          <a:bodyPr wrap="none" lIns="0" rIns="0" tIns="0" bIns="0">
            <a:spAutoFit/>
          </a:bodyPr>
          <a:lstStyle/>
          <a:p>
            <a:r>
              <a:rPr sz="1150" b="0">
                <a:solidFill>
                  <a:srgbClr val="2E2E2E"/>
                </a:solidFill>
                <a:latin typeface="Calibri"/>
              </a:rPr>
              <a:t>to witness the highest CAGR of</a:t>
            </a:r>
          </a:p>
        </p:txBody>
      </p:sp>
      <p:pic>
        <p:nvPicPr>
          <p:cNvPr id="24" name="Picture 23" descr="image.png"/>
          <p:cNvPicPr>
            <a:picLocks noChangeAspect="1"/>
          </p:cNvPicPr>
          <p:nvPr/>
        </p:nvPicPr>
        <p:blipFill>
          <a:blip r:embed="rId4"/>
          <a:stretch>
            <a:fillRect/>
          </a:stretch>
        </p:blipFill>
        <p:spPr>
          <a:xfrm>
            <a:off x="2132320" y="5594286"/>
            <a:ext cx="134549" cy="195707"/>
          </a:xfrm>
          <a:prstGeom prst="rect">
            <a:avLst/>
          </a:prstGeom>
        </p:spPr>
      </p:pic>
      <p:sp>
        <p:nvSpPr>
          <p:cNvPr id="25" name="TextBox 24"/>
          <p:cNvSpPr txBox="1"/>
          <p:nvPr/>
        </p:nvSpPr>
        <p:spPr>
          <a:xfrm>
            <a:off x="2307429" y="56045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832347"/>
            <a:ext cx="6997315" cy="194310"/>
          </a:xfrm>
          <a:prstGeom prst="rect">
            <a:avLst/>
          </a:prstGeom>
          <a:noFill/>
        </p:spPr>
        <p:txBody>
          <a:bodyPr wrap="none" lIns="0" rIns="0" tIns="0" bIns="0">
            <a:spAutoFit/>
          </a:bodyPr>
          <a:lstStyle/>
          <a:p>
            <a:r>
              <a:rPr sz="1150" b="0">
                <a:solidFill>
                  <a:srgbClr val="2E2E2E"/>
                </a:solidFill>
                <a:latin typeface="Calibri"/>
              </a:rPr>
              <a:t>In terms of value share by allergen class, the inhalant allergens segment is expected to dominate the market, gaining</a:t>
            </a:r>
          </a:p>
        </p:txBody>
      </p:sp>
      <p:pic>
        <p:nvPicPr>
          <p:cNvPr id="27" name="Picture 26" descr="image.png"/>
          <p:cNvPicPr>
            <a:picLocks noChangeAspect="1"/>
          </p:cNvPicPr>
          <p:nvPr/>
        </p:nvPicPr>
        <p:blipFill>
          <a:blip r:embed="rId4"/>
          <a:stretch>
            <a:fillRect/>
          </a:stretch>
        </p:blipFill>
        <p:spPr>
          <a:xfrm>
            <a:off x="7222694" y="5822124"/>
            <a:ext cx="134549" cy="195707"/>
          </a:xfrm>
          <a:prstGeom prst="rect">
            <a:avLst/>
          </a:prstGeom>
        </p:spPr>
      </p:pic>
      <p:sp>
        <p:nvSpPr>
          <p:cNvPr id="28" name="TextBox 27"/>
          <p:cNvSpPr txBox="1"/>
          <p:nvPr/>
        </p:nvSpPr>
        <p:spPr>
          <a:xfrm>
            <a:off x="7397803" y="58323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image.png"/>
          <p:cNvPicPr>
            <a:picLocks noChangeAspect="1"/>
          </p:cNvPicPr>
          <p:nvPr/>
        </p:nvPicPr>
        <p:blipFill>
          <a:blip r:embed="rId4"/>
          <a:stretch>
            <a:fillRect/>
          </a:stretch>
        </p:blipFill>
        <p:spPr>
          <a:xfrm>
            <a:off x="8792946" y="5822124"/>
            <a:ext cx="134549" cy="195707"/>
          </a:xfrm>
          <a:prstGeom prst="rect">
            <a:avLst/>
          </a:prstGeom>
        </p:spPr>
      </p:pic>
      <p:sp>
        <p:nvSpPr>
          <p:cNvPr id="30" name="TextBox 29"/>
          <p:cNvSpPr txBox="1"/>
          <p:nvPr/>
        </p:nvSpPr>
        <p:spPr>
          <a:xfrm>
            <a:off x="8968056" y="5832347"/>
            <a:ext cx="2748458" cy="194310"/>
          </a:xfrm>
          <a:prstGeom prst="rect">
            <a:avLst/>
          </a:prstGeom>
          <a:noFill/>
        </p:spPr>
        <p:txBody>
          <a:bodyPr wrap="none" lIns="0" rIns="0" tIns="0" bIns="0">
            <a:spAutoFit/>
          </a:bodyPr>
          <a:lstStyle/>
          <a:p>
            <a:r>
              <a:rPr sz="1150" b="0">
                <a:solidFill>
                  <a:srgbClr val="2E2E2E"/>
                </a:solidFill>
                <a:latin typeface="Calibri"/>
              </a:rPr>
              <a:t>share by 2036. The food allergens segment is</a:t>
            </a:r>
          </a:p>
        </p:txBody>
      </p:sp>
      <p:sp>
        <p:nvSpPr>
          <p:cNvPr id="31" name="TextBox 30"/>
          <p:cNvSpPr txBox="1"/>
          <p:nvPr/>
        </p:nvSpPr>
        <p:spPr>
          <a:xfrm>
            <a:off x="276225" y="6007607"/>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2" name="Picture 31" descr="image.png"/>
          <p:cNvPicPr>
            <a:picLocks noChangeAspect="1"/>
          </p:cNvPicPr>
          <p:nvPr/>
        </p:nvPicPr>
        <p:blipFill>
          <a:blip r:embed="rId4"/>
          <a:stretch>
            <a:fillRect/>
          </a:stretch>
        </p:blipFill>
        <p:spPr>
          <a:xfrm>
            <a:off x="1280285" y="5997384"/>
            <a:ext cx="134549" cy="195707"/>
          </a:xfrm>
          <a:prstGeom prst="rect">
            <a:avLst/>
          </a:prstGeom>
        </p:spPr>
      </p:pic>
      <p:sp>
        <p:nvSpPr>
          <p:cNvPr id="33" name="TextBox 32"/>
          <p:cNvSpPr txBox="1"/>
          <p:nvPr/>
        </p:nvSpPr>
        <p:spPr>
          <a:xfrm>
            <a:off x="1455394" y="60076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image.png"/>
          <p:cNvPicPr>
            <a:picLocks noChangeAspect="1"/>
          </p:cNvPicPr>
          <p:nvPr/>
        </p:nvPicPr>
        <p:blipFill>
          <a:blip r:embed="rId4"/>
          <a:stretch>
            <a:fillRect/>
          </a:stretch>
        </p:blipFill>
        <p:spPr>
          <a:xfrm>
            <a:off x="4042898" y="5997384"/>
            <a:ext cx="134549" cy="195707"/>
          </a:xfrm>
          <a:prstGeom prst="rect">
            <a:avLst/>
          </a:prstGeom>
        </p:spPr>
      </p:pic>
      <p:sp>
        <p:nvSpPr>
          <p:cNvPr id="35" name="TextBox 34"/>
          <p:cNvSpPr txBox="1"/>
          <p:nvPr/>
        </p:nvSpPr>
        <p:spPr>
          <a:xfrm>
            <a:off x="4218008" y="60076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Allergen Class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Allergen Class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Allergen Class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2050636"/>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04587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96967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Venom Allergens</a:t>
            </a:r>
          </a:p>
        </p:txBody>
      </p:sp>
      <p:sp>
        <p:nvSpPr>
          <p:cNvPr id="19" name="BPS Value 1"/>
          <p:cNvSpPr txBox="1"/>
          <p:nvPr/>
        </p:nvSpPr>
        <p:spPr>
          <a:xfrm>
            <a:off x="6896100" y="203158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89654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89178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81558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Food Allergens</a:t>
            </a:r>
          </a:p>
        </p:txBody>
      </p:sp>
      <p:sp>
        <p:nvSpPr>
          <p:cNvPr id="23" name="BPS Value 2"/>
          <p:cNvSpPr txBox="1"/>
          <p:nvPr/>
        </p:nvSpPr>
        <p:spPr>
          <a:xfrm>
            <a:off x="6896100" y="287749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480335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479859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472239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Inhalant Allergens</a:t>
            </a:r>
          </a:p>
        </p:txBody>
      </p:sp>
      <p:sp>
        <p:nvSpPr>
          <p:cNvPr id="27" name="BPS Value 3"/>
          <p:cNvSpPr txBox="1"/>
          <p:nvPr/>
        </p:nvSpPr>
        <p:spPr>
          <a:xfrm>
            <a:off x="6896100" y="478430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Allergen Class</a:t>
            </a:r>
          </a:p>
        </p:txBody>
      </p:sp>
      <p:sp>
        <p:nvSpPr>
          <p:cNvPr id="30" name="Rectangle 29"/>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5"/>
          <a:stretch>
            <a:fillRect/>
          </a:stretch>
        </p:blipFill>
        <p:spPr>
          <a:xfrm>
            <a:off x="2557843" y="3833622"/>
            <a:ext cx="275034" cy="400050"/>
          </a:xfrm>
          <a:prstGeom prst="rect">
            <a:avLst/>
          </a:prstGeom>
        </p:spPr>
      </p:pic>
      <p:sp>
        <p:nvSpPr>
          <p:cNvPr id="34" name="TextBox 33"/>
          <p:cNvSpPr txBox="1"/>
          <p:nvPr/>
        </p:nvSpPr>
        <p:spPr>
          <a:xfrm>
            <a:off x="7829550" y="1400175"/>
            <a:ext cx="4048075" cy="194310"/>
          </a:xfrm>
          <a:prstGeom prst="rect">
            <a:avLst/>
          </a:prstGeom>
          <a:noFill/>
        </p:spPr>
        <p:txBody>
          <a:bodyPr wrap="none" lIns="0" rIns="0" tIns="0" bIns="0">
            <a:spAutoFit/>
          </a:bodyPr>
          <a:lstStyle/>
          <a:p>
            <a:r>
              <a:rPr sz="1150" b="0">
                <a:solidFill>
                  <a:srgbClr val="2E2E2E"/>
                </a:solidFill>
                <a:latin typeface="Calibri"/>
              </a:rPr>
              <a:t>Among allergy immunotherapy by allergen class, inhalant allergens</a:t>
            </a:r>
          </a:p>
        </p:txBody>
      </p:sp>
      <p:sp>
        <p:nvSpPr>
          <p:cNvPr id="35" name="TextBox 34"/>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36" name="Picture 35" descr="lock.png"/>
          <p:cNvPicPr>
            <a:picLocks noChangeAspect="1"/>
          </p:cNvPicPr>
          <p:nvPr/>
        </p:nvPicPr>
        <p:blipFill>
          <a:blip r:embed="rId5"/>
          <a:stretch>
            <a:fillRect/>
          </a:stretch>
        </p:blipFill>
        <p:spPr>
          <a:xfrm>
            <a:off x="10935343" y="1565211"/>
            <a:ext cx="134549" cy="195707"/>
          </a:xfrm>
          <a:prstGeom prst="rect">
            <a:avLst/>
          </a:prstGeom>
        </p:spPr>
      </p:pic>
      <p:sp>
        <p:nvSpPr>
          <p:cNvPr id="37" name="TextBox 36"/>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8" name="TextBox 37"/>
          <p:cNvSpPr txBox="1"/>
          <p:nvPr/>
        </p:nvSpPr>
        <p:spPr>
          <a:xfrm>
            <a:off x="7829550" y="1750695"/>
            <a:ext cx="3679812" cy="194310"/>
          </a:xfrm>
          <a:prstGeom prst="rect">
            <a:avLst/>
          </a:prstGeom>
          <a:noFill/>
        </p:spPr>
        <p:txBody>
          <a:bodyPr wrap="none" lIns="0" rIns="0" tIns="0" bIns="0">
            <a:spAutoFit/>
          </a:bodyPr>
          <a:lstStyle/>
          <a:p>
            <a:r>
              <a:rPr sz="1150" b="0">
                <a:solidFill>
                  <a:srgbClr val="2E2E2E"/>
                </a:solidFill>
                <a:latin typeface="Calibri"/>
              </a:rPr>
              <a:t>forecast period. In terms of value share by allergen class, the</a:t>
            </a:r>
          </a:p>
        </p:txBody>
      </p:sp>
      <p:sp>
        <p:nvSpPr>
          <p:cNvPr id="39" name="TextBox 38"/>
          <p:cNvSpPr txBox="1"/>
          <p:nvPr/>
        </p:nvSpPr>
        <p:spPr>
          <a:xfrm>
            <a:off x="7829550" y="1925955"/>
            <a:ext cx="3873499" cy="194310"/>
          </a:xfrm>
          <a:prstGeom prst="rect">
            <a:avLst/>
          </a:prstGeom>
          <a:noFill/>
        </p:spPr>
        <p:txBody>
          <a:bodyPr wrap="none" lIns="0" rIns="0" tIns="0" bIns="0">
            <a:spAutoFit/>
          </a:bodyPr>
          <a:lstStyle/>
          <a:p>
            <a:r>
              <a:rPr sz="1150" b="0">
                <a:solidFill>
                  <a:srgbClr val="2E2E2E"/>
                </a:solidFill>
                <a:latin typeface="Calibri"/>
              </a:rPr>
              <a:t>inhalant allergens segment is expected to dominate the market,</a:t>
            </a:r>
          </a:p>
        </p:txBody>
      </p:sp>
      <p:sp>
        <p:nvSpPr>
          <p:cNvPr id="40" name="TextBox 39"/>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41" name="Picture 40" descr="lock.png"/>
          <p:cNvPicPr>
            <a:picLocks noChangeAspect="1"/>
          </p:cNvPicPr>
          <p:nvPr/>
        </p:nvPicPr>
        <p:blipFill>
          <a:blip r:embed="rId5"/>
          <a:stretch>
            <a:fillRect/>
          </a:stretch>
        </p:blipFill>
        <p:spPr>
          <a:xfrm>
            <a:off x="8283070" y="2090991"/>
            <a:ext cx="134549" cy="195707"/>
          </a:xfrm>
          <a:prstGeom prst="rect">
            <a:avLst/>
          </a:prstGeom>
        </p:spPr>
      </p:pic>
      <p:sp>
        <p:nvSpPr>
          <p:cNvPr id="42" name="TextBox 41"/>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3" name="Picture 42" descr="lock.png"/>
          <p:cNvPicPr>
            <a:picLocks noChangeAspect="1"/>
          </p:cNvPicPr>
          <p:nvPr/>
        </p:nvPicPr>
        <p:blipFill>
          <a:blip r:embed="rId5"/>
          <a:stretch>
            <a:fillRect/>
          </a:stretch>
        </p:blipFill>
        <p:spPr>
          <a:xfrm>
            <a:off x="9853322" y="2090991"/>
            <a:ext cx="134549" cy="195707"/>
          </a:xfrm>
          <a:prstGeom prst="rect">
            <a:avLst/>
          </a:prstGeom>
        </p:spPr>
      </p:pic>
      <p:sp>
        <p:nvSpPr>
          <p:cNvPr id="44" name="TextBox 43"/>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TextBox 44"/>
          <p:cNvSpPr txBox="1"/>
          <p:nvPr/>
        </p:nvSpPr>
        <p:spPr>
          <a:xfrm>
            <a:off x="7829550" y="2329053"/>
            <a:ext cx="2857140" cy="194310"/>
          </a:xfrm>
          <a:prstGeom prst="rect">
            <a:avLst/>
          </a:prstGeom>
          <a:noFill/>
        </p:spPr>
        <p:txBody>
          <a:bodyPr wrap="none" lIns="0" rIns="0" tIns="0" bIns="0">
            <a:spAutoFit/>
          </a:bodyPr>
          <a:lstStyle/>
          <a:p>
            <a:r>
              <a:rPr sz="1150" b="0">
                <a:solidFill>
                  <a:srgbClr val="2E2E2E"/>
                </a:solidFill>
                <a:latin typeface="Calibri"/>
              </a:rPr>
              <a:t>The food allergens segment is expected to lose</a:t>
            </a:r>
          </a:p>
        </p:txBody>
      </p:sp>
      <p:pic>
        <p:nvPicPr>
          <p:cNvPr id="46" name="Picture 45" descr="lock.png"/>
          <p:cNvPicPr>
            <a:picLocks noChangeAspect="1"/>
          </p:cNvPicPr>
          <p:nvPr/>
        </p:nvPicPr>
        <p:blipFill>
          <a:blip r:embed="rId5"/>
          <a:stretch>
            <a:fillRect/>
          </a:stretch>
        </p:blipFill>
        <p:spPr>
          <a:xfrm>
            <a:off x="10635844" y="2318829"/>
            <a:ext cx="134549" cy="195707"/>
          </a:xfrm>
          <a:prstGeom prst="rect">
            <a:avLst/>
          </a:prstGeom>
        </p:spPr>
      </p:pic>
      <p:sp>
        <p:nvSpPr>
          <p:cNvPr id="47" name="TextBox 46"/>
          <p:cNvSpPr txBox="1"/>
          <p:nvPr/>
        </p:nvSpPr>
        <p:spPr>
          <a:xfrm>
            <a:off x="10810953"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48" name="TextBox 47"/>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49" name="Picture 48" descr="lock.png"/>
          <p:cNvPicPr>
            <a:picLocks noChangeAspect="1"/>
          </p:cNvPicPr>
          <p:nvPr/>
        </p:nvPicPr>
        <p:blipFill>
          <a:blip r:embed="rId5"/>
          <a:stretch>
            <a:fillRect/>
          </a:stretch>
        </p:blipFill>
        <p:spPr>
          <a:xfrm>
            <a:off x="9630324" y="2494089"/>
            <a:ext cx="134549" cy="195707"/>
          </a:xfrm>
          <a:prstGeom prst="rect">
            <a:avLst/>
          </a:prstGeom>
        </p:spPr>
      </p:pic>
      <p:sp>
        <p:nvSpPr>
          <p:cNvPr id="50" name="TextBox 49"/>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Commercial Product Model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Commercial Product Model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Commercial Product Model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Commercial Product Model,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Commercial Product Model segment categorizes the market by commercial product model.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Individual-Prescription Products</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Licensed Finished AIT Products</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Bulk Allergen Extracts</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Commercial Product Model split shows how demand is distributed across commercial product model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295_1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557_8_605E5C.png"/>
          <p:cNvPicPr>
            <a:picLocks noChangeAspect="1"/>
          </p:cNvPicPr>
          <p:nvPr/>
        </p:nvPicPr>
        <p:blipFill>
          <a:blip r:embed="rId5"/>
          <a:stretch>
            <a:fillRect/>
          </a:stretch>
        </p:blipFill>
        <p:spPr>
          <a:xfrm>
            <a:off x="2897811" y="2779432"/>
            <a:ext cx="1195728" cy="361950"/>
          </a:xfrm>
          <a:prstGeom prst="rect">
            <a:avLst/>
          </a:prstGeom>
        </p:spPr>
      </p:pic>
      <p:pic>
        <p:nvPicPr>
          <p:cNvPr id="59" name="Picture 58" descr="6_6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267_8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601_3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8_4__605E5C.png"/>
          <p:cNvPicPr>
            <a:picLocks noChangeAspect="1"/>
          </p:cNvPicPr>
          <p:nvPr/>
        </p:nvPicPr>
        <p:blipFill>
          <a:blip r:embed="rId9"/>
          <a:stretch>
            <a:fillRect/>
          </a:stretch>
        </p:blipFill>
        <p:spPr>
          <a:xfrm>
            <a:off x="6376307" y="3272281"/>
            <a:ext cx="982436" cy="361950"/>
          </a:xfrm>
          <a:prstGeom prst="rect">
            <a:avLst/>
          </a:prstGeom>
        </p:spPr>
      </p:pic>
      <p:pic>
        <p:nvPicPr>
          <p:cNvPr id="63" name="Picture 62" descr="238_2_605E5C.png"/>
          <p:cNvPicPr>
            <a:picLocks noChangeAspect="1"/>
          </p:cNvPicPr>
          <p:nvPr/>
        </p:nvPicPr>
        <p:blipFill>
          <a:blip r:embed="rId10"/>
          <a:stretch>
            <a:fillRect/>
          </a:stretch>
        </p:blipFill>
        <p:spPr>
          <a:xfrm>
            <a:off x="9641511" y="2286582"/>
            <a:ext cx="1195728" cy="361950"/>
          </a:xfrm>
          <a:prstGeom prst="rect">
            <a:avLst/>
          </a:prstGeom>
        </p:spPr>
      </p:pic>
      <p:pic>
        <p:nvPicPr>
          <p:cNvPr id="64" name="Picture 63" descr="487_1_605E5C.png"/>
          <p:cNvPicPr>
            <a:picLocks noChangeAspect="1"/>
          </p:cNvPicPr>
          <p:nvPr/>
        </p:nvPicPr>
        <p:blipFill>
          <a:blip r:embed="rId11"/>
          <a:stretch>
            <a:fillRect/>
          </a:stretch>
        </p:blipFill>
        <p:spPr>
          <a:xfrm>
            <a:off x="9641511" y="2779432"/>
            <a:ext cx="1195728" cy="361950"/>
          </a:xfrm>
          <a:prstGeom prst="rect">
            <a:avLst/>
          </a:prstGeom>
        </p:spPr>
      </p:pic>
      <p:pic>
        <p:nvPicPr>
          <p:cNvPr id="65" name="Picture 64" descr="7_4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706489" cy="186689"/>
          </a:xfrm>
          <a:prstGeom prst="rect">
            <a:avLst/>
          </a:prstGeom>
          <a:noFill/>
        </p:spPr>
        <p:txBody>
          <a:bodyPr wrap="none" lIns="0" rIns="0" tIns="0" bIns="0">
            <a:spAutoFit/>
          </a:bodyPr>
          <a:lstStyle/>
          <a:p>
            <a:r>
              <a:rPr sz="1100" b="0">
                <a:solidFill>
                  <a:srgbClr val="2E2E2E"/>
                </a:solidFill>
                <a:latin typeface="Calibri"/>
              </a:rPr>
              <a:t>Among allergy immunotherapy by commercial</a:t>
            </a:r>
          </a:p>
        </p:txBody>
      </p:sp>
      <p:sp>
        <p:nvSpPr>
          <p:cNvPr id="70" name="TextBox 69"/>
          <p:cNvSpPr txBox="1"/>
          <p:nvPr/>
        </p:nvSpPr>
        <p:spPr>
          <a:xfrm>
            <a:off x="485775" y="4397077"/>
            <a:ext cx="2681659" cy="186689"/>
          </a:xfrm>
          <a:prstGeom prst="rect">
            <a:avLst/>
          </a:prstGeom>
          <a:noFill/>
        </p:spPr>
        <p:txBody>
          <a:bodyPr wrap="none" lIns="0" rIns="0" tIns="0" bIns="0">
            <a:spAutoFit/>
          </a:bodyPr>
          <a:lstStyle/>
          <a:p>
            <a:r>
              <a:rPr sz="1100" b="0">
                <a:solidFill>
                  <a:srgbClr val="2E2E2E"/>
                </a:solidFill>
                <a:latin typeface="Calibri"/>
              </a:rPr>
              <a:t>product model, licensed finished AIT products</a:t>
            </a:r>
          </a:p>
        </p:txBody>
      </p:sp>
      <p:sp>
        <p:nvSpPr>
          <p:cNvPr id="71" name="TextBox 70"/>
          <p:cNvSpPr txBox="1"/>
          <p:nvPr/>
        </p:nvSpPr>
        <p:spPr>
          <a:xfrm>
            <a:off x="485775" y="456471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72" name="TextBox 71"/>
          <p:cNvSpPr txBox="1"/>
          <p:nvPr/>
        </p:nvSpPr>
        <p:spPr>
          <a:xfrm>
            <a:off x="485775" y="473235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73" name="Picture 72" descr="lock.png"/>
          <p:cNvPicPr>
            <a:picLocks noChangeAspect="1"/>
          </p:cNvPicPr>
          <p:nvPr/>
        </p:nvPicPr>
        <p:blipFill>
          <a:blip r:embed="rId13"/>
          <a:stretch>
            <a:fillRect/>
          </a:stretch>
        </p:blipFill>
        <p:spPr>
          <a:xfrm>
            <a:off x="626261" y="4722578"/>
            <a:ext cx="128699" cy="187198"/>
          </a:xfrm>
          <a:prstGeom prst="rect">
            <a:avLst/>
          </a:prstGeom>
        </p:spPr>
      </p:pic>
      <p:sp>
        <p:nvSpPr>
          <p:cNvPr id="74" name="TextBox 73"/>
          <p:cNvSpPr txBox="1"/>
          <p:nvPr/>
        </p:nvSpPr>
        <p:spPr>
          <a:xfrm>
            <a:off x="793757" y="473235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75" name="TextBox 74"/>
          <p:cNvSpPr txBox="1"/>
          <p:nvPr/>
        </p:nvSpPr>
        <p:spPr>
          <a:xfrm>
            <a:off x="485775" y="4899997"/>
            <a:ext cx="2879204" cy="186689"/>
          </a:xfrm>
          <a:prstGeom prst="rect">
            <a:avLst/>
          </a:prstGeom>
          <a:noFill/>
        </p:spPr>
        <p:txBody>
          <a:bodyPr wrap="none" lIns="0" rIns="0" tIns="0" bIns="0">
            <a:spAutoFit/>
          </a:bodyPr>
          <a:lstStyle/>
          <a:p>
            <a:r>
              <a:rPr sz="1100" b="0">
                <a:solidFill>
                  <a:srgbClr val="2E2E2E"/>
                </a:solidFill>
                <a:latin typeface="Calibri"/>
              </a:rPr>
              <a:t>share by commercial product model, the licensed</a:t>
            </a:r>
          </a:p>
        </p:txBody>
      </p:sp>
      <p:sp>
        <p:nvSpPr>
          <p:cNvPr id="76" name="TextBox 75"/>
          <p:cNvSpPr txBox="1"/>
          <p:nvPr/>
        </p:nvSpPr>
        <p:spPr>
          <a:xfrm>
            <a:off x="485775" y="5067637"/>
            <a:ext cx="2625997" cy="186689"/>
          </a:xfrm>
          <a:prstGeom prst="rect">
            <a:avLst/>
          </a:prstGeom>
          <a:noFill/>
        </p:spPr>
        <p:txBody>
          <a:bodyPr wrap="none" lIns="0" rIns="0" tIns="0" bIns="0">
            <a:spAutoFit/>
          </a:bodyPr>
          <a:lstStyle/>
          <a:p>
            <a:r>
              <a:rPr sz="1100" b="0">
                <a:solidFill>
                  <a:srgbClr val="2E2E2E"/>
                </a:solidFill>
                <a:latin typeface="Calibri"/>
              </a:rPr>
              <a:t>finished AIT products segment is expected to</a:t>
            </a:r>
          </a:p>
        </p:txBody>
      </p:sp>
      <p:sp>
        <p:nvSpPr>
          <p:cNvPr id="77" name="TextBox 76"/>
          <p:cNvSpPr txBox="1"/>
          <p:nvPr/>
        </p:nvSpPr>
        <p:spPr>
          <a:xfrm>
            <a:off x="485775" y="523527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78" name="Picture 77" descr="lock.png"/>
          <p:cNvPicPr>
            <a:picLocks noChangeAspect="1"/>
          </p:cNvPicPr>
          <p:nvPr/>
        </p:nvPicPr>
        <p:blipFill>
          <a:blip r:embed="rId13"/>
          <a:stretch>
            <a:fillRect/>
          </a:stretch>
        </p:blipFill>
        <p:spPr>
          <a:xfrm>
            <a:off x="2194339" y="5225498"/>
            <a:ext cx="128699" cy="187198"/>
          </a:xfrm>
          <a:prstGeom prst="rect">
            <a:avLst/>
          </a:prstGeom>
        </p:spPr>
      </p:pic>
      <p:sp>
        <p:nvSpPr>
          <p:cNvPr id="79" name="TextBox 78"/>
          <p:cNvSpPr txBox="1"/>
          <p:nvPr/>
        </p:nvSpPr>
        <p:spPr>
          <a:xfrm>
            <a:off x="2361835" y="523527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80" name="TextBox 79"/>
          <p:cNvSpPr txBox="1"/>
          <p:nvPr/>
        </p:nvSpPr>
        <p:spPr>
          <a:xfrm>
            <a:off x="485775" y="540291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81" name="Picture 80" descr="lock.png"/>
          <p:cNvPicPr>
            <a:picLocks noChangeAspect="1"/>
          </p:cNvPicPr>
          <p:nvPr/>
        </p:nvPicPr>
        <p:blipFill>
          <a:blip r:embed="rId13"/>
          <a:stretch>
            <a:fillRect/>
          </a:stretch>
        </p:blipFill>
        <p:spPr>
          <a:xfrm>
            <a:off x="1330764" y="5393138"/>
            <a:ext cx="128699" cy="187198"/>
          </a:xfrm>
          <a:prstGeom prst="rect">
            <a:avLst/>
          </a:prstGeom>
        </p:spPr>
      </p:pic>
      <p:sp>
        <p:nvSpPr>
          <p:cNvPr id="82" name="TextBox 81"/>
          <p:cNvSpPr txBox="1"/>
          <p:nvPr/>
        </p:nvSpPr>
        <p:spPr>
          <a:xfrm>
            <a:off x="1498259"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3" name="TextBox 82"/>
          <p:cNvSpPr txBox="1"/>
          <p:nvPr/>
        </p:nvSpPr>
        <p:spPr>
          <a:xfrm>
            <a:off x="485775" y="5620849"/>
            <a:ext cx="2442095" cy="186689"/>
          </a:xfrm>
          <a:prstGeom prst="rect">
            <a:avLst/>
          </a:prstGeom>
          <a:noFill/>
        </p:spPr>
        <p:txBody>
          <a:bodyPr wrap="none" lIns="0" rIns="0" tIns="0" bIns="0">
            <a:spAutoFit/>
          </a:bodyPr>
          <a:lstStyle/>
          <a:p>
            <a:r>
              <a:rPr sz="1100" b="0">
                <a:solidFill>
                  <a:srgbClr val="2E2E2E"/>
                </a:solidFill>
                <a:latin typeface="Calibri"/>
              </a:rPr>
              <a:t>Licensed finished AIT products segment is</a:t>
            </a:r>
          </a:p>
        </p:txBody>
      </p:sp>
      <p:sp>
        <p:nvSpPr>
          <p:cNvPr id="84" name="TextBox 83"/>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85" name="Picture 84" descr="lock.png"/>
          <p:cNvPicPr>
            <a:picLocks noChangeAspect="1"/>
          </p:cNvPicPr>
          <p:nvPr/>
        </p:nvPicPr>
        <p:blipFill>
          <a:blip r:embed="rId13"/>
          <a:stretch>
            <a:fillRect/>
          </a:stretch>
        </p:blipFill>
        <p:spPr>
          <a:xfrm>
            <a:off x="1678376" y="5778710"/>
            <a:ext cx="128699" cy="187198"/>
          </a:xfrm>
          <a:prstGeom prst="rect">
            <a:avLst/>
          </a:prstGeom>
        </p:spPr>
      </p:pic>
      <p:sp>
        <p:nvSpPr>
          <p:cNvPr id="86" name="TextBox 85"/>
          <p:cNvSpPr txBox="1"/>
          <p:nvPr/>
        </p:nvSpPr>
        <p:spPr>
          <a:xfrm>
            <a:off x="1845872" y="578848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87" name="TextBox 86"/>
          <p:cNvSpPr txBox="1"/>
          <p:nvPr/>
        </p:nvSpPr>
        <p:spPr>
          <a:xfrm>
            <a:off x="485775" y="5956129"/>
            <a:ext cx="2903487" cy="186689"/>
          </a:xfrm>
          <a:prstGeom prst="rect">
            <a:avLst/>
          </a:prstGeom>
          <a:noFill/>
        </p:spPr>
        <p:txBody>
          <a:bodyPr wrap="none" lIns="0" rIns="0" tIns="0" bIns="0">
            <a:spAutoFit/>
          </a:bodyPr>
          <a:lstStyle/>
          <a:p>
            <a:r>
              <a:rPr sz="1100" b="0">
                <a:solidFill>
                  <a:srgbClr val="2E2E2E"/>
                </a:solidFill>
                <a:latin typeface="Calibri"/>
              </a:rPr>
              <a:t>individual-prescription products segment in 2036.</a:t>
            </a:r>
          </a:p>
        </p:txBody>
      </p:sp>
      <p:sp>
        <p:nvSpPr>
          <p:cNvPr id="88" name="TextBox 87"/>
          <p:cNvSpPr txBox="1"/>
          <p:nvPr/>
        </p:nvSpPr>
        <p:spPr>
          <a:xfrm>
            <a:off x="3838575" y="4229437"/>
            <a:ext cx="2046733" cy="186689"/>
          </a:xfrm>
          <a:prstGeom prst="rect">
            <a:avLst/>
          </a:prstGeom>
          <a:noFill/>
        </p:spPr>
        <p:txBody>
          <a:bodyPr wrap="none" lIns="0" rIns="0" tIns="0" bIns="0">
            <a:spAutoFit/>
          </a:bodyPr>
          <a:lstStyle/>
          <a:p>
            <a:r>
              <a:rPr sz="1100" b="0">
                <a:solidFill>
                  <a:srgbClr val="2E2E2E"/>
                </a:solidFill>
                <a:latin typeface="Calibri"/>
              </a:rPr>
              <a:t>● Individual-Prescription Products:</a:t>
            </a:r>
          </a:p>
        </p:txBody>
      </p:sp>
      <p:pic>
        <p:nvPicPr>
          <p:cNvPr id="89" name="Picture 88" descr="lock.png"/>
          <p:cNvPicPr>
            <a:picLocks noChangeAspect="1"/>
          </p:cNvPicPr>
          <p:nvPr/>
        </p:nvPicPr>
        <p:blipFill>
          <a:blip r:embed="rId13"/>
          <a:stretch>
            <a:fillRect/>
          </a:stretch>
        </p:blipFill>
        <p:spPr>
          <a:xfrm>
            <a:off x="5833360" y="4219658"/>
            <a:ext cx="128699" cy="187198"/>
          </a:xfrm>
          <a:prstGeom prst="rect">
            <a:avLst/>
          </a:prstGeom>
        </p:spPr>
      </p:pic>
      <p:sp>
        <p:nvSpPr>
          <p:cNvPr id="90" name="TextBox 89"/>
          <p:cNvSpPr txBox="1"/>
          <p:nvPr/>
        </p:nvSpPr>
        <p:spPr>
          <a:xfrm>
            <a:off x="6000856"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1" name="Picture 90" descr="lock.png"/>
          <p:cNvPicPr>
            <a:picLocks noChangeAspect="1"/>
          </p:cNvPicPr>
          <p:nvPr/>
        </p:nvPicPr>
        <p:blipFill>
          <a:blip r:embed="rId13"/>
          <a:stretch>
            <a:fillRect/>
          </a:stretch>
        </p:blipFill>
        <p:spPr>
          <a:xfrm>
            <a:off x="6860306" y="4219658"/>
            <a:ext cx="128699" cy="187198"/>
          </a:xfrm>
          <a:prstGeom prst="rect">
            <a:avLst/>
          </a:prstGeom>
        </p:spPr>
      </p:pic>
      <p:sp>
        <p:nvSpPr>
          <p:cNvPr id="92" name="TextBox 91"/>
          <p:cNvSpPr txBox="1"/>
          <p:nvPr/>
        </p:nvSpPr>
        <p:spPr>
          <a:xfrm>
            <a:off x="7027802"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93" name="TextBox 92"/>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94" name="TextBox 93"/>
          <p:cNvSpPr txBox="1"/>
          <p:nvPr/>
        </p:nvSpPr>
        <p:spPr>
          <a:xfrm>
            <a:off x="3838575" y="4615009"/>
            <a:ext cx="1974428" cy="186689"/>
          </a:xfrm>
          <a:prstGeom prst="rect">
            <a:avLst/>
          </a:prstGeom>
          <a:noFill/>
        </p:spPr>
        <p:txBody>
          <a:bodyPr wrap="none" lIns="0" rIns="0" tIns="0" bIns="0">
            <a:spAutoFit/>
          </a:bodyPr>
          <a:lstStyle/>
          <a:p>
            <a:r>
              <a:rPr sz="1100" b="0">
                <a:solidFill>
                  <a:srgbClr val="2E2E2E"/>
                </a:solidFill>
                <a:latin typeface="Calibri"/>
              </a:rPr>
              <a:t>● Licensed Finished AIT Products:</a:t>
            </a:r>
          </a:p>
        </p:txBody>
      </p:sp>
      <p:pic>
        <p:nvPicPr>
          <p:cNvPr id="95" name="Picture 94" descr="lock.png"/>
          <p:cNvPicPr>
            <a:picLocks noChangeAspect="1"/>
          </p:cNvPicPr>
          <p:nvPr/>
        </p:nvPicPr>
        <p:blipFill>
          <a:blip r:embed="rId13"/>
          <a:stretch>
            <a:fillRect/>
          </a:stretch>
        </p:blipFill>
        <p:spPr>
          <a:xfrm>
            <a:off x="5761054" y="4605230"/>
            <a:ext cx="128699" cy="187198"/>
          </a:xfrm>
          <a:prstGeom prst="rect">
            <a:avLst/>
          </a:prstGeom>
        </p:spPr>
      </p:pic>
      <p:sp>
        <p:nvSpPr>
          <p:cNvPr id="96" name="TextBox 95"/>
          <p:cNvSpPr txBox="1"/>
          <p:nvPr/>
        </p:nvSpPr>
        <p:spPr>
          <a:xfrm>
            <a:off x="5928550"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7" name="Picture 96" descr="lock.png"/>
          <p:cNvPicPr>
            <a:picLocks noChangeAspect="1"/>
          </p:cNvPicPr>
          <p:nvPr/>
        </p:nvPicPr>
        <p:blipFill>
          <a:blip r:embed="rId13"/>
          <a:stretch>
            <a:fillRect/>
          </a:stretch>
        </p:blipFill>
        <p:spPr>
          <a:xfrm>
            <a:off x="6788000" y="4605230"/>
            <a:ext cx="128699" cy="187198"/>
          </a:xfrm>
          <a:prstGeom prst="rect">
            <a:avLst/>
          </a:prstGeom>
        </p:spPr>
      </p:pic>
      <p:sp>
        <p:nvSpPr>
          <p:cNvPr id="98" name="TextBox 97"/>
          <p:cNvSpPr txBox="1"/>
          <p:nvPr/>
        </p:nvSpPr>
        <p:spPr>
          <a:xfrm>
            <a:off x="6955496" y="4615009"/>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99" name="TextBox 98"/>
          <p:cNvSpPr txBox="1"/>
          <p:nvPr/>
        </p:nvSpPr>
        <p:spPr>
          <a:xfrm>
            <a:off x="3838575" y="4782649"/>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00" name="TextBox 99"/>
          <p:cNvSpPr txBox="1"/>
          <p:nvPr/>
        </p:nvSpPr>
        <p:spPr>
          <a:xfrm>
            <a:off x="3838575" y="5000581"/>
            <a:ext cx="1462558" cy="186689"/>
          </a:xfrm>
          <a:prstGeom prst="rect">
            <a:avLst/>
          </a:prstGeom>
          <a:noFill/>
        </p:spPr>
        <p:txBody>
          <a:bodyPr wrap="none" lIns="0" rIns="0" tIns="0" bIns="0">
            <a:spAutoFit/>
          </a:bodyPr>
          <a:lstStyle/>
          <a:p>
            <a:r>
              <a:rPr sz="1100" b="0">
                <a:solidFill>
                  <a:srgbClr val="2E2E2E"/>
                </a:solidFill>
                <a:latin typeface="Calibri"/>
              </a:rPr>
              <a:t>● Bulk Allergen Extracts:</a:t>
            </a:r>
          </a:p>
        </p:txBody>
      </p:sp>
      <p:pic>
        <p:nvPicPr>
          <p:cNvPr id="101" name="Picture 100" descr="lock.png"/>
          <p:cNvPicPr>
            <a:picLocks noChangeAspect="1"/>
          </p:cNvPicPr>
          <p:nvPr/>
        </p:nvPicPr>
        <p:blipFill>
          <a:blip r:embed="rId13"/>
          <a:stretch>
            <a:fillRect/>
          </a:stretch>
        </p:blipFill>
        <p:spPr>
          <a:xfrm>
            <a:off x="5249185" y="4990801"/>
            <a:ext cx="128699" cy="187198"/>
          </a:xfrm>
          <a:prstGeom prst="rect">
            <a:avLst/>
          </a:prstGeom>
        </p:spPr>
      </p:pic>
      <p:sp>
        <p:nvSpPr>
          <p:cNvPr id="102" name="TextBox 101"/>
          <p:cNvSpPr txBox="1"/>
          <p:nvPr/>
        </p:nvSpPr>
        <p:spPr>
          <a:xfrm>
            <a:off x="5416681"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3" name="Picture 102" descr="lock.png"/>
          <p:cNvPicPr>
            <a:picLocks noChangeAspect="1"/>
          </p:cNvPicPr>
          <p:nvPr/>
        </p:nvPicPr>
        <p:blipFill>
          <a:blip r:embed="rId13"/>
          <a:stretch>
            <a:fillRect/>
          </a:stretch>
        </p:blipFill>
        <p:spPr>
          <a:xfrm>
            <a:off x="6276131" y="4990801"/>
            <a:ext cx="128699" cy="187198"/>
          </a:xfrm>
          <a:prstGeom prst="rect">
            <a:avLst/>
          </a:prstGeom>
        </p:spPr>
      </p:pic>
      <p:sp>
        <p:nvSpPr>
          <p:cNvPr id="104" name="TextBox 103"/>
          <p:cNvSpPr txBox="1"/>
          <p:nvPr/>
        </p:nvSpPr>
        <p:spPr>
          <a:xfrm>
            <a:off x="6443627" y="500058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5" name="TextBox 104"/>
          <p:cNvSpPr txBox="1"/>
          <p:nvPr/>
        </p:nvSpPr>
        <p:spPr>
          <a:xfrm>
            <a:off x="8524875" y="5849651"/>
            <a:ext cx="3162300" cy="187299"/>
          </a:xfrm>
          <a:prstGeom prst="rect">
            <a:avLst/>
          </a:prstGeom>
          <a:noFill/>
        </p:spPr>
        <p:txBody>
          <a:bodyPr wrap="none" lIns="0" rIns="0" tIns="0" bIns="0">
            <a:spAutoFit/>
          </a:bodyPr>
          <a:lstStyle/>
          <a:p>
            <a:r>
              <a:rPr sz="1104" b="1">
                <a:solidFill>
                  <a:srgbClr val="0B2E4A"/>
                </a:solidFill>
                <a:latin typeface="Calibri"/>
              </a:rPr>
              <a:t>The Commercial Product Model segment is projected</a:t>
            </a:r>
          </a:p>
        </p:txBody>
      </p:sp>
      <p:sp>
        <p:nvSpPr>
          <p:cNvPr id="106" name="TextBox 105"/>
          <p:cNvSpPr txBox="1"/>
          <p:nvPr/>
        </p:nvSpPr>
        <p:spPr>
          <a:xfrm>
            <a:off x="8524875" y="6017901"/>
            <a:ext cx="1289575" cy="187299"/>
          </a:xfrm>
          <a:prstGeom prst="rect">
            <a:avLst/>
          </a:prstGeom>
          <a:noFill/>
        </p:spPr>
        <p:txBody>
          <a:bodyPr wrap="none" lIns="0" rIns="0" tIns="0" bIns="0">
            <a:spAutoFit/>
          </a:bodyPr>
          <a:lstStyle/>
          <a:p>
            <a:r>
              <a:rPr sz="1104" b="1">
                <a:solidFill>
                  <a:srgbClr val="0B2E4A"/>
                </a:solidFill>
                <a:latin typeface="Calibri"/>
              </a:rPr>
              <a:t>to grow at a CAGR of</a:t>
            </a:r>
          </a:p>
        </p:txBody>
      </p:sp>
      <p:pic>
        <p:nvPicPr>
          <p:cNvPr id="107" name="Picture 106" descr="lock.png"/>
          <p:cNvPicPr>
            <a:picLocks noChangeAspect="1"/>
          </p:cNvPicPr>
          <p:nvPr/>
        </p:nvPicPr>
        <p:blipFill>
          <a:blip r:embed="rId13"/>
          <a:stretch>
            <a:fillRect/>
          </a:stretch>
        </p:blipFill>
        <p:spPr>
          <a:xfrm>
            <a:off x="9762590" y="6008086"/>
            <a:ext cx="129166" cy="187878"/>
          </a:xfrm>
          <a:prstGeom prst="rect">
            <a:avLst/>
          </a:prstGeom>
        </p:spPr>
      </p:pic>
      <p:sp>
        <p:nvSpPr>
          <p:cNvPr id="108" name="TextBox 107"/>
          <p:cNvSpPr txBox="1"/>
          <p:nvPr/>
        </p:nvSpPr>
        <p:spPr>
          <a:xfrm>
            <a:off x="9930695" y="6017901"/>
            <a:ext cx="1186362" cy="187299"/>
          </a:xfrm>
          <a:prstGeom prst="rect">
            <a:avLst/>
          </a:prstGeom>
          <a:noFill/>
        </p:spPr>
        <p:txBody>
          <a:bodyPr wrap="none" lIns="0" rIns="0" tIns="0" bIns="0">
            <a:spAutoFit/>
          </a:bodyPr>
          <a:lstStyle/>
          <a:p>
            <a:r>
              <a:rPr sz="1104" b="1">
                <a:solidFill>
                  <a:srgbClr val="0B2E4A"/>
                </a:solidFill>
                <a:latin typeface="Calibri"/>
              </a:rPr>
              <a:t>from 2026 to 2036.</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Commercial Product Model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Commercial Product Model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Commercial Product Model mix within each country (share of 2036 value) · row label = country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Commercial Product Model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545788" cy="186689"/>
          </a:xfrm>
          <a:prstGeom prst="rect">
            <a:avLst/>
          </a:prstGeom>
          <a:noFill/>
        </p:spPr>
        <p:txBody>
          <a:bodyPr wrap="none" lIns="0" rIns="0" tIns="0" bIns="0">
            <a:spAutoFit/>
          </a:bodyPr>
          <a:lstStyle/>
          <a:p>
            <a:r>
              <a:rPr sz="1100" b="0">
                <a:solidFill>
                  <a:srgbClr val="2E2E2E"/>
                </a:solidFill>
                <a:latin typeface="Calibri"/>
              </a:rPr>
              <a:t>Licensed finished AIT products followed by individual-prescription products are expected to be the two most attractive commercial product model segments in the North America allergy immunotherapy</a:t>
            </a:r>
          </a:p>
        </p:txBody>
      </p:sp>
      <p:sp>
        <p:nvSpPr>
          <p:cNvPr id="21" name="TextBox 20"/>
          <p:cNvSpPr txBox="1"/>
          <p:nvPr/>
        </p:nvSpPr>
        <p:spPr>
          <a:xfrm>
            <a:off x="257175" y="5861685"/>
            <a:ext cx="8117937" cy="186689"/>
          </a:xfrm>
          <a:prstGeom prst="rect">
            <a:avLst/>
          </a:prstGeom>
          <a:noFill/>
        </p:spPr>
        <p:txBody>
          <a:bodyPr wrap="none" lIns="0" rIns="0" tIns="0" bIns="0">
            <a:spAutoFit/>
          </a:bodyPr>
          <a:lstStyle/>
          <a:p>
            <a:r>
              <a:rPr sz="1100" b="0">
                <a:solidFill>
                  <a:srgbClr val="2E2E2E"/>
                </a:solidFill>
                <a:latin typeface="Calibri"/>
              </a:rPr>
              <a:t>market in terms of value over the forecast period. Licensed finished AIT products and Individual-Prescription products exhibit a CAGR index of</a:t>
            </a:r>
          </a:p>
        </p:txBody>
      </p:sp>
      <p:pic>
        <p:nvPicPr>
          <p:cNvPr id="22" name="Picture 21" descr="lock.png"/>
          <p:cNvPicPr>
            <a:picLocks noChangeAspect="1"/>
          </p:cNvPicPr>
          <p:nvPr/>
        </p:nvPicPr>
        <p:blipFill>
          <a:blip r:embed="rId6"/>
          <a:stretch>
            <a:fillRect/>
          </a:stretch>
        </p:blipFill>
        <p:spPr>
          <a:xfrm>
            <a:off x="8323163" y="5851905"/>
            <a:ext cx="128699" cy="187198"/>
          </a:xfrm>
          <a:prstGeom prst="rect">
            <a:avLst/>
          </a:prstGeom>
        </p:spPr>
      </p:pic>
      <p:sp>
        <p:nvSpPr>
          <p:cNvPr id="23" name="TextBox 22"/>
          <p:cNvSpPr txBox="1"/>
          <p:nvPr/>
        </p:nvSpPr>
        <p:spPr>
          <a:xfrm>
            <a:off x="849065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8728553" y="5851905"/>
            <a:ext cx="128699" cy="187198"/>
          </a:xfrm>
          <a:prstGeom prst="rect">
            <a:avLst/>
          </a:prstGeom>
        </p:spPr>
      </p:pic>
      <p:sp>
        <p:nvSpPr>
          <p:cNvPr id="25" name="TextBox 24"/>
          <p:cNvSpPr txBox="1"/>
          <p:nvPr/>
        </p:nvSpPr>
        <p:spPr>
          <a:xfrm>
            <a:off x="889604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10505023" y="5851905"/>
            <a:ext cx="128699" cy="187198"/>
          </a:xfrm>
          <a:prstGeom prst="rect">
            <a:avLst/>
          </a:prstGeom>
        </p:spPr>
      </p:pic>
      <p:sp>
        <p:nvSpPr>
          <p:cNvPr id="27" name="TextBox 26"/>
          <p:cNvSpPr txBox="1"/>
          <p:nvPr/>
        </p:nvSpPr>
        <p:spPr>
          <a:xfrm>
            <a:off x="1067251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10910413" y="5851905"/>
            <a:ext cx="128699" cy="187198"/>
          </a:xfrm>
          <a:prstGeom prst="rect">
            <a:avLst/>
          </a:prstGeom>
        </p:spPr>
      </p:pic>
      <p:sp>
        <p:nvSpPr>
          <p:cNvPr id="29" name="TextBox 28"/>
          <p:cNvSpPr txBox="1"/>
          <p:nvPr/>
        </p:nvSpPr>
        <p:spPr>
          <a:xfrm>
            <a:off x="257175" y="602932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2811579" y="6019545"/>
            <a:ext cx="128699" cy="187198"/>
          </a:xfrm>
          <a:prstGeom prst="rect">
            <a:avLst/>
          </a:prstGeom>
        </p:spPr>
      </p:pic>
      <p:sp>
        <p:nvSpPr>
          <p:cNvPr id="31" name="TextBox 30"/>
          <p:cNvSpPr txBox="1"/>
          <p:nvPr/>
        </p:nvSpPr>
        <p:spPr>
          <a:xfrm>
            <a:off x="2979074" y="6029325"/>
            <a:ext cx="8868551" cy="186689"/>
          </a:xfrm>
          <a:prstGeom prst="rect">
            <a:avLst/>
          </a:prstGeom>
          <a:noFill/>
        </p:spPr>
        <p:txBody>
          <a:bodyPr wrap="none" lIns="0" rIns="0" tIns="0" bIns="0">
            <a:spAutoFit/>
          </a:bodyPr>
          <a:lstStyle/>
          <a:p>
            <a:r>
              <a:rPr sz="1100" b="0">
                <a:solidFill>
                  <a:srgbClr val="2E2E2E"/>
                </a:solidFill>
                <a:latin typeface="Calibri"/>
              </a:rPr>
              <a:t>. The bulk allergen extracts segment is expected to be less attractive as compared to other segments over the forecast period, owing to its lower CAGR and</a:t>
            </a:r>
          </a:p>
        </p:txBody>
      </p:sp>
      <p:sp>
        <p:nvSpPr>
          <p:cNvPr id="32" name="TextBox 31"/>
          <p:cNvSpPr txBox="1"/>
          <p:nvPr/>
        </p:nvSpPr>
        <p:spPr>
          <a:xfrm>
            <a:off x="257175" y="6196965"/>
            <a:ext cx="5838262" cy="186689"/>
          </a:xfrm>
          <a:prstGeom prst="rect">
            <a:avLst/>
          </a:prstGeom>
          <a:noFill/>
        </p:spPr>
        <p:txBody>
          <a:bodyPr wrap="none" lIns="0" rIns="0" tIns="0" bIns="0">
            <a:spAutoFit/>
          </a:bodyPr>
          <a:lstStyle/>
          <a:p>
            <a:r>
              <a:rPr sz="1100" b="0">
                <a:solidFill>
                  <a:srgbClr val="2E2E2E"/>
                </a:solidFill>
                <a:latin typeface="Calibri"/>
              </a:rPr>
              <a:t>incremental opportunity. Bubbles right of the CAGR-Index line grow faster than the segment average.</a:t>
            </a:r>
          </a:p>
        </p:txBody>
      </p:sp>
      <p:sp>
        <p:nvSpPr>
          <p:cNvPr id="33"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Commercial Product Model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Commercial Product Model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Licensed Finished AIT Products</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Individual-Prescription Products</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Bulk Allergen Extracts</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Commercial Product Model</a:t>
            </a:r>
          </a:p>
        </p:txBody>
      </p:sp>
      <p:sp>
        <p:nvSpPr>
          <p:cNvPr id="22" name="Rectangle 21"/>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3100230"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9129555" y="2330679"/>
            <a:ext cx="252890" cy="367840"/>
          </a:xfrm>
          <a:prstGeom prst="rect">
            <a:avLst/>
          </a:prstGeom>
        </p:spPr>
      </p:pic>
      <p:pic>
        <p:nvPicPr>
          <p:cNvPr id="27" name="Picture 26" descr="lock.png"/>
          <p:cNvPicPr>
            <a:picLocks noChangeAspect="1"/>
          </p:cNvPicPr>
          <p:nvPr/>
        </p:nvPicPr>
        <p:blipFill>
          <a:blip r:embed="rId7"/>
          <a:stretch>
            <a:fillRect/>
          </a:stretch>
        </p:blipFill>
        <p:spPr>
          <a:xfrm>
            <a:off x="3100230" y="5216754"/>
            <a:ext cx="252890" cy="367840"/>
          </a:xfrm>
          <a:prstGeom prst="rect">
            <a:avLst/>
          </a:prstGeom>
        </p:spPr>
      </p:pic>
      <p:sp>
        <p:nvSpPr>
          <p:cNvPr id="28" name="TextBox 27"/>
          <p:cNvSpPr txBox="1"/>
          <p:nvPr/>
        </p:nvSpPr>
        <p:spPr>
          <a:xfrm>
            <a:off x="6305550" y="4484320"/>
            <a:ext cx="5276356" cy="194310"/>
          </a:xfrm>
          <a:prstGeom prst="rect">
            <a:avLst/>
          </a:prstGeom>
          <a:noFill/>
        </p:spPr>
        <p:txBody>
          <a:bodyPr wrap="none" lIns="0" rIns="0" tIns="0" bIns="0">
            <a:spAutoFit/>
          </a:bodyPr>
          <a:lstStyle/>
          <a:p>
            <a:r>
              <a:rPr sz="1150" b="0">
                <a:solidFill>
                  <a:srgbClr val="2E2E2E"/>
                </a:solidFill>
                <a:latin typeface="Calibri"/>
              </a:rPr>
              <a:t>By 2036, licensed finished AIT products segment is anticipated to witness an increase of</a:t>
            </a:r>
          </a:p>
        </p:txBody>
      </p:sp>
      <p:pic>
        <p:nvPicPr>
          <p:cNvPr id="29" name="Picture 28" descr="lock.png"/>
          <p:cNvPicPr>
            <a:picLocks noChangeAspect="1"/>
          </p:cNvPicPr>
          <p:nvPr/>
        </p:nvPicPr>
        <p:blipFill>
          <a:blip r:embed="rId7"/>
          <a:stretch>
            <a:fillRect/>
          </a:stretch>
        </p:blipFill>
        <p:spPr>
          <a:xfrm>
            <a:off x="11531060" y="4474096"/>
            <a:ext cx="134549" cy="195707"/>
          </a:xfrm>
          <a:prstGeom prst="rect">
            <a:avLst/>
          </a:prstGeom>
        </p:spPr>
      </p:pic>
      <p:sp>
        <p:nvSpPr>
          <p:cNvPr id="30" name="TextBox 29"/>
          <p:cNvSpPr txBox="1"/>
          <p:nvPr/>
        </p:nvSpPr>
        <p:spPr>
          <a:xfrm>
            <a:off x="11706169" y="4484320"/>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1" name="TextBox 30"/>
          <p:cNvSpPr txBox="1"/>
          <p:nvPr/>
        </p:nvSpPr>
        <p:spPr>
          <a:xfrm>
            <a:off x="6305550" y="4659580"/>
            <a:ext cx="5127190" cy="194310"/>
          </a:xfrm>
          <a:prstGeom prst="rect">
            <a:avLst/>
          </a:prstGeom>
          <a:noFill/>
        </p:spPr>
        <p:txBody>
          <a:bodyPr wrap="none" lIns="0" rIns="0" tIns="0" bIns="0">
            <a:spAutoFit/>
          </a:bodyPr>
          <a:lstStyle/>
          <a:p>
            <a:r>
              <a:rPr sz="1150" b="0">
                <a:solidFill>
                  <a:srgbClr val="2E2E2E"/>
                </a:solidFill>
                <a:latin typeface="Calibri"/>
              </a:rPr>
              <a:t>in terms of value as compared to 2026. The licensed finished AIT products segment is</a:t>
            </a:r>
          </a:p>
        </p:txBody>
      </p:sp>
      <p:sp>
        <p:nvSpPr>
          <p:cNvPr id="32" name="TextBox 31"/>
          <p:cNvSpPr txBox="1"/>
          <p:nvPr/>
        </p:nvSpPr>
        <p:spPr>
          <a:xfrm>
            <a:off x="6305550" y="4834840"/>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33" name="Picture 32" descr="lock.png"/>
          <p:cNvPicPr>
            <a:picLocks noChangeAspect="1"/>
          </p:cNvPicPr>
          <p:nvPr/>
        </p:nvPicPr>
        <p:blipFill>
          <a:blip r:embed="rId7"/>
          <a:stretch>
            <a:fillRect/>
          </a:stretch>
        </p:blipFill>
        <p:spPr>
          <a:xfrm>
            <a:off x="9540010" y="4824616"/>
            <a:ext cx="134549" cy="195707"/>
          </a:xfrm>
          <a:prstGeom prst="rect">
            <a:avLst/>
          </a:prstGeom>
        </p:spPr>
      </p:pic>
      <p:sp>
        <p:nvSpPr>
          <p:cNvPr id="34" name="TextBox 33"/>
          <p:cNvSpPr txBox="1"/>
          <p:nvPr/>
        </p:nvSpPr>
        <p:spPr>
          <a:xfrm>
            <a:off x="9715119" y="4834840"/>
            <a:ext cx="1581199" cy="194310"/>
          </a:xfrm>
          <a:prstGeom prst="rect">
            <a:avLst/>
          </a:prstGeom>
          <a:noFill/>
        </p:spPr>
        <p:txBody>
          <a:bodyPr wrap="none" lIns="0" rIns="0" tIns="0" bIns="0">
            <a:spAutoFit/>
          </a:bodyPr>
          <a:lstStyle/>
          <a:p>
            <a:r>
              <a:rPr sz="1150" b="0">
                <a:solidFill>
                  <a:srgbClr val="2E2E2E"/>
                </a:solidFill>
                <a:latin typeface="Calibri"/>
              </a:rPr>
              <a:t>Mn for the overall allergy</a:t>
            </a:r>
          </a:p>
        </p:txBody>
      </p:sp>
      <p:sp>
        <p:nvSpPr>
          <p:cNvPr id="35" name="TextBox 34"/>
          <p:cNvSpPr txBox="1"/>
          <p:nvPr/>
        </p:nvSpPr>
        <p:spPr>
          <a:xfrm>
            <a:off x="6305550" y="5010100"/>
            <a:ext cx="2672866" cy="194310"/>
          </a:xfrm>
          <a:prstGeom prst="rect">
            <a:avLst/>
          </a:prstGeom>
          <a:noFill/>
        </p:spPr>
        <p:txBody>
          <a:bodyPr wrap="none" lIns="0" rIns="0" tIns="0" bIns="0">
            <a:spAutoFit/>
          </a:bodyPr>
          <a:lstStyle/>
          <a:p>
            <a:r>
              <a:rPr sz="1150" b="0">
                <a:solidFill>
                  <a:srgbClr val="2E2E2E"/>
                </a:solidFill>
                <a:latin typeface="Calibri"/>
              </a:rPr>
              <a:t>immunotherapy market from 2026 to 2036.</a:t>
            </a:r>
          </a:p>
        </p:txBody>
      </p:sp>
      <p:sp>
        <p:nvSpPr>
          <p:cNvPr id="36" name="TextBox 35"/>
          <p:cNvSpPr txBox="1"/>
          <p:nvPr/>
        </p:nvSpPr>
        <p:spPr>
          <a:xfrm>
            <a:off x="6305550" y="5237938"/>
            <a:ext cx="4978003" cy="194310"/>
          </a:xfrm>
          <a:prstGeom prst="rect">
            <a:avLst/>
          </a:prstGeom>
          <a:noFill/>
        </p:spPr>
        <p:txBody>
          <a:bodyPr wrap="none" lIns="0" rIns="0" tIns="0" bIns="0">
            <a:spAutoFit/>
          </a:bodyPr>
          <a:lstStyle/>
          <a:p>
            <a:r>
              <a:rPr sz="1150" b="0">
                <a:solidFill>
                  <a:srgbClr val="2E2E2E"/>
                </a:solidFill>
                <a:latin typeface="Calibri"/>
              </a:rPr>
              <a:t>The Individual-Prescription products segment is expected to create an incremental</a:t>
            </a:r>
          </a:p>
        </p:txBody>
      </p:sp>
      <p:sp>
        <p:nvSpPr>
          <p:cNvPr id="37" name="TextBox 36"/>
          <p:cNvSpPr txBox="1"/>
          <p:nvPr/>
        </p:nvSpPr>
        <p:spPr>
          <a:xfrm>
            <a:off x="6305550" y="5413197"/>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8" name="Picture 37" descr="lock.png"/>
          <p:cNvPicPr>
            <a:picLocks noChangeAspect="1"/>
          </p:cNvPicPr>
          <p:nvPr/>
        </p:nvPicPr>
        <p:blipFill>
          <a:blip r:embed="rId7"/>
          <a:stretch>
            <a:fillRect/>
          </a:stretch>
        </p:blipFill>
        <p:spPr>
          <a:xfrm>
            <a:off x="7463647" y="5402974"/>
            <a:ext cx="134549" cy="195707"/>
          </a:xfrm>
          <a:prstGeom prst="rect">
            <a:avLst/>
          </a:prstGeom>
        </p:spPr>
      </p:pic>
      <p:sp>
        <p:nvSpPr>
          <p:cNvPr id="39" name="TextBox 38"/>
          <p:cNvSpPr txBox="1"/>
          <p:nvPr/>
        </p:nvSpPr>
        <p:spPr>
          <a:xfrm>
            <a:off x="7638756" y="5413197"/>
            <a:ext cx="4210955"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a:t>
            </a:r>
          </a:p>
        </p:txBody>
      </p:sp>
      <p:sp>
        <p:nvSpPr>
          <p:cNvPr id="40" name="TextBox 39"/>
          <p:cNvSpPr txBox="1"/>
          <p:nvPr/>
        </p:nvSpPr>
        <p:spPr>
          <a:xfrm>
            <a:off x="6305550" y="5588457"/>
            <a:ext cx="5515991" cy="194310"/>
          </a:xfrm>
          <a:prstGeom prst="rect">
            <a:avLst/>
          </a:prstGeom>
          <a:noFill/>
        </p:spPr>
        <p:txBody>
          <a:bodyPr wrap="none" lIns="0" rIns="0" tIns="0" bIns="0">
            <a:spAutoFit/>
          </a:bodyPr>
          <a:lstStyle/>
          <a:p>
            <a:r>
              <a:rPr sz="1150" b="0">
                <a:solidFill>
                  <a:srgbClr val="2E2E2E"/>
                </a:solidFill>
                <a:latin typeface="Calibri"/>
              </a:rPr>
              <a:t>The bulk allergen extracts segment is expected to create an incremental opportunity of US$</a:t>
            </a:r>
          </a:p>
        </p:txBody>
      </p:sp>
      <p:pic>
        <p:nvPicPr>
          <p:cNvPr id="41" name="Picture 40" descr="lock.png"/>
          <p:cNvPicPr>
            <a:picLocks noChangeAspect="1"/>
          </p:cNvPicPr>
          <p:nvPr/>
        </p:nvPicPr>
        <p:blipFill>
          <a:blip r:embed="rId7"/>
          <a:stretch>
            <a:fillRect/>
          </a:stretch>
        </p:blipFill>
        <p:spPr>
          <a:xfrm>
            <a:off x="6291470" y="5753494"/>
            <a:ext cx="134549" cy="195707"/>
          </a:xfrm>
          <a:prstGeom prst="rect">
            <a:avLst/>
          </a:prstGeom>
        </p:spPr>
      </p:pic>
      <p:sp>
        <p:nvSpPr>
          <p:cNvPr id="42" name="TextBox 41"/>
          <p:cNvSpPr txBox="1"/>
          <p:nvPr/>
        </p:nvSpPr>
        <p:spPr>
          <a:xfrm>
            <a:off x="6466579" y="5763717"/>
            <a:ext cx="4210955"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a:t>
            </a:r>
          </a:p>
        </p:txBody>
      </p:sp>
      <p:sp>
        <p:nvSpPr>
          <p:cNvPr id="43"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Commercial Product Model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Commercial Product Model,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Commercial Product Model (US$ Mn)</a:t>
            </a:r>
          </a:p>
        </p:txBody>
      </p:sp>
      <p:graphicFrame>
        <p:nvGraphicFramePr>
          <p:cNvPr id="13" name="Table 12"/>
          <p:cNvGraphicFramePr>
            <a:graphicFrameLocks noGrp="1"/>
          </p:cNvGraphicFramePr>
          <p:nvPr/>
        </p:nvGraphicFramePr>
        <p:xfrm>
          <a:off x="152400" y="1238250"/>
          <a:ext cx="11887205" cy="2714626"/>
        </p:xfrm>
        <a:graphic>
          <a:graphicData uri="http://schemas.openxmlformats.org/drawingml/2006/table">
            <a:tbl>
              <a:tblPr>
                <a:tableStyleId>{5C22544A-7EE6-4342-B048-85BDC9FD1C3A}</a:tableStyleId>
              </a:tblPr>
              <a:tblGrid>
                <a:gridCol w="2979849"/>
                <a:gridCol w="535051"/>
                <a:gridCol w="535051"/>
                <a:gridCol w="535051"/>
                <a:gridCol w="535051"/>
                <a:gridCol w="535051"/>
                <a:gridCol w="516204"/>
                <a:gridCol w="510819"/>
                <a:gridCol w="510819"/>
                <a:gridCol w="510819"/>
                <a:gridCol w="510819"/>
                <a:gridCol w="510819"/>
                <a:gridCol w="510819"/>
                <a:gridCol w="510819"/>
                <a:gridCol w="510819"/>
                <a:gridCol w="510819"/>
                <a:gridCol w="510819"/>
                <a:gridCol w="607707"/>
              </a:tblGrid>
              <a:tr h="246126">
                <a:tc>
                  <a:txBody>
                    <a:bodyPr wrap="none"/>
                    <a:lstStyle/>
                    <a:p>
                      <a:pPr algn="l"/>
                      <a:r>
                        <a:rPr sz="1100" b="1">
                          <a:solidFill>
                            <a:srgbClr val="0B2E4A"/>
                          </a:solidFill>
                          <a:latin typeface="Calibri"/>
                        </a:rPr>
                        <a:t>Commercial Product Model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Licensed Finished AIT Products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Fixed-dose Branded 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Liquid Products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Individual-Prescription Products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Single-Allergen Personalized Preparations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Multi-Allergen Personalized Preparations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Bulk Allergen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Allergen Stock Concentrates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Venom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Commercial Product Model</a:t>
            </a:r>
          </a:p>
        </p:txBody>
      </p:sp>
      <p:sp>
        <p:nvSpPr>
          <p:cNvPr id="17" name="Rectangle 16"/>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399237" y="2451926"/>
            <a:ext cx="366712" cy="533400"/>
          </a:xfrm>
          <a:prstGeom prst="rect">
            <a:avLst/>
          </a:prstGeom>
        </p:spPr>
      </p:pic>
      <p:sp>
        <p:nvSpPr>
          <p:cNvPr id="21" name="TextBox 20"/>
          <p:cNvSpPr txBox="1"/>
          <p:nvPr/>
        </p:nvSpPr>
        <p:spPr>
          <a:xfrm>
            <a:off x="276225" y="4714875"/>
            <a:ext cx="3804183" cy="194310"/>
          </a:xfrm>
          <a:prstGeom prst="rect">
            <a:avLst/>
          </a:prstGeom>
          <a:noFill/>
        </p:spPr>
        <p:txBody>
          <a:bodyPr wrap="none" lIns="0" rIns="0" tIns="0" bIns="0">
            <a:spAutoFit/>
          </a:bodyPr>
          <a:lstStyle/>
          <a:p>
            <a:r>
              <a:rPr sz="1150" b="0">
                <a:solidFill>
                  <a:srgbClr val="2E2E2E"/>
                </a:solidFill>
                <a:latin typeface="Calibri"/>
              </a:rPr>
              <a:t>Licensed finished AIT products segment is projected to register</a:t>
            </a:r>
          </a:p>
        </p:txBody>
      </p:sp>
      <p:pic>
        <p:nvPicPr>
          <p:cNvPr id="22" name="Picture 21" descr="lock.png"/>
          <p:cNvPicPr>
            <a:picLocks noChangeAspect="1"/>
          </p:cNvPicPr>
          <p:nvPr/>
        </p:nvPicPr>
        <p:blipFill>
          <a:blip r:embed="rId4"/>
          <a:stretch>
            <a:fillRect/>
          </a:stretch>
        </p:blipFill>
        <p:spPr>
          <a:xfrm>
            <a:off x="4029562" y="4704651"/>
            <a:ext cx="134549" cy="195707"/>
          </a:xfrm>
          <a:prstGeom prst="rect">
            <a:avLst/>
          </a:prstGeom>
        </p:spPr>
      </p:pic>
      <p:sp>
        <p:nvSpPr>
          <p:cNvPr id="23" name="TextBox 22"/>
          <p:cNvSpPr txBox="1"/>
          <p:nvPr/>
        </p:nvSpPr>
        <p:spPr>
          <a:xfrm>
            <a:off x="4204671" y="4714875"/>
            <a:ext cx="7496509" cy="194310"/>
          </a:xfrm>
          <a:prstGeom prst="rect">
            <a:avLst/>
          </a:prstGeom>
          <a:noFill/>
        </p:spPr>
        <p:txBody>
          <a:bodyPr wrap="none" lIns="0" rIns="0" tIns="0" bIns="0">
            <a:spAutoFit/>
          </a:bodyPr>
          <a:lstStyle/>
          <a:p>
            <a:r>
              <a:rPr sz="1150" b="0">
                <a:solidFill>
                  <a:srgbClr val="2E2E2E"/>
                </a:solidFill>
                <a:latin typeface="Calibri"/>
              </a:rPr>
              <a:t>X higher value than individual-prescription products segment in 2036. Among allergy immunotherapy by commercial product</a:t>
            </a:r>
          </a:p>
        </p:txBody>
      </p:sp>
      <p:sp>
        <p:nvSpPr>
          <p:cNvPr id="24" name="TextBox 23"/>
          <p:cNvSpPr txBox="1"/>
          <p:nvPr/>
        </p:nvSpPr>
        <p:spPr>
          <a:xfrm>
            <a:off x="276225" y="4890135"/>
            <a:ext cx="5411285" cy="194310"/>
          </a:xfrm>
          <a:prstGeom prst="rect">
            <a:avLst/>
          </a:prstGeom>
          <a:noFill/>
        </p:spPr>
        <p:txBody>
          <a:bodyPr wrap="none" lIns="0" rIns="0" tIns="0" bIns="0">
            <a:spAutoFit/>
          </a:bodyPr>
          <a:lstStyle/>
          <a:p>
            <a:r>
              <a:rPr sz="1150" b="0">
                <a:solidFill>
                  <a:srgbClr val="2E2E2E"/>
                </a:solidFill>
                <a:latin typeface="Calibri"/>
              </a:rPr>
              <a:t>model, licensed finished AIT products segment is expected to witness the highest CAGR of</a:t>
            </a:r>
          </a:p>
        </p:txBody>
      </p:sp>
      <p:pic>
        <p:nvPicPr>
          <p:cNvPr id="25" name="Picture 24" descr="lock.png"/>
          <p:cNvPicPr>
            <a:picLocks noChangeAspect="1"/>
          </p:cNvPicPr>
          <p:nvPr/>
        </p:nvPicPr>
        <p:blipFill>
          <a:blip r:embed="rId4"/>
          <a:stretch>
            <a:fillRect/>
          </a:stretch>
        </p:blipFill>
        <p:spPr>
          <a:xfrm>
            <a:off x="5636664" y="4879911"/>
            <a:ext cx="134549" cy="195707"/>
          </a:xfrm>
          <a:prstGeom prst="rect">
            <a:avLst/>
          </a:prstGeom>
        </p:spPr>
      </p:pic>
      <p:sp>
        <p:nvSpPr>
          <p:cNvPr id="26" name="TextBox 25"/>
          <p:cNvSpPr txBox="1"/>
          <p:nvPr/>
        </p:nvSpPr>
        <p:spPr>
          <a:xfrm>
            <a:off x="5811774" y="48901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5117972"/>
            <a:ext cx="8532266" cy="194310"/>
          </a:xfrm>
          <a:prstGeom prst="rect">
            <a:avLst/>
          </a:prstGeom>
          <a:noFill/>
        </p:spPr>
        <p:txBody>
          <a:bodyPr wrap="none" lIns="0" rIns="0" tIns="0" bIns="0">
            <a:spAutoFit/>
          </a:bodyPr>
          <a:lstStyle/>
          <a:p>
            <a:r>
              <a:rPr sz="1150" b="0">
                <a:solidFill>
                  <a:srgbClr val="2E2E2E"/>
                </a:solidFill>
                <a:latin typeface="Calibri"/>
              </a:rPr>
              <a:t>In terms of value share by commercial product model, the licensed finished AIT products segment is expected to dominate the market, gaining</a:t>
            </a:r>
          </a:p>
        </p:txBody>
      </p:sp>
      <p:pic>
        <p:nvPicPr>
          <p:cNvPr id="28" name="Picture 27" descr="lock.png"/>
          <p:cNvPicPr>
            <a:picLocks noChangeAspect="1"/>
          </p:cNvPicPr>
          <p:nvPr/>
        </p:nvPicPr>
        <p:blipFill>
          <a:blip r:embed="rId4"/>
          <a:stretch>
            <a:fillRect/>
          </a:stretch>
        </p:blipFill>
        <p:spPr>
          <a:xfrm>
            <a:off x="8757645" y="5107749"/>
            <a:ext cx="134549" cy="195707"/>
          </a:xfrm>
          <a:prstGeom prst="rect">
            <a:avLst/>
          </a:prstGeom>
        </p:spPr>
      </p:pic>
      <p:sp>
        <p:nvSpPr>
          <p:cNvPr id="29" name="TextBox 28"/>
          <p:cNvSpPr txBox="1"/>
          <p:nvPr/>
        </p:nvSpPr>
        <p:spPr>
          <a:xfrm>
            <a:off x="8932755" y="51179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10327898" y="5107749"/>
            <a:ext cx="134549" cy="195707"/>
          </a:xfrm>
          <a:prstGeom prst="rect">
            <a:avLst/>
          </a:prstGeom>
        </p:spPr>
      </p:pic>
      <p:sp>
        <p:nvSpPr>
          <p:cNvPr id="31" name="TextBox 30"/>
          <p:cNvSpPr txBox="1"/>
          <p:nvPr/>
        </p:nvSpPr>
        <p:spPr>
          <a:xfrm>
            <a:off x="10503007" y="511797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2" name="TextBox 31"/>
          <p:cNvSpPr txBox="1"/>
          <p:nvPr/>
        </p:nvSpPr>
        <p:spPr>
          <a:xfrm>
            <a:off x="276225" y="5293232"/>
            <a:ext cx="3657562" cy="194310"/>
          </a:xfrm>
          <a:prstGeom prst="rect">
            <a:avLst/>
          </a:prstGeom>
          <a:noFill/>
        </p:spPr>
        <p:txBody>
          <a:bodyPr wrap="none" lIns="0" rIns="0" tIns="0" bIns="0">
            <a:spAutoFit/>
          </a:bodyPr>
          <a:lstStyle/>
          <a:p>
            <a:r>
              <a:rPr sz="1150" b="0">
                <a:solidFill>
                  <a:srgbClr val="2E2E2E"/>
                </a:solidFill>
                <a:latin typeface="Calibri"/>
              </a:rPr>
              <a:t>individual-prescription products segment is expected to lose</a:t>
            </a:r>
          </a:p>
        </p:txBody>
      </p:sp>
      <p:pic>
        <p:nvPicPr>
          <p:cNvPr id="33" name="Picture 32" descr="lock.png"/>
          <p:cNvPicPr>
            <a:picLocks noChangeAspect="1"/>
          </p:cNvPicPr>
          <p:nvPr/>
        </p:nvPicPr>
        <p:blipFill>
          <a:blip r:embed="rId4"/>
          <a:stretch>
            <a:fillRect/>
          </a:stretch>
        </p:blipFill>
        <p:spPr>
          <a:xfrm>
            <a:off x="3882941" y="5283009"/>
            <a:ext cx="134549" cy="195707"/>
          </a:xfrm>
          <a:prstGeom prst="rect">
            <a:avLst/>
          </a:prstGeom>
        </p:spPr>
      </p:pic>
      <p:sp>
        <p:nvSpPr>
          <p:cNvPr id="34" name="TextBox 33"/>
          <p:cNvSpPr txBox="1"/>
          <p:nvPr/>
        </p:nvSpPr>
        <p:spPr>
          <a:xfrm>
            <a:off x="4058051" y="52932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6645555" y="5283009"/>
            <a:ext cx="134549" cy="195707"/>
          </a:xfrm>
          <a:prstGeom prst="rect">
            <a:avLst/>
          </a:prstGeom>
        </p:spPr>
      </p:pic>
      <p:sp>
        <p:nvSpPr>
          <p:cNvPr id="36" name="TextBox 35"/>
          <p:cNvSpPr txBox="1"/>
          <p:nvPr/>
        </p:nvSpPr>
        <p:spPr>
          <a:xfrm>
            <a:off x="6820664" y="52932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Commercial Product Model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Commercial Product Model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Commercial Product Model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2347744"/>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34298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226678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Bulk Allergen Extracts</a:t>
            </a:r>
          </a:p>
        </p:txBody>
      </p:sp>
      <p:sp>
        <p:nvSpPr>
          <p:cNvPr id="19" name="BPS Value 1"/>
          <p:cNvSpPr txBox="1"/>
          <p:nvPr/>
        </p:nvSpPr>
        <p:spPr>
          <a:xfrm>
            <a:off x="6896100" y="232869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379883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379406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371786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Individual-Prescription Products</a:t>
            </a:r>
          </a:p>
        </p:txBody>
      </p:sp>
      <p:sp>
        <p:nvSpPr>
          <p:cNvPr id="23" name="BPS Value 2"/>
          <p:cNvSpPr txBox="1"/>
          <p:nvPr/>
        </p:nvSpPr>
        <p:spPr>
          <a:xfrm>
            <a:off x="6896100" y="377978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540853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540377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532757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Licensed Finished AIT Products</a:t>
            </a:r>
          </a:p>
        </p:txBody>
      </p:sp>
      <p:sp>
        <p:nvSpPr>
          <p:cNvPr id="27" name="BPS Value 3"/>
          <p:cNvSpPr txBox="1"/>
          <p:nvPr/>
        </p:nvSpPr>
        <p:spPr>
          <a:xfrm>
            <a:off x="6896100" y="538948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407620"/>
          </a:xfrm>
          <a:prstGeom prst="rect">
            <a:avLst/>
          </a:prstGeom>
          <a:noFill/>
        </p:spPr>
        <p:txBody>
          <a:bodyPr wrap="square" lIns="0" rIns="19050" tIns="9525" bIns="9525">
            <a:spAutoFit/>
          </a:bodyPr>
          <a:lstStyle/>
          <a:p>
            <a:pPr algn="l"/>
            <a:r>
              <a:rPr sz="1300" b="1">
                <a:solidFill>
                  <a:srgbClr val="0B2E4A"/>
                </a:solidFill>
                <a:latin typeface="Calibri"/>
              </a:rPr>
              <a:t>North America Read-out, By Commercial Product Model</a:t>
            </a:r>
          </a:p>
        </p:txBody>
      </p:sp>
      <p:sp>
        <p:nvSpPr>
          <p:cNvPr id="30" name="Rectangle 29"/>
          <p:cNvSpPr/>
          <p:nvPr/>
        </p:nvSpPr>
        <p:spPr>
          <a:xfrm>
            <a:off x="7829550" y="150299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588720"/>
            <a:ext cx="4076700"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5"/>
          <a:stretch>
            <a:fillRect/>
          </a:stretch>
        </p:blipFill>
        <p:spPr>
          <a:xfrm>
            <a:off x="2557843" y="3833622"/>
            <a:ext cx="275034" cy="400050"/>
          </a:xfrm>
          <a:prstGeom prst="rect">
            <a:avLst/>
          </a:prstGeom>
        </p:spPr>
      </p:pic>
      <p:sp>
        <p:nvSpPr>
          <p:cNvPr id="34" name="TextBox 33"/>
          <p:cNvSpPr txBox="1"/>
          <p:nvPr/>
        </p:nvSpPr>
        <p:spPr>
          <a:xfrm>
            <a:off x="7829550" y="1598245"/>
            <a:ext cx="3774802" cy="194310"/>
          </a:xfrm>
          <a:prstGeom prst="rect">
            <a:avLst/>
          </a:prstGeom>
          <a:noFill/>
        </p:spPr>
        <p:txBody>
          <a:bodyPr wrap="none" lIns="0" rIns="0" tIns="0" bIns="0">
            <a:spAutoFit/>
          </a:bodyPr>
          <a:lstStyle/>
          <a:p>
            <a:r>
              <a:rPr sz="1150" b="0">
                <a:solidFill>
                  <a:srgbClr val="2E2E2E"/>
                </a:solidFill>
                <a:latin typeface="Calibri"/>
              </a:rPr>
              <a:t>Among allergy immunotherapy by commercial product model,</a:t>
            </a:r>
          </a:p>
        </p:txBody>
      </p:sp>
      <p:sp>
        <p:nvSpPr>
          <p:cNvPr id="35" name="TextBox 34"/>
          <p:cNvSpPr txBox="1"/>
          <p:nvPr/>
        </p:nvSpPr>
        <p:spPr>
          <a:xfrm>
            <a:off x="7829550" y="1773505"/>
            <a:ext cx="3975620" cy="194310"/>
          </a:xfrm>
          <a:prstGeom prst="rect">
            <a:avLst/>
          </a:prstGeom>
          <a:noFill/>
        </p:spPr>
        <p:txBody>
          <a:bodyPr wrap="none" lIns="0" rIns="0" tIns="0" bIns="0">
            <a:spAutoFit/>
          </a:bodyPr>
          <a:lstStyle/>
          <a:p>
            <a:r>
              <a:rPr sz="1150" b="0">
                <a:solidFill>
                  <a:srgbClr val="2E2E2E"/>
                </a:solidFill>
                <a:latin typeface="Calibri"/>
              </a:rPr>
              <a:t>licensed finished AIT products segment is expected to witness the</a:t>
            </a:r>
          </a:p>
        </p:txBody>
      </p:sp>
      <p:sp>
        <p:nvSpPr>
          <p:cNvPr id="36" name="TextBox 35"/>
          <p:cNvSpPr txBox="1"/>
          <p:nvPr/>
        </p:nvSpPr>
        <p:spPr>
          <a:xfrm>
            <a:off x="7829550" y="194876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37" name="Picture 36" descr="lock.png"/>
          <p:cNvPicPr>
            <a:picLocks noChangeAspect="1"/>
          </p:cNvPicPr>
          <p:nvPr/>
        </p:nvPicPr>
        <p:blipFill>
          <a:blip r:embed="rId5"/>
          <a:stretch>
            <a:fillRect/>
          </a:stretch>
        </p:blipFill>
        <p:spPr>
          <a:xfrm>
            <a:off x="8811057" y="1938541"/>
            <a:ext cx="134549" cy="195707"/>
          </a:xfrm>
          <a:prstGeom prst="rect">
            <a:avLst/>
          </a:prstGeom>
        </p:spPr>
      </p:pic>
      <p:sp>
        <p:nvSpPr>
          <p:cNvPr id="38" name="TextBox 37"/>
          <p:cNvSpPr txBox="1"/>
          <p:nvPr/>
        </p:nvSpPr>
        <p:spPr>
          <a:xfrm>
            <a:off x="8986166" y="1948765"/>
            <a:ext cx="2581585" cy="194310"/>
          </a:xfrm>
          <a:prstGeom prst="rect">
            <a:avLst/>
          </a:prstGeom>
          <a:noFill/>
        </p:spPr>
        <p:txBody>
          <a:bodyPr wrap="none" lIns="0" rIns="0" tIns="0" bIns="0">
            <a:spAutoFit/>
          </a:bodyPr>
          <a:lstStyle/>
          <a:p>
            <a:r>
              <a:rPr sz="1150" b="0">
                <a:solidFill>
                  <a:srgbClr val="2E2E2E"/>
                </a:solidFill>
                <a:latin typeface="Calibri"/>
              </a:rPr>
              <a:t>over the forecast period. In terms of value</a:t>
            </a:r>
          </a:p>
        </p:txBody>
      </p:sp>
      <p:sp>
        <p:nvSpPr>
          <p:cNvPr id="39" name="TextBox 38"/>
          <p:cNvSpPr txBox="1"/>
          <p:nvPr/>
        </p:nvSpPr>
        <p:spPr>
          <a:xfrm>
            <a:off x="7829550" y="2124025"/>
            <a:ext cx="3737148" cy="194310"/>
          </a:xfrm>
          <a:prstGeom prst="rect">
            <a:avLst/>
          </a:prstGeom>
          <a:noFill/>
        </p:spPr>
        <p:txBody>
          <a:bodyPr wrap="none" lIns="0" rIns="0" tIns="0" bIns="0">
            <a:spAutoFit/>
          </a:bodyPr>
          <a:lstStyle/>
          <a:p>
            <a:r>
              <a:rPr sz="1150" b="0">
                <a:solidFill>
                  <a:srgbClr val="2E2E2E"/>
                </a:solidFill>
                <a:latin typeface="Calibri"/>
              </a:rPr>
              <a:t>share by commercial product model, the licensed finished AIT</a:t>
            </a:r>
          </a:p>
        </p:txBody>
      </p:sp>
      <p:sp>
        <p:nvSpPr>
          <p:cNvPr id="40" name="TextBox 39"/>
          <p:cNvSpPr txBox="1"/>
          <p:nvPr/>
        </p:nvSpPr>
        <p:spPr>
          <a:xfrm>
            <a:off x="7829550" y="2299285"/>
            <a:ext cx="3805324" cy="194310"/>
          </a:xfrm>
          <a:prstGeom prst="rect">
            <a:avLst/>
          </a:prstGeom>
          <a:noFill/>
        </p:spPr>
        <p:txBody>
          <a:bodyPr wrap="none" lIns="0" rIns="0" tIns="0" bIns="0">
            <a:spAutoFit/>
          </a:bodyPr>
          <a:lstStyle/>
          <a:p>
            <a:r>
              <a:rPr sz="1150" b="0">
                <a:solidFill>
                  <a:srgbClr val="2E2E2E"/>
                </a:solidFill>
                <a:latin typeface="Calibri"/>
              </a:rPr>
              <a:t>products segment is expected to dominate the market, gaining</a:t>
            </a:r>
          </a:p>
        </p:txBody>
      </p:sp>
      <p:pic>
        <p:nvPicPr>
          <p:cNvPr id="41" name="Picture 40" descr="lock.png"/>
          <p:cNvPicPr>
            <a:picLocks noChangeAspect="1"/>
          </p:cNvPicPr>
          <p:nvPr/>
        </p:nvPicPr>
        <p:blipFill>
          <a:blip r:embed="rId5"/>
          <a:stretch>
            <a:fillRect/>
          </a:stretch>
        </p:blipFill>
        <p:spPr>
          <a:xfrm>
            <a:off x="11584028" y="2289061"/>
            <a:ext cx="134549" cy="195707"/>
          </a:xfrm>
          <a:prstGeom prst="rect">
            <a:avLst/>
          </a:prstGeom>
        </p:spPr>
      </p:pic>
      <p:sp>
        <p:nvSpPr>
          <p:cNvPr id="42" name="TextBox 41"/>
          <p:cNvSpPr txBox="1"/>
          <p:nvPr/>
        </p:nvSpPr>
        <p:spPr>
          <a:xfrm>
            <a:off x="7829550" y="247454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3" name="Picture 42" descr="lock.png"/>
          <p:cNvPicPr>
            <a:picLocks noChangeAspect="1"/>
          </p:cNvPicPr>
          <p:nvPr/>
        </p:nvPicPr>
        <p:blipFill>
          <a:blip r:embed="rId5"/>
          <a:stretch>
            <a:fillRect/>
          </a:stretch>
        </p:blipFill>
        <p:spPr>
          <a:xfrm>
            <a:off x="9224693" y="2464321"/>
            <a:ext cx="134549" cy="195707"/>
          </a:xfrm>
          <a:prstGeom prst="rect">
            <a:avLst/>
          </a:prstGeom>
        </p:spPr>
      </p:pic>
      <p:sp>
        <p:nvSpPr>
          <p:cNvPr id="44" name="TextBox 43"/>
          <p:cNvSpPr txBox="1"/>
          <p:nvPr/>
        </p:nvSpPr>
        <p:spPr>
          <a:xfrm>
            <a:off x="9399802" y="247454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TextBox 44"/>
          <p:cNvSpPr txBox="1"/>
          <p:nvPr/>
        </p:nvSpPr>
        <p:spPr>
          <a:xfrm>
            <a:off x="7829550" y="2702382"/>
            <a:ext cx="3911438" cy="194310"/>
          </a:xfrm>
          <a:prstGeom prst="rect">
            <a:avLst/>
          </a:prstGeom>
          <a:noFill/>
        </p:spPr>
        <p:txBody>
          <a:bodyPr wrap="none" lIns="0" rIns="0" tIns="0" bIns="0">
            <a:spAutoFit/>
          </a:bodyPr>
          <a:lstStyle/>
          <a:p>
            <a:r>
              <a:rPr sz="1150" b="0">
                <a:solidFill>
                  <a:srgbClr val="2E2E2E"/>
                </a:solidFill>
                <a:latin typeface="Calibri"/>
              </a:rPr>
              <a:t>The individual-prescription products segment is expected to lose</a:t>
            </a:r>
          </a:p>
        </p:txBody>
      </p:sp>
      <p:pic>
        <p:nvPicPr>
          <p:cNvPr id="46" name="Picture 45" descr="lock.png"/>
          <p:cNvPicPr>
            <a:picLocks noChangeAspect="1"/>
          </p:cNvPicPr>
          <p:nvPr/>
        </p:nvPicPr>
        <p:blipFill>
          <a:blip r:embed="rId5"/>
          <a:stretch>
            <a:fillRect/>
          </a:stretch>
        </p:blipFill>
        <p:spPr>
          <a:xfrm>
            <a:off x="7815470" y="2867419"/>
            <a:ext cx="134549" cy="195707"/>
          </a:xfrm>
          <a:prstGeom prst="rect">
            <a:avLst/>
          </a:prstGeom>
        </p:spPr>
      </p:pic>
      <p:sp>
        <p:nvSpPr>
          <p:cNvPr id="47" name="TextBox 46"/>
          <p:cNvSpPr txBox="1"/>
          <p:nvPr/>
        </p:nvSpPr>
        <p:spPr>
          <a:xfrm>
            <a:off x="7990579" y="287764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48" name="Picture 47" descr="lock.png"/>
          <p:cNvPicPr>
            <a:picLocks noChangeAspect="1"/>
          </p:cNvPicPr>
          <p:nvPr/>
        </p:nvPicPr>
        <p:blipFill>
          <a:blip r:embed="rId5"/>
          <a:stretch>
            <a:fillRect/>
          </a:stretch>
        </p:blipFill>
        <p:spPr>
          <a:xfrm>
            <a:off x="10578084" y="2867419"/>
            <a:ext cx="134549" cy="195707"/>
          </a:xfrm>
          <a:prstGeom prst="rect">
            <a:avLst/>
          </a:prstGeom>
        </p:spPr>
      </p:pic>
      <p:sp>
        <p:nvSpPr>
          <p:cNvPr id="49" name="TextBox 48"/>
          <p:cNvSpPr txBox="1"/>
          <p:nvPr/>
        </p:nvSpPr>
        <p:spPr>
          <a:xfrm>
            <a:off x="10753193" y="287764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0"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Allergen Preparation Technology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Allergen Preparation Technology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Allergen Preparation Technology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Allergen Preparation Technology,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Allergen Preparation Technology segment categorizes the market by allergen preparation technology.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Modified Allergen</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Native Allergen Extracts</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Molecular Allergen Preparations</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Allergen Preparation Technology split shows how demand is distributed across allergen preparation technology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330_6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658_6_605E5C.png"/>
          <p:cNvPicPr>
            <a:picLocks noChangeAspect="1"/>
          </p:cNvPicPr>
          <p:nvPr/>
        </p:nvPicPr>
        <p:blipFill>
          <a:blip r:embed="rId5"/>
          <a:stretch>
            <a:fillRect/>
          </a:stretch>
        </p:blipFill>
        <p:spPr>
          <a:xfrm>
            <a:off x="2897811" y="2779432"/>
            <a:ext cx="1195728" cy="361950"/>
          </a:xfrm>
          <a:prstGeom prst="rect">
            <a:avLst/>
          </a:prstGeom>
        </p:spPr>
      </p:pic>
      <p:pic>
        <p:nvPicPr>
          <p:cNvPr id="59" name="Picture 58" descr="7_1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250_3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606_9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9_3__605E5C.png"/>
          <p:cNvPicPr>
            <a:picLocks noChangeAspect="1"/>
          </p:cNvPicPr>
          <p:nvPr/>
        </p:nvPicPr>
        <p:blipFill>
          <a:blip r:embed="rId9"/>
          <a:stretch>
            <a:fillRect/>
          </a:stretch>
        </p:blipFill>
        <p:spPr>
          <a:xfrm>
            <a:off x="6376307" y="3272281"/>
            <a:ext cx="982436" cy="361950"/>
          </a:xfrm>
          <a:prstGeom prst="rect">
            <a:avLst/>
          </a:prstGeom>
        </p:spPr>
      </p:pic>
      <p:pic>
        <p:nvPicPr>
          <p:cNvPr id="63" name="Picture 62" descr="220_2_605E5C.png"/>
          <p:cNvPicPr>
            <a:picLocks noChangeAspect="1"/>
          </p:cNvPicPr>
          <p:nvPr/>
        </p:nvPicPr>
        <p:blipFill>
          <a:blip r:embed="rId10"/>
          <a:stretch>
            <a:fillRect/>
          </a:stretch>
        </p:blipFill>
        <p:spPr>
          <a:xfrm>
            <a:off x="9641511" y="2286582"/>
            <a:ext cx="1195728" cy="361950"/>
          </a:xfrm>
          <a:prstGeom prst="rect">
            <a:avLst/>
          </a:prstGeom>
        </p:spPr>
      </p:pic>
      <p:pic>
        <p:nvPicPr>
          <p:cNvPr id="64" name="Picture 63" descr="380_7_605E5C.png"/>
          <p:cNvPicPr>
            <a:picLocks noChangeAspect="1"/>
          </p:cNvPicPr>
          <p:nvPr/>
        </p:nvPicPr>
        <p:blipFill>
          <a:blip r:embed="rId11"/>
          <a:stretch>
            <a:fillRect/>
          </a:stretch>
        </p:blipFill>
        <p:spPr>
          <a:xfrm>
            <a:off x="9641511" y="2779432"/>
            <a:ext cx="1195728" cy="361950"/>
          </a:xfrm>
          <a:prstGeom prst="rect">
            <a:avLst/>
          </a:prstGeom>
        </p:spPr>
      </p:pic>
      <p:pic>
        <p:nvPicPr>
          <p:cNvPr id="65" name="Picture 64" descr="5_6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499940" cy="186689"/>
          </a:xfrm>
          <a:prstGeom prst="rect">
            <a:avLst/>
          </a:prstGeom>
          <a:noFill/>
        </p:spPr>
        <p:txBody>
          <a:bodyPr wrap="none" lIns="0" rIns="0" tIns="0" bIns="0">
            <a:spAutoFit/>
          </a:bodyPr>
          <a:lstStyle/>
          <a:p>
            <a:r>
              <a:rPr sz="1100" b="0">
                <a:solidFill>
                  <a:srgbClr val="2E2E2E"/>
                </a:solidFill>
                <a:latin typeface="Calibri"/>
              </a:rPr>
              <a:t>Among allergy immunotherapy by allergen</a:t>
            </a:r>
          </a:p>
        </p:txBody>
      </p:sp>
      <p:sp>
        <p:nvSpPr>
          <p:cNvPr id="70" name="TextBox 69"/>
          <p:cNvSpPr txBox="1"/>
          <p:nvPr/>
        </p:nvSpPr>
        <p:spPr>
          <a:xfrm>
            <a:off x="485775" y="4397077"/>
            <a:ext cx="2806625" cy="186689"/>
          </a:xfrm>
          <a:prstGeom prst="rect">
            <a:avLst/>
          </a:prstGeom>
          <a:noFill/>
        </p:spPr>
        <p:txBody>
          <a:bodyPr wrap="none" lIns="0" rIns="0" tIns="0" bIns="0">
            <a:spAutoFit/>
          </a:bodyPr>
          <a:lstStyle/>
          <a:p>
            <a:r>
              <a:rPr sz="1100" b="0">
                <a:solidFill>
                  <a:srgbClr val="2E2E2E"/>
                </a:solidFill>
                <a:latin typeface="Calibri"/>
              </a:rPr>
              <a:t>preparation technology, native allergen extracts</a:t>
            </a:r>
          </a:p>
        </p:txBody>
      </p:sp>
      <p:sp>
        <p:nvSpPr>
          <p:cNvPr id="71" name="TextBox 70"/>
          <p:cNvSpPr txBox="1"/>
          <p:nvPr/>
        </p:nvSpPr>
        <p:spPr>
          <a:xfrm>
            <a:off x="485775" y="456471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72" name="TextBox 71"/>
          <p:cNvSpPr txBox="1"/>
          <p:nvPr/>
        </p:nvSpPr>
        <p:spPr>
          <a:xfrm>
            <a:off x="485775" y="473235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73" name="Picture 72" descr="lock.png"/>
          <p:cNvPicPr>
            <a:picLocks noChangeAspect="1"/>
          </p:cNvPicPr>
          <p:nvPr/>
        </p:nvPicPr>
        <p:blipFill>
          <a:blip r:embed="rId13"/>
          <a:stretch>
            <a:fillRect/>
          </a:stretch>
        </p:blipFill>
        <p:spPr>
          <a:xfrm>
            <a:off x="626261" y="4722578"/>
            <a:ext cx="128699" cy="187198"/>
          </a:xfrm>
          <a:prstGeom prst="rect">
            <a:avLst/>
          </a:prstGeom>
        </p:spPr>
      </p:pic>
      <p:sp>
        <p:nvSpPr>
          <p:cNvPr id="74" name="TextBox 73"/>
          <p:cNvSpPr txBox="1"/>
          <p:nvPr/>
        </p:nvSpPr>
        <p:spPr>
          <a:xfrm>
            <a:off x="793757" y="473235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75" name="TextBox 74"/>
          <p:cNvSpPr txBox="1"/>
          <p:nvPr/>
        </p:nvSpPr>
        <p:spPr>
          <a:xfrm>
            <a:off x="485775" y="4899997"/>
            <a:ext cx="2672655" cy="186689"/>
          </a:xfrm>
          <a:prstGeom prst="rect">
            <a:avLst/>
          </a:prstGeom>
          <a:noFill/>
        </p:spPr>
        <p:txBody>
          <a:bodyPr wrap="none" lIns="0" rIns="0" tIns="0" bIns="0">
            <a:spAutoFit/>
          </a:bodyPr>
          <a:lstStyle/>
          <a:p>
            <a:r>
              <a:rPr sz="1100" b="0">
                <a:solidFill>
                  <a:srgbClr val="2E2E2E"/>
                </a:solidFill>
                <a:latin typeface="Calibri"/>
              </a:rPr>
              <a:t>share by allergen preparation technology, the</a:t>
            </a:r>
          </a:p>
        </p:txBody>
      </p:sp>
      <p:sp>
        <p:nvSpPr>
          <p:cNvPr id="76" name="TextBox 75"/>
          <p:cNvSpPr txBox="1"/>
          <p:nvPr/>
        </p:nvSpPr>
        <p:spPr>
          <a:xfrm>
            <a:off x="485775" y="5067637"/>
            <a:ext cx="2422450" cy="186689"/>
          </a:xfrm>
          <a:prstGeom prst="rect">
            <a:avLst/>
          </a:prstGeom>
          <a:noFill/>
        </p:spPr>
        <p:txBody>
          <a:bodyPr wrap="none" lIns="0" rIns="0" tIns="0" bIns="0">
            <a:spAutoFit/>
          </a:bodyPr>
          <a:lstStyle/>
          <a:p>
            <a:r>
              <a:rPr sz="1100" b="0">
                <a:solidFill>
                  <a:srgbClr val="2E2E2E"/>
                </a:solidFill>
                <a:latin typeface="Calibri"/>
              </a:rPr>
              <a:t>modified allergen segment is expected to</a:t>
            </a:r>
          </a:p>
        </p:txBody>
      </p:sp>
      <p:sp>
        <p:nvSpPr>
          <p:cNvPr id="77" name="TextBox 76"/>
          <p:cNvSpPr txBox="1"/>
          <p:nvPr/>
        </p:nvSpPr>
        <p:spPr>
          <a:xfrm>
            <a:off x="485775" y="5235277"/>
            <a:ext cx="1682750" cy="186689"/>
          </a:xfrm>
          <a:prstGeom prst="rect">
            <a:avLst/>
          </a:prstGeom>
          <a:noFill/>
        </p:spPr>
        <p:txBody>
          <a:bodyPr wrap="none" lIns="0" rIns="0" tIns="0" bIns="0">
            <a:spAutoFit/>
          </a:bodyPr>
          <a:lstStyle/>
          <a:p>
            <a:r>
              <a:rPr sz="1100" b="0">
                <a:solidFill>
                  <a:srgbClr val="2E2E2E"/>
                </a:solidFill>
                <a:latin typeface="Calibri"/>
              </a:rPr>
              <a:t>dominate the market, losing</a:t>
            </a:r>
          </a:p>
        </p:txBody>
      </p:sp>
      <p:pic>
        <p:nvPicPr>
          <p:cNvPr id="78" name="Picture 77" descr="lock.png"/>
          <p:cNvPicPr>
            <a:picLocks noChangeAspect="1"/>
          </p:cNvPicPr>
          <p:nvPr/>
        </p:nvPicPr>
        <p:blipFill>
          <a:blip r:embed="rId13"/>
          <a:stretch>
            <a:fillRect/>
          </a:stretch>
        </p:blipFill>
        <p:spPr>
          <a:xfrm>
            <a:off x="2116576" y="5225498"/>
            <a:ext cx="128699" cy="187198"/>
          </a:xfrm>
          <a:prstGeom prst="rect">
            <a:avLst/>
          </a:prstGeom>
        </p:spPr>
      </p:pic>
      <p:sp>
        <p:nvSpPr>
          <p:cNvPr id="79" name="TextBox 78"/>
          <p:cNvSpPr txBox="1"/>
          <p:nvPr/>
        </p:nvSpPr>
        <p:spPr>
          <a:xfrm>
            <a:off x="2284072" y="523527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80" name="TextBox 79"/>
          <p:cNvSpPr txBox="1"/>
          <p:nvPr/>
        </p:nvSpPr>
        <p:spPr>
          <a:xfrm>
            <a:off x="485775" y="540291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81" name="Picture 80" descr="lock.png"/>
          <p:cNvPicPr>
            <a:picLocks noChangeAspect="1"/>
          </p:cNvPicPr>
          <p:nvPr/>
        </p:nvPicPr>
        <p:blipFill>
          <a:blip r:embed="rId13"/>
          <a:stretch>
            <a:fillRect/>
          </a:stretch>
        </p:blipFill>
        <p:spPr>
          <a:xfrm>
            <a:off x="1330764" y="5393138"/>
            <a:ext cx="128699" cy="187198"/>
          </a:xfrm>
          <a:prstGeom prst="rect">
            <a:avLst/>
          </a:prstGeom>
        </p:spPr>
      </p:pic>
      <p:sp>
        <p:nvSpPr>
          <p:cNvPr id="82" name="TextBox 81"/>
          <p:cNvSpPr txBox="1"/>
          <p:nvPr/>
        </p:nvSpPr>
        <p:spPr>
          <a:xfrm>
            <a:off x="1498259"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3" name="TextBox 82"/>
          <p:cNvSpPr txBox="1"/>
          <p:nvPr/>
        </p:nvSpPr>
        <p:spPr>
          <a:xfrm>
            <a:off x="485775" y="5620849"/>
            <a:ext cx="2914650" cy="186689"/>
          </a:xfrm>
          <a:prstGeom prst="rect">
            <a:avLst/>
          </a:prstGeom>
          <a:noFill/>
        </p:spPr>
        <p:txBody>
          <a:bodyPr wrap="none" lIns="0" rIns="0" tIns="0" bIns="0">
            <a:spAutoFit/>
          </a:bodyPr>
          <a:lstStyle/>
          <a:p>
            <a:r>
              <a:rPr sz="1100" b="0">
                <a:solidFill>
                  <a:srgbClr val="2E2E2E"/>
                </a:solidFill>
                <a:latin typeface="Calibri"/>
              </a:rPr>
              <a:t>Modified allergen segment is projected to register</a:t>
            </a:r>
          </a:p>
        </p:txBody>
      </p:sp>
      <p:pic>
        <p:nvPicPr>
          <p:cNvPr id="84" name="Picture 83" descr="lock.png"/>
          <p:cNvPicPr>
            <a:picLocks noChangeAspect="1"/>
          </p:cNvPicPr>
          <p:nvPr/>
        </p:nvPicPr>
        <p:blipFill>
          <a:blip r:embed="rId13"/>
          <a:stretch>
            <a:fillRect/>
          </a:stretch>
        </p:blipFill>
        <p:spPr>
          <a:xfrm>
            <a:off x="472307" y="5778710"/>
            <a:ext cx="128699" cy="187198"/>
          </a:xfrm>
          <a:prstGeom prst="rect">
            <a:avLst/>
          </a:prstGeom>
        </p:spPr>
      </p:pic>
      <p:sp>
        <p:nvSpPr>
          <p:cNvPr id="85" name="TextBox 84"/>
          <p:cNvSpPr txBox="1"/>
          <p:nvPr/>
        </p:nvSpPr>
        <p:spPr>
          <a:xfrm>
            <a:off x="639803" y="5788489"/>
            <a:ext cx="2531318" cy="186689"/>
          </a:xfrm>
          <a:prstGeom prst="rect">
            <a:avLst/>
          </a:prstGeom>
          <a:noFill/>
        </p:spPr>
        <p:txBody>
          <a:bodyPr wrap="none" lIns="0" rIns="0" tIns="0" bIns="0">
            <a:spAutoFit/>
          </a:bodyPr>
          <a:lstStyle/>
          <a:p>
            <a:r>
              <a:rPr sz="1100" b="0">
                <a:solidFill>
                  <a:srgbClr val="2E2E2E"/>
                </a:solidFill>
                <a:latin typeface="Calibri"/>
              </a:rPr>
              <a:t>X higher value than native allergen extracts</a:t>
            </a:r>
          </a:p>
        </p:txBody>
      </p:sp>
      <p:sp>
        <p:nvSpPr>
          <p:cNvPr id="86" name="TextBox 85"/>
          <p:cNvSpPr txBox="1"/>
          <p:nvPr/>
        </p:nvSpPr>
        <p:spPr>
          <a:xfrm>
            <a:off x="485775" y="595612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87" name="TextBox 86"/>
          <p:cNvSpPr txBox="1"/>
          <p:nvPr/>
        </p:nvSpPr>
        <p:spPr>
          <a:xfrm>
            <a:off x="3838575" y="4229437"/>
            <a:ext cx="1250007" cy="186689"/>
          </a:xfrm>
          <a:prstGeom prst="rect">
            <a:avLst/>
          </a:prstGeom>
          <a:noFill/>
        </p:spPr>
        <p:txBody>
          <a:bodyPr wrap="none" lIns="0" rIns="0" tIns="0" bIns="0">
            <a:spAutoFit/>
          </a:bodyPr>
          <a:lstStyle/>
          <a:p>
            <a:r>
              <a:rPr sz="1100" b="0">
                <a:solidFill>
                  <a:srgbClr val="2E2E2E"/>
                </a:solidFill>
                <a:latin typeface="Calibri"/>
              </a:rPr>
              <a:t>● Modified Allergen:</a:t>
            </a:r>
          </a:p>
        </p:txBody>
      </p:sp>
      <p:pic>
        <p:nvPicPr>
          <p:cNvPr id="88" name="Picture 87" descr="lock.png"/>
          <p:cNvPicPr>
            <a:picLocks noChangeAspect="1"/>
          </p:cNvPicPr>
          <p:nvPr/>
        </p:nvPicPr>
        <p:blipFill>
          <a:blip r:embed="rId13"/>
          <a:stretch>
            <a:fillRect/>
          </a:stretch>
        </p:blipFill>
        <p:spPr>
          <a:xfrm>
            <a:off x="5036634" y="4219658"/>
            <a:ext cx="128699" cy="187198"/>
          </a:xfrm>
          <a:prstGeom prst="rect">
            <a:avLst/>
          </a:prstGeom>
        </p:spPr>
      </p:pic>
      <p:sp>
        <p:nvSpPr>
          <p:cNvPr id="89" name="TextBox 88"/>
          <p:cNvSpPr txBox="1"/>
          <p:nvPr/>
        </p:nvSpPr>
        <p:spPr>
          <a:xfrm>
            <a:off x="520412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0" name="Picture 89" descr="lock.png"/>
          <p:cNvPicPr>
            <a:picLocks noChangeAspect="1"/>
          </p:cNvPicPr>
          <p:nvPr/>
        </p:nvPicPr>
        <p:blipFill>
          <a:blip r:embed="rId13"/>
          <a:stretch>
            <a:fillRect/>
          </a:stretch>
        </p:blipFill>
        <p:spPr>
          <a:xfrm>
            <a:off x="6063580" y="4219658"/>
            <a:ext cx="128699" cy="187198"/>
          </a:xfrm>
          <a:prstGeom prst="rect">
            <a:avLst/>
          </a:prstGeom>
        </p:spPr>
      </p:pic>
      <p:sp>
        <p:nvSpPr>
          <p:cNvPr id="91" name="TextBox 90"/>
          <p:cNvSpPr txBox="1"/>
          <p:nvPr/>
        </p:nvSpPr>
        <p:spPr>
          <a:xfrm>
            <a:off x="6231075"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92" name="TextBox 91"/>
          <p:cNvSpPr txBox="1"/>
          <p:nvPr/>
        </p:nvSpPr>
        <p:spPr>
          <a:xfrm>
            <a:off x="3838575" y="4447369"/>
            <a:ext cx="1586160" cy="186689"/>
          </a:xfrm>
          <a:prstGeom prst="rect">
            <a:avLst/>
          </a:prstGeom>
          <a:noFill/>
        </p:spPr>
        <p:txBody>
          <a:bodyPr wrap="none" lIns="0" rIns="0" tIns="0" bIns="0">
            <a:spAutoFit/>
          </a:bodyPr>
          <a:lstStyle/>
          <a:p>
            <a:r>
              <a:rPr sz="1100" b="0">
                <a:solidFill>
                  <a:srgbClr val="2E2E2E"/>
                </a:solidFill>
                <a:latin typeface="Calibri"/>
              </a:rPr>
              <a:t>● Native Allergen Extracts:</a:t>
            </a:r>
          </a:p>
        </p:txBody>
      </p:sp>
      <p:pic>
        <p:nvPicPr>
          <p:cNvPr id="93" name="Picture 92" descr="lock.png"/>
          <p:cNvPicPr>
            <a:picLocks noChangeAspect="1"/>
          </p:cNvPicPr>
          <p:nvPr/>
        </p:nvPicPr>
        <p:blipFill>
          <a:blip r:embed="rId13"/>
          <a:stretch>
            <a:fillRect/>
          </a:stretch>
        </p:blipFill>
        <p:spPr>
          <a:xfrm>
            <a:off x="5372787" y="4437590"/>
            <a:ext cx="128699" cy="187198"/>
          </a:xfrm>
          <a:prstGeom prst="rect">
            <a:avLst/>
          </a:prstGeom>
        </p:spPr>
      </p:pic>
      <p:sp>
        <p:nvSpPr>
          <p:cNvPr id="94" name="TextBox 93"/>
          <p:cNvSpPr txBox="1"/>
          <p:nvPr/>
        </p:nvSpPr>
        <p:spPr>
          <a:xfrm>
            <a:off x="5540282"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5" name="Picture 94" descr="lock.png"/>
          <p:cNvPicPr>
            <a:picLocks noChangeAspect="1"/>
          </p:cNvPicPr>
          <p:nvPr/>
        </p:nvPicPr>
        <p:blipFill>
          <a:blip r:embed="rId13"/>
          <a:stretch>
            <a:fillRect/>
          </a:stretch>
        </p:blipFill>
        <p:spPr>
          <a:xfrm>
            <a:off x="6399733" y="4437590"/>
            <a:ext cx="128699" cy="187198"/>
          </a:xfrm>
          <a:prstGeom prst="rect">
            <a:avLst/>
          </a:prstGeom>
        </p:spPr>
      </p:pic>
      <p:sp>
        <p:nvSpPr>
          <p:cNvPr id="96" name="TextBox 95"/>
          <p:cNvSpPr txBox="1"/>
          <p:nvPr/>
        </p:nvSpPr>
        <p:spPr>
          <a:xfrm>
            <a:off x="656722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7" name="TextBox 96"/>
          <p:cNvSpPr txBox="1"/>
          <p:nvPr/>
        </p:nvSpPr>
        <p:spPr>
          <a:xfrm>
            <a:off x="3838575" y="4665301"/>
            <a:ext cx="2068016" cy="186689"/>
          </a:xfrm>
          <a:prstGeom prst="rect">
            <a:avLst/>
          </a:prstGeom>
          <a:noFill/>
        </p:spPr>
        <p:txBody>
          <a:bodyPr wrap="none" lIns="0" rIns="0" tIns="0" bIns="0">
            <a:spAutoFit/>
          </a:bodyPr>
          <a:lstStyle/>
          <a:p>
            <a:r>
              <a:rPr sz="1100" b="0">
                <a:solidFill>
                  <a:srgbClr val="2E2E2E"/>
                </a:solidFill>
                <a:latin typeface="Calibri"/>
              </a:rPr>
              <a:t>● Molecular Allergen Preparations:</a:t>
            </a:r>
          </a:p>
        </p:txBody>
      </p:sp>
      <p:pic>
        <p:nvPicPr>
          <p:cNvPr id="98" name="Picture 97" descr="lock.png"/>
          <p:cNvPicPr>
            <a:picLocks noChangeAspect="1"/>
          </p:cNvPicPr>
          <p:nvPr/>
        </p:nvPicPr>
        <p:blipFill>
          <a:blip r:embed="rId13"/>
          <a:stretch>
            <a:fillRect/>
          </a:stretch>
        </p:blipFill>
        <p:spPr>
          <a:xfrm>
            <a:off x="5854643" y="4655522"/>
            <a:ext cx="128699" cy="187198"/>
          </a:xfrm>
          <a:prstGeom prst="rect">
            <a:avLst/>
          </a:prstGeom>
        </p:spPr>
      </p:pic>
      <p:sp>
        <p:nvSpPr>
          <p:cNvPr id="99" name="TextBox 98"/>
          <p:cNvSpPr txBox="1"/>
          <p:nvPr/>
        </p:nvSpPr>
        <p:spPr>
          <a:xfrm>
            <a:off x="6022138"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3"/>
          <a:stretch>
            <a:fillRect/>
          </a:stretch>
        </p:blipFill>
        <p:spPr>
          <a:xfrm>
            <a:off x="6881589" y="4655522"/>
            <a:ext cx="128699" cy="187198"/>
          </a:xfrm>
          <a:prstGeom prst="rect">
            <a:avLst/>
          </a:prstGeom>
        </p:spPr>
      </p:pic>
      <p:sp>
        <p:nvSpPr>
          <p:cNvPr id="101" name="TextBox 100"/>
          <p:cNvSpPr txBox="1"/>
          <p:nvPr/>
        </p:nvSpPr>
        <p:spPr>
          <a:xfrm>
            <a:off x="7049084" y="4665301"/>
            <a:ext cx="787234" cy="186689"/>
          </a:xfrm>
          <a:prstGeom prst="rect">
            <a:avLst/>
          </a:prstGeom>
          <a:noFill/>
        </p:spPr>
        <p:txBody>
          <a:bodyPr wrap="none" lIns="0" rIns="0" tIns="0" bIns="0">
            <a:spAutoFit/>
          </a:bodyPr>
          <a:lstStyle/>
          <a:p>
            <a:r>
              <a:rPr sz="1100" b="0">
                <a:solidFill>
                  <a:srgbClr val="2E2E2E"/>
                </a:solidFill>
                <a:latin typeface="Calibri"/>
              </a:rPr>
              <a:t>CAGR serves</a:t>
            </a:r>
          </a:p>
        </p:txBody>
      </p:sp>
      <p:sp>
        <p:nvSpPr>
          <p:cNvPr id="102" name="TextBox 101"/>
          <p:cNvSpPr txBox="1"/>
          <p:nvPr/>
        </p:nvSpPr>
        <p:spPr>
          <a:xfrm>
            <a:off x="3838575" y="4832941"/>
            <a:ext cx="517673" cy="186689"/>
          </a:xfrm>
          <a:prstGeom prst="rect">
            <a:avLst/>
          </a:prstGeom>
          <a:noFill/>
        </p:spPr>
        <p:txBody>
          <a:bodyPr wrap="none" lIns="0" rIns="0" tIns="0" bIns="0">
            <a:spAutoFit/>
          </a:bodyPr>
          <a:lstStyle/>
          <a:p>
            <a:r>
              <a:rPr sz="1100" b="0">
                <a:solidFill>
                  <a:srgbClr val="2E2E2E"/>
                </a:solidFill>
                <a:latin typeface="Calibri"/>
              </a:rPr>
              <a:t>a niche.</a:t>
            </a:r>
          </a:p>
        </p:txBody>
      </p:sp>
      <p:sp>
        <p:nvSpPr>
          <p:cNvPr id="103" name="TextBox 102"/>
          <p:cNvSpPr txBox="1"/>
          <p:nvPr/>
        </p:nvSpPr>
        <p:spPr>
          <a:xfrm>
            <a:off x="8524875" y="5856661"/>
            <a:ext cx="2772967" cy="180289"/>
          </a:xfrm>
          <a:prstGeom prst="rect">
            <a:avLst/>
          </a:prstGeom>
          <a:noFill/>
        </p:spPr>
        <p:txBody>
          <a:bodyPr wrap="none" lIns="0" rIns="0" tIns="0" bIns="0">
            <a:spAutoFit/>
          </a:bodyPr>
          <a:lstStyle/>
          <a:p>
            <a:r>
              <a:rPr sz="1057" b="1">
                <a:solidFill>
                  <a:srgbClr val="0B2E4A"/>
                </a:solidFill>
                <a:latin typeface="Calibri"/>
              </a:rPr>
              <a:t>The Allergen Preparation Technology segment is</a:t>
            </a:r>
          </a:p>
        </p:txBody>
      </p:sp>
      <p:sp>
        <p:nvSpPr>
          <p:cNvPr id="104" name="TextBox 103"/>
          <p:cNvSpPr txBox="1"/>
          <p:nvPr/>
        </p:nvSpPr>
        <p:spPr>
          <a:xfrm>
            <a:off x="8524875" y="6017901"/>
            <a:ext cx="1806400" cy="180289"/>
          </a:xfrm>
          <a:prstGeom prst="rect">
            <a:avLst/>
          </a:prstGeom>
          <a:noFill/>
        </p:spPr>
        <p:txBody>
          <a:bodyPr wrap="none" lIns="0" rIns="0" tIns="0" bIns="0">
            <a:spAutoFit/>
          </a:bodyPr>
          <a:lstStyle/>
          <a:p>
            <a:r>
              <a:rPr sz="1057" b="1">
                <a:solidFill>
                  <a:srgbClr val="0B2E4A"/>
                </a:solidFill>
                <a:latin typeface="Calibri"/>
              </a:rPr>
              <a:t>projected to grow at a CAGR of</a:t>
            </a:r>
          </a:p>
        </p:txBody>
      </p:sp>
      <p:pic>
        <p:nvPicPr>
          <p:cNvPr id="105" name="Picture 104" descr="lock.png"/>
          <p:cNvPicPr>
            <a:picLocks noChangeAspect="1"/>
          </p:cNvPicPr>
          <p:nvPr/>
        </p:nvPicPr>
        <p:blipFill>
          <a:blip r:embed="rId13"/>
          <a:stretch>
            <a:fillRect/>
          </a:stretch>
        </p:blipFill>
        <p:spPr>
          <a:xfrm>
            <a:off x="10278400" y="6008495"/>
            <a:ext cx="123784" cy="180050"/>
          </a:xfrm>
          <a:prstGeom prst="rect">
            <a:avLst/>
          </a:prstGeom>
        </p:spPr>
      </p:pic>
      <p:sp>
        <p:nvSpPr>
          <p:cNvPr id="106" name="TextBox 105"/>
          <p:cNvSpPr txBox="1"/>
          <p:nvPr/>
        </p:nvSpPr>
        <p:spPr>
          <a:xfrm>
            <a:off x="10439501" y="6017901"/>
            <a:ext cx="1140105" cy="180289"/>
          </a:xfrm>
          <a:prstGeom prst="rect">
            <a:avLst/>
          </a:prstGeom>
          <a:noFill/>
        </p:spPr>
        <p:txBody>
          <a:bodyPr wrap="none" lIns="0" rIns="0" tIns="0" bIns="0">
            <a:spAutoFit/>
          </a:bodyPr>
          <a:lstStyle/>
          <a:p>
            <a:r>
              <a:rPr sz="1057" b="1">
                <a:solidFill>
                  <a:srgbClr val="0B2E4A"/>
                </a:solidFill>
                <a:latin typeface="Calibri"/>
              </a:rPr>
              <a:t>from 2026 to 2036.</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Allergen Preparation Technology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Allergen Preparation Technology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Allergen Preparation Technology mix within each country (share of 2036 value) · row label = country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Allergen Preparation Technology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Modified allergen followed by native allergen extracts are expected to be the two most attractive allergen preparation technology segments in the North America allergy immunotherapy market in terms of</a:t>
            </a:r>
          </a:p>
        </p:txBody>
      </p:sp>
      <p:sp>
        <p:nvSpPr>
          <p:cNvPr id="21" name="TextBox 20"/>
          <p:cNvSpPr txBox="1"/>
          <p:nvPr/>
        </p:nvSpPr>
        <p:spPr>
          <a:xfrm>
            <a:off x="257175" y="5861685"/>
            <a:ext cx="5821618" cy="186689"/>
          </a:xfrm>
          <a:prstGeom prst="rect">
            <a:avLst/>
          </a:prstGeom>
          <a:noFill/>
        </p:spPr>
        <p:txBody>
          <a:bodyPr wrap="none" lIns="0" rIns="0" tIns="0" bIns="0">
            <a:spAutoFit/>
          </a:bodyPr>
          <a:lstStyle/>
          <a:p>
            <a:r>
              <a:rPr sz="1100" b="0">
                <a:solidFill>
                  <a:srgbClr val="2E2E2E"/>
                </a:solidFill>
                <a:latin typeface="Calibri"/>
              </a:rPr>
              <a:t>value over the forecast period. Modified allergen and native allergen extracts exhibit a CAGR index of</a:t>
            </a:r>
          </a:p>
        </p:txBody>
      </p:sp>
      <p:pic>
        <p:nvPicPr>
          <p:cNvPr id="22" name="Picture 21" descr="lock.png"/>
          <p:cNvPicPr>
            <a:picLocks noChangeAspect="1"/>
          </p:cNvPicPr>
          <p:nvPr/>
        </p:nvPicPr>
        <p:blipFill>
          <a:blip r:embed="rId6"/>
          <a:stretch>
            <a:fillRect/>
          </a:stretch>
        </p:blipFill>
        <p:spPr>
          <a:xfrm>
            <a:off x="6026844" y="5851905"/>
            <a:ext cx="128699" cy="187198"/>
          </a:xfrm>
          <a:prstGeom prst="rect">
            <a:avLst/>
          </a:prstGeom>
        </p:spPr>
      </p:pic>
      <p:sp>
        <p:nvSpPr>
          <p:cNvPr id="23" name="TextBox 22"/>
          <p:cNvSpPr txBox="1"/>
          <p:nvPr/>
        </p:nvSpPr>
        <p:spPr>
          <a:xfrm>
            <a:off x="6194340"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6432235" y="5851905"/>
            <a:ext cx="128699" cy="187198"/>
          </a:xfrm>
          <a:prstGeom prst="rect">
            <a:avLst/>
          </a:prstGeom>
        </p:spPr>
      </p:pic>
      <p:sp>
        <p:nvSpPr>
          <p:cNvPr id="25" name="TextBox 24"/>
          <p:cNvSpPr txBox="1"/>
          <p:nvPr/>
        </p:nvSpPr>
        <p:spPr>
          <a:xfrm>
            <a:off x="6599730"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8208704" y="5851905"/>
            <a:ext cx="128699" cy="187198"/>
          </a:xfrm>
          <a:prstGeom prst="rect">
            <a:avLst/>
          </a:prstGeom>
        </p:spPr>
      </p:pic>
      <p:sp>
        <p:nvSpPr>
          <p:cNvPr id="27" name="TextBox 26"/>
          <p:cNvSpPr txBox="1"/>
          <p:nvPr/>
        </p:nvSpPr>
        <p:spPr>
          <a:xfrm>
            <a:off x="8376200"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8614094" y="5851905"/>
            <a:ext cx="128699" cy="187198"/>
          </a:xfrm>
          <a:prstGeom prst="rect">
            <a:avLst/>
          </a:prstGeom>
        </p:spPr>
      </p:pic>
      <p:sp>
        <p:nvSpPr>
          <p:cNvPr id="29" name="TextBox 28"/>
          <p:cNvSpPr txBox="1"/>
          <p:nvPr/>
        </p:nvSpPr>
        <p:spPr>
          <a:xfrm>
            <a:off x="8781590"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243707" y="6019545"/>
            <a:ext cx="128699" cy="187198"/>
          </a:xfrm>
          <a:prstGeom prst="rect">
            <a:avLst/>
          </a:prstGeom>
        </p:spPr>
      </p:pic>
      <p:sp>
        <p:nvSpPr>
          <p:cNvPr id="31" name="TextBox 30"/>
          <p:cNvSpPr txBox="1"/>
          <p:nvPr/>
        </p:nvSpPr>
        <p:spPr>
          <a:xfrm>
            <a:off x="411203" y="6029325"/>
            <a:ext cx="11414256" cy="186689"/>
          </a:xfrm>
          <a:prstGeom prst="rect">
            <a:avLst/>
          </a:prstGeom>
          <a:noFill/>
        </p:spPr>
        <p:txBody>
          <a:bodyPr wrap="none" lIns="0" rIns="0" tIns="0" bIns="0">
            <a:spAutoFit/>
          </a:bodyPr>
          <a:lstStyle/>
          <a:p>
            <a:r>
              <a:rPr sz="1100" b="0">
                <a:solidFill>
                  <a:srgbClr val="2E2E2E"/>
                </a:solidFill>
                <a:latin typeface="Calibri"/>
              </a:rPr>
              <a:t>. The molecular allergen preparations segment is expected to be less attractive as compared to other segments over the forecast period, owing to its lower CAGR and incremental opportunity. Bubbles</a:t>
            </a:r>
          </a:p>
        </p:txBody>
      </p:sp>
      <p:sp>
        <p:nvSpPr>
          <p:cNvPr id="32" name="TextBox 31"/>
          <p:cNvSpPr txBox="1"/>
          <p:nvPr/>
        </p:nvSpPr>
        <p:spPr>
          <a:xfrm>
            <a:off x="257175" y="6196965"/>
            <a:ext cx="3892557" cy="186689"/>
          </a:xfrm>
          <a:prstGeom prst="rect">
            <a:avLst/>
          </a:prstGeom>
          <a:noFill/>
        </p:spPr>
        <p:txBody>
          <a:bodyPr wrap="none" lIns="0" rIns="0" tIns="0" bIns="0">
            <a:spAutoFit/>
          </a:bodyPr>
          <a:lstStyle/>
          <a:p>
            <a:r>
              <a:rPr sz="1100" b="0">
                <a:solidFill>
                  <a:srgbClr val="2E2E2E"/>
                </a:solidFill>
                <a:latin typeface="Calibri"/>
              </a:rPr>
              <a:t>right of the CAGR-Index line grow faster than the segment average.</a:t>
            </a:r>
          </a:p>
        </p:txBody>
      </p:sp>
      <p:sp>
        <p:nvSpPr>
          <p:cNvPr id="33"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Allergen Preparation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Allergen Preparation Technology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Native Allergen Extracts</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Modified Allergen</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Molecular Allergen Preparations</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Allergen Preparation Technology</a:t>
            </a:r>
          </a:p>
        </p:txBody>
      </p:sp>
      <p:sp>
        <p:nvSpPr>
          <p:cNvPr id="22" name="Rectangle 21"/>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3100230"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9129555" y="2330679"/>
            <a:ext cx="252890" cy="367840"/>
          </a:xfrm>
          <a:prstGeom prst="rect">
            <a:avLst/>
          </a:prstGeom>
        </p:spPr>
      </p:pic>
      <p:pic>
        <p:nvPicPr>
          <p:cNvPr id="27" name="Picture 26" descr="lock.png"/>
          <p:cNvPicPr>
            <a:picLocks noChangeAspect="1"/>
          </p:cNvPicPr>
          <p:nvPr/>
        </p:nvPicPr>
        <p:blipFill>
          <a:blip r:embed="rId7"/>
          <a:stretch>
            <a:fillRect/>
          </a:stretch>
        </p:blipFill>
        <p:spPr>
          <a:xfrm>
            <a:off x="3100230" y="5216754"/>
            <a:ext cx="252890" cy="367840"/>
          </a:xfrm>
          <a:prstGeom prst="rect">
            <a:avLst/>
          </a:prstGeom>
        </p:spPr>
      </p:pic>
      <p:sp>
        <p:nvSpPr>
          <p:cNvPr id="28" name="TextBox 27"/>
          <p:cNvSpPr txBox="1"/>
          <p:nvPr/>
        </p:nvSpPr>
        <p:spPr>
          <a:xfrm>
            <a:off x="6305550" y="4484320"/>
            <a:ext cx="4888696" cy="194310"/>
          </a:xfrm>
          <a:prstGeom prst="rect">
            <a:avLst/>
          </a:prstGeom>
          <a:noFill/>
        </p:spPr>
        <p:txBody>
          <a:bodyPr wrap="none" lIns="0" rIns="0" tIns="0" bIns="0">
            <a:spAutoFit/>
          </a:bodyPr>
          <a:lstStyle/>
          <a:p>
            <a:r>
              <a:rPr sz="1150" b="0">
                <a:solidFill>
                  <a:srgbClr val="2E2E2E"/>
                </a:solidFill>
                <a:latin typeface="Calibri"/>
              </a:rPr>
              <a:t>By 2036, native allergen extracts segment is anticipated to witness an increase of</a:t>
            </a:r>
          </a:p>
        </p:txBody>
      </p:sp>
      <p:pic>
        <p:nvPicPr>
          <p:cNvPr id="29" name="Picture 28" descr="lock.png"/>
          <p:cNvPicPr>
            <a:picLocks noChangeAspect="1"/>
          </p:cNvPicPr>
          <p:nvPr/>
        </p:nvPicPr>
        <p:blipFill>
          <a:blip r:embed="rId7"/>
          <a:stretch>
            <a:fillRect/>
          </a:stretch>
        </p:blipFill>
        <p:spPr>
          <a:xfrm>
            <a:off x="11143400" y="4474096"/>
            <a:ext cx="134549" cy="195707"/>
          </a:xfrm>
          <a:prstGeom prst="rect">
            <a:avLst/>
          </a:prstGeom>
        </p:spPr>
      </p:pic>
      <p:sp>
        <p:nvSpPr>
          <p:cNvPr id="30" name="TextBox 29"/>
          <p:cNvSpPr txBox="1"/>
          <p:nvPr/>
        </p:nvSpPr>
        <p:spPr>
          <a:xfrm>
            <a:off x="11318509" y="4484320"/>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31" name="TextBox 30"/>
          <p:cNvSpPr txBox="1"/>
          <p:nvPr/>
        </p:nvSpPr>
        <p:spPr>
          <a:xfrm>
            <a:off x="6305550" y="4659580"/>
            <a:ext cx="5334285" cy="194310"/>
          </a:xfrm>
          <a:prstGeom prst="rect">
            <a:avLst/>
          </a:prstGeom>
          <a:noFill/>
        </p:spPr>
        <p:txBody>
          <a:bodyPr wrap="none" lIns="0" rIns="0" tIns="0" bIns="0">
            <a:spAutoFit/>
          </a:bodyPr>
          <a:lstStyle/>
          <a:p>
            <a:r>
              <a:rPr sz="1150" b="0">
                <a:solidFill>
                  <a:srgbClr val="2E2E2E"/>
                </a:solidFill>
                <a:latin typeface="Calibri"/>
              </a:rPr>
              <a:t>terms of value as compared to 2026. The native allergen extracts segment is expected to</a:t>
            </a:r>
          </a:p>
        </p:txBody>
      </p:sp>
      <p:sp>
        <p:nvSpPr>
          <p:cNvPr id="32" name="TextBox 31"/>
          <p:cNvSpPr txBox="1"/>
          <p:nvPr/>
        </p:nvSpPr>
        <p:spPr>
          <a:xfrm>
            <a:off x="6305550" y="4834840"/>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33" name="Picture 32" descr="lock.png"/>
          <p:cNvPicPr>
            <a:picLocks noChangeAspect="1"/>
          </p:cNvPicPr>
          <p:nvPr/>
        </p:nvPicPr>
        <p:blipFill>
          <a:blip r:embed="rId7"/>
          <a:stretch>
            <a:fillRect/>
          </a:stretch>
        </p:blipFill>
        <p:spPr>
          <a:xfrm>
            <a:off x="8801773" y="4824616"/>
            <a:ext cx="134549" cy="195707"/>
          </a:xfrm>
          <a:prstGeom prst="rect">
            <a:avLst/>
          </a:prstGeom>
        </p:spPr>
      </p:pic>
      <p:sp>
        <p:nvSpPr>
          <p:cNvPr id="34" name="TextBox 33"/>
          <p:cNvSpPr txBox="1"/>
          <p:nvPr/>
        </p:nvSpPr>
        <p:spPr>
          <a:xfrm>
            <a:off x="8976882" y="4834840"/>
            <a:ext cx="2574168" cy="194310"/>
          </a:xfrm>
          <a:prstGeom prst="rect">
            <a:avLst/>
          </a:prstGeom>
          <a:noFill/>
        </p:spPr>
        <p:txBody>
          <a:bodyPr wrap="none" lIns="0" rIns="0" tIns="0" bIns="0">
            <a:spAutoFit/>
          </a:bodyPr>
          <a:lstStyle/>
          <a:p>
            <a:r>
              <a:rPr sz="1150" b="0">
                <a:solidFill>
                  <a:srgbClr val="2E2E2E"/>
                </a:solidFill>
                <a:latin typeface="Calibri"/>
              </a:rPr>
              <a:t>Mn for the overall allergy immunotherapy</a:t>
            </a:r>
          </a:p>
        </p:txBody>
      </p:sp>
      <p:sp>
        <p:nvSpPr>
          <p:cNvPr id="35" name="TextBox 34"/>
          <p:cNvSpPr txBox="1"/>
          <p:nvPr/>
        </p:nvSpPr>
        <p:spPr>
          <a:xfrm>
            <a:off x="6305550" y="5010100"/>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36" name="TextBox 35"/>
          <p:cNvSpPr txBox="1"/>
          <p:nvPr/>
        </p:nvSpPr>
        <p:spPr>
          <a:xfrm>
            <a:off x="6305550" y="5237938"/>
            <a:ext cx="5286933" cy="194310"/>
          </a:xfrm>
          <a:prstGeom prst="rect">
            <a:avLst/>
          </a:prstGeom>
          <a:noFill/>
        </p:spPr>
        <p:txBody>
          <a:bodyPr wrap="none" lIns="0" rIns="0" tIns="0" bIns="0">
            <a:spAutoFit/>
          </a:bodyPr>
          <a:lstStyle/>
          <a:p>
            <a:r>
              <a:rPr sz="1150" b="0">
                <a:solidFill>
                  <a:srgbClr val="2E2E2E"/>
                </a:solidFill>
                <a:latin typeface="Calibri"/>
              </a:rPr>
              <a:t>The modified allergen segment is expected to create an incremental opportunity of US$</a:t>
            </a:r>
          </a:p>
        </p:txBody>
      </p:sp>
      <p:pic>
        <p:nvPicPr>
          <p:cNvPr id="37" name="Picture 36" descr="lock.png"/>
          <p:cNvPicPr>
            <a:picLocks noChangeAspect="1"/>
          </p:cNvPicPr>
          <p:nvPr/>
        </p:nvPicPr>
        <p:blipFill>
          <a:blip r:embed="rId7"/>
          <a:stretch>
            <a:fillRect/>
          </a:stretch>
        </p:blipFill>
        <p:spPr>
          <a:xfrm>
            <a:off x="6291470" y="5402974"/>
            <a:ext cx="134549" cy="195707"/>
          </a:xfrm>
          <a:prstGeom prst="rect">
            <a:avLst/>
          </a:prstGeom>
        </p:spPr>
      </p:pic>
      <p:sp>
        <p:nvSpPr>
          <p:cNvPr id="38" name="TextBox 37"/>
          <p:cNvSpPr txBox="1"/>
          <p:nvPr/>
        </p:nvSpPr>
        <p:spPr>
          <a:xfrm>
            <a:off x="6466579" y="5413197"/>
            <a:ext cx="5091248"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 The molecular</a:t>
            </a:r>
          </a:p>
        </p:txBody>
      </p:sp>
      <p:sp>
        <p:nvSpPr>
          <p:cNvPr id="39" name="TextBox 38"/>
          <p:cNvSpPr txBox="1"/>
          <p:nvPr/>
        </p:nvSpPr>
        <p:spPr>
          <a:xfrm>
            <a:off x="6305550" y="5588457"/>
            <a:ext cx="5262971" cy="194310"/>
          </a:xfrm>
          <a:prstGeom prst="rect">
            <a:avLst/>
          </a:prstGeom>
          <a:noFill/>
        </p:spPr>
        <p:txBody>
          <a:bodyPr wrap="none" lIns="0" rIns="0" tIns="0" bIns="0">
            <a:spAutoFit/>
          </a:bodyPr>
          <a:lstStyle/>
          <a:p>
            <a:r>
              <a:rPr sz="1150" b="0">
                <a:solidFill>
                  <a:srgbClr val="2E2E2E"/>
                </a:solidFill>
                <a:latin typeface="Calibri"/>
              </a:rPr>
              <a:t>allergen preparations segment is expected to create an incremental opportunity of US$</a:t>
            </a:r>
          </a:p>
        </p:txBody>
      </p:sp>
      <p:pic>
        <p:nvPicPr>
          <p:cNvPr id="40" name="Picture 39" descr="lock.png"/>
          <p:cNvPicPr>
            <a:picLocks noChangeAspect="1"/>
          </p:cNvPicPr>
          <p:nvPr/>
        </p:nvPicPr>
        <p:blipFill>
          <a:blip r:embed="rId7"/>
          <a:stretch>
            <a:fillRect/>
          </a:stretch>
        </p:blipFill>
        <p:spPr>
          <a:xfrm>
            <a:off x="6291470" y="5753494"/>
            <a:ext cx="134549" cy="195707"/>
          </a:xfrm>
          <a:prstGeom prst="rect">
            <a:avLst/>
          </a:prstGeom>
        </p:spPr>
      </p:pic>
      <p:sp>
        <p:nvSpPr>
          <p:cNvPr id="41" name="TextBox 40"/>
          <p:cNvSpPr txBox="1"/>
          <p:nvPr/>
        </p:nvSpPr>
        <p:spPr>
          <a:xfrm>
            <a:off x="6466579" y="5763717"/>
            <a:ext cx="4210955"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a:t>
            </a:r>
          </a:p>
        </p:txBody>
      </p:sp>
      <p:sp>
        <p:nvSpPr>
          <p:cNvPr id="42"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Allergen Preparation Technology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Allergen Preparation Technology,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Allergen Preparation Technology (US$ Mn)</a:t>
            </a:r>
          </a:p>
        </p:txBody>
      </p:sp>
      <p:graphicFrame>
        <p:nvGraphicFramePr>
          <p:cNvPr id="13" name="Table 12"/>
          <p:cNvGraphicFramePr>
            <a:graphicFrameLocks noGrp="1"/>
          </p:cNvGraphicFramePr>
          <p:nvPr/>
        </p:nvGraphicFramePr>
        <p:xfrm>
          <a:off x="152400" y="1238250"/>
          <a:ext cx="11887201" cy="2466975"/>
        </p:xfrm>
        <a:graphic>
          <a:graphicData uri="http://schemas.openxmlformats.org/drawingml/2006/table">
            <a:tbl>
              <a:tblPr>
                <a:tableStyleId>{5C22544A-7EE6-4342-B048-85BDC9FD1C3A}</a:tableStyleId>
              </a:tblPr>
              <a:tblGrid>
                <a:gridCol w="2451181"/>
                <a:gridCol w="555060"/>
                <a:gridCol w="555060"/>
                <a:gridCol w="555060"/>
                <a:gridCol w="555060"/>
                <a:gridCol w="555060"/>
                <a:gridCol w="555060"/>
                <a:gridCol w="555060"/>
                <a:gridCol w="555060"/>
                <a:gridCol w="555060"/>
                <a:gridCol w="555060"/>
                <a:gridCol w="555060"/>
                <a:gridCol w="555060"/>
                <a:gridCol w="555060"/>
                <a:gridCol w="555060"/>
                <a:gridCol w="555060"/>
                <a:gridCol w="555060"/>
                <a:gridCol w="555060"/>
              </a:tblGrid>
              <a:tr h="246126">
                <a:tc>
                  <a:txBody>
                    <a:bodyPr wrap="none"/>
                    <a:lstStyle/>
                    <a:p>
                      <a:pPr algn="l"/>
                      <a:r>
                        <a:rPr sz="1100" b="1">
                          <a:solidFill>
                            <a:srgbClr val="0B2E4A"/>
                          </a:solidFill>
                          <a:latin typeface="Calibri"/>
                        </a:rPr>
                        <a:t>Allergen Preparation 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Native Allergen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 Standardized Allergen Extracts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 Non-standardized Allergen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Modified Allergen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 Polymerized Allergoids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 Depigmented-Polymerized Allergoids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 Carbamylated Allergoids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Molecular Allergen Preparations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04812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1338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Allergen Preparation Technology</a:t>
            </a:r>
          </a:p>
        </p:txBody>
      </p:sp>
      <p:sp>
        <p:nvSpPr>
          <p:cNvPr id="17" name="Rectangle 16"/>
          <p:cNvSpPr/>
          <p:nvPr/>
        </p:nvSpPr>
        <p:spPr>
          <a:xfrm>
            <a:off x="276225" y="43719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457700"/>
            <a:ext cx="1163955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134901" y="2328100"/>
            <a:ext cx="366712" cy="533400"/>
          </a:xfrm>
          <a:prstGeom prst="rect">
            <a:avLst/>
          </a:prstGeom>
        </p:spPr>
      </p:pic>
      <p:sp>
        <p:nvSpPr>
          <p:cNvPr id="21" name="TextBox 20"/>
          <p:cNvSpPr txBox="1"/>
          <p:nvPr/>
        </p:nvSpPr>
        <p:spPr>
          <a:xfrm>
            <a:off x="276225" y="4467225"/>
            <a:ext cx="3053680" cy="194310"/>
          </a:xfrm>
          <a:prstGeom prst="rect">
            <a:avLst/>
          </a:prstGeom>
          <a:noFill/>
        </p:spPr>
        <p:txBody>
          <a:bodyPr wrap="none" lIns="0" rIns="0" tIns="0" bIns="0">
            <a:spAutoFit/>
          </a:bodyPr>
          <a:lstStyle/>
          <a:p>
            <a:r>
              <a:rPr sz="1150" b="0">
                <a:solidFill>
                  <a:srgbClr val="2E2E2E"/>
                </a:solidFill>
                <a:latin typeface="Calibri"/>
              </a:rPr>
              <a:t>Modified allergen segment is projected to register</a:t>
            </a:r>
          </a:p>
        </p:txBody>
      </p:sp>
      <p:pic>
        <p:nvPicPr>
          <p:cNvPr id="22" name="Picture 21" descr="lock.png"/>
          <p:cNvPicPr>
            <a:picLocks noChangeAspect="1"/>
          </p:cNvPicPr>
          <p:nvPr/>
        </p:nvPicPr>
        <p:blipFill>
          <a:blip r:embed="rId4"/>
          <a:stretch>
            <a:fillRect/>
          </a:stretch>
        </p:blipFill>
        <p:spPr>
          <a:xfrm>
            <a:off x="3279059" y="4457001"/>
            <a:ext cx="134549" cy="195707"/>
          </a:xfrm>
          <a:prstGeom prst="rect">
            <a:avLst/>
          </a:prstGeom>
        </p:spPr>
      </p:pic>
      <p:sp>
        <p:nvSpPr>
          <p:cNvPr id="23" name="TextBox 22"/>
          <p:cNvSpPr txBox="1"/>
          <p:nvPr/>
        </p:nvSpPr>
        <p:spPr>
          <a:xfrm>
            <a:off x="3454168" y="4467225"/>
            <a:ext cx="8134908" cy="194310"/>
          </a:xfrm>
          <a:prstGeom prst="rect">
            <a:avLst/>
          </a:prstGeom>
          <a:noFill/>
        </p:spPr>
        <p:txBody>
          <a:bodyPr wrap="none" lIns="0" rIns="0" tIns="0" bIns="0">
            <a:spAutoFit/>
          </a:bodyPr>
          <a:lstStyle/>
          <a:p>
            <a:r>
              <a:rPr sz="1150" b="0">
                <a:solidFill>
                  <a:srgbClr val="2E2E2E"/>
                </a:solidFill>
                <a:latin typeface="Calibri"/>
              </a:rPr>
              <a:t>X higher value than native allergen extracts segment in 2036. Among allergy immunotherapy by allergen preparation technology, native</a:t>
            </a:r>
          </a:p>
        </p:txBody>
      </p:sp>
      <p:sp>
        <p:nvSpPr>
          <p:cNvPr id="24" name="TextBox 23"/>
          <p:cNvSpPr txBox="1"/>
          <p:nvPr/>
        </p:nvSpPr>
        <p:spPr>
          <a:xfrm>
            <a:off x="276225" y="4642485"/>
            <a:ext cx="4176136" cy="194310"/>
          </a:xfrm>
          <a:prstGeom prst="rect">
            <a:avLst/>
          </a:prstGeom>
          <a:noFill/>
        </p:spPr>
        <p:txBody>
          <a:bodyPr wrap="none" lIns="0" rIns="0" tIns="0" bIns="0">
            <a:spAutoFit/>
          </a:bodyPr>
          <a:lstStyle/>
          <a:p>
            <a:r>
              <a:rPr sz="1150" b="0">
                <a:solidFill>
                  <a:srgbClr val="2E2E2E"/>
                </a:solidFill>
                <a:latin typeface="Calibri"/>
              </a:rPr>
              <a:t>allergen extracts segment is expected to witness the highest CAGR of</a:t>
            </a:r>
          </a:p>
        </p:txBody>
      </p:sp>
      <p:pic>
        <p:nvPicPr>
          <p:cNvPr id="25" name="Picture 24" descr="lock.png"/>
          <p:cNvPicPr>
            <a:picLocks noChangeAspect="1"/>
          </p:cNvPicPr>
          <p:nvPr/>
        </p:nvPicPr>
        <p:blipFill>
          <a:blip r:embed="rId4"/>
          <a:stretch>
            <a:fillRect/>
          </a:stretch>
        </p:blipFill>
        <p:spPr>
          <a:xfrm>
            <a:off x="4401515" y="4632261"/>
            <a:ext cx="134549" cy="195707"/>
          </a:xfrm>
          <a:prstGeom prst="rect">
            <a:avLst/>
          </a:prstGeom>
        </p:spPr>
      </p:pic>
      <p:sp>
        <p:nvSpPr>
          <p:cNvPr id="26" name="TextBox 25"/>
          <p:cNvSpPr txBox="1"/>
          <p:nvPr/>
        </p:nvSpPr>
        <p:spPr>
          <a:xfrm>
            <a:off x="4576624" y="46424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870322"/>
            <a:ext cx="8022232" cy="194310"/>
          </a:xfrm>
          <a:prstGeom prst="rect">
            <a:avLst/>
          </a:prstGeom>
          <a:noFill/>
        </p:spPr>
        <p:txBody>
          <a:bodyPr wrap="none" lIns="0" rIns="0" tIns="0" bIns="0">
            <a:spAutoFit/>
          </a:bodyPr>
          <a:lstStyle/>
          <a:p>
            <a:r>
              <a:rPr sz="1150" b="0">
                <a:solidFill>
                  <a:srgbClr val="2E2E2E"/>
                </a:solidFill>
                <a:latin typeface="Calibri"/>
              </a:rPr>
              <a:t>In terms of value share by allergen preparation technology, the modified allergen segment is expected to dominate the market, losing</a:t>
            </a:r>
          </a:p>
        </p:txBody>
      </p:sp>
      <p:pic>
        <p:nvPicPr>
          <p:cNvPr id="28" name="Picture 27" descr="lock.png"/>
          <p:cNvPicPr>
            <a:picLocks noChangeAspect="1"/>
          </p:cNvPicPr>
          <p:nvPr/>
        </p:nvPicPr>
        <p:blipFill>
          <a:blip r:embed="rId4"/>
          <a:stretch>
            <a:fillRect/>
          </a:stretch>
        </p:blipFill>
        <p:spPr>
          <a:xfrm>
            <a:off x="8247611" y="4860099"/>
            <a:ext cx="134549" cy="195707"/>
          </a:xfrm>
          <a:prstGeom prst="rect">
            <a:avLst/>
          </a:prstGeom>
        </p:spPr>
      </p:pic>
      <p:sp>
        <p:nvSpPr>
          <p:cNvPr id="29" name="TextBox 28"/>
          <p:cNvSpPr txBox="1"/>
          <p:nvPr/>
        </p:nvSpPr>
        <p:spPr>
          <a:xfrm>
            <a:off x="8422721" y="48703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9817864" y="4860099"/>
            <a:ext cx="134549" cy="195707"/>
          </a:xfrm>
          <a:prstGeom prst="rect">
            <a:avLst/>
          </a:prstGeom>
        </p:spPr>
      </p:pic>
      <p:sp>
        <p:nvSpPr>
          <p:cNvPr id="31" name="TextBox 30"/>
          <p:cNvSpPr txBox="1"/>
          <p:nvPr/>
        </p:nvSpPr>
        <p:spPr>
          <a:xfrm>
            <a:off x="9992973" y="487032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2" name="TextBox 31"/>
          <p:cNvSpPr txBox="1"/>
          <p:nvPr/>
        </p:nvSpPr>
        <p:spPr>
          <a:xfrm>
            <a:off x="276225" y="5045582"/>
            <a:ext cx="3658989" cy="194310"/>
          </a:xfrm>
          <a:prstGeom prst="rect">
            <a:avLst/>
          </a:prstGeom>
          <a:noFill/>
        </p:spPr>
        <p:txBody>
          <a:bodyPr wrap="none" lIns="0" rIns="0" tIns="0" bIns="0">
            <a:spAutoFit/>
          </a:bodyPr>
          <a:lstStyle/>
          <a:p>
            <a:r>
              <a:rPr sz="1150" b="0">
                <a:solidFill>
                  <a:srgbClr val="2E2E2E"/>
                </a:solidFill>
                <a:latin typeface="Calibri"/>
              </a:rPr>
              <a:t>molecular allergen preparations segment is expected to lose</a:t>
            </a:r>
          </a:p>
        </p:txBody>
      </p:sp>
      <p:pic>
        <p:nvPicPr>
          <p:cNvPr id="33" name="Picture 32" descr="lock.png"/>
          <p:cNvPicPr>
            <a:picLocks noChangeAspect="1"/>
          </p:cNvPicPr>
          <p:nvPr/>
        </p:nvPicPr>
        <p:blipFill>
          <a:blip r:embed="rId4"/>
          <a:stretch>
            <a:fillRect/>
          </a:stretch>
        </p:blipFill>
        <p:spPr>
          <a:xfrm>
            <a:off x="3884368" y="5035359"/>
            <a:ext cx="134549" cy="195707"/>
          </a:xfrm>
          <a:prstGeom prst="rect">
            <a:avLst/>
          </a:prstGeom>
        </p:spPr>
      </p:pic>
      <p:sp>
        <p:nvSpPr>
          <p:cNvPr id="34" name="TextBox 33"/>
          <p:cNvSpPr txBox="1"/>
          <p:nvPr/>
        </p:nvSpPr>
        <p:spPr>
          <a:xfrm>
            <a:off x="4059477" y="50455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6646981" y="5035359"/>
            <a:ext cx="134549" cy="195707"/>
          </a:xfrm>
          <a:prstGeom prst="rect">
            <a:avLst/>
          </a:prstGeom>
        </p:spPr>
      </p:pic>
      <p:sp>
        <p:nvSpPr>
          <p:cNvPr id="36" name="TextBox 35"/>
          <p:cNvSpPr txBox="1"/>
          <p:nvPr/>
        </p:nvSpPr>
        <p:spPr>
          <a:xfrm>
            <a:off x="6822091" y="50455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Allergen Preparation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Allergen Preparation Technology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Allergen Preparation Technology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2200003"/>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19524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211904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Molecular Allergen Preparations</a:t>
            </a:r>
          </a:p>
        </p:txBody>
      </p:sp>
      <p:sp>
        <p:nvSpPr>
          <p:cNvPr id="19" name="BPS Value 1"/>
          <p:cNvSpPr txBox="1"/>
          <p:nvPr/>
        </p:nvSpPr>
        <p:spPr>
          <a:xfrm>
            <a:off x="6896100" y="218095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357151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356675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349055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Native Allergen Extracts</a:t>
            </a:r>
          </a:p>
        </p:txBody>
      </p:sp>
      <p:sp>
        <p:nvSpPr>
          <p:cNvPr id="23" name="BPS Value 2"/>
          <p:cNvSpPr txBox="1"/>
          <p:nvPr/>
        </p:nvSpPr>
        <p:spPr>
          <a:xfrm>
            <a:off x="6896100" y="355246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928997" y="532896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532420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524800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Modified Allergen</a:t>
            </a:r>
          </a:p>
        </p:txBody>
      </p:sp>
      <p:sp>
        <p:nvSpPr>
          <p:cNvPr id="27" name="BPS Value 3"/>
          <p:cNvSpPr txBox="1"/>
          <p:nvPr/>
        </p:nvSpPr>
        <p:spPr>
          <a:xfrm>
            <a:off x="6896100" y="530991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407620"/>
          </a:xfrm>
          <a:prstGeom prst="rect">
            <a:avLst/>
          </a:prstGeom>
          <a:noFill/>
        </p:spPr>
        <p:txBody>
          <a:bodyPr wrap="square" lIns="0" rIns="19050" tIns="9525" bIns="9525">
            <a:spAutoFit/>
          </a:bodyPr>
          <a:lstStyle/>
          <a:p>
            <a:pPr algn="l"/>
            <a:r>
              <a:rPr sz="1300" b="1">
                <a:solidFill>
                  <a:srgbClr val="0B2E4A"/>
                </a:solidFill>
                <a:latin typeface="Calibri"/>
              </a:rPr>
              <a:t>North America Read-out, By Allergen Preparation Technology</a:t>
            </a:r>
          </a:p>
        </p:txBody>
      </p:sp>
      <p:sp>
        <p:nvSpPr>
          <p:cNvPr id="30" name="Rectangle 29"/>
          <p:cNvSpPr/>
          <p:nvPr/>
        </p:nvSpPr>
        <p:spPr>
          <a:xfrm>
            <a:off x="7829550" y="150299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588720"/>
            <a:ext cx="4076700"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5"/>
          <a:stretch>
            <a:fillRect/>
          </a:stretch>
        </p:blipFill>
        <p:spPr>
          <a:xfrm>
            <a:off x="2557843" y="3833622"/>
            <a:ext cx="275034" cy="400050"/>
          </a:xfrm>
          <a:prstGeom prst="rect">
            <a:avLst/>
          </a:prstGeom>
        </p:spPr>
      </p:pic>
      <p:sp>
        <p:nvSpPr>
          <p:cNvPr id="34" name="TextBox 33"/>
          <p:cNvSpPr txBox="1"/>
          <p:nvPr/>
        </p:nvSpPr>
        <p:spPr>
          <a:xfrm>
            <a:off x="7829550" y="1598245"/>
            <a:ext cx="4057650" cy="194310"/>
          </a:xfrm>
          <a:prstGeom prst="rect">
            <a:avLst/>
          </a:prstGeom>
          <a:noFill/>
        </p:spPr>
        <p:txBody>
          <a:bodyPr wrap="none" lIns="0" rIns="0" tIns="0" bIns="0">
            <a:spAutoFit/>
          </a:bodyPr>
          <a:lstStyle/>
          <a:p>
            <a:r>
              <a:rPr sz="1150" b="0">
                <a:solidFill>
                  <a:srgbClr val="2E2E2E"/>
                </a:solidFill>
                <a:latin typeface="Calibri"/>
              </a:rPr>
              <a:t>Among allergy immunotherapy by allergen preparation technology,</a:t>
            </a:r>
          </a:p>
        </p:txBody>
      </p:sp>
      <p:sp>
        <p:nvSpPr>
          <p:cNvPr id="35" name="TextBox 34"/>
          <p:cNvSpPr txBox="1"/>
          <p:nvPr/>
        </p:nvSpPr>
        <p:spPr>
          <a:xfrm>
            <a:off x="7829550" y="1773505"/>
            <a:ext cx="4055777" cy="194310"/>
          </a:xfrm>
          <a:prstGeom prst="rect">
            <a:avLst/>
          </a:prstGeom>
          <a:noFill/>
        </p:spPr>
        <p:txBody>
          <a:bodyPr wrap="none" lIns="0" rIns="0" tIns="0" bIns="0">
            <a:spAutoFit/>
          </a:bodyPr>
          <a:lstStyle/>
          <a:p>
            <a:r>
              <a:rPr sz="1150" b="0">
                <a:solidFill>
                  <a:srgbClr val="2E2E2E"/>
                </a:solidFill>
                <a:latin typeface="Calibri"/>
              </a:rPr>
              <a:t>native allergen extracts segment is expected to witness the highest</a:t>
            </a:r>
          </a:p>
        </p:txBody>
      </p:sp>
      <p:sp>
        <p:nvSpPr>
          <p:cNvPr id="36" name="TextBox 35"/>
          <p:cNvSpPr txBox="1"/>
          <p:nvPr/>
        </p:nvSpPr>
        <p:spPr>
          <a:xfrm>
            <a:off x="7829550" y="194876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37" name="Picture 36" descr="lock.png"/>
          <p:cNvPicPr>
            <a:picLocks noChangeAspect="1"/>
          </p:cNvPicPr>
          <p:nvPr/>
        </p:nvPicPr>
        <p:blipFill>
          <a:blip r:embed="rId5"/>
          <a:stretch>
            <a:fillRect/>
          </a:stretch>
        </p:blipFill>
        <p:spPr>
          <a:xfrm>
            <a:off x="8343240" y="1938541"/>
            <a:ext cx="134549" cy="195707"/>
          </a:xfrm>
          <a:prstGeom prst="rect">
            <a:avLst/>
          </a:prstGeom>
        </p:spPr>
      </p:pic>
      <p:sp>
        <p:nvSpPr>
          <p:cNvPr id="38" name="TextBox 37"/>
          <p:cNvSpPr txBox="1"/>
          <p:nvPr/>
        </p:nvSpPr>
        <p:spPr>
          <a:xfrm>
            <a:off x="8518350" y="194876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39" name="TextBox 38"/>
          <p:cNvSpPr txBox="1"/>
          <p:nvPr/>
        </p:nvSpPr>
        <p:spPr>
          <a:xfrm>
            <a:off x="7829550" y="2124025"/>
            <a:ext cx="4001864" cy="194310"/>
          </a:xfrm>
          <a:prstGeom prst="rect">
            <a:avLst/>
          </a:prstGeom>
          <a:noFill/>
        </p:spPr>
        <p:txBody>
          <a:bodyPr wrap="none" lIns="0" rIns="0" tIns="0" bIns="0">
            <a:spAutoFit/>
          </a:bodyPr>
          <a:lstStyle/>
          <a:p>
            <a:r>
              <a:rPr sz="1150" b="0">
                <a:solidFill>
                  <a:srgbClr val="2E2E2E"/>
                </a:solidFill>
                <a:latin typeface="Calibri"/>
              </a:rPr>
              <a:t>allergen preparation technology, the modified allergen segment is</a:t>
            </a:r>
          </a:p>
        </p:txBody>
      </p:sp>
      <p:sp>
        <p:nvSpPr>
          <p:cNvPr id="40" name="TextBox 39"/>
          <p:cNvSpPr txBox="1"/>
          <p:nvPr/>
        </p:nvSpPr>
        <p:spPr>
          <a:xfrm>
            <a:off x="7829550" y="2299285"/>
            <a:ext cx="2494012" cy="194310"/>
          </a:xfrm>
          <a:prstGeom prst="rect">
            <a:avLst/>
          </a:prstGeom>
          <a:noFill/>
        </p:spPr>
        <p:txBody>
          <a:bodyPr wrap="none" lIns="0" rIns="0" tIns="0" bIns="0">
            <a:spAutoFit/>
          </a:bodyPr>
          <a:lstStyle/>
          <a:p>
            <a:r>
              <a:rPr sz="1150" b="0">
                <a:solidFill>
                  <a:srgbClr val="2E2E2E"/>
                </a:solidFill>
                <a:latin typeface="Calibri"/>
              </a:rPr>
              <a:t>expected to dominate the market, losing</a:t>
            </a:r>
          </a:p>
        </p:txBody>
      </p:sp>
      <p:pic>
        <p:nvPicPr>
          <p:cNvPr id="41" name="Picture 40" descr="lock.png"/>
          <p:cNvPicPr>
            <a:picLocks noChangeAspect="1"/>
          </p:cNvPicPr>
          <p:nvPr/>
        </p:nvPicPr>
        <p:blipFill>
          <a:blip r:embed="rId5"/>
          <a:stretch>
            <a:fillRect/>
          </a:stretch>
        </p:blipFill>
        <p:spPr>
          <a:xfrm>
            <a:off x="10272716" y="2289061"/>
            <a:ext cx="134549" cy="195707"/>
          </a:xfrm>
          <a:prstGeom prst="rect">
            <a:avLst/>
          </a:prstGeom>
        </p:spPr>
      </p:pic>
      <p:sp>
        <p:nvSpPr>
          <p:cNvPr id="42" name="TextBox 41"/>
          <p:cNvSpPr txBox="1"/>
          <p:nvPr/>
        </p:nvSpPr>
        <p:spPr>
          <a:xfrm>
            <a:off x="10447825" y="229928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43" name="TextBox 42"/>
          <p:cNvSpPr txBox="1"/>
          <p:nvPr/>
        </p:nvSpPr>
        <p:spPr>
          <a:xfrm>
            <a:off x="7829550" y="247454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44" name="Picture 43" descr="lock.png"/>
          <p:cNvPicPr>
            <a:picLocks noChangeAspect="1"/>
          </p:cNvPicPr>
          <p:nvPr/>
        </p:nvPicPr>
        <p:blipFill>
          <a:blip r:embed="rId5"/>
          <a:stretch>
            <a:fillRect/>
          </a:stretch>
        </p:blipFill>
        <p:spPr>
          <a:xfrm>
            <a:off x="8027482" y="2464321"/>
            <a:ext cx="134549" cy="195707"/>
          </a:xfrm>
          <a:prstGeom prst="rect">
            <a:avLst/>
          </a:prstGeom>
        </p:spPr>
      </p:pic>
      <p:sp>
        <p:nvSpPr>
          <p:cNvPr id="45" name="TextBox 44"/>
          <p:cNvSpPr txBox="1"/>
          <p:nvPr/>
        </p:nvSpPr>
        <p:spPr>
          <a:xfrm>
            <a:off x="8202591" y="247454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6" name="TextBox 45"/>
          <p:cNvSpPr txBox="1"/>
          <p:nvPr/>
        </p:nvSpPr>
        <p:spPr>
          <a:xfrm>
            <a:off x="7829550" y="2702382"/>
            <a:ext cx="3912865" cy="194310"/>
          </a:xfrm>
          <a:prstGeom prst="rect">
            <a:avLst/>
          </a:prstGeom>
          <a:noFill/>
        </p:spPr>
        <p:txBody>
          <a:bodyPr wrap="none" lIns="0" rIns="0" tIns="0" bIns="0">
            <a:spAutoFit/>
          </a:bodyPr>
          <a:lstStyle/>
          <a:p>
            <a:r>
              <a:rPr sz="1150" b="0">
                <a:solidFill>
                  <a:srgbClr val="2E2E2E"/>
                </a:solidFill>
                <a:latin typeface="Calibri"/>
              </a:rPr>
              <a:t>The molecular allergen preparations segment is expected to lose</a:t>
            </a:r>
          </a:p>
        </p:txBody>
      </p:sp>
      <p:pic>
        <p:nvPicPr>
          <p:cNvPr id="47" name="Picture 46" descr="lock.png"/>
          <p:cNvPicPr>
            <a:picLocks noChangeAspect="1"/>
          </p:cNvPicPr>
          <p:nvPr/>
        </p:nvPicPr>
        <p:blipFill>
          <a:blip r:embed="rId5"/>
          <a:stretch>
            <a:fillRect/>
          </a:stretch>
        </p:blipFill>
        <p:spPr>
          <a:xfrm>
            <a:off x="7815470" y="2867419"/>
            <a:ext cx="134549" cy="195707"/>
          </a:xfrm>
          <a:prstGeom prst="rect">
            <a:avLst/>
          </a:prstGeom>
        </p:spPr>
      </p:pic>
      <p:sp>
        <p:nvSpPr>
          <p:cNvPr id="48" name="TextBox 47"/>
          <p:cNvSpPr txBox="1"/>
          <p:nvPr/>
        </p:nvSpPr>
        <p:spPr>
          <a:xfrm>
            <a:off x="7990579" y="287764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49" name="Picture 48" descr="lock.png"/>
          <p:cNvPicPr>
            <a:picLocks noChangeAspect="1"/>
          </p:cNvPicPr>
          <p:nvPr/>
        </p:nvPicPr>
        <p:blipFill>
          <a:blip r:embed="rId5"/>
          <a:stretch>
            <a:fillRect/>
          </a:stretch>
        </p:blipFill>
        <p:spPr>
          <a:xfrm>
            <a:off x="10578084" y="2867419"/>
            <a:ext cx="134549" cy="195707"/>
          </a:xfrm>
          <a:prstGeom prst="rect">
            <a:avLst/>
          </a:prstGeom>
        </p:spPr>
      </p:pic>
      <p:sp>
        <p:nvSpPr>
          <p:cNvPr id="50" name="TextBox 49"/>
          <p:cNvSpPr txBox="1"/>
          <p:nvPr/>
        </p:nvSpPr>
        <p:spPr>
          <a:xfrm>
            <a:off x="10753193" y="287764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Allergen Composition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Allergen Composition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Allergen Composition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Allergen Composition,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Allergen Composition segment categorizes the market by allergen composition.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Fixed Allergen Mixtures</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Single-Allergen Preparations</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Customized Multi-Allergen Prepara…</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Allergen Composition split shows how demand is distributed across allergen composition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624_5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1_234_605E5C.png"/>
          <p:cNvPicPr>
            <a:picLocks noChangeAspect="1"/>
          </p:cNvPicPr>
          <p:nvPr/>
        </p:nvPicPr>
        <p:blipFill>
          <a:blip r:embed="rId5"/>
          <a:stretch>
            <a:fillRect/>
          </a:stretch>
        </p:blipFill>
        <p:spPr>
          <a:xfrm>
            <a:off x="2897811" y="2779432"/>
            <a:ext cx="1195728" cy="361950"/>
          </a:xfrm>
          <a:prstGeom prst="rect">
            <a:avLst/>
          </a:prstGeom>
        </p:spPr>
      </p:pic>
      <p:pic>
        <p:nvPicPr>
          <p:cNvPr id="59" name="Picture 58" descr="7_0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130_7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310_5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9_0__605E5C.png"/>
          <p:cNvPicPr>
            <a:picLocks noChangeAspect="1"/>
          </p:cNvPicPr>
          <p:nvPr/>
        </p:nvPicPr>
        <p:blipFill>
          <a:blip r:embed="rId9"/>
          <a:stretch>
            <a:fillRect/>
          </a:stretch>
        </p:blipFill>
        <p:spPr>
          <a:xfrm>
            <a:off x="6376307" y="3272281"/>
            <a:ext cx="982436" cy="361950"/>
          </a:xfrm>
          <a:prstGeom prst="rect">
            <a:avLst/>
          </a:prstGeom>
        </p:spPr>
      </p:pic>
      <p:pic>
        <p:nvPicPr>
          <p:cNvPr id="63" name="Picture 62" descr="46_0_605E5C.png"/>
          <p:cNvPicPr>
            <a:picLocks noChangeAspect="1"/>
          </p:cNvPicPr>
          <p:nvPr/>
        </p:nvPicPr>
        <p:blipFill>
          <a:blip r:embed="rId10"/>
          <a:stretch>
            <a:fillRect/>
          </a:stretch>
        </p:blipFill>
        <p:spPr>
          <a:xfrm>
            <a:off x="9748157" y="2286582"/>
            <a:ext cx="982436" cy="361950"/>
          </a:xfrm>
          <a:prstGeom prst="rect">
            <a:avLst/>
          </a:prstGeom>
        </p:spPr>
      </p:pic>
      <p:pic>
        <p:nvPicPr>
          <p:cNvPr id="64" name="Picture 63" descr="101_7_605E5C.png"/>
          <p:cNvPicPr>
            <a:picLocks noChangeAspect="1"/>
          </p:cNvPicPr>
          <p:nvPr/>
        </p:nvPicPr>
        <p:blipFill>
          <a:blip r:embed="rId11"/>
          <a:stretch>
            <a:fillRect/>
          </a:stretch>
        </p:blipFill>
        <p:spPr>
          <a:xfrm>
            <a:off x="9641511" y="2779432"/>
            <a:ext cx="1195728" cy="361950"/>
          </a:xfrm>
          <a:prstGeom prst="rect">
            <a:avLst/>
          </a:prstGeom>
        </p:spPr>
      </p:pic>
      <p:pic>
        <p:nvPicPr>
          <p:cNvPr id="65" name="Picture 64" descr="8_3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499940" cy="186689"/>
          </a:xfrm>
          <a:prstGeom prst="rect">
            <a:avLst/>
          </a:prstGeom>
          <a:noFill/>
        </p:spPr>
        <p:txBody>
          <a:bodyPr wrap="none" lIns="0" rIns="0" tIns="0" bIns="0">
            <a:spAutoFit/>
          </a:bodyPr>
          <a:lstStyle/>
          <a:p>
            <a:r>
              <a:rPr sz="1100" b="0">
                <a:solidFill>
                  <a:srgbClr val="2E2E2E"/>
                </a:solidFill>
                <a:latin typeface="Calibri"/>
              </a:rPr>
              <a:t>Among allergy immunotherapy by allergen</a:t>
            </a:r>
          </a:p>
        </p:txBody>
      </p:sp>
      <p:sp>
        <p:nvSpPr>
          <p:cNvPr id="70" name="TextBox 69"/>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composition, single-allergen preparations segment</a:t>
            </a:r>
          </a:p>
        </p:txBody>
      </p:sp>
      <p:sp>
        <p:nvSpPr>
          <p:cNvPr id="71" name="TextBox 70"/>
          <p:cNvSpPr txBox="1"/>
          <p:nvPr/>
        </p:nvSpPr>
        <p:spPr>
          <a:xfrm>
            <a:off x="485775" y="4564717"/>
            <a:ext cx="2499650" cy="186689"/>
          </a:xfrm>
          <a:prstGeom prst="rect">
            <a:avLst/>
          </a:prstGeom>
          <a:noFill/>
        </p:spPr>
        <p:txBody>
          <a:bodyPr wrap="none" lIns="0" rIns="0" tIns="0" bIns="0">
            <a:spAutoFit/>
          </a:bodyPr>
          <a:lstStyle/>
          <a:p>
            <a:r>
              <a:rPr sz="1100" b="0">
                <a:solidFill>
                  <a:srgbClr val="2E2E2E"/>
                </a:solidFill>
                <a:latin typeface="Calibri"/>
              </a:rPr>
              <a:t>is expected to witness the highest CAGR of</a:t>
            </a:r>
          </a:p>
        </p:txBody>
      </p:sp>
      <p:pic>
        <p:nvPicPr>
          <p:cNvPr id="72" name="Picture 71" descr="lock.png"/>
          <p:cNvPicPr>
            <a:picLocks noChangeAspect="1"/>
          </p:cNvPicPr>
          <p:nvPr/>
        </p:nvPicPr>
        <p:blipFill>
          <a:blip r:embed="rId13"/>
          <a:stretch>
            <a:fillRect/>
          </a:stretch>
        </p:blipFill>
        <p:spPr>
          <a:xfrm>
            <a:off x="2933477" y="4554938"/>
            <a:ext cx="128699" cy="187198"/>
          </a:xfrm>
          <a:prstGeom prst="rect">
            <a:avLst/>
          </a:prstGeom>
        </p:spPr>
      </p:pic>
      <p:sp>
        <p:nvSpPr>
          <p:cNvPr id="73" name="TextBox 72"/>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over the forecast period. In terms of value share by</a:t>
            </a:r>
          </a:p>
        </p:txBody>
      </p:sp>
      <p:sp>
        <p:nvSpPr>
          <p:cNvPr id="74" name="TextBox 73"/>
          <p:cNvSpPr txBox="1"/>
          <p:nvPr/>
        </p:nvSpPr>
        <p:spPr>
          <a:xfrm>
            <a:off x="485775" y="4899997"/>
            <a:ext cx="2856557" cy="186689"/>
          </a:xfrm>
          <a:prstGeom prst="rect">
            <a:avLst/>
          </a:prstGeom>
          <a:noFill/>
        </p:spPr>
        <p:txBody>
          <a:bodyPr wrap="none" lIns="0" rIns="0" tIns="0" bIns="0">
            <a:spAutoFit/>
          </a:bodyPr>
          <a:lstStyle/>
          <a:p>
            <a:r>
              <a:rPr sz="1100" b="0">
                <a:solidFill>
                  <a:srgbClr val="2E2E2E"/>
                </a:solidFill>
                <a:latin typeface="Calibri"/>
              </a:rPr>
              <a:t>allergen composition, the fixed allergen mixtures</a:t>
            </a:r>
          </a:p>
        </p:txBody>
      </p:sp>
      <p:sp>
        <p:nvSpPr>
          <p:cNvPr id="75" name="TextBox 74"/>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76" name="TextBox 75"/>
          <p:cNvSpPr txBox="1"/>
          <p:nvPr/>
        </p:nvSpPr>
        <p:spPr>
          <a:xfrm>
            <a:off x="485775" y="5235277"/>
            <a:ext cx="407987" cy="186689"/>
          </a:xfrm>
          <a:prstGeom prst="rect">
            <a:avLst/>
          </a:prstGeom>
          <a:noFill/>
        </p:spPr>
        <p:txBody>
          <a:bodyPr wrap="none" lIns="0" rIns="0" tIns="0" bIns="0">
            <a:spAutoFit/>
          </a:bodyPr>
          <a:lstStyle/>
          <a:p>
            <a:r>
              <a:rPr sz="1100" b="0">
                <a:solidFill>
                  <a:srgbClr val="2E2E2E"/>
                </a:solidFill>
                <a:latin typeface="Calibri"/>
              </a:rPr>
              <a:t>losing</a:t>
            </a:r>
          </a:p>
        </p:txBody>
      </p:sp>
      <p:pic>
        <p:nvPicPr>
          <p:cNvPr id="77" name="Picture 76" descr="lock.png"/>
          <p:cNvPicPr>
            <a:picLocks noChangeAspect="1"/>
          </p:cNvPicPr>
          <p:nvPr/>
        </p:nvPicPr>
        <p:blipFill>
          <a:blip r:embed="rId13"/>
          <a:stretch>
            <a:fillRect/>
          </a:stretch>
        </p:blipFill>
        <p:spPr>
          <a:xfrm>
            <a:off x="841814" y="5225498"/>
            <a:ext cx="128699" cy="187198"/>
          </a:xfrm>
          <a:prstGeom prst="rect">
            <a:avLst/>
          </a:prstGeom>
        </p:spPr>
      </p:pic>
      <p:sp>
        <p:nvSpPr>
          <p:cNvPr id="78" name="TextBox 77"/>
          <p:cNvSpPr txBox="1"/>
          <p:nvPr/>
        </p:nvSpPr>
        <p:spPr>
          <a:xfrm>
            <a:off x="1009309"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79" name="Picture 78" descr="lock.png"/>
          <p:cNvPicPr>
            <a:picLocks noChangeAspect="1"/>
          </p:cNvPicPr>
          <p:nvPr/>
        </p:nvPicPr>
        <p:blipFill>
          <a:blip r:embed="rId13"/>
          <a:stretch>
            <a:fillRect/>
          </a:stretch>
        </p:blipFill>
        <p:spPr>
          <a:xfrm>
            <a:off x="2343794" y="5225498"/>
            <a:ext cx="128699" cy="187198"/>
          </a:xfrm>
          <a:prstGeom prst="rect">
            <a:avLst/>
          </a:prstGeom>
        </p:spPr>
      </p:pic>
      <p:sp>
        <p:nvSpPr>
          <p:cNvPr id="80" name="TextBox 79"/>
          <p:cNvSpPr txBox="1"/>
          <p:nvPr/>
        </p:nvSpPr>
        <p:spPr>
          <a:xfrm>
            <a:off x="2511290" y="523527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81" name="TextBox 80"/>
          <p:cNvSpPr txBox="1"/>
          <p:nvPr/>
        </p:nvSpPr>
        <p:spPr>
          <a:xfrm>
            <a:off x="485775" y="540291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82" name="TextBox 81"/>
          <p:cNvSpPr txBox="1"/>
          <p:nvPr/>
        </p:nvSpPr>
        <p:spPr>
          <a:xfrm>
            <a:off x="485775" y="5620849"/>
            <a:ext cx="2768972" cy="186689"/>
          </a:xfrm>
          <a:prstGeom prst="rect">
            <a:avLst/>
          </a:prstGeom>
          <a:noFill/>
        </p:spPr>
        <p:txBody>
          <a:bodyPr wrap="none" lIns="0" rIns="0" tIns="0" bIns="0">
            <a:spAutoFit/>
          </a:bodyPr>
          <a:lstStyle/>
          <a:p>
            <a:r>
              <a:rPr sz="1100" b="0">
                <a:solidFill>
                  <a:srgbClr val="2E2E2E"/>
                </a:solidFill>
                <a:latin typeface="Calibri"/>
              </a:rPr>
              <a:t>Fixed allergen mixtures segment is projected to</a:t>
            </a:r>
          </a:p>
        </p:txBody>
      </p:sp>
      <p:sp>
        <p:nvSpPr>
          <p:cNvPr id="83" name="TextBox 82"/>
          <p:cNvSpPr txBox="1"/>
          <p:nvPr/>
        </p:nvSpPr>
        <p:spPr>
          <a:xfrm>
            <a:off x="485775" y="578848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84" name="Picture 83" descr="lock.png"/>
          <p:cNvPicPr>
            <a:picLocks noChangeAspect="1"/>
          </p:cNvPicPr>
          <p:nvPr/>
        </p:nvPicPr>
        <p:blipFill>
          <a:blip r:embed="rId13"/>
          <a:stretch>
            <a:fillRect/>
          </a:stretch>
        </p:blipFill>
        <p:spPr>
          <a:xfrm>
            <a:off x="946316" y="5778710"/>
            <a:ext cx="128699" cy="187198"/>
          </a:xfrm>
          <a:prstGeom prst="rect">
            <a:avLst/>
          </a:prstGeom>
        </p:spPr>
      </p:pic>
      <p:sp>
        <p:nvSpPr>
          <p:cNvPr id="85" name="TextBox 84"/>
          <p:cNvSpPr txBox="1"/>
          <p:nvPr/>
        </p:nvSpPr>
        <p:spPr>
          <a:xfrm>
            <a:off x="1113812" y="5788489"/>
            <a:ext cx="2033091" cy="186689"/>
          </a:xfrm>
          <a:prstGeom prst="rect">
            <a:avLst/>
          </a:prstGeom>
          <a:noFill/>
        </p:spPr>
        <p:txBody>
          <a:bodyPr wrap="none" lIns="0" rIns="0" tIns="0" bIns="0">
            <a:spAutoFit/>
          </a:bodyPr>
          <a:lstStyle/>
          <a:p>
            <a:r>
              <a:rPr sz="1100" b="0">
                <a:solidFill>
                  <a:srgbClr val="2E2E2E"/>
                </a:solidFill>
                <a:latin typeface="Calibri"/>
              </a:rPr>
              <a:t>X higher value than single-allergen</a:t>
            </a:r>
          </a:p>
        </p:txBody>
      </p:sp>
      <p:sp>
        <p:nvSpPr>
          <p:cNvPr id="86" name="TextBox 85"/>
          <p:cNvSpPr txBox="1"/>
          <p:nvPr/>
        </p:nvSpPr>
        <p:spPr>
          <a:xfrm>
            <a:off x="485775" y="5956129"/>
            <a:ext cx="1815628" cy="186689"/>
          </a:xfrm>
          <a:prstGeom prst="rect">
            <a:avLst/>
          </a:prstGeom>
          <a:noFill/>
        </p:spPr>
        <p:txBody>
          <a:bodyPr wrap="none" lIns="0" rIns="0" tIns="0" bIns="0">
            <a:spAutoFit/>
          </a:bodyPr>
          <a:lstStyle/>
          <a:p>
            <a:r>
              <a:rPr sz="1100" b="0">
                <a:solidFill>
                  <a:srgbClr val="2E2E2E"/>
                </a:solidFill>
                <a:latin typeface="Calibri"/>
              </a:rPr>
              <a:t>preparations segment in 2036.</a:t>
            </a:r>
          </a:p>
        </p:txBody>
      </p:sp>
      <p:sp>
        <p:nvSpPr>
          <p:cNvPr id="87" name="TextBox 86"/>
          <p:cNvSpPr txBox="1"/>
          <p:nvPr/>
        </p:nvSpPr>
        <p:spPr>
          <a:xfrm>
            <a:off x="3838575" y="4229437"/>
            <a:ext cx="1570608" cy="186689"/>
          </a:xfrm>
          <a:prstGeom prst="rect">
            <a:avLst/>
          </a:prstGeom>
          <a:noFill/>
        </p:spPr>
        <p:txBody>
          <a:bodyPr wrap="none" lIns="0" rIns="0" tIns="0" bIns="0">
            <a:spAutoFit/>
          </a:bodyPr>
          <a:lstStyle/>
          <a:p>
            <a:r>
              <a:rPr sz="1100" b="0">
                <a:solidFill>
                  <a:srgbClr val="2E2E2E"/>
                </a:solidFill>
                <a:latin typeface="Calibri"/>
              </a:rPr>
              <a:t>● Fixed Allergen Mixtures:</a:t>
            </a:r>
          </a:p>
        </p:txBody>
      </p:sp>
      <p:pic>
        <p:nvPicPr>
          <p:cNvPr id="88" name="Picture 87" descr="lock.png"/>
          <p:cNvPicPr>
            <a:picLocks noChangeAspect="1"/>
          </p:cNvPicPr>
          <p:nvPr/>
        </p:nvPicPr>
        <p:blipFill>
          <a:blip r:embed="rId13"/>
          <a:stretch>
            <a:fillRect/>
          </a:stretch>
        </p:blipFill>
        <p:spPr>
          <a:xfrm>
            <a:off x="5357234" y="4219658"/>
            <a:ext cx="128699" cy="187198"/>
          </a:xfrm>
          <a:prstGeom prst="rect">
            <a:avLst/>
          </a:prstGeom>
        </p:spPr>
      </p:pic>
      <p:sp>
        <p:nvSpPr>
          <p:cNvPr id="89" name="TextBox 88"/>
          <p:cNvSpPr txBox="1"/>
          <p:nvPr/>
        </p:nvSpPr>
        <p:spPr>
          <a:xfrm>
            <a:off x="552473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0" name="Picture 89" descr="lock.png"/>
          <p:cNvPicPr>
            <a:picLocks noChangeAspect="1"/>
          </p:cNvPicPr>
          <p:nvPr/>
        </p:nvPicPr>
        <p:blipFill>
          <a:blip r:embed="rId13"/>
          <a:stretch>
            <a:fillRect/>
          </a:stretch>
        </p:blipFill>
        <p:spPr>
          <a:xfrm>
            <a:off x="6384180" y="4219658"/>
            <a:ext cx="128699" cy="187198"/>
          </a:xfrm>
          <a:prstGeom prst="rect">
            <a:avLst/>
          </a:prstGeom>
        </p:spPr>
      </p:pic>
      <p:sp>
        <p:nvSpPr>
          <p:cNvPr id="91" name="TextBox 90"/>
          <p:cNvSpPr txBox="1"/>
          <p:nvPr/>
        </p:nvSpPr>
        <p:spPr>
          <a:xfrm>
            <a:off x="6551676"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92" name="TextBox 91"/>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93" name="TextBox 92"/>
          <p:cNvSpPr txBox="1"/>
          <p:nvPr/>
        </p:nvSpPr>
        <p:spPr>
          <a:xfrm>
            <a:off x="3838575" y="4615009"/>
            <a:ext cx="1841003" cy="186689"/>
          </a:xfrm>
          <a:prstGeom prst="rect">
            <a:avLst/>
          </a:prstGeom>
          <a:noFill/>
        </p:spPr>
        <p:txBody>
          <a:bodyPr wrap="none" lIns="0" rIns="0" tIns="0" bIns="0">
            <a:spAutoFit/>
          </a:bodyPr>
          <a:lstStyle/>
          <a:p>
            <a:r>
              <a:rPr sz="1100" b="0">
                <a:solidFill>
                  <a:srgbClr val="2E2E2E"/>
                </a:solidFill>
                <a:latin typeface="Calibri"/>
              </a:rPr>
              <a:t>● Single-Allergen Preparations:</a:t>
            </a:r>
          </a:p>
        </p:txBody>
      </p:sp>
      <p:pic>
        <p:nvPicPr>
          <p:cNvPr id="94" name="Picture 93" descr="lock.png"/>
          <p:cNvPicPr>
            <a:picLocks noChangeAspect="1"/>
          </p:cNvPicPr>
          <p:nvPr/>
        </p:nvPicPr>
        <p:blipFill>
          <a:blip r:embed="rId13"/>
          <a:stretch>
            <a:fillRect/>
          </a:stretch>
        </p:blipFill>
        <p:spPr>
          <a:xfrm>
            <a:off x="5627630" y="4605230"/>
            <a:ext cx="128699" cy="187198"/>
          </a:xfrm>
          <a:prstGeom prst="rect">
            <a:avLst/>
          </a:prstGeom>
        </p:spPr>
      </p:pic>
      <p:sp>
        <p:nvSpPr>
          <p:cNvPr id="95" name="TextBox 94"/>
          <p:cNvSpPr txBox="1"/>
          <p:nvPr/>
        </p:nvSpPr>
        <p:spPr>
          <a:xfrm>
            <a:off x="5795126"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6" name="Picture 95" descr="lock.png"/>
          <p:cNvPicPr>
            <a:picLocks noChangeAspect="1"/>
          </p:cNvPicPr>
          <p:nvPr/>
        </p:nvPicPr>
        <p:blipFill>
          <a:blip r:embed="rId13"/>
          <a:stretch>
            <a:fillRect/>
          </a:stretch>
        </p:blipFill>
        <p:spPr>
          <a:xfrm>
            <a:off x="6654576" y="4605230"/>
            <a:ext cx="128699" cy="187198"/>
          </a:xfrm>
          <a:prstGeom prst="rect">
            <a:avLst/>
          </a:prstGeom>
        </p:spPr>
      </p:pic>
      <p:sp>
        <p:nvSpPr>
          <p:cNvPr id="97" name="TextBox 96"/>
          <p:cNvSpPr txBox="1"/>
          <p:nvPr/>
        </p:nvSpPr>
        <p:spPr>
          <a:xfrm>
            <a:off x="6822072" y="4615009"/>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98" name="TextBox 97"/>
          <p:cNvSpPr txBox="1"/>
          <p:nvPr/>
        </p:nvSpPr>
        <p:spPr>
          <a:xfrm>
            <a:off x="3838575" y="4782649"/>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99" name="TextBox 98"/>
          <p:cNvSpPr txBox="1"/>
          <p:nvPr/>
        </p:nvSpPr>
        <p:spPr>
          <a:xfrm>
            <a:off x="3838575" y="5000581"/>
            <a:ext cx="2504578" cy="186689"/>
          </a:xfrm>
          <a:prstGeom prst="rect">
            <a:avLst/>
          </a:prstGeom>
          <a:noFill/>
        </p:spPr>
        <p:txBody>
          <a:bodyPr wrap="none" lIns="0" rIns="0" tIns="0" bIns="0">
            <a:spAutoFit/>
          </a:bodyPr>
          <a:lstStyle/>
          <a:p>
            <a:r>
              <a:rPr sz="1100" b="0">
                <a:solidFill>
                  <a:srgbClr val="2E2E2E"/>
                </a:solidFill>
                <a:latin typeface="Calibri"/>
              </a:rPr>
              <a:t>● Customized Multi-Allergen Preparations:</a:t>
            </a:r>
          </a:p>
        </p:txBody>
      </p:sp>
      <p:pic>
        <p:nvPicPr>
          <p:cNvPr id="100" name="Picture 99" descr="lock.png"/>
          <p:cNvPicPr>
            <a:picLocks noChangeAspect="1"/>
          </p:cNvPicPr>
          <p:nvPr/>
        </p:nvPicPr>
        <p:blipFill>
          <a:blip r:embed="rId13"/>
          <a:stretch>
            <a:fillRect/>
          </a:stretch>
        </p:blipFill>
        <p:spPr>
          <a:xfrm>
            <a:off x="6291205" y="4990801"/>
            <a:ext cx="128699" cy="187198"/>
          </a:xfrm>
          <a:prstGeom prst="rect">
            <a:avLst/>
          </a:prstGeom>
        </p:spPr>
      </p:pic>
      <p:sp>
        <p:nvSpPr>
          <p:cNvPr id="101" name="TextBox 100"/>
          <p:cNvSpPr txBox="1"/>
          <p:nvPr/>
        </p:nvSpPr>
        <p:spPr>
          <a:xfrm>
            <a:off x="6458701"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2" name="Picture 101" descr="lock.png"/>
          <p:cNvPicPr>
            <a:picLocks noChangeAspect="1"/>
          </p:cNvPicPr>
          <p:nvPr/>
        </p:nvPicPr>
        <p:blipFill>
          <a:blip r:embed="rId13"/>
          <a:stretch>
            <a:fillRect/>
          </a:stretch>
        </p:blipFill>
        <p:spPr>
          <a:xfrm>
            <a:off x="7318151" y="4990801"/>
            <a:ext cx="128699" cy="187198"/>
          </a:xfrm>
          <a:prstGeom prst="rect">
            <a:avLst/>
          </a:prstGeom>
        </p:spPr>
      </p:pic>
      <p:sp>
        <p:nvSpPr>
          <p:cNvPr id="103" name="TextBox 102"/>
          <p:cNvSpPr txBox="1"/>
          <p:nvPr/>
        </p:nvSpPr>
        <p:spPr>
          <a:xfrm>
            <a:off x="3838575" y="516822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4" name="TextBox 103"/>
          <p:cNvSpPr txBox="1"/>
          <p:nvPr/>
        </p:nvSpPr>
        <p:spPr>
          <a:xfrm>
            <a:off x="8524875" y="5842641"/>
            <a:ext cx="3105596" cy="194310"/>
          </a:xfrm>
          <a:prstGeom prst="rect">
            <a:avLst/>
          </a:prstGeom>
          <a:noFill/>
        </p:spPr>
        <p:txBody>
          <a:bodyPr wrap="none" lIns="0" rIns="0" tIns="0" bIns="0">
            <a:spAutoFit/>
          </a:bodyPr>
          <a:lstStyle/>
          <a:p>
            <a:r>
              <a:rPr sz="1150" b="1">
                <a:solidFill>
                  <a:srgbClr val="0B2E4A"/>
                </a:solidFill>
                <a:latin typeface="Calibri"/>
              </a:rPr>
              <a:t>The Allergen Composition segment is projected to</a:t>
            </a:r>
          </a:p>
        </p:txBody>
      </p:sp>
      <p:sp>
        <p:nvSpPr>
          <p:cNvPr id="105" name="TextBox 104"/>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06" name="Picture 105" descr="lock.png"/>
          <p:cNvPicPr>
            <a:picLocks noChangeAspect="1"/>
          </p:cNvPicPr>
          <p:nvPr/>
        </p:nvPicPr>
        <p:blipFill>
          <a:blip r:embed="rId13"/>
          <a:stretch>
            <a:fillRect/>
          </a:stretch>
        </p:blipFill>
        <p:spPr>
          <a:xfrm>
            <a:off x="9651852" y="6007677"/>
            <a:ext cx="134549" cy="195707"/>
          </a:xfrm>
          <a:prstGeom prst="rect">
            <a:avLst/>
          </a:prstGeom>
        </p:spPr>
      </p:pic>
      <p:sp>
        <p:nvSpPr>
          <p:cNvPr id="107" name="TextBox 106"/>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Allergen Composition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Allergen Composition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Allergen Composition mix within each country (share of 2036 value) · row label = country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Allergen Composition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657657" cy="186689"/>
          </a:xfrm>
          <a:prstGeom prst="rect">
            <a:avLst/>
          </a:prstGeom>
          <a:noFill/>
        </p:spPr>
        <p:txBody>
          <a:bodyPr wrap="none" lIns="0" rIns="0" tIns="0" bIns="0">
            <a:spAutoFit/>
          </a:bodyPr>
          <a:lstStyle/>
          <a:p>
            <a:r>
              <a:rPr sz="1100" b="0">
                <a:solidFill>
                  <a:srgbClr val="2E2E2E"/>
                </a:solidFill>
                <a:latin typeface="Calibri"/>
              </a:rPr>
              <a:t>Fixed allergen mixtures followed by single-allergen preparations are expected to be the two most attractive allergen composition segments in the North America allergy immunotherapy market in terms of</a:t>
            </a:r>
          </a:p>
        </p:txBody>
      </p:sp>
      <p:sp>
        <p:nvSpPr>
          <p:cNvPr id="21" name="TextBox 20"/>
          <p:cNvSpPr txBox="1"/>
          <p:nvPr/>
        </p:nvSpPr>
        <p:spPr>
          <a:xfrm>
            <a:off x="257175" y="5861685"/>
            <a:ext cx="6419708" cy="186689"/>
          </a:xfrm>
          <a:prstGeom prst="rect">
            <a:avLst/>
          </a:prstGeom>
          <a:noFill/>
        </p:spPr>
        <p:txBody>
          <a:bodyPr wrap="none" lIns="0" rIns="0" tIns="0" bIns="0">
            <a:spAutoFit/>
          </a:bodyPr>
          <a:lstStyle/>
          <a:p>
            <a:r>
              <a:rPr sz="1100" b="0">
                <a:solidFill>
                  <a:srgbClr val="2E2E2E"/>
                </a:solidFill>
                <a:latin typeface="Calibri"/>
              </a:rPr>
              <a:t>value over the forecast period. Fixed allergen mixtures and Single-Allergen preparations exhibit a CAGR index of</a:t>
            </a:r>
          </a:p>
        </p:txBody>
      </p:sp>
      <p:pic>
        <p:nvPicPr>
          <p:cNvPr id="22" name="Picture 21" descr="lock.png"/>
          <p:cNvPicPr>
            <a:picLocks noChangeAspect="1"/>
          </p:cNvPicPr>
          <p:nvPr/>
        </p:nvPicPr>
        <p:blipFill>
          <a:blip r:embed="rId6"/>
          <a:stretch>
            <a:fillRect/>
          </a:stretch>
        </p:blipFill>
        <p:spPr>
          <a:xfrm>
            <a:off x="6624935" y="5851905"/>
            <a:ext cx="128699" cy="187198"/>
          </a:xfrm>
          <a:prstGeom prst="rect">
            <a:avLst/>
          </a:prstGeom>
        </p:spPr>
      </p:pic>
      <p:sp>
        <p:nvSpPr>
          <p:cNvPr id="23" name="TextBox 22"/>
          <p:cNvSpPr txBox="1"/>
          <p:nvPr/>
        </p:nvSpPr>
        <p:spPr>
          <a:xfrm>
            <a:off x="679243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7030325" y="5851905"/>
            <a:ext cx="128699" cy="187198"/>
          </a:xfrm>
          <a:prstGeom prst="rect">
            <a:avLst/>
          </a:prstGeom>
        </p:spPr>
      </p:pic>
      <p:sp>
        <p:nvSpPr>
          <p:cNvPr id="25" name="TextBox 24"/>
          <p:cNvSpPr txBox="1"/>
          <p:nvPr/>
        </p:nvSpPr>
        <p:spPr>
          <a:xfrm>
            <a:off x="7197821"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8806794" y="5851905"/>
            <a:ext cx="128699" cy="187198"/>
          </a:xfrm>
          <a:prstGeom prst="rect">
            <a:avLst/>
          </a:prstGeom>
        </p:spPr>
      </p:pic>
      <p:sp>
        <p:nvSpPr>
          <p:cNvPr id="27" name="TextBox 26"/>
          <p:cNvSpPr txBox="1"/>
          <p:nvPr/>
        </p:nvSpPr>
        <p:spPr>
          <a:xfrm>
            <a:off x="8974290"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9212185" y="5851905"/>
            <a:ext cx="128699" cy="187198"/>
          </a:xfrm>
          <a:prstGeom prst="rect">
            <a:avLst/>
          </a:prstGeom>
        </p:spPr>
      </p:pic>
      <p:sp>
        <p:nvSpPr>
          <p:cNvPr id="29" name="TextBox 28"/>
          <p:cNvSpPr txBox="1"/>
          <p:nvPr/>
        </p:nvSpPr>
        <p:spPr>
          <a:xfrm>
            <a:off x="9379681" y="586168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30" name="TextBox 29"/>
          <p:cNvSpPr txBox="1"/>
          <p:nvPr/>
        </p:nvSpPr>
        <p:spPr>
          <a:xfrm>
            <a:off x="257175" y="602932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31" name="Picture 30" descr="lock.png"/>
          <p:cNvPicPr>
            <a:picLocks noChangeAspect="1"/>
          </p:cNvPicPr>
          <p:nvPr/>
        </p:nvPicPr>
        <p:blipFill>
          <a:blip r:embed="rId6"/>
          <a:stretch>
            <a:fillRect/>
          </a:stretch>
        </p:blipFill>
        <p:spPr>
          <a:xfrm>
            <a:off x="879790" y="6019545"/>
            <a:ext cx="128699" cy="187198"/>
          </a:xfrm>
          <a:prstGeom prst="rect">
            <a:avLst/>
          </a:prstGeom>
        </p:spPr>
      </p:pic>
      <p:sp>
        <p:nvSpPr>
          <p:cNvPr id="32" name="TextBox 31"/>
          <p:cNvSpPr txBox="1"/>
          <p:nvPr/>
        </p:nvSpPr>
        <p:spPr>
          <a:xfrm>
            <a:off x="1047285" y="6029325"/>
            <a:ext cx="10605251" cy="186689"/>
          </a:xfrm>
          <a:prstGeom prst="rect">
            <a:avLst/>
          </a:prstGeom>
          <a:noFill/>
        </p:spPr>
        <p:txBody>
          <a:bodyPr wrap="none" lIns="0" rIns="0" tIns="0" bIns="0">
            <a:spAutoFit/>
          </a:bodyPr>
          <a:lstStyle/>
          <a:p>
            <a:r>
              <a:rPr sz="1100" b="0">
                <a:solidFill>
                  <a:srgbClr val="2E2E2E"/>
                </a:solidFill>
                <a:latin typeface="Calibri"/>
              </a:rPr>
              <a:t>. The customized multi-allergen preparations segment is expected to be less attractive as compared to other segments over the forecast period, owing to its lower CAGR and incremental</a:t>
            </a:r>
          </a:p>
        </p:txBody>
      </p:sp>
      <p:sp>
        <p:nvSpPr>
          <p:cNvPr id="33" name="TextBox 32"/>
          <p:cNvSpPr txBox="1"/>
          <p:nvPr/>
        </p:nvSpPr>
        <p:spPr>
          <a:xfrm>
            <a:off x="257175" y="6196965"/>
            <a:ext cx="5122845" cy="186689"/>
          </a:xfrm>
          <a:prstGeom prst="rect">
            <a:avLst/>
          </a:prstGeom>
          <a:noFill/>
        </p:spPr>
        <p:txBody>
          <a:bodyPr wrap="none" lIns="0" rIns="0" tIns="0" bIns="0">
            <a:spAutoFit/>
          </a:bodyPr>
          <a:lstStyle/>
          <a:p>
            <a:r>
              <a:rPr sz="1100" b="0">
                <a:solidFill>
                  <a:srgbClr val="2E2E2E"/>
                </a:solidFill>
                <a:latin typeface="Calibri"/>
              </a:rPr>
              <a:t>opportunity. Bubbles right of the CAGR-Index line 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Allergen Composition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Allergen Composition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Single-Allergen Preparations</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Fixed Allergen Mixtures</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Customized Multi-Allergen Preparations</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Allergen Composition</a:t>
            </a:r>
          </a:p>
        </p:txBody>
      </p:sp>
      <p:sp>
        <p:nvSpPr>
          <p:cNvPr id="22" name="Rectangle 21"/>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3100230"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9129555" y="2330679"/>
            <a:ext cx="252890" cy="367840"/>
          </a:xfrm>
          <a:prstGeom prst="rect">
            <a:avLst/>
          </a:prstGeom>
        </p:spPr>
      </p:pic>
      <p:pic>
        <p:nvPicPr>
          <p:cNvPr id="27" name="Picture 26" descr="lock.png"/>
          <p:cNvPicPr>
            <a:picLocks noChangeAspect="1"/>
          </p:cNvPicPr>
          <p:nvPr/>
        </p:nvPicPr>
        <p:blipFill>
          <a:blip r:embed="rId7"/>
          <a:stretch>
            <a:fillRect/>
          </a:stretch>
        </p:blipFill>
        <p:spPr>
          <a:xfrm>
            <a:off x="3100230" y="5216754"/>
            <a:ext cx="252890" cy="367840"/>
          </a:xfrm>
          <a:prstGeom prst="rect">
            <a:avLst/>
          </a:prstGeom>
        </p:spPr>
      </p:pic>
      <p:sp>
        <p:nvSpPr>
          <p:cNvPr id="28" name="TextBox 27"/>
          <p:cNvSpPr txBox="1"/>
          <p:nvPr/>
        </p:nvSpPr>
        <p:spPr>
          <a:xfrm>
            <a:off x="6305550" y="4484320"/>
            <a:ext cx="4857888" cy="194310"/>
          </a:xfrm>
          <a:prstGeom prst="rect">
            <a:avLst/>
          </a:prstGeom>
          <a:noFill/>
        </p:spPr>
        <p:txBody>
          <a:bodyPr wrap="none" lIns="0" rIns="0" tIns="0" bIns="0">
            <a:spAutoFit/>
          </a:bodyPr>
          <a:lstStyle/>
          <a:p>
            <a:r>
              <a:rPr sz="1150" b="0">
                <a:solidFill>
                  <a:srgbClr val="2E2E2E"/>
                </a:solidFill>
                <a:latin typeface="Calibri"/>
              </a:rPr>
              <a:t>By 2036, fixed allergen mixtures segment is anticipated to witness an increase of</a:t>
            </a:r>
          </a:p>
        </p:txBody>
      </p:sp>
      <p:pic>
        <p:nvPicPr>
          <p:cNvPr id="29" name="Picture 28" descr="lock.png"/>
          <p:cNvPicPr>
            <a:picLocks noChangeAspect="1"/>
          </p:cNvPicPr>
          <p:nvPr/>
        </p:nvPicPr>
        <p:blipFill>
          <a:blip r:embed="rId7"/>
          <a:stretch>
            <a:fillRect/>
          </a:stretch>
        </p:blipFill>
        <p:spPr>
          <a:xfrm>
            <a:off x="11112592" y="4474096"/>
            <a:ext cx="134549" cy="195707"/>
          </a:xfrm>
          <a:prstGeom prst="rect">
            <a:avLst/>
          </a:prstGeom>
        </p:spPr>
      </p:pic>
      <p:sp>
        <p:nvSpPr>
          <p:cNvPr id="30" name="TextBox 29"/>
          <p:cNvSpPr txBox="1"/>
          <p:nvPr/>
        </p:nvSpPr>
        <p:spPr>
          <a:xfrm>
            <a:off x="11287702" y="4484320"/>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31" name="TextBox 30"/>
          <p:cNvSpPr txBox="1"/>
          <p:nvPr/>
        </p:nvSpPr>
        <p:spPr>
          <a:xfrm>
            <a:off x="6305550" y="4659580"/>
            <a:ext cx="5303477" cy="194310"/>
          </a:xfrm>
          <a:prstGeom prst="rect">
            <a:avLst/>
          </a:prstGeom>
          <a:noFill/>
        </p:spPr>
        <p:txBody>
          <a:bodyPr wrap="none" lIns="0" rIns="0" tIns="0" bIns="0">
            <a:spAutoFit/>
          </a:bodyPr>
          <a:lstStyle/>
          <a:p>
            <a:r>
              <a:rPr sz="1150" b="0">
                <a:solidFill>
                  <a:srgbClr val="2E2E2E"/>
                </a:solidFill>
                <a:latin typeface="Calibri"/>
              </a:rPr>
              <a:t>terms of value as compared to 2026. The fixed allergen mixtures segment is expected to</a:t>
            </a:r>
          </a:p>
        </p:txBody>
      </p:sp>
      <p:sp>
        <p:nvSpPr>
          <p:cNvPr id="32" name="TextBox 31"/>
          <p:cNvSpPr txBox="1"/>
          <p:nvPr/>
        </p:nvSpPr>
        <p:spPr>
          <a:xfrm>
            <a:off x="6305550" y="4834840"/>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33" name="Picture 32" descr="lock.png"/>
          <p:cNvPicPr>
            <a:picLocks noChangeAspect="1"/>
          </p:cNvPicPr>
          <p:nvPr/>
        </p:nvPicPr>
        <p:blipFill>
          <a:blip r:embed="rId7"/>
          <a:stretch>
            <a:fillRect/>
          </a:stretch>
        </p:blipFill>
        <p:spPr>
          <a:xfrm>
            <a:off x="8801773" y="4824616"/>
            <a:ext cx="134549" cy="195707"/>
          </a:xfrm>
          <a:prstGeom prst="rect">
            <a:avLst/>
          </a:prstGeom>
        </p:spPr>
      </p:pic>
      <p:sp>
        <p:nvSpPr>
          <p:cNvPr id="34" name="TextBox 33"/>
          <p:cNvSpPr txBox="1"/>
          <p:nvPr/>
        </p:nvSpPr>
        <p:spPr>
          <a:xfrm>
            <a:off x="8976882" y="4834840"/>
            <a:ext cx="2574168" cy="194310"/>
          </a:xfrm>
          <a:prstGeom prst="rect">
            <a:avLst/>
          </a:prstGeom>
          <a:noFill/>
        </p:spPr>
        <p:txBody>
          <a:bodyPr wrap="none" lIns="0" rIns="0" tIns="0" bIns="0">
            <a:spAutoFit/>
          </a:bodyPr>
          <a:lstStyle/>
          <a:p>
            <a:r>
              <a:rPr sz="1150" b="0">
                <a:solidFill>
                  <a:srgbClr val="2E2E2E"/>
                </a:solidFill>
                <a:latin typeface="Calibri"/>
              </a:rPr>
              <a:t>Mn for the overall allergy immunotherapy</a:t>
            </a:r>
          </a:p>
        </p:txBody>
      </p:sp>
      <p:sp>
        <p:nvSpPr>
          <p:cNvPr id="35" name="TextBox 34"/>
          <p:cNvSpPr txBox="1"/>
          <p:nvPr/>
        </p:nvSpPr>
        <p:spPr>
          <a:xfrm>
            <a:off x="6305550" y="5010100"/>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36" name="TextBox 35"/>
          <p:cNvSpPr txBox="1"/>
          <p:nvPr/>
        </p:nvSpPr>
        <p:spPr>
          <a:xfrm>
            <a:off x="6305550" y="5237938"/>
            <a:ext cx="5591175" cy="194310"/>
          </a:xfrm>
          <a:prstGeom prst="rect">
            <a:avLst/>
          </a:prstGeom>
          <a:noFill/>
        </p:spPr>
        <p:txBody>
          <a:bodyPr wrap="none" lIns="0" rIns="0" tIns="0" bIns="0">
            <a:spAutoFit/>
          </a:bodyPr>
          <a:lstStyle/>
          <a:p>
            <a:r>
              <a:rPr sz="1150" b="0">
                <a:solidFill>
                  <a:srgbClr val="2E2E2E"/>
                </a:solidFill>
                <a:latin typeface="Calibri"/>
              </a:rPr>
              <a:t>The Single-Allergen preparations segment is expected to create an incremental opportunity of</a:t>
            </a:r>
          </a:p>
        </p:txBody>
      </p:sp>
      <p:sp>
        <p:nvSpPr>
          <p:cNvPr id="37" name="TextBox 36"/>
          <p:cNvSpPr txBox="1"/>
          <p:nvPr/>
        </p:nvSpPr>
        <p:spPr>
          <a:xfrm>
            <a:off x="6305550" y="5413197"/>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8" name="Picture 37" descr="lock.png"/>
          <p:cNvPicPr>
            <a:picLocks noChangeAspect="1"/>
          </p:cNvPicPr>
          <p:nvPr/>
        </p:nvPicPr>
        <p:blipFill>
          <a:blip r:embed="rId7"/>
          <a:stretch>
            <a:fillRect/>
          </a:stretch>
        </p:blipFill>
        <p:spPr>
          <a:xfrm>
            <a:off x="6565953" y="5402974"/>
            <a:ext cx="134549" cy="195707"/>
          </a:xfrm>
          <a:prstGeom prst="rect">
            <a:avLst/>
          </a:prstGeom>
        </p:spPr>
      </p:pic>
      <p:sp>
        <p:nvSpPr>
          <p:cNvPr id="39" name="TextBox 38"/>
          <p:cNvSpPr txBox="1"/>
          <p:nvPr/>
        </p:nvSpPr>
        <p:spPr>
          <a:xfrm>
            <a:off x="6741062" y="5413197"/>
            <a:ext cx="4464831"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 The</a:t>
            </a:r>
          </a:p>
        </p:txBody>
      </p:sp>
      <p:sp>
        <p:nvSpPr>
          <p:cNvPr id="40" name="TextBox 39"/>
          <p:cNvSpPr txBox="1"/>
          <p:nvPr/>
        </p:nvSpPr>
        <p:spPr>
          <a:xfrm>
            <a:off x="6305550" y="5588457"/>
            <a:ext cx="5186808" cy="194310"/>
          </a:xfrm>
          <a:prstGeom prst="rect">
            <a:avLst/>
          </a:prstGeom>
          <a:noFill/>
        </p:spPr>
        <p:txBody>
          <a:bodyPr wrap="none" lIns="0" rIns="0" tIns="0" bIns="0">
            <a:spAutoFit/>
          </a:bodyPr>
          <a:lstStyle/>
          <a:p>
            <a:r>
              <a:rPr sz="1150" b="0">
                <a:solidFill>
                  <a:srgbClr val="2E2E2E"/>
                </a:solidFill>
                <a:latin typeface="Calibri"/>
              </a:rPr>
              <a:t>customized Multi-Allergen preparations segment is expected to create an incremental</a:t>
            </a:r>
          </a:p>
        </p:txBody>
      </p:sp>
      <p:sp>
        <p:nvSpPr>
          <p:cNvPr id="41" name="TextBox 40"/>
          <p:cNvSpPr txBox="1"/>
          <p:nvPr/>
        </p:nvSpPr>
        <p:spPr>
          <a:xfrm>
            <a:off x="6305550" y="5763717"/>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42" name="Picture 41" descr="lock.png"/>
          <p:cNvPicPr>
            <a:picLocks noChangeAspect="1"/>
          </p:cNvPicPr>
          <p:nvPr/>
        </p:nvPicPr>
        <p:blipFill>
          <a:blip r:embed="rId7"/>
          <a:stretch>
            <a:fillRect/>
          </a:stretch>
        </p:blipFill>
        <p:spPr>
          <a:xfrm>
            <a:off x="7463647" y="5753494"/>
            <a:ext cx="134549" cy="195707"/>
          </a:xfrm>
          <a:prstGeom prst="rect">
            <a:avLst/>
          </a:prstGeom>
        </p:spPr>
      </p:pic>
      <p:sp>
        <p:nvSpPr>
          <p:cNvPr id="43" name="TextBox 42"/>
          <p:cNvSpPr txBox="1"/>
          <p:nvPr/>
        </p:nvSpPr>
        <p:spPr>
          <a:xfrm>
            <a:off x="7638756" y="5763717"/>
            <a:ext cx="4210955"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a:t>
            </a:r>
          </a:p>
        </p:txBody>
      </p:sp>
      <p:sp>
        <p:nvSpPr>
          <p:cNvPr id="44"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Allergen Composition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Allergen Composition,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Allergen Composition (US$ Mn)</a:t>
            </a:r>
          </a:p>
        </p:txBody>
      </p:sp>
      <p:graphicFrame>
        <p:nvGraphicFramePr>
          <p:cNvPr id="13" name="Table 12"/>
          <p:cNvGraphicFramePr>
            <a:graphicFrameLocks noGrp="1"/>
          </p:cNvGraphicFramePr>
          <p:nvPr/>
        </p:nvGraphicFramePr>
        <p:xfrm>
          <a:off x="152400" y="1238250"/>
          <a:ext cx="11887204" cy="1971675"/>
        </p:xfrm>
        <a:graphic>
          <a:graphicData uri="http://schemas.openxmlformats.org/drawingml/2006/table">
            <a:tbl>
              <a:tblPr>
                <a:tableStyleId>{5C22544A-7EE6-4342-B048-85BDC9FD1C3A}</a:tableStyleId>
              </a:tblPr>
              <a:tblGrid>
                <a:gridCol w="2811278"/>
                <a:gridCol w="545177"/>
                <a:gridCol w="545177"/>
                <a:gridCol w="545177"/>
                <a:gridCol w="545177"/>
                <a:gridCol w="545177"/>
                <a:gridCol w="525973"/>
                <a:gridCol w="520486"/>
                <a:gridCol w="520486"/>
                <a:gridCol w="520486"/>
                <a:gridCol w="520486"/>
                <a:gridCol w="520486"/>
                <a:gridCol w="520486"/>
                <a:gridCol w="520486"/>
                <a:gridCol w="520486"/>
                <a:gridCol w="520486"/>
                <a:gridCol w="520486"/>
                <a:gridCol w="619208"/>
              </a:tblGrid>
              <a:tr h="246126">
                <a:tc>
                  <a:txBody>
                    <a:bodyPr wrap="none"/>
                    <a:lstStyle/>
                    <a:p>
                      <a:pPr algn="l"/>
                      <a:r>
                        <a:rPr sz="1100" b="1">
                          <a:solidFill>
                            <a:srgbClr val="0B2E4A"/>
                          </a:solidFill>
                          <a:latin typeface="Calibri"/>
                        </a:rPr>
                        <a:t>Allergen Composition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Single-Allergen Preparations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Fixed Allergen Mixtures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 Homologous Pollen Mixtures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House Dust Mite Mixtures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 Mixed Vespid Preparations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Customized Multi-Allergen Preparations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Allergen Composition</a:t>
            </a:r>
          </a:p>
        </p:txBody>
      </p:sp>
      <p:sp>
        <p:nvSpPr>
          <p:cNvPr id="17" name="Rectangle 16"/>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314951" y="2080450"/>
            <a:ext cx="366712" cy="533400"/>
          </a:xfrm>
          <a:prstGeom prst="rect">
            <a:avLst/>
          </a:prstGeom>
        </p:spPr>
      </p:pic>
      <p:sp>
        <p:nvSpPr>
          <p:cNvPr id="21" name="TextBox 20"/>
          <p:cNvSpPr txBox="1"/>
          <p:nvPr/>
        </p:nvSpPr>
        <p:spPr>
          <a:xfrm>
            <a:off x="276225" y="3971925"/>
            <a:ext cx="3380581" cy="194310"/>
          </a:xfrm>
          <a:prstGeom prst="rect">
            <a:avLst/>
          </a:prstGeom>
          <a:noFill/>
        </p:spPr>
        <p:txBody>
          <a:bodyPr wrap="none" lIns="0" rIns="0" tIns="0" bIns="0">
            <a:spAutoFit/>
          </a:bodyPr>
          <a:lstStyle/>
          <a:p>
            <a:r>
              <a:rPr sz="1150" b="0">
                <a:solidFill>
                  <a:srgbClr val="2E2E2E"/>
                </a:solidFill>
                <a:latin typeface="Calibri"/>
              </a:rPr>
              <a:t>Fixed allergen mixtures segment is projected to register</a:t>
            </a:r>
          </a:p>
        </p:txBody>
      </p:sp>
      <p:pic>
        <p:nvPicPr>
          <p:cNvPr id="22" name="Picture 21" descr="lock.png"/>
          <p:cNvPicPr>
            <a:picLocks noChangeAspect="1"/>
          </p:cNvPicPr>
          <p:nvPr/>
        </p:nvPicPr>
        <p:blipFill>
          <a:blip r:embed="rId4"/>
          <a:stretch>
            <a:fillRect/>
          </a:stretch>
        </p:blipFill>
        <p:spPr>
          <a:xfrm>
            <a:off x="3605960" y="3961701"/>
            <a:ext cx="134549" cy="195707"/>
          </a:xfrm>
          <a:prstGeom prst="rect">
            <a:avLst/>
          </a:prstGeom>
        </p:spPr>
      </p:pic>
      <p:sp>
        <p:nvSpPr>
          <p:cNvPr id="23" name="TextBox 22"/>
          <p:cNvSpPr txBox="1"/>
          <p:nvPr/>
        </p:nvSpPr>
        <p:spPr>
          <a:xfrm>
            <a:off x="3781069" y="3971925"/>
            <a:ext cx="7346751" cy="194310"/>
          </a:xfrm>
          <a:prstGeom prst="rect">
            <a:avLst/>
          </a:prstGeom>
          <a:noFill/>
        </p:spPr>
        <p:txBody>
          <a:bodyPr wrap="none" lIns="0" rIns="0" tIns="0" bIns="0">
            <a:spAutoFit/>
          </a:bodyPr>
          <a:lstStyle/>
          <a:p>
            <a:r>
              <a:rPr sz="1150" b="0">
                <a:solidFill>
                  <a:srgbClr val="2E2E2E"/>
                </a:solidFill>
                <a:latin typeface="Calibri"/>
              </a:rPr>
              <a:t>X higher value than single-allergen preparations segment in 2036. Among allergy immunotherapy by allergen composition,</a:t>
            </a:r>
          </a:p>
        </p:txBody>
      </p:sp>
      <p:sp>
        <p:nvSpPr>
          <p:cNvPr id="24" name="TextBox 23"/>
          <p:cNvSpPr txBox="1"/>
          <p:nvPr/>
        </p:nvSpPr>
        <p:spPr>
          <a:xfrm>
            <a:off x="276225" y="4147185"/>
            <a:ext cx="4851047" cy="194310"/>
          </a:xfrm>
          <a:prstGeom prst="rect">
            <a:avLst/>
          </a:prstGeom>
          <a:noFill/>
        </p:spPr>
        <p:txBody>
          <a:bodyPr wrap="none" lIns="0" rIns="0" tIns="0" bIns="0">
            <a:spAutoFit/>
          </a:bodyPr>
          <a:lstStyle/>
          <a:p>
            <a:r>
              <a:rPr sz="1150" b="0">
                <a:solidFill>
                  <a:srgbClr val="2E2E2E"/>
                </a:solidFill>
                <a:latin typeface="Calibri"/>
              </a:rPr>
              <a:t>single-allergen preparations segment is expected to witness the highest CAGR of</a:t>
            </a:r>
          </a:p>
        </p:txBody>
      </p:sp>
      <p:pic>
        <p:nvPicPr>
          <p:cNvPr id="25" name="Picture 24" descr="lock.png"/>
          <p:cNvPicPr>
            <a:picLocks noChangeAspect="1"/>
          </p:cNvPicPr>
          <p:nvPr/>
        </p:nvPicPr>
        <p:blipFill>
          <a:blip r:embed="rId4"/>
          <a:stretch>
            <a:fillRect/>
          </a:stretch>
        </p:blipFill>
        <p:spPr>
          <a:xfrm>
            <a:off x="5076426" y="4136961"/>
            <a:ext cx="134549" cy="195707"/>
          </a:xfrm>
          <a:prstGeom prst="rect">
            <a:avLst/>
          </a:prstGeom>
        </p:spPr>
      </p:pic>
      <p:sp>
        <p:nvSpPr>
          <p:cNvPr id="26" name="TextBox 25"/>
          <p:cNvSpPr txBox="1"/>
          <p:nvPr/>
        </p:nvSpPr>
        <p:spPr>
          <a:xfrm>
            <a:off x="5251535"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375022"/>
            <a:ext cx="7673937" cy="194310"/>
          </a:xfrm>
          <a:prstGeom prst="rect">
            <a:avLst/>
          </a:prstGeom>
          <a:noFill/>
        </p:spPr>
        <p:txBody>
          <a:bodyPr wrap="none" lIns="0" rIns="0" tIns="0" bIns="0">
            <a:spAutoFit/>
          </a:bodyPr>
          <a:lstStyle/>
          <a:p>
            <a:r>
              <a:rPr sz="1150" b="0">
                <a:solidFill>
                  <a:srgbClr val="2E2E2E"/>
                </a:solidFill>
                <a:latin typeface="Calibri"/>
              </a:rPr>
              <a:t>In terms of value share by allergen composition, the fixed allergen mixtures segment is expected to dominate the market, losing</a:t>
            </a:r>
          </a:p>
        </p:txBody>
      </p:sp>
      <p:pic>
        <p:nvPicPr>
          <p:cNvPr id="28" name="Picture 27" descr="lock.png"/>
          <p:cNvPicPr>
            <a:picLocks noChangeAspect="1"/>
          </p:cNvPicPr>
          <p:nvPr/>
        </p:nvPicPr>
        <p:blipFill>
          <a:blip r:embed="rId4"/>
          <a:stretch>
            <a:fillRect/>
          </a:stretch>
        </p:blipFill>
        <p:spPr>
          <a:xfrm>
            <a:off x="7899316" y="4364799"/>
            <a:ext cx="134549" cy="195707"/>
          </a:xfrm>
          <a:prstGeom prst="rect">
            <a:avLst/>
          </a:prstGeom>
        </p:spPr>
      </p:pic>
      <p:sp>
        <p:nvSpPr>
          <p:cNvPr id="29" name="TextBox 28"/>
          <p:cNvSpPr txBox="1"/>
          <p:nvPr/>
        </p:nvSpPr>
        <p:spPr>
          <a:xfrm>
            <a:off x="8074426"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9469569" y="4364799"/>
            <a:ext cx="134549" cy="195707"/>
          </a:xfrm>
          <a:prstGeom prst="rect">
            <a:avLst/>
          </a:prstGeom>
        </p:spPr>
      </p:pic>
      <p:sp>
        <p:nvSpPr>
          <p:cNvPr id="31" name="TextBox 30"/>
          <p:cNvSpPr txBox="1"/>
          <p:nvPr/>
        </p:nvSpPr>
        <p:spPr>
          <a:xfrm>
            <a:off x="9644678"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Allergen Composition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Allergen Composition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Allergen Composition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81250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180773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73153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Customized Multi-Allergen Preparations</a:t>
            </a:r>
          </a:p>
        </p:txBody>
      </p:sp>
      <p:sp>
        <p:nvSpPr>
          <p:cNvPr id="19" name="BPS Value 1"/>
          <p:cNvSpPr txBox="1"/>
          <p:nvPr/>
        </p:nvSpPr>
        <p:spPr>
          <a:xfrm>
            <a:off x="6896100" y="179345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928997" y="238494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38018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30398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Single-Allergen Preparations</a:t>
            </a:r>
          </a:p>
        </p:txBody>
      </p:sp>
      <p:sp>
        <p:nvSpPr>
          <p:cNvPr id="23" name="BPS Value 2"/>
          <p:cNvSpPr txBox="1"/>
          <p:nvPr/>
        </p:nvSpPr>
        <p:spPr>
          <a:xfrm>
            <a:off x="6896100" y="236589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928997" y="452988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452512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444892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Fixed Allergen Mixtures</a:t>
            </a:r>
          </a:p>
        </p:txBody>
      </p:sp>
      <p:sp>
        <p:nvSpPr>
          <p:cNvPr id="27" name="BPS Value 3"/>
          <p:cNvSpPr txBox="1"/>
          <p:nvPr/>
        </p:nvSpPr>
        <p:spPr>
          <a:xfrm>
            <a:off x="6896100" y="451083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Allergen Composition</a:t>
            </a:r>
          </a:p>
        </p:txBody>
      </p:sp>
      <p:sp>
        <p:nvSpPr>
          <p:cNvPr id="30" name="Rectangle 29"/>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5"/>
          <a:stretch>
            <a:fillRect/>
          </a:stretch>
        </p:blipFill>
        <p:spPr>
          <a:xfrm>
            <a:off x="2557843" y="3833622"/>
            <a:ext cx="275034" cy="400050"/>
          </a:xfrm>
          <a:prstGeom prst="rect">
            <a:avLst/>
          </a:prstGeom>
        </p:spPr>
      </p:pic>
      <p:sp>
        <p:nvSpPr>
          <p:cNvPr id="34" name="TextBox 33"/>
          <p:cNvSpPr txBox="1"/>
          <p:nvPr/>
        </p:nvSpPr>
        <p:spPr>
          <a:xfrm>
            <a:off x="7829550" y="1400175"/>
            <a:ext cx="3416237" cy="194310"/>
          </a:xfrm>
          <a:prstGeom prst="rect">
            <a:avLst/>
          </a:prstGeom>
          <a:noFill/>
        </p:spPr>
        <p:txBody>
          <a:bodyPr wrap="none" lIns="0" rIns="0" tIns="0" bIns="0">
            <a:spAutoFit/>
          </a:bodyPr>
          <a:lstStyle/>
          <a:p>
            <a:r>
              <a:rPr sz="1150" b="0">
                <a:solidFill>
                  <a:srgbClr val="2E2E2E"/>
                </a:solidFill>
                <a:latin typeface="Calibri"/>
              </a:rPr>
              <a:t>Among allergy immunotherapy by allergen composition,</a:t>
            </a:r>
          </a:p>
        </p:txBody>
      </p:sp>
      <p:sp>
        <p:nvSpPr>
          <p:cNvPr id="35" name="TextBox 34"/>
          <p:cNvSpPr txBox="1"/>
          <p:nvPr/>
        </p:nvSpPr>
        <p:spPr>
          <a:xfrm>
            <a:off x="7829550" y="1575435"/>
            <a:ext cx="3861804" cy="194310"/>
          </a:xfrm>
          <a:prstGeom prst="rect">
            <a:avLst/>
          </a:prstGeom>
          <a:noFill/>
        </p:spPr>
        <p:txBody>
          <a:bodyPr wrap="none" lIns="0" rIns="0" tIns="0" bIns="0">
            <a:spAutoFit/>
          </a:bodyPr>
          <a:lstStyle/>
          <a:p>
            <a:r>
              <a:rPr sz="1150" b="0">
                <a:solidFill>
                  <a:srgbClr val="2E2E2E"/>
                </a:solidFill>
                <a:latin typeface="Calibri"/>
              </a:rPr>
              <a:t>single-allergen preparations segment is expected to witness the</a:t>
            </a:r>
          </a:p>
        </p:txBody>
      </p:sp>
      <p:sp>
        <p:nvSpPr>
          <p:cNvPr id="36" name="TextBox 35"/>
          <p:cNvSpPr txBox="1"/>
          <p:nvPr/>
        </p:nvSpPr>
        <p:spPr>
          <a:xfrm>
            <a:off x="7829550" y="175069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37" name="Picture 36" descr="lock.png"/>
          <p:cNvPicPr>
            <a:picLocks noChangeAspect="1"/>
          </p:cNvPicPr>
          <p:nvPr/>
        </p:nvPicPr>
        <p:blipFill>
          <a:blip r:embed="rId5"/>
          <a:stretch>
            <a:fillRect/>
          </a:stretch>
        </p:blipFill>
        <p:spPr>
          <a:xfrm>
            <a:off x="8811057" y="1740471"/>
            <a:ext cx="134549" cy="195707"/>
          </a:xfrm>
          <a:prstGeom prst="rect">
            <a:avLst/>
          </a:prstGeom>
        </p:spPr>
      </p:pic>
      <p:sp>
        <p:nvSpPr>
          <p:cNvPr id="38" name="TextBox 37"/>
          <p:cNvSpPr txBox="1"/>
          <p:nvPr/>
        </p:nvSpPr>
        <p:spPr>
          <a:xfrm>
            <a:off x="8986166"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9" name="TextBox 38"/>
          <p:cNvSpPr txBox="1"/>
          <p:nvPr/>
        </p:nvSpPr>
        <p:spPr>
          <a:xfrm>
            <a:off x="7829550" y="1978533"/>
            <a:ext cx="3999011" cy="194310"/>
          </a:xfrm>
          <a:prstGeom prst="rect">
            <a:avLst/>
          </a:prstGeom>
          <a:noFill/>
        </p:spPr>
        <p:txBody>
          <a:bodyPr wrap="none" lIns="0" rIns="0" tIns="0" bIns="0">
            <a:spAutoFit/>
          </a:bodyPr>
          <a:lstStyle/>
          <a:p>
            <a:r>
              <a:rPr sz="1150" b="0">
                <a:solidFill>
                  <a:srgbClr val="2E2E2E"/>
                </a:solidFill>
                <a:latin typeface="Calibri"/>
              </a:rPr>
              <a:t>In terms of value share by allergen composition, the fixed allergen</a:t>
            </a:r>
          </a:p>
        </p:txBody>
      </p:sp>
      <p:sp>
        <p:nvSpPr>
          <p:cNvPr id="40" name="TextBox 39"/>
          <p:cNvSpPr txBox="1"/>
          <p:nvPr/>
        </p:nvSpPr>
        <p:spPr>
          <a:xfrm>
            <a:off x="7829550" y="2153793"/>
            <a:ext cx="3718036" cy="194310"/>
          </a:xfrm>
          <a:prstGeom prst="rect">
            <a:avLst/>
          </a:prstGeom>
          <a:noFill/>
        </p:spPr>
        <p:txBody>
          <a:bodyPr wrap="none" lIns="0" rIns="0" tIns="0" bIns="0">
            <a:spAutoFit/>
          </a:bodyPr>
          <a:lstStyle/>
          <a:p>
            <a:r>
              <a:rPr sz="1150" b="0">
                <a:solidFill>
                  <a:srgbClr val="2E2E2E"/>
                </a:solidFill>
                <a:latin typeface="Calibri"/>
              </a:rPr>
              <a:t>mixtures segment is expected to dominate the market, losing</a:t>
            </a:r>
          </a:p>
        </p:txBody>
      </p:sp>
      <p:pic>
        <p:nvPicPr>
          <p:cNvPr id="41" name="Picture 40" descr="lock.png"/>
          <p:cNvPicPr>
            <a:picLocks noChangeAspect="1"/>
          </p:cNvPicPr>
          <p:nvPr/>
        </p:nvPicPr>
        <p:blipFill>
          <a:blip r:embed="rId5"/>
          <a:stretch>
            <a:fillRect/>
          </a:stretch>
        </p:blipFill>
        <p:spPr>
          <a:xfrm>
            <a:off x="11496740" y="2143569"/>
            <a:ext cx="134549" cy="195707"/>
          </a:xfrm>
          <a:prstGeom prst="rect">
            <a:avLst/>
          </a:prstGeom>
        </p:spPr>
      </p:pic>
      <p:sp>
        <p:nvSpPr>
          <p:cNvPr id="42" name="TextBox 41"/>
          <p:cNvSpPr txBox="1"/>
          <p:nvPr/>
        </p:nvSpPr>
        <p:spPr>
          <a:xfrm>
            <a:off x="7829550"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3" name="Picture 42" descr="lock.png"/>
          <p:cNvPicPr>
            <a:picLocks noChangeAspect="1"/>
          </p:cNvPicPr>
          <p:nvPr/>
        </p:nvPicPr>
        <p:blipFill>
          <a:blip r:embed="rId5"/>
          <a:stretch>
            <a:fillRect/>
          </a:stretch>
        </p:blipFill>
        <p:spPr>
          <a:xfrm>
            <a:off x="9224693" y="2318829"/>
            <a:ext cx="134549" cy="195707"/>
          </a:xfrm>
          <a:prstGeom prst="rect">
            <a:avLst/>
          </a:prstGeom>
        </p:spPr>
      </p:pic>
      <p:sp>
        <p:nvSpPr>
          <p:cNvPr id="44" name="TextBox 43"/>
          <p:cNvSpPr txBox="1"/>
          <p:nvPr/>
        </p:nvSpPr>
        <p:spPr>
          <a:xfrm>
            <a:off x="9399802"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Sales / Procurement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 Procurement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Sales / Procurement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Sales / Procurement Channel,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Sales / Procurement Channel segment categorizes the market by sales / procurement channel.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Direct-to-Allergy Clinics</a:t>
            </a:r>
          </a:p>
        </p:txBody>
      </p:sp>
      <p:sp>
        <p:nvSpPr>
          <p:cNvPr id="23" name="Rectangle 22"/>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Hospital Procurement</a:t>
            </a:r>
          </a:p>
        </p:txBody>
      </p:sp>
      <p:sp>
        <p:nvSpPr>
          <p:cNvPr id="30" name="Rectangle 29"/>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Mail-order Pharmacy</a:t>
            </a:r>
          </a:p>
        </p:txBody>
      </p:sp>
      <p:sp>
        <p:nvSpPr>
          <p:cNvPr id="37" name="Rectangle 36"/>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Pharmaceutical Distributor</a:t>
            </a:r>
          </a:p>
        </p:txBody>
      </p:sp>
      <p:sp>
        <p:nvSpPr>
          <p:cNvPr id="44" name="Rectangle 43"/>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Retail Pharmacy</a:t>
            </a:r>
          </a:p>
        </p:txBody>
      </p:sp>
      <p:sp>
        <p:nvSpPr>
          <p:cNvPr id="51" name="Rectangle 50"/>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Rectangle 52"/>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4" name="Oval 53"/>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7" name="Rectangle 56"/>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9" name="Rounded Rectangle 5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1" name="Rectangle 60"/>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3" name="Rounded Rectangle 6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5" name="Rectangle 64"/>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Sales / Procurement Channel split shows how demand is distributed across sales / procurement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7" name="Rectangle 6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9" name="TextBox 68"/>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0" name="TextBox 6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1" name="Picture 70" descr="355_0_605E5C.png"/>
          <p:cNvPicPr>
            <a:picLocks noChangeAspect="1"/>
          </p:cNvPicPr>
          <p:nvPr/>
        </p:nvPicPr>
        <p:blipFill>
          <a:blip r:embed="rId4"/>
          <a:stretch>
            <a:fillRect/>
          </a:stretch>
        </p:blipFill>
        <p:spPr>
          <a:xfrm>
            <a:off x="2223441" y="2286582"/>
            <a:ext cx="1195728" cy="361950"/>
          </a:xfrm>
          <a:prstGeom prst="rect">
            <a:avLst/>
          </a:prstGeom>
        </p:spPr>
      </p:pic>
      <p:pic>
        <p:nvPicPr>
          <p:cNvPr id="72" name="Picture 71" descr="703_4_605E5C.png"/>
          <p:cNvPicPr>
            <a:picLocks noChangeAspect="1"/>
          </p:cNvPicPr>
          <p:nvPr/>
        </p:nvPicPr>
        <p:blipFill>
          <a:blip r:embed="rId5"/>
          <a:stretch>
            <a:fillRect/>
          </a:stretch>
        </p:blipFill>
        <p:spPr>
          <a:xfrm>
            <a:off x="2223441" y="2779432"/>
            <a:ext cx="1195728" cy="361950"/>
          </a:xfrm>
          <a:prstGeom prst="rect">
            <a:avLst/>
          </a:prstGeom>
        </p:spPr>
      </p:pic>
      <p:pic>
        <p:nvPicPr>
          <p:cNvPr id="73" name="Picture 72" descr="7_1__605E5C.png"/>
          <p:cNvPicPr>
            <a:picLocks noChangeAspect="1"/>
          </p:cNvPicPr>
          <p:nvPr/>
        </p:nvPicPr>
        <p:blipFill>
          <a:blip r:embed="rId6"/>
          <a:stretch>
            <a:fillRect/>
          </a:stretch>
        </p:blipFill>
        <p:spPr>
          <a:xfrm>
            <a:off x="2330087" y="3272281"/>
            <a:ext cx="982436" cy="361950"/>
          </a:xfrm>
          <a:prstGeom prst="rect">
            <a:avLst/>
          </a:prstGeom>
        </p:spPr>
      </p:pic>
      <p:pic>
        <p:nvPicPr>
          <p:cNvPr id="74" name="Picture 73" descr="168_1_605E5C.png"/>
          <p:cNvPicPr>
            <a:picLocks noChangeAspect="1"/>
          </p:cNvPicPr>
          <p:nvPr/>
        </p:nvPicPr>
        <p:blipFill>
          <a:blip r:embed="rId7"/>
          <a:stretch>
            <a:fillRect/>
          </a:stretch>
        </p:blipFill>
        <p:spPr>
          <a:xfrm>
            <a:off x="4246551" y="2286582"/>
            <a:ext cx="1195728" cy="361950"/>
          </a:xfrm>
          <a:prstGeom prst="rect">
            <a:avLst/>
          </a:prstGeom>
        </p:spPr>
      </p:pic>
      <p:pic>
        <p:nvPicPr>
          <p:cNvPr id="75" name="Picture 74" descr="283_6_605E5C.png"/>
          <p:cNvPicPr>
            <a:picLocks noChangeAspect="1"/>
          </p:cNvPicPr>
          <p:nvPr/>
        </p:nvPicPr>
        <p:blipFill>
          <a:blip r:embed="rId8"/>
          <a:stretch>
            <a:fillRect/>
          </a:stretch>
        </p:blipFill>
        <p:spPr>
          <a:xfrm>
            <a:off x="4246551" y="2779432"/>
            <a:ext cx="1195728" cy="361950"/>
          </a:xfrm>
          <a:prstGeom prst="rect">
            <a:avLst/>
          </a:prstGeom>
        </p:spPr>
      </p:pic>
      <p:pic>
        <p:nvPicPr>
          <p:cNvPr id="76" name="Picture 75" descr="5_4__605E5C.png"/>
          <p:cNvPicPr>
            <a:picLocks noChangeAspect="1"/>
          </p:cNvPicPr>
          <p:nvPr/>
        </p:nvPicPr>
        <p:blipFill>
          <a:blip r:embed="rId9"/>
          <a:stretch>
            <a:fillRect/>
          </a:stretch>
        </p:blipFill>
        <p:spPr>
          <a:xfrm>
            <a:off x="4353197" y="3272281"/>
            <a:ext cx="982436" cy="361950"/>
          </a:xfrm>
          <a:prstGeom prst="rect">
            <a:avLst/>
          </a:prstGeom>
        </p:spPr>
      </p:pic>
      <p:pic>
        <p:nvPicPr>
          <p:cNvPr id="77" name="Picture 76" descr="132_0_605E5C.png"/>
          <p:cNvPicPr>
            <a:picLocks noChangeAspect="1"/>
          </p:cNvPicPr>
          <p:nvPr/>
        </p:nvPicPr>
        <p:blipFill>
          <a:blip r:embed="rId10"/>
          <a:stretch>
            <a:fillRect/>
          </a:stretch>
        </p:blipFill>
        <p:spPr>
          <a:xfrm>
            <a:off x="6269661" y="2286582"/>
            <a:ext cx="1195728" cy="361950"/>
          </a:xfrm>
          <a:prstGeom prst="rect">
            <a:avLst/>
          </a:prstGeom>
        </p:spPr>
      </p:pic>
      <p:pic>
        <p:nvPicPr>
          <p:cNvPr id="78" name="Picture 77" descr="262_6_605E5C.png"/>
          <p:cNvPicPr>
            <a:picLocks noChangeAspect="1"/>
          </p:cNvPicPr>
          <p:nvPr/>
        </p:nvPicPr>
        <p:blipFill>
          <a:blip r:embed="rId11"/>
          <a:stretch>
            <a:fillRect/>
          </a:stretch>
        </p:blipFill>
        <p:spPr>
          <a:xfrm>
            <a:off x="6269661" y="2779432"/>
            <a:ext cx="1195728" cy="361950"/>
          </a:xfrm>
          <a:prstGeom prst="rect">
            <a:avLst/>
          </a:prstGeom>
        </p:spPr>
      </p:pic>
      <p:pic>
        <p:nvPicPr>
          <p:cNvPr id="79" name="Picture 78" descr="7_1__605E5C.png"/>
          <p:cNvPicPr>
            <a:picLocks noChangeAspect="1"/>
          </p:cNvPicPr>
          <p:nvPr/>
        </p:nvPicPr>
        <p:blipFill>
          <a:blip r:embed="rId6"/>
          <a:stretch>
            <a:fillRect/>
          </a:stretch>
        </p:blipFill>
        <p:spPr>
          <a:xfrm>
            <a:off x="6376307" y="3272281"/>
            <a:ext cx="982436" cy="361950"/>
          </a:xfrm>
          <a:prstGeom prst="rect">
            <a:avLst/>
          </a:prstGeom>
        </p:spPr>
      </p:pic>
      <p:pic>
        <p:nvPicPr>
          <p:cNvPr id="80" name="Picture 79" descr="84_2_605E5C.png"/>
          <p:cNvPicPr>
            <a:picLocks noChangeAspect="1"/>
          </p:cNvPicPr>
          <p:nvPr/>
        </p:nvPicPr>
        <p:blipFill>
          <a:blip r:embed="rId12"/>
          <a:stretch>
            <a:fillRect/>
          </a:stretch>
        </p:blipFill>
        <p:spPr>
          <a:xfrm>
            <a:off x="8399417" y="2286582"/>
            <a:ext cx="982436" cy="361950"/>
          </a:xfrm>
          <a:prstGeom prst="rect">
            <a:avLst/>
          </a:prstGeom>
        </p:spPr>
      </p:pic>
      <p:pic>
        <p:nvPicPr>
          <p:cNvPr id="81" name="Picture 80" descr="221_3_605E5C.png"/>
          <p:cNvPicPr>
            <a:picLocks noChangeAspect="1"/>
          </p:cNvPicPr>
          <p:nvPr/>
        </p:nvPicPr>
        <p:blipFill>
          <a:blip r:embed="rId13"/>
          <a:stretch>
            <a:fillRect/>
          </a:stretch>
        </p:blipFill>
        <p:spPr>
          <a:xfrm>
            <a:off x="8292771" y="2779432"/>
            <a:ext cx="1195728" cy="361950"/>
          </a:xfrm>
          <a:prstGeom prst="rect">
            <a:avLst/>
          </a:prstGeom>
        </p:spPr>
      </p:pic>
      <p:pic>
        <p:nvPicPr>
          <p:cNvPr id="82" name="Picture 81" descr="10_1__605E5C.png"/>
          <p:cNvPicPr>
            <a:picLocks noChangeAspect="1"/>
          </p:cNvPicPr>
          <p:nvPr/>
        </p:nvPicPr>
        <p:blipFill>
          <a:blip r:embed="rId14"/>
          <a:stretch>
            <a:fillRect/>
          </a:stretch>
        </p:blipFill>
        <p:spPr>
          <a:xfrm>
            <a:off x="8292771" y="3272281"/>
            <a:ext cx="1195728" cy="361950"/>
          </a:xfrm>
          <a:prstGeom prst="rect">
            <a:avLst/>
          </a:prstGeom>
        </p:spPr>
      </p:pic>
      <p:pic>
        <p:nvPicPr>
          <p:cNvPr id="83" name="Picture 82" descr="62_0_605E5C.png"/>
          <p:cNvPicPr>
            <a:picLocks noChangeAspect="1"/>
          </p:cNvPicPr>
          <p:nvPr/>
        </p:nvPicPr>
        <p:blipFill>
          <a:blip r:embed="rId15"/>
          <a:stretch>
            <a:fillRect/>
          </a:stretch>
        </p:blipFill>
        <p:spPr>
          <a:xfrm>
            <a:off x="10422527" y="2286582"/>
            <a:ext cx="982436" cy="361950"/>
          </a:xfrm>
          <a:prstGeom prst="rect">
            <a:avLst/>
          </a:prstGeom>
        </p:spPr>
      </p:pic>
      <p:pic>
        <p:nvPicPr>
          <p:cNvPr id="84" name="Picture 83" descr="175_3_605E5C.png"/>
          <p:cNvPicPr>
            <a:picLocks noChangeAspect="1"/>
          </p:cNvPicPr>
          <p:nvPr/>
        </p:nvPicPr>
        <p:blipFill>
          <a:blip r:embed="rId16"/>
          <a:stretch>
            <a:fillRect/>
          </a:stretch>
        </p:blipFill>
        <p:spPr>
          <a:xfrm>
            <a:off x="10315881" y="2779432"/>
            <a:ext cx="1195728" cy="361950"/>
          </a:xfrm>
          <a:prstGeom prst="rect">
            <a:avLst/>
          </a:prstGeom>
        </p:spPr>
      </p:pic>
      <p:pic>
        <p:nvPicPr>
          <p:cNvPr id="85" name="Picture 84" descr="11_0__605E5C.png"/>
          <p:cNvPicPr>
            <a:picLocks noChangeAspect="1"/>
          </p:cNvPicPr>
          <p:nvPr/>
        </p:nvPicPr>
        <p:blipFill>
          <a:blip r:embed="rId17"/>
          <a:stretch>
            <a:fillRect/>
          </a:stretch>
        </p:blipFill>
        <p:spPr>
          <a:xfrm>
            <a:off x="10315881" y="3272281"/>
            <a:ext cx="1195728" cy="361950"/>
          </a:xfrm>
          <a:prstGeom prst="rect">
            <a:avLst/>
          </a:prstGeom>
        </p:spPr>
      </p:pic>
      <p:pic>
        <p:nvPicPr>
          <p:cNvPr id="86" name="Picture 85" descr="lock.png"/>
          <p:cNvPicPr>
            <a:picLocks noChangeAspect="1"/>
          </p:cNvPicPr>
          <p:nvPr/>
        </p:nvPicPr>
        <p:blipFill>
          <a:blip r:embed="rId18"/>
          <a:stretch>
            <a:fillRect/>
          </a:stretch>
        </p:blipFill>
        <p:spPr>
          <a:xfrm>
            <a:off x="2727960" y="2827057"/>
            <a:ext cx="183356" cy="266700"/>
          </a:xfrm>
          <a:prstGeom prst="rect">
            <a:avLst/>
          </a:prstGeom>
        </p:spPr>
      </p:pic>
      <p:pic>
        <p:nvPicPr>
          <p:cNvPr id="87" name="Picture 86" descr="lock.png"/>
          <p:cNvPicPr>
            <a:picLocks noChangeAspect="1"/>
          </p:cNvPicPr>
          <p:nvPr/>
        </p:nvPicPr>
        <p:blipFill>
          <a:blip r:embed="rId18"/>
          <a:stretch>
            <a:fillRect/>
          </a:stretch>
        </p:blipFill>
        <p:spPr>
          <a:xfrm>
            <a:off x="4751070" y="2827057"/>
            <a:ext cx="183356" cy="266700"/>
          </a:xfrm>
          <a:prstGeom prst="rect">
            <a:avLst/>
          </a:prstGeom>
        </p:spPr>
      </p:pic>
      <p:pic>
        <p:nvPicPr>
          <p:cNvPr id="88" name="Picture 87" descr="lock.png"/>
          <p:cNvPicPr>
            <a:picLocks noChangeAspect="1"/>
          </p:cNvPicPr>
          <p:nvPr/>
        </p:nvPicPr>
        <p:blipFill>
          <a:blip r:embed="rId18"/>
          <a:stretch>
            <a:fillRect/>
          </a:stretch>
        </p:blipFill>
        <p:spPr>
          <a:xfrm>
            <a:off x="6774180" y="2827057"/>
            <a:ext cx="183356" cy="266700"/>
          </a:xfrm>
          <a:prstGeom prst="rect">
            <a:avLst/>
          </a:prstGeom>
        </p:spPr>
      </p:pic>
      <p:pic>
        <p:nvPicPr>
          <p:cNvPr id="89" name="Picture 88" descr="lock.png"/>
          <p:cNvPicPr>
            <a:picLocks noChangeAspect="1"/>
          </p:cNvPicPr>
          <p:nvPr/>
        </p:nvPicPr>
        <p:blipFill>
          <a:blip r:embed="rId18"/>
          <a:stretch>
            <a:fillRect/>
          </a:stretch>
        </p:blipFill>
        <p:spPr>
          <a:xfrm>
            <a:off x="8797290" y="2827057"/>
            <a:ext cx="183356" cy="266700"/>
          </a:xfrm>
          <a:prstGeom prst="rect">
            <a:avLst/>
          </a:prstGeom>
        </p:spPr>
      </p:pic>
      <p:pic>
        <p:nvPicPr>
          <p:cNvPr id="90" name="Picture 89" descr="lock.png"/>
          <p:cNvPicPr>
            <a:picLocks noChangeAspect="1"/>
          </p:cNvPicPr>
          <p:nvPr/>
        </p:nvPicPr>
        <p:blipFill>
          <a:blip r:embed="rId18"/>
          <a:stretch>
            <a:fillRect/>
          </a:stretch>
        </p:blipFill>
        <p:spPr>
          <a:xfrm>
            <a:off x="10820400" y="2827057"/>
            <a:ext cx="183356" cy="266700"/>
          </a:xfrm>
          <a:prstGeom prst="rect">
            <a:avLst/>
          </a:prstGeom>
        </p:spPr>
      </p:pic>
      <p:sp>
        <p:nvSpPr>
          <p:cNvPr id="91" name="TextBox 90"/>
          <p:cNvSpPr txBox="1"/>
          <p:nvPr/>
        </p:nvSpPr>
        <p:spPr>
          <a:xfrm>
            <a:off x="485775" y="4229437"/>
            <a:ext cx="2404988" cy="186689"/>
          </a:xfrm>
          <a:prstGeom prst="rect">
            <a:avLst/>
          </a:prstGeom>
          <a:noFill/>
        </p:spPr>
        <p:txBody>
          <a:bodyPr wrap="none" lIns="0" rIns="0" tIns="0" bIns="0">
            <a:spAutoFit/>
          </a:bodyPr>
          <a:lstStyle/>
          <a:p>
            <a:r>
              <a:rPr sz="1100" b="0">
                <a:solidFill>
                  <a:srgbClr val="2E2E2E"/>
                </a:solidFill>
                <a:latin typeface="Calibri"/>
              </a:rPr>
              <a:t>Among allergy immunotherapy by sales /</a:t>
            </a:r>
          </a:p>
        </p:txBody>
      </p:sp>
      <p:sp>
        <p:nvSpPr>
          <p:cNvPr id="92" name="TextBox 91"/>
          <p:cNvSpPr txBox="1"/>
          <p:nvPr/>
        </p:nvSpPr>
        <p:spPr>
          <a:xfrm>
            <a:off x="485775" y="4397077"/>
            <a:ext cx="2904033" cy="186689"/>
          </a:xfrm>
          <a:prstGeom prst="rect">
            <a:avLst/>
          </a:prstGeom>
          <a:noFill/>
        </p:spPr>
        <p:txBody>
          <a:bodyPr wrap="none" lIns="0" rIns="0" tIns="0" bIns="0">
            <a:spAutoFit/>
          </a:bodyPr>
          <a:lstStyle/>
          <a:p>
            <a:r>
              <a:rPr sz="1100" b="0">
                <a:solidFill>
                  <a:srgbClr val="2E2E2E"/>
                </a:solidFill>
                <a:latin typeface="Calibri"/>
              </a:rPr>
              <a:t>procurement channel, retail pharmacy segment is</a:t>
            </a:r>
          </a:p>
        </p:txBody>
      </p:sp>
      <p:sp>
        <p:nvSpPr>
          <p:cNvPr id="93" name="TextBox 92"/>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94" name="Picture 93" descr="lock.png"/>
          <p:cNvPicPr>
            <a:picLocks noChangeAspect="1"/>
          </p:cNvPicPr>
          <p:nvPr/>
        </p:nvPicPr>
        <p:blipFill>
          <a:blip r:embed="rId18"/>
          <a:stretch>
            <a:fillRect/>
          </a:stretch>
        </p:blipFill>
        <p:spPr>
          <a:xfrm>
            <a:off x="2815059" y="4554938"/>
            <a:ext cx="128699" cy="187198"/>
          </a:xfrm>
          <a:prstGeom prst="rect">
            <a:avLst/>
          </a:prstGeom>
        </p:spPr>
      </p:pic>
      <p:sp>
        <p:nvSpPr>
          <p:cNvPr id="95" name="TextBox 94"/>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96" name="TextBox 95"/>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97" name="TextBox 96"/>
          <p:cNvSpPr txBox="1"/>
          <p:nvPr/>
        </p:nvSpPr>
        <p:spPr>
          <a:xfrm>
            <a:off x="485775" y="4899997"/>
            <a:ext cx="2902669" cy="186689"/>
          </a:xfrm>
          <a:prstGeom prst="rect">
            <a:avLst/>
          </a:prstGeom>
          <a:noFill/>
        </p:spPr>
        <p:txBody>
          <a:bodyPr wrap="none" lIns="0" rIns="0" tIns="0" bIns="0">
            <a:spAutoFit/>
          </a:bodyPr>
          <a:lstStyle/>
          <a:p>
            <a:r>
              <a:rPr sz="1100" b="0">
                <a:solidFill>
                  <a:srgbClr val="2E2E2E"/>
                </a:solidFill>
                <a:latin typeface="Calibri"/>
              </a:rPr>
              <a:t>sales / procurement channel, the direct-to-allergy</a:t>
            </a:r>
          </a:p>
        </p:txBody>
      </p:sp>
      <p:sp>
        <p:nvSpPr>
          <p:cNvPr id="98" name="TextBox 97"/>
          <p:cNvSpPr txBox="1"/>
          <p:nvPr/>
        </p:nvSpPr>
        <p:spPr>
          <a:xfrm>
            <a:off x="485775" y="5067637"/>
            <a:ext cx="2567607" cy="186689"/>
          </a:xfrm>
          <a:prstGeom prst="rect">
            <a:avLst/>
          </a:prstGeom>
          <a:noFill/>
        </p:spPr>
        <p:txBody>
          <a:bodyPr wrap="none" lIns="0" rIns="0" tIns="0" bIns="0">
            <a:spAutoFit/>
          </a:bodyPr>
          <a:lstStyle/>
          <a:p>
            <a:r>
              <a:rPr sz="1100" b="0">
                <a:solidFill>
                  <a:srgbClr val="2E2E2E"/>
                </a:solidFill>
                <a:latin typeface="Calibri"/>
              </a:rPr>
              <a:t>clinics segment is expected to dominate the</a:t>
            </a:r>
          </a:p>
        </p:txBody>
      </p:sp>
      <p:sp>
        <p:nvSpPr>
          <p:cNvPr id="99" name="TextBox 98"/>
          <p:cNvSpPr txBox="1"/>
          <p:nvPr/>
        </p:nvSpPr>
        <p:spPr>
          <a:xfrm>
            <a:off x="485775" y="5235277"/>
            <a:ext cx="881930" cy="186689"/>
          </a:xfrm>
          <a:prstGeom prst="rect">
            <a:avLst/>
          </a:prstGeom>
          <a:noFill/>
        </p:spPr>
        <p:txBody>
          <a:bodyPr wrap="none" lIns="0" rIns="0" tIns="0" bIns="0">
            <a:spAutoFit/>
          </a:bodyPr>
          <a:lstStyle/>
          <a:p>
            <a:r>
              <a:rPr sz="1100" b="0">
                <a:solidFill>
                  <a:srgbClr val="2E2E2E"/>
                </a:solidFill>
                <a:latin typeface="Calibri"/>
              </a:rPr>
              <a:t>market, losing</a:t>
            </a:r>
          </a:p>
        </p:txBody>
      </p:sp>
      <p:pic>
        <p:nvPicPr>
          <p:cNvPr id="100" name="Picture 99" descr="lock.png"/>
          <p:cNvPicPr>
            <a:picLocks noChangeAspect="1"/>
          </p:cNvPicPr>
          <p:nvPr/>
        </p:nvPicPr>
        <p:blipFill>
          <a:blip r:embed="rId18"/>
          <a:stretch>
            <a:fillRect/>
          </a:stretch>
        </p:blipFill>
        <p:spPr>
          <a:xfrm>
            <a:off x="1315757" y="5225498"/>
            <a:ext cx="128699" cy="187198"/>
          </a:xfrm>
          <a:prstGeom prst="rect">
            <a:avLst/>
          </a:prstGeom>
        </p:spPr>
      </p:pic>
      <p:sp>
        <p:nvSpPr>
          <p:cNvPr id="101" name="TextBox 100"/>
          <p:cNvSpPr txBox="1"/>
          <p:nvPr/>
        </p:nvSpPr>
        <p:spPr>
          <a:xfrm>
            <a:off x="1483253"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02" name="Picture 101" descr="lock.png"/>
          <p:cNvPicPr>
            <a:picLocks noChangeAspect="1"/>
          </p:cNvPicPr>
          <p:nvPr/>
        </p:nvPicPr>
        <p:blipFill>
          <a:blip r:embed="rId18"/>
          <a:stretch>
            <a:fillRect/>
          </a:stretch>
        </p:blipFill>
        <p:spPr>
          <a:xfrm>
            <a:off x="2817737" y="5225498"/>
            <a:ext cx="128699" cy="187198"/>
          </a:xfrm>
          <a:prstGeom prst="rect">
            <a:avLst/>
          </a:prstGeom>
        </p:spPr>
      </p:pic>
      <p:sp>
        <p:nvSpPr>
          <p:cNvPr id="103" name="TextBox 102"/>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4" name="TextBox 103"/>
          <p:cNvSpPr txBox="1"/>
          <p:nvPr/>
        </p:nvSpPr>
        <p:spPr>
          <a:xfrm>
            <a:off x="485775" y="5620849"/>
            <a:ext cx="2752055" cy="186689"/>
          </a:xfrm>
          <a:prstGeom prst="rect">
            <a:avLst/>
          </a:prstGeom>
          <a:noFill/>
        </p:spPr>
        <p:txBody>
          <a:bodyPr wrap="none" lIns="0" rIns="0" tIns="0" bIns="0">
            <a:spAutoFit/>
          </a:bodyPr>
          <a:lstStyle/>
          <a:p>
            <a:r>
              <a:rPr sz="1100" b="0">
                <a:solidFill>
                  <a:srgbClr val="2E2E2E"/>
                </a:solidFill>
                <a:latin typeface="Calibri"/>
              </a:rPr>
              <a:t>Direct-to-allergy clinics segment is projected to</a:t>
            </a:r>
          </a:p>
        </p:txBody>
      </p:sp>
      <p:sp>
        <p:nvSpPr>
          <p:cNvPr id="105" name="TextBox 104"/>
          <p:cNvSpPr txBox="1"/>
          <p:nvPr/>
        </p:nvSpPr>
        <p:spPr>
          <a:xfrm>
            <a:off x="485775" y="578848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06" name="Picture 105" descr="lock.png"/>
          <p:cNvPicPr>
            <a:picLocks noChangeAspect="1"/>
          </p:cNvPicPr>
          <p:nvPr/>
        </p:nvPicPr>
        <p:blipFill>
          <a:blip r:embed="rId18"/>
          <a:stretch>
            <a:fillRect/>
          </a:stretch>
        </p:blipFill>
        <p:spPr>
          <a:xfrm>
            <a:off x="946316" y="5778710"/>
            <a:ext cx="128699" cy="187198"/>
          </a:xfrm>
          <a:prstGeom prst="rect">
            <a:avLst/>
          </a:prstGeom>
        </p:spPr>
      </p:pic>
      <p:sp>
        <p:nvSpPr>
          <p:cNvPr id="107" name="TextBox 106"/>
          <p:cNvSpPr txBox="1"/>
          <p:nvPr/>
        </p:nvSpPr>
        <p:spPr>
          <a:xfrm>
            <a:off x="1113812" y="5788489"/>
            <a:ext cx="1657374" cy="186689"/>
          </a:xfrm>
          <a:prstGeom prst="rect">
            <a:avLst/>
          </a:prstGeom>
          <a:noFill/>
        </p:spPr>
        <p:txBody>
          <a:bodyPr wrap="none" lIns="0" rIns="0" tIns="0" bIns="0">
            <a:spAutoFit/>
          </a:bodyPr>
          <a:lstStyle/>
          <a:p>
            <a:r>
              <a:rPr sz="1100" b="0">
                <a:solidFill>
                  <a:srgbClr val="2E2E2E"/>
                </a:solidFill>
                <a:latin typeface="Calibri"/>
              </a:rPr>
              <a:t>X higher value than hospital</a:t>
            </a:r>
          </a:p>
        </p:txBody>
      </p:sp>
      <p:sp>
        <p:nvSpPr>
          <p:cNvPr id="108" name="TextBox 107"/>
          <p:cNvSpPr txBox="1"/>
          <p:nvPr/>
        </p:nvSpPr>
        <p:spPr>
          <a:xfrm>
            <a:off x="485775" y="5956129"/>
            <a:ext cx="1835546" cy="186689"/>
          </a:xfrm>
          <a:prstGeom prst="rect">
            <a:avLst/>
          </a:prstGeom>
          <a:noFill/>
        </p:spPr>
        <p:txBody>
          <a:bodyPr wrap="none" lIns="0" rIns="0" tIns="0" bIns="0">
            <a:spAutoFit/>
          </a:bodyPr>
          <a:lstStyle/>
          <a:p>
            <a:r>
              <a:rPr sz="1100" b="0">
                <a:solidFill>
                  <a:srgbClr val="2E2E2E"/>
                </a:solidFill>
                <a:latin typeface="Calibri"/>
              </a:rPr>
              <a:t>procurement segment in 2036.</a:t>
            </a:r>
          </a:p>
        </p:txBody>
      </p:sp>
      <p:sp>
        <p:nvSpPr>
          <p:cNvPr id="109" name="TextBox 108"/>
          <p:cNvSpPr txBox="1"/>
          <p:nvPr/>
        </p:nvSpPr>
        <p:spPr>
          <a:xfrm>
            <a:off x="3838575" y="4229437"/>
            <a:ext cx="1561058" cy="186689"/>
          </a:xfrm>
          <a:prstGeom prst="rect">
            <a:avLst/>
          </a:prstGeom>
          <a:noFill/>
        </p:spPr>
        <p:txBody>
          <a:bodyPr wrap="none" lIns="0" rIns="0" tIns="0" bIns="0">
            <a:spAutoFit/>
          </a:bodyPr>
          <a:lstStyle/>
          <a:p>
            <a:r>
              <a:rPr sz="1100" b="0">
                <a:solidFill>
                  <a:srgbClr val="2E2E2E"/>
                </a:solidFill>
                <a:latin typeface="Calibri"/>
              </a:rPr>
              <a:t>● Direct-to-Allergy Clinics:</a:t>
            </a:r>
          </a:p>
        </p:txBody>
      </p:sp>
      <p:pic>
        <p:nvPicPr>
          <p:cNvPr id="110" name="Picture 109" descr="lock.png"/>
          <p:cNvPicPr>
            <a:picLocks noChangeAspect="1"/>
          </p:cNvPicPr>
          <p:nvPr/>
        </p:nvPicPr>
        <p:blipFill>
          <a:blip r:embed="rId18"/>
          <a:stretch>
            <a:fillRect/>
          </a:stretch>
        </p:blipFill>
        <p:spPr>
          <a:xfrm>
            <a:off x="5347684" y="4219658"/>
            <a:ext cx="128699" cy="187198"/>
          </a:xfrm>
          <a:prstGeom prst="rect">
            <a:avLst/>
          </a:prstGeom>
        </p:spPr>
      </p:pic>
      <p:sp>
        <p:nvSpPr>
          <p:cNvPr id="111" name="TextBox 110"/>
          <p:cNvSpPr txBox="1"/>
          <p:nvPr/>
        </p:nvSpPr>
        <p:spPr>
          <a:xfrm>
            <a:off x="551518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2" name="Picture 111" descr="lock.png"/>
          <p:cNvPicPr>
            <a:picLocks noChangeAspect="1"/>
          </p:cNvPicPr>
          <p:nvPr/>
        </p:nvPicPr>
        <p:blipFill>
          <a:blip r:embed="rId18"/>
          <a:stretch>
            <a:fillRect/>
          </a:stretch>
        </p:blipFill>
        <p:spPr>
          <a:xfrm>
            <a:off x="6374630" y="4219658"/>
            <a:ext cx="128699" cy="187198"/>
          </a:xfrm>
          <a:prstGeom prst="rect">
            <a:avLst/>
          </a:prstGeom>
        </p:spPr>
      </p:pic>
      <p:sp>
        <p:nvSpPr>
          <p:cNvPr id="113" name="TextBox 112"/>
          <p:cNvSpPr txBox="1"/>
          <p:nvPr/>
        </p:nvSpPr>
        <p:spPr>
          <a:xfrm>
            <a:off x="6542126"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14" name="TextBox 113"/>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15" name="TextBox 114"/>
          <p:cNvSpPr txBox="1"/>
          <p:nvPr/>
        </p:nvSpPr>
        <p:spPr>
          <a:xfrm>
            <a:off x="3838575" y="4615009"/>
            <a:ext cx="1475382" cy="186689"/>
          </a:xfrm>
          <a:prstGeom prst="rect">
            <a:avLst/>
          </a:prstGeom>
          <a:noFill/>
        </p:spPr>
        <p:txBody>
          <a:bodyPr wrap="none" lIns="0" rIns="0" tIns="0" bIns="0">
            <a:spAutoFit/>
          </a:bodyPr>
          <a:lstStyle/>
          <a:p>
            <a:r>
              <a:rPr sz="1100" b="0">
                <a:solidFill>
                  <a:srgbClr val="2E2E2E"/>
                </a:solidFill>
                <a:latin typeface="Calibri"/>
              </a:rPr>
              <a:t>● Hospital Procurement:</a:t>
            </a:r>
          </a:p>
        </p:txBody>
      </p:sp>
      <p:pic>
        <p:nvPicPr>
          <p:cNvPr id="116" name="Picture 115" descr="lock.png"/>
          <p:cNvPicPr>
            <a:picLocks noChangeAspect="1"/>
          </p:cNvPicPr>
          <p:nvPr/>
        </p:nvPicPr>
        <p:blipFill>
          <a:blip r:embed="rId18"/>
          <a:stretch>
            <a:fillRect/>
          </a:stretch>
        </p:blipFill>
        <p:spPr>
          <a:xfrm>
            <a:off x="5262009" y="4605230"/>
            <a:ext cx="128699" cy="187198"/>
          </a:xfrm>
          <a:prstGeom prst="rect">
            <a:avLst/>
          </a:prstGeom>
        </p:spPr>
      </p:pic>
      <p:sp>
        <p:nvSpPr>
          <p:cNvPr id="117" name="TextBox 116"/>
          <p:cNvSpPr txBox="1"/>
          <p:nvPr/>
        </p:nvSpPr>
        <p:spPr>
          <a:xfrm>
            <a:off x="5429505"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8" name="Picture 117" descr="lock.png"/>
          <p:cNvPicPr>
            <a:picLocks noChangeAspect="1"/>
          </p:cNvPicPr>
          <p:nvPr/>
        </p:nvPicPr>
        <p:blipFill>
          <a:blip r:embed="rId18"/>
          <a:stretch>
            <a:fillRect/>
          </a:stretch>
        </p:blipFill>
        <p:spPr>
          <a:xfrm>
            <a:off x="6288955" y="4605230"/>
            <a:ext cx="128699" cy="187198"/>
          </a:xfrm>
          <a:prstGeom prst="rect">
            <a:avLst/>
          </a:prstGeom>
        </p:spPr>
      </p:pic>
      <p:sp>
        <p:nvSpPr>
          <p:cNvPr id="119" name="TextBox 118"/>
          <p:cNvSpPr txBox="1"/>
          <p:nvPr/>
        </p:nvSpPr>
        <p:spPr>
          <a:xfrm>
            <a:off x="6456451"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0" name="TextBox 119"/>
          <p:cNvSpPr txBox="1"/>
          <p:nvPr/>
        </p:nvSpPr>
        <p:spPr>
          <a:xfrm>
            <a:off x="3838575" y="4832941"/>
            <a:ext cx="1431453" cy="186689"/>
          </a:xfrm>
          <a:prstGeom prst="rect">
            <a:avLst/>
          </a:prstGeom>
          <a:noFill/>
        </p:spPr>
        <p:txBody>
          <a:bodyPr wrap="none" lIns="0" rIns="0" tIns="0" bIns="0">
            <a:spAutoFit/>
          </a:bodyPr>
          <a:lstStyle/>
          <a:p>
            <a:r>
              <a:rPr sz="1100" b="0">
                <a:solidFill>
                  <a:srgbClr val="2E2E2E"/>
                </a:solidFill>
                <a:latin typeface="Calibri"/>
              </a:rPr>
              <a:t>● Mail-order Pharmacy:</a:t>
            </a:r>
          </a:p>
        </p:txBody>
      </p:sp>
      <p:pic>
        <p:nvPicPr>
          <p:cNvPr id="121" name="Picture 120" descr="lock.png"/>
          <p:cNvPicPr>
            <a:picLocks noChangeAspect="1"/>
          </p:cNvPicPr>
          <p:nvPr/>
        </p:nvPicPr>
        <p:blipFill>
          <a:blip r:embed="rId18"/>
          <a:stretch>
            <a:fillRect/>
          </a:stretch>
        </p:blipFill>
        <p:spPr>
          <a:xfrm>
            <a:off x="5218080" y="4823162"/>
            <a:ext cx="128699" cy="187198"/>
          </a:xfrm>
          <a:prstGeom prst="rect">
            <a:avLst/>
          </a:prstGeom>
        </p:spPr>
      </p:pic>
      <p:sp>
        <p:nvSpPr>
          <p:cNvPr id="122" name="TextBox 121"/>
          <p:cNvSpPr txBox="1"/>
          <p:nvPr/>
        </p:nvSpPr>
        <p:spPr>
          <a:xfrm>
            <a:off x="5385576"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3" name="Picture 122" descr="lock.png"/>
          <p:cNvPicPr>
            <a:picLocks noChangeAspect="1"/>
          </p:cNvPicPr>
          <p:nvPr/>
        </p:nvPicPr>
        <p:blipFill>
          <a:blip r:embed="rId18"/>
          <a:stretch>
            <a:fillRect/>
          </a:stretch>
        </p:blipFill>
        <p:spPr>
          <a:xfrm>
            <a:off x="6245026" y="4823162"/>
            <a:ext cx="128699" cy="187198"/>
          </a:xfrm>
          <a:prstGeom prst="rect">
            <a:avLst/>
          </a:prstGeom>
        </p:spPr>
      </p:pic>
      <p:sp>
        <p:nvSpPr>
          <p:cNvPr id="124" name="TextBox 123"/>
          <p:cNvSpPr txBox="1"/>
          <p:nvPr/>
        </p:nvSpPr>
        <p:spPr>
          <a:xfrm>
            <a:off x="6412522"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5" name="TextBox 124"/>
          <p:cNvSpPr txBox="1"/>
          <p:nvPr/>
        </p:nvSpPr>
        <p:spPr>
          <a:xfrm>
            <a:off x="3838575" y="5050872"/>
            <a:ext cx="1757511" cy="186689"/>
          </a:xfrm>
          <a:prstGeom prst="rect">
            <a:avLst/>
          </a:prstGeom>
          <a:noFill/>
        </p:spPr>
        <p:txBody>
          <a:bodyPr wrap="none" lIns="0" rIns="0" tIns="0" bIns="0">
            <a:spAutoFit/>
          </a:bodyPr>
          <a:lstStyle/>
          <a:p>
            <a:r>
              <a:rPr sz="1100" b="0">
                <a:solidFill>
                  <a:srgbClr val="2E2E2E"/>
                </a:solidFill>
                <a:latin typeface="Calibri"/>
              </a:rPr>
              <a:t>● Pharmaceutical Distributor:</a:t>
            </a:r>
          </a:p>
        </p:txBody>
      </p:sp>
      <p:pic>
        <p:nvPicPr>
          <p:cNvPr id="126" name="Picture 125" descr="lock.png"/>
          <p:cNvPicPr>
            <a:picLocks noChangeAspect="1"/>
          </p:cNvPicPr>
          <p:nvPr/>
        </p:nvPicPr>
        <p:blipFill>
          <a:blip r:embed="rId18"/>
          <a:stretch>
            <a:fillRect/>
          </a:stretch>
        </p:blipFill>
        <p:spPr>
          <a:xfrm>
            <a:off x="5544137" y="5041093"/>
            <a:ext cx="128699" cy="187198"/>
          </a:xfrm>
          <a:prstGeom prst="rect">
            <a:avLst/>
          </a:prstGeom>
        </p:spPr>
      </p:pic>
      <p:sp>
        <p:nvSpPr>
          <p:cNvPr id="127" name="TextBox 126"/>
          <p:cNvSpPr txBox="1"/>
          <p:nvPr/>
        </p:nvSpPr>
        <p:spPr>
          <a:xfrm>
            <a:off x="5711633"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8" name="Picture 127" descr="lock.png"/>
          <p:cNvPicPr>
            <a:picLocks noChangeAspect="1"/>
          </p:cNvPicPr>
          <p:nvPr/>
        </p:nvPicPr>
        <p:blipFill>
          <a:blip r:embed="rId18"/>
          <a:stretch>
            <a:fillRect/>
          </a:stretch>
        </p:blipFill>
        <p:spPr>
          <a:xfrm>
            <a:off x="6571083" y="5041093"/>
            <a:ext cx="128699" cy="187198"/>
          </a:xfrm>
          <a:prstGeom prst="rect">
            <a:avLst/>
          </a:prstGeom>
        </p:spPr>
      </p:pic>
      <p:sp>
        <p:nvSpPr>
          <p:cNvPr id="129" name="TextBox 128"/>
          <p:cNvSpPr txBox="1"/>
          <p:nvPr/>
        </p:nvSpPr>
        <p:spPr>
          <a:xfrm>
            <a:off x="6738579" y="5050872"/>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30" name="TextBox 129"/>
          <p:cNvSpPr txBox="1"/>
          <p:nvPr/>
        </p:nvSpPr>
        <p:spPr>
          <a:xfrm>
            <a:off x="3838575" y="5218513"/>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31" name="TextBox 130"/>
          <p:cNvSpPr txBox="1"/>
          <p:nvPr/>
        </p:nvSpPr>
        <p:spPr>
          <a:xfrm>
            <a:off x="3838575" y="5436445"/>
            <a:ext cx="1147142" cy="186689"/>
          </a:xfrm>
          <a:prstGeom prst="rect">
            <a:avLst/>
          </a:prstGeom>
          <a:noFill/>
        </p:spPr>
        <p:txBody>
          <a:bodyPr wrap="none" lIns="0" rIns="0" tIns="0" bIns="0">
            <a:spAutoFit/>
          </a:bodyPr>
          <a:lstStyle/>
          <a:p>
            <a:r>
              <a:rPr sz="1100" b="0">
                <a:solidFill>
                  <a:srgbClr val="2E2E2E"/>
                </a:solidFill>
                <a:latin typeface="Calibri"/>
              </a:rPr>
              <a:t>● Retail Pharmacy:</a:t>
            </a:r>
          </a:p>
        </p:txBody>
      </p:sp>
      <p:pic>
        <p:nvPicPr>
          <p:cNvPr id="132" name="Picture 131" descr="lock.png"/>
          <p:cNvPicPr>
            <a:picLocks noChangeAspect="1"/>
          </p:cNvPicPr>
          <p:nvPr/>
        </p:nvPicPr>
        <p:blipFill>
          <a:blip r:embed="rId18"/>
          <a:stretch>
            <a:fillRect/>
          </a:stretch>
        </p:blipFill>
        <p:spPr>
          <a:xfrm>
            <a:off x="4933768" y="5426665"/>
            <a:ext cx="128699" cy="187198"/>
          </a:xfrm>
          <a:prstGeom prst="rect">
            <a:avLst/>
          </a:prstGeom>
        </p:spPr>
      </p:pic>
      <p:sp>
        <p:nvSpPr>
          <p:cNvPr id="133" name="TextBox 132"/>
          <p:cNvSpPr txBox="1"/>
          <p:nvPr/>
        </p:nvSpPr>
        <p:spPr>
          <a:xfrm>
            <a:off x="5101264"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4" name="Picture 133" descr="lock.png"/>
          <p:cNvPicPr>
            <a:picLocks noChangeAspect="1"/>
          </p:cNvPicPr>
          <p:nvPr/>
        </p:nvPicPr>
        <p:blipFill>
          <a:blip r:embed="rId18"/>
          <a:stretch>
            <a:fillRect/>
          </a:stretch>
        </p:blipFill>
        <p:spPr>
          <a:xfrm>
            <a:off x="5960715" y="5426665"/>
            <a:ext cx="128699" cy="187198"/>
          </a:xfrm>
          <a:prstGeom prst="rect">
            <a:avLst/>
          </a:prstGeom>
        </p:spPr>
      </p:pic>
      <p:sp>
        <p:nvSpPr>
          <p:cNvPr id="135" name="TextBox 134"/>
          <p:cNvSpPr txBox="1"/>
          <p:nvPr/>
        </p:nvSpPr>
        <p:spPr>
          <a:xfrm>
            <a:off x="6128210" y="5436445"/>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6" name="TextBox 135"/>
          <p:cNvSpPr txBox="1"/>
          <p:nvPr/>
        </p:nvSpPr>
        <p:spPr>
          <a:xfrm>
            <a:off x="8524875" y="5856661"/>
            <a:ext cx="3128565" cy="180289"/>
          </a:xfrm>
          <a:prstGeom prst="rect">
            <a:avLst/>
          </a:prstGeom>
          <a:noFill/>
        </p:spPr>
        <p:txBody>
          <a:bodyPr wrap="none" lIns="0" rIns="0" tIns="0" bIns="0">
            <a:spAutoFit/>
          </a:bodyPr>
          <a:lstStyle/>
          <a:p>
            <a:r>
              <a:rPr sz="1057" b="1">
                <a:solidFill>
                  <a:srgbClr val="0B2E4A"/>
                </a:solidFill>
                <a:latin typeface="Calibri"/>
              </a:rPr>
              <a:t>The Sales / Procurement Channel segment is projected</a:t>
            </a:r>
          </a:p>
        </p:txBody>
      </p:sp>
      <p:sp>
        <p:nvSpPr>
          <p:cNvPr id="137" name="TextBox 136"/>
          <p:cNvSpPr txBox="1"/>
          <p:nvPr/>
        </p:nvSpPr>
        <p:spPr>
          <a:xfrm>
            <a:off x="8524875" y="6017901"/>
            <a:ext cx="1239018" cy="180289"/>
          </a:xfrm>
          <a:prstGeom prst="rect">
            <a:avLst/>
          </a:prstGeom>
          <a:noFill/>
        </p:spPr>
        <p:txBody>
          <a:bodyPr wrap="none" lIns="0" rIns="0" tIns="0" bIns="0">
            <a:spAutoFit/>
          </a:bodyPr>
          <a:lstStyle/>
          <a:p>
            <a:r>
              <a:rPr sz="1057" b="1">
                <a:solidFill>
                  <a:srgbClr val="0B2E4A"/>
                </a:solidFill>
                <a:latin typeface="Calibri"/>
              </a:rPr>
              <a:t>to grow at a CAGR of</a:t>
            </a:r>
          </a:p>
        </p:txBody>
      </p:sp>
      <p:pic>
        <p:nvPicPr>
          <p:cNvPr id="138" name="Picture 137" descr="lock.png"/>
          <p:cNvPicPr>
            <a:picLocks noChangeAspect="1"/>
          </p:cNvPicPr>
          <p:nvPr/>
        </p:nvPicPr>
        <p:blipFill>
          <a:blip r:embed="rId18"/>
          <a:stretch>
            <a:fillRect/>
          </a:stretch>
        </p:blipFill>
        <p:spPr>
          <a:xfrm>
            <a:off x="9711019" y="6008495"/>
            <a:ext cx="123784" cy="180050"/>
          </a:xfrm>
          <a:prstGeom prst="rect">
            <a:avLst/>
          </a:prstGeom>
        </p:spPr>
      </p:pic>
      <p:sp>
        <p:nvSpPr>
          <p:cNvPr id="139" name="TextBox 138"/>
          <p:cNvSpPr txBox="1"/>
          <p:nvPr/>
        </p:nvSpPr>
        <p:spPr>
          <a:xfrm>
            <a:off x="9872119" y="6017901"/>
            <a:ext cx="1140105" cy="180289"/>
          </a:xfrm>
          <a:prstGeom prst="rect">
            <a:avLst/>
          </a:prstGeom>
          <a:noFill/>
        </p:spPr>
        <p:txBody>
          <a:bodyPr wrap="none" lIns="0" rIns="0" tIns="0" bIns="0">
            <a:spAutoFit/>
          </a:bodyPr>
          <a:lstStyle/>
          <a:p>
            <a:r>
              <a:rPr sz="1057" b="1">
                <a:solidFill>
                  <a:srgbClr val="0B2E4A"/>
                </a:solidFill>
                <a:latin typeface="Calibri"/>
              </a:rPr>
              <a:t>from 2026 to 2036.</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Sales / Procurement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Sales / Procurement Channel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 Procurement Channel mix within each country (share of 2036 value) · row label = country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Sales / Procurement Channel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485760" cy="186689"/>
          </a:xfrm>
          <a:prstGeom prst="rect">
            <a:avLst/>
          </a:prstGeom>
          <a:noFill/>
        </p:spPr>
        <p:txBody>
          <a:bodyPr wrap="none" lIns="0" rIns="0" tIns="0" bIns="0">
            <a:spAutoFit/>
          </a:bodyPr>
          <a:lstStyle/>
          <a:p>
            <a:r>
              <a:rPr sz="1100" b="0">
                <a:solidFill>
                  <a:srgbClr val="2E2E2E"/>
                </a:solidFill>
                <a:latin typeface="Calibri"/>
              </a:rPr>
              <a:t>Direct-to-allergy clinics followed by pharmaceutical distributor are expected to be the two most attractive sales / procurement channel segments in the North America allergy immunotherapy market in</a:t>
            </a:r>
          </a:p>
        </p:txBody>
      </p:sp>
      <p:sp>
        <p:nvSpPr>
          <p:cNvPr id="21" name="TextBox 20"/>
          <p:cNvSpPr txBox="1"/>
          <p:nvPr/>
        </p:nvSpPr>
        <p:spPr>
          <a:xfrm>
            <a:off x="257175" y="5861685"/>
            <a:ext cx="6831714" cy="186689"/>
          </a:xfrm>
          <a:prstGeom prst="rect">
            <a:avLst/>
          </a:prstGeom>
          <a:noFill/>
        </p:spPr>
        <p:txBody>
          <a:bodyPr wrap="none" lIns="0" rIns="0" tIns="0" bIns="0">
            <a:spAutoFit/>
          </a:bodyPr>
          <a:lstStyle/>
          <a:p>
            <a:r>
              <a:rPr sz="1100" b="0">
                <a:solidFill>
                  <a:srgbClr val="2E2E2E"/>
                </a:solidFill>
                <a:latin typeface="Calibri"/>
              </a:rPr>
              <a:t>terms of value over the forecast period. Direct-to-Allergy clinics and pharmaceutical distributor exhibit a CAGR index of</a:t>
            </a:r>
          </a:p>
        </p:txBody>
      </p:sp>
      <p:pic>
        <p:nvPicPr>
          <p:cNvPr id="22" name="Picture 21" descr="lock.png"/>
          <p:cNvPicPr>
            <a:picLocks noChangeAspect="1"/>
          </p:cNvPicPr>
          <p:nvPr/>
        </p:nvPicPr>
        <p:blipFill>
          <a:blip r:embed="rId6"/>
          <a:stretch>
            <a:fillRect/>
          </a:stretch>
        </p:blipFill>
        <p:spPr>
          <a:xfrm>
            <a:off x="7036941" y="5851905"/>
            <a:ext cx="128699" cy="187198"/>
          </a:xfrm>
          <a:prstGeom prst="rect">
            <a:avLst/>
          </a:prstGeom>
        </p:spPr>
      </p:pic>
      <p:sp>
        <p:nvSpPr>
          <p:cNvPr id="23" name="TextBox 22"/>
          <p:cNvSpPr txBox="1"/>
          <p:nvPr/>
        </p:nvSpPr>
        <p:spPr>
          <a:xfrm>
            <a:off x="720443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7442331" y="5851905"/>
            <a:ext cx="128699" cy="187198"/>
          </a:xfrm>
          <a:prstGeom prst="rect">
            <a:avLst/>
          </a:prstGeom>
        </p:spPr>
      </p:pic>
      <p:sp>
        <p:nvSpPr>
          <p:cNvPr id="25" name="TextBox 24"/>
          <p:cNvSpPr txBox="1"/>
          <p:nvPr/>
        </p:nvSpPr>
        <p:spPr>
          <a:xfrm>
            <a:off x="7609827"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9218800" y="5851905"/>
            <a:ext cx="128699" cy="187198"/>
          </a:xfrm>
          <a:prstGeom prst="rect">
            <a:avLst/>
          </a:prstGeom>
        </p:spPr>
      </p:pic>
      <p:sp>
        <p:nvSpPr>
          <p:cNvPr id="27" name="TextBox 26"/>
          <p:cNvSpPr txBox="1"/>
          <p:nvPr/>
        </p:nvSpPr>
        <p:spPr>
          <a:xfrm>
            <a:off x="938629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9624191" y="5851905"/>
            <a:ext cx="128699" cy="187198"/>
          </a:xfrm>
          <a:prstGeom prst="rect">
            <a:avLst/>
          </a:prstGeom>
        </p:spPr>
      </p:pic>
      <p:sp>
        <p:nvSpPr>
          <p:cNvPr id="29" name="TextBox 28"/>
          <p:cNvSpPr txBox="1"/>
          <p:nvPr/>
        </p:nvSpPr>
        <p:spPr>
          <a:xfrm>
            <a:off x="9791686" y="5861685"/>
            <a:ext cx="1453281" cy="186689"/>
          </a:xfrm>
          <a:prstGeom prst="rect">
            <a:avLst/>
          </a:prstGeom>
          <a:noFill/>
        </p:spPr>
        <p:txBody>
          <a:bodyPr wrap="none" lIns="0" rIns="0" tIns="0" bIns="0">
            <a:spAutoFit/>
          </a:bodyPr>
          <a:lstStyle/>
          <a:p>
            <a:r>
              <a:rPr sz="1100" b="0">
                <a:solidFill>
                  <a:srgbClr val="2E2E2E"/>
                </a:solidFill>
                <a:latin typeface="Calibri"/>
              </a:rPr>
              <a:t>respectively, against the</a:t>
            </a:r>
          </a:p>
        </p:txBody>
      </p:sp>
      <p:sp>
        <p:nvSpPr>
          <p:cNvPr id="30" name="TextBox 29"/>
          <p:cNvSpPr txBox="1"/>
          <p:nvPr/>
        </p:nvSpPr>
        <p:spPr>
          <a:xfrm>
            <a:off x="257175" y="6029325"/>
            <a:ext cx="1197619" cy="186689"/>
          </a:xfrm>
          <a:prstGeom prst="rect">
            <a:avLst/>
          </a:prstGeom>
          <a:noFill/>
        </p:spPr>
        <p:txBody>
          <a:bodyPr wrap="none" lIns="0" rIns="0" tIns="0" bIns="0">
            <a:spAutoFit/>
          </a:bodyPr>
          <a:lstStyle/>
          <a:p>
            <a:r>
              <a:rPr sz="1100" b="0">
                <a:solidFill>
                  <a:srgbClr val="2E2E2E"/>
                </a:solidFill>
                <a:latin typeface="Calibri"/>
              </a:rPr>
              <a:t>segment average of</a:t>
            </a:r>
          </a:p>
        </p:txBody>
      </p:sp>
      <p:pic>
        <p:nvPicPr>
          <p:cNvPr id="31" name="Picture 30" descr="lock.png"/>
          <p:cNvPicPr>
            <a:picLocks noChangeAspect="1"/>
          </p:cNvPicPr>
          <p:nvPr/>
        </p:nvPicPr>
        <p:blipFill>
          <a:blip r:embed="rId6"/>
          <a:stretch>
            <a:fillRect/>
          </a:stretch>
        </p:blipFill>
        <p:spPr>
          <a:xfrm>
            <a:off x="1402846" y="6019545"/>
            <a:ext cx="128699" cy="187198"/>
          </a:xfrm>
          <a:prstGeom prst="rect">
            <a:avLst/>
          </a:prstGeom>
        </p:spPr>
      </p:pic>
      <p:sp>
        <p:nvSpPr>
          <p:cNvPr id="32" name="TextBox 31"/>
          <p:cNvSpPr txBox="1"/>
          <p:nvPr/>
        </p:nvSpPr>
        <p:spPr>
          <a:xfrm>
            <a:off x="1570342" y="6029325"/>
            <a:ext cx="10345497" cy="186689"/>
          </a:xfrm>
          <a:prstGeom prst="rect">
            <a:avLst/>
          </a:prstGeom>
          <a:noFill/>
        </p:spPr>
        <p:txBody>
          <a:bodyPr wrap="none" lIns="0" rIns="0" tIns="0" bIns="0">
            <a:spAutoFit/>
          </a:bodyPr>
          <a:lstStyle/>
          <a:p>
            <a:r>
              <a:rPr sz="1100" b="0">
                <a:solidFill>
                  <a:srgbClr val="2E2E2E"/>
                </a:solidFill>
                <a:latin typeface="Calibri"/>
              </a:rPr>
              <a:t>. The hospital procurement segment is expected to be less attractive as compared to other segments over the forecast period, owing to its lower CAGR and incremental opportunity.</a:t>
            </a:r>
          </a:p>
        </p:txBody>
      </p:sp>
      <p:sp>
        <p:nvSpPr>
          <p:cNvPr id="33" name="TextBox 32"/>
          <p:cNvSpPr txBox="1"/>
          <p:nvPr/>
        </p:nvSpPr>
        <p:spPr>
          <a:xfrm>
            <a:off x="257175" y="6196965"/>
            <a:ext cx="4376869" cy="186689"/>
          </a:xfrm>
          <a:prstGeom prst="rect">
            <a:avLst/>
          </a:prstGeom>
          <a:noFill/>
        </p:spPr>
        <p:txBody>
          <a:bodyPr wrap="none" lIns="0" rIns="0" tIns="0" bIns="0">
            <a:spAutoFit/>
          </a:bodyPr>
          <a:lstStyle/>
          <a:p>
            <a:r>
              <a:rPr sz="1100" b="0">
                <a:solidFill>
                  <a:srgbClr val="2E2E2E"/>
                </a:solidFill>
                <a:latin typeface="Calibri"/>
              </a:rPr>
              <a:t>Bubbles right of the CAGR-Index line 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Sales / Procurement Channel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 Procurement Channel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Direct-to-Allergy Clinics</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Hospital Procurement</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Retail Pharmacy</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Pharmaceutical Distributor</a:t>
            </a:r>
          </a:p>
        </p:txBody>
      </p:sp>
      <p:graphicFrame>
        <p:nvGraphicFramePr>
          <p:cNvPr id="22" name="Chart 21"/>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8"/>
          <a:stretch>
            <a:fillRect/>
          </a:stretch>
        </p:blipFill>
        <p:spPr>
          <a:xfrm>
            <a:off x="3100230" y="5216754"/>
            <a:ext cx="252890" cy="367840"/>
          </a:xfrm>
          <a:prstGeom prst="rect">
            <a:avLst/>
          </a:prstGeom>
        </p:spPr>
      </p:pic>
      <p:pic>
        <p:nvPicPr>
          <p:cNvPr id="27" name="Picture 26" descr="lock.png"/>
          <p:cNvPicPr>
            <a:picLocks noChangeAspect="1"/>
          </p:cNvPicPr>
          <p:nvPr/>
        </p:nvPicPr>
        <p:blipFill>
          <a:blip r:embed="rId8"/>
          <a:stretch>
            <a:fillRect/>
          </a:stretch>
        </p:blipFill>
        <p:spPr>
          <a:xfrm>
            <a:off x="9129555" y="5216754"/>
            <a:ext cx="252890" cy="367840"/>
          </a:xfrm>
          <a:prstGeom prst="rect">
            <a:avLst/>
          </a:prstGeom>
        </p:spPr>
      </p:pic>
      <p:sp>
        <p:nvSpPr>
          <p:cNvPr id="28"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Sales / Procurement Channel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 Procurement Channel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Mail-order Pharmacy</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Sales / Procurement Channel</a:t>
            </a:r>
          </a:p>
        </p:txBody>
      </p:sp>
      <p:sp>
        <p:nvSpPr>
          <p:cNvPr id="15" name="Rectangle 14"/>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7556" y="3674659"/>
            <a:ext cx="395643" cy="575481"/>
          </a:xfrm>
          <a:prstGeom prst="rect">
            <a:avLst/>
          </a:prstGeom>
        </p:spPr>
      </p:pic>
      <p:sp>
        <p:nvSpPr>
          <p:cNvPr id="19" name="TextBox 18"/>
          <p:cNvSpPr txBox="1"/>
          <p:nvPr/>
        </p:nvSpPr>
        <p:spPr>
          <a:xfrm>
            <a:off x="6305550" y="1598245"/>
            <a:ext cx="4849616" cy="194310"/>
          </a:xfrm>
          <a:prstGeom prst="rect">
            <a:avLst/>
          </a:prstGeom>
          <a:noFill/>
        </p:spPr>
        <p:txBody>
          <a:bodyPr wrap="none" lIns="0" rIns="0" tIns="0" bIns="0">
            <a:spAutoFit/>
          </a:bodyPr>
          <a:lstStyle/>
          <a:p>
            <a:r>
              <a:rPr sz="1150" b="0">
                <a:solidFill>
                  <a:srgbClr val="2E2E2E"/>
                </a:solidFill>
                <a:latin typeface="Calibri"/>
              </a:rPr>
              <a:t>By 2036, direct-to-allergy clinics segment is anticipated to witness an increase of</a:t>
            </a:r>
          </a:p>
        </p:txBody>
      </p:sp>
      <p:pic>
        <p:nvPicPr>
          <p:cNvPr id="20" name="Picture 19" descr="lock.png"/>
          <p:cNvPicPr>
            <a:picLocks noChangeAspect="1"/>
          </p:cNvPicPr>
          <p:nvPr/>
        </p:nvPicPr>
        <p:blipFill>
          <a:blip r:embed="rId5"/>
          <a:stretch>
            <a:fillRect/>
          </a:stretch>
        </p:blipFill>
        <p:spPr>
          <a:xfrm>
            <a:off x="11104320" y="1588021"/>
            <a:ext cx="134549" cy="195707"/>
          </a:xfrm>
          <a:prstGeom prst="rect">
            <a:avLst/>
          </a:prstGeom>
        </p:spPr>
      </p:pic>
      <p:sp>
        <p:nvSpPr>
          <p:cNvPr id="21" name="TextBox 20"/>
          <p:cNvSpPr txBox="1"/>
          <p:nvPr/>
        </p:nvSpPr>
        <p:spPr>
          <a:xfrm>
            <a:off x="11279429" y="1598245"/>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2" name="TextBox 21"/>
          <p:cNvSpPr txBox="1"/>
          <p:nvPr/>
        </p:nvSpPr>
        <p:spPr>
          <a:xfrm>
            <a:off x="6305550" y="1773505"/>
            <a:ext cx="5322875" cy="194310"/>
          </a:xfrm>
          <a:prstGeom prst="rect">
            <a:avLst/>
          </a:prstGeom>
          <a:noFill/>
        </p:spPr>
        <p:txBody>
          <a:bodyPr wrap="none" lIns="0" rIns="0" tIns="0" bIns="0">
            <a:spAutoFit/>
          </a:bodyPr>
          <a:lstStyle/>
          <a:p>
            <a:r>
              <a:rPr sz="1150" b="0">
                <a:solidFill>
                  <a:srgbClr val="2E2E2E"/>
                </a:solidFill>
                <a:latin typeface="Calibri"/>
              </a:rPr>
              <a:t>terms of value as compared to 2026. The Direct-to-Allergy clinics segment is expected to</a:t>
            </a:r>
          </a:p>
        </p:txBody>
      </p:sp>
      <p:sp>
        <p:nvSpPr>
          <p:cNvPr id="23" name="TextBox 22"/>
          <p:cNvSpPr txBox="1"/>
          <p:nvPr/>
        </p:nvSpPr>
        <p:spPr>
          <a:xfrm>
            <a:off x="6305550" y="1948765"/>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24" name="Picture 23" descr="lock.png"/>
          <p:cNvPicPr>
            <a:picLocks noChangeAspect="1"/>
          </p:cNvPicPr>
          <p:nvPr/>
        </p:nvPicPr>
        <p:blipFill>
          <a:blip r:embed="rId5"/>
          <a:stretch>
            <a:fillRect/>
          </a:stretch>
        </p:blipFill>
        <p:spPr>
          <a:xfrm>
            <a:off x="8801773" y="1938541"/>
            <a:ext cx="134549" cy="195707"/>
          </a:xfrm>
          <a:prstGeom prst="rect">
            <a:avLst/>
          </a:prstGeom>
        </p:spPr>
      </p:pic>
      <p:sp>
        <p:nvSpPr>
          <p:cNvPr id="25" name="TextBox 24"/>
          <p:cNvSpPr txBox="1"/>
          <p:nvPr/>
        </p:nvSpPr>
        <p:spPr>
          <a:xfrm>
            <a:off x="8976882" y="1948765"/>
            <a:ext cx="2574168" cy="194310"/>
          </a:xfrm>
          <a:prstGeom prst="rect">
            <a:avLst/>
          </a:prstGeom>
          <a:noFill/>
        </p:spPr>
        <p:txBody>
          <a:bodyPr wrap="none" lIns="0" rIns="0" tIns="0" bIns="0">
            <a:spAutoFit/>
          </a:bodyPr>
          <a:lstStyle/>
          <a:p>
            <a:r>
              <a:rPr sz="1150" b="0">
                <a:solidFill>
                  <a:srgbClr val="2E2E2E"/>
                </a:solidFill>
                <a:latin typeface="Calibri"/>
              </a:rPr>
              <a:t>Mn for the overall allergy immunotherapy</a:t>
            </a:r>
          </a:p>
        </p:txBody>
      </p:sp>
      <p:sp>
        <p:nvSpPr>
          <p:cNvPr id="26" name="TextBox 25"/>
          <p:cNvSpPr txBox="1"/>
          <p:nvPr/>
        </p:nvSpPr>
        <p:spPr>
          <a:xfrm>
            <a:off x="6305550" y="2124025"/>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27" name="TextBox 26"/>
          <p:cNvSpPr txBox="1"/>
          <p:nvPr/>
        </p:nvSpPr>
        <p:spPr>
          <a:xfrm>
            <a:off x="6305550" y="2351863"/>
            <a:ext cx="5560206" cy="194310"/>
          </a:xfrm>
          <a:prstGeom prst="rect">
            <a:avLst/>
          </a:prstGeom>
          <a:noFill/>
        </p:spPr>
        <p:txBody>
          <a:bodyPr wrap="none" lIns="0" rIns="0" tIns="0" bIns="0">
            <a:spAutoFit/>
          </a:bodyPr>
          <a:lstStyle/>
          <a:p>
            <a:r>
              <a:rPr sz="1150" b="0">
                <a:solidFill>
                  <a:srgbClr val="2E2E2E"/>
                </a:solidFill>
                <a:latin typeface="Calibri"/>
              </a:rPr>
              <a:t>The pharmaceutical distributor segment is expected to create an incremental opportunity of</a:t>
            </a:r>
          </a:p>
        </p:txBody>
      </p:sp>
      <p:sp>
        <p:nvSpPr>
          <p:cNvPr id="28" name="TextBox 27"/>
          <p:cNvSpPr txBox="1"/>
          <p:nvPr/>
        </p:nvSpPr>
        <p:spPr>
          <a:xfrm>
            <a:off x="6305550" y="252712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9" name="Picture 28" descr="lock.png"/>
          <p:cNvPicPr>
            <a:picLocks noChangeAspect="1"/>
          </p:cNvPicPr>
          <p:nvPr/>
        </p:nvPicPr>
        <p:blipFill>
          <a:blip r:embed="rId5"/>
          <a:stretch>
            <a:fillRect/>
          </a:stretch>
        </p:blipFill>
        <p:spPr>
          <a:xfrm>
            <a:off x="6565953" y="2516899"/>
            <a:ext cx="134549" cy="195707"/>
          </a:xfrm>
          <a:prstGeom prst="rect">
            <a:avLst/>
          </a:prstGeom>
        </p:spPr>
      </p:pic>
      <p:sp>
        <p:nvSpPr>
          <p:cNvPr id="30" name="TextBox 29"/>
          <p:cNvSpPr txBox="1"/>
          <p:nvPr/>
        </p:nvSpPr>
        <p:spPr>
          <a:xfrm>
            <a:off x="6741062" y="2527123"/>
            <a:ext cx="5125194" cy="194310"/>
          </a:xfrm>
          <a:prstGeom prst="rect">
            <a:avLst/>
          </a:prstGeom>
          <a:noFill/>
        </p:spPr>
        <p:txBody>
          <a:bodyPr wrap="none" lIns="0" rIns="0" tIns="0" bIns="0">
            <a:spAutoFit/>
          </a:bodyPr>
          <a:lstStyle/>
          <a:p>
            <a:r>
              <a:rPr sz="1150" b="0">
                <a:solidFill>
                  <a:srgbClr val="2E2E2E"/>
                </a:solidFill>
                <a:latin typeface="Calibri"/>
              </a:rPr>
              <a:t>Mn for the overall allergy immunotherapy market from 2026 to 2036. The mail-order</a:t>
            </a:r>
          </a:p>
        </p:txBody>
      </p:sp>
      <p:sp>
        <p:nvSpPr>
          <p:cNvPr id="31" name="TextBox 30"/>
          <p:cNvSpPr txBox="1"/>
          <p:nvPr/>
        </p:nvSpPr>
        <p:spPr>
          <a:xfrm>
            <a:off x="6305550" y="2702383"/>
            <a:ext cx="4578077" cy="194310"/>
          </a:xfrm>
          <a:prstGeom prst="rect">
            <a:avLst/>
          </a:prstGeom>
          <a:noFill/>
        </p:spPr>
        <p:txBody>
          <a:bodyPr wrap="none" lIns="0" rIns="0" tIns="0" bIns="0">
            <a:spAutoFit/>
          </a:bodyPr>
          <a:lstStyle/>
          <a:p>
            <a:r>
              <a:rPr sz="1150" b="0">
                <a:solidFill>
                  <a:srgbClr val="2E2E2E"/>
                </a:solidFill>
                <a:latin typeface="Calibri"/>
              </a:rPr>
              <a:t>pharmacy segment is expected to create an incremental opportunity of US$</a:t>
            </a:r>
          </a:p>
        </p:txBody>
      </p:sp>
      <p:pic>
        <p:nvPicPr>
          <p:cNvPr id="32" name="Picture 31" descr="lock.png"/>
          <p:cNvPicPr>
            <a:picLocks noChangeAspect="1"/>
          </p:cNvPicPr>
          <p:nvPr/>
        </p:nvPicPr>
        <p:blipFill>
          <a:blip r:embed="rId5"/>
          <a:stretch>
            <a:fillRect/>
          </a:stretch>
        </p:blipFill>
        <p:spPr>
          <a:xfrm>
            <a:off x="10832781" y="2692159"/>
            <a:ext cx="134549" cy="195707"/>
          </a:xfrm>
          <a:prstGeom prst="rect">
            <a:avLst/>
          </a:prstGeom>
        </p:spPr>
      </p:pic>
      <p:sp>
        <p:nvSpPr>
          <p:cNvPr id="33" name="TextBox 32"/>
          <p:cNvSpPr txBox="1"/>
          <p:nvPr/>
        </p:nvSpPr>
        <p:spPr>
          <a:xfrm>
            <a:off x="11007890" y="2702383"/>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34" name="TextBox 33"/>
          <p:cNvSpPr txBox="1"/>
          <p:nvPr/>
        </p:nvSpPr>
        <p:spPr>
          <a:xfrm>
            <a:off x="6305550" y="2877643"/>
            <a:ext cx="3538897" cy="194310"/>
          </a:xfrm>
          <a:prstGeom prst="rect">
            <a:avLst/>
          </a:prstGeom>
          <a:noFill/>
        </p:spPr>
        <p:txBody>
          <a:bodyPr wrap="none" lIns="0" rIns="0" tIns="0" bIns="0">
            <a:spAutoFit/>
          </a:bodyPr>
          <a:lstStyle/>
          <a:p>
            <a:r>
              <a:rPr sz="1150" b="0">
                <a:solidFill>
                  <a:srgbClr val="2E2E2E"/>
                </a:solidFill>
                <a:latin typeface="Calibri"/>
              </a:rPr>
              <a:t>overall allergy immunotherapy market from 2026 to 2036.</a:t>
            </a:r>
          </a:p>
        </p:txBody>
      </p:sp>
      <p:sp>
        <p:nvSpPr>
          <p:cNvPr id="35"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Sales / Procurement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Sales / Procurement Channel,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Sales / Procurement Channel (US$ Mn)</a:t>
            </a:r>
          </a:p>
        </p:txBody>
      </p:sp>
      <p:graphicFrame>
        <p:nvGraphicFramePr>
          <p:cNvPr id="13" name="Table 12"/>
          <p:cNvGraphicFramePr>
            <a:graphicFrameLocks noGrp="1"/>
          </p:cNvGraphicFramePr>
          <p:nvPr/>
        </p:nvGraphicFramePr>
        <p:xfrm>
          <a:off x="152400" y="1238250"/>
          <a:ext cx="11887198" cy="2219326"/>
        </p:xfrm>
        <a:graphic>
          <a:graphicData uri="http://schemas.openxmlformats.org/drawingml/2006/table">
            <a:tbl>
              <a:tblPr>
                <a:tableStyleId>{5C22544A-7EE6-4342-B048-85BDC9FD1C3A}</a:tableStyleId>
              </a:tblPr>
              <a:tblGrid>
                <a:gridCol w="2084097"/>
                <a:gridCol w="576653"/>
                <a:gridCol w="576653"/>
                <a:gridCol w="576653"/>
                <a:gridCol w="576653"/>
                <a:gridCol w="576653"/>
                <a:gridCol w="576653"/>
                <a:gridCol w="576653"/>
                <a:gridCol w="576653"/>
                <a:gridCol w="576653"/>
                <a:gridCol w="576653"/>
                <a:gridCol w="576653"/>
                <a:gridCol w="576653"/>
                <a:gridCol w="576653"/>
                <a:gridCol w="576653"/>
                <a:gridCol w="576653"/>
                <a:gridCol w="576653"/>
                <a:gridCol w="576653"/>
              </a:tblGrid>
              <a:tr h="246126">
                <a:tc>
                  <a:txBody>
                    <a:bodyPr wrap="none"/>
                    <a:lstStyle/>
                    <a:p>
                      <a:pPr algn="l"/>
                      <a:r>
                        <a:rPr sz="1100" b="1">
                          <a:solidFill>
                            <a:srgbClr val="0B2E4A"/>
                          </a:solidFill>
                          <a:latin typeface="Calibri"/>
                        </a:rPr>
                        <a:t>Sales / Procurement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Direct-to-Allergy Clinics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 Customized Allergen Vaccines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 Bulk Extract Supply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Hospital Procurement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Retail Pharmacy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Pharmaceutical Distributor</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Mail-order Pharmacy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800475"/>
            <a:ext cx="1190625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Sales / Procurement Channel</a:t>
            </a:r>
          </a:p>
        </p:txBody>
      </p:sp>
      <p:sp>
        <p:nvSpPr>
          <p:cNvPr id="17" name="Rectangle 16"/>
          <p:cNvSpPr/>
          <p:nvPr/>
        </p:nvSpPr>
        <p:spPr>
          <a:xfrm>
            <a:off x="276225" y="4124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951357" y="2204276"/>
            <a:ext cx="366712" cy="533400"/>
          </a:xfrm>
          <a:prstGeom prst="rect">
            <a:avLst/>
          </a:prstGeom>
        </p:spPr>
      </p:pic>
      <p:sp>
        <p:nvSpPr>
          <p:cNvPr id="21" name="TextBox 20"/>
          <p:cNvSpPr txBox="1"/>
          <p:nvPr/>
        </p:nvSpPr>
        <p:spPr>
          <a:xfrm>
            <a:off x="276225" y="4219575"/>
            <a:ext cx="3362895" cy="194310"/>
          </a:xfrm>
          <a:prstGeom prst="rect">
            <a:avLst/>
          </a:prstGeom>
          <a:noFill/>
        </p:spPr>
        <p:txBody>
          <a:bodyPr wrap="none" lIns="0" rIns="0" tIns="0" bIns="0">
            <a:spAutoFit/>
          </a:bodyPr>
          <a:lstStyle/>
          <a:p>
            <a:r>
              <a:rPr sz="1150" b="0">
                <a:solidFill>
                  <a:srgbClr val="2E2E2E"/>
                </a:solidFill>
                <a:latin typeface="Calibri"/>
              </a:rPr>
              <a:t>Direct-to-allergy clinics segment is projected to register</a:t>
            </a:r>
          </a:p>
        </p:txBody>
      </p:sp>
      <p:pic>
        <p:nvPicPr>
          <p:cNvPr id="22" name="Picture 21" descr="lock.png"/>
          <p:cNvPicPr>
            <a:picLocks noChangeAspect="1"/>
          </p:cNvPicPr>
          <p:nvPr/>
        </p:nvPicPr>
        <p:blipFill>
          <a:blip r:embed="rId4"/>
          <a:stretch>
            <a:fillRect/>
          </a:stretch>
        </p:blipFill>
        <p:spPr>
          <a:xfrm>
            <a:off x="3588274" y="4209351"/>
            <a:ext cx="134549" cy="195707"/>
          </a:xfrm>
          <a:prstGeom prst="rect">
            <a:avLst/>
          </a:prstGeom>
        </p:spPr>
      </p:pic>
      <p:sp>
        <p:nvSpPr>
          <p:cNvPr id="23" name="TextBox 22"/>
          <p:cNvSpPr txBox="1"/>
          <p:nvPr/>
        </p:nvSpPr>
        <p:spPr>
          <a:xfrm>
            <a:off x="3763383" y="4219575"/>
            <a:ext cx="7766074" cy="194310"/>
          </a:xfrm>
          <a:prstGeom prst="rect">
            <a:avLst/>
          </a:prstGeom>
          <a:noFill/>
        </p:spPr>
        <p:txBody>
          <a:bodyPr wrap="none" lIns="0" rIns="0" tIns="0" bIns="0">
            <a:spAutoFit/>
          </a:bodyPr>
          <a:lstStyle/>
          <a:p>
            <a:r>
              <a:rPr sz="1150" b="0">
                <a:solidFill>
                  <a:srgbClr val="2E2E2E"/>
                </a:solidFill>
                <a:latin typeface="Calibri"/>
              </a:rPr>
              <a:t>X higher value than hospital procurement segment in 2036. Among allergy immunotherapy by sales / procurement channel, retail</a:t>
            </a:r>
          </a:p>
        </p:txBody>
      </p:sp>
      <p:sp>
        <p:nvSpPr>
          <p:cNvPr id="24" name="TextBox 23"/>
          <p:cNvSpPr txBox="1"/>
          <p:nvPr/>
        </p:nvSpPr>
        <p:spPr>
          <a:xfrm>
            <a:off x="276225" y="4394835"/>
            <a:ext cx="3778777" cy="194310"/>
          </a:xfrm>
          <a:prstGeom prst="rect">
            <a:avLst/>
          </a:prstGeom>
          <a:noFill/>
        </p:spPr>
        <p:txBody>
          <a:bodyPr wrap="none" lIns="0" rIns="0" tIns="0" bIns="0">
            <a:spAutoFit/>
          </a:bodyPr>
          <a:lstStyle/>
          <a:p>
            <a:r>
              <a:rPr sz="1150" b="0">
                <a:solidFill>
                  <a:srgbClr val="2E2E2E"/>
                </a:solidFill>
                <a:latin typeface="Calibri"/>
              </a:rPr>
              <a:t>pharmacy segment is expected to witness the highest CAGR of</a:t>
            </a:r>
          </a:p>
        </p:txBody>
      </p:sp>
      <p:pic>
        <p:nvPicPr>
          <p:cNvPr id="25" name="Picture 24" descr="lock.png"/>
          <p:cNvPicPr>
            <a:picLocks noChangeAspect="1"/>
          </p:cNvPicPr>
          <p:nvPr/>
        </p:nvPicPr>
        <p:blipFill>
          <a:blip r:embed="rId4"/>
          <a:stretch>
            <a:fillRect/>
          </a:stretch>
        </p:blipFill>
        <p:spPr>
          <a:xfrm>
            <a:off x="4004156" y="4384611"/>
            <a:ext cx="134549" cy="195707"/>
          </a:xfrm>
          <a:prstGeom prst="rect">
            <a:avLst/>
          </a:prstGeom>
        </p:spPr>
      </p:pic>
      <p:sp>
        <p:nvSpPr>
          <p:cNvPr id="26" name="TextBox 25"/>
          <p:cNvSpPr txBox="1"/>
          <p:nvPr/>
        </p:nvSpPr>
        <p:spPr>
          <a:xfrm>
            <a:off x="4179266"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622672"/>
            <a:ext cx="8113799" cy="194310"/>
          </a:xfrm>
          <a:prstGeom prst="rect">
            <a:avLst/>
          </a:prstGeom>
          <a:noFill/>
        </p:spPr>
        <p:txBody>
          <a:bodyPr wrap="none" lIns="0" rIns="0" tIns="0" bIns="0">
            <a:spAutoFit/>
          </a:bodyPr>
          <a:lstStyle/>
          <a:p>
            <a:r>
              <a:rPr sz="1150" b="0">
                <a:solidFill>
                  <a:srgbClr val="2E2E2E"/>
                </a:solidFill>
                <a:latin typeface="Calibri"/>
              </a:rPr>
              <a:t>In terms of value share by sales / procurement channel, the direct-to-allergy clinics segment is expected to dominate the market, losing</a:t>
            </a:r>
          </a:p>
        </p:txBody>
      </p:sp>
      <p:pic>
        <p:nvPicPr>
          <p:cNvPr id="28" name="Picture 27" descr="lock.png"/>
          <p:cNvPicPr>
            <a:picLocks noChangeAspect="1"/>
          </p:cNvPicPr>
          <p:nvPr/>
        </p:nvPicPr>
        <p:blipFill>
          <a:blip r:embed="rId4"/>
          <a:stretch>
            <a:fillRect/>
          </a:stretch>
        </p:blipFill>
        <p:spPr>
          <a:xfrm>
            <a:off x="8339178" y="4612449"/>
            <a:ext cx="134549" cy="195707"/>
          </a:xfrm>
          <a:prstGeom prst="rect">
            <a:avLst/>
          </a:prstGeom>
        </p:spPr>
      </p:pic>
      <p:sp>
        <p:nvSpPr>
          <p:cNvPr id="29" name="TextBox 28"/>
          <p:cNvSpPr txBox="1"/>
          <p:nvPr/>
        </p:nvSpPr>
        <p:spPr>
          <a:xfrm>
            <a:off x="8514287" y="46226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9909430" y="4612449"/>
            <a:ext cx="134549" cy="195707"/>
          </a:xfrm>
          <a:prstGeom prst="rect">
            <a:avLst/>
          </a:prstGeom>
        </p:spPr>
      </p:pic>
      <p:sp>
        <p:nvSpPr>
          <p:cNvPr id="31" name="TextBox 30"/>
          <p:cNvSpPr txBox="1"/>
          <p:nvPr/>
        </p:nvSpPr>
        <p:spPr>
          <a:xfrm>
            <a:off x="10084539" y="462267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2" name="TextBox 31"/>
          <p:cNvSpPr txBox="1"/>
          <p:nvPr/>
        </p:nvSpPr>
        <p:spPr>
          <a:xfrm>
            <a:off x="276225" y="4797932"/>
            <a:ext cx="3047975" cy="194310"/>
          </a:xfrm>
          <a:prstGeom prst="rect">
            <a:avLst/>
          </a:prstGeom>
          <a:noFill/>
        </p:spPr>
        <p:txBody>
          <a:bodyPr wrap="none" lIns="0" rIns="0" tIns="0" bIns="0">
            <a:spAutoFit/>
          </a:bodyPr>
          <a:lstStyle/>
          <a:p>
            <a:r>
              <a:rPr sz="1150" b="0">
                <a:solidFill>
                  <a:srgbClr val="2E2E2E"/>
                </a:solidFill>
                <a:latin typeface="Calibri"/>
              </a:rPr>
              <a:t>hospital procurement segment is expected to lose</a:t>
            </a:r>
          </a:p>
        </p:txBody>
      </p:sp>
      <p:pic>
        <p:nvPicPr>
          <p:cNvPr id="33" name="Picture 32" descr="lock.png"/>
          <p:cNvPicPr>
            <a:picLocks noChangeAspect="1"/>
          </p:cNvPicPr>
          <p:nvPr/>
        </p:nvPicPr>
        <p:blipFill>
          <a:blip r:embed="rId4"/>
          <a:stretch>
            <a:fillRect/>
          </a:stretch>
        </p:blipFill>
        <p:spPr>
          <a:xfrm>
            <a:off x="3273354" y="4787709"/>
            <a:ext cx="134549" cy="195707"/>
          </a:xfrm>
          <a:prstGeom prst="rect">
            <a:avLst/>
          </a:prstGeom>
        </p:spPr>
      </p:pic>
      <p:sp>
        <p:nvSpPr>
          <p:cNvPr id="34" name="TextBox 33"/>
          <p:cNvSpPr txBox="1"/>
          <p:nvPr/>
        </p:nvSpPr>
        <p:spPr>
          <a:xfrm>
            <a:off x="3448463" y="47979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6035967" y="4787709"/>
            <a:ext cx="134549" cy="195707"/>
          </a:xfrm>
          <a:prstGeom prst="rect">
            <a:avLst/>
          </a:prstGeom>
        </p:spPr>
      </p:pic>
      <p:sp>
        <p:nvSpPr>
          <p:cNvPr id="36" name="TextBox 35"/>
          <p:cNvSpPr txBox="1"/>
          <p:nvPr/>
        </p:nvSpPr>
        <p:spPr>
          <a:xfrm>
            <a:off x="6211077" y="47979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Sales / Procurement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Sales / Procurement Channel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Sales / Procurement Channel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914737"/>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190997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83377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Retail Pharmacy</a:t>
            </a:r>
          </a:p>
        </p:txBody>
      </p:sp>
      <p:sp>
        <p:nvSpPr>
          <p:cNvPr id="19" name="BPS Value 1"/>
          <p:cNvSpPr txBox="1"/>
          <p:nvPr/>
        </p:nvSpPr>
        <p:spPr>
          <a:xfrm>
            <a:off x="6896100" y="189568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928997" y="246552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46076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38456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Pharmaceutical Distributor</a:t>
            </a:r>
          </a:p>
        </p:txBody>
      </p:sp>
      <p:sp>
        <p:nvSpPr>
          <p:cNvPr id="23" name="BPS Value 2"/>
          <p:cNvSpPr txBox="1"/>
          <p:nvPr/>
        </p:nvSpPr>
        <p:spPr>
          <a:xfrm>
            <a:off x="6896100" y="244647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928997" y="313755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313279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305659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Mail-order Pharmacy</a:t>
            </a:r>
          </a:p>
        </p:txBody>
      </p:sp>
      <p:sp>
        <p:nvSpPr>
          <p:cNvPr id="27" name="BPS Value 3"/>
          <p:cNvSpPr txBox="1"/>
          <p:nvPr/>
        </p:nvSpPr>
        <p:spPr>
          <a:xfrm>
            <a:off x="6896100" y="311850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FMI Legend Chip"/>
          <p:cNvSpPr/>
          <p:nvPr/>
        </p:nvSpPr>
        <p:spPr>
          <a:xfrm>
            <a:off x="4928997" y="389617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389141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381521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Hospital Procurement</a:t>
            </a:r>
          </a:p>
        </p:txBody>
      </p:sp>
      <p:sp>
        <p:nvSpPr>
          <p:cNvPr id="31" name="BPS Value 4"/>
          <p:cNvSpPr txBox="1"/>
          <p:nvPr/>
        </p:nvSpPr>
        <p:spPr>
          <a:xfrm>
            <a:off x="6896100" y="387712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5266849"/>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5090922" y="526208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518588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Direct-to-Allergy Clinics</a:t>
            </a:r>
          </a:p>
        </p:txBody>
      </p:sp>
      <p:sp>
        <p:nvSpPr>
          <p:cNvPr id="35" name="BPS Value 5"/>
          <p:cNvSpPr txBox="1"/>
          <p:nvPr/>
        </p:nvSpPr>
        <p:spPr>
          <a:xfrm>
            <a:off x="6896100" y="524779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407620"/>
          </a:xfrm>
          <a:prstGeom prst="rect">
            <a:avLst/>
          </a:prstGeom>
          <a:noFill/>
        </p:spPr>
        <p:txBody>
          <a:bodyPr wrap="square" lIns="0" rIns="19050" tIns="9525" bIns="9525">
            <a:spAutoFit/>
          </a:bodyPr>
          <a:lstStyle/>
          <a:p>
            <a:pPr algn="l"/>
            <a:r>
              <a:rPr sz="1300" b="1">
                <a:solidFill>
                  <a:srgbClr val="0B2E4A"/>
                </a:solidFill>
                <a:latin typeface="Calibri"/>
              </a:rPr>
              <a:t>North America Read-out, By Sales / Procurement Channel</a:t>
            </a:r>
          </a:p>
        </p:txBody>
      </p:sp>
      <p:sp>
        <p:nvSpPr>
          <p:cNvPr id="38" name="Rectangle 37"/>
          <p:cNvSpPr/>
          <p:nvPr/>
        </p:nvSpPr>
        <p:spPr>
          <a:xfrm>
            <a:off x="7829550" y="150299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588720"/>
            <a:ext cx="4076700"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TextBox 3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1" name="Picture 40" descr="lock.png"/>
          <p:cNvPicPr>
            <a:picLocks noChangeAspect="1"/>
          </p:cNvPicPr>
          <p:nvPr/>
        </p:nvPicPr>
        <p:blipFill>
          <a:blip r:embed="rId5"/>
          <a:stretch>
            <a:fillRect/>
          </a:stretch>
        </p:blipFill>
        <p:spPr>
          <a:xfrm>
            <a:off x="2557843" y="3833622"/>
            <a:ext cx="275034" cy="400050"/>
          </a:xfrm>
          <a:prstGeom prst="rect">
            <a:avLst/>
          </a:prstGeom>
        </p:spPr>
      </p:pic>
      <p:sp>
        <p:nvSpPr>
          <p:cNvPr id="42" name="TextBox 41"/>
          <p:cNvSpPr txBox="1"/>
          <p:nvPr/>
        </p:nvSpPr>
        <p:spPr>
          <a:xfrm>
            <a:off x="7829550" y="1598245"/>
            <a:ext cx="3864371" cy="194310"/>
          </a:xfrm>
          <a:prstGeom prst="rect">
            <a:avLst/>
          </a:prstGeom>
          <a:noFill/>
        </p:spPr>
        <p:txBody>
          <a:bodyPr wrap="none" lIns="0" rIns="0" tIns="0" bIns="0">
            <a:spAutoFit/>
          </a:bodyPr>
          <a:lstStyle/>
          <a:p>
            <a:r>
              <a:rPr sz="1150" b="0">
                <a:solidFill>
                  <a:srgbClr val="2E2E2E"/>
                </a:solidFill>
                <a:latin typeface="Calibri"/>
              </a:rPr>
              <a:t>Among allergy immunotherapy by sales / procurement channel,</a:t>
            </a:r>
          </a:p>
        </p:txBody>
      </p:sp>
      <p:sp>
        <p:nvSpPr>
          <p:cNvPr id="43" name="TextBox 42"/>
          <p:cNvSpPr txBox="1"/>
          <p:nvPr/>
        </p:nvSpPr>
        <p:spPr>
          <a:xfrm>
            <a:off x="7829550" y="1773505"/>
            <a:ext cx="4057650" cy="194310"/>
          </a:xfrm>
          <a:prstGeom prst="rect">
            <a:avLst/>
          </a:prstGeom>
          <a:noFill/>
        </p:spPr>
        <p:txBody>
          <a:bodyPr wrap="none" lIns="0" rIns="0" tIns="0" bIns="0">
            <a:spAutoFit/>
          </a:bodyPr>
          <a:lstStyle/>
          <a:p>
            <a:r>
              <a:rPr sz="1150" b="0">
                <a:solidFill>
                  <a:srgbClr val="2E2E2E"/>
                </a:solidFill>
                <a:latin typeface="Calibri"/>
              </a:rPr>
              <a:t>retail pharmacy segment is expected to witness the highest CAGR of</a:t>
            </a:r>
          </a:p>
        </p:txBody>
      </p:sp>
      <p:pic>
        <p:nvPicPr>
          <p:cNvPr id="44" name="Picture 43" descr="lock.png"/>
          <p:cNvPicPr>
            <a:picLocks noChangeAspect="1"/>
          </p:cNvPicPr>
          <p:nvPr/>
        </p:nvPicPr>
        <p:blipFill>
          <a:blip r:embed="rId5"/>
          <a:stretch>
            <a:fillRect/>
          </a:stretch>
        </p:blipFill>
        <p:spPr>
          <a:xfrm>
            <a:off x="7815470" y="1938541"/>
            <a:ext cx="134549" cy="195707"/>
          </a:xfrm>
          <a:prstGeom prst="rect">
            <a:avLst/>
          </a:prstGeom>
        </p:spPr>
      </p:pic>
      <p:sp>
        <p:nvSpPr>
          <p:cNvPr id="45" name="TextBox 44"/>
          <p:cNvSpPr txBox="1"/>
          <p:nvPr/>
        </p:nvSpPr>
        <p:spPr>
          <a:xfrm>
            <a:off x="7990579" y="1948765"/>
            <a:ext cx="3531195"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sales /</a:t>
            </a:r>
          </a:p>
        </p:txBody>
      </p:sp>
      <p:sp>
        <p:nvSpPr>
          <p:cNvPr id="46" name="TextBox 45"/>
          <p:cNvSpPr txBox="1"/>
          <p:nvPr/>
        </p:nvSpPr>
        <p:spPr>
          <a:xfrm>
            <a:off x="7829550" y="2124025"/>
            <a:ext cx="3680383" cy="194310"/>
          </a:xfrm>
          <a:prstGeom prst="rect">
            <a:avLst/>
          </a:prstGeom>
          <a:noFill/>
        </p:spPr>
        <p:txBody>
          <a:bodyPr wrap="none" lIns="0" rIns="0" tIns="0" bIns="0">
            <a:spAutoFit/>
          </a:bodyPr>
          <a:lstStyle/>
          <a:p>
            <a:r>
              <a:rPr sz="1150" b="0">
                <a:solidFill>
                  <a:srgbClr val="2E2E2E"/>
                </a:solidFill>
                <a:latin typeface="Calibri"/>
              </a:rPr>
              <a:t>procurement channel, the direct-to-allergy clinics segment is</a:t>
            </a:r>
          </a:p>
        </p:txBody>
      </p:sp>
      <p:sp>
        <p:nvSpPr>
          <p:cNvPr id="47" name="TextBox 46"/>
          <p:cNvSpPr txBox="1"/>
          <p:nvPr/>
        </p:nvSpPr>
        <p:spPr>
          <a:xfrm>
            <a:off x="7829550" y="2299285"/>
            <a:ext cx="2494012" cy="194310"/>
          </a:xfrm>
          <a:prstGeom prst="rect">
            <a:avLst/>
          </a:prstGeom>
          <a:noFill/>
        </p:spPr>
        <p:txBody>
          <a:bodyPr wrap="none" lIns="0" rIns="0" tIns="0" bIns="0">
            <a:spAutoFit/>
          </a:bodyPr>
          <a:lstStyle/>
          <a:p>
            <a:r>
              <a:rPr sz="1150" b="0">
                <a:solidFill>
                  <a:srgbClr val="2E2E2E"/>
                </a:solidFill>
                <a:latin typeface="Calibri"/>
              </a:rPr>
              <a:t>expected to dominate the market, losing</a:t>
            </a:r>
          </a:p>
        </p:txBody>
      </p:sp>
      <p:pic>
        <p:nvPicPr>
          <p:cNvPr id="48" name="Picture 47" descr="lock.png"/>
          <p:cNvPicPr>
            <a:picLocks noChangeAspect="1"/>
          </p:cNvPicPr>
          <p:nvPr/>
        </p:nvPicPr>
        <p:blipFill>
          <a:blip r:embed="rId5"/>
          <a:stretch>
            <a:fillRect/>
          </a:stretch>
        </p:blipFill>
        <p:spPr>
          <a:xfrm>
            <a:off x="10272716" y="2289061"/>
            <a:ext cx="134549" cy="195707"/>
          </a:xfrm>
          <a:prstGeom prst="rect">
            <a:avLst/>
          </a:prstGeom>
        </p:spPr>
      </p:pic>
      <p:sp>
        <p:nvSpPr>
          <p:cNvPr id="49" name="TextBox 48"/>
          <p:cNvSpPr txBox="1"/>
          <p:nvPr/>
        </p:nvSpPr>
        <p:spPr>
          <a:xfrm>
            <a:off x="10447825" y="229928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50" name="TextBox 49"/>
          <p:cNvSpPr txBox="1"/>
          <p:nvPr/>
        </p:nvSpPr>
        <p:spPr>
          <a:xfrm>
            <a:off x="7829550" y="247454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51" name="Picture 50" descr="lock.png"/>
          <p:cNvPicPr>
            <a:picLocks noChangeAspect="1"/>
          </p:cNvPicPr>
          <p:nvPr/>
        </p:nvPicPr>
        <p:blipFill>
          <a:blip r:embed="rId5"/>
          <a:stretch>
            <a:fillRect/>
          </a:stretch>
        </p:blipFill>
        <p:spPr>
          <a:xfrm>
            <a:off x="8027482" y="2464321"/>
            <a:ext cx="134549" cy="195707"/>
          </a:xfrm>
          <a:prstGeom prst="rect">
            <a:avLst/>
          </a:prstGeom>
        </p:spPr>
      </p:pic>
      <p:sp>
        <p:nvSpPr>
          <p:cNvPr id="52" name="TextBox 51"/>
          <p:cNvSpPr txBox="1"/>
          <p:nvPr/>
        </p:nvSpPr>
        <p:spPr>
          <a:xfrm>
            <a:off x="8202591" y="247454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TextBox 52"/>
          <p:cNvSpPr txBox="1"/>
          <p:nvPr/>
        </p:nvSpPr>
        <p:spPr>
          <a:xfrm>
            <a:off x="7829550" y="2702382"/>
            <a:ext cx="3301851" cy="194310"/>
          </a:xfrm>
          <a:prstGeom prst="rect">
            <a:avLst/>
          </a:prstGeom>
          <a:noFill/>
        </p:spPr>
        <p:txBody>
          <a:bodyPr wrap="none" lIns="0" rIns="0" tIns="0" bIns="0">
            <a:spAutoFit/>
          </a:bodyPr>
          <a:lstStyle/>
          <a:p>
            <a:r>
              <a:rPr sz="1150" b="0">
                <a:solidFill>
                  <a:srgbClr val="2E2E2E"/>
                </a:solidFill>
                <a:latin typeface="Calibri"/>
              </a:rPr>
              <a:t>The hospital procurement segment is expected to lose</a:t>
            </a:r>
          </a:p>
        </p:txBody>
      </p:sp>
      <p:pic>
        <p:nvPicPr>
          <p:cNvPr id="54" name="Picture 53" descr="lock.png"/>
          <p:cNvPicPr>
            <a:picLocks noChangeAspect="1"/>
          </p:cNvPicPr>
          <p:nvPr/>
        </p:nvPicPr>
        <p:blipFill>
          <a:blip r:embed="rId5"/>
          <a:stretch>
            <a:fillRect/>
          </a:stretch>
        </p:blipFill>
        <p:spPr>
          <a:xfrm>
            <a:off x="11080555" y="2692159"/>
            <a:ext cx="134549" cy="195707"/>
          </a:xfrm>
          <a:prstGeom prst="rect">
            <a:avLst/>
          </a:prstGeom>
        </p:spPr>
      </p:pic>
      <p:sp>
        <p:nvSpPr>
          <p:cNvPr id="55" name="TextBox 54"/>
          <p:cNvSpPr txBox="1"/>
          <p:nvPr/>
        </p:nvSpPr>
        <p:spPr>
          <a:xfrm>
            <a:off x="11255664" y="2702382"/>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6" name="TextBox 55"/>
          <p:cNvSpPr txBox="1"/>
          <p:nvPr/>
        </p:nvSpPr>
        <p:spPr>
          <a:xfrm>
            <a:off x="7829550" y="2877642"/>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7" name="Picture 56" descr="lock.png"/>
          <p:cNvPicPr>
            <a:picLocks noChangeAspect="1"/>
          </p:cNvPicPr>
          <p:nvPr/>
        </p:nvPicPr>
        <p:blipFill>
          <a:blip r:embed="rId5"/>
          <a:stretch>
            <a:fillRect/>
          </a:stretch>
        </p:blipFill>
        <p:spPr>
          <a:xfrm>
            <a:off x="10161752" y="2867419"/>
            <a:ext cx="134549" cy="195707"/>
          </a:xfrm>
          <a:prstGeom prst="rect">
            <a:avLst/>
          </a:prstGeom>
        </p:spPr>
      </p:pic>
      <p:sp>
        <p:nvSpPr>
          <p:cNvPr id="58" name="TextBox 57"/>
          <p:cNvSpPr txBox="1"/>
          <p:nvPr/>
        </p:nvSpPr>
        <p:spPr>
          <a:xfrm>
            <a:off x="10336861" y="287764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9"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Cross-sectional Assessment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 Allergen Class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 Therapy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 Allergen Preparation Technology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Company × Allergen Class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Company × Allergen Class,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company sub-segment across allergen class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Company × Allergen Class, 2026E and 2036F (US$ Mn)</a:t>
            </a:r>
          </a:p>
        </p:txBody>
      </p:sp>
      <p:graphicFrame>
        <p:nvGraphicFramePr>
          <p:cNvPr id="13" name="Table 12"/>
          <p:cNvGraphicFramePr>
            <a:graphicFrameLocks noGrp="1"/>
          </p:cNvGraphicFramePr>
          <p:nvPr/>
        </p:nvGraphicFramePr>
        <p:xfrm>
          <a:off x="152400" y="1238250"/>
          <a:ext cx="11887199" cy="3200406"/>
        </p:xfrm>
        <a:graphic>
          <a:graphicData uri="http://schemas.openxmlformats.org/drawingml/2006/table">
            <a:tbl>
              <a:tblPr>
                <a:tableStyleId>{5C22544A-7EE6-4342-B048-85BDC9FD1C3A}</a:tableStyleId>
              </a:tblPr>
              <a:tblGrid>
                <a:gridCol w="4653631"/>
                <a:gridCol w="904196"/>
                <a:gridCol w="904196"/>
                <a:gridCol w="904196"/>
                <a:gridCol w="904196"/>
                <a:gridCol w="904196"/>
                <a:gridCol w="904196"/>
                <a:gridCol w="904196"/>
                <a:gridCol w="904196"/>
              </a:tblGrid>
              <a:tr h="246126">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Inhalant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Venom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Food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190">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8236125" y="2817911"/>
            <a:ext cx="366712" cy="533399"/>
          </a:xfrm>
          <a:prstGeom prst="rect">
            <a:avLst/>
          </a:prstGeom>
        </p:spPr>
      </p:pic>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Company × Allergen Class,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company sub-segment across allergen class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Company → Allergen Class, 2036F (US$ Mn)</a:t>
            </a:r>
          </a:p>
        </p:txBody>
      </p:sp>
      <p:sp>
        <p:nvSpPr>
          <p:cNvPr id="12" name="Freeform 11"/>
          <p:cNvSpPr/>
          <p:nvPr/>
        </p:nvSpPr>
        <p:spPr>
          <a:xfrm>
            <a:off x="2057400" y="1304925"/>
            <a:ext cx="3743325" cy="504825"/>
          </a:xfrm>
          <a:custGeom>
            <a:avLst/>
            <a:gdLst/>
            <a:ahLst/>
            <a:cxnLst/>
            <a:rect l="l" t="t" r="r" b="b"/>
            <a:pathLst>
              <a:path w="393" h="53">
                <a:moveTo>
                  <a:pt x="0" y="0"/>
                </a:moveTo>
                <a:lnTo>
                  <a:pt x="16" y="0"/>
                </a:lnTo>
                <a:lnTo>
                  <a:pt x="33" y="0"/>
                </a:lnTo>
                <a:lnTo>
                  <a:pt x="49" y="1"/>
                </a:lnTo>
                <a:lnTo>
                  <a:pt x="65" y="2"/>
                </a:lnTo>
                <a:lnTo>
                  <a:pt x="82" y="2"/>
                </a:lnTo>
                <a:lnTo>
                  <a:pt x="98" y="3"/>
                </a:lnTo>
                <a:lnTo>
                  <a:pt x="114" y="4"/>
                </a:lnTo>
                <a:lnTo>
                  <a:pt x="131" y="5"/>
                </a:lnTo>
                <a:lnTo>
                  <a:pt x="147" y="7"/>
                </a:lnTo>
                <a:lnTo>
                  <a:pt x="164" y="8"/>
                </a:lnTo>
                <a:lnTo>
                  <a:pt x="180" y="9"/>
                </a:lnTo>
                <a:lnTo>
                  <a:pt x="196" y="11"/>
                </a:lnTo>
                <a:lnTo>
                  <a:pt x="213" y="12"/>
                </a:lnTo>
                <a:lnTo>
                  <a:pt x="229" y="13"/>
                </a:lnTo>
                <a:lnTo>
                  <a:pt x="246" y="14"/>
                </a:lnTo>
                <a:lnTo>
                  <a:pt x="262" y="16"/>
                </a:lnTo>
                <a:lnTo>
                  <a:pt x="278" y="17"/>
                </a:lnTo>
                <a:lnTo>
                  <a:pt x="295" y="18"/>
                </a:lnTo>
                <a:lnTo>
                  <a:pt x="311" y="19"/>
                </a:lnTo>
                <a:lnTo>
                  <a:pt x="327" y="19"/>
                </a:lnTo>
                <a:lnTo>
                  <a:pt x="344" y="20"/>
                </a:lnTo>
                <a:lnTo>
                  <a:pt x="360" y="21"/>
                </a:lnTo>
                <a:lnTo>
                  <a:pt x="377" y="21"/>
                </a:lnTo>
                <a:lnTo>
                  <a:pt x="393" y="21"/>
                </a:lnTo>
                <a:lnTo>
                  <a:pt x="393" y="53"/>
                </a:lnTo>
                <a:lnTo>
                  <a:pt x="377" y="53"/>
                </a:lnTo>
                <a:lnTo>
                  <a:pt x="360" y="53"/>
                </a:lnTo>
                <a:lnTo>
                  <a:pt x="344" y="52"/>
                </a:lnTo>
                <a:lnTo>
                  <a:pt x="327" y="51"/>
                </a:lnTo>
                <a:lnTo>
                  <a:pt x="311" y="51"/>
                </a:lnTo>
                <a:lnTo>
                  <a:pt x="295" y="50"/>
                </a:lnTo>
                <a:lnTo>
                  <a:pt x="278" y="49"/>
                </a:lnTo>
                <a:lnTo>
                  <a:pt x="262" y="48"/>
                </a:lnTo>
                <a:lnTo>
                  <a:pt x="246" y="46"/>
                </a:lnTo>
                <a:lnTo>
                  <a:pt x="229" y="45"/>
                </a:lnTo>
                <a:lnTo>
                  <a:pt x="213" y="44"/>
                </a:lnTo>
                <a:lnTo>
                  <a:pt x="196" y="43"/>
                </a:lnTo>
                <a:lnTo>
                  <a:pt x="180" y="41"/>
                </a:lnTo>
                <a:lnTo>
                  <a:pt x="164" y="40"/>
                </a:lnTo>
                <a:lnTo>
                  <a:pt x="147" y="39"/>
                </a:lnTo>
                <a:lnTo>
                  <a:pt x="131" y="37"/>
                </a:lnTo>
                <a:lnTo>
                  <a:pt x="114" y="36"/>
                </a:lnTo>
                <a:lnTo>
                  <a:pt x="98" y="35"/>
                </a:lnTo>
                <a:lnTo>
                  <a:pt x="82" y="34"/>
                </a:lnTo>
                <a:lnTo>
                  <a:pt x="65" y="34"/>
                </a:lnTo>
                <a:lnTo>
                  <a:pt x="49" y="33"/>
                </a:lnTo>
                <a:lnTo>
                  <a:pt x="33" y="32"/>
                </a:lnTo>
                <a:lnTo>
                  <a:pt x="16" y="32"/>
                </a:lnTo>
                <a:lnTo>
                  <a:pt x="0" y="3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609725"/>
            <a:ext cx="3743325" cy="3009900"/>
          </a:xfrm>
          <a:custGeom>
            <a:avLst/>
            <a:gdLst/>
            <a:ahLst/>
            <a:cxnLst/>
            <a:rect l="l" t="t" r="r" b="b"/>
            <a:pathLst>
              <a:path w="393" h="316">
                <a:moveTo>
                  <a:pt x="0" y="0"/>
                </a:moveTo>
                <a:lnTo>
                  <a:pt x="16" y="2"/>
                </a:lnTo>
                <a:lnTo>
                  <a:pt x="33" y="6"/>
                </a:lnTo>
                <a:lnTo>
                  <a:pt x="49" y="13"/>
                </a:lnTo>
                <a:lnTo>
                  <a:pt x="65" y="23"/>
                </a:lnTo>
                <a:lnTo>
                  <a:pt x="82" y="34"/>
                </a:lnTo>
                <a:lnTo>
                  <a:pt x="98" y="48"/>
                </a:lnTo>
                <a:lnTo>
                  <a:pt x="114" y="63"/>
                </a:lnTo>
                <a:lnTo>
                  <a:pt x="131" y="80"/>
                </a:lnTo>
                <a:lnTo>
                  <a:pt x="147" y="97"/>
                </a:lnTo>
                <a:lnTo>
                  <a:pt x="164" y="115"/>
                </a:lnTo>
                <a:lnTo>
                  <a:pt x="180" y="134"/>
                </a:lnTo>
                <a:lnTo>
                  <a:pt x="196" y="153"/>
                </a:lnTo>
                <a:lnTo>
                  <a:pt x="213" y="173"/>
                </a:lnTo>
                <a:lnTo>
                  <a:pt x="229" y="191"/>
                </a:lnTo>
                <a:lnTo>
                  <a:pt x="246" y="210"/>
                </a:lnTo>
                <a:lnTo>
                  <a:pt x="262" y="227"/>
                </a:lnTo>
                <a:lnTo>
                  <a:pt x="278" y="244"/>
                </a:lnTo>
                <a:lnTo>
                  <a:pt x="295" y="259"/>
                </a:lnTo>
                <a:lnTo>
                  <a:pt x="311" y="272"/>
                </a:lnTo>
                <a:lnTo>
                  <a:pt x="327" y="284"/>
                </a:lnTo>
                <a:lnTo>
                  <a:pt x="344" y="294"/>
                </a:lnTo>
                <a:lnTo>
                  <a:pt x="360" y="301"/>
                </a:lnTo>
                <a:lnTo>
                  <a:pt x="377" y="305"/>
                </a:lnTo>
                <a:lnTo>
                  <a:pt x="393" y="307"/>
                </a:lnTo>
                <a:lnTo>
                  <a:pt x="393" y="316"/>
                </a:lnTo>
                <a:lnTo>
                  <a:pt x="377" y="314"/>
                </a:lnTo>
                <a:lnTo>
                  <a:pt x="360" y="310"/>
                </a:lnTo>
                <a:lnTo>
                  <a:pt x="344" y="303"/>
                </a:lnTo>
                <a:lnTo>
                  <a:pt x="327" y="293"/>
                </a:lnTo>
                <a:lnTo>
                  <a:pt x="311" y="282"/>
                </a:lnTo>
                <a:lnTo>
                  <a:pt x="295" y="268"/>
                </a:lnTo>
                <a:lnTo>
                  <a:pt x="278" y="253"/>
                </a:lnTo>
                <a:lnTo>
                  <a:pt x="262" y="236"/>
                </a:lnTo>
                <a:lnTo>
                  <a:pt x="246" y="219"/>
                </a:lnTo>
                <a:lnTo>
                  <a:pt x="229" y="201"/>
                </a:lnTo>
                <a:lnTo>
                  <a:pt x="213" y="182"/>
                </a:lnTo>
                <a:lnTo>
                  <a:pt x="196" y="163"/>
                </a:lnTo>
                <a:lnTo>
                  <a:pt x="180" y="143"/>
                </a:lnTo>
                <a:lnTo>
                  <a:pt x="164" y="125"/>
                </a:lnTo>
                <a:lnTo>
                  <a:pt x="147" y="106"/>
                </a:lnTo>
                <a:lnTo>
                  <a:pt x="131" y="89"/>
                </a:lnTo>
                <a:lnTo>
                  <a:pt x="114" y="72"/>
                </a:lnTo>
                <a:lnTo>
                  <a:pt x="98" y="57"/>
                </a:lnTo>
                <a:lnTo>
                  <a:pt x="82" y="44"/>
                </a:lnTo>
                <a:lnTo>
                  <a:pt x="65" y="32"/>
                </a:lnTo>
                <a:lnTo>
                  <a:pt x="49" y="22"/>
                </a:lnTo>
                <a:lnTo>
                  <a:pt x="33" y="15"/>
                </a:lnTo>
                <a:lnTo>
                  <a:pt x="16" y="11"/>
                </a:lnTo>
                <a:lnTo>
                  <a:pt x="0" y="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1695450"/>
            <a:ext cx="3743325" cy="3933825"/>
          </a:xfrm>
          <a:custGeom>
            <a:avLst/>
            <a:gdLst/>
            <a:ahLst/>
            <a:cxnLst/>
            <a:rect l="l" t="t" r="r" b="b"/>
            <a:pathLst>
              <a:path w="393" h="413">
                <a:moveTo>
                  <a:pt x="0" y="0"/>
                </a:moveTo>
                <a:lnTo>
                  <a:pt x="16" y="2"/>
                </a:lnTo>
                <a:lnTo>
                  <a:pt x="33" y="8"/>
                </a:lnTo>
                <a:lnTo>
                  <a:pt x="49" y="18"/>
                </a:lnTo>
                <a:lnTo>
                  <a:pt x="65" y="30"/>
                </a:lnTo>
                <a:lnTo>
                  <a:pt x="82" y="46"/>
                </a:lnTo>
                <a:lnTo>
                  <a:pt x="98" y="63"/>
                </a:lnTo>
                <a:lnTo>
                  <a:pt x="114" y="83"/>
                </a:lnTo>
                <a:lnTo>
                  <a:pt x="131" y="105"/>
                </a:lnTo>
                <a:lnTo>
                  <a:pt x="147" y="128"/>
                </a:lnTo>
                <a:lnTo>
                  <a:pt x="164" y="152"/>
                </a:lnTo>
                <a:lnTo>
                  <a:pt x="180" y="177"/>
                </a:lnTo>
                <a:lnTo>
                  <a:pt x="196" y="203"/>
                </a:lnTo>
                <a:lnTo>
                  <a:pt x="213" y="228"/>
                </a:lnTo>
                <a:lnTo>
                  <a:pt x="229" y="253"/>
                </a:lnTo>
                <a:lnTo>
                  <a:pt x="246" y="277"/>
                </a:lnTo>
                <a:lnTo>
                  <a:pt x="262" y="300"/>
                </a:lnTo>
                <a:lnTo>
                  <a:pt x="278" y="322"/>
                </a:lnTo>
                <a:lnTo>
                  <a:pt x="295" y="342"/>
                </a:lnTo>
                <a:lnTo>
                  <a:pt x="311" y="359"/>
                </a:lnTo>
                <a:lnTo>
                  <a:pt x="327" y="375"/>
                </a:lnTo>
                <a:lnTo>
                  <a:pt x="344" y="387"/>
                </a:lnTo>
                <a:lnTo>
                  <a:pt x="360" y="397"/>
                </a:lnTo>
                <a:lnTo>
                  <a:pt x="377" y="403"/>
                </a:lnTo>
                <a:lnTo>
                  <a:pt x="393" y="405"/>
                </a:lnTo>
                <a:lnTo>
                  <a:pt x="393" y="413"/>
                </a:lnTo>
                <a:lnTo>
                  <a:pt x="377" y="411"/>
                </a:lnTo>
                <a:lnTo>
                  <a:pt x="360" y="405"/>
                </a:lnTo>
                <a:lnTo>
                  <a:pt x="344" y="396"/>
                </a:lnTo>
                <a:lnTo>
                  <a:pt x="327" y="383"/>
                </a:lnTo>
                <a:lnTo>
                  <a:pt x="311" y="368"/>
                </a:lnTo>
                <a:lnTo>
                  <a:pt x="295" y="350"/>
                </a:lnTo>
                <a:lnTo>
                  <a:pt x="278" y="330"/>
                </a:lnTo>
                <a:lnTo>
                  <a:pt x="262" y="308"/>
                </a:lnTo>
                <a:lnTo>
                  <a:pt x="246" y="285"/>
                </a:lnTo>
                <a:lnTo>
                  <a:pt x="229" y="261"/>
                </a:lnTo>
                <a:lnTo>
                  <a:pt x="213" y="236"/>
                </a:lnTo>
                <a:lnTo>
                  <a:pt x="196" y="211"/>
                </a:lnTo>
                <a:lnTo>
                  <a:pt x="180" y="186"/>
                </a:lnTo>
                <a:lnTo>
                  <a:pt x="164" y="161"/>
                </a:lnTo>
                <a:lnTo>
                  <a:pt x="147" y="137"/>
                </a:lnTo>
                <a:lnTo>
                  <a:pt x="131" y="113"/>
                </a:lnTo>
                <a:lnTo>
                  <a:pt x="114" y="92"/>
                </a:lnTo>
                <a:lnTo>
                  <a:pt x="98" y="72"/>
                </a:lnTo>
                <a:lnTo>
                  <a:pt x="82" y="54"/>
                </a:lnTo>
                <a:lnTo>
                  <a:pt x="65" y="38"/>
                </a:lnTo>
                <a:lnTo>
                  <a:pt x="49" y="26"/>
                </a:lnTo>
                <a:lnTo>
                  <a:pt x="33" y="16"/>
                </a:lnTo>
                <a:lnTo>
                  <a:pt x="16" y="11"/>
                </a:lnTo>
                <a:lnTo>
                  <a:pt x="0" y="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1809750"/>
            <a:ext cx="3743325" cy="323850"/>
          </a:xfrm>
          <a:custGeom>
            <a:avLst/>
            <a:gdLst/>
            <a:ahLst/>
            <a:cxnLst/>
            <a:rect l="l" t="t" r="r" b="b"/>
            <a:pathLst>
              <a:path w="393" h="34">
                <a:moveTo>
                  <a:pt x="0" y="3"/>
                </a:moveTo>
                <a:lnTo>
                  <a:pt x="16" y="2"/>
                </a:lnTo>
                <a:lnTo>
                  <a:pt x="33" y="2"/>
                </a:lnTo>
                <a:lnTo>
                  <a:pt x="49" y="2"/>
                </a:lnTo>
                <a:lnTo>
                  <a:pt x="65" y="2"/>
                </a:lnTo>
                <a:lnTo>
                  <a:pt x="82" y="2"/>
                </a:lnTo>
                <a:lnTo>
                  <a:pt x="98" y="2"/>
                </a:lnTo>
                <a:lnTo>
                  <a:pt x="114" y="2"/>
                </a:lnTo>
                <a:lnTo>
                  <a:pt x="131" y="2"/>
                </a:lnTo>
                <a:lnTo>
                  <a:pt x="147" y="2"/>
                </a:lnTo>
                <a:lnTo>
                  <a:pt x="164" y="2"/>
                </a:lnTo>
                <a:lnTo>
                  <a:pt x="180" y="1"/>
                </a:lnTo>
                <a:lnTo>
                  <a:pt x="196" y="1"/>
                </a:lnTo>
                <a:lnTo>
                  <a:pt x="213" y="1"/>
                </a:lnTo>
                <a:lnTo>
                  <a:pt x="229" y="1"/>
                </a:lnTo>
                <a:lnTo>
                  <a:pt x="246" y="1"/>
                </a:lnTo>
                <a:lnTo>
                  <a:pt x="262" y="1"/>
                </a:lnTo>
                <a:lnTo>
                  <a:pt x="278" y="1"/>
                </a:lnTo>
                <a:lnTo>
                  <a:pt x="295" y="0"/>
                </a:lnTo>
                <a:lnTo>
                  <a:pt x="311" y="0"/>
                </a:lnTo>
                <a:lnTo>
                  <a:pt x="327" y="0"/>
                </a:lnTo>
                <a:lnTo>
                  <a:pt x="344" y="0"/>
                </a:lnTo>
                <a:lnTo>
                  <a:pt x="360" y="0"/>
                </a:lnTo>
                <a:lnTo>
                  <a:pt x="377" y="0"/>
                </a:lnTo>
                <a:lnTo>
                  <a:pt x="393" y="0"/>
                </a:lnTo>
                <a:lnTo>
                  <a:pt x="393" y="32"/>
                </a:lnTo>
                <a:lnTo>
                  <a:pt x="377" y="32"/>
                </a:lnTo>
                <a:lnTo>
                  <a:pt x="360" y="32"/>
                </a:lnTo>
                <a:lnTo>
                  <a:pt x="344" y="32"/>
                </a:lnTo>
                <a:lnTo>
                  <a:pt x="327" y="32"/>
                </a:lnTo>
                <a:lnTo>
                  <a:pt x="311" y="32"/>
                </a:lnTo>
                <a:lnTo>
                  <a:pt x="295" y="32"/>
                </a:lnTo>
                <a:lnTo>
                  <a:pt x="278" y="32"/>
                </a:lnTo>
                <a:lnTo>
                  <a:pt x="262" y="33"/>
                </a:lnTo>
                <a:lnTo>
                  <a:pt x="246" y="33"/>
                </a:lnTo>
                <a:lnTo>
                  <a:pt x="229" y="33"/>
                </a:lnTo>
                <a:lnTo>
                  <a:pt x="213" y="33"/>
                </a:lnTo>
                <a:lnTo>
                  <a:pt x="196" y="33"/>
                </a:lnTo>
                <a:lnTo>
                  <a:pt x="180" y="33"/>
                </a:lnTo>
                <a:lnTo>
                  <a:pt x="164" y="33"/>
                </a:lnTo>
                <a:lnTo>
                  <a:pt x="147" y="34"/>
                </a:lnTo>
                <a:lnTo>
                  <a:pt x="131" y="34"/>
                </a:lnTo>
                <a:lnTo>
                  <a:pt x="114" y="34"/>
                </a:lnTo>
                <a:lnTo>
                  <a:pt x="98" y="34"/>
                </a:lnTo>
                <a:lnTo>
                  <a:pt x="82" y="34"/>
                </a:lnTo>
                <a:lnTo>
                  <a:pt x="65" y="34"/>
                </a:lnTo>
                <a:lnTo>
                  <a:pt x="49" y="34"/>
                </a:lnTo>
                <a:lnTo>
                  <a:pt x="33" y="34"/>
                </a:lnTo>
                <a:lnTo>
                  <a:pt x="16" y="34"/>
                </a:lnTo>
                <a:lnTo>
                  <a:pt x="0" y="3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133600"/>
            <a:ext cx="3743325" cy="2581275"/>
          </a:xfrm>
          <a:custGeom>
            <a:avLst/>
            <a:gdLst/>
            <a:ahLst/>
            <a:cxnLst/>
            <a:rect l="l" t="t" r="r" b="b"/>
            <a:pathLst>
              <a:path w="393" h="271">
                <a:moveTo>
                  <a:pt x="0" y="0"/>
                </a:moveTo>
                <a:lnTo>
                  <a:pt x="16" y="2"/>
                </a:lnTo>
                <a:lnTo>
                  <a:pt x="33" y="5"/>
                </a:lnTo>
                <a:lnTo>
                  <a:pt x="49" y="12"/>
                </a:lnTo>
                <a:lnTo>
                  <a:pt x="65" y="20"/>
                </a:lnTo>
                <a:lnTo>
                  <a:pt x="82" y="30"/>
                </a:lnTo>
                <a:lnTo>
                  <a:pt x="98" y="41"/>
                </a:lnTo>
                <a:lnTo>
                  <a:pt x="114" y="54"/>
                </a:lnTo>
                <a:lnTo>
                  <a:pt x="131" y="68"/>
                </a:lnTo>
                <a:lnTo>
                  <a:pt x="147" y="83"/>
                </a:lnTo>
                <a:lnTo>
                  <a:pt x="164" y="98"/>
                </a:lnTo>
                <a:lnTo>
                  <a:pt x="180" y="114"/>
                </a:lnTo>
                <a:lnTo>
                  <a:pt x="196" y="131"/>
                </a:lnTo>
                <a:lnTo>
                  <a:pt x="213" y="147"/>
                </a:lnTo>
                <a:lnTo>
                  <a:pt x="229" y="163"/>
                </a:lnTo>
                <a:lnTo>
                  <a:pt x="246" y="179"/>
                </a:lnTo>
                <a:lnTo>
                  <a:pt x="262" y="193"/>
                </a:lnTo>
                <a:lnTo>
                  <a:pt x="278" y="207"/>
                </a:lnTo>
                <a:lnTo>
                  <a:pt x="295" y="220"/>
                </a:lnTo>
                <a:lnTo>
                  <a:pt x="311" y="232"/>
                </a:lnTo>
                <a:lnTo>
                  <a:pt x="327" y="242"/>
                </a:lnTo>
                <a:lnTo>
                  <a:pt x="344" y="250"/>
                </a:lnTo>
                <a:lnTo>
                  <a:pt x="360" y="256"/>
                </a:lnTo>
                <a:lnTo>
                  <a:pt x="377" y="260"/>
                </a:lnTo>
                <a:lnTo>
                  <a:pt x="393" y="261"/>
                </a:lnTo>
                <a:lnTo>
                  <a:pt x="393" y="271"/>
                </a:lnTo>
                <a:lnTo>
                  <a:pt x="377" y="269"/>
                </a:lnTo>
                <a:lnTo>
                  <a:pt x="360" y="266"/>
                </a:lnTo>
                <a:lnTo>
                  <a:pt x="344" y="259"/>
                </a:lnTo>
                <a:lnTo>
                  <a:pt x="327" y="251"/>
                </a:lnTo>
                <a:lnTo>
                  <a:pt x="311" y="241"/>
                </a:lnTo>
                <a:lnTo>
                  <a:pt x="295" y="230"/>
                </a:lnTo>
                <a:lnTo>
                  <a:pt x="278" y="217"/>
                </a:lnTo>
                <a:lnTo>
                  <a:pt x="262" y="203"/>
                </a:lnTo>
                <a:lnTo>
                  <a:pt x="246" y="188"/>
                </a:lnTo>
                <a:lnTo>
                  <a:pt x="229" y="173"/>
                </a:lnTo>
                <a:lnTo>
                  <a:pt x="213" y="157"/>
                </a:lnTo>
                <a:lnTo>
                  <a:pt x="196" y="140"/>
                </a:lnTo>
                <a:lnTo>
                  <a:pt x="180" y="124"/>
                </a:lnTo>
                <a:lnTo>
                  <a:pt x="164" y="108"/>
                </a:lnTo>
                <a:lnTo>
                  <a:pt x="147" y="92"/>
                </a:lnTo>
                <a:lnTo>
                  <a:pt x="131" y="78"/>
                </a:lnTo>
                <a:lnTo>
                  <a:pt x="114" y="64"/>
                </a:lnTo>
                <a:lnTo>
                  <a:pt x="98" y="51"/>
                </a:lnTo>
                <a:lnTo>
                  <a:pt x="82" y="39"/>
                </a:lnTo>
                <a:lnTo>
                  <a:pt x="65" y="29"/>
                </a:lnTo>
                <a:lnTo>
                  <a:pt x="49" y="21"/>
                </a:lnTo>
                <a:lnTo>
                  <a:pt x="33" y="15"/>
                </a:lnTo>
                <a:lnTo>
                  <a:pt x="16" y="11"/>
                </a:lnTo>
                <a:lnTo>
                  <a:pt x="0" y="1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2228850"/>
            <a:ext cx="3743325" cy="3476625"/>
          </a:xfrm>
          <a:custGeom>
            <a:avLst/>
            <a:gdLst/>
            <a:ahLst/>
            <a:cxnLst/>
            <a:rect l="l" t="t" r="r" b="b"/>
            <a:pathLst>
              <a:path w="393" h="365">
                <a:moveTo>
                  <a:pt x="0" y="0"/>
                </a:moveTo>
                <a:lnTo>
                  <a:pt x="16" y="2"/>
                </a:lnTo>
                <a:lnTo>
                  <a:pt x="33" y="7"/>
                </a:lnTo>
                <a:lnTo>
                  <a:pt x="49" y="15"/>
                </a:lnTo>
                <a:lnTo>
                  <a:pt x="65" y="26"/>
                </a:lnTo>
                <a:lnTo>
                  <a:pt x="82" y="40"/>
                </a:lnTo>
                <a:lnTo>
                  <a:pt x="98" y="56"/>
                </a:lnTo>
                <a:lnTo>
                  <a:pt x="114" y="73"/>
                </a:lnTo>
                <a:lnTo>
                  <a:pt x="131" y="93"/>
                </a:lnTo>
                <a:lnTo>
                  <a:pt x="147" y="113"/>
                </a:lnTo>
                <a:lnTo>
                  <a:pt x="164" y="134"/>
                </a:lnTo>
                <a:lnTo>
                  <a:pt x="180" y="156"/>
                </a:lnTo>
                <a:lnTo>
                  <a:pt x="196" y="179"/>
                </a:lnTo>
                <a:lnTo>
                  <a:pt x="213" y="201"/>
                </a:lnTo>
                <a:lnTo>
                  <a:pt x="229" y="223"/>
                </a:lnTo>
                <a:lnTo>
                  <a:pt x="246" y="244"/>
                </a:lnTo>
                <a:lnTo>
                  <a:pt x="262" y="265"/>
                </a:lnTo>
                <a:lnTo>
                  <a:pt x="278" y="284"/>
                </a:lnTo>
                <a:lnTo>
                  <a:pt x="295" y="301"/>
                </a:lnTo>
                <a:lnTo>
                  <a:pt x="311" y="317"/>
                </a:lnTo>
                <a:lnTo>
                  <a:pt x="327" y="331"/>
                </a:lnTo>
                <a:lnTo>
                  <a:pt x="344" y="342"/>
                </a:lnTo>
                <a:lnTo>
                  <a:pt x="360" y="350"/>
                </a:lnTo>
                <a:lnTo>
                  <a:pt x="377" y="355"/>
                </a:lnTo>
                <a:lnTo>
                  <a:pt x="393" y="357"/>
                </a:lnTo>
                <a:lnTo>
                  <a:pt x="393" y="365"/>
                </a:lnTo>
                <a:lnTo>
                  <a:pt x="377" y="363"/>
                </a:lnTo>
                <a:lnTo>
                  <a:pt x="360" y="358"/>
                </a:lnTo>
                <a:lnTo>
                  <a:pt x="344" y="350"/>
                </a:lnTo>
                <a:lnTo>
                  <a:pt x="327" y="339"/>
                </a:lnTo>
                <a:lnTo>
                  <a:pt x="311" y="325"/>
                </a:lnTo>
                <a:lnTo>
                  <a:pt x="295" y="309"/>
                </a:lnTo>
                <a:lnTo>
                  <a:pt x="278" y="292"/>
                </a:lnTo>
                <a:lnTo>
                  <a:pt x="262" y="273"/>
                </a:lnTo>
                <a:lnTo>
                  <a:pt x="246" y="252"/>
                </a:lnTo>
                <a:lnTo>
                  <a:pt x="229" y="231"/>
                </a:lnTo>
                <a:lnTo>
                  <a:pt x="213" y="209"/>
                </a:lnTo>
                <a:lnTo>
                  <a:pt x="196" y="187"/>
                </a:lnTo>
                <a:lnTo>
                  <a:pt x="180" y="164"/>
                </a:lnTo>
                <a:lnTo>
                  <a:pt x="164" y="142"/>
                </a:lnTo>
                <a:lnTo>
                  <a:pt x="147" y="121"/>
                </a:lnTo>
                <a:lnTo>
                  <a:pt x="131" y="101"/>
                </a:lnTo>
                <a:lnTo>
                  <a:pt x="114" y="81"/>
                </a:lnTo>
                <a:lnTo>
                  <a:pt x="98" y="64"/>
                </a:lnTo>
                <a:lnTo>
                  <a:pt x="82" y="48"/>
                </a:lnTo>
                <a:lnTo>
                  <a:pt x="65" y="34"/>
                </a:lnTo>
                <a:lnTo>
                  <a:pt x="49" y="23"/>
                </a:lnTo>
                <a:lnTo>
                  <a:pt x="33" y="15"/>
                </a:lnTo>
                <a:lnTo>
                  <a:pt x="16" y="10"/>
                </a:lnTo>
                <a:lnTo>
                  <a:pt x="0" y="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2114550"/>
            <a:ext cx="3743325" cy="542925"/>
          </a:xfrm>
          <a:custGeom>
            <a:avLst/>
            <a:gdLst/>
            <a:ahLst/>
            <a:cxnLst/>
            <a:rect l="l" t="t" r="r" b="b"/>
            <a:pathLst>
              <a:path w="393" h="57">
                <a:moveTo>
                  <a:pt x="0" y="26"/>
                </a:moveTo>
                <a:lnTo>
                  <a:pt x="16" y="26"/>
                </a:lnTo>
                <a:lnTo>
                  <a:pt x="33" y="25"/>
                </a:lnTo>
                <a:lnTo>
                  <a:pt x="49" y="25"/>
                </a:lnTo>
                <a:lnTo>
                  <a:pt x="65" y="24"/>
                </a:lnTo>
                <a:lnTo>
                  <a:pt x="82" y="23"/>
                </a:lnTo>
                <a:lnTo>
                  <a:pt x="98" y="22"/>
                </a:lnTo>
                <a:lnTo>
                  <a:pt x="114" y="21"/>
                </a:lnTo>
                <a:lnTo>
                  <a:pt x="131" y="19"/>
                </a:lnTo>
                <a:lnTo>
                  <a:pt x="147" y="18"/>
                </a:lnTo>
                <a:lnTo>
                  <a:pt x="164" y="16"/>
                </a:lnTo>
                <a:lnTo>
                  <a:pt x="180" y="15"/>
                </a:lnTo>
                <a:lnTo>
                  <a:pt x="196" y="13"/>
                </a:lnTo>
                <a:lnTo>
                  <a:pt x="213" y="11"/>
                </a:lnTo>
                <a:lnTo>
                  <a:pt x="229" y="10"/>
                </a:lnTo>
                <a:lnTo>
                  <a:pt x="246" y="8"/>
                </a:lnTo>
                <a:lnTo>
                  <a:pt x="262" y="7"/>
                </a:lnTo>
                <a:lnTo>
                  <a:pt x="278" y="5"/>
                </a:lnTo>
                <a:lnTo>
                  <a:pt x="295" y="4"/>
                </a:lnTo>
                <a:lnTo>
                  <a:pt x="311" y="3"/>
                </a:lnTo>
                <a:lnTo>
                  <a:pt x="327" y="2"/>
                </a:lnTo>
                <a:lnTo>
                  <a:pt x="344" y="1"/>
                </a:lnTo>
                <a:lnTo>
                  <a:pt x="360" y="0"/>
                </a:lnTo>
                <a:lnTo>
                  <a:pt x="377" y="0"/>
                </a:lnTo>
                <a:lnTo>
                  <a:pt x="393" y="0"/>
                </a:lnTo>
                <a:lnTo>
                  <a:pt x="393" y="31"/>
                </a:lnTo>
                <a:lnTo>
                  <a:pt x="377" y="31"/>
                </a:lnTo>
                <a:lnTo>
                  <a:pt x="360" y="31"/>
                </a:lnTo>
                <a:lnTo>
                  <a:pt x="344" y="32"/>
                </a:lnTo>
                <a:lnTo>
                  <a:pt x="327" y="33"/>
                </a:lnTo>
                <a:lnTo>
                  <a:pt x="311" y="34"/>
                </a:lnTo>
                <a:lnTo>
                  <a:pt x="295" y="35"/>
                </a:lnTo>
                <a:lnTo>
                  <a:pt x="278" y="36"/>
                </a:lnTo>
                <a:lnTo>
                  <a:pt x="262" y="38"/>
                </a:lnTo>
                <a:lnTo>
                  <a:pt x="246" y="39"/>
                </a:lnTo>
                <a:lnTo>
                  <a:pt x="229" y="41"/>
                </a:lnTo>
                <a:lnTo>
                  <a:pt x="213" y="42"/>
                </a:lnTo>
                <a:lnTo>
                  <a:pt x="196" y="44"/>
                </a:lnTo>
                <a:lnTo>
                  <a:pt x="180" y="46"/>
                </a:lnTo>
                <a:lnTo>
                  <a:pt x="164" y="47"/>
                </a:lnTo>
                <a:lnTo>
                  <a:pt x="147" y="49"/>
                </a:lnTo>
                <a:lnTo>
                  <a:pt x="131" y="50"/>
                </a:lnTo>
                <a:lnTo>
                  <a:pt x="114" y="52"/>
                </a:lnTo>
                <a:lnTo>
                  <a:pt x="98" y="53"/>
                </a:lnTo>
                <a:lnTo>
                  <a:pt x="82" y="54"/>
                </a:lnTo>
                <a:lnTo>
                  <a:pt x="65" y="55"/>
                </a:lnTo>
                <a:lnTo>
                  <a:pt x="49" y="56"/>
                </a:lnTo>
                <a:lnTo>
                  <a:pt x="33" y="57"/>
                </a:lnTo>
                <a:lnTo>
                  <a:pt x="16" y="57"/>
                </a:lnTo>
                <a:lnTo>
                  <a:pt x="0" y="5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2657475"/>
            <a:ext cx="3743325" cy="2152650"/>
          </a:xfrm>
          <a:custGeom>
            <a:avLst/>
            <a:gdLst/>
            <a:ahLst/>
            <a:cxnLst/>
            <a:rect l="l" t="t" r="r" b="b"/>
            <a:pathLst>
              <a:path w="393" h="226">
                <a:moveTo>
                  <a:pt x="0" y="0"/>
                </a:moveTo>
                <a:lnTo>
                  <a:pt x="16" y="1"/>
                </a:lnTo>
                <a:lnTo>
                  <a:pt x="33" y="4"/>
                </a:lnTo>
                <a:lnTo>
                  <a:pt x="49" y="9"/>
                </a:lnTo>
                <a:lnTo>
                  <a:pt x="65" y="16"/>
                </a:lnTo>
                <a:lnTo>
                  <a:pt x="82" y="24"/>
                </a:lnTo>
                <a:lnTo>
                  <a:pt x="98" y="34"/>
                </a:lnTo>
                <a:lnTo>
                  <a:pt x="114" y="44"/>
                </a:lnTo>
                <a:lnTo>
                  <a:pt x="131" y="56"/>
                </a:lnTo>
                <a:lnTo>
                  <a:pt x="147" y="68"/>
                </a:lnTo>
                <a:lnTo>
                  <a:pt x="164" y="81"/>
                </a:lnTo>
                <a:lnTo>
                  <a:pt x="180" y="94"/>
                </a:lnTo>
                <a:lnTo>
                  <a:pt x="196" y="108"/>
                </a:lnTo>
                <a:lnTo>
                  <a:pt x="213" y="121"/>
                </a:lnTo>
                <a:lnTo>
                  <a:pt x="229" y="135"/>
                </a:lnTo>
                <a:lnTo>
                  <a:pt x="246" y="147"/>
                </a:lnTo>
                <a:lnTo>
                  <a:pt x="262" y="160"/>
                </a:lnTo>
                <a:lnTo>
                  <a:pt x="278" y="171"/>
                </a:lnTo>
                <a:lnTo>
                  <a:pt x="295" y="182"/>
                </a:lnTo>
                <a:lnTo>
                  <a:pt x="311" y="191"/>
                </a:lnTo>
                <a:lnTo>
                  <a:pt x="327" y="200"/>
                </a:lnTo>
                <a:lnTo>
                  <a:pt x="344" y="206"/>
                </a:lnTo>
                <a:lnTo>
                  <a:pt x="360" y="211"/>
                </a:lnTo>
                <a:lnTo>
                  <a:pt x="377" y="215"/>
                </a:lnTo>
                <a:lnTo>
                  <a:pt x="393" y="216"/>
                </a:lnTo>
                <a:lnTo>
                  <a:pt x="393" y="226"/>
                </a:lnTo>
                <a:lnTo>
                  <a:pt x="377" y="225"/>
                </a:lnTo>
                <a:lnTo>
                  <a:pt x="360" y="222"/>
                </a:lnTo>
                <a:lnTo>
                  <a:pt x="344" y="217"/>
                </a:lnTo>
                <a:lnTo>
                  <a:pt x="327" y="210"/>
                </a:lnTo>
                <a:lnTo>
                  <a:pt x="311" y="202"/>
                </a:lnTo>
                <a:lnTo>
                  <a:pt x="295" y="192"/>
                </a:lnTo>
                <a:lnTo>
                  <a:pt x="278" y="182"/>
                </a:lnTo>
                <a:lnTo>
                  <a:pt x="262" y="170"/>
                </a:lnTo>
                <a:lnTo>
                  <a:pt x="246" y="158"/>
                </a:lnTo>
                <a:lnTo>
                  <a:pt x="229" y="145"/>
                </a:lnTo>
                <a:lnTo>
                  <a:pt x="213" y="132"/>
                </a:lnTo>
                <a:lnTo>
                  <a:pt x="196" y="118"/>
                </a:lnTo>
                <a:lnTo>
                  <a:pt x="180" y="105"/>
                </a:lnTo>
                <a:lnTo>
                  <a:pt x="164" y="91"/>
                </a:lnTo>
                <a:lnTo>
                  <a:pt x="147" y="78"/>
                </a:lnTo>
                <a:lnTo>
                  <a:pt x="131" y="66"/>
                </a:lnTo>
                <a:lnTo>
                  <a:pt x="114" y="55"/>
                </a:lnTo>
                <a:lnTo>
                  <a:pt x="98" y="44"/>
                </a:lnTo>
                <a:lnTo>
                  <a:pt x="82" y="34"/>
                </a:lnTo>
                <a:lnTo>
                  <a:pt x="65" y="26"/>
                </a:lnTo>
                <a:lnTo>
                  <a:pt x="49" y="20"/>
                </a:lnTo>
                <a:lnTo>
                  <a:pt x="33" y="14"/>
                </a:lnTo>
                <a:lnTo>
                  <a:pt x="16" y="11"/>
                </a:lnTo>
                <a:lnTo>
                  <a:pt x="0" y="1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2752725"/>
            <a:ext cx="3743325" cy="3028950"/>
          </a:xfrm>
          <a:custGeom>
            <a:avLst/>
            <a:gdLst/>
            <a:ahLst/>
            <a:cxnLst/>
            <a:rect l="l" t="t" r="r" b="b"/>
            <a:pathLst>
              <a:path w="393" h="318">
                <a:moveTo>
                  <a:pt x="0" y="0"/>
                </a:moveTo>
                <a:lnTo>
                  <a:pt x="16" y="2"/>
                </a:lnTo>
                <a:lnTo>
                  <a:pt x="33" y="6"/>
                </a:lnTo>
                <a:lnTo>
                  <a:pt x="49" y="14"/>
                </a:lnTo>
                <a:lnTo>
                  <a:pt x="65" y="23"/>
                </a:lnTo>
                <a:lnTo>
                  <a:pt x="82" y="35"/>
                </a:lnTo>
                <a:lnTo>
                  <a:pt x="98" y="49"/>
                </a:lnTo>
                <a:lnTo>
                  <a:pt x="114" y="64"/>
                </a:lnTo>
                <a:lnTo>
                  <a:pt x="131" y="81"/>
                </a:lnTo>
                <a:lnTo>
                  <a:pt x="147" y="98"/>
                </a:lnTo>
                <a:lnTo>
                  <a:pt x="164" y="117"/>
                </a:lnTo>
                <a:lnTo>
                  <a:pt x="180" y="136"/>
                </a:lnTo>
                <a:lnTo>
                  <a:pt x="196" y="155"/>
                </a:lnTo>
                <a:lnTo>
                  <a:pt x="213" y="175"/>
                </a:lnTo>
                <a:lnTo>
                  <a:pt x="229" y="194"/>
                </a:lnTo>
                <a:lnTo>
                  <a:pt x="246" y="212"/>
                </a:lnTo>
                <a:lnTo>
                  <a:pt x="262" y="230"/>
                </a:lnTo>
                <a:lnTo>
                  <a:pt x="278" y="246"/>
                </a:lnTo>
                <a:lnTo>
                  <a:pt x="295" y="262"/>
                </a:lnTo>
                <a:lnTo>
                  <a:pt x="311" y="275"/>
                </a:lnTo>
                <a:lnTo>
                  <a:pt x="327" y="287"/>
                </a:lnTo>
                <a:lnTo>
                  <a:pt x="344" y="297"/>
                </a:lnTo>
                <a:lnTo>
                  <a:pt x="360" y="304"/>
                </a:lnTo>
                <a:lnTo>
                  <a:pt x="377" y="309"/>
                </a:lnTo>
                <a:lnTo>
                  <a:pt x="393" y="310"/>
                </a:lnTo>
                <a:lnTo>
                  <a:pt x="393" y="318"/>
                </a:lnTo>
                <a:lnTo>
                  <a:pt x="377" y="317"/>
                </a:lnTo>
                <a:lnTo>
                  <a:pt x="360" y="312"/>
                </a:lnTo>
                <a:lnTo>
                  <a:pt x="344" y="305"/>
                </a:lnTo>
                <a:lnTo>
                  <a:pt x="327" y="295"/>
                </a:lnTo>
                <a:lnTo>
                  <a:pt x="311" y="284"/>
                </a:lnTo>
                <a:lnTo>
                  <a:pt x="295" y="270"/>
                </a:lnTo>
                <a:lnTo>
                  <a:pt x="278" y="255"/>
                </a:lnTo>
                <a:lnTo>
                  <a:pt x="262" y="238"/>
                </a:lnTo>
                <a:lnTo>
                  <a:pt x="246" y="220"/>
                </a:lnTo>
                <a:lnTo>
                  <a:pt x="229" y="202"/>
                </a:lnTo>
                <a:lnTo>
                  <a:pt x="213" y="183"/>
                </a:lnTo>
                <a:lnTo>
                  <a:pt x="196" y="163"/>
                </a:lnTo>
                <a:lnTo>
                  <a:pt x="180" y="144"/>
                </a:lnTo>
                <a:lnTo>
                  <a:pt x="164" y="125"/>
                </a:lnTo>
                <a:lnTo>
                  <a:pt x="147" y="107"/>
                </a:lnTo>
                <a:lnTo>
                  <a:pt x="131" y="89"/>
                </a:lnTo>
                <a:lnTo>
                  <a:pt x="114" y="72"/>
                </a:lnTo>
                <a:lnTo>
                  <a:pt x="98" y="57"/>
                </a:lnTo>
                <a:lnTo>
                  <a:pt x="82" y="43"/>
                </a:lnTo>
                <a:lnTo>
                  <a:pt x="65" y="31"/>
                </a:lnTo>
                <a:lnTo>
                  <a:pt x="49" y="22"/>
                </a:lnTo>
                <a:lnTo>
                  <a:pt x="33" y="15"/>
                </a:lnTo>
                <a:lnTo>
                  <a:pt x="16" y="10"/>
                </a:lnTo>
                <a:lnTo>
                  <a:pt x="0" y="9"/>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409825"/>
            <a:ext cx="3743325" cy="771525"/>
          </a:xfrm>
          <a:custGeom>
            <a:avLst/>
            <a:gdLst/>
            <a:ahLst/>
            <a:cxnLst/>
            <a:rect l="l" t="t" r="r" b="b"/>
            <a:pathLst>
              <a:path w="393" h="81">
                <a:moveTo>
                  <a:pt x="0" y="51"/>
                </a:moveTo>
                <a:lnTo>
                  <a:pt x="16" y="50"/>
                </a:lnTo>
                <a:lnTo>
                  <a:pt x="33" y="50"/>
                </a:lnTo>
                <a:lnTo>
                  <a:pt x="49" y="48"/>
                </a:lnTo>
                <a:lnTo>
                  <a:pt x="65" y="47"/>
                </a:lnTo>
                <a:lnTo>
                  <a:pt x="82" y="45"/>
                </a:lnTo>
                <a:lnTo>
                  <a:pt x="98" y="43"/>
                </a:lnTo>
                <a:lnTo>
                  <a:pt x="114" y="40"/>
                </a:lnTo>
                <a:lnTo>
                  <a:pt x="131" y="37"/>
                </a:lnTo>
                <a:lnTo>
                  <a:pt x="147" y="34"/>
                </a:lnTo>
                <a:lnTo>
                  <a:pt x="164" y="31"/>
                </a:lnTo>
                <a:lnTo>
                  <a:pt x="180" y="28"/>
                </a:lnTo>
                <a:lnTo>
                  <a:pt x="196" y="25"/>
                </a:lnTo>
                <a:lnTo>
                  <a:pt x="213" y="22"/>
                </a:lnTo>
                <a:lnTo>
                  <a:pt x="229" y="19"/>
                </a:lnTo>
                <a:lnTo>
                  <a:pt x="246" y="16"/>
                </a:lnTo>
                <a:lnTo>
                  <a:pt x="262" y="13"/>
                </a:lnTo>
                <a:lnTo>
                  <a:pt x="278" y="10"/>
                </a:lnTo>
                <a:lnTo>
                  <a:pt x="295" y="8"/>
                </a:lnTo>
                <a:lnTo>
                  <a:pt x="311" y="6"/>
                </a:lnTo>
                <a:lnTo>
                  <a:pt x="327" y="4"/>
                </a:lnTo>
                <a:lnTo>
                  <a:pt x="344" y="2"/>
                </a:lnTo>
                <a:lnTo>
                  <a:pt x="360" y="1"/>
                </a:lnTo>
                <a:lnTo>
                  <a:pt x="377" y="0"/>
                </a:lnTo>
                <a:lnTo>
                  <a:pt x="393" y="0"/>
                </a:lnTo>
                <a:lnTo>
                  <a:pt x="393" y="31"/>
                </a:lnTo>
                <a:lnTo>
                  <a:pt x="377" y="31"/>
                </a:lnTo>
                <a:lnTo>
                  <a:pt x="360" y="32"/>
                </a:lnTo>
                <a:lnTo>
                  <a:pt x="344" y="33"/>
                </a:lnTo>
                <a:lnTo>
                  <a:pt x="327" y="35"/>
                </a:lnTo>
                <a:lnTo>
                  <a:pt x="311" y="37"/>
                </a:lnTo>
                <a:lnTo>
                  <a:pt x="295" y="39"/>
                </a:lnTo>
                <a:lnTo>
                  <a:pt x="278" y="41"/>
                </a:lnTo>
                <a:lnTo>
                  <a:pt x="262" y="44"/>
                </a:lnTo>
                <a:lnTo>
                  <a:pt x="246" y="47"/>
                </a:lnTo>
                <a:lnTo>
                  <a:pt x="229" y="50"/>
                </a:lnTo>
                <a:lnTo>
                  <a:pt x="213" y="53"/>
                </a:lnTo>
                <a:lnTo>
                  <a:pt x="196" y="56"/>
                </a:lnTo>
                <a:lnTo>
                  <a:pt x="180" y="59"/>
                </a:lnTo>
                <a:lnTo>
                  <a:pt x="164" y="62"/>
                </a:lnTo>
                <a:lnTo>
                  <a:pt x="147" y="65"/>
                </a:lnTo>
                <a:lnTo>
                  <a:pt x="131" y="68"/>
                </a:lnTo>
                <a:lnTo>
                  <a:pt x="114" y="71"/>
                </a:lnTo>
                <a:lnTo>
                  <a:pt x="98" y="74"/>
                </a:lnTo>
                <a:lnTo>
                  <a:pt x="82" y="76"/>
                </a:lnTo>
                <a:lnTo>
                  <a:pt x="65" y="78"/>
                </a:lnTo>
                <a:lnTo>
                  <a:pt x="49" y="79"/>
                </a:lnTo>
                <a:lnTo>
                  <a:pt x="33" y="80"/>
                </a:lnTo>
                <a:lnTo>
                  <a:pt x="16" y="81"/>
                </a:lnTo>
                <a:lnTo>
                  <a:pt x="0" y="81"/>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3181350"/>
            <a:ext cx="3743325" cy="1724025"/>
          </a:xfrm>
          <a:custGeom>
            <a:avLst/>
            <a:gdLst/>
            <a:ahLst/>
            <a:cxnLst/>
            <a:rect l="l" t="t" r="r" b="b"/>
            <a:pathLst>
              <a:path w="393" h="181">
                <a:moveTo>
                  <a:pt x="0" y="0"/>
                </a:moveTo>
                <a:lnTo>
                  <a:pt x="16" y="1"/>
                </a:lnTo>
                <a:lnTo>
                  <a:pt x="33" y="4"/>
                </a:lnTo>
                <a:lnTo>
                  <a:pt x="49" y="8"/>
                </a:lnTo>
                <a:lnTo>
                  <a:pt x="65" y="13"/>
                </a:lnTo>
                <a:lnTo>
                  <a:pt x="82" y="20"/>
                </a:lnTo>
                <a:lnTo>
                  <a:pt x="98" y="27"/>
                </a:lnTo>
                <a:lnTo>
                  <a:pt x="114" y="35"/>
                </a:lnTo>
                <a:lnTo>
                  <a:pt x="131" y="45"/>
                </a:lnTo>
                <a:lnTo>
                  <a:pt x="147" y="54"/>
                </a:lnTo>
                <a:lnTo>
                  <a:pt x="164" y="65"/>
                </a:lnTo>
                <a:lnTo>
                  <a:pt x="180" y="75"/>
                </a:lnTo>
                <a:lnTo>
                  <a:pt x="196" y="86"/>
                </a:lnTo>
                <a:lnTo>
                  <a:pt x="213" y="96"/>
                </a:lnTo>
                <a:lnTo>
                  <a:pt x="229" y="107"/>
                </a:lnTo>
                <a:lnTo>
                  <a:pt x="246" y="117"/>
                </a:lnTo>
                <a:lnTo>
                  <a:pt x="262" y="127"/>
                </a:lnTo>
                <a:lnTo>
                  <a:pt x="278" y="136"/>
                </a:lnTo>
                <a:lnTo>
                  <a:pt x="295" y="144"/>
                </a:lnTo>
                <a:lnTo>
                  <a:pt x="311" y="152"/>
                </a:lnTo>
                <a:lnTo>
                  <a:pt x="327" y="158"/>
                </a:lnTo>
                <a:lnTo>
                  <a:pt x="344" y="164"/>
                </a:lnTo>
                <a:lnTo>
                  <a:pt x="360" y="168"/>
                </a:lnTo>
                <a:lnTo>
                  <a:pt x="377" y="170"/>
                </a:lnTo>
                <a:lnTo>
                  <a:pt x="393" y="171"/>
                </a:lnTo>
                <a:lnTo>
                  <a:pt x="393" y="181"/>
                </a:lnTo>
                <a:lnTo>
                  <a:pt x="377" y="180"/>
                </a:lnTo>
                <a:lnTo>
                  <a:pt x="360" y="178"/>
                </a:lnTo>
                <a:lnTo>
                  <a:pt x="344" y="174"/>
                </a:lnTo>
                <a:lnTo>
                  <a:pt x="327" y="168"/>
                </a:lnTo>
                <a:lnTo>
                  <a:pt x="311" y="162"/>
                </a:lnTo>
                <a:lnTo>
                  <a:pt x="295" y="154"/>
                </a:lnTo>
                <a:lnTo>
                  <a:pt x="278" y="146"/>
                </a:lnTo>
                <a:lnTo>
                  <a:pt x="262" y="137"/>
                </a:lnTo>
                <a:lnTo>
                  <a:pt x="246" y="127"/>
                </a:lnTo>
                <a:lnTo>
                  <a:pt x="229" y="117"/>
                </a:lnTo>
                <a:lnTo>
                  <a:pt x="213" y="106"/>
                </a:lnTo>
                <a:lnTo>
                  <a:pt x="196" y="96"/>
                </a:lnTo>
                <a:lnTo>
                  <a:pt x="180" y="85"/>
                </a:lnTo>
                <a:lnTo>
                  <a:pt x="164" y="75"/>
                </a:lnTo>
                <a:lnTo>
                  <a:pt x="147" y="64"/>
                </a:lnTo>
                <a:lnTo>
                  <a:pt x="131" y="55"/>
                </a:lnTo>
                <a:lnTo>
                  <a:pt x="114" y="45"/>
                </a:lnTo>
                <a:lnTo>
                  <a:pt x="98" y="37"/>
                </a:lnTo>
                <a:lnTo>
                  <a:pt x="82" y="30"/>
                </a:lnTo>
                <a:lnTo>
                  <a:pt x="65" y="23"/>
                </a:lnTo>
                <a:lnTo>
                  <a:pt x="49" y="18"/>
                </a:lnTo>
                <a:lnTo>
                  <a:pt x="33" y="14"/>
                </a:lnTo>
                <a:lnTo>
                  <a:pt x="16" y="11"/>
                </a:lnTo>
                <a:lnTo>
                  <a:pt x="0" y="1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3276600"/>
            <a:ext cx="3743325" cy="2590800"/>
          </a:xfrm>
          <a:custGeom>
            <a:avLst/>
            <a:gdLst/>
            <a:ahLst/>
            <a:cxnLst/>
            <a:rect l="l" t="t" r="r" b="b"/>
            <a:pathLst>
              <a:path w="393" h="272">
                <a:moveTo>
                  <a:pt x="0" y="0"/>
                </a:moveTo>
                <a:lnTo>
                  <a:pt x="16" y="2"/>
                </a:lnTo>
                <a:lnTo>
                  <a:pt x="33" y="6"/>
                </a:lnTo>
                <a:lnTo>
                  <a:pt x="49" y="12"/>
                </a:lnTo>
                <a:lnTo>
                  <a:pt x="65" y="20"/>
                </a:lnTo>
                <a:lnTo>
                  <a:pt x="82" y="30"/>
                </a:lnTo>
                <a:lnTo>
                  <a:pt x="98" y="42"/>
                </a:lnTo>
                <a:lnTo>
                  <a:pt x="114" y="55"/>
                </a:lnTo>
                <a:lnTo>
                  <a:pt x="131" y="69"/>
                </a:lnTo>
                <a:lnTo>
                  <a:pt x="147" y="84"/>
                </a:lnTo>
                <a:lnTo>
                  <a:pt x="164" y="99"/>
                </a:lnTo>
                <a:lnTo>
                  <a:pt x="180" y="116"/>
                </a:lnTo>
                <a:lnTo>
                  <a:pt x="196" y="132"/>
                </a:lnTo>
                <a:lnTo>
                  <a:pt x="213" y="148"/>
                </a:lnTo>
                <a:lnTo>
                  <a:pt x="229" y="165"/>
                </a:lnTo>
                <a:lnTo>
                  <a:pt x="246" y="180"/>
                </a:lnTo>
                <a:lnTo>
                  <a:pt x="262" y="195"/>
                </a:lnTo>
                <a:lnTo>
                  <a:pt x="278" y="209"/>
                </a:lnTo>
                <a:lnTo>
                  <a:pt x="295" y="222"/>
                </a:lnTo>
                <a:lnTo>
                  <a:pt x="311" y="234"/>
                </a:lnTo>
                <a:lnTo>
                  <a:pt x="327" y="244"/>
                </a:lnTo>
                <a:lnTo>
                  <a:pt x="344" y="252"/>
                </a:lnTo>
                <a:lnTo>
                  <a:pt x="360" y="258"/>
                </a:lnTo>
                <a:lnTo>
                  <a:pt x="377" y="262"/>
                </a:lnTo>
                <a:lnTo>
                  <a:pt x="393" y="263"/>
                </a:lnTo>
                <a:lnTo>
                  <a:pt x="393" y="272"/>
                </a:lnTo>
                <a:lnTo>
                  <a:pt x="377" y="271"/>
                </a:lnTo>
                <a:lnTo>
                  <a:pt x="360" y="267"/>
                </a:lnTo>
                <a:lnTo>
                  <a:pt x="344" y="261"/>
                </a:lnTo>
                <a:lnTo>
                  <a:pt x="327" y="253"/>
                </a:lnTo>
                <a:lnTo>
                  <a:pt x="311" y="243"/>
                </a:lnTo>
                <a:lnTo>
                  <a:pt x="295" y="231"/>
                </a:lnTo>
                <a:lnTo>
                  <a:pt x="278" y="218"/>
                </a:lnTo>
                <a:lnTo>
                  <a:pt x="262" y="204"/>
                </a:lnTo>
                <a:lnTo>
                  <a:pt x="246" y="189"/>
                </a:lnTo>
                <a:lnTo>
                  <a:pt x="229" y="173"/>
                </a:lnTo>
                <a:lnTo>
                  <a:pt x="213" y="157"/>
                </a:lnTo>
                <a:lnTo>
                  <a:pt x="196" y="140"/>
                </a:lnTo>
                <a:lnTo>
                  <a:pt x="180" y="124"/>
                </a:lnTo>
                <a:lnTo>
                  <a:pt x="164" y="108"/>
                </a:lnTo>
                <a:lnTo>
                  <a:pt x="147" y="92"/>
                </a:lnTo>
                <a:lnTo>
                  <a:pt x="131" y="77"/>
                </a:lnTo>
                <a:lnTo>
                  <a:pt x="114" y="63"/>
                </a:lnTo>
                <a:lnTo>
                  <a:pt x="98" y="50"/>
                </a:lnTo>
                <a:lnTo>
                  <a:pt x="82" y="38"/>
                </a:lnTo>
                <a:lnTo>
                  <a:pt x="65" y="28"/>
                </a:lnTo>
                <a:lnTo>
                  <a:pt x="49" y="20"/>
                </a:lnTo>
                <a:lnTo>
                  <a:pt x="33" y="14"/>
                </a:lnTo>
                <a:lnTo>
                  <a:pt x="16" y="10"/>
                </a:lnTo>
                <a:lnTo>
                  <a:pt x="0" y="9"/>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2705100"/>
            <a:ext cx="3743325" cy="1000125"/>
          </a:xfrm>
          <a:custGeom>
            <a:avLst/>
            <a:gdLst/>
            <a:ahLst/>
            <a:cxnLst/>
            <a:rect l="l" t="t" r="r" b="b"/>
            <a:pathLst>
              <a:path w="393" h="105">
                <a:moveTo>
                  <a:pt x="0" y="75"/>
                </a:moveTo>
                <a:lnTo>
                  <a:pt x="16" y="75"/>
                </a:lnTo>
                <a:lnTo>
                  <a:pt x="33" y="74"/>
                </a:lnTo>
                <a:lnTo>
                  <a:pt x="49" y="72"/>
                </a:lnTo>
                <a:lnTo>
                  <a:pt x="65" y="69"/>
                </a:lnTo>
                <a:lnTo>
                  <a:pt x="82" y="67"/>
                </a:lnTo>
                <a:lnTo>
                  <a:pt x="98" y="63"/>
                </a:lnTo>
                <a:lnTo>
                  <a:pt x="114" y="60"/>
                </a:lnTo>
                <a:lnTo>
                  <a:pt x="131" y="56"/>
                </a:lnTo>
                <a:lnTo>
                  <a:pt x="147" y="51"/>
                </a:lnTo>
                <a:lnTo>
                  <a:pt x="164" y="47"/>
                </a:lnTo>
                <a:lnTo>
                  <a:pt x="180" y="42"/>
                </a:lnTo>
                <a:lnTo>
                  <a:pt x="196" y="37"/>
                </a:lnTo>
                <a:lnTo>
                  <a:pt x="213" y="33"/>
                </a:lnTo>
                <a:lnTo>
                  <a:pt x="229" y="28"/>
                </a:lnTo>
                <a:lnTo>
                  <a:pt x="246" y="24"/>
                </a:lnTo>
                <a:lnTo>
                  <a:pt x="262" y="19"/>
                </a:lnTo>
                <a:lnTo>
                  <a:pt x="278" y="15"/>
                </a:lnTo>
                <a:lnTo>
                  <a:pt x="295" y="12"/>
                </a:lnTo>
                <a:lnTo>
                  <a:pt x="311" y="8"/>
                </a:lnTo>
                <a:lnTo>
                  <a:pt x="327" y="5"/>
                </a:lnTo>
                <a:lnTo>
                  <a:pt x="344" y="3"/>
                </a:lnTo>
                <a:lnTo>
                  <a:pt x="360" y="1"/>
                </a:lnTo>
                <a:lnTo>
                  <a:pt x="377" y="0"/>
                </a:lnTo>
                <a:lnTo>
                  <a:pt x="393" y="0"/>
                </a:lnTo>
                <a:lnTo>
                  <a:pt x="393" y="30"/>
                </a:lnTo>
                <a:lnTo>
                  <a:pt x="377" y="31"/>
                </a:lnTo>
                <a:lnTo>
                  <a:pt x="360" y="32"/>
                </a:lnTo>
                <a:lnTo>
                  <a:pt x="344" y="33"/>
                </a:lnTo>
                <a:lnTo>
                  <a:pt x="327" y="36"/>
                </a:lnTo>
                <a:lnTo>
                  <a:pt x="311" y="39"/>
                </a:lnTo>
                <a:lnTo>
                  <a:pt x="295" y="42"/>
                </a:lnTo>
                <a:lnTo>
                  <a:pt x="278" y="46"/>
                </a:lnTo>
                <a:lnTo>
                  <a:pt x="262" y="50"/>
                </a:lnTo>
                <a:lnTo>
                  <a:pt x="246" y="54"/>
                </a:lnTo>
                <a:lnTo>
                  <a:pt x="229" y="58"/>
                </a:lnTo>
                <a:lnTo>
                  <a:pt x="213" y="63"/>
                </a:lnTo>
                <a:lnTo>
                  <a:pt x="196" y="68"/>
                </a:lnTo>
                <a:lnTo>
                  <a:pt x="180" y="72"/>
                </a:lnTo>
                <a:lnTo>
                  <a:pt x="164" y="77"/>
                </a:lnTo>
                <a:lnTo>
                  <a:pt x="147" y="81"/>
                </a:lnTo>
                <a:lnTo>
                  <a:pt x="131" y="86"/>
                </a:lnTo>
                <a:lnTo>
                  <a:pt x="114" y="90"/>
                </a:lnTo>
                <a:lnTo>
                  <a:pt x="98" y="94"/>
                </a:lnTo>
                <a:lnTo>
                  <a:pt x="82" y="97"/>
                </a:lnTo>
                <a:lnTo>
                  <a:pt x="65" y="100"/>
                </a:lnTo>
                <a:lnTo>
                  <a:pt x="49" y="102"/>
                </a:lnTo>
                <a:lnTo>
                  <a:pt x="33" y="104"/>
                </a:lnTo>
                <a:lnTo>
                  <a:pt x="16" y="105"/>
                </a:lnTo>
                <a:lnTo>
                  <a:pt x="0" y="10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3705225"/>
            <a:ext cx="3743325" cy="1304925"/>
          </a:xfrm>
          <a:custGeom>
            <a:avLst/>
            <a:gdLst/>
            <a:ahLst/>
            <a:cxnLst/>
            <a:rect l="l" t="t" r="r" b="b"/>
            <a:pathLst>
              <a:path w="393" h="137">
                <a:moveTo>
                  <a:pt x="0" y="0"/>
                </a:moveTo>
                <a:lnTo>
                  <a:pt x="16" y="1"/>
                </a:lnTo>
                <a:lnTo>
                  <a:pt x="33" y="3"/>
                </a:lnTo>
                <a:lnTo>
                  <a:pt x="49" y="6"/>
                </a:lnTo>
                <a:lnTo>
                  <a:pt x="65" y="10"/>
                </a:lnTo>
                <a:lnTo>
                  <a:pt x="82" y="14"/>
                </a:lnTo>
                <a:lnTo>
                  <a:pt x="98" y="20"/>
                </a:lnTo>
                <a:lnTo>
                  <a:pt x="114" y="26"/>
                </a:lnTo>
                <a:lnTo>
                  <a:pt x="131" y="33"/>
                </a:lnTo>
                <a:lnTo>
                  <a:pt x="147" y="40"/>
                </a:lnTo>
                <a:lnTo>
                  <a:pt x="164" y="48"/>
                </a:lnTo>
                <a:lnTo>
                  <a:pt x="180" y="55"/>
                </a:lnTo>
                <a:lnTo>
                  <a:pt x="196" y="63"/>
                </a:lnTo>
                <a:lnTo>
                  <a:pt x="213" y="71"/>
                </a:lnTo>
                <a:lnTo>
                  <a:pt x="229" y="79"/>
                </a:lnTo>
                <a:lnTo>
                  <a:pt x="246" y="86"/>
                </a:lnTo>
                <a:lnTo>
                  <a:pt x="262" y="93"/>
                </a:lnTo>
                <a:lnTo>
                  <a:pt x="278" y="100"/>
                </a:lnTo>
                <a:lnTo>
                  <a:pt x="295" y="106"/>
                </a:lnTo>
                <a:lnTo>
                  <a:pt x="311" y="112"/>
                </a:lnTo>
                <a:lnTo>
                  <a:pt x="327" y="117"/>
                </a:lnTo>
                <a:lnTo>
                  <a:pt x="344" y="120"/>
                </a:lnTo>
                <a:lnTo>
                  <a:pt x="360" y="123"/>
                </a:lnTo>
                <a:lnTo>
                  <a:pt x="377" y="125"/>
                </a:lnTo>
                <a:lnTo>
                  <a:pt x="393" y="126"/>
                </a:lnTo>
                <a:lnTo>
                  <a:pt x="393" y="137"/>
                </a:lnTo>
                <a:lnTo>
                  <a:pt x="377" y="136"/>
                </a:lnTo>
                <a:lnTo>
                  <a:pt x="360" y="134"/>
                </a:lnTo>
                <a:lnTo>
                  <a:pt x="344" y="131"/>
                </a:lnTo>
                <a:lnTo>
                  <a:pt x="327" y="127"/>
                </a:lnTo>
                <a:lnTo>
                  <a:pt x="311" y="123"/>
                </a:lnTo>
                <a:lnTo>
                  <a:pt x="295" y="117"/>
                </a:lnTo>
                <a:lnTo>
                  <a:pt x="278" y="111"/>
                </a:lnTo>
                <a:lnTo>
                  <a:pt x="262" y="104"/>
                </a:lnTo>
                <a:lnTo>
                  <a:pt x="246" y="97"/>
                </a:lnTo>
                <a:lnTo>
                  <a:pt x="229" y="89"/>
                </a:lnTo>
                <a:lnTo>
                  <a:pt x="213" y="82"/>
                </a:lnTo>
                <a:lnTo>
                  <a:pt x="196" y="74"/>
                </a:lnTo>
                <a:lnTo>
                  <a:pt x="180" y="66"/>
                </a:lnTo>
                <a:lnTo>
                  <a:pt x="164" y="58"/>
                </a:lnTo>
                <a:lnTo>
                  <a:pt x="147" y="51"/>
                </a:lnTo>
                <a:lnTo>
                  <a:pt x="131" y="44"/>
                </a:lnTo>
                <a:lnTo>
                  <a:pt x="114" y="37"/>
                </a:lnTo>
                <a:lnTo>
                  <a:pt x="98" y="31"/>
                </a:lnTo>
                <a:lnTo>
                  <a:pt x="82" y="25"/>
                </a:lnTo>
                <a:lnTo>
                  <a:pt x="65" y="20"/>
                </a:lnTo>
                <a:lnTo>
                  <a:pt x="49" y="17"/>
                </a:lnTo>
                <a:lnTo>
                  <a:pt x="33" y="14"/>
                </a:lnTo>
                <a:lnTo>
                  <a:pt x="16" y="12"/>
                </a:lnTo>
                <a:lnTo>
                  <a:pt x="0" y="11"/>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3810000"/>
            <a:ext cx="3743325" cy="2133600"/>
          </a:xfrm>
          <a:custGeom>
            <a:avLst/>
            <a:gdLst/>
            <a:ahLst/>
            <a:cxnLst/>
            <a:rect l="l" t="t" r="r" b="b"/>
            <a:pathLst>
              <a:path w="393" h="224">
                <a:moveTo>
                  <a:pt x="0" y="0"/>
                </a:moveTo>
                <a:lnTo>
                  <a:pt x="16" y="1"/>
                </a:lnTo>
                <a:lnTo>
                  <a:pt x="33" y="4"/>
                </a:lnTo>
                <a:lnTo>
                  <a:pt x="49" y="9"/>
                </a:lnTo>
                <a:lnTo>
                  <a:pt x="65" y="16"/>
                </a:lnTo>
                <a:lnTo>
                  <a:pt x="82" y="24"/>
                </a:lnTo>
                <a:lnTo>
                  <a:pt x="98" y="34"/>
                </a:lnTo>
                <a:lnTo>
                  <a:pt x="114" y="45"/>
                </a:lnTo>
                <a:lnTo>
                  <a:pt x="131" y="56"/>
                </a:lnTo>
                <a:lnTo>
                  <a:pt x="147" y="68"/>
                </a:lnTo>
                <a:lnTo>
                  <a:pt x="164" y="81"/>
                </a:lnTo>
                <a:lnTo>
                  <a:pt x="180" y="95"/>
                </a:lnTo>
                <a:lnTo>
                  <a:pt x="196" y="108"/>
                </a:lnTo>
                <a:lnTo>
                  <a:pt x="213" y="122"/>
                </a:lnTo>
                <a:lnTo>
                  <a:pt x="229" y="135"/>
                </a:lnTo>
                <a:lnTo>
                  <a:pt x="246" y="148"/>
                </a:lnTo>
                <a:lnTo>
                  <a:pt x="262" y="160"/>
                </a:lnTo>
                <a:lnTo>
                  <a:pt x="278" y="172"/>
                </a:lnTo>
                <a:lnTo>
                  <a:pt x="295" y="182"/>
                </a:lnTo>
                <a:lnTo>
                  <a:pt x="311" y="192"/>
                </a:lnTo>
                <a:lnTo>
                  <a:pt x="327" y="200"/>
                </a:lnTo>
                <a:lnTo>
                  <a:pt x="344" y="207"/>
                </a:lnTo>
                <a:lnTo>
                  <a:pt x="360" y="212"/>
                </a:lnTo>
                <a:lnTo>
                  <a:pt x="377" y="215"/>
                </a:lnTo>
                <a:lnTo>
                  <a:pt x="393" y="216"/>
                </a:lnTo>
                <a:lnTo>
                  <a:pt x="393" y="224"/>
                </a:lnTo>
                <a:lnTo>
                  <a:pt x="377" y="223"/>
                </a:lnTo>
                <a:lnTo>
                  <a:pt x="360" y="220"/>
                </a:lnTo>
                <a:lnTo>
                  <a:pt x="344" y="215"/>
                </a:lnTo>
                <a:lnTo>
                  <a:pt x="327" y="208"/>
                </a:lnTo>
                <a:lnTo>
                  <a:pt x="311" y="200"/>
                </a:lnTo>
                <a:lnTo>
                  <a:pt x="295" y="191"/>
                </a:lnTo>
                <a:lnTo>
                  <a:pt x="278" y="180"/>
                </a:lnTo>
                <a:lnTo>
                  <a:pt x="262" y="168"/>
                </a:lnTo>
                <a:lnTo>
                  <a:pt x="246" y="156"/>
                </a:lnTo>
                <a:lnTo>
                  <a:pt x="229" y="143"/>
                </a:lnTo>
                <a:lnTo>
                  <a:pt x="213" y="130"/>
                </a:lnTo>
                <a:lnTo>
                  <a:pt x="196" y="116"/>
                </a:lnTo>
                <a:lnTo>
                  <a:pt x="180" y="103"/>
                </a:lnTo>
                <a:lnTo>
                  <a:pt x="164" y="90"/>
                </a:lnTo>
                <a:lnTo>
                  <a:pt x="147" y="77"/>
                </a:lnTo>
                <a:lnTo>
                  <a:pt x="131" y="64"/>
                </a:lnTo>
                <a:lnTo>
                  <a:pt x="114" y="53"/>
                </a:lnTo>
                <a:lnTo>
                  <a:pt x="98" y="42"/>
                </a:lnTo>
                <a:lnTo>
                  <a:pt x="82" y="33"/>
                </a:lnTo>
                <a:lnTo>
                  <a:pt x="65" y="24"/>
                </a:lnTo>
                <a:lnTo>
                  <a:pt x="49" y="18"/>
                </a:lnTo>
                <a:lnTo>
                  <a:pt x="33" y="13"/>
                </a:lnTo>
                <a:lnTo>
                  <a:pt x="16" y="10"/>
                </a:lnTo>
                <a:lnTo>
                  <a:pt x="0" y="9"/>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2990850"/>
            <a:ext cx="3743325" cy="1266825"/>
          </a:xfrm>
          <a:custGeom>
            <a:avLst/>
            <a:gdLst/>
            <a:ahLst/>
            <a:cxnLst/>
            <a:rect l="l" t="t" r="r" b="b"/>
            <a:pathLst>
              <a:path w="393" h="133">
                <a:moveTo>
                  <a:pt x="0" y="101"/>
                </a:moveTo>
                <a:lnTo>
                  <a:pt x="16" y="100"/>
                </a:lnTo>
                <a:lnTo>
                  <a:pt x="33" y="99"/>
                </a:lnTo>
                <a:lnTo>
                  <a:pt x="49" y="96"/>
                </a:lnTo>
                <a:lnTo>
                  <a:pt x="65" y="93"/>
                </a:lnTo>
                <a:lnTo>
                  <a:pt x="82" y="89"/>
                </a:lnTo>
                <a:lnTo>
                  <a:pt x="98" y="85"/>
                </a:lnTo>
                <a:lnTo>
                  <a:pt x="114" y="80"/>
                </a:lnTo>
                <a:lnTo>
                  <a:pt x="131" y="74"/>
                </a:lnTo>
                <a:lnTo>
                  <a:pt x="147" y="69"/>
                </a:lnTo>
                <a:lnTo>
                  <a:pt x="164" y="63"/>
                </a:lnTo>
                <a:lnTo>
                  <a:pt x="180" y="57"/>
                </a:lnTo>
                <a:lnTo>
                  <a:pt x="196" y="50"/>
                </a:lnTo>
                <a:lnTo>
                  <a:pt x="213" y="44"/>
                </a:lnTo>
                <a:lnTo>
                  <a:pt x="229" y="38"/>
                </a:lnTo>
                <a:lnTo>
                  <a:pt x="246" y="32"/>
                </a:lnTo>
                <a:lnTo>
                  <a:pt x="262" y="26"/>
                </a:lnTo>
                <a:lnTo>
                  <a:pt x="278" y="21"/>
                </a:lnTo>
                <a:lnTo>
                  <a:pt x="295" y="16"/>
                </a:lnTo>
                <a:lnTo>
                  <a:pt x="311" y="11"/>
                </a:lnTo>
                <a:lnTo>
                  <a:pt x="327" y="8"/>
                </a:lnTo>
                <a:lnTo>
                  <a:pt x="344" y="4"/>
                </a:lnTo>
                <a:lnTo>
                  <a:pt x="360" y="2"/>
                </a:lnTo>
                <a:lnTo>
                  <a:pt x="377" y="1"/>
                </a:lnTo>
                <a:lnTo>
                  <a:pt x="393" y="0"/>
                </a:lnTo>
                <a:lnTo>
                  <a:pt x="393" y="32"/>
                </a:lnTo>
                <a:lnTo>
                  <a:pt x="377" y="33"/>
                </a:lnTo>
                <a:lnTo>
                  <a:pt x="360" y="34"/>
                </a:lnTo>
                <a:lnTo>
                  <a:pt x="344" y="37"/>
                </a:lnTo>
                <a:lnTo>
                  <a:pt x="327" y="40"/>
                </a:lnTo>
                <a:lnTo>
                  <a:pt x="311" y="44"/>
                </a:lnTo>
                <a:lnTo>
                  <a:pt x="295" y="48"/>
                </a:lnTo>
                <a:lnTo>
                  <a:pt x="278" y="53"/>
                </a:lnTo>
                <a:lnTo>
                  <a:pt x="262" y="58"/>
                </a:lnTo>
                <a:lnTo>
                  <a:pt x="246" y="64"/>
                </a:lnTo>
                <a:lnTo>
                  <a:pt x="229" y="70"/>
                </a:lnTo>
                <a:lnTo>
                  <a:pt x="213" y="76"/>
                </a:lnTo>
                <a:lnTo>
                  <a:pt x="196" y="82"/>
                </a:lnTo>
                <a:lnTo>
                  <a:pt x="180" y="89"/>
                </a:lnTo>
                <a:lnTo>
                  <a:pt x="164" y="95"/>
                </a:lnTo>
                <a:lnTo>
                  <a:pt x="147" y="101"/>
                </a:lnTo>
                <a:lnTo>
                  <a:pt x="131" y="107"/>
                </a:lnTo>
                <a:lnTo>
                  <a:pt x="114" y="112"/>
                </a:lnTo>
                <a:lnTo>
                  <a:pt x="98" y="117"/>
                </a:lnTo>
                <a:lnTo>
                  <a:pt x="82" y="121"/>
                </a:lnTo>
                <a:lnTo>
                  <a:pt x="65" y="125"/>
                </a:lnTo>
                <a:lnTo>
                  <a:pt x="49" y="128"/>
                </a:lnTo>
                <a:lnTo>
                  <a:pt x="33" y="131"/>
                </a:lnTo>
                <a:lnTo>
                  <a:pt x="16" y="132"/>
                </a:lnTo>
                <a:lnTo>
                  <a:pt x="0" y="133"/>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257675"/>
            <a:ext cx="3743325" cy="838200"/>
          </a:xfrm>
          <a:custGeom>
            <a:avLst/>
            <a:gdLst/>
            <a:ahLst/>
            <a:cxnLst/>
            <a:rect l="l" t="t" r="r" b="b"/>
            <a:pathLst>
              <a:path w="393" h="88">
                <a:moveTo>
                  <a:pt x="0" y="0"/>
                </a:moveTo>
                <a:lnTo>
                  <a:pt x="16" y="0"/>
                </a:lnTo>
                <a:lnTo>
                  <a:pt x="33" y="1"/>
                </a:lnTo>
                <a:lnTo>
                  <a:pt x="49" y="3"/>
                </a:lnTo>
                <a:lnTo>
                  <a:pt x="65" y="6"/>
                </a:lnTo>
                <a:lnTo>
                  <a:pt x="82" y="9"/>
                </a:lnTo>
                <a:lnTo>
                  <a:pt x="98" y="12"/>
                </a:lnTo>
                <a:lnTo>
                  <a:pt x="114" y="16"/>
                </a:lnTo>
                <a:lnTo>
                  <a:pt x="131" y="20"/>
                </a:lnTo>
                <a:lnTo>
                  <a:pt x="147" y="25"/>
                </a:lnTo>
                <a:lnTo>
                  <a:pt x="164" y="29"/>
                </a:lnTo>
                <a:lnTo>
                  <a:pt x="180" y="34"/>
                </a:lnTo>
                <a:lnTo>
                  <a:pt x="196" y="39"/>
                </a:lnTo>
                <a:lnTo>
                  <a:pt x="213" y="44"/>
                </a:lnTo>
                <a:lnTo>
                  <a:pt x="229" y="49"/>
                </a:lnTo>
                <a:lnTo>
                  <a:pt x="246" y="54"/>
                </a:lnTo>
                <a:lnTo>
                  <a:pt x="262" y="58"/>
                </a:lnTo>
                <a:lnTo>
                  <a:pt x="278" y="62"/>
                </a:lnTo>
                <a:lnTo>
                  <a:pt x="295" y="66"/>
                </a:lnTo>
                <a:lnTo>
                  <a:pt x="311" y="70"/>
                </a:lnTo>
                <a:lnTo>
                  <a:pt x="327" y="73"/>
                </a:lnTo>
                <a:lnTo>
                  <a:pt x="344" y="75"/>
                </a:lnTo>
                <a:lnTo>
                  <a:pt x="360" y="77"/>
                </a:lnTo>
                <a:lnTo>
                  <a:pt x="377" y="78"/>
                </a:lnTo>
                <a:lnTo>
                  <a:pt x="393" y="79"/>
                </a:lnTo>
                <a:lnTo>
                  <a:pt x="393" y="88"/>
                </a:lnTo>
                <a:lnTo>
                  <a:pt x="377" y="87"/>
                </a:lnTo>
                <a:lnTo>
                  <a:pt x="360" y="86"/>
                </a:lnTo>
                <a:lnTo>
                  <a:pt x="344" y="84"/>
                </a:lnTo>
                <a:lnTo>
                  <a:pt x="327" y="82"/>
                </a:lnTo>
                <a:lnTo>
                  <a:pt x="311" y="79"/>
                </a:lnTo>
                <a:lnTo>
                  <a:pt x="295" y="75"/>
                </a:lnTo>
                <a:lnTo>
                  <a:pt x="278" y="72"/>
                </a:lnTo>
                <a:lnTo>
                  <a:pt x="262" y="67"/>
                </a:lnTo>
                <a:lnTo>
                  <a:pt x="246" y="63"/>
                </a:lnTo>
                <a:lnTo>
                  <a:pt x="229" y="58"/>
                </a:lnTo>
                <a:lnTo>
                  <a:pt x="213" y="53"/>
                </a:lnTo>
                <a:lnTo>
                  <a:pt x="196" y="48"/>
                </a:lnTo>
                <a:lnTo>
                  <a:pt x="180" y="43"/>
                </a:lnTo>
                <a:lnTo>
                  <a:pt x="164" y="39"/>
                </a:lnTo>
                <a:lnTo>
                  <a:pt x="147" y="34"/>
                </a:lnTo>
                <a:lnTo>
                  <a:pt x="131" y="29"/>
                </a:lnTo>
                <a:lnTo>
                  <a:pt x="114" y="25"/>
                </a:lnTo>
                <a:lnTo>
                  <a:pt x="98" y="21"/>
                </a:lnTo>
                <a:lnTo>
                  <a:pt x="82" y="18"/>
                </a:lnTo>
                <a:lnTo>
                  <a:pt x="65" y="15"/>
                </a:lnTo>
                <a:lnTo>
                  <a:pt x="49" y="12"/>
                </a:lnTo>
                <a:lnTo>
                  <a:pt x="33" y="10"/>
                </a:lnTo>
                <a:lnTo>
                  <a:pt x="16" y="9"/>
                </a:lnTo>
                <a:lnTo>
                  <a:pt x="0" y="9"/>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4343400"/>
            <a:ext cx="3743325" cy="1685925"/>
          </a:xfrm>
          <a:custGeom>
            <a:avLst/>
            <a:gdLst/>
            <a:ahLst/>
            <a:cxnLst/>
            <a:rect l="l" t="t" r="r" b="b"/>
            <a:pathLst>
              <a:path w="393" h="177">
                <a:moveTo>
                  <a:pt x="0" y="0"/>
                </a:moveTo>
                <a:lnTo>
                  <a:pt x="16" y="1"/>
                </a:lnTo>
                <a:lnTo>
                  <a:pt x="33" y="3"/>
                </a:lnTo>
                <a:lnTo>
                  <a:pt x="49" y="7"/>
                </a:lnTo>
                <a:lnTo>
                  <a:pt x="65" y="12"/>
                </a:lnTo>
                <a:lnTo>
                  <a:pt x="82" y="19"/>
                </a:lnTo>
                <a:lnTo>
                  <a:pt x="98" y="26"/>
                </a:lnTo>
                <a:lnTo>
                  <a:pt x="114" y="34"/>
                </a:lnTo>
                <a:lnTo>
                  <a:pt x="131" y="43"/>
                </a:lnTo>
                <a:lnTo>
                  <a:pt x="147" y="53"/>
                </a:lnTo>
                <a:lnTo>
                  <a:pt x="164" y="63"/>
                </a:lnTo>
                <a:lnTo>
                  <a:pt x="180" y="74"/>
                </a:lnTo>
                <a:lnTo>
                  <a:pt x="196" y="84"/>
                </a:lnTo>
                <a:lnTo>
                  <a:pt x="213" y="95"/>
                </a:lnTo>
                <a:lnTo>
                  <a:pt x="229" y="105"/>
                </a:lnTo>
                <a:lnTo>
                  <a:pt x="246" y="115"/>
                </a:lnTo>
                <a:lnTo>
                  <a:pt x="262" y="125"/>
                </a:lnTo>
                <a:lnTo>
                  <a:pt x="278" y="134"/>
                </a:lnTo>
                <a:lnTo>
                  <a:pt x="295" y="142"/>
                </a:lnTo>
                <a:lnTo>
                  <a:pt x="311" y="149"/>
                </a:lnTo>
                <a:lnTo>
                  <a:pt x="327" y="156"/>
                </a:lnTo>
                <a:lnTo>
                  <a:pt x="344" y="161"/>
                </a:lnTo>
                <a:lnTo>
                  <a:pt x="360" y="165"/>
                </a:lnTo>
                <a:lnTo>
                  <a:pt x="377" y="168"/>
                </a:lnTo>
                <a:lnTo>
                  <a:pt x="393" y="168"/>
                </a:lnTo>
                <a:lnTo>
                  <a:pt x="393" y="177"/>
                </a:lnTo>
                <a:lnTo>
                  <a:pt x="377" y="176"/>
                </a:lnTo>
                <a:lnTo>
                  <a:pt x="360" y="173"/>
                </a:lnTo>
                <a:lnTo>
                  <a:pt x="344" y="169"/>
                </a:lnTo>
                <a:lnTo>
                  <a:pt x="327" y="164"/>
                </a:lnTo>
                <a:lnTo>
                  <a:pt x="311" y="158"/>
                </a:lnTo>
                <a:lnTo>
                  <a:pt x="295" y="150"/>
                </a:lnTo>
                <a:lnTo>
                  <a:pt x="278" y="142"/>
                </a:lnTo>
                <a:lnTo>
                  <a:pt x="262" y="133"/>
                </a:lnTo>
                <a:lnTo>
                  <a:pt x="246" y="123"/>
                </a:lnTo>
                <a:lnTo>
                  <a:pt x="229" y="113"/>
                </a:lnTo>
                <a:lnTo>
                  <a:pt x="213" y="103"/>
                </a:lnTo>
                <a:lnTo>
                  <a:pt x="196" y="92"/>
                </a:lnTo>
                <a:lnTo>
                  <a:pt x="180" y="82"/>
                </a:lnTo>
                <a:lnTo>
                  <a:pt x="164" y="71"/>
                </a:lnTo>
                <a:lnTo>
                  <a:pt x="147" y="61"/>
                </a:lnTo>
                <a:lnTo>
                  <a:pt x="131" y="52"/>
                </a:lnTo>
                <a:lnTo>
                  <a:pt x="114" y="43"/>
                </a:lnTo>
                <a:lnTo>
                  <a:pt x="98" y="34"/>
                </a:lnTo>
                <a:lnTo>
                  <a:pt x="82" y="27"/>
                </a:lnTo>
                <a:lnTo>
                  <a:pt x="65" y="20"/>
                </a:lnTo>
                <a:lnTo>
                  <a:pt x="49" y="15"/>
                </a:lnTo>
                <a:lnTo>
                  <a:pt x="33" y="11"/>
                </a:lnTo>
                <a:lnTo>
                  <a:pt x="16" y="9"/>
                </a:lnTo>
                <a:lnTo>
                  <a:pt x="0" y="8"/>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3295650"/>
            <a:ext cx="3743325" cy="1476375"/>
          </a:xfrm>
          <a:custGeom>
            <a:avLst/>
            <a:gdLst/>
            <a:ahLst/>
            <a:cxnLst/>
            <a:rect l="l" t="t" r="r" b="b"/>
            <a:pathLst>
              <a:path w="393" h="155">
                <a:moveTo>
                  <a:pt x="0" y="124"/>
                </a:moveTo>
                <a:lnTo>
                  <a:pt x="16" y="123"/>
                </a:lnTo>
                <a:lnTo>
                  <a:pt x="33" y="122"/>
                </a:lnTo>
                <a:lnTo>
                  <a:pt x="49" y="119"/>
                </a:lnTo>
                <a:lnTo>
                  <a:pt x="65" y="115"/>
                </a:lnTo>
                <a:lnTo>
                  <a:pt x="82" y="110"/>
                </a:lnTo>
                <a:lnTo>
                  <a:pt x="98" y="105"/>
                </a:lnTo>
                <a:lnTo>
                  <a:pt x="114" y="99"/>
                </a:lnTo>
                <a:lnTo>
                  <a:pt x="131" y="92"/>
                </a:lnTo>
                <a:lnTo>
                  <a:pt x="147" y="85"/>
                </a:lnTo>
                <a:lnTo>
                  <a:pt x="164" y="77"/>
                </a:lnTo>
                <a:lnTo>
                  <a:pt x="180" y="70"/>
                </a:lnTo>
                <a:lnTo>
                  <a:pt x="196" y="62"/>
                </a:lnTo>
                <a:lnTo>
                  <a:pt x="213" y="54"/>
                </a:lnTo>
                <a:lnTo>
                  <a:pt x="229" y="47"/>
                </a:lnTo>
                <a:lnTo>
                  <a:pt x="246" y="39"/>
                </a:lnTo>
                <a:lnTo>
                  <a:pt x="262" y="32"/>
                </a:lnTo>
                <a:lnTo>
                  <a:pt x="278" y="26"/>
                </a:lnTo>
                <a:lnTo>
                  <a:pt x="295" y="20"/>
                </a:lnTo>
                <a:lnTo>
                  <a:pt x="311" y="14"/>
                </a:lnTo>
                <a:lnTo>
                  <a:pt x="327" y="9"/>
                </a:lnTo>
                <a:lnTo>
                  <a:pt x="344" y="6"/>
                </a:lnTo>
                <a:lnTo>
                  <a:pt x="360" y="3"/>
                </a:lnTo>
                <a:lnTo>
                  <a:pt x="377" y="1"/>
                </a:lnTo>
                <a:lnTo>
                  <a:pt x="393" y="0"/>
                </a:lnTo>
                <a:lnTo>
                  <a:pt x="393" y="32"/>
                </a:lnTo>
                <a:lnTo>
                  <a:pt x="377" y="32"/>
                </a:lnTo>
                <a:lnTo>
                  <a:pt x="360" y="34"/>
                </a:lnTo>
                <a:lnTo>
                  <a:pt x="344" y="37"/>
                </a:lnTo>
                <a:lnTo>
                  <a:pt x="327" y="41"/>
                </a:lnTo>
                <a:lnTo>
                  <a:pt x="311" y="45"/>
                </a:lnTo>
                <a:lnTo>
                  <a:pt x="295" y="51"/>
                </a:lnTo>
                <a:lnTo>
                  <a:pt x="278" y="57"/>
                </a:lnTo>
                <a:lnTo>
                  <a:pt x="262" y="64"/>
                </a:lnTo>
                <a:lnTo>
                  <a:pt x="246" y="71"/>
                </a:lnTo>
                <a:lnTo>
                  <a:pt x="229" y="78"/>
                </a:lnTo>
                <a:lnTo>
                  <a:pt x="213" y="86"/>
                </a:lnTo>
                <a:lnTo>
                  <a:pt x="196" y="93"/>
                </a:lnTo>
                <a:lnTo>
                  <a:pt x="180" y="101"/>
                </a:lnTo>
                <a:lnTo>
                  <a:pt x="164" y="109"/>
                </a:lnTo>
                <a:lnTo>
                  <a:pt x="147" y="116"/>
                </a:lnTo>
                <a:lnTo>
                  <a:pt x="131" y="123"/>
                </a:lnTo>
                <a:lnTo>
                  <a:pt x="114" y="130"/>
                </a:lnTo>
                <a:lnTo>
                  <a:pt x="98" y="136"/>
                </a:lnTo>
                <a:lnTo>
                  <a:pt x="82" y="141"/>
                </a:lnTo>
                <a:lnTo>
                  <a:pt x="65" y="146"/>
                </a:lnTo>
                <a:lnTo>
                  <a:pt x="49" y="150"/>
                </a:lnTo>
                <a:lnTo>
                  <a:pt x="33" y="153"/>
                </a:lnTo>
                <a:lnTo>
                  <a:pt x="16" y="155"/>
                </a:lnTo>
                <a:lnTo>
                  <a:pt x="0" y="155"/>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4772025"/>
            <a:ext cx="3743325" cy="419100"/>
          </a:xfrm>
          <a:custGeom>
            <a:avLst/>
            <a:gdLst/>
            <a:ahLst/>
            <a:cxnLst/>
            <a:rect l="l" t="t" r="r" b="b"/>
            <a:pathLst>
              <a:path w="393" h="44">
                <a:moveTo>
                  <a:pt x="0" y="0"/>
                </a:moveTo>
                <a:lnTo>
                  <a:pt x="16" y="0"/>
                </a:lnTo>
                <a:lnTo>
                  <a:pt x="33" y="1"/>
                </a:lnTo>
                <a:lnTo>
                  <a:pt x="49" y="2"/>
                </a:lnTo>
                <a:lnTo>
                  <a:pt x="65" y="3"/>
                </a:lnTo>
                <a:lnTo>
                  <a:pt x="82" y="4"/>
                </a:lnTo>
                <a:lnTo>
                  <a:pt x="98" y="6"/>
                </a:lnTo>
                <a:lnTo>
                  <a:pt x="114" y="7"/>
                </a:lnTo>
                <a:lnTo>
                  <a:pt x="131" y="9"/>
                </a:lnTo>
                <a:lnTo>
                  <a:pt x="147" y="11"/>
                </a:lnTo>
                <a:lnTo>
                  <a:pt x="164" y="13"/>
                </a:lnTo>
                <a:lnTo>
                  <a:pt x="180" y="15"/>
                </a:lnTo>
                <a:lnTo>
                  <a:pt x="196" y="17"/>
                </a:lnTo>
                <a:lnTo>
                  <a:pt x="213" y="19"/>
                </a:lnTo>
                <a:lnTo>
                  <a:pt x="229" y="21"/>
                </a:lnTo>
                <a:lnTo>
                  <a:pt x="246" y="23"/>
                </a:lnTo>
                <a:lnTo>
                  <a:pt x="262" y="25"/>
                </a:lnTo>
                <a:lnTo>
                  <a:pt x="278" y="27"/>
                </a:lnTo>
                <a:lnTo>
                  <a:pt x="295" y="29"/>
                </a:lnTo>
                <a:lnTo>
                  <a:pt x="311" y="30"/>
                </a:lnTo>
                <a:lnTo>
                  <a:pt x="327" y="31"/>
                </a:lnTo>
                <a:lnTo>
                  <a:pt x="344" y="32"/>
                </a:lnTo>
                <a:lnTo>
                  <a:pt x="360" y="33"/>
                </a:lnTo>
                <a:lnTo>
                  <a:pt x="377" y="34"/>
                </a:lnTo>
                <a:lnTo>
                  <a:pt x="393" y="34"/>
                </a:lnTo>
                <a:lnTo>
                  <a:pt x="393" y="44"/>
                </a:lnTo>
                <a:lnTo>
                  <a:pt x="377" y="44"/>
                </a:lnTo>
                <a:lnTo>
                  <a:pt x="360" y="43"/>
                </a:lnTo>
                <a:lnTo>
                  <a:pt x="344" y="43"/>
                </a:lnTo>
                <a:lnTo>
                  <a:pt x="327" y="42"/>
                </a:lnTo>
                <a:lnTo>
                  <a:pt x="311" y="40"/>
                </a:lnTo>
                <a:lnTo>
                  <a:pt x="295" y="39"/>
                </a:lnTo>
                <a:lnTo>
                  <a:pt x="278" y="37"/>
                </a:lnTo>
                <a:lnTo>
                  <a:pt x="262" y="35"/>
                </a:lnTo>
                <a:lnTo>
                  <a:pt x="246" y="33"/>
                </a:lnTo>
                <a:lnTo>
                  <a:pt x="229" y="31"/>
                </a:lnTo>
                <a:lnTo>
                  <a:pt x="213" y="29"/>
                </a:lnTo>
                <a:lnTo>
                  <a:pt x="196" y="27"/>
                </a:lnTo>
                <a:lnTo>
                  <a:pt x="180" y="25"/>
                </a:lnTo>
                <a:lnTo>
                  <a:pt x="164" y="23"/>
                </a:lnTo>
                <a:lnTo>
                  <a:pt x="147" y="21"/>
                </a:lnTo>
                <a:lnTo>
                  <a:pt x="131" y="19"/>
                </a:lnTo>
                <a:lnTo>
                  <a:pt x="114" y="17"/>
                </a:lnTo>
                <a:lnTo>
                  <a:pt x="98" y="16"/>
                </a:lnTo>
                <a:lnTo>
                  <a:pt x="82" y="14"/>
                </a:lnTo>
                <a:lnTo>
                  <a:pt x="65" y="13"/>
                </a:lnTo>
                <a:lnTo>
                  <a:pt x="49" y="12"/>
                </a:lnTo>
                <a:lnTo>
                  <a:pt x="33" y="11"/>
                </a:lnTo>
                <a:lnTo>
                  <a:pt x="16" y="11"/>
                </a:lnTo>
                <a:lnTo>
                  <a:pt x="0" y="10"/>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4867275"/>
            <a:ext cx="3743325" cy="1238250"/>
          </a:xfrm>
          <a:custGeom>
            <a:avLst/>
            <a:gdLst/>
            <a:ahLst/>
            <a:cxnLst/>
            <a:rect l="l" t="t" r="r" b="b"/>
            <a:pathLst>
              <a:path w="393" h="130">
                <a:moveTo>
                  <a:pt x="0" y="0"/>
                </a:moveTo>
                <a:lnTo>
                  <a:pt x="16" y="1"/>
                </a:lnTo>
                <a:lnTo>
                  <a:pt x="33" y="3"/>
                </a:lnTo>
                <a:lnTo>
                  <a:pt x="49" y="6"/>
                </a:lnTo>
                <a:lnTo>
                  <a:pt x="65" y="9"/>
                </a:lnTo>
                <a:lnTo>
                  <a:pt x="82" y="14"/>
                </a:lnTo>
                <a:lnTo>
                  <a:pt x="98" y="19"/>
                </a:lnTo>
                <a:lnTo>
                  <a:pt x="114" y="25"/>
                </a:lnTo>
                <a:lnTo>
                  <a:pt x="131" y="32"/>
                </a:lnTo>
                <a:lnTo>
                  <a:pt x="147" y="39"/>
                </a:lnTo>
                <a:lnTo>
                  <a:pt x="164" y="46"/>
                </a:lnTo>
                <a:lnTo>
                  <a:pt x="180" y="53"/>
                </a:lnTo>
                <a:lnTo>
                  <a:pt x="196" y="61"/>
                </a:lnTo>
                <a:lnTo>
                  <a:pt x="213" y="69"/>
                </a:lnTo>
                <a:lnTo>
                  <a:pt x="229" y="76"/>
                </a:lnTo>
                <a:lnTo>
                  <a:pt x="246" y="83"/>
                </a:lnTo>
                <a:lnTo>
                  <a:pt x="262" y="90"/>
                </a:lnTo>
                <a:lnTo>
                  <a:pt x="278" y="97"/>
                </a:lnTo>
                <a:lnTo>
                  <a:pt x="295" y="103"/>
                </a:lnTo>
                <a:lnTo>
                  <a:pt x="311" y="108"/>
                </a:lnTo>
                <a:lnTo>
                  <a:pt x="327" y="113"/>
                </a:lnTo>
                <a:lnTo>
                  <a:pt x="344" y="116"/>
                </a:lnTo>
                <a:lnTo>
                  <a:pt x="360" y="119"/>
                </a:lnTo>
                <a:lnTo>
                  <a:pt x="377" y="121"/>
                </a:lnTo>
                <a:lnTo>
                  <a:pt x="393" y="122"/>
                </a:lnTo>
                <a:lnTo>
                  <a:pt x="393" y="130"/>
                </a:lnTo>
                <a:lnTo>
                  <a:pt x="377" y="129"/>
                </a:lnTo>
                <a:lnTo>
                  <a:pt x="360" y="127"/>
                </a:lnTo>
                <a:lnTo>
                  <a:pt x="344" y="124"/>
                </a:lnTo>
                <a:lnTo>
                  <a:pt x="327" y="121"/>
                </a:lnTo>
                <a:lnTo>
                  <a:pt x="311" y="116"/>
                </a:lnTo>
                <a:lnTo>
                  <a:pt x="295" y="111"/>
                </a:lnTo>
                <a:lnTo>
                  <a:pt x="278" y="105"/>
                </a:lnTo>
                <a:lnTo>
                  <a:pt x="262" y="98"/>
                </a:lnTo>
                <a:lnTo>
                  <a:pt x="246" y="91"/>
                </a:lnTo>
                <a:lnTo>
                  <a:pt x="229" y="84"/>
                </a:lnTo>
                <a:lnTo>
                  <a:pt x="213" y="77"/>
                </a:lnTo>
                <a:lnTo>
                  <a:pt x="196" y="69"/>
                </a:lnTo>
                <a:lnTo>
                  <a:pt x="180" y="62"/>
                </a:lnTo>
                <a:lnTo>
                  <a:pt x="164" y="54"/>
                </a:lnTo>
                <a:lnTo>
                  <a:pt x="147" y="47"/>
                </a:lnTo>
                <a:lnTo>
                  <a:pt x="131" y="40"/>
                </a:lnTo>
                <a:lnTo>
                  <a:pt x="114" y="33"/>
                </a:lnTo>
                <a:lnTo>
                  <a:pt x="98" y="27"/>
                </a:lnTo>
                <a:lnTo>
                  <a:pt x="82" y="22"/>
                </a:lnTo>
                <a:lnTo>
                  <a:pt x="65" y="17"/>
                </a:lnTo>
                <a:lnTo>
                  <a:pt x="49" y="14"/>
                </a:lnTo>
                <a:lnTo>
                  <a:pt x="33" y="11"/>
                </a:lnTo>
                <a:lnTo>
                  <a:pt x="16" y="9"/>
                </a:lnTo>
                <a:lnTo>
                  <a:pt x="0" y="9"/>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3600450"/>
            <a:ext cx="3743325" cy="1695450"/>
          </a:xfrm>
          <a:custGeom>
            <a:avLst/>
            <a:gdLst/>
            <a:ahLst/>
            <a:cxnLst/>
            <a:rect l="l" t="t" r="r" b="b"/>
            <a:pathLst>
              <a:path w="393" h="178">
                <a:moveTo>
                  <a:pt x="0" y="148"/>
                </a:moveTo>
                <a:lnTo>
                  <a:pt x="16" y="147"/>
                </a:lnTo>
                <a:lnTo>
                  <a:pt x="33" y="145"/>
                </a:lnTo>
                <a:lnTo>
                  <a:pt x="49" y="141"/>
                </a:lnTo>
                <a:lnTo>
                  <a:pt x="65" y="137"/>
                </a:lnTo>
                <a:lnTo>
                  <a:pt x="82" y="131"/>
                </a:lnTo>
                <a:lnTo>
                  <a:pt x="98" y="124"/>
                </a:lnTo>
                <a:lnTo>
                  <a:pt x="114" y="117"/>
                </a:lnTo>
                <a:lnTo>
                  <a:pt x="131" y="109"/>
                </a:lnTo>
                <a:lnTo>
                  <a:pt x="147" y="101"/>
                </a:lnTo>
                <a:lnTo>
                  <a:pt x="164" y="92"/>
                </a:lnTo>
                <a:lnTo>
                  <a:pt x="180" y="83"/>
                </a:lnTo>
                <a:lnTo>
                  <a:pt x="196" y="74"/>
                </a:lnTo>
                <a:lnTo>
                  <a:pt x="213" y="64"/>
                </a:lnTo>
                <a:lnTo>
                  <a:pt x="229" y="55"/>
                </a:lnTo>
                <a:lnTo>
                  <a:pt x="246" y="46"/>
                </a:lnTo>
                <a:lnTo>
                  <a:pt x="262" y="38"/>
                </a:lnTo>
                <a:lnTo>
                  <a:pt x="278" y="30"/>
                </a:lnTo>
                <a:lnTo>
                  <a:pt x="295" y="23"/>
                </a:lnTo>
                <a:lnTo>
                  <a:pt x="311" y="16"/>
                </a:lnTo>
                <a:lnTo>
                  <a:pt x="327" y="11"/>
                </a:lnTo>
                <a:lnTo>
                  <a:pt x="344" y="6"/>
                </a:lnTo>
                <a:lnTo>
                  <a:pt x="360" y="3"/>
                </a:lnTo>
                <a:lnTo>
                  <a:pt x="377" y="0"/>
                </a:lnTo>
                <a:lnTo>
                  <a:pt x="393" y="0"/>
                </a:lnTo>
                <a:lnTo>
                  <a:pt x="393" y="30"/>
                </a:lnTo>
                <a:lnTo>
                  <a:pt x="377" y="31"/>
                </a:lnTo>
                <a:lnTo>
                  <a:pt x="360" y="33"/>
                </a:lnTo>
                <a:lnTo>
                  <a:pt x="344" y="36"/>
                </a:lnTo>
                <a:lnTo>
                  <a:pt x="327" y="41"/>
                </a:lnTo>
                <a:lnTo>
                  <a:pt x="311" y="47"/>
                </a:lnTo>
                <a:lnTo>
                  <a:pt x="295" y="53"/>
                </a:lnTo>
                <a:lnTo>
                  <a:pt x="278" y="60"/>
                </a:lnTo>
                <a:lnTo>
                  <a:pt x="262" y="68"/>
                </a:lnTo>
                <a:lnTo>
                  <a:pt x="246" y="77"/>
                </a:lnTo>
                <a:lnTo>
                  <a:pt x="229" y="86"/>
                </a:lnTo>
                <a:lnTo>
                  <a:pt x="213" y="95"/>
                </a:lnTo>
                <a:lnTo>
                  <a:pt x="196" y="104"/>
                </a:lnTo>
                <a:lnTo>
                  <a:pt x="180" y="113"/>
                </a:lnTo>
                <a:lnTo>
                  <a:pt x="164" y="122"/>
                </a:lnTo>
                <a:lnTo>
                  <a:pt x="147" y="131"/>
                </a:lnTo>
                <a:lnTo>
                  <a:pt x="131" y="140"/>
                </a:lnTo>
                <a:lnTo>
                  <a:pt x="114" y="148"/>
                </a:lnTo>
                <a:lnTo>
                  <a:pt x="98" y="155"/>
                </a:lnTo>
                <a:lnTo>
                  <a:pt x="82" y="161"/>
                </a:lnTo>
                <a:lnTo>
                  <a:pt x="65" y="167"/>
                </a:lnTo>
                <a:lnTo>
                  <a:pt x="49" y="172"/>
                </a:lnTo>
                <a:lnTo>
                  <a:pt x="33" y="175"/>
                </a:lnTo>
                <a:lnTo>
                  <a:pt x="16" y="177"/>
                </a:lnTo>
                <a:lnTo>
                  <a:pt x="0" y="178"/>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5191125"/>
            <a:ext cx="3743325" cy="209550"/>
          </a:xfrm>
          <a:custGeom>
            <a:avLst/>
            <a:gdLst/>
            <a:ahLst/>
            <a:cxnLst/>
            <a:rect l="l" t="t" r="r" b="b"/>
            <a:pathLst>
              <a:path w="393" h="22">
                <a:moveTo>
                  <a:pt x="0" y="11"/>
                </a:moveTo>
                <a:lnTo>
                  <a:pt x="16" y="11"/>
                </a:lnTo>
                <a:lnTo>
                  <a:pt x="33" y="11"/>
                </a:lnTo>
                <a:lnTo>
                  <a:pt x="49" y="11"/>
                </a:lnTo>
                <a:lnTo>
                  <a:pt x="65" y="10"/>
                </a:lnTo>
                <a:lnTo>
                  <a:pt x="82" y="10"/>
                </a:lnTo>
                <a:lnTo>
                  <a:pt x="98" y="9"/>
                </a:lnTo>
                <a:lnTo>
                  <a:pt x="114" y="9"/>
                </a:lnTo>
                <a:lnTo>
                  <a:pt x="131" y="8"/>
                </a:lnTo>
                <a:lnTo>
                  <a:pt x="147" y="8"/>
                </a:lnTo>
                <a:lnTo>
                  <a:pt x="164" y="7"/>
                </a:lnTo>
                <a:lnTo>
                  <a:pt x="180" y="6"/>
                </a:lnTo>
                <a:lnTo>
                  <a:pt x="196" y="5"/>
                </a:lnTo>
                <a:lnTo>
                  <a:pt x="213" y="5"/>
                </a:lnTo>
                <a:lnTo>
                  <a:pt x="229" y="4"/>
                </a:lnTo>
                <a:lnTo>
                  <a:pt x="246" y="3"/>
                </a:lnTo>
                <a:lnTo>
                  <a:pt x="262" y="3"/>
                </a:lnTo>
                <a:lnTo>
                  <a:pt x="278" y="2"/>
                </a:lnTo>
                <a:lnTo>
                  <a:pt x="295" y="2"/>
                </a:lnTo>
                <a:lnTo>
                  <a:pt x="311" y="1"/>
                </a:lnTo>
                <a:lnTo>
                  <a:pt x="327" y="1"/>
                </a:lnTo>
                <a:lnTo>
                  <a:pt x="344" y="0"/>
                </a:lnTo>
                <a:lnTo>
                  <a:pt x="360" y="0"/>
                </a:lnTo>
                <a:lnTo>
                  <a:pt x="377" y="0"/>
                </a:lnTo>
                <a:lnTo>
                  <a:pt x="393" y="0"/>
                </a:lnTo>
                <a:lnTo>
                  <a:pt x="393" y="11"/>
                </a:lnTo>
                <a:lnTo>
                  <a:pt x="377" y="11"/>
                </a:lnTo>
                <a:lnTo>
                  <a:pt x="360" y="11"/>
                </a:lnTo>
                <a:lnTo>
                  <a:pt x="344" y="11"/>
                </a:lnTo>
                <a:lnTo>
                  <a:pt x="327" y="11"/>
                </a:lnTo>
                <a:lnTo>
                  <a:pt x="311" y="12"/>
                </a:lnTo>
                <a:lnTo>
                  <a:pt x="295" y="12"/>
                </a:lnTo>
                <a:lnTo>
                  <a:pt x="278" y="13"/>
                </a:lnTo>
                <a:lnTo>
                  <a:pt x="262" y="13"/>
                </a:lnTo>
                <a:lnTo>
                  <a:pt x="246" y="14"/>
                </a:lnTo>
                <a:lnTo>
                  <a:pt x="229" y="15"/>
                </a:lnTo>
                <a:lnTo>
                  <a:pt x="213" y="15"/>
                </a:lnTo>
                <a:lnTo>
                  <a:pt x="196" y="16"/>
                </a:lnTo>
                <a:lnTo>
                  <a:pt x="180" y="17"/>
                </a:lnTo>
                <a:lnTo>
                  <a:pt x="164" y="17"/>
                </a:lnTo>
                <a:lnTo>
                  <a:pt x="147" y="18"/>
                </a:lnTo>
                <a:lnTo>
                  <a:pt x="131" y="19"/>
                </a:lnTo>
                <a:lnTo>
                  <a:pt x="114" y="19"/>
                </a:lnTo>
                <a:lnTo>
                  <a:pt x="98" y="20"/>
                </a:lnTo>
                <a:lnTo>
                  <a:pt x="82" y="20"/>
                </a:lnTo>
                <a:lnTo>
                  <a:pt x="65" y="21"/>
                </a:lnTo>
                <a:lnTo>
                  <a:pt x="49" y="21"/>
                </a:lnTo>
                <a:lnTo>
                  <a:pt x="33" y="21"/>
                </a:lnTo>
                <a:lnTo>
                  <a:pt x="16" y="22"/>
                </a:lnTo>
                <a:lnTo>
                  <a:pt x="0" y="22"/>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5400675"/>
            <a:ext cx="3743325" cy="781050"/>
          </a:xfrm>
          <a:custGeom>
            <a:avLst/>
            <a:gdLst/>
            <a:ahLst/>
            <a:cxnLst/>
            <a:rect l="l" t="t" r="r" b="b"/>
            <a:pathLst>
              <a:path w="393" h="82">
                <a:moveTo>
                  <a:pt x="0" y="0"/>
                </a:moveTo>
                <a:lnTo>
                  <a:pt x="16" y="0"/>
                </a:lnTo>
                <a:lnTo>
                  <a:pt x="33" y="1"/>
                </a:lnTo>
                <a:lnTo>
                  <a:pt x="49" y="3"/>
                </a:lnTo>
                <a:lnTo>
                  <a:pt x="65" y="5"/>
                </a:lnTo>
                <a:lnTo>
                  <a:pt x="82" y="8"/>
                </a:lnTo>
                <a:lnTo>
                  <a:pt x="98" y="11"/>
                </a:lnTo>
                <a:lnTo>
                  <a:pt x="114" y="15"/>
                </a:lnTo>
                <a:lnTo>
                  <a:pt x="131" y="19"/>
                </a:lnTo>
                <a:lnTo>
                  <a:pt x="147" y="23"/>
                </a:lnTo>
                <a:lnTo>
                  <a:pt x="164" y="27"/>
                </a:lnTo>
                <a:lnTo>
                  <a:pt x="180" y="32"/>
                </a:lnTo>
                <a:lnTo>
                  <a:pt x="196" y="37"/>
                </a:lnTo>
                <a:lnTo>
                  <a:pt x="213" y="41"/>
                </a:lnTo>
                <a:lnTo>
                  <a:pt x="229" y="46"/>
                </a:lnTo>
                <a:lnTo>
                  <a:pt x="246" y="50"/>
                </a:lnTo>
                <a:lnTo>
                  <a:pt x="262" y="54"/>
                </a:lnTo>
                <a:lnTo>
                  <a:pt x="278" y="58"/>
                </a:lnTo>
                <a:lnTo>
                  <a:pt x="295" y="62"/>
                </a:lnTo>
                <a:lnTo>
                  <a:pt x="311" y="65"/>
                </a:lnTo>
                <a:lnTo>
                  <a:pt x="327" y="68"/>
                </a:lnTo>
                <a:lnTo>
                  <a:pt x="344" y="70"/>
                </a:lnTo>
                <a:lnTo>
                  <a:pt x="360" y="72"/>
                </a:lnTo>
                <a:lnTo>
                  <a:pt x="377" y="73"/>
                </a:lnTo>
                <a:lnTo>
                  <a:pt x="393" y="74"/>
                </a:lnTo>
                <a:lnTo>
                  <a:pt x="393" y="82"/>
                </a:lnTo>
                <a:lnTo>
                  <a:pt x="377" y="82"/>
                </a:lnTo>
                <a:lnTo>
                  <a:pt x="360" y="81"/>
                </a:lnTo>
                <a:lnTo>
                  <a:pt x="344" y="79"/>
                </a:lnTo>
                <a:lnTo>
                  <a:pt x="327" y="77"/>
                </a:lnTo>
                <a:lnTo>
                  <a:pt x="311" y="74"/>
                </a:lnTo>
                <a:lnTo>
                  <a:pt x="295" y="70"/>
                </a:lnTo>
                <a:lnTo>
                  <a:pt x="278" y="67"/>
                </a:lnTo>
                <a:lnTo>
                  <a:pt x="262" y="63"/>
                </a:lnTo>
                <a:lnTo>
                  <a:pt x="246" y="59"/>
                </a:lnTo>
                <a:lnTo>
                  <a:pt x="229" y="54"/>
                </a:lnTo>
                <a:lnTo>
                  <a:pt x="213" y="50"/>
                </a:lnTo>
                <a:lnTo>
                  <a:pt x="196" y="45"/>
                </a:lnTo>
                <a:lnTo>
                  <a:pt x="180" y="40"/>
                </a:lnTo>
                <a:lnTo>
                  <a:pt x="164" y="36"/>
                </a:lnTo>
                <a:lnTo>
                  <a:pt x="147" y="31"/>
                </a:lnTo>
                <a:lnTo>
                  <a:pt x="131" y="27"/>
                </a:lnTo>
                <a:lnTo>
                  <a:pt x="114" y="23"/>
                </a:lnTo>
                <a:lnTo>
                  <a:pt x="98" y="20"/>
                </a:lnTo>
                <a:lnTo>
                  <a:pt x="82" y="16"/>
                </a:lnTo>
                <a:lnTo>
                  <a:pt x="65" y="13"/>
                </a:lnTo>
                <a:lnTo>
                  <a:pt x="49" y="11"/>
                </a:lnTo>
                <a:lnTo>
                  <a:pt x="33" y="9"/>
                </a:lnTo>
                <a:lnTo>
                  <a:pt x="16" y="8"/>
                </a:lnTo>
                <a:lnTo>
                  <a:pt x="0" y="8"/>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3886200"/>
            <a:ext cx="3743325" cy="1952625"/>
          </a:xfrm>
          <a:custGeom>
            <a:avLst/>
            <a:gdLst/>
            <a:ahLst/>
            <a:cxnLst/>
            <a:rect l="l" t="t" r="r" b="b"/>
            <a:pathLst>
              <a:path w="393" h="205">
                <a:moveTo>
                  <a:pt x="0" y="173"/>
                </a:moveTo>
                <a:lnTo>
                  <a:pt x="16" y="172"/>
                </a:lnTo>
                <a:lnTo>
                  <a:pt x="33" y="170"/>
                </a:lnTo>
                <a:lnTo>
                  <a:pt x="49" y="166"/>
                </a:lnTo>
                <a:lnTo>
                  <a:pt x="65" y="160"/>
                </a:lnTo>
                <a:lnTo>
                  <a:pt x="82" y="154"/>
                </a:lnTo>
                <a:lnTo>
                  <a:pt x="98" y="146"/>
                </a:lnTo>
                <a:lnTo>
                  <a:pt x="114" y="137"/>
                </a:lnTo>
                <a:lnTo>
                  <a:pt x="131" y="128"/>
                </a:lnTo>
                <a:lnTo>
                  <a:pt x="147" y="118"/>
                </a:lnTo>
                <a:lnTo>
                  <a:pt x="164" y="108"/>
                </a:lnTo>
                <a:lnTo>
                  <a:pt x="180" y="97"/>
                </a:lnTo>
                <a:lnTo>
                  <a:pt x="196" y="87"/>
                </a:lnTo>
                <a:lnTo>
                  <a:pt x="213" y="76"/>
                </a:lnTo>
                <a:lnTo>
                  <a:pt x="229" y="65"/>
                </a:lnTo>
                <a:lnTo>
                  <a:pt x="246" y="55"/>
                </a:lnTo>
                <a:lnTo>
                  <a:pt x="262" y="45"/>
                </a:lnTo>
                <a:lnTo>
                  <a:pt x="278" y="36"/>
                </a:lnTo>
                <a:lnTo>
                  <a:pt x="295" y="27"/>
                </a:lnTo>
                <a:lnTo>
                  <a:pt x="311" y="19"/>
                </a:lnTo>
                <a:lnTo>
                  <a:pt x="327" y="13"/>
                </a:lnTo>
                <a:lnTo>
                  <a:pt x="344" y="8"/>
                </a:lnTo>
                <a:lnTo>
                  <a:pt x="360" y="3"/>
                </a:lnTo>
                <a:lnTo>
                  <a:pt x="377" y="1"/>
                </a:lnTo>
                <a:lnTo>
                  <a:pt x="393" y="0"/>
                </a:lnTo>
                <a:lnTo>
                  <a:pt x="393" y="32"/>
                </a:lnTo>
                <a:lnTo>
                  <a:pt x="377" y="33"/>
                </a:lnTo>
                <a:lnTo>
                  <a:pt x="360" y="35"/>
                </a:lnTo>
                <a:lnTo>
                  <a:pt x="344" y="39"/>
                </a:lnTo>
                <a:lnTo>
                  <a:pt x="327" y="45"/>
                </a:lnTo>
                <a:lnTo>
                  <a:pt x="311" y="51"/>
                </a:lnTo>
                <a:lnTo>
                  <a:pt x="295" y="59"/>
                </a:lnTo>
                <a:lnTo>
                  <a:pt x="278" y="67"/>
                </a:lnTo>
                <a:lnTo>
                  <a:pt x="262" y="77"/>
                </a:lnTo>
                <a:lnTo>
                  <a:pt x="246" y="87"/>
                </a:lnTo>
                <a:lnTo>
                  <a:pt x="229" y="97"/>
                </a:lnTo>
                <a:lnTo>
                  <a:pt x="213" y="108"/>
                </a:lnTo>
                <a:lnTo>
                  <a:pt x="196" y="118"/>
                </a:lnTo>
                <a:lnTo>
                  <a:pt x="180" y="129"/>
                </a:lnTo>
                <a:lnTo>
                  <a:pt x="164" y="140"/>
                </a:lnTo>
                <a:lnTo>
                  <a:pt x="147" y="150"/>
                </a:lnTo>
                <a:lnTo>
                  <a:pt x="131" y="160"/>
                </a:lnTo>
                <a:lnTo>
                  <a:pt x="114" y="169"/>
                </a:lnTo>
                <a:lnTo>
                  <a:pt x="98" y="178"/>
                </a:lnTo>
                <a:lnTo>
                  <a:pt x="82" y="185"/>
                </a:lnTo>
                <a:lnTo>
                  <a:pt x="65" y="192"/>
                </a:lnTo>
                <a:lnTo>
                  <a:pt x="49" y="197"/>
                </a:lnTo>
                <a:lnTo>
                  <a:pt x="33" y="201"/>
                </a:lnTo>
                <a:lnTo>
                  <a:pt x="16" y="204"/>
                </a:lnTo>
                <a:lnTo>
                  <a:pt x="0" y="205"/>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5295900"/>
            <a:ext cx="3743325" cy="638175"/>
          </a:xfrm>
          <a:custGeom>
            <a:avLst/>
            <a:gdLst/>
            <a:ahLst/>
            <a:cxnLst/>
            <a:rect l="l" t="t" r="r" b="b"/>
            <a:pathLst>
              <a:path w="393" h="67">
                <a:moveTo>
                  <a:pt x="0" y="57"/>
                </a:moveTo>
                <a:lnTo>
                  <a:pt x="16" y="56"/>
                </a:lnTo>
                <a:lnTo>
                  <a:pt x="33" y="56"/>
                </a:lnTo>
                <a:lnTo>
                  <a:pt x="49" y="54"/>
                </a:lnTo>
                <a:lnTo>
                  <a:pt x="65" y="53"/>
                </a:lnTo>
                <a:lnTo>
                  <a:pt x="82" y="50"/>
                </a:lnTo>
                <a:lnTo>
                  <a:pt x="98" y="48"/>
                </a:lnTo>
                <a:lnTo>
                  <a:pt x="114" y="45"/>
                </a:lnTo>
                <a:lnTo>
                  <a:pt x="131" y="42"/>
                </a:lnTo>
                <a:lnTo>
                  <a:pt x="147" y="39"/>
                </a:lnTo>
                <a:lnTo>
                  <a:pt x="164" y="35"/>
                </a:lnTo>
                <a:lnTo>
                  <a:pt x="180" y="32"/>
                </a:lnTo>
                <a:lnTo>
                  <a:pt x="196" y="28"/>
                </a:lnTo>
                <a:lnTo>
                  <a:pt x="213" y="25"/>
                </a:lnTo>
                <a:lnTo>
                  <a:pt x="229" y="21"/>
                </a:lnTo>
                <a:lnTo>
                  <a:pt x="246" y="18"/>
                </a:lnTo>
                <a:lnTo>
                  <a:pt x="262" y="14"/>
                </a:lnTo>
                <a:lnTo>
                  <a:pt x="278" y="11"/>
                </a:lnTo>
                <a:lnTo>
                  <a:pt x="295" y="9"/>
                </a:lnTo>
                <a:lnTo>
                  <a:pt x="311" y="6"/>
                </a:lnTo>
                <a:lnTo>
                  <a:pt x="327" y="4"/>
                </a:lnTo>
                <a:lnTo>
                  <a:pt x="344" y="2"/>
                </a:lnTo>
                <a:lnTo>
                  <a:pt x="360" y="1"/>
                </a:lnTo>
                <a:lnTo>
                  <a:pt x="377" y="0"/>
                </a:lnTo>
                <a:lnTo>
                  <a:pt x="393" y="0"/>
                </a:lnTo>
                <a:lnTo>
                  <a:pt x="393" y="10"/>
                </a:lnTo>
                <a:lnTo>
                  <a:pt x="377" y="10"/>
                </a:lnTo>
                <a:lnTo>
                  <a:pt x="360" y="11"/>
                </a:lnTo>
                <a:lnTo>
                  <a:pt x="344" y="12"/>
                </a:lnTo>
                <a:lnTo>
                  <a:pt x="327" y="14"/>
                </a:lnTo>
                <a:lnTo>
                  <a:pt x="311" y="16"/>
                </a:lnTo>
                <a:lnTo>
                  <a:pt x="295" y="19"/>
                </a:lnTo>
                <a:lnTo>
                  <a:pt x="278" y="22"/>
                </a:lnTo>
                <a:lnTo>
                  <a:pt x="262" y="25"/>
                </a:lnTo>
                <a:lnTo>
                  <a:pt x="246" y="28"/>
                </a:lnTo>
                <a:lnTo>
                  <a:pt x="229" y="32"/>
                </a:lnTo>
                <a:lnTo>
                  <a:pt x="213" y="35"/>
                </a:lnTo>
                <a:lnTo>
                  <a:pt x="196" y="39"/>
                </a:lnTo>
                <a:lnTo>
                  <a:pt x="180" y="42"/>
                </a:lnTo>
                <a:lnTo>
                  <a:pt x="164" y="46"/>
                </a:lnTo>
                <a:lnTo>
                  <a:pt x="147" y="49"/>
                </a:lnTo>
                <a:lnTo>
                  <a:pt x="131" y="52"/>
                </a:lnTo>
                <a:lnTo>
                  <a:pt x="114" y="55"/>
                </a:lnTo>
                <a:lnTo>
                  <a:pt x="98" y="58"/>
                </a:lnTo>
                <a:lnTo>
                  <a:pt x="82" y="61"/>
                </a:lnTo>
                <a:lnTo>
                  <a:pt x="65" y="63"/>
                </a:lnTo>
                <a:lnTo>
                  <a:pt x="49" y="65"/>
                </a:lnTo>
                <a:lnTo>
                  <a:pt x="33" y="66"/>
                </a:lnTo>
                <a:lnTo>
                  <a:pt x="16" y="67"/>
                </a:lnTo>
                <a:lnTo>
                  <a:pt x="0" y="67"/>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5934075"/>
            <a:ext cx="3743325" cy="314325"/>
          </a:xfrm>
          <a:custGeom>
            <a:avLst/>
            <a:gdLst/>
            <a:ahLst/>
            <a:cxnLst/>
            <a:rect l="l" t="t" r="r" b="b"/>
            <a:pathLst>
              <a:path w="393" h="33">
                <a:moveTo>
                  <a:pt x="0" y="0"/>
                </a:moveTo>
                <a:lnTo>
                  <a:pt x="16" y="0"/>
                </a:lnTo>
                <a:lnTo>
                  <a:pt x="33" y="1"/>
                </a:lnTo>
                <a:lnTo>
                  <a:pt x="49" y="1"/>
                </a:lnTo>
                <a:lnTo>
                  <a:pt x="65" y="2"/>
                </a:lnTo>
                <a:lnTo>
                  <a:pt x="82" y="3"/>
                </a:lnTo>
                <a:lnTo>
                  <a:pt x="98" y="4"/>
                </a:lnTo>
                <a:lnTo>
                  <a:pt x="114" y="5"/>
                </a:lnTo>
                <a:lnTo>
                  <a:pt x="131" y="7"/>
                </a:lnTo>
                <a:lnTo>
                  <a:pt x="147" y="8"/>
                </a:lnTo>
                <a:lnTo>
                  <a:pt x="164" y="10"/>
                </a:lnTo>
                <a:lnTo>
                  <a:pt x="180" y="11"/>
                </a:lnTo>
                <a:lnTo>
                  <a:pt x="196" y="13"/>
                </a:lnTo>
                <a:lnTo>
                  <a:pt x="213" y="15"/>
                </a:lnTo>
                <a:lnTo>
                  <a:pt x="229" y="16"/>
                </a:lnTo>
                <a:lnTo>
                  <a:pt x="246" y="18"/>
                </a:lnTo>
                <a:lnTo>
                  <a:pt x="262" y="19"/>
                </a:lnTo>
                <a:lnTo>
                  <a:pt x="278" y="21"/>
                </a:lnTo>
                <a:lnTo>
                  <a:pt x="295" y="22"/>
                </a:lnTo>
                <a:lnTo>
                  <a:pt x="311" y="23"/>
                </a:lnTo>
                <a:lnTo>
                  <a:pt x="327" y="24"/>
                </a:lnTo>
                <a:lnTo>
                  <a:pt x="344" y="25"/>
                </a:lnTo>
                <a:lnTo>
                  <a:pt x="360" y="26"/>
                </a:lnTo>
                <a:lnTo>
                  <a:pt x="377" y="26"/>
                </a:lnTo>
                <a:lnTo>
                  <a:pt x="393" y="26"/>
                </a:lnTo>
                <a:lnTo>
                  <a:pt x="393" y="33"/>
                </a:lnTo>
                <a:lnTo>
                  <a:pt x="377" y="33"/>
                </a:lnTo>
                <a:lnTo>
                  <a:pt x="360" y="33"/>
                </a:lnTo>
                <a:lnTo>
                  <a:pt x="344" y="32"/>
                </a:lnTo>
                <a:lnTo>
                  <a:pt x="327" y="31"/>
                </a:lnTo>
                <a:lnTo>
                  <a:pt x="311" y="30"/>
                </a:lnTo>
                <a:lnTo>
                  <a:pt x="295" y="29"/>
                </a:lnTo>
                <a:lnTo>
                  <a:pt x="278" y="28"/>
                </a:lnTo>
                <a:lnTo>
                  <a:pt x="262" y="27"/>
                </a:lnTo>
                <a:lnTo>
                  <a:pt x="246" y="25"/>
                </a:lnTo>
                <a:lnTo>
                  <a:pt x="229" y="24"/>
                </a:lnTo>
                <a:lnTo>
                  <a:pt x="213" y="22"/>
                </a:lnTo>
                <a:lnTo>
                  <a:pt x="196" y="20"/>
                </a:lnTo>
                <a:lnTo>
                  <a:pt x="180" y="19"/>
                </a:lnTo>
                <a:lnTo>
                  <a:pt x="164" y="17"/>
                </a:lnTo>
                <a:lnTo>
                  <a:pt x="147" y="16"/>
                </a:lnTo>
                <a:lnTo>
                  <a:pt x="131" y="14"/>
                </a:lnTo>
                <a:lnTo>
                  <a:pt x="114" y="13"/>
                </a:lnTo>
                <a:lnTo>
                  <a:pt x="98" y="12"/>
                </a:lnTo>
                <a:lnTo>
                  <a:pt x="82" y="10"/>
                </a:lnTo>
                <a:lnTo>
                  <a:pt x="65" y="9"/>
                </a:lnTo>
                <a:lnTo>
                  <a:pt x="49" y="9"/>
                </a:lnTo>
                <a:lnTo>
                  <a:pt x="33" y="8"/>
                </a:lnTo>
                <a:lnTo>
                  <a:pt x="16" y="8"/>
                </a:lnTo>
                <a:lnTo>
                  <a:pt x="0" y="8"/>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4191000"/>
            <a:ext cx="3743325" cy="2152650"/>
          </a:xfrm>
          <a:custGeom>
            <a:avLst/>
            <a:gdLst/>
            <a:ahLst/>
            <a:cxnLst/>
            <a:rect l="l" t="t" r="r" b="b"/>
            <a:pathLst>
              <a:path w="393" h="226">
                <a:moveTo>
                  <a:pt x="0" y="197"/>
                </a:moveTo>
                <a:lnTo>
                  <a:pt x="16" y="196"/>
                </a:lnTo>
                <a:lnTo>
                  <a:pt x="33" y="193"/>
                </a:lnTo>
                <a:lnTo>
                  <a:pt x="49" y="188"/>
                </a:lnTo>
                <a:lnTo>
                  <a:pt x="65" y="182"/>
                </a:lnTo>
                <a:lnTo>
                  <a:pt x="82" y="174"/>
                </a:lnTo>
                <a:lnTo>
                  <a:pt x="98" y="166"/>
                </a:lnTo>
                <a:lnTo>
                  <a:pt x="114" y="156"/>
                </a:lnTo>
                <a:lnTo>
                  <a:pt x="131" y="146"/>
                </a:lnTo>
                <a:lnTo>
                  <a:pt x="147" y="134"/>
                </a:lnTo>
                <a:lnTo>
                  <a:pt x="164" y="123"/>
                </a:lnTo>
                <a:lnTo>
                  <a:pt x="180" y="110"/>
                </a:lnTo>
                <a:lnTo>
                  <a:pt x="196" y="98"/>
                </a:lnTo>
                <a:lnTo>
                  <a:pt x="213" y="86"/>
                </a:lnTo>
                <a:lnTo>
                  <a:pt x="229" y="74"/>
                </a:lnTo>
                <a:lnTo>
                  <a:pt x="246" y="62"/>
                </a:lnTo>
                <a:lnTo>
                  <a:pt x="262" y="51"/>
                </a:lnTo>
                <a:lnTo>
                  <a:pt x="278" y="40"/>
                </a:lnTo>
                <a:lnTo>
                  <a:pt x="295" y="31"/>
                </a:lnTo>
                <a:lnTo>
                  <a:pt x="311" y="22"/>
                </a:lnTo>
                <a:lnTo>
                  <a:pt x="327" y="14"/>
                </a:lnTo>
                <a:lnTo>
                  <a:pt x="344" y="8"/>
                </a:lnTo>
                <a:lnTo>
                  <a:pt x="360" y="4"/>
                </a:lnTo>
                <a:lnTo>
                  <a:pt x="377" y="1"/>
                </a:lnTo>
                <a:lnTo>
                  <a:pt x="393" y="0"/>
                </a:lnTo>
                <a:lnTo>
                  <a:pt x="393" y="30"/>
                </a:lnTo>
                <a:lnTo>
                  <a:pt x="377" y="31"/>
                </a:lnTo>
                <a:lnTo>
                  <a:pt x="360" y="34"/>
                </a:lnTo>
                <a:lnTo>
                  <a:pt x="344" y="38"/>
                </a:lnTo>
                <a:lnTo>
                  <a:pt x="327" y="44"/>
                </a:lnTo>
                <a:lnTo>
                  <a:pt x="311" y="52"/>
                </a:lnTo>
                <a:lnTo>
                  <a:pt x="295" y="61"/>
                </a:lnTo>
                <a:lnTo>
                  <a:pt x="278" y="70"/>
                </a:lnTo>
                <a:lnTo>
                  <a:pt x="262" y="81"/>
                </a:lnTo>
                <a:lnTo>
                  <a:pt x="246" y="92"/>
                </a:lnTo>
                <a:lnTo>
                  <a:pt x="229" y="104"/>
                </a:lnTo>
                <a:lnTo>
                  <a:pt x="213" y="116"/>
                </a:lnTo>
                <a:lnTo>
                  <a:pt x="196" y="128"/>
                </a:lnTo>
                <a:lnTo>
                  <a:pt x="180" y="140"/>
                </a:lnTo>
                <a:lnTo>
                  <a:pt x="164" y="153"/>
                </a:lnTo>
                <a:lnTo>
                  <a:pt x="147" y="164"/>
                </a:lnTo>
                <a:lnTo>
                  <a:pt x="131" y="176"/>
                </a:lnTo>
                <a:lnTo>
                  <a:pt x="114" y="186"/>
                </a:lnTo>
                <a:lnTo>
                  <a:pt x="98" y="196"/>
                </a:lnTo>
                <a:lnTo>
                  <a:pt x="82" y="204"/>
                </a:lnTo>
                <a:lnTo>
                  <a:pt x="65" y="212"/>
                </a:lnTo>
                <a:lnTo>
                  <a:pt x="49" y="218"/>
                </a:lnTo>
                <a:lnTo>
                  <a:pt x="33" y="223"/>
                </a:lnTo>
                <a:lnTo>
                  <a:pt x="16" y="226"/>
                </a:lnTo>
                <a:lnTo>
                  <a:pt x="0" y="226"/>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5391150"/>
            <a:ext cx="3743325" cy="1057275"/>
          </a:xfrm>
          <a:custGeom>
            <a:avLst/>
            <a:gdLst/>
            <a:ahLst/>
            <a:cxnLst/>
            <a:rect l="l" t="t" r="r" b="b"/>
            <a:pathLst>
              <a:path w="393" h="111">
                <a:moveTo>
                  <a:pt x="0" y="100"/>
                </a:moveTo>
                <a:lnTo>
                  <a:pt x="16" y="100"/>
                </a:lnTo>
                <a:lnTo>
                  <a:pt x="33" y="99"/>
                </a:lnTo>
                <a:lnTo>
                  <a:pt x="49" y="96"/>
                </a:lnTo>
                <a:lnTo>
                  <a:pt x="65" y="93"/>
                </a:lnTo>
                <a:lnTo>
                  <a:pt x="82" y="89"/>
                </a:lnTo>
                <a:lnTo>
                  <a:pt x="98" y="85"/>
                </a:lnTo>
                <a:lnTo>
                  <a:pt x="114" y="80"/>
                </a:lnTo>
                <a:lnTo>
                  <a:pt x="131" y="74"/>
                </a:lnTo>
                <a:lnTo>
                  <a:pt x="147" y="69"/>
                </a:lnTo>
                <a:lnTo>
                  <a:pt x="164" y="63"/>
                </a:lnTo>
                <a:lnTo>
                  <a:pt x="180" y="57"/>
                </a:lnTo>
                <a:lnTo>
                  <a:pt x="196" y="50"/>
                </a:lnTo>
                <a:lnTo>
                  <a:pt x="213" y="44"/>
                </a:lnTo>
                <a:lnTo>
                  <a:pt x="229" y="38"/>
                </a:lnTo>
                <a:lnTo>
                  <a:pt x="246" y="32"/>
                </a:lnTo>
                <a:lnTo>
                  <a:pt x="262" y="26"/>
                </a:lnTo>
                <a:lnTo>
                  <a:pt x="278" y="21"/>
                </a:lnTo>
                <a:lnTo>
                  <a:pt x="295" y="16"/>
                </a:lnTo>
                <a:lnTo>
                  <a:pt x="311" y="11"/>
                </a:lnTo>
                <a:lnTo>
                  <a:pt x="327" y="7"/>
                </a:lnTo>
                <a:lnTo>
                  <a:pt x="344" y="4"/>
                </a:lnTo>
                <a:lnTo>
                  <a:pt x="360" y="2"/>
                </a:lnTo>
                <a:lnTo>
                  <a:pt x="377" y="1"/>
                </a:lnTo>
                <a:lnTo>
                  <a:pt x="393" y="0"/>
                </a:lnTo>
                <a:lnTo>
                  <a:pt x="393" y="11"/>
                </a:lnTo>
                <a:lnTo>
                  <a:pt x="377" y="11"/>
                </a:lnTo>
                <a:lnTo>
                  <a:pt x="360" y="13"/>
                </a:lnTo>
                <a:lnTo>
                  <a:pt x="344" y="15"/>
                </a:lnTo>
                <a:lnTo>
                  <a:pt x="327" y="18"/>
                </a:lnTo>
                <a:lnTo>
                  <a:pt x="311" y="22"/>
                </a:lnTo>
                <a:lnTo>
                  <a:pt x="295" y="27"/>
                </a:lnTo>
                <a:lnTo>
                  <a:pt x="278" y="32"/>
                </a:lnTo>
                <a:lnTo>
                  <a:pt x="262" y="37"/>
                </a:lnTo>
                <a:lnTo>
                  <a:pt x="246" y="43"/>
                </a:lnTo>
                <a:lnTo>
                  <a:pt x="229" y="49"/>
                </a:lnTo>
                <a:lnTo>
                  <a:pt x="213" y="55"/>
                </a:lnTo>
                <a:lnTo>
                  <a:pt x="196" y="61"/>
                </a:lnTo>
                <a:lnTo>
                  <a:pt x="180" y="67"/>
                </a:lnTo>
                <a:lnTo>
                  <a:pt x="164" y="74"/>
                </a:lnTo>
                <a:lnTo>
                  <a:pt x="147" y="80"/>
                </a:lnTo>
                <a:lnTo>
                  <a:pt x="131" y="85"/>
                </a:lnTo>
                <a:lnTo>
                  <a:pt x="114" y="91"/>
                </a:lnTo>
                <a:lnTo>
                  <a:pt x="98" y="96"/>
                </a:lnTo>
                <a:lnTo>
                  <a:pt x="82" y="100"/>
                </a:lnTo>
                <a:lnTo>
                  <a:pt x="65" y="104"/>
                </a:lnTo>
                <a:lnTo>
                  <a:pt x="49" y="107"/>
                </a:lnTo>
                <a:lnTo>
                  <a:pt x="33" y="109"/>
                </a:lnTo>
                <a:lnTo>
                  <a:pt x="16" y="111"/>
                </a:lnTo>
                <a:lnTo>
                  <a:pt x="0" y="111"/>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6248400"/>
            <a:ext cx="3743325" cy="285750"/>
          </a:xfrm>
          <a:custGeom>
            <a:avLst/>
            <a:gdLst/>
            <a:ahLst/>
            <a:cxnLst/>
            <a:rect l="l" t="t" r="r" b="b"/>
            <a:pathLst>
              <a:path w="393" h="30">
                <a:moveTo>
                  <a:pt x="0" y="21"/>
                </a:moveTo>
                <a:lnTo>
                  <a:pt x="16" y="21"/>
                </a:lnTo>
                <a:lnTo>
                  <a:pt x="33" y="21"/>
                </a:lnTo>
                <a:lnTo>
                  <a:pt x="49" y="20"/>
                </a:lnTo>
                <a:lnTo>
                  <a:pt x="65" y="20"/>
                </a:lnTo>
                <a:lnTo>
                  <a:pt x="82" y="19"/>
                </a:lnTo>
                <a:lnTo>
                  <a:pt x="98" y="18"/>
                </a:lnTo>
                <a:lnTo>
                  <a:pt x="114" y="17"/>
                </a:lnTo>
                <a:lnTo>
                  <a:pt x="131" y="16"/>
                </a:lnTo>
                <a:lnTo>
                  <a:pt x="147" y="15"/>
                </a:lnTo>
                <a:lnTo>
                  <a:pt x="164" y="13"/>
                </a:lnTo>
                <a:lnTo>
                  <a:pt x="180" y="12"/>
                </a:lnTo>
                <a:lnTo>
                  <a:pt x="196" y="11"/>
                </a:lnTo>
                <a:lnTo>
                  <a:pt x="213" y="10"/>
                </a:lnTo>
                <a:lnTo>
                  <a:pt x="229" y="8"/>
                </a:lnTo>
                <a:lnTo>
                  <a:pt x="246" y="7"/>
                </a:lnTo>
                <a:lnTo>
                  <a:pt x="262" y="6"/>
                </a:lnTo>
                <a:lnTo>
                  <a:pt x="278" y="5"/>
                </a:lnTo>
                <a:lnTo>
                  <a:pt x="295" y="4"/>
                </a:lnTo>
                <a:lnTo>
                  <a:pt x="311" y="3"/>
                </a:lnTo>
                <a:lnTo>
                  <a:pt x="327" y="2"/>
                </a:lnTo>
                <a:lnTo>
                  <a:pt x="344" y="1"/>
                </a:lnTo>
                <a:lnTo>
                  <a:pt x="360" y="1"/>
                </a:lnTo>
                <a:lnTo>
                  <a:pt x="377" y="0"/>
                </a:lnTo>
                <a:lnTo>
                  <a:pt x="393" y="0"/>
                </a:lnTo>
                <a:lnTo>
                  <a:pt x="393" y="9"/>
                </a:lnTo>
                <a:lnTo>
                  <a:pt x="377" y="9"/>
                </a:lnTo>
                <a:lnTo>
                  <a:pt x="360" y="9"/>
                </a:lnTo>
                <a:lnTo>
                  <a:pt x="344" y="10"/>
                </a:lnTo>
                <a:lnTo>
                  <a:pt x="327" y="11"/>
                </a:lnTo>
                <a:lnTo>
                  <a:pt x="311" y="11"/>
                </a:lnTo>
                <a:lnTo>
                  <a:pt x="295" y="12"/>
                </a:lnTo>
                <a:lnTo>
                  <a:pt x="278" y="13"/>
                </a:lnTo>
                <a:lnTo>
                  <a:pt x="262" y="14"/>
                </a:lnTo>
                <a:lnTo>
                  <a:pt x="246" y="16"/>
                </a:lnTo>
                <a:lnTo>
                  <a:pt x="229" y="17"/>
                </a:lnTo>
                <a:lnTo>
                  <a:pt x="213" y="18"/>
                </a:lnTo>
                <a:lnTo>
                  <a:pt x="196" y="20"/>
                </a:lnTo>
                <a:lnTo>
                  <a:pt x="180" y="21"/>
                </a:lnTo>
                <a:lnTo>
                  <a:pt x="164" y="22"/>
                </a:lnTo>
                <a:lnTo>
                  <a:pt x="147" y="23"/>
                </a:lnTo>
                <a:lnTo>
                  <a:pt x="131" y="25"/>
                </a:lnTo>
                <a:lnTo>
                  <a:pt x="114" y="26"/>
                </a:lnTo>
                <a:lnTo>
                  <a:pt x="98" y="27"/>
                </a:lnTo>
                <a:lnTo>
                  <a:pt x="82" y="28"/>
                </a:lnTo>
                <a:lnTo>
                  <a:pt x="65" y="28"/>
                </a:lnTo>
                <a:lnTo>
                  <a:pt x="49" y="29"/>
                </a:lnTo>
                <a:lnTo>
                  <a:pt x="33" y="30"/>
                </a:lnTo>
                <a:lnTo>
                  <a:pt x="16" y="30"/>
                </a:lnTo>
                <a:lnTo>
                  <a:pt x="0" y="30"/>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41195" y="1304925"/>
            <a:ext cx="114300" cy="471493"/>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7175" y="1304925"/>
            <a:ext cx="1626870" cy="471493"/>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Rectangle 43"/>
          <p:cNvSpPr/>
          <p:nvPr/>
        </p:nvSpPr>
        <p:spPr>
          <a:xfrm>
            <a:off x="1941195" y="1833568"/>
            <a:ext cx="114300" cy="471493"/>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7175" y="1833568"/>
            <a:ext cx="1626870" cy="471493"/>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Rectangle 45"/>
          <p:cNvSpPr/>
          <p:nvPr/>
        </p:nvSpPr>
        <p:spPr>
          <a:xfrm>
            <a:off x="1941195" y="2362210"/>
            <a:ext cx="114300" cy="47149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7175" y="2362210"/>
            <a:ext cx="1626870" cy="471493"/>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Rectangle 47"/>
          <p:cNvSpPr/>
          <p:nvPr/>
        </p:nvSpPr>
        <p:spPr>
          <a:xfrm>
            <a:off x="1941195" y="2890853"/>
            <a:ext cx="114300" cy="471493"/>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7175" y="2890853"/>
            <a:ext cx="1626870" cy="471493"/>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Rectangle 49"/>
          <p:cNvSpPr/>
          <p:nvPr/>
        </p:nvSpPr>
        <p:spPr>
          <a:xfrm>
            <a:off x="1941195" y="3419496"/>
            <a:ext cx="114300" cy="47149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7175" y="3419496"/>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Rectangle 51"/>
          <p:cNvSpPr/>
          <p:nvPr/>
        </p:nvSpPr>
        <p:spPr>
          <a:xfrm>
            <a:off x="1941195" y="3948135"/>
            <a:ext cx="114300" cy="4714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7175" y="3948135"/>
            <a:ext cx="1626870" cy="47148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4" name="Rectangle 53"/>
          <p:cNvSpPr/>
          <p:nvPr/>
        </p:nvSpPr>
        <p:spPr>
          <a:xfrm>
            <a:off x="1941195" y="4476772"/>
            <a:ext cx="114300" cy="471487"/>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7175" y="4476772"/>
            <a:ext cx="1626870" cy="47148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6" name="Rectangle 55"/>
          <p:cNvSpPr/>
          <p:nvPr/>
        </p:nvSpPr>
        <p:spPr>
          <a:xfrm>
            <a:off x="1941195" y="5005409"/>
            <a:ext cx="114300" cy="47148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7175" y="5005409"/>
            <a:ext cx="1626870" cy="471484"/>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8" name="Rectangle 57"/>
          <p:cNvSpPr/>
          <p:nvPr/>
        </p:nvSpPr>
        <p:spPr>
          <a:xfrm>
            <a:off x="1941195" y="5534043"/>
            <a:ext cx="114300" cy="471481"/>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7175" y="5534043"/>
            <a:ext cx="1626870" cy="471481"/>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0" name="Rectangle 59"/>
          <p:cNvSpPr/>
          <p:nvPr/>
        </p:nvSpPr>
        <p:spPr>
          <a:xfrm>
            <a:off x="1941195" y="6062675"/>
            <a:ext cx="114300" cy="471475"/>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7175" y="6062675"/>
            <a:ext cx="1626870" cy="4714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2" name="Rectangle 61"/>
          <p:cNvSpPr/>
          <p:nvPr/>
        </p:nvSpPr>
        <p:spPr>
          <a:xfrm>
            <a:off x="5800725" y="1504950"/>
            <a:ext cx="114300" cy="297032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72175" y="1504950"/>
            <a:ext cx="1381125" cy="2970327"/>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4" name="Rectangle 63"/>
          <p:cNvSpPr/>
          <p:nvPr/>
        </p:nvSpPr>
        <p:spPr>
          <a:xfrm>
            <a:off x="5800725" y="4532427"/>
            <a:ext cx="114300" cy="96213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72175" y="4532427"/>
            <a:ext cx="1381125" cy="962134"/>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6" name="Rectangle 65"/>
          <p:cNvSpPr/>
          <p:nvPr/>
        </p:nvSpPr>
        <p:spPr>
          <a:xfrm>
            <a:off x="5800725" y="5551711"/>
            <a:ext cx="114300" cy="78241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72175" y="5551711"/>
            <a:ext cx="1381125" cy="782414"/>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8" name="Rounded Rectangle 67"/>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70" name="Rectangle 69"/>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2" name="TextBox 7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73" name="TextBox 72"/>
          <p:cNvSpPr txBox="1"/>
          <p:nvPr/>
        </p:nvSpPr>
        <p:spPr>
          <a:xfrm>
            <a:off x="470996" y="1373031"/>
            <a:ext cx="1393998" cy="186689"/>
          </a:xfrm>
          <a:prstGeom prst="rect">
            <a:avLst/>
          </a:prstGeom>
          <a:noFill/>
        </p:spPr>
        <p:txBody>
          <a:bodyPr wrap="none" lIns="0" rIns="0" tIns="0" bIns="0">
            <a:spAutoFit/>
          </a:bodyPr>
          <a:lstStyle/>
          <a:p>
            <a:r>
              <a:rPr sz="1100" b="1">
                <a:solidFill>
                  <a:srgbClr val="2E2E2E"/>
                </a:solidFill>
                <a:latin typeface="Calibri"/>
              </a:rPr>
              <a:t>Allergopharma GmbH &amp;</a:t>
            </a:r>
          </a:p>
        </p:txBody>
      </p:sp>
      <p:sp>
        <p:nvSpPr>
          <p:cNvPr id="74" name="TextBox 73"/>
          <p:cNvSpPr txBox="1"/>
          <p:nvPr/>
        </p:nvSpPr>
        <p:spPr>
          <a:xfrm>
            <a:off x="1327695" y="1540671"/>
            <a:ext cx="459471" cy="186689"/>
          </a:xfrm>
          <a:prstGeom prst="rect">
            <a:avLst/>
          </a:prstGeom>
          <a:noFill/>
        </p:spPr>
        <p:txBody>
          <a:bodyPr wrap="none" lIns="0" rIns="0" tIns="0" bIns="0">
            <a:spAutoFit/>
          </a:bodyPr>
          <a:lstStyle/>
          <a:p>
            <a:r>
              <a:rPr sz="1100" b="1">
                <a:solidFill>
                  <a:srgbClr val="2E2E2E"/>
                </a:solidFill>
                <a:latin typeface="Calibri"/>
              </a:rPr>
              <a:t>Co. KG</a:t>
            </a:r>
          </a:p>
        </p:txBody>
      </p:sp>
      <p:pic>
        <p:nvPicPr>
          <p:cNvPr id="75" name="Picture 74" descr="lock.png"/>
          <p:cNvPicPr>
            <a:picLocks noChangeAspect="1"/>
          </p:cNvPicPr>
          <p:nvPr/>
        </p:nvPicPr>
        <p:blipFill>
          <a:blip r:embed="rId4"/>
          <a:stretch>
            <a:fillRect/>
          </a:stretch>
        </p:blipFill>
        <p:spPr>
          <a:xfrm>
            <a:off x="1735218" y="1530892"/>
            <a:ext cx="128699" cy="187198"/>
          </a:xfrm>
          <a:prstGeom prst="rect">
            <a:avLst/>
          </a:prstGeom>
        </p:spPr>
      </p:pic>
      <p:sp>
        <p:nvSpPr>
          <p:cNvPr id="76" name="TextBox 75"/>
          <p:cNvSpPr txBox="1"/>
          <p:nvPr/>
        </p:nvSpPr>
        <p:spPr>
          <a:xfrm>
            <a:off x="831881" y="1985494"/>
            <a:ext cx="955285" cy="186689"/>
          </a:xfrm>
          <a:prstGeom prst="rect">
            <a:avLst/>
          </a:prstGeom>
          <a:noFill/>
        </p:spPr>
        <p:txBody>
          <a:bodyPr wrap="none" lIns="0" rIns="0" tIns="0" bIns="0">
            <a:spAutoFit/>
          </a:bodyPr>
          <a:lstStyle/>
          <a:p>
            <a:r>
              <a:rPr sz="1100" b="1">
                <a:solidFill>
                  <a:srgbClr val="2E2E2E"/>
                </a:solidFill>
                <a:latin typeface="Calibri"/>
              </a:rPr>
              <a:t>ALK-Abelló A/S</a:t>
            </a:r>
          </a:p>
        </p:txBody>
      </p:sp>
      <p:pic>
        <p:nvPicPr>
          <p:cNvPr id="77" name="Picture 76" descr="lock.png"/>
          <p:cNvPicPr>
            <a:picLocks noChangeAspect="1"/>
          </p:cNvPicPr>
          <p:nvPr/>
        </p:nvPicPr>
        <p:blipFill>
          <a:blip r:embed="rId4"/>
          <a:stretch>
            <a:fillRect/>
          </a:stretch>
        </p:blipFill>
        <p:spPr>
          <a:xfrm>
            <a:off x="1735218" y="1975715"/>
            <a:ext cx="128699" cy="187198"/>
          </a:xfrm>
          <a:prstGeom prst="rect">
            <a:avLst/>
          </a:prstGeom>
        </p:spPr>
      </p:pic>
      <p:sp>
        <p:nvSpPr>
          <p:cNvPr id="78" name="TextBox 77"/>
          <p:cNvSpPr txBox="1"/>
          <p:nvPr/>
        </p:nvSpPr>
        <p:spPr>
          <a:xfrm>
            <a:off x="794052" y="2430316"/>
            <a:ext cx="1070942" cy="186689"/>
          </a:xfrm>
          <a:prstGeom prst="rect">
            <a:avLst/>
          </a:prstGeom>
          <a:noFill/>
        </p:spPr>
        <p:txBody>
          <a:bodyPr wrap="none" lIns="0" rIns="0" tIns="0" bIns="0">
            <a:spAutoFit/>
          </a:bodyPr>
          <a:lstStyle/>
          <a:p>
            <a:r>
              <a:rPr sz="1100" b="1">
                <a:solidFill>
                  <a:srgbClr val="2E2E2E"/>
                </a:solidFill>
                <a:latin typeface="Calibri"/>
              </a:rPr>
              <a:t>Stallergenes Greer</a:t>
            </a:r>
          </a:p>
        </p:txBody>
      </p:sp>
      <p:sp>
        <p:nvSpPr>
          <p:cNvPr id="79" name="TextBox 78"/>
          <p:cNvSpPr txBox="1"/>
          <p:nvPr/>
        </p:nvSpPr>
        <p:spPr>
          <a:xfrm>
            <a:off x="744279" y="2597956"/>
            <a:ext cx="1042887" cy="186689"/>
          </a:xfrm>
          <a:prstGeom prst="rect">
            <a:avLst/>
          </a:prstGeom>
          <a:noFill/>
        </p:spPr>
        <p:txBody>
          <a:bodyPr wrap="none" lIns="0" rIns="0" tIns="0" bIns="0">
            <a:spAutoFit/>
          </a:bodyPr>
          <a:lstStyle/>
          <a:p>
            <a:r>
              <a:rPr sz="1100" b="1">
                <a:solidFill>
                  <a:srgbClr val="2E2E2E"/>
                </a:solidFill>
                <a:latin typeface="Calibri"/>
              </a:rPr>
              <a:t>International AG</a:t>
            </a:r>
          </a:p>
        </p:txBody>
      </p:sp>
      <p:pic>
        <p:nvPicPr>
          <p:cNvPr id="80" name="Picture 79" descr="lock.png"/>
          <p:cNvPicPr>
            <a:picLocks noChangeAspect="1"/>
          </p:cNvPicPr>
          <p:nvPr/>
        </p:nvPicPr>
        <p:blipFill>
          <a:blip r:embed="rId4"/>
          <a:stretch>
            <a:fillRect/>
          </a:stretch>
        </p:blipFill>
        <p:spPr>
          <a:xfrm>
            <a:off x="1735218" y="2588177"/>
            <a:ext cx="128699" cy="187198"/>
          </a:xfrm>
          <a:prstGeom prst="rect">
            <a:avLst/>
          </a:prstGeom>
        </p:spPr>
      </p:pic>
      <p:sp>
        <p:nvSpPr>
          <p:cNvPr id="81" name="TextBox 80"/>
          <p:cNvSpPr txBox="1"/>
          <p:nvPr/>
        </p:nvSpPr>
        <p:spPr>
          <a:xfrm>
            <a:off x="289550" y="2958959"/>
            <a:ext cx="1575444" cy="186689"/>
          </a:xfrm>
          <a:prstGeom prst="rect">
            <a:avLst/>
          </a:prstGeom>
          <a:noFill/>
        </p:spPr>
        <p:txBody>
          <a:bodyPr wrap="none" lIns="0" rIns="0" tIns="0" bIns="0">
            <a:spAutoFit/>
          </a:bodyPr>
          <a:lstStyle/>
          <a:p>
            <a:r>
              <a:rPr sz="1100" b="1">
                <a:solidFill>
                  <a:srgbClr val="2E2E2E"/>
                </a:solidFill>
                <a:latin typeface="Calibri"/>
              </a:rPr>
              <a:t>LETI Pharma / Laboratorios</a:t>
            </a:r>
          </a:p>
        </p:txBody>
      </p:sp>
      <p:sp>
        <p:nvSpPr>
          <p:cNvPr id="82" name="TextBox 81"/>
          <p:cNvSpPr txBox="1"/>
          <p:nvPr/>
        </p:nvSpPr>
        <p:spPr>
          <a:xfrm>
            <a:off x="1080679" y="3126599"/>
            <a:ext cx="706487" cy="186689"/>
          </a:xfrm>
          <a:prstGeom prst="rect">
            <a:avLst/>
          </a:prstGeom>
          <a:noFill/>
        </p:spPr>
        <p:txBody>
          <a:bodyPr wrap="none" lIns="0" rIns="0" tIns="0" bIns="0">
            <a:spAutoFit/>
          </a:bodyPr>
          <a:lstStyle/>
          <a:p>
            <a:r>
              <a:rPr sz="1100" b="1">
                <a:solidFill>
                  <a:srgbClr val="2E2E2E"/>
                </a:solidFill>
                <a:latin typeface="Calibri"/>
              </a:rPr>
              <a:t>LETI, S.L.U.</a:t>
            </a:r>
          </a:p>
        </p:txBody>
      </p:sp>
      <p:pic>
        <p:nvPicPr>
          <p:cNvPr id="83" name="Picture 82" descr="lock.png"/>
          <p:cNvPicPr>
            <a:picLocks noChangeAspect="1"/>
          </p:cNvPicPr>
          <p:nvPr/>
        </p:nvPicPr>
        <p:blipFill>
          <a:blip r:embed="rId4"/>
          <a:stretch>
            <a:fillRect/>
          </a:stretch>
        </p:blipFill>
        <p:spPr>
          <a:xfrm>
            <a:off x="1735218" y="3116820"/>
            <a:ext cx="128699" cy="187198"/>
          </a:xfrm>
          <a:prstGeom prst="rect">
            <a:avLst/>
          </a:prstGeom>
        </p:spPr>
      </p:pic>
      <p:sp>
        <p:nvSpPr>
          <p:cNvPr id="84" name="TextBox 83"/>
          <p:cNvSpPr txBox="1"/>
          <p:nvPr/>
        </p:nvSpPr>
        <p:spPr>
          <a:xfrm>
            <a:off x="646026" y="3571421"/>
            <a:ext cx="1141139" cy="186689"/>
          </a:xfrm>
          <a:prstGeom prst="rect">
            <a:avLst/>
          </a:prstGeom>
          <a:noFill/>
        </p:spPr>
        <p:txBody>
          <a:bodyPr wrap="none" lIns="0" rIns="0" tIns="0" bIns="0">
            <a:spAutoFit/>
          </a:bodyPr>
          <a:lstStyle/>
          <a:p>
            <a:r>
              <a:rPr sz="1100" b="1">
                <a:solidFill>
                  <a:srgbClr val="2E2E2E"/>
                </a:solidFill>
                <a:latin typeface="Calibri"/>
              </a:rPr>
              <a:t>HAL Allergy Group</a:t>
            </a:r>
          </a:p>
        </p:txBody>
      </p:sp>
      <p:pic>
        <p:nvPicPr>
          <p:cNvPr id="85" name="Picture 84" descr="lock.png"/>
          <p:cNvPicPr>
            <a:picLocks noChangeAspect="1"/>
          </p:cNvPicPr>
          <p:nvPr/>
        </p:nvPicPr>
        <p:blipFill>
          <a:blip r:embed="rId4"/>
          <a:stretch>
            <a:fillRect/>
          </a:stretch>
        </p:blipFill>
        <p:spPr>
          <a:xfrm>
            <a:off x="1735218" y="3561642"/>
            <a:ext cx="128699" cy="187198"/>
          </a:xfrm>
          <a:prstGeom prst="rect">
            <a:avLst/>
          </a:prstGeom>
        </p:spPr>
      </p:pic>
      <p:sp>
        <p:nvSpPr>
          <p:cNvPr id="86" name="TextBox 85"/>
          <p:cNvSpPr txBox="1"/>
          <p:nvPr/>
        </p:nvSpPr>
        <p:spPr>
          <a:xfrm>
            <a:off x="391894" y="4016238"/>
            <a:ext cx="1473100" cy="186689"/>
          </a:xfrm>
          <a:prstGeom prst="rect">
            <a:avLst/>
          </a:prstGeom>
          <a:noFill/>
        </p:spPr>
        <p:txBody>
          <a:bodyPr wrap="none" lIns="0" rIns="0" tIns="0" bIns="0">
            <a:spAutoFit/>
          </a:bodyPr>
          <a:lstStyle/>
          <a:p>
            <a:r>
              <a:rPr sz="1100" b="1">
                <a:solidFill>
                  <a:srgbClr val="2E2E2E"/>
                </a:solidFill>
                <a:latin typeface="Calibri"/>
              </a:rPr>
              <a:t>Jubilant HollisterStier LLC</a:t>
            </a:r>
          </a:p>
        </p:txBody>
      </p:sp>
      <p:pic>
        <p:nvPicPr>
          <p:cNvPr id="87" name="Picture 86" descr="lock.png"/>
          <p:cNvPicPr>
            <a:picLocks noChangeAspect="1"/>
          </p:cNvPicPr>
          <p:nvPr/>
        </p:nvPicPr>
        <p:blipFill>
          <a:blip r:embed="rId4"/>
          <a:stretch>
            <a:fillRect/>
          </a:stretch>
        </p:blipFill>
        <p:spPr>
          <a:xfrm>
            <a:off x="1735218" y="4174099"/>
            <a:ext cx="128699" cy="187198"/>
          </a:xfrm>
          <a:prstGeom prst="rect">
            <a:avLst/>
          </a:prstGeom>
        </p:spPr>
      </p:pic>
      <p:sp>
        <p:nvSpPr>
          <p:cNvPr id="88" name="TextBox 87"/>
          <p:cNvSpPr txBox="1"/>
          <p:nvPr/>
        </p:nvSpPr>
        <p:spPr>
          <a:xfrm>
            <a:off x="522595" y="4628695"/>
            <a:ext cx="1264570" cy="186689"/>
          </a:xfrm>
          <a:prstGeom prst="rect">
            <a:avLst/>
          </a:prstGeom>
          <a:noFill/>
        </p:spPr>
        <p:txBody>
          <a:bodyPr wrap="none" lIns="0" rIns="0" tIns="0" bIns="0">
            <a:spAutoFit/>
          </a:bodyPr>
          <a:lstStyle/>
          <a:p>
            <a:r>
              <a:rPr sz="1100" b="1">
                <a:solidFill>
                  <a:srgbClr val="2E2E2E"/>
                </a:solidFill>
                <a:latin typeface="Calibri"/>
              </a:rPr>
              <a:t>DIATER Laboratories</a:t>
            </a:r>
          </a:p>
        </p:txBody>
      </p:sp>
      <p:pic>
        <p:nvPicPr>
          <p:cNvPr id="89" name="Picture 88" descr="lock.png"/>
          <p:cNvPicPr>
            <a:picLocks noChangeAspect="1"/>
          </p:cNvPicPr>
          <p:nvPr/>
        </p:nvPicPr>
        <p:blipFill>
          <a:blip r:embed="rId4"/>
          <a:stretch>
            <a:fillRect/>
          </a:stretch>
        </p:blipFill>
        <p:spPr>
          <a:xfrm>
            <a:off x="1735218" y="4618916"/>
            <a:ext cx="128699" cy="187198"/>
          </a:xfrm>
          <a:prstGeom prst="rect">
            <a:avLst/>
          </a:prstGeom>
        </p:spPr>
      </p:pic>
      <p:sp>
        <p:nvSpPr>
          <p:cNvPr id="90" name="TextBox 89"/>
          <p:cNvSpPr txBox="1"/>
          <p:nvPr/>
        </p:nvSpPr>
        <p:spPr>
          <a:xfrm>
            <a:off x="841934" y="5157331"/>
            <a:ext cx="945232" cy="186689"/>
          </a:xfrm>
          <a:prstGeom prst="rect">
            <a:avLst/>
          </a:prstGeom>
          <a:noFill/>
        </p:spPr>
        <p:txBody>
          <a:bodyPr wrap="none" lIns="0" rIns="0" tIns="0" bIns="0">
            <a:spAutoFit/>
          </a:bodyPr>
          <a:lstStyle/>
          <a:p>
            <a:r>
              <a:rPr sz="1100" b="1">
                <a:solidFill>
                  <a:srgbClr val="2E2E2E"/>
                </a:solidFill>
                <a:latin typeface="Calibri"/>
              </a:rPr>
              <a:t>Inmunotek S.L.</a:t>
            </a:r>
          </a:p>
        </p:txBody>
      </p:sp>
      <p:pic>
        <p:nvPicPr>
          <p:cNvPr id="91" name="Picture 90" descr="lock.png"/>
          <p:cNvPicPr>
            <a:picLocks noChangeAspect="1"/>
          </p:cNvPicPr>
          <p:nvPr/>
        </p:nvPicPr>
        <p:blipFill>
          <a:blip r:embed="rId4"/>
          <a:stretch>
            <a:fillRect/>
          </a:stretch>
        </p:blipFill>
        <p:spPr>
          <a:xfrm>
            <a:off x="1735218" y="5147551"/>
            <a:ext cx="128699" cy="187198"/>
          </a:xfrm>
          <a:prstGeom prst="rect">
            <a:avLst/>
          </a:prstGeom>
        </p:spPr>
      </p:pic>
      <p:sp>
        <p:nvSpPr>
          <p:cNvPr id="92" name="TextBox 91"/>
          <p:cNvSpPr txBox="1"/>
          <p:nvPr/>
        </p:nvSpPr>
        <p:spPr>
          <a:xfrm>
            <a:off x="476999" y="5602143"/>
            <a:ext cx="1387995" cy="186689"/>
          </a:xfrm>
          <a:prstGeom prst="rect">
            <a:avLst/>
          </a:prstGeom>
          <a:noFill/>
        </p:spPr>
        <p:txBody>
          <a:bodyPr wrap="none" lIns="0" rIns="0" tIns="0" bIns="0">
            <a:spAutoFit/>
          </a:bodyPr>
          <a:lstStyle/>
          <a:p>
            <a:r>
              <a:rPr sz="1100" b="1">
                <a:solidFill>
                  <a:srgbClr val="2E2E2E"/>
                </a:solidFill>
                <a:latin typeface="Calibri"/>
              </a:rPr>
              <a:t>Allergy Therapeutics plc</a:t>
            </a:r>
          </a:p>
        </p:txBody>
      </p:sp>
      <p:pic>
        <p:nvPicPr>
          <p:cNvPr id="93" name="Picture 92" descr="lock.png"/>
          <p:cNvPicPr>
            <a:picLocks noChangeAspect="1"/>
          </p:cNvPicPr>
          <p:nvPr/>
        </p:nvPicPr>
        <p:blipFill>
          <a:blip r:embed="rId4"/>
          <a:stretch>
            <a:fillRect/>
          </a:stretch>
        </p:blipFill>
        <p:spPr>
          <a:xfrm>
            <a:off x="1735218" y="5760004"/>
            <a:ext cx="128699" cy="187198"/>
          </a:xfrm>
          <a:prstGeom prst="rect">
            <a:avLst/>
          </a:prstGeom>
        </p:spPr>
      </p:pic>
      <p:sp>
        <p:nvSpPr>
          <p:cNvPr id="94" name="TextBox 93"/>
          <p:cNvSpPr txBox="1"/>
          <p:nvPr/>
        </p:nvSpPr>
        <p:spPr>
          <a:xfrm>
            <a:off x="416971" y="6130772"/>
            <a:ext cx="1448023" cy="186689"/>
          </a:xfrm>
          <a:prstGeom prst="rect">
            <a:avLst/>
          </a:prstGeom>
          <a:noFill/>
        </p:spPr>
        <p:txBody>
          <a:bodyPr wrap="none" lIns="0" rIns="0" tIns="0" bIns="0">
            <a:spAutoFit/>
          </a:bodyPr>
          <a:lstStyle/>
          <a:p>
            <a:r>
              <a:rPr sz="1100" b="1">
                <a:solidFill>
                  <a:srgbClr val="2E2E2E"/>
                </a:solidFill>
                <a:latin typeface="Calibri"/>
              </a:rPr>
              <a:t>Torii Pharmaceutical Co.,</a:t>
            </a:r>
          </a:p>
        </p:txBody>
      </p:sp>
      <p:sp>
        <p:nvSpPr>
          <p:cNvPr id="95" name="TextBox 94"/>
          <p:cNvSpPr txBox="1"/>
          <p:nvPr/>
        </p:nvSpPr>
        <p:spPr>
          <a:xfrm>
            <a:off x="1490818" y="6298412"/>
            <a:ext cx="296348" cy="186689"/>
          </a:xfrm>
          <a:prstGeom prst="rect">
            <a:avLst/>
          </a:prstGeom>
          <a:noFill/>
        </p:spPr>
        <p:txBody>
          <a:bodyPr wrap="none" lIns="0" rIns="0" tIns="0" bIns="0">
            <a:spAutoFit/>
          </a:bodyPr>
          <a:lstStyle/>
          <a:p>
            <a:r>
              <a:rPr sz="1100" b="1">
                <a:solidFill>
                  <a:srgbClr val="2E2E2E"/>
                </a:solidFill>
                <a:latin typeface="Calibri"/>
              </a:rPr>
              <a:t>Ltd.</a:t>
            </a:r>
          </a:p>
        </p:txBody>
      </p:sp>
      <p:pic>
        <p:nvPicPr>
          <p:cNvPr id="96" name="Picture 95" descr="lock.png"/>
          <p:cNvPicPr>
            <a:picLocks noChangeAspect="1"/>
          </p:cNvPicPr>
          <p:nvPr/>
        </p:nvPicPr>
        <p:blipFill>
          <a:blip r:embed="rId4"/>
          <a:stretch>
            <a:fillRect/>
          </a:stretch>
        </p:blipFill>
        <p:spPr>
          <a:xfrm>
            <a:off x="1735218" y="6288633"/>
            <a:ext cx="128699" cy="187198"/>
          </a:xfrm>
          <a:prstGeom prst="rect">
            <a:avLst/>
          </a:prstGeom>
        </p:spPr>
      </p:pic>
      <p:sp>
        <p:nvSpPr>
          <p:cNvPr id="97" name="TextBox 96"/>
          <p:cNvSpPr txBox="1"/>
          <p:nvPr/>
        </p:nvSpPr>
        <p:spPr>
          <a:xfrm>
            <a:off x="5972175" y="2906293"/>
            <a:ext cx="1132135" cy="186689"/>
          </a:xfrm>
          <a:prstGeom prst="rect">
            <a:avLst/>
          </a:prstGeom>
          <a:noFill/>
        </p:spPr>
        <p:txBody>
          <a:bodyPr wrap="none" lIns="0" rIns="0" tIns="0" bIns="0">
            <a:spAutoFit/>
          </a:bodyPr>
          <a:lstStyle/>
          <a:p>
            <a:r>
              <a:rPr sz="1100" b="1">
                <a:solidFill>
                  <a:srgbClr val="2E2E2E"/>
                </a:solidFill>
                <a:latin typeface="Calibri"/>
              </a:rPr>
              <a:t>Inhalant Allergens</a:t>
            </a:r>
          </a:p>
        </p:txBody>
      </p:sp>
      <p:pic>
        <p:nvPicPr>
          <p:cNvPr id="98" name="Picture 97" descr="lock.png"/>
          <p:cNvPicPr>
            <a:picLocks noChangeAspect="1"/>
          </p:cNvPicPr>
          <p:nvPr/>
        </p:nvPicPr>
        <p:blipFill>
          <a:blip r:embed="rId4"/>
          <a:stretch>
            <a:fillRect/>
          </a:stretch>
        </p:blipFill>
        <p:spPr>
          <a:xfrm>
            <a:off x="7052362" y="2896514"/>
            <a:ext cx="128699" cy="187198"/>
          </a:xfrm>
          <a:prstGeom prst="rect">
            <a:avLst/>
          </a:prstGeom>
        </p:spPr>
      </p:pic>
      <p:sp>
        <p:nvSpPr>
          <p:cNvPr id="99" name="TextBox 98"/>
          <p:cNvSpPr txBox="1"/>
          <p:nvPr/>
        </p:nvSpPr>
        <p:spPr>
          <a:xfrm>
            <a:off x="5972175" y="4929674"/>
            <a:ext cx="937839" cy="186689"/>
          </a:xfrm>
          <a:prstGeom prst="rect">
            <a:avLst/>
          </a:prstGeom>
          <a:noFill/>
        </p:spPr>
        <p:txBody>
          <a:bodyPr wrap="none" lIns="0" rIns="0" tIns="0" bIns="0">
            <a:spAutoFit/>
          </a:bodyPr>
          <a:lstStyle/>
          <a:p>
            <a:r>
              <a:rPr sz="1100" b="1">
                <a:solidFill>
                  <a:srgbClr val="2E2E2E"/>
                </a:solidFill>
                <a:latin typeface="Calibri"/>
              </a:rPr>
              <a:t>Food Allergens</a:t>
            </a:r>
          </a:p>
        </p:txBody>
      </p:sp>
      <p:pic>
        <p:nvPicPr>
          <p:cNvPr id="100" name="Picture 99" descr="lock.png"/>
          <p:cNvPicPr>
            <a:picLocks noChangeAspect="1"/>
          </p:cNvPicPr>
          <p:nvPr/>
        </p:nvPicPr>
        <p:blipFill>
          <a:blip r:embed="rId4"/>
          <a:stretch>
            <a:fillRect/>
          </a:stretch>
        </p:blipFill>
        <p:spPr>
          <a:xfrm>
            <a:off x="6858066" y="4919894"/>
            <a:ext cx="128699" cy="187198"/>
          </a:xfrm>
          <a:prstGeom prst="rect">
            <a:avLst/>
          </a:prstGeom>
        </p:spPr>
      </p:pic>
      <p:sp>
        <p:nvSpPr>
          <p:cNvPr id="101" name="TextBox 100"/>
          <p:cNvSpPr txBox="1"/>
          <p:nvPr/>
        </p:nvSpPr>
        <p:spPr>
          <a:xfrm>
            <a:off x="5972175" y="5859098"/>
            <a:ext cx="1065559" cy="186689"/>
          </a:xfrm>
          <a:prstGeom prst="rect">
            <a:avLst/>
          </a:prstGeom>
          <a:noFill/>
        </p:spPr>
        <p:txBody>
          <a:bodyPr wrap="none" lIns="0" rIns="0" tIns="0" bIns="0">
            <a:spAutoFit/>
          </a:bodyPr>
          <a:lstStyle/>
          <a:p>
            <a:r>
              <a:rPr sz="1100" b="1">
                <a:solidFill>
                  <a:srgbClr val="2E2E2E"/>
                </a:solidFill>
                <a:latin typeface="Calibri"/>
              </a:rPr>
              <a:t>Venom Allergens</a:t>
            </a:r>
          </a:p>
        </p:txBody>
      </p:sp>
      <p:pic>
        <p:nvPicPr>
          <p:cNvPr id="102" name="Picture 101" descr="lock.png"/>
          <p:cNvPicPr>
            <a:picLocks noChangeAspect="1"/>
          </p:cNvPicPr>
          <p:nvPr/>
        </p:nvPicPr>
        <p:blipFill>
          <a:blip r:embed="rId4"/>
          <a:stretch>
            <a:fillRect/>
          </a:stretch>
        </p:blipFill>
        <p:spPr>
          <a:xfrm>
            <a:off x="6985786" y="5849318"/>
            <a:ext cx="128699" cy="187198"/>
          </a:xfrm>
          <a:prstGeom prst="rect">
            <a:avLst/>
          </a:prstGeom>
        </p:spPr>
      </p:pic>
      <p:sp>
        <p:nvSpPr>
          <p:cNvPr id="103" name="TextBox 102"/>
          <p:cNvSpPr txBox="1"/>
          <p:nvPr/>
        </p:nvSpPr>
        <p:spPr>
          <a:xfrm>
            <a:off x="7715250" y="1400175"/>
            <a:ext cx="4036861" cy="194310"/>
          </a:xfrm>
          <a:prstGeom prst="rect">
            <a:avLst/>
          </a:prstGeom>
          <a:noFill/>
        </p:spPr>
        <p:txBody>
          <a:bodyPr wrap="none" lIns="0" rIns="0" tIns="0" bIns="0">
            <a:spAutoFit/>
          </a:bodyPr>
          <a:lstStyle/>
          <a:p>
            <a:r>
              <a:rPr sz="1150" b="0">
                <a:solidFill>
                  <a:srgbClr val="2E2E2E"/>
                </a:solidFill>
                <a:latin typeface="Calibri"/>
              </a:rPr>
              <a:t>Allergopharma gmbh &amp; Co. KG segment is projected to account for</a:t>
            </a:r>
          </a:p>
        </p:txBody>
      </p:sp>
      <p:sp>
        <p:nvSpPr>
          <p:cNvPr id="104" name="TextBox 103"/>
          <p:cNvSpPr txBox="1"/>
          <p:nvPr/>
        </p:nvSpPr>
        <p:spPr>
          <a:xfrm>
            <a:off x="7715250" y="1575435"/>
            <a:ext cx="3783645" cy="194310"/>
          </a:xfrm>
          <a:prstGeom prst="rect">
            <a:avLst/>
          </a:prstGeom>
          <a:noFill/>
        </p:spPr>
        <p:txBody>
          <a:bodyPr wrap="none" lIns="0" rIns="0" tIns="0" bIns="0">
            <a:spAutoFit/>
          </a:bodyPr>
          <a:lstStyle/>
          <a:p>
            <a:r>
              <a:rPr sz="1150" b="0">
                <a:solidFill>
                  <a:srgbClr val="2E2E2E"/>
                </a:solidFill>
                <a:latin typeface="Calibri"/>
              </a:rPr>
              <a:t>the largest share of the North America allergy immunotherapy</a:t>
            </a:r>
          </a:p>
        </p:txBody>
      </p:sp>
      <p:sp>
        <p:nvSpPr>
          <p:cNvPr id="105" name="TextBox 104"/>
          <p:cNvSpPr txBox="1"/>
          <p:nvPr/>
        </p:nvSpPr>
        <p:spPr>
          <a:xfrm>
            <a:off x="7715250" y="1750695"/>
            <a:ext cx="2439813" cy="194310"/>
          </a:xfrm>
          <a:prstGeom prst="rect">
            <a:avLst/>
          </a:prstGeom>
          <a:noFill/>
        </p:spPr>
        <p:txBody>
          <a:bodyPr wrap="none" lIns="0" rIns="0" tIns="0" bIns="0">
            <a:spAutoFit/>
          </a:bodyPr>
          <a:lstStyle/>
          <a:p>
            <a:r>
              <a:rPr sz="1150" b="0">
                <a:solidFill>
                  <a:srgbClr val="2E2E2E"/>
                </a:solidFill>
                <a:latin typeface="Calibri"/>
              </a:rPr>
              <a:t>market, led by inhalant allergens at US$</a:t>
            </a:r>
          </a:p>
        </p:txBody>
      </p:sp>
      <p:pic>
        <p:nvPicPr>
          <p:cNvPr id="106" name="Picture 105" descr="lock.png"/>
          <p:cNvPicPr>
            <a:picLocks noChangeAspect="1"/>
          </p:cNvPicPr>
          <p:nvPr/>
        </p:nvPicPr>
        <p:blipFill>
          <a:blip r:embed="rId4"/>
          <a:stretch>
            <a:fillRect/>
          </a:stretch>
        </p:blipFill>
        <p:spPr>
          <a:xfrm>
            <a:off x="10104217" y="1740471"/>
            <a:ext cx="134549" cy="195707"/>
          </a:xfrm>
          <a:prstGeom prst="rect">
            <a:avLst/>
          </a:prstGeom>
        </p:spPr>
      </p:pic>
      <p:sp>
        <p:nvSpPr>
          <p:cNvPr id="107" name="TextBox 106"/>
          <p:cNvSpPr txBox="1"/>
          <p:nvPr/>
        </p:nvSpPr>
        <p:spPr>
          <a:xfrm>
            <a:off x="10279327" y="1750695"/>
            <a:ext cx="1316198" cy="194310"/>
          </a:xfrm>
          <a:prstGeom prst="rect">
            <a:avLst/>
          </a:prstGeom>
          <a:noFill/>
        </p:spPr>
        <p:txBody>
          <a:bodyPr wrap="none" lIns="0" rIns="0" tIns="0" bIns="0">
            <a:spAutoFit/>
          </a:bodyPr>
          <a:lstStyle/>
          <a:p>
            <a:r>
              <a:rPr sz="1150" b="0">
                <a:solidFill>
                  <a:srgbClr val="2E2E2E"/>
                </a:solidFill>
                <a:latin typeface="Calibri"/>
              </a:rPr>
              <a:t>Mn in 2036. 'Jubilant</a:t>
            </a:r>
          </a:p>
        </p:txBody>
      </p:sp>
      <p:sp>
        <p:nvSpPr>
          <p:cNvPr id="108" name="TextBox 107"/>
          <p:cNvSpPr txBox="1"/>
          <p:nvPr/>
        </p:nvSpPr>
        <p:spPr>
          <a:xfrm>
            <a:off x="7715250" y="1925955"/>
            <a:ext cx="3493234" cy="194310"/>
          </a:xfrm>
          <a:prstGeom prst="rect">
            <a:avLst/>
          </a:prstGeom>
          <a:noFill/>
        </p:spPr>
        <p:txBody>
          <a:bodyPr wrap="none" lIns="0" rIns="0" tIns="0" bIns="0">
            <a:spAutoFit/>
          </a:bodyPr>
          <a:lstStyle/>
          <a:p>
            <a:r>
              <a:rPr sz="1150" b="0">
                <a:solidFill>
                  <a:srgbClr val="2E2E2E"/>
                </a:solidFill>
                <a:latin typeface="Calibri"/>
              </a:rPr>
              <a:t>HollisterStier LLC × Inhalant Allergens' is the single largest</a:t>
            </a:r>
          </a:p>
        </p:txBody>
      </p:sp>
      <p:sp>
        <p:nvSpPr>
          <p:cNvPr id="109" name="TextBox 108"/>
          <p:cNvSpPr txBox="1"/>
          <p:nvPr/>
        </p:nvSpPr>
        <p:spPr>
          <a:xfrm>
            <a:off x="7715250" y="2101215"/>
            <a:ext cx="1269131" cy="194310"/>
          </a:xfrm>
          <a:prstGeom prst="rect">
            <a:avLst/>
          </a:prstGeom>
          <a:noFill/>
        </p:spPr>
        <p:txBody>
          <a:bodyPr wrap="none" lIns="0" rIns="0" tIns="0" bIns="0">
            <a:spAutoFit/>
          </a:bodyPr>
          <a:lstStyle/>
          <a:p>
            <a:r>
              <a:rPr sz="1150" b="0">
                <a:solidFill>
                  <a:srgbClr val="2E2E2E"/>
                </a:solidFill>
                <a:latin typeface="Calibri"/>
              </a:rPr>
              <a:t>cross-sectional cell (</a:t>
            </a:r>
          </a:p>
        </p:txBody>
      </p:sp>
      <p:pic>
        <p:nvPicPr>
          <p:cNvPr id="110" name="Picture 109" descr="lock.png"/>
          <p:cNvPicPr>
            <a:picLocks noChangeAspect="1"/>
          </p:cNvPicPr>
          <p:nvPr/>
        </p:nvPicPr>
        <p:blipFill>
          <a:blip r:embed="rId4"/>
          <a:stretch>
            <a:fillRect/>
          </a:stretch>
        </p:blipFill>
        <p:spPr>
          <a:xfrm>
            <a:off x="8933535" y="2090991"/>
            <a:ext cx="134549" cy="195707"/>
          </a:xfrm>
          <a:prstGeom prst="rect">
            <a:avLst/>
          </a:prstGeom>
        </p:spPr>
      </p:pic>
      <p:sp>
        <p:nvSpPr>
          <p:cNvPr id="111" name="TextBox 110"/>
          <p:cNvSpPr txBox="1"/>
          <p:nvPr/>
        </p:nvSpPr>
        <p:spPr>
          <a:xfrm>
            <a:off x="9108645" y="2101215"/>
            <a:ext cx="2676859" cy="194310"/>
          </a:xfrm>
          <a:prstGeom prst="rect">
            <a:avLst/>
          </a:prstGeom>
          <a:noFill/>
        </p:spPr>
        <p:txBody>
          <a:bodyPr wrap="none" lIns="0" rIns="0" tIns="0" bIns="0">
            <a:spAutoFit/>
          </a:bodyPr>
          <a:lstStyle/>
          <a:p>
            <a:r>
              <a:rPr sz="1150" b="0">
                <a:solidFill>
                  <a:srgbClr val="2E2E2E"/>
                </a:solidFill>
                <a:latin typeface="Calibri"/>
              </a:rPr>
              <a:t>US$ Mn, 2026E), while 'HAL Allergy Group ×</a:t>
            </a:r>
          </a:p>
        </p:txBody>
      </p:sp>
      <p:sp>
        <p:nvSpPr>
          <p:cNvPr id="112" name="TextBox 111"/>
          <p:cNvSpPr txBox="1"/>
          <p:nvPr/>
        </p:nvSpPr>
        <p:spPr>
          <a:xfrm>
            <a:off x="7715250" y="2276475"/>
            <a:ext cx="3563125" cy="194310"/>
          </a:xfrm>
          <a:prstGeom prst="rect">
            <a:avLst/>
          </a:prstGeom>
          <a:noFill/>
        </p:spPr>
        <p:txBody>
          <a:bodyPr wrap="none" lIns="0" rIns="0" tIns="0" bIns="0">
            <a:spAutoFit/>
          </a:bodyPr>
          <a:lstStyle/>
          <a:p>
            <a:r>
              <a:rPr sz="1150" b="0">
                <a:solidFill>
                  <a:srgbClr val="2E2E2E"/>
                </a:solidFill>
                <a:latin typeface="Calibri"/>
              </a:rPr>
              <a:t>Inhalant Allergens' records the fastest growth at a CAGR of</a:t>
            </a:r>
          </a:p>
        </p:txBody>
      </p:sp>
      <p:pic>
        <p:nvPicPr>
          <p:cNvPr id="113" name="Picture 112" descr="lock.png"/>
          <p:cNvPicPr>
            <a:picLocks noChangeAspect="1"/>
          </p:cNvPicPr>
          <p:nvPr/>
        </p:nvPicPr>
        <p:blipFill>
          <a:blip r:embed="rId4"/>
          <a:stretch>
            <a:fillRect/>
          </a:stretch>
        </p:blipFill>
        <p:spPr>
          <a:xfrm>
            <a:off x="11227529" y="2266251"/>
            <a:ext cx="134549" cy="195707"/>
          </a:xfrm>
          <a:prstGeom prst="rect">
            <a:avLst/>
          </a:prstGeom>
        </p:spPr>
      </p:pic>
      <p:sp>
        <p:nvSpPr>
          <p:cNvPr id="114" name="TextBox 113"/>
          <p:cNvSpPr txBox="1"/>
          <p:nvPr/>
        </p:nvSpPr>
        <p:spPr>
          <a:xfrm>
            <a:off x="11402639" y="2276475"/>
            <a:ext cx="342912" cy="194310"/>
          </a:xfrm>
          <a:prstGeom prst="rect">
            <a:avLst/>
          </a:prstGeom>
          <a:noFill/>
        </p:spPr>
        <p:txBody>
          <a:bodyPr wrap="none" lIns="0" rIns="0" tIns="0" bIns="0">
            <a:spAutoFit/>
          </a:bodyPr>
          <a:lstStyle/>
          <a:p>
            <a:r>
              <a:rPr sz="1150" b="0">
                <a:solidFill>
                  <a:srgbClr val="2E2E2E"/>
                </a:solidFill>
                <a:latin typeface="Calibri"/>
              </a:rPr>
              <a:t>over</a:t>
            </a:r>
          </a:p>
        </p:txBody>
      </p:sp>
      <p:sp>
        <p:nvSpPr>
          <p:cNvPr id="115" name="TextBox 114"/>
          <p:cNvSpPr txBox="1"/>
          <p:nvPr/>
        </p:nvSpPr>
        <p:spPr>
          <a:xfrm>
            <a:off x="7715250" y="2451735"/>
            <a:ext cx="917199" cy="194310"/>
          </a:xfrm>
          <a:prstGeom prst="rect">
            <a:avLst/>
          </a:prstGeom>
          <a:noFill/>
        </p:spPr>
        <p:txBody>
          <a:bodyPr wrap="none" lIns="0" rIns="0" tIns="0" bIns="0">
            <a:spAutoFit/>
          </a:bodyPr>
          <a:lstStyle/>
          <a:p>
            <a:r>
              <a:rPr sz="1150" b="0">
                <a:solidFill>
                  <a:srgbClr val="2E2E2E"/>
                </a:solidFill>
                <a:latin typeface="Calibri"/>
              </a:rPr>
              <a:t>2026E–2036F.</a:t>
            </a:r>
          </a:p>
        </p:txBody>
      </p:sp>
      <p:sp>
        <p:nvSpPr>
          <p:cNvPr id="116" name="TextBox 115"/>
          <p:cNvSpPr txBox="1"/>
          <p:nvPr/>
        </p:nvSpPr>
        <p:spPr>
          <a:xfrm>
            <a:off x="7715250" y="2679573"/>
            <a:ext cx="4091433" cy="194310"/>
          </a:xfrm>
          <a:prstGeom prst="rect">
            <a:avLst/>
          </a:prstGeom>
          <a:noFill/>
        </p:spPr>
        <p:txBody>
          <a:bodyPr wrap="none" lIns="0" rIns="0" tIns="0" bIns="0">
            <a:spAutoFit/>
          </a:bodyPr>
          <a:lstStyle/>
          <a:p>
            <a:r>
              <a:rPr sz="1150" b="0">
                <a:solidFill>
                  <a:srgbClr val="2E2E2E"/>
                </a:solidFill>
                <a:latin typeface="Calibri"/>
              </a:rPr>
              <a:t>Combined, the top three company × allergen class cells generate an</a:t>
            </a:r>
          </a:p>
        </p:txBody>
      </p:sp>
      <p:sp>
        <p:nvSpPr>
          <p:cNvPr id="117" name="TextBox 116"/>
          <p:cNvSpPr txBox="1"/>
          <p:nvPr/>
        </p:nvSpPr>
        <p:spPr>
          <a:xfrm>
            <a:off x="7715250" y="2854832"/>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118" name="Picture 117" descr="lock.png"/>
          <p:cNvPicPr>
            <a:picLocks noChangeAspect="1"/>
          </p:cNvPicPr>
          <p:nvPr/>
        </p:nvPicPr>
        <p:blipFill>
          <a:blip r:embed="rId4"/>
          <a:stretch>
            <a:fillRect/>
          </a:stretch>
        </p:blipFill>
        <p:spPr>
          <a:xfrm>
            <a:off x="9258439" y="2844609"/>
            <a:ext cx="134549" cy="195707"/>
          </a:xfrm>
          <a:prstGeom prst="rect">
            <a:avLst/>
          </a:prstGeom>
        </p:spPr>
      </p:pic>
      <p:sp>
        <p:nvSpPr>
          <p:cNvPr id="119" name="TextBox 118"/>
          <p:cNvSpPr txBox="1"/>
          <p:nvPr/>
        </p:nvSpPr>
        <p:spPr>
          <a:xfrm>
            <a:off x="9433549" y="285483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Company × Allergen Class, 2026E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allergen class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4248150"/>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Company × Allergen Class, 2026E (% of each row)</a:t>
            </a:r>
          </a:p>
        </p:txBody>
      </p:sp>
      <p:graphicFrame>
        <p:nvGraphicFramePr>
          <p:cNvPr id="13" name="Table 12"/>
          <p:cNvGraphicFramePr>
            <a:graphicFrameLocks noGrp="1"/>
          </p:cNvGraphicFramePr>
          <p:nvPr/>
        </p:nvGraphicFramePr>
        <p:xfrm>
          <a:off x="152400" y="1238250"/>
          <a:ext cx="11888718" cy="3781428"/>
        </p:xfrm>
        <a:graphic>
          <a:graphicData uri="http://schemas.openxmlformats.org/drawingml/2006/table">
            <a:tbl>
              <a:tblPr>
                <a:tableStyleId>{5C22544A-7EE6-4342-B048-85BDC9FD1C3A}</a:tableStyleId>
              </a:tblPr>
              <a:tblGrid>
                <a:gridCol w="2446564"/>
                <a:gridCol w="593094"/>
                <a:gridCol w="573132"/>
                <a:gridCol w="948230"/>
                <a:gridCol w="679371"/>
                <a:gridCol w="948823"/>
                <a:gridCol w="950961"/>
                <a:gridCol w="864265"/>
                <a:gridCol w="1117071"/>
                <a:gridCol w="804584"/>
                <a:gridCol w="530058"/>
                <a:gridCol w="888759"/>
                <a:gridCol w="543806"/>
              </a:tblGrid>
              <a:tr h="246126">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6">
                  <a:txBody>
                    <a:bodyPr wrap="none"/>
                    <a:lstStyle/>
                    <a:p>
                      <a:pPr algn="ctr"/>
                      <a:r>
                        <a:rPr sz="1100" b="1">
                          <a:solidFill>
                            <a:srgbClr val="0B2E4A"/>
                          </a:solidFill>
                          <a:latin typeface="Calibri"/>
                        </a:rPr>
                        <a:t>Inhalant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3">
                  <a:txBody>
                    <a:bodyPr wrap="none"/>
                    <a:lstStyle/>
                    <a:p>
                      <a:pPr algn="ctr"/>
                      <a:r>
                        <a:rPr sz="1100" b="1">
                          <a:solidFill>
                            <a:srgbClr val="0B2E4A"/>
                          </a:solidFill>
                          <a:latin typeface="Calibri"/>
                        </a:rPr>
                        <a:t>Venom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Food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824770">
                <a:tc vMerge="1">
                  <a:txBody>
                    <a:bodyPr wrap="none"/>
                    <a:lstStyle/>
                    <a:p>
                      <a:pPr algn="l"/>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Grass Pollen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Tree Pollen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Weed &amp; Ragweed Pollen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House Dust Mite</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Animal Dander / Epithelia</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Mold &amp; Fungal Allergens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Honeybee Venom</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Wasp / Yellow Jacket / Hornet Venom</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Mixed Vespid Venom</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Peanut</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Other Food Allergens</a:t>
                      </a:r>
                      <a:endParaRPr sz="1100"/>
                    </a:p>
                  </a:txBody>
                  <a:tcPr marL="47625" marR="38100" marT="19050" marB="19050" anchor="ctr">
                    <a:solidFill>
                      <a:srgbClr val="E0E8EF"/>
                    </a:solidFill>
                  </a:tcPr>
                </a:tc>
                <a:tc>
                  <a:txBody>
                    <a:bodyPr wrap="none"/>
                    <a:lstStyle/>
                    <a:p>
                      <a:pPr algn="ctr"/>
                      <a:endParaRPr sz="1100"/>
                    </a:p>
                  </a:txBody>
                  <a:tcPr marL="47625" marR="38100" marT="19050" marB="19050" anchor="ctr">
                    <a:solidFill>
                      <a:srgbClr val="E0E8EF"/>
                    </a:solidFill>
                  </a:tcPr>
                </a:tc>
              </a:tr>
              <a:tr h="246412">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5029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119365" y="3397712"/>
            <a:ext cx="366712" cy="533400"/>
          </a:xfrm>
          <a:prstGeom prst="rect">
            <a:avLst/>
          </a:prstGeom>
        </p:spPr>
      </p:pic>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Company × Allergen Class, 2026E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allergen class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Allergen Class Mix by Company, 2026E (% share)</a:t>
            </a:r>
          </a:p>
        </p:txBody>
      </p:sp>
      <p:graphicFrame>
        <p:nvGraphicFramePr>
          <p:cNvPr id="12" name="Chart 11"/>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5" name="Rectangle 14"/>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816628" y="2804566"/>
            <a:ext cx="230207" cy="334847"/>
          </a:xfrm>
          <a:prstGeom prst="rect">
            <a:avLst/>
          </a:prstGeom>
        </p:spPr>
      </p:pic>
      <p:sp>
        <p:nvSpPr>
          <p:cNvPr id="19" name="TextBox 18"/>
          <p:cNvSpPr txBox="1"/>
          <p:nvPr/>
        </p:nvSpPr>
        <p:spPr>
          <a:xfrm>
            <a:off x="7715250" y="1400175"/>
            <a:ext cx="3659238" cy="194310"/>
          </a:xfrm>
          <a:prstGeom prst="rect">
            <a:avLst/>
          </a:prstGeom>
          <a:noFill/>
        </p:spPr>
        <p:txBody>
          <a:bodyPr wrap="none" lIns="0" rIns="0" tIns="0" bIns="0">
            <a:spAutoFit/>
          </a:bodyPr>
          <a:lstStyle/>
          <a:p>
            <a:r>
              <a:rPr sz="1150" b="0">
                <a:solidFill>
                  <a:srgbClr val="2E2E2E"/>
                </a:solidFill>
                <a:latin typeface="Calibri"/>
              </a:rPr>
              <a:t>▪ 'Grass Pollen' holds the highest share of 'ALK-Abelló A/S' at</a:t>
            </a:r>
          </a:p>
        </p:txBody>
      </p:sp>
      <p:pic>
        <p:nvPicPr>
          <p:cNvPr id="20" name="Picture 19" descr="lock.png"/>
          <p:cNvPicPr>
            <a:picLocks noChangeAspect="1"/>
          </p:cNvPicPr>
          <p:nvPr/>
        </p:nvPicPr>
        <p:blipFill>
          <a:blip r:embed="rId5"/>
          <a:stretch>
            <a:fillRect/>
          </a:stretch>
        </p:blipFill>
        <p:spPr>
          <a:xfrm>
            <a:off x="11323642" y="1389951"/>
            <a:ext cx="134549" cy="195707"/>
          </a:xfrm>
          <a:prstGeom prst="rect">
            <a:avLst/>
          </a:prstGeom>
        </p:spPr>
      </p:pic>
      <p:sp>
        <p:nvSpPr>
          <p:cNvPr id="21" name="TextBox 20"/>
          <p:cNvSpPr txBox="1"/>
          <p:nvPr/>
        </p:nvSpPr>
        <p:spPr>
          <a:xfrm>
            <a:off x="7715250"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2" name="TextBox 21"/>
          <p:cNvSpPr txBox="1"/>
          <p:nvPr/>
        </p:nvSpPr>
        <p:spPr>
          <a:xfrm>
            <a:off x="7715250" y="1803273"/>
            <a:ext cx="4044901" cy="194310"/>
          </a:xfrm>
          <a:prstGeom prst="rect">
            <a:avLst/>
          </a:prstGeom>
          <a:noFill/>
        </p:spPr>
        <p:txBody>
          <a:bodyPr wrap="none" lIns="0" rIns="0" tIns="0" bIns="0">
            <a:spAutoFit/>
          </a:bodyPr>
          <a:lstStyle/>
          <a:p>
            <a:r>
              <a:rPr sz="1150" b="0">
                <a:solidFill>
                  <a:srgbClr val="2E2E2E"/>
                </a:solidFill>
                <a:latin typeface="Calibri"/>
              </a:rPr>
              <a:t>▪ 'ALK-Abelló A/S' is the most concentrated company sub-segment,</a:t>
            </a:r>
          </a:p>
        </p:txBody>
      </p:sp>
      <p:sp>
        <p:nvSpPr>
          <p:cNvPr id="23" name="TextBox 22"/>
          <p:cNvSpPr txBox="1"/>
          <p:nvPr/>
        </p:nvSpPr>
        <p:spPr>
          <a:xfrm>
            <a:off x="7715250" y="1978533"/>
            <a:ext cx="340059" cy="194310"/>
          </a:xfrm>
          <a:prstGeom prst="rect">
            <a:avLst/>
          </a:prstGeom>
          <a:noFill/>
        </p:spPr>
        <p:txBody>
          <a:bodyPr wrap="none" lIns="0" rIns="0" tIns="0" bIns="0">
            <a:spAutoFit/>
          </a:bodyPr>
          <a:lstStyle/>
          <a:p>
            <a:r>
              <a:rPr sz="1150" b="0">
                <a:solidFill>
                  <a:srgbClr val="2E2E2E"/>
                </a:solidFill>
                <a:latin typeface="Calibri"/>
              </a:rPr>
              <a:t>with</a:t>
            </a:r>
          </a:p>
        </p:txBody>
      </p:sp>
      <p:pic>
        <p:nvPicPr>
          <p:cNvPr id="24" name="Picture 23" descr="lock.png"/>
          <p:cNvPicPr>
            <a:picLocks noChangeAspect="1"/>
          </p:cNvPicPr>
          <p:nvPr/>
        </p:nvPicPr>
        <p:blipFill>
          <a:blip r:embed="rId5"/>
          <a:stretch>
            <a:fillRect/>
          </a:stretch>
        </p:blipFill>
        <p:spPr>
          <a:xfrm>
            <a:off x="8004463" y="1968309"/>
            <a:ext cx="134549" cy="195707"/>
          </a:xfrm>
          <a:prstGeom prst="rect">
            <a:avLst/>
          </a:prstGeom>
        </p:spPr>
      </p:pic>
      <p:sp>
        <p:nvSpPr>
          <p:cNvPr id="25" name="TextBox 24"/>
          <p:cNvSpPr txBox="1"/>
          <p:nvPr/>
        </p:nvSpPr>
        <p:spPr>
          <a:xfrm>
            <a:off x="8179573" y="1978533"/>
            <a:ext cx="1789149" cy="194310"/>
          </a:xfrm>
          <a:prstGeom prst="rect">
            <a:avLst/>
          </a:prstGeom>
          <a:noFill/>
        </p:spPr>
        <p:txBody>
          <a:bodyPr wrap="none" lIns="0" rIns="0" tIns="0" bIns="0">
            <a:spAutoFit/>
          </a:bodyPr>
          <a:lstStyle/>
          <a:p>
            <a:r>
              <a:rPr sz="1150" b="0">
                <a:solidFill>
                  <a:srgbClr val="2E2E2E"/>
                </a:solidFill>
                <a:latin typeface="Calibri"/>
              </a:rPr>
              <a:t>of its value via 'Grass Pollen'.</a:t>
            </a:r>
          </a:p>
        </p:txBody>
      </p:sp>
      <p:sp>
        <p:nvSpPr>
          <p:cNvPr id="26" name="TextBox 25"/>
          <p:cNvSpPr txBox="1"/>
          <p:nvPr/>
        </p:nvSpPr>
        <p:spPr>
          <a:xfrm>
            <a:off x="7715250" y="2206371"/>
            <a:ext cx="1400063" cy="194310"/>
          </a:xfrm>
          <a:prstGeom prst="rect">
            <a:avLst/>
          </a:prstGeom>
          <a:noFill/>
        </p:spPr>
        <p:txBody>
          <a:bodyPr wrap="none" lIns="0" rIns="0" tIns="0" bIns="0">
            <a:spAutoFit/>
          </a:bodyPr>
          <a:lstStyle/>
          <a:p>
            <a:r>
              <a:rPr sz="1150" b="0">
                <a:solidFill>
                  <a:srgbClr val="2E2E2E"/>
                </a:solidFill>
                <a:latin typeface="Calibri"/>
              </a:rPr>
              <a:t>▪ 'Grass Pollen' gains +</a:t>
            </a:r>
          </a:p>
        </p:txBody>
      </p:sp>
      <p:pic>
        <p:nvPicPr>
          <p:cNvPr id="27" name="Picture 26" descr="lock.png"/>
          <p:cNvPicPr>
            <a:picLocks noChangeAspect="1"/>
          </p:cNvPicPr>
          <p:nvPr/>
        </p:nvPicPr>
        <p:blipFill>
          <a:blip r:embed="rId5"/>
          <a:stretch>
            <a:fillRect/>
          </a:stretch>
        </p:blipFill>
        <p:spPr>
          <a:xfrm>
            <a:off x="9064467" y="2196147"/>
            <a:ext cx="134549" cy="195707"/>
          </a:xfrm>
          <a:prstGeom prst="rect">
            <a:avLst/>
          </a:prstGeom>
        </p:spPr>
      </p:pic>
      <p:sp>
        <p:nvSpPr>
          <p:cNvPr id="28" name="TextBox 27"/>
          <p:cNvSpPr txBox="1"/>
          <p:nvPr/>
        </p:nvSpPr>
        <p:spPr>
          <a:xfrm>
            <a:off x="9239576" y="2206371"/>
            <a:ext cx="2104640" cy="194310"/>
          </a:xfrm>
          <a:prstGeom prst="rect">
            <a:avLst/>
          </a:prstGeom>
          <a:noFill/>
        </p:spPr>
        <p:txBody>
          <a:bodyPr wrap="none" lIns="0" rIns="0" tIns="0" bIns="0">
            <a:spAutoFit/>
          </a:bodyPr>
          <a:lstStyle/>
          <a:p>
            <a:r>
              <a:rPr sz="1150" b="0">
                <a:solidFill>
                  <a:srgbClr val="2E2E2E"/>
                </a:solidFill>
                <a:latin typeface="Calibri"/>
              </a:rPr>
              <a:t>BPS of share of the North America</a:t>
            </a:r>
          </a:p>
        </p:txBody>
      </p:sp>
      <p:sp>
        <p:nvSpPr>
          <p:cNvPr id="29" name="TextBox 28"/>
          <p:cNvSpPr txBox="1"/>
          <p:nvPr/>
        </p:nvSpPr>
        <p:spPr>
          <a:xfrm>
            <a:off x="7715250" y="2381631"/>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0" name="lockshield_12"/>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Company × Allergen Class,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Company × Allergen Class, 2026E–2036F</a:t>
            </a:r>
          </a:p>
        </p:txBody>
      </p:sp>
      <p:graphicFrame>
        <p:nvGraphicFramePr>
          <p:cNvPr id="13" name="Table 12"/>
          <p:cNvGraphicFramePr>
            <a:graphicFrameLocks noGrp="1"/>
          </p:cNvGraphicFramePr>
          <p:nvPr/>
        </p:nvGraphicFramePr>
        <p:xfrm>
          <a:off x="152400" y="1238250"/>
          <a:ext cx="11887197" cy="3200406"/>
        </p:xfrm>
        <a:graphic>
          <a:graphicData uri="http://schemas.openxmlformats.org/drawingml/2006/table">
            <a:tbl>
              <a:tblPr>
                <a:tableStyleId>{5C22544A-7EE6-4342-B048-85BDC9FD1C3A}</a:tableStyleId>
              </a:tblPr>
              <a:tblGrid>
                <a:gridCol w="4072021"/>
                <a:gridCol w="976897"/>
                <a:gridCol w="976897"/>
                <a:gridCol w="976897"/>
                <a:gridCol w="976897"/>
                <a:gridCol w="976897"/>
                <a:gridCol w="976897"/>
                <a:gridCol w="976897"/>
                <a:gridCol w="976897"/>
              </a:tblGrid>
              <a:tr h="246126">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Inhalant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Venom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Food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190">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781550"/>
            <a:ext cx="560070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86727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7" name="Rectangle 16"/>
          <p:cNvSpPr/>
          <p:nvPr/>
        </p:nvSpPr>
        <p:spPr>
          <a:xfrm>
            <a:off x="276225" y="510540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191125"/>
            <a:ext cx="533400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Rounded Rectangle 18"/>
          <p:cNvSpPr/>
          <p:nvPr/>
        </p:nvSpPr>
        <p:spPr>
          <a:xfrm>
            <a:off x="5895975" y="4781550"/>
            <a:ext cx="194310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29325" y="486727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1" name="Rectangle 20"/>
          <p:cNvSpPr/>
          <p:nvPr/>
        </p:nvSpPr>
        <p:spPr>
          <a:xfrm>
            <a:off x="6029325" y="51054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29325" y="5191125"/>
            <a:ext cx="167640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3" name="Rounded Rectangle 22"/>
          <p:cNvSpPr/>
          <p:nvPr/>
        </p:nvSpPr>
        <p:spPr>
          <a:xfrm>
            <a:off x="7991475" y="4781550"/>
            <a:ext cx="194310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24825" y="486727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5" name="Rectangle 24"/>
          <p:cNvSpPr/>
          <p:nvPr/>
        </p:nvSpPr>
        <p:spPr>
          <a:xfrm>
            <a:off x="8124825" y="51054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24825" y="5191125"/>
            <a:ext cx="167640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7" name="Rounded Rectangle 26"/>
          <p:cNvSpPr/>
          <p:nvPr/>
        </p:nvSpPr>
        <p:spPr>
          <a:xfrm>
            <a:off x="10086975" y="4781550"/>
            <a:ext cx="194310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20325" y="486727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9" name="Rectangle 28"/>
          <p:cNvSpPr/>
          <p:nvPr/>
        </p:nvSpPr>
        <p:spPr>
          <a:xfrm>
            <a:off x="10220325" y="51054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20325" y="5191125"/>
            <a:ext cx="1676400" cy="13620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'ALK-Abelló A/S × Inhalant Allergens' ranks highest (5/5); 'ALK-Abelló A/S × Venom Allergens' lowest (1/5), a deprioritised cell.</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4"/>
          <a:stretch>
            <a:fillRect/>
          </a:stretch>
        </p:blipFill>
        <p:spPr>
          <a:xfrm>
            <a:off x="7945318" y="2817911"/>
            <a:ext cx="366712" cy="533399"/>
          </a:xfrm>
          <a:prstGeom prst="rect">
            <a:avLst/>
          </a:prstGeom>
        </p:spPr>
      </p:pic>
      <p:sp>
        <p:nvSpPr>
          <p:cNvPr id="33" name="TextBox 32"/>
          <p:cNvSpPr txBox="1"/>
          <p:nvPr/>
        </p:nvSpPr>
        <p:spPr>
          <a:xfrm>
            <a:off x="276225" y="5200650"/>
            <a:ext cx="3125256" cy="194310"/>
          </a:xfrm>
          <a:prstGeom prst="rect">
            <a:avLst/>
          </a:prstGeom>
          <a:noFill/>
        </p:spPr>
        <p:txBody>
          <a:bodyPr wrap="none" lIns="0" rIns="0" tIns="0" bIns="0">
            <a:spAutoFit/>
          </a:bodyPr>
          <a:lstStyle/>
          <a:p>
            <a:r>
              <a:rPr sz="1150" b="0">
                <a:solidFill>
                  <a:srgbClr val="2E2E2E"/>
                </a:solidFill>
                <a:latin typeface="Calibri"/>
              </a:rPr>
              <a:t>▪ 1. Jubilant HollisterStier LLC × Inhalant Allergens –</a:t>
            </a:r>
          </a:p>
        </p:txBody>
      </p:sp>
      <p:pic>
        <p:nvPicPr>
          <p:cNvPr id="34" name="Picture 33" descr="lock.png"/>
          <p:cNvPicPr>
            <a:picLocks noChangeAspect="1"/>
          </p:cNvPicPr>
          <p:nvPr/>
        </p:nvPicPr>
        <p:blipFill>
          <a:blip r:embed="rId4"/>
          <a:stretch>
            <a:fillRect/>
          </a:stretch>
        </p:blipFill>
        <p:spPr>
          <a:xfrm>
            <a:off x="3350635" y="5190426"/>
            <a:ext cx="134549" cy="195707"/>
          </a:xfrm>
          <a:prstGeom prst="rect">
            <a:avLst/>
          </a:prstGeom>
        </p:spPr>
      </p:pic>
      <p:sp>
        <p:nvSpPr>
          <p:cNvPr id="35" name="TextBox 34"/>
          <p:cNvSpPr txBox="1"/>
          <p:nvPr/>
        </p:nvSpPr>
        <p:spPr>
          <a:xfrm>
            <a:off x="3525744" y="520065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6" name="Picture 35" descr="lock.png"/>
          <p:cNvPicPr>
            <a:picLocks noChangeAspect="1"/>
          </p:cNvPicPr>
          <p:nvPr/>
        </p:nvPicPr>
        <p:blipFill>
          <a:blip r:embed="rId4"/>
          <a:stretch>
            <a:fillRect/>
          </a:stretch>
        </p:blipFill>
        <p:spPr>
          <a:xfrm>
            <a:off x="3587896" y="5190426"/>
            <a:ext cx="134549" cy="195707"/>
          </a:xfrm>
          <a:prstGeom prst="rect">
            <a:avLst/>
          </a:prstGeom>
        </p:spPr>
      </p:pic>
      <p:sp>
        <p:nvSpPr>
          <p:cNvPr id="37" name="TextBox 36"/>
          <p:cNvSpPr txBox="1"/>
          <p:nvPr/>
        </p:nvSpPr>
        <p:spPr>
          <a:xfrm>
            <a:off x="3763005" y="520065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8" name="TextBox 37"/>
          <p:cNvSpPr txBox="1"/>
          <p:nvPr/>
        </p:nvSpPr>
        <p:spPr>
          <a:xfrm>
            <a:off x="276225" y="5428488"/>
            <a:ext cx="3473484" cy="194310"/>
          </a:xfrm>
          <a:prstGeom prst="rect">
            <a:avLst/>
          </a:prstGeom>
          <a:noFill/>
        </p:spPr>
        <p:txBody>
          <a:bodyPr wrap="none" lIns="0" rIns="0" tIns="0" bIns="0">
            <a:spAutoFit/>
          </a:bodyPr>
          <a:lstStyle/>
          <a:p>
            <a:r>
              <a:rPr sz="1150" b="0">
                <a:solidFill>
                  <a:srgbClr val="2E2E2E"/>
                </a:solidFill>
                <a:latin typeface="Calibri"/>
              </a:rPr>
              <a:t>▪ 2. Allergopharma GmbH &amp; Co. KG × Inhalant Allergens –</a:t>
            </a:r>
          </a:p>
        </p:txBody>
      </p:sp>
      <p:pic>
        <p:nvPicPr>
          <p:cNvPr id="39" name="Picture 38" descr="lock.png"/>
          <p:cNvPicPr>
            <a:picLocks noChangeAspect="1"/>
          </p:cNvPicPr>
          <p:nvPr/>
        </p:nvPicPr>
        <p:blipFill>
          <a:blip r:embed="rId4"/>
          <a:stretch>
            <a:fillRect/>
          </a:stretch>
        </p:blipFill>
        <p:spPr>
          <a:xfrm>
            <a:off x="3698863" y="5418264"/>
            <a:ext cx="134549" cy="195707"/>
          </a:xfrm>
          <a:prstGeom prst="rect">
            <a:avLst/>
          </a:prstGeom>
        </p:spPr>
      </p:pic>
      <p:sp>
        <p:nvSpPr>
          <p:cNvPr id="40" name="TextBox 39"/>
          <p:cNvSpPr txBox="1"/>
          <p:nvPr/>
        </p:nvSpPr>
        <p:spPr>
          <a:xfrm>
            <a:off x="3873973" y="5428488"/>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1" name="Picture 40" descr="lock.png"/>
          <p:cNvPicPr>
            <a:picLocks noChangeAspect="1"/>
          </p:cNvPicPr>
          <p:nvPr/>
        </p:nvPicPr>
        <p:blipFill>
          <a:blip r:embed="rId4"/>
          <a:stretch>
            <a:fillRect/>
          </a:stretch>
        </p:blipFill>
        <p:spPr>
          <a:xfrm>
            <a:off x="3936124" y="5418264"/>
            <a:ext cx="134549" cy="195707"/>
          </a:xfrm>
          <a:prstGeom prst="rect">
            <a:avLst/>
          </a:prstGeom>
        </p:spPr>
      </p:pic>
      <p:sp>
        <p:nvSpPr>
          <p:cNvPr id="42" name="TextBox 41"/>
          <p:cNvSpPr txBox="1"/>
          <p:nvPr/>
        </p:nvSpPr>
        <p:spPr>
          <a:xfrm>
            <a:off x="4111234" y="5428488"/>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3" name="TextBox 42"/>
          <p:cNvSpPr txBox="1"/>
          <p:nvPr/>
        </p:nvSpPr>
        <p:spPr>
          <a:xfrm>
            <a:off x="276225" y="5656325"/>
            <a:ext cx="2508809" cy="194310"/>
          </a:xfrm>
          <a:prstGeom prst="rect">
            <a:avLst/>
          </a:prstGeom>
          <a:noFill/>
        </p:spPr>
        <p:txBody>
          <a:bodyPr wrap="none" lIns="0" rIns="0" tIns="0" bIns="0">
            <a:spAutoFit/>
          </a:bodyPr>
          <a:lstStyle/>
          <a:p>
            <a:r>
              <a:rPr sz="1150" b="0">
                <a:solidFill>
                  <a:srgbClr val="2E2E2E"/>
                </a:solidFill>
                <a:latin typeface="Calibri"/>
              </a:rPr>
              <a:t>▪ 3. ALK-Abelló A/S × Inhalant Allergens –</a:t>
            </a:r>
          </a:p>
        </p:txBody>
      </p:sp>
      <p:pic>
        <p:nvPicPr>
          <p:cNvPr id="44" name="Picture 43" descr="lock.png"/>
          <p:cNvPicPr>
            <a:picLocks noChangeAspect="1"/>
          </p:cNvPicPr>
          <p:nvPr/>
        </p:nvPicPr>
        <p:blipFill>
          <a:blip r:embed="rId4"/>
          <a:stretch>
            <a:fillRect/>
          </a:stretch>
        </p:blipFill>
        <p:spPr>
          <a:xfrm>
            <a:off x="2734188" y="5646102"/>
            <a:ext cx="134549" cy="195707"/>
          </a:xfrm>
          <a:prstGeom prst="rect">
            <a:avLst/>
          </a:prstGeom>
        </p:spPr>
      </p:pic>
      <p:sp>
        <p:nvSpPr>
          <p:cNvPr id="45" name="TextBox 44"/>
          <p:cNvSpPr txBox="1"/>
          <p:nvPr/>
        </p:nvSpPr>
        <p:spPr>
          <a:xfrm>
            <a:off x="2909297" y="565632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6" name="Picture 45" descr="lock.png"/>
          <p:cNvPicPr>
            <a:picLocks noChangeAspect="1"/>
          </p:cNvPicPr>
          <p:nvPr/>
        </p:nvPicPr>
        <p:blipFill>
          <a:blip r:embed="rId4"/>
          <a:stretch>
            <a:fillRect/>
          </a:stretch>
        </p:blipFill>
        <p:spPr>
          <a:xfrm>
            <a:off x="2971449" y="5646102"/>
            <a:ext cx="134549" cy="195707"/>
          </a:xfrm>
          <a:prstGeom prst="rect">
            <a:avLst/>
          </a:prstGeom>
        </p:spPr>
      </p:pic>
      <p:sp>
        <p:nvSpPr>
          <p:cNvPr id="47" name="TextBox 46"/>
          <p:cNvSpPr txBox="1"/>
          <p:nvPr/>
        </p:nvSpPr>
        <p:spPr>
          <a:xfrm>
            <a:off x="3146558" y="565632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8" name="TextBox 47"/>
          <p:cNvSpPr txBox="1"/>
          <p:nvPr/>
        </p:nvSpPr>
        <p:spPr>
          <a:xfrm>
            <a:off x="276225" y="5884163"/>
            <a:ext cx="3041699" cy="194310"/>
          </a:xfrm>
          <a:prstGeom prst="rect">
            <a:avLst/>
          </a:prstGeom>
          <a:noFill/>
        </p:spPr>
        <p:txBody>
          <a:bodyPr wrap="none" lIns="0" rIns="0" tIns="0" bIns="0">
            <a:spAutoFit/>
          </a:bodyPr>
          <a:lstStyle/>
          <a:p>
            <a:r>
              <a:rPr sz="1150" b="0">
                <a:solidFill>
                  <a:srgbClr val="2E2E2E"/>
                </a:solidFill>
                <a:latin typeface="Calibri"/>
              </a:rPr>
              <a:t>▪ 4. Allergy Therapeutics plc × Inhalant Allergens –</a:t>
            </a:r>
          </a:p>
        </p:txBody>
      </p:sp>
      <p:pic>
        <p:nvPicPr>
          <p:cNvPr id="49" name="Picture 48" descr="lock.png"/>
          <p:cNvPicPr>
            <a:picLocks noChangeAspect="1"/>
          </p:cNvPicPr>
          <p:nvPr/>
        </p:nvPicPr>
        <p:blipFill>
          <a:blip r:embed="rId4"/>
          <a:stretch>
            <a:fillRect/>
          </a:stretch>
        </p:blipFill>
        <p:spPr>
          <a:xfrm>
            <a:off x="3267078" y="5873940"/>
            <a:ext cx="134549" cy="195707"/>
          </a:xfrm>
          <a:prstGeom prst="rect">
            <a:avLst/>
          </a:prstGeom>
        </p:spPr>
      </p:pic>
      <p:sp>
        <p:nvSpPr>
          <p:cNvPr id="50" name="TextBox 49"/>
          <p:cNvSpPr txBox="1"/>
          <p:nvPr/>
        </p:nvSpPr>
        <p:spPr>
          <a:xfrm>
            <a:off x="3442187" y="58841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1" name="Picture 50" descr="lock.png"/>
          <p:cNvPicPr>
            <a:picLocks noChangeAspect="1"/>
          </p:cNvPicPr>
          <p:nvPr/>
        </p:nvPicPr>
        <p:blipFill>
          <a:blip r:embed="rId4"/>
          <a:stretch>
            <a:fillRect/>
          </a:stretch>
        </p:blipFill>
        <p:spPr>
          <a:xfrm>
            <a:off x="3504339" y="5873940"/>
            <a:ext cx="134549" cy="195707"/>
          </a:xfrm>
          <a:prstGeom prst="rect">
            <a:avLst/>
          </a:prstGeom>
        </p:spPr>
      </p:pic>
      <p:sp>
        <p:nvSpPr>
          <p:cNvPr id="52" name="TextBox 51"/>
          <p:cNvSpPr txBox="1"/>
          <p:nvPr/>
        </p:nvSpPr>
        <p:spPr>
          <a:xfrm>
            <a:off x="3679448" y="588416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3" name="TextBox 52"/>
          <p:cNvSpPr txBox="1"/>
          <p:nvPr/>
        </p:nvSpPr>
        <p:spPr>
          <a:xfrm>
            <a:off x="276225" y="6112001"/>
            <a:ext cx="2835568" cy="194310"/>
          </a:xfrm>
          <a:prstGeom prst="rect">
            <a:avLst/>
          </a:prstGeom>
          <a:noFill/>
        </p:spPr>
        <p:txBody>
          <a:bodyPr wrap="none" lIns="0" rIns="0" tIns="0" bIns="0">
            <a:spAutoFit/>
          </a:bodyPr>
          <a:lstStyle/>
          <a:p>
            <a:r>
              <a:rPr sz="1150" b="0">
                <a:solidFill>
                  <a:srgbClr val="2E2E2E"/>
                </a:solidFill>
                <a:latin typeface="Calibri"/>
              </a:rPr>
              <a:t>▪ 5. DIATER Laboratories × Inhalant Allergens –</a:t>
            </a:r>
          </a:p>
        </p:txBody>
      </p:sp>
      <p:pic>
        <p:nvPicPr>
          <p:cNvPr id="54" name="Picture 53" descr="lock.png"/>
          <p:cNvPicPr>
            <a:picLocks noChangeAspect="1"/>
          </p:cNvPicPr>
          <p:nvPr/>
        </p:nvPicPr>
        <p:blipFill>
          <a:blip r:embed="rId4"/>
          <a:stretch>
            <a:fillRect/>
          </a:stretch>
        </p:blipFill>
        <p:spPr>
          <a:xfrm>
            <a:off x="3060946" y="6101778"/>
            <a:ext cx="134549" cy="195707"/>
          </a:xfrm>
          <a:prstGeom prst="rect">
            <a:avLst/>
          </a:prstGeom>
        </p:spPr>
      </p:pic>
      <p:sp>
        <p:nvSpPr>
          <p:cNvPr id="55" name="TextBox 54"/>
          <p:cNvSpPr txBox="1"/>
          <p:nvPr/>
        </p:nvSpPr>
        <p:spPr>
          <a:xfrm>
            <a:off x="3236056" y="611200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6" name="Picture 55" descr="lock.png"/>
          <p:cNvPicPr>
            <a:picLocks noChangeAspect="1"/>
          </p:cNvPicPr>
          <p:nvPr/>
        </p:nvPicPr>
        <p:blipFill>
          <a:blip r:embed="rId4"/>
          <a:stretch>
            <a:fillRect/>
          </a:stretch>
        </p:blipFill>
        <p:spPr>
          <a:xfrm>
            <a:off x="3298207" y="6101778"/>
            <a:ext cx="134549" cy="195707"/>
          </a:xfrm>
          <a:prstGeom prst="rect">
            <a:avLst/>
          </a:prstGeom>
        </p:spPr>
      </p:pic>
      <p:sp>
        <p:nvSpPr>
          <p:cNvPr id="57" name="TextBox 56"/>
          <p:cNvSpPr txBox="1"/>
          <p:nvPr/>
        </p:nvSpPr>
        <p:spPr>
          <a:xfrm>
            <a:off x="3473317" y="6112001"/>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8" name="TextBox 57"/>
          <p:cNvSpPr txBox="1"/>
          <p:nvPr/>
        </p:nvSpPr>
        <p:spPr>
          <a:xfrm>
            <a:off x="6029325" y="5200650"/>
            <a:ext cx="1657350" cy="194310"/>
          </a:xfrm>
          <a:prstGeom prst="rect">
            <a:avLst/>
          </a:prstGeom>
          <a:noFill/>
        </p:spPr>
        <p:txBody>
          <a:bodyPr wrap="none" lIns="0" rIns="0" tIns="0" bIns="0">
            <a:spAutoFit/>
          </a:bodyPr>
          <a:lstStyle/>
          <a:p>
            <a:r>
              <a:rPr sz="1150" b="0">
                <a:solidFill>
                  <a:srgbClr val="2E2E2E"/>
                </a:solidFill>
                <a:latin typeface="Calibri"/>
              </a:rPr>
              <a:t>▪ 'Jubilant HollisterStier LLC</a:t>
            </a:r>
          </a:p>
        </p:txBody>
      </p:sp>
      <p:sp>
        <p:nvSpPr>
          <p:cNvPr id="59" name="TextBox 58"/>
          <p:cNvSpPr txBox="1"/>
          <p:nvPr/>
        </p:nvSpPr>
        <p:spPr>
          <a:xfrm>
            <a:off x="6029325" y="5375910"/>
            <a:ext cx="1601167" cy="194310"/>
          </a:xfrm>
          <a:prstGeom prst="rect">
            <a:avLst/>
          </a:prstGeom>
          <a:noFill/>
        </p:spPr>
        <p:txBody>
          <a:bodyPr wrap="none" lIns="0" rIns="0" tIns="0" bIns="0">
            <a:spAutoFit/>
          </a:bodyPr>
          <a:lstStyle/>
          <a:p>
            <a:r>
              <a:rPr sz="1150" b="0">
                <a:solidFill>
                  <a:srgbClr val="2E2E2E"/>
                </a:solidFill>
                <a:latin typeface="Calibri"/>
              </a:rPr>
              <a:t>× Inhalant Allergens' adds</a:t>
            </a:r>
          </a:p>
        </p:txBody>
      </p:sp>
      <p:pic>
        <p:nvPicPr>
          <p:cNvPr id="60" name="Picture 59" descr="lock.png"/>
          <p:cNvPicPr>
            <a:picLocks noChangeAspect="1"/>
          </p:cNvPicPr>
          <p:nvPr/>
        </p:nvPicPr>
        <p:blipFill>
          <a:blip r:embed="rId4"/>
          <a:stretch>
            <a:fillRect/>
          </a:stretch>
        </p:blipFill>
        <p:spPr>
          <a:xfrm>
            <a:off x="6015245" y="5540946"/>
            <a:ext cx="134549" cy="195707"/>
          </a:xfrm>
          <a:prstGeom prst="rect">
            <a:avLst/>
          </a:prstGeom>
        </p:spPr>
      </p:pic>
      <p:sp>
        <p:nvSpPr>
          <p:cNvPr id="61" name="TextBox 60"/>
          <p:cNvSpPr txBox="1"/>
          <p:nvPr/>
        </p:nvSpPr>
        <p:spPr>
          <a:xfrm>
            <a:off x="6190354" y="5551170"/>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62" name="Picture 61" descr="lock.png"/>
          <p:cNvPicPr>
            <a:picLocks noChangeAspect="1"/>
          </p:cNvPicPr>
          <p:nvPr/>
        </p:nvPicPr>
        <p:blipFill>
          <a:blip r:embed="rId4"/>
          <a:stretch>
            <a:fillRect/>
          </a:stretch>
        </p:blipFill>
        <p:spPr>
          <a:xfrm>
            <a:off x="6015245" y="5716206"/>
            <a:ext cx="134549" cy="195707"/>
          </a:xfrm>
          <a:prstGeom prst="rect">
            <a:avLst/>
          </a:prstGeom>
        </p:spPr>
      </p:pic>
      <p:sp>
        <p:nvSpPr>
          <p:cNvPr id="63" name="TextBox 62"/>
          <p:cNvSpPr txBox="1"/>
          <p:nvPr/>
        </p:nvSpPr>
        <p:spPr>
          <a:xfrm>
            <a:off x="6190354" y="572642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4" name="TextBox 63"/>
          <p:cNvSpPr txBox="1"/>
          <p:nvPr/>
        </p:nvSpPr>
        <p:spPr>
          <a:xfrm>
            <a:off x="6029325" y="590168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5" name="TextBox 64"/>
          <p:cNvSpPr txBox="1"/>
          <p:nvPr/>
        </p:nvSpPr>
        <p:spPr>
          <a:xfrm>
            <a:off x="8124825" y="5200650"/>
            <a:ext cx="1386085" cy="194310"/>
          </a:xfrm>
          <a:prstGeom prst="rect">
            <a:avLst/>
          </a:prstGeom>
          <a:noFill/>
        </p:spPr>
        <p:txBody>
          <a:bodyPr wrap="none" lIns="0" rIns="0" tIns="0" bIns="0">
            <a:spAutoFit/>
          </a:bodyPr>
          <a:lstStyle/>
          <a:p>
            <a:r>
              <a:rPr sz="1150" b="0">
                <a:solidFill>
                  <a:srgbClr val="2E2E2E"/>
                </a:solidFill>
                <a:latin typeface="Calibri"/>
              </a:rPr>
              <a:t>▪ 'HAL Allergy Group ×</a:t>
            </a:r>
          </a:p>
        </p:txBody>
      </p:sp>
      <p:sp>
        <p:nvSpPr>
          <p:cNvPr id="66" name="TextBox 65"/>
          <p:cNvSpPr txBox="1"/>
          <p:nvPr/>
        </p:nvSpPr>
        <p:spPr>
          <a:xfrm>
            <a:off x="8124825" y="5375910"/>
            <a:ext cx="1657350" cy="194310"/>
          </a:xfrm>
          <a:prstGeom prst="rect">
            <a:avLst/>
          </a:prstGeom>
          <a:noFill/>
        </p:spPr>
        <p:txBody>
          <a:bodyPr wrap="none" lIns="0" rIns="0" tIns="0" bIns="0">
            <a:spAutoFit/>
          </a:bodyPr>
          <a:lstStyle/>
          <a:p>
            <a:r>
              <a:rPr sz="1150" b="0">
                <a:solidFill>
                  <a:srgbClr val="2E2E2E"/>
                </a:solidFill>
                <a:latin typeface="Calibri"/>
              </a:rPr>
              <a:t>Inhalant Allergens' grows at</a:t>
            </a:r>
          </a:p>
        </p:txBody>
      </p:sp>
      <p:sp>
        <p:nvSpPr>
          <p:cNvPr id="67" name="TextBox 66"/>
          <p:cNvSpPr txBox="1"/>
          <p:nvPr/>
        </p:nvSpPr>
        <p:spPr>
          <a:xfrm>
            <a:off x="8124825" y="5551170"/>
            <a:ext cx="146087" cy="194310"/>
          </a:xfrm>
          <a:prstGeom prst="rect">
            <a:avLst/>
          </a:prstGeom>
          <a:noFill/>
        </p:spPr>
        <p:txBody>
          <a:bodyPr wrap="none" lIns="0" rIns="0" tIns="0" bIns="0">
            <a:spAutoFit/>
          </a:bodyPr>
          <a:lstStyle/>
          <a:p>
            <a:r>
              <a:rPr sz="1150" b="0">
                <a:solidFill>
                  <a:srgbClr val="2E2E2E"/>
                </a:solidFill>
                <a:latin typeface="Calibri"/>
              </a:rPr>
              <a:t>a</a:t>
            </a:r>
          </a:p>
        </p:txBody>
      </p:sp>
      <p:pic>
        <p:nvPicPr>
          <p:cNvPr id="68" name="Picture 67" descr="lock.png"/>
          <p:cNvPicPr>
            <a:picLocks noChangeAspect="1"/>
          </p:cNvPicPr>
          <p:nvPr/>
        </p:nvPicPr>
        <p:blipFill>
          <a:blip r:embed="rId4"/>
          <a:stretch>
            <a:fillRect/>
          </a:stretch>
        </p:blipFill>
        <p:spPr>
          <a:xfrm>
            <a:off x="8220066" y="5540946"/>
            <a:ext cx="134549" cy="195707"/>
          </a:xfrm>
          <a:prstGeom prst="rect">
            <a:avLst/>
          </a:prstGeom>
        </p:spPr>
      </p:pic>
      <p:sp>
        <p:nvSpPr>
          <p:cNvPr id="69" name="TextBox 68"/>
          <p:cNvSpPr txBox="1"/>
          <p:nvPr/>
        </p:nvSpPr>
        <p:spPr>
          <a:xfrm>
            <a:off x="8395175" y="5551170"/>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0" name="Picture 69" descr="lock.png"/>
          <p:cNvPicPr>
            <a:picLocks noChangeAspect="1"/>
          </p:cNvPicPr>
          <p:nvPr/>
        </p:nvPicPr>
        <p:blipFill>
          <a:blip r:embed="rId4"/>
          <a:stretch>
            <a:fillRect/>
          </a:stretch>
        </p:blipFill>
        <p:spPr>
          <a:xfrm>
            <a:off x="8790771" y="5540946"/>
            <a:ext cx="134549" cy="195707"/>
          </a:xfrm>
          <a:prstGeom prst="rect">
            <a:avLst/>
          </a:prstGeom>
        </p:spPr>
      </p:pic>
      <p:sp>
        <p:nvSpPr>
          <p:cNvPr id="71" name="TextBox 70"/>
          <p:cNvSpPr txBox="1"/>
          <p:nvPr/>
        </p:nvSpPr>
        <p:spPr>
          <a:xfrm>
            <a:off x="8965880" y="5551170"/>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72" name="TextBox 71"/>
          <p:cNvSpPr txBox="1"/>
          <p:nvPr/>
        </p:nvSpPr>
        <p:spPr>
          <a:xfrm>
            <a:off x="8124825" y="5726429"/>
            <a:ext cx="1517017" cy="194310"/>
          </a:xfrm>
          <a:prstGeom prst="rect">
            <a:avLst/>
          </a:prstGeom>
          <a:noFill/>
        </p:spPr>
        <p:txBody>
          <a:bodyPr wrap="none" lIns="0" rIns="0" tIns="0" bIns="0">
            <a:spAutoFit/>
          </a:bodyPr>
          <a:lstStyle/>
          <a:p>
            <a:r>
              <a:rPr sz="1150" b="0">
                <a:solidFill>
                  <a:srgbClr val="2E2E2E"/>
                </a:solidFill>
                <a:latin typeface="Calibri"/>
              </a:rPr>
              <a:t>above the cross-section.</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Company × Therapy Format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Company × Therapy Format,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company sub-segment across therapy format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Company × Therapy Format, 2026E and 2036F (US$ Mn)</a:t>
            </a:r>
          </a:p>
        </p:txBody>
      </p:sp>
      <p:graphicFrame>
        <p:nvGraphicFramePr>
          <p:cNvPr id="13" name="Table 12"/>
          <p:cNvGraphicFramePr>
            <a:graphicFrameLocks noGrp="1"/>
          </p:cNvGraphicFramePr>
          <p:nvPr/>
        </p:nvGraphicFramePr>
        <p:xfrm>
          <a:off x="152400" y="1238250"/>
          <a:ext cx="11887199" cy="3400428"/>
        </p:xfrm>
        <a:graphic>
          <a:graphicData uri="http://schemas.openxmlformats.org/drawingml/2006/table">
            <a:tbl>
              <a:tblPr>
                <a:tableStyleId>{5C22544A-7EE6-4342-B048-85BDC9FD1C3A}</a:tableStyleId>
              </a:tblPr>
              <a:tblGrid>
                <a:gridCol w="4653631"/>
                <a:gridCol w="904196"/>
                <a:gridCol w="904196"/>
                <a:gridCol w="904196"/>
                <a:gridCol w="904196"/>
                <a:gridCol w="904196"/>
                <a:gridCol w="904196"/>
                <a:gridCol w="904196"/>
                <a:gridCol w="904196"/>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Subcutaneous</a:t>
                      </a:r>
                      <a:endParaRPr sz="1100"/>
                    </a:p>
                    <a:p>
                      <a:pPr algn="ctr"/>
                      <a:r>
                        <a:rPr sz="1100" b="1">
                          <a:solidFill>
                            <a:srgbClr val="0B2E4A"/>
                          </a:solidFill>
                          <a:latin typeface="Calibri"/>
                        </a:rPr>
                        <a:t>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Sublingual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93">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793">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648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8236125" y="3014616"/>
            <a:ext cx="366712" cy="533400"/>
          </a:xfrm>
          <a:prstGeom prst="rect">
            <a:avLst/>
          </a:prstGeom>
        </p:spPr>
      </p:pic>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Company × Therapy Format,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company sub-segment across therapy format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Company → Therapy Format, 2036F (US$ Mn)</a:t>
            </a:r>
          </a:p>
        </p:txBody>
      </p:sp>
      <p:sp>
        <p:nvSpPr>
          <p:cNvPr id="12" name="Freeform 11"/>
          <p:cNvSpPr/>
          <p:nvPr/>
        </p:nvSpPr>
        <p:spPr>
          <a:xfrm>
            <a:off x="2057400" y="1304925"/>
            <a:ext cx="3743325" cy="447675"/>
          </a:xfrm>
          <a:custGeom>
            <a:avLst/>
            <a:gdLst/>
            <a:ahLst/>
            <a:cxnLst/>
            <a:rect l="l" t="t" r="r" b="b"/>
            <a:pathLst>
              <a:path w="393" h="47">
                <a:moveTo>
                  <a:pt x="0" y="0"/>
                </a:moveTo>
                <a:lnTo>
                  <a:pt x="16" y="0"/>
                </a:lnTo>
                <a:lnTo>
                  <a:pt x="33" y="0"/>
                </a:lnTo>
                <a:lnTo>
                  <a:pt x="49" y="1"/>
                </a:lnTo>
                <a:lnTo>
                  <a:pt x="65" y="2"/>
                </a:lnTo>
                <a:lnTo>
                  <a:pt x="82" y="2"/>
                </a:lnTo>
                <a:lnTo>
                  <a:pt x="98" y="3"/>
                </a:lnTo>
                <a:lnTo>
                  <a:pt x="114" y="4"/>
                </a:lnTo>
                <a:lnTo>
                  <a:pt x="131" y="5"/>
                </a:lnTo>
                <a:lnTo>
                  <a:pt x="147" y="7"/>
                </a:lnTo>
                <a:lnTo>
                  <a:pt x="164" y="8"/>
                </a:lnTo>
                <a:lnTo>
                  <a:pt x="180" y="9"/>
                </a:lnTo>
                <a:lnTo>
                  <a:pt x="196" y="11"/>
                </a:lnTo>
                <a:lnTo>
                  <a:pt x="213" y="12"/>
                </a:lnTo>
                <a:lnTo>
                  <a:pt x="229" y="13"/>
                </a:lnTo>
                <a:lnTo>
                  <a:pt x="246" y="14"/>
                </a:lnTo>
                <a:lnTo>
                  <a:pt x="262" y="16"/>
                </a:lnTo>
                <a:lnTo>
                  <a:pt x="278" y="17"/>
                </a:lnTo>
                <a:lnTo>
                  <a:pt x="295" y="18"/>
                </a:lnTo>
                <a:lnTo>
                  <a:pt x="311" y="19"/>
                </a:lnTo>
                <a:lnTo>
                  <a:pt x="327" y="19"/>
                </a:lnTo>
                <a:lnTo>
                  <a:pt x="344" y="20"/>
                </a:lnTo>
                <a:lnTo>
                  <a:pt x="360" y="21"/>
                </a:lnTo>
                <a:lnTo>
                  <a:pt x="377" y="21"/>
                </a:lnTo>
                <a:lnTo>
                  <a:pt x="393" y="21"/>
                </a:lnTo>
                <a:lnTo>
                  <a:pt x="393" y="47"/>
                </a:lnTo>
                <a:lnTo>
                  <a:pt x="377" y="47"/>
                </a:lnTo>
                <a:lnTo>
                  <a:pt x="360" y="46"/>
                </a:lnTo>
                <a:lnTo>
                  <a:pt x="344" y="46"/>
                </a:lnTo>
                <a:lnTo>
                  <a:pt x="327" y="45"/>
                </a:lnTo>
                <a:lnTo>
                  <a:pt x="311" y="44"/>
                </a:lnTo>
                <a:lnTo>
                  <a:pt x="295" y="43"/>
                </a:lnTo>
                <a:lnTo>
                  <a:pt x="278" y="42"/>
                </a:lnTo>
                <a:lnTo>
                  <a:pt x="262" y="41"/>
                </a:lnTo>
                <a:lnTo>
                  <a:pt x="246" y="40"/>
                </a:lnTo>
                <a:lnTo>
                  <a:pt x="229" y="39"/>
                </a:lnTo>
                <a:lnTo>
                  <a:pt x="213" y="38"/>
                </a:lnTo>
                <a:lnTo>
                  <a:pt x="196" y="36"/>
                </a:lnTo>
                <a:lnTo>
                  <a:pt x="180" y="35"/>
                </a:lnTo>
                <a:lnTo>
                  <a:pt x="164" y="34"/>
                </a:lnTo>
                <a:lnTo>
                  <a:pt x="147" y="32"/>
                </a:lnTo>
                <a:lnTo>
                  <a:pt x="131" y="31"/>
                </a:lnTo>
                <a:lnTo>
                  <a:pt x="114" y="30"/>
                </a:lnTo>
                <a:lnTo>
                  <a:pt x="98" y="29"/>
                </a:lnTo>
                <a:lnTo>
                  <a:pt x="82" y="28"/>
                </a:lnTo>
                <a:lnTo>
                  <a:pt x="65" y="27"/>
                </a:lnTo>
                <a:lnTo>
                  <a:pt x="49" y="27"/>
                </a:lnTo>
                <a:lnTo>
                  <a:pt x="33" y="26"/>
                </a:lnTo>
                <a:lnTo>
                  <a:pt x="16" y="26"/>
                </a:lnTo>
                <a:lnTo>
                  <a:pt x="0" y="2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552575"/>
            <a:ext cx="3743325" cy="2667000"/>
          </a:xfrm>
          <a:custGeom>
            <a:avLst/>
            <a:gdLst/>
            <a:ahLst/>
            <a:cxnLst/>
            <a:rect l="l" t="t" r="r" b="b"/>
            <a:pathLst>
              <a:path w="393" h="280">
                <a:moveTo>
                  <a:pt x="0" y="0"/>
                </a:moveTo>
                <a:lnTo>
                  <a:pt x="16" y="1"/>
                </a:lnTo>
                <a:lnTo>
                  <a:pt x="33" y="5"/>
                </a:lnTo>
                <a:lnTo>
                  <a:pt x="49" y="11"/>
                </a:lnTo>
                <a:lnTo>
                  <a:pt x="65" y="19"/>
                </a:lnTo>
                <a:lnTo>
                  <a:pt x="82" y="29"/>
                </a:lnTo>
                <a:lnTo>
                  <a:pt x="98" y="40"/>
                </a:lnTo>
                <a:lnTo>
                  <a:pt x="114" y="53"/>
                </a:lnTo>
                <a:lnTo>
                  <a:pt x="131" y="67"/>
                </a:lnTo>
                <a:lnTo>
                  <a:pt x="147" y="82"/>
                </a:lnTo>
                <a:lnTo>
                  <a:pt x="164" y="97"/>
                </a:lnTo>
                <a:lnTo>
                  <a:pt x="180" y="113"/>
                </a:lnTo>
                <a:lnTo>
                  <a:pt x="196" y="130"/>
                </a:lnTo>
                <a:lnTo>
                  <a:pt x="213" y="146"/>
                </a:lnTo>
                <a:lnTo>
                  <a:pt x="229" y="162"/>
                </a:lnTo>
                <a:lnTo>
                  <a:pt x="246" y="177"/>
                </a:lnTo>
                <a:lnTo>
                  <a:pt x="262" y="192"/>
                </a:lnTo>
                <a:lnTo>
                  <a:pt x="278" y="206"/>
                </a:lnTo>
                <a:lnTo>
                  <a:pt x="295" y="219"/>
                </a:lnTo>
                <a:lnTo>
                  <a:pt x="311" y="230"/>
                </a:lnTo>
                <a:lnTo>
                  <a:pt x="327" y="240"/>
                </a:lnTo>
                <a:lnTo>
                  <a:pt x="344" y="248"/>
                </a:lnTo>
                <a:lnTo>
                  <a:pt x="360" y="254"/>
                </a:lnTo>
                <a:lnTo>
                  <a:pt x="377" y="258"/>
                </a:lnTo>
                <a:lnTo>
                  <a:pt x="393" y="259"/>
                </a:lnTo>
                <a:lnTo>
                  <a:pt x="393" y="280"/>
                </a:lnTo>
                <a:lnTo>
                  <a:pt x="377" y="279"/>
                </a:lnTo>
                <a:lnTo>
                  <a:pt x="360" y="275"/>
                </a:lnTo>
                <a:lnTo>
                  <a:pt x="344" y="269"/>
                </a:lnTo>
                <a:lnTo>
                  <a:pt x="327" y="261"/>
                </a:lnTo>
                <a:lnTo>
                  <a:pt x="311" y="251"/>
                </a:lnTo>
                <a:lnTo>
                  <a:pt x="295" y="239"/>
                </a:lnTo>
                <a:lnTo>
                  <a:pt x="278" y="227"/>
                </a:lnTo>
                <a:lnTo>
                  <a:pt x="262" y="213"/>
                </a:lnTo>
                <a:lnTo>
                  <a:pt x="246" y="198"/>
                </a:lnTo>
                <a:lnTo>
                  <a:pt x="229" y="182"/>
                </a:lnTo>
                <a:lnTo>
                  <a:pt x="213" y="166"/>
                </a:lnTo>
                <a:lnTo>
                  <a:pt x="196" y="150"/>
                </a:lnTo>
                <a:lnTo>
                  <a:pt x="180" y="134"/>
                </a:lnTo>
                <a:lnTo>
                  <a:pt x="164" y="118"/>
                </a:lnTo>
                <a:lnTo>
                  <a:pt x="147" y="103"/>
                </a:lnTo>
                <a:lnTo>
                  <a:pt x="131" y="88"/>
                </a:lnTo>
                <a:lnTo>
                  <a:pt x="114" y="74"/>
                </a:lnTo>
                <a:lnTo>
                  <a:pt x="98" y="61"/>
                </a:lnTo>
                <a:lnTo>
                  <a:pt x="82" y="49"/>
                </a:lnTo>
                <a:lnTo>
                  <a:pt x="65" y="40"/>
                </a:lnTo>
                <a:lnTo>
                  <a:pt x="49" y="32"/>
                </a:lnTo>
                <a:lnTo>
                  <a:pt x="33" y="25"/>
                </a:lnTo>
                <a:lnTo>
                  <a:pt x="16" y="22"/>
                </a:lnTo>
                <a:lnTo>
                  <a:pt x="0" y="2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1743075"/>
            <a:ext cx="3743325" cy="4333875"/>
          </a:xfrm>
          <a:custGeom>
            <a:avLst/>
            <a:gdLst/>
            <a:ahLst/>
            <a:cxnLst/>
            <a:rect l="l" t="t" r="r" b="b"/>
            <a:pathLst>
              <a:path w="393" h="455">
                <a:moveTo>
                  <a:pt x="0" y="0"/>
                </a:moveTo>
                <a:lnTo>
                  <a:pt x="16" y="3"/>
                </a:lnTo>
                <a:lnTo>
                  <a:pt x="33" y="9"/>
                </a:lnTo>
                <a:lnTo>
                  <a:pt x="49" y="20"/>
                </a:lnTo>
                <a:lnTo>
                  <a:pt x="65" y="34"/>
                </a:lnTo>
                <a:lnTo>
                  <a:pt x="82" y="51"/>
                </a:lnTo>
                <a:lnTo>
                  <a:pt x="98" y="71"/>
                </a:lnTo>
                <a:lnTo>
                  <a:pt x="114" y="93"/>
                </a:lnTo>
                <a:lnTo>
                  <a:pt x="131" y="117"/>
                </a:lnTo>
                <a:lnTo>
                  <a:pt x="147" y="143"/>
                </a:lnTo>
                <a:lnTo>
                  <a:pt x="164" y="170"/>
                </a:lnTo>
                <a:lnTo>
                  <a:pt x="180" y="198"/>
                </a:lnTo>
                <a:lnTo>
                  <a:pt x="196" y="226"/>
                </a:lnTo>
                <a:lnTo>
                  <a:pt x="213" y="254"/>
                </a:lnTo>
                <a:lnTo>
                  <a:pt x="229" y="282"/>
                </a:lnTo>
                <a:lnTo>
                  <a:pt x="246" y="309"/>
                </a:lnTo>
                <a:lnTo>
                  <a:pt x="262" y="335"/>
                </a:lnTo>
                <a:lnTo>
                  <a:pt x="278" y="359"/>
                </a:lnTo>
                <a:lnTo>
                  <a:pt x="295" y="381"/>
                </a:lnTo>
                <a:lnTo>
                  <a:pt x="311" y="401"/>
                </a:lnTo>
                <a:lnTo>
                  <a:pt x="327" y="418"/>
                </a:lnTo>
                <a:lnTo>
                  <a:pt x="344" y="432"/>
                </a:lnTo>
                <a:lnTo>
                  <a:pt x="360" y="443"/>
                </a:lnTo>
                <a:lnTo>
                  <a:pt x="377" y="449"/>
                </a:lnTo>
                <a:lnTo>
                  <a:pt x="393" y="452"/>
                </a:lnTo>
                <a:lnTo>
                  <a:pt x="393" y="455"/>
                </a:lnTo>
                <a:lnTo>
                  <a:pt x="377" y="452"/>
                </a:lnTo>
                <a:lnTo>
                  <a:pt x="360" y="446"/>
                </a:lnTo>
                <a:lnTo>
                  <a:pt x="344" y="435"/>
                </a:lnTo>
                <a:lnTo>
                  <a:pt x="327" y="421"/>
                </a:lnTo>
                <a:lnTo>
                  <a:pt x="311" y="404"/>
                </a:lnTo>
                <a:lnTo>
                  <a:pt x="295" y="384"/>
                </a:lnTo>
                <a:lnTo>
                  <a:pt x="278" y="362"/>
                </a:lnTo>
                <a:lnTo>
                  <a:pt x="262" y="338"/>
                </a:lnTo>
                <a:lnTo>
                  <a:pt x="246" y="312"/>
                </a:lnTo>
                <a:lnTo>
                  <a:pt x="229" y="285"/>
                </a:lnTo>
                <a:lnTo>
                  <a:pt x="213" y="257"/>
                </a:lnTo>
                <a:lnTo>
                  <a:pt x="196" y="229"/>
                </a:lnTo>
                <a:lnTo>
                  <a:pt x="180" y="201"/>
                </a:lnTo>
                <a:lnTo>
                  <a:pt x="164" y="173"/>
                </a:lnTo>
                <a:lnTo>
                  <a:pt x="147" y="146"/>
                </a:lnTo>
                <a:lnTo>
                  <a:pt x="131" y="120"/>
                </a:lnTo>
                <a:lnTo>
                  <a:pt x="114" y="96"/>
                </a:lnTo>
                <a:lnTo>
                  <a:pt x="98" y="74"/>
                </a:lnTo>
                <a:lnTo>
                  <a:pt x="82" y="54"/>
                </a:lnTo>
                <a:lnTo>
                  <a:pt x="65" y="37"/>
                </a:lnTo>
                <a:lnTo>
                  <a:pt x="49" y="23"/>
                </a:lnTo>
                <a:lnTo>
                  <a:pt x="33" y="12"/>
                </a:lnTo>
                <a:lnTo>
                  <a:pt x="16" y="6"/>
                </a:lnTo>
                <a:lnTo>
                  <a:pt x="0" y="4"/>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1752600"/>
            <a:ext cx="3743325" cy="314325"/>
          </a:xfrm>
          <a:custGeom>
            <a:avLst/>
            <a:gdLst/>
            <a:ahLst/>
            <a:cxnLst/>
            <a:rect l="l" t="t" r="r" b="b"/>
            <a:pathLst>
              <a:path w="393" h="33">
                <a:moveTo>
                  <a:pt x="0" y="9"/>
                </a:moveTo>
                <a:lnTo>
                  <a:pt x="16" y="8"/>
                </a:lnTo>
                <a:lnTo>
                  <a:pt x="33" y="8"/>
                </a:lnTo>
                <a:lnTo>
                  <a:pt x="49" y="8"/>
                </a:lnTo>
                <a:lnTo>
                  <a:pt x="65" y="8"/>
                </a:lnTo>
                <a:lnTo>
                  <a:pt x="82" y="8"/>
                </a:lnTo>
                <a:lnTo>
                  <a:pt x="98" y="7"/>
                </a:lnTo>
                <a:lnTo>
                  <a:pt x="114" y="7"/>
                </a:lnTo>
                <a:lnTo>
                  <a:pt x="131" y="6"/>
                </a:lnTo>
                <a:lnTo>
                  <a:pt x="147" y="6"/>
                </a:lnTo>
                <a:lnTo>
                  <a:pt x="164" y="5"/>
                </a:lnTo>
                <a:lnTo>
                  <a:pt x="180" y="5"/>
                </a:lnTo>
                <a:lnTo>
                  <a:pt x="196" y="4"/>
                </a:lnTo>
                <a:lnTo>
                  <a:pt x="213" y="4"/>
                </a:lnTo>
                <a:lnTo>
                  <a:pt x="229" y="3"/>
                </a:lnTo>
                <a:lnTo>
                  <a:pt x="246" y="3"/>
                </a:lnTo>
                <a:lnTo>
                  <a:pt x="262" y="2"/>
                </a:lnTo>
                <a:lnTo>
                  <a:pt x="278" y="2"/>
                </a:lnTo>
                <a:lnTo>
                  <a:pt x="295" y="1"/>
                </a:lnTo>
                <a:lnTo>
                  <a:pt x="311" y="1"/>
                </a:lnTo>
                <a:lnTo>
                  <a:pt x="327" y="0"/>
                </a:lnTo>
                <a:lnTo>
                  <a:pt x="344" y="0"/>
                </a:lnTo>
                <a:lnTo>
                  <a:pt x="360" y="0"/>
                </a:lnTo>
                <a:lnTo>
                  <a:pt x="377" y="0"/>
                </a:lnTo>
                <a:lnTo>
                  <a:pt x="393" y="0"/>
                </a:lnTo>
                <a:lnTo>
                  <a:pt x="393" y="25"/>
                </a:lnTo>
                <a:lnTo>
                  <a:pt x="377" y="25"/>
                </a:lnTo>
                <a:lnTo>
                  <a:pt x="360" y="25"/>
                </a:lnTo>
                <a:lnTo>
                  <a:pt x="344" y="25"/>
                </a:lnTo>
                <a:lnTo>
                  <a:pt x="327" y="25"/>
                </a:lnTo>
                <a:lnTo>
                  <a:pt x="311" y="26"/>
                </a:lnTo>
                <a:lnTo>
                  <a:pt x="295" y="26"/>
                </a:lnTo>
                <a:lnTo>
                  <a:pt x="278" y="27"/>
                </a:lnTo>
                <a:lnTo>
                  <a:pt x="262" y="27"/>
                </a:lnTo>
                <a:lnTo>
                  <a:pt x="246" y="27"/>
                </a:lnTo>
                <a:lnTo>
                  <a:pt x="229" y="28"/>
                </a:lnTo>
                <a:lnTo>
                  <a:pt x="213" y="29"/>
                </a:lnTo>
                <a:lnTo>
                  <a:pt x="196" y="29"/>
                </a:lnTo>
                <a:lnTo>
                  <a:pt x="180" y="30"/>
                </a:lnTo>
                <a:lnTo>
                  <a:pt x="164" y="30"/>
                </a:lnTo>
                <a:lnTo>
                  <a:pt x="147" y="31"/>
                </a:lnTo>
                <a:lnTo>
                  <a:pt x="131" y="31"/>
                </a:lnTo>
                <a:lnTo>
                  <a:pt x="114" y="32"/>
                </a:lnTo>
                <a:lnTo>
                  <a:pt x="98" y="32"/>
                </a:lnTo>
                <a:lnTo>
                  <a:pt x="82" y="32"/>
                </a:lnTo>
                <a:lnTo>
                  <a:pt x="65" y="33"/>
                </a:lnTo>
                <a:lnTo>
                  <a:pt x="49" y="33"/>
                </a:lnTo>
                <a:lnTo>
                  <a:pt x="33" y="33"/>
                </a:lnTo>
                <a:lnTo>
                  <a:pt x="16" y="33"/>
                </a:lnTo>
                <a:lnTo>
                  <a:pt x="0" y="3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066925"/>
            <a:ext cx="3743325" cy="2352675"/>
          </a:xfrm>
          <a:custGeom>
            <a:avLst/>
            <a:gdLst/>
            <a:ahLst/>
            <a:cxnLst/>
            <a:rect l="l" t="t" r="r" b="b"/>
            <a:pathLst>
              <a:path w="393" h="247">
                <a:moveTo>
                  <a:pt x="0" y="0"/>
                </a:moveTo>
                <a:lnTo>
                  <a:pt x="16" y="2"/>
                </a:lnTo>
                <a:lnTo>
                  <a:pt x="33" y="5"/>
                </a:lnTo>
                <a:lnTo>
                  <a:pt x="49" y="10"/>
                </a:lnTo>
                <a:lnTo>
                  <a:pt x="65" y="17"/>
                </a:lnTo>
                <a:lnTo>
                  <a:pt x="82" y="26"/>
                </a:lnTo>
                <a:lnTo>
                  <a:pt x="98" y="36"/>
                </a:lnTo>
                <a:lnTo>
                  <a:pt x="114" y="47"/>
                </a:lnTo>
                <a:lnTo>
                  <a:pt x="131" y="59"/>
                </a:lnTo>
                <a:lnTo>
                  <a:pt x="147" y="72"/>
                </a:lnTo>
                <a:lnTo>
                  <a:pt x="164" y="85"/>
                </a:lnTo>
                <a:lnTo>
                  <a:pt x="180" y="99"/>
                </a:lnTo>
                <a:lnTo>
                  <a:pt x="196" y="113"/>
                </a:lnTo>
                <a:lnTo>
                  <a:pt x="213" y="127"/>
                </a:lnTo>
                <a:lnTo>
                  <a:pt x="229" y="141"/>
                </a:lnTo>
                <a:lnTo>
                  <a:pt x="246" y="155"/>
                </a:lnTo>
                <a:lnTo>
                  <a:pt x="262" y="168"/>
                </a:lnTo>
                <a:lnTo>
                  <a:pt x="278" y="180"/>
                </a:lnTo>
                <a:lnTo>
                  <a:pt x="295" y="191"/>
                </a:lnTo>
                <a:lnTo>
                  <a:pt x="311" y="201"/>
                </a:lnTo>
                <a:lnTo>
                  <a:pt x="327" y="209"/>
                </a:lnTo>
                <a:lnTo>
                  <a:pt x="344" y="216"/>
                </a:lnTo>
                <a:lnTo>
                  <a:pt x="360" y="222"/>
                </a:lnTo>
                <a:lnTo>
                  <a:pt x="377" y="225"/>
                </a:lnTo>
                <a:lnTo>
                  <a:pt x="393" y="226"/>
                </a:lnTo>
                <a:lnTo>
                  <a:pt x="393" y="247"/>
                </a:lnTo>
                <a:lnTo>
                  <a:pt x="377" y="246"/>
                </a:lnTo>
                <a:lnTo>
                  <a:pt x="360" y="243"/>
                </a:lnTo>
                <a:lnTo>
                  <a:pt x="344" y="238"/>
                </a:lnTo>
                <a:lnTo>
                  <a:pt x="327" y="231"/>
                </a:lnTo>
                <a:lnTo>
                  <a:pt x="311" y="222"/>
                </a:lnTo>
                <a:lnTo>
                  <a:pt x="295" y="212"/>
                </a:lnTo>
                <a:lnTo>
                  <a:pt x="278" y="201"/>
                </a:lnTo>
                <a:lnTo>
                  <a:pt x="262" y="189"/>
                </a:lnTo>
                <a:lnTo>
                  <a:pt x="246" y="176"/>
                </a:lnTo>
                <a:lnTo>
                  <a:pt x="229" y="163"/>
                </a:lnTo>
                <a:lnTo>
                  <a:pt x="213" y="149"/>
                </a:lnTo>
                <a:lnTo>
                  <a:pt x="196" y="135"/>
                </a:lnTo>
                <a:lnTo>
                  <a:pt x="180" y="121"/>
                </a:lnTo>
                <a:lnTo>
                  <a:pt x="164" y="107"/>
                </a:lnTo>
                <a:lnTo>
                  <a:pt x="147" y="93"/>
                </a:lnTo>
                <a:lnTo>
                  <a:pt x="131" y="80"/>
                </a:lnTo>
                <a:lnTo>
                  <a:pt x="114" y="68"/>
                </a:lnTo>
                <a:lnTo>
                  <a:pt x="98" y="57"/>
                </a:lnTo>
                <a:lnTo>
                  <a:pt x="82" y="47"/>
                </a:lnTo>
                <a:lnTo>
                  <a:pt x="65" y="39"/>
                </a:lnTo>
                <a:lnTo>
                  <a:pt x="49" y="32"/>
                </a:lnTo>
                <a:lnTo>
                  <a:pt x="33" y="26"/>
                </a:lnTo>
                <a:lnTo>
                  <a:pt x="16" y="23"/>
                </a:lnTo>
                <a:lnTo>
                  <a:pt x="0" y="2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2276475"/>
            <a:ext cx="3743325" cy="3829050"/>
          </a:xfrm>
          <a:custGeom>
            <a:avLst/>
            <a:gdLst/>
            <a:ahLst/>
            <a:cxnLst/>
            <a:rect l="l" t="t" r="r" b="b"/>
            <a:pathLst>
              <a:path w="393" h="402">
                <a:moveTo>
                  <a:pt x="0" y="0"/>
                </a:moveTo>
                <a:lnTo>
                  <a:pt x="16" y="2"/>
                </a:lnTo>
                <a:lnTo>
                  <a:pt x="33" y="8"/>
                </a:lnTo>
                <a:lnTo>
                  <a:pt x="49" y="17"/>
                </a:lnTo>
                <a:lnTo>
                  <a:pt x="65" y="29"/>
                </a:lnTo>
                <a:lnTo>
                  <a:pt x="82" y="45"/>
                </a:lnTo>
                <a:lnTo>
                  <a:pt x="98" y="62"/>
                </a:lnTo>
                <a:lnTo>
                  <a:pt x="114" y="82"/>
                </a:lnTo>
                <a:lnTo>
                  <a:pt x="131" y="103"/>
                </a:lnTo>
                <a:lnTo>
                  <a:pt x="147" y="126"/>
                </a:lnTo>
                <a:lnTo>
                  <a:pt x="164" y="150"/>
                </a:lnTo>
                <a:lnTo>
                  <a:pt x="180" y="174"/>
                </a:lnTo>
                <a:lnTo>
                  <a:pt x="196" y="199"/>
                </a:lnTo>
                <a:lnTo>
                  <a:pt x="213" y="224"/>
                </a:lnTo>
                <a:lnTo>
                  <a:pt x="229" y="249"/>
                </a:lnTo>
                <a:lnTo>
                  <a:pt x="246" y="272"/>
                </a:lnTo>
                <a:lnTo>
                  <a:pt x="262" y="295"/>
                </a:lnTo>
                <a:lnTo>
                  <a:pt x="278" y="317"/>
                </a:lnTo>
                <a:lnTo>
                  <a:pt x="295" y="336"/>
                </a:lnTo>
                <a:lnTo>
                  <a:pt x="311" y="354"/>
                </a:lnTo>
                <a:lnTo>
                  <a:pt x="327" y="369"/>
                </a:lnTo>
                <a:lnTo>
                  <a:pt x="344" y="381"/>
                </a:lnTo>
                <a:lnTo>
                  <a:pt x="360" y="391"/>
                </a:lnTo>
                <a:lnTo>
                  <a:pt x="377" y="397"/>
                </a:lnTo>
                <a:lnTo>
                  <a:pt x="393" y="399"/>
                </a:lnTo>
                <a:lnTo>
                  <a:pt x="393" y="402"/>
                </a:lnTo>
                <a:lnTo>
                  <a:pt x="377" y="400"/>
                </a:lnTo>
                <a:lnTo>
                  <a:pt x="360" y="394"/>
                </a:lnTo>
                <a:lnTo>
                  <a:pt x="344" y="385"/>
                </a:lnTo>
                <a:lnTo>
                  <a:pt x="327" y="372"/>
                </a:lnTo>
                <a:lnTo>
                  <a:pt x="311" y="357"/>
                </a:lnTo>
                <a:lnTo>
                  <a:pt x="295" y="339"/>
                </a:lnTo>
                <a:lnTo>
                  <a:pt x="278" y="320"/>
                </a:lnTo>
                <a:lnTo>
                  <a:pt x="262" y="298"/>
                </a:lnTo>
                <a:lnTo>
                  <a:pt x="246" y="276"/>
                </a:lnTo>
                <a:lnTo>
                  <a:pt x="229" y="252"/>
                </a:lnTo>
                <a:lnTo>
                  <a:pt x="213" y="227"/>
                </a:lnTo>
                <a:lnTo>
                  <a:pt x="196" y="202"/>
                </a:lnTo>
                <a:lnTo>
                  <a:pt x="180" y="177"/>
                </a:lnTo>
                <a:lnTo>
                  <a:pt x="164" y="153"/>
                </a:lnTo>
                <a:lnTo>
                  <a:pt x="147" y="129"/>
                </a:lnTo>
                <a:lnTo>
                  <a:pt x="131" y="106"/>
                </a:lnTo>
                <a:lnTo>
                  <a:pt x="114" y="85"/>
                </a:lnTo>
                <a:lnTo>
                  <a:pt x="98" y="65"/>
                </a:lnTo>
                <a:lnTo>
                  <a:pt x="82" y="48"/>
                </a:lnTo>
                <a:lnTo>
                  <a:pt x="65" y="33"/>
                </a:lnTo>
                <a:lnTo>
                  <a:pt x="49" y="20"/>
                </a:lnTo>
                <a:lnTo>
                  <a:pt x="33" y="11"/>
                </a:lnTo>
                <a:lnTo>
                  <a:pt x="16" y="5"/>
                </a:lnTo>
                <a:lnTo>
                  <a:pt x="0" y="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1990725"/>
            <a:ext cx="3743325" cy="638175"/>
          </a:xfrm>
          <a:custGeom>
            <a:avLst/>
            <a:gdLst/>
            <a:ahLst/>
            <a:cxnLst/>
            <a:rect l="l" t="t" r="r" b="b"/>
            <a:pathLst>
              <a:path w="393" h="67">
                <a:moveTo>
                  <a:pt x="0" y="39"/>
                </a:moveTo>
                <a:lnTo>
                  <a:pt x="16" y="39"/>
                </a:lnTo>
                <a:lnTo>
                  <a:pt x="33" y="38"/>
                </a:lnTo>
                <a:lnTo>
                  <a:pt x="49" y="37"/>
                </a:lnTo>
                <a:lnTo>
                  <a:pt x="65" y="36"/>
                </a:lnTo>
                <a:lnTo>
                  <a:pt x="82" y="35"/>
                </a:lnTo>
                <a:lnTo>
                  <a:pt x="98" y="33"/>
                </a:lnTo>
                <a:lnTo>
                  <a:pt x="114" y="31"/>
                </a:lnTo>
                <a:lnTo>
                  <a:pt x="131" y="29"/>
                </a:lnTo>
                <a:lnTo>
                  <a:pt x="147" y="27"/>
                </a:lnTo>
                <a:lnTo>
                  <a:pt x="164" y="24"/>
                </a:lnTo>
                <a:lnTo>
                  <a:pt x="180" y="22"/>
                </a:lnTo>
                <a:lnTo>
                  <a:pt x="196" y="19"/>
                </a:lnTo>
                <a:lnTo>
                  <a:pt x="213" y="17"/>
                </a:lnTo>
                <a:lnTo>
                  <a:pt x="229" y="14"/>
                </a:lnTo>
                <a:lnTo>
                  <a:pt x="246" y="12"/>
                </a:lnTo>
                <a:lnTo>
                  <a:pt x="262" y="10"/>
                </a:lnTo>
                <a:lnTo>
                  <a:pt x="278" y="8"/>
                </a:lnTo>
                <a:lnTo>
                  <a:pt x="295" y="6"/>
                </a:lnTo>
                <a:lnTo>
                  <a:pt x="311" y="4"/>
                </a:lnTo>
                <a:lnTo>
                  <a:pt x="327" y="3"/>
                </a:lnTo>
                <a:lnTo>
                  <a:pt x="344" y="1"/>
                </a:lnTo>
                <a:lnTo>
                  <a:pt x="360" y="0"/>
                </a:lnTo>
                <a:lnTo>
                  <a:pt x="377" y="0"/>
                </a:lnTo>
                <a:lnTo>
                  <a:pt x="393" y="0"/>
                </a:lnTo>
                <a:lnTo>
                  <a:pt x="393" y="28"/>
                </a:lnTo>
                <a:lnTo>
                  <a:pt x="377" y="28"/>
                </a:lnTo>
                <a:lnTo>
                  <a:pt x="360" y="29"/>
                </a:lnTo>
                <a:lnTo>
                  <a:pt x="344" y="30"/>
                </a:lnTo>
                <a:lnTo>
                  <a:pt x="327" y="31"/>
                </a:lnTo>
                <a:lnTo>
                  <a:pt x="311" y="32"/>
                </a:lnTo>
                <a:lnTo>
                  <a:pt x="295" y="34"/>
                </a:lnTo>
                <a:lnTo>
                  <a:pt x="278" y="36"/>
                </a:lnTo>
                <a:lnTo>
                  <a:pt x="262" y="38"/>
                </a:lnTo>
                <a:lnTo>
                  <a:pt x="246" y="40"/>
                </a:lnTo>
                <a:lnTo>
                  <a:pt x="229" y="43"/>
                </a:lnTo>
                <a:lnTo>
                  <a:pt x="213" y="45"/>
                </a:lnTo>
                <a:lnTo>
                  <a:pt x="196" y="48"/>
                </a:lnTo>
                <a:lnTo>
                  <a:pt x="180" y="50"/>
                </a:lnTo>
                <a:lnTo>
                  <a:pt x="164" y="52"/>
                </a:lnTo>
                <a:lnTo>
                  <a:pt x="147" y="55"/>
                </a:lnTo>
                <a:lnTo>
                  <a:pt x="131" y="57"/>
                </a:lnTo>
                <a:lnTo>
                  <a:pt x="114" y="59"/>
                </a:lnTo>
                <a:lnTo>
                  <a:pt x="98" y="61"/>
                </a:lnTo>
                <a:lnTo>
                  <a:pt x="82" y="63"/>
                </a:lnTo>
                <a:lnTo>
                  <a:pt x="65" y="64"/>
                </a:lnTo>
                <a:lnTo>
                  <a:pt x="49" y="66"/>
                </a:lnTo>
                <a:lnTo>
                  <a:pt x="33" y="66"/>
                </a:lnTo>
                <a:lnTo>
                  <a:pt x="16" y="67"/>
                </a:lnTo>
                <a:lnTo>
                  <a:pt x="0" y="6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2628900"/>
            <a:ext cx="3743325" cy="1962150"/>
          </a:xfrm>
          <a:custGeom>
            <a:avLst/>
            <a:gdLst/>
            <a:ahLst/>
            <a:cxnLst/>
            <a:rect l="l" t="t" r="r" b="b"/>
            <a:pathLst>
              <a:path w="393" h="206">
                <a:moveTo>
                  <a:pt x="0" y="0"/>
                </a:moveTo>
                <a:lnTo>
                  <a:pt x="16" y="1"/>
                </a:lnTo>
                <a:lnTo>
                  <a:pt x="33" y="4"/>
                </a:lnTo>
                <a:lnTo>
                  <a:pt x="49" y="8"/>
                </a:lnTo>
                <a:lnTo>
                  <a:pt x="65" y="14"/>
                </a:lnTo>
                <a:lnTo>
                  <a:pt x="82" y="21"/>
                </a:lnTo>
                <a:lnTo>
                  <a:pt x="98" y="30"/>
                </a:lnTo>
                <a:lnTo>
                  <a:pt x="114" y="39"/>
                </a:lnTo>
                <a:lnTo>
                  <a:pt x="131" y="49"/>
                </a:lnTo>
                <a:lnTo>
                  <a:pt x="147" y="60"/>
                </a:lnTo>
                <a:lnTo>
                  <a:pt x="164" y="71"/>
                </a:lnTo>
                <a:lnTo>
                  <a:pt x="180" y="83"/>
                </a:lnTo>
                <a:lnTo>
                  <a:pt x="196" y="94"/>
                </a:lnTo>
                <a:lnTo>
                  <a:pt x="213" y="106"/>
                </a:lnTo>
                <a:lnTo>
                  <a:pt x="229" y="118"/>
                </a:lnTo>
                <a:lnTo>
                  <a:pt x="246" y="129"/>
                </a:lnTo>
                <a:lnTo>
                  <a:pt x="262" y="140"/>
                </a:lnTo>
                <a:lnTo>
                  <a:pt x="278" y="150"/>
                </a:lnTo>
                <a:lnTo>
                  <a:pt x="295" y="159"/>
                </a:lnTo>
                <a:lnTo>
                  <a:pt x="311" y="167"/>
                </a:lnTo>
                <a:lnTo>
                  <a:pt x="327" y="175"/>
                </a:lnTo>
                <a:lnTo>
                  <a:pt x="344" y="180"/>
                </a:lnTo>
                <a:lnTo>
                  <a:pt x="360" y="185"/>
                </a:lnTo>
                <a:lnTo>
                  <a:pt x="377" y="188"/>
                </a:lnTo>
                <a:lnTo>
                  <a:pt x="393" y="188"/>
                </a:lnTo>
                <a:lnTo>
                  <a:pt x="393" y="206"/>
                </a:lnTo>
                <a:lnTo>
                  <a:pt x="377" y="205"/>
                </a:lnTo>
                <a:lnTo>
                  <a:pt x="360" y="203"/>
                </a:lnTo>
                <a:lnTo>
                  <a:pt x="344" y="198"/>
                </a:lnTo>
                <a:lnTo>
                  <a:pt x="327" y="192"/>
                </a:lnTo>
                <a:lnTo>
                  <a:pt x="311" y="185"/>
                </a:lnTo>
                <a:lnTo>
                  <a:pt x="295" y="177"/>
                </a:lnTo>
                <a:lnTo>
                  <a:pt x="278" y="168"/>
                </a:lnTo>
                <a:lnTo>
                  <a:pt x="262" y="157"/>
                </a:lnTo>
                <a:lnTo>
                  <a:pt x="246" y="147"/>
                </a:lnTo>
                <a:lnTo>
                  <a:pt x="229" y="135"/>
                </a:lnTo>
                <a:lnTo>
                  <a:pt x="213" y="124"/>
                </a:lnTo>
                <a:lnTo>
                  <a:pt x="196" y="112"/>
                </a:lnTo>
                <a:lnTo>
                  <a:pt x="180" y="100"/>
                </a:lnTo>
                <a:lnTo>
                  <a:pt x="164" y="89"/>
                </a:lnTo>
                <a:lnTo>
                  <a:pt x="147" y="78"/>
                </a:lnTo>
                <a:lnTo>
                  <a:pt x="131" y="67"/>
                </a:lnTo>
                <a:lnTo>
                  <a:pt x="114" y="57"/>
                </a:lnTo>
                <a:lnTo>
                  <a:pt x="98" y="47"/>
                </a:lnTo>
                <a:lnTo>
                  <a:pt x="82" y="39"/>
                </a:lnTo>
                <a:lnTo>
                  <a:pt x="65" y="32"/>
                </a:lnTo>
                <a:lnTo>
                  <a:pt x="49" y="26"/>
                </a:lnTo>
                <a:lnTo>
                  <a:pt x="33" y="22"/>
                </a:lnTo>
                <a:lnTo>
                  <a:pt x="16" y="19"/>
                </a:lnTo>
                <a:lnTo>
                  <a:pt x="0" y="18"/>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2800350"/>
            <a:ext cx="3743325" cy="3333750"/>
          </a:xfrm>
          <a:custGeom>
            <a:avLst/>
            <a:gdLst/>
            <a:ahLst/>
            <a:cxnLst/>
            <a:rect l="l" t="t" r="r" b="b"/>
            <a:pathLst>
              <a:path w="393" h="350">
                <a:moveTo>
                  <a:pt x="0" y="0"/>
                </a:moveTo>
                <a:lnTo>
                  <a:pt x="16" y="2"/>
                </a:lnTo>
                <a:lnTo>
                  <a:pt x="33" y="7"/>
                </a:lnTo>
                <a:lnTo>
                  <a:pt x="49" y="15"/>
                </a:lnTo>
                <a:lnTo>
                  <a:pt x="65" y="26"/>
                </a:lnTo>
                <a:lnTo>
                  <a:pt x="82" y="39"/>
                </a:lnTo>
                <a:lnTo>
                  <a:pt x="98" y="54"/>
                </a:lnTo>
                <a:lnTo>
                  <a:pt x="114" y="71"/>
                </a:lnTo>
                <a:lnTo>
                  <a:pt x="131" y="90"/>
                </a:lnTo>
                <a:lnTo>
                  <a:pt x="147" y="110"/>
                </a:lnTo>
                <a:lnTo>
                  <a:pt x="164" y="130"/>
                </a:lnTo>
                <a:lnTo>
                  <a:pt x="180" y="152"/>
                </a:lnTo>
                <a:lnTo>
                  <a:pt x="196" y="173"/>
                </a:lnTo>
                <a:lnTo>
                  <a:pt x="213" y="195"/>
                </a:lnTo>
                <a:lnTo>
                  <a:pt x="229" y="216"/>
                </a:lnTo>
                <a:lnTo>
                  <a:pt x="246" y="237"/>
                </a:lnTo>
                <a:lnTo>
                  <a:pt x="262" y="257"/>
                </a:lnTo>
                <a:lnTo>
                  <a:pt x="278" y="275"/>
                </a:lnTo>
                <a:lnTo>
                  <a:pt x="295" y="293"/>
                </a:lnTo>
                <a:lnTo>
                  <a:pt x="311" y="308"/>
                </a:lnTo>
                <a:lnTo>
                  <a:pt x="327" y="321"/>
                </a:lnTo>
                <a:lnTo>
                  <a:pt x="344" y="332"/>
                </a:lnTo>
                <a:lnTo>
                  <a:pt x="360" y="340"/>
                </a:lnTo>
                <a:lnTo>
                  <a:pt x="377" y="345"/>
                </a:lnTo>
                <a:lnTo>
                  <a:pt x="393" y="347"/>
                </a:lnTo>
                <a:lnTo>
                  <a:pt x="393" y="350"/>
                </a:lnTo>
                <a:lnTo>
                  <a:pt x="377" y="348"/>
                </a:lnTo>
                <a:lnTo>
                  <a:pt x="360" y="343"/>
                </a:lnTo>
                <a:lnTo>
                  <a:pt x="344" y="335"/>
                </a:lnTo>
                <a:lnTo>
                  <a:pt x="327" y="325"/>
                </a:lnTo>
                <a:lnTo>
                  <a:pt x="311" y="311"/>
                </a:lnTo>
                <a:lnTo>
                  <a:pt x="295" y="296"/>
                </a:lnTo>
                <a:lnTo>
                  <a:pt x="278" y="279"/>
                </a:lnTo>
                <a:lnTo>
                  <a:pt x="262" y="260"/>
                </a:lnTo>
                <a:lnTo>
                  <a:pt x="246" y="241"/>
                </a:lnTo>
                <a:lnTo>
                  <a:pt x="229" y="220"/>
                </a:lnTo>
                <a:lnTo>
                  <a:pt x="213" y="198"/>
                </a:lnTo>
                <a:lnTo>
                  <a:pt x="196" y="177"/>
                </a:lnTo>
                <a:lnTo>
                  <a:pt x="180" y="155"/>
                </a:lnTo>
                <a:lnTo>
                  <a:pt x="164" y="134"/>
                </a:lnTo>
                <a:lnTo>
                  <a:pt x="147" y="113"/>
                </a:lnTo>
                <a:lnTo>
                  <a:pt x="131" y="93"/>
                </a:lnTo>
                <a:lnTo>
                  <a:pt x="114" y="75"/>
                </a:lnTo>
                <a:lnTo>
                  <a:pt x="98" y="58"/>
                </a:lnTo>
                <a:lnTo>
                  <a:pt x="82" y="42"/>
                </a:lnTo>
                <a:lnTo>
                  <a:pt x="65" y="29"/>
                </a:lnTo>
                <a:lnTo>
                  <a:pt x="49" y="18"/>
                </a:lnTo>
                <a:lnTo>
                  <a:pt x="33" y="10"/>
                </a:lnTo>
                <a:lnTo>
                  <a:pt x="16" y="5"/>
                </a:lnTo>
                <a:lnTo>
                  <a:pt x="0" y="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257425"/>
            <a:ext cx="3743325" cy="876300"/>
          </a:xfrm>
          <a:custGeom>
            <a:avLst/>
            <a:gdLst/>
            <a:ahLst/>
            <a:cxnLst/>
            <a:rect l="l" t="t" r="r" b="b"/>
            <a:pathLst>
              <a:path w="393" h="92">
                <a:moveTo>
                  <a:pt x="0" y="67"/>
                </a:moveTo>
                <a:lnTo>
                  <a:pt x="16" y="66"/>
                </a:lnTo>
                <a:lnTo>
                  <a:pt x="33" y="65"/>
                </a:lnTo>
                <a:lnTo>
                  <a:pt x="49" y="64"/>
                </a:lnTo>
                <a:lnTo>
                  <a:pt x="65" y="62"/>
                </a:lnTo>
                <a:lnTo>
                  <a:pt x="82" y="59"/>
                </a:lnTo>
                <a:lnTo>
                  <a:pt x="98" y="56"/>
                </a:lnTo>
                <a:lnTo>
                  <a:pt x="114" y="53"/>
                </a:lnTo>
                <a:lnTo>
                  <a:pt x="131" y="49"/>
                </a:lnTo>
                <a:lnTo>
                  <a:pt x="147" y="45"/>
                </a:lnTo>
                <a:lnTo>
                  <a:pt x="164" y="41"/>
                </a:lnTo>
                <a:lnTo>
                  <a:pt x="180" y="37"/>
                </a:lnTo>
                <a:lnTo>
                  <a:pt x="196" y="33"/>
                </a:lnTo>
                <a:lnTo>
                  <a:pt x="213" y="29"/>
                </a:lnTo>
                <a:lnTo>
                  <a:pt x="229" y="25"/>
                </a:lnTo>
                <a:lnTo>
                  <a:pt x="246" y="21"/>
                </a:lnTo>
                <a:lnTo>
                  <a:pt x="262" y="17"/>
                </a:lnTo>
                <a:lnTo>
                  <a:pt x="278" y="14"/>
                </a:lnTo>
                <a:lnTo>
                  <a:pt x="295" y="10"/>
                </a:lnTo>
                <a:lnTo>
                  <a:pt x="311" y="7"/>
                </a:lnTo>
                <a:lnTo>
                  <a:pt x="327" y="5"/>
                </a:lnTo>
                <a:lnTo>
                  <a:pt x="344" y="3"/>
                </a:lnTo>
                <a:lnTo>
                  <a:pt x="360" y="1"/>
                </a:lnTo>
                <a:lnTo>
                  <a:pt x="377" y="0"/>
                </a:lnTo>
                <a:lnTo>
                  <a:pt x="393" y="0"/>
                </a:lnTo>
                <a:lnTo>
                  <a:pt x="393" y="25"/>
                </a:lnTo>
                <a:lnTo>
                  <a:pt x="377" y="26"/>
                </a:lnTo>
                <a:lnTo>
                  <a:pt x="360" y="27"/>
                </a:lnTo>
                <a:lnTo>
                  <a:pt x="344" y="28"/>
                </a:lnTo>
                <a:lnTo>
                  <a:pt x="327" y="30"/>
                </a:lnTo>
                <a:lnTo>
                  <a:pt x="311" y="33"/>
                </a:lnTo>
                <a:lnTo>
                  <a:pt x="295" y="36"/>
                </a:lnTo>
                <a:lnTo>
                  <a:pt x="278" y="39"/>
                </a:lnTo>
                <a:lnTo>
                  <a:pt x="262" y="43"/>
                </a:lnTo>
                <a:lnTo>
                  <a:pt x="246" y="46"/>
                </a:lnTo>
                <a:lnTo>
                  <a:pt x="229" y="50"/>
                </a:lnTo>
                <a:lnTo>
                  <a:pt x="213" y="55"/>
                </a:lnTo>
                <a:lnTo>
                  <a:pt x="196" y="59"/>
                </a:lnTo>
                <a:lnTo>
                  <a:pt x="180" y="63"/>
                </a:lnTo>
                <a:lnTo>
                  <a:pt x="164" y="67"/>
                </a:lnTo>
                <a:lnTo>
                  <a:pt x="147" y="71"/>
                </a:lnTo>
                <a:lnTo>
                  <a:pt x="131" y="75"/>
                </a:lnTo>
                <a:lnTo>
                  <a:pt x="114" y="78"/>
                </a:lnTo>
                <a:lnTo>
                  <a:pt x="98" y="82"/>
                </a:lnTo>
                <a:lnTo>
                  <a:pt x="82" y="84"/>
                </a:lnTo>
                <a:lnTo>
                  <a:pt x="65" y="87"/>
                </a:lnTo>
                <a:lnTo>
                  <a:pt x="49" y="89"/>
                </a:lnTo>
                <a:lnTo>
                  <a:pt x="33" y="91"/>
                </a:lnTo>
                <a:lnTo>
                  <a:pt x="16" y="92"/>
                </a:lnTo>
                <a:lnTo>
                  <a:pt x="0" y="9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3133725"/>
            <a:ext cx="3743325" cy="1657350"/>
          </a:xfrm>
          <a:custGeom>
            <a:avLst/>
            <a:gdLst/>
            <a:ahLst/>
            <a:cxnLst/>
            <a:rect l="l" t="t" r="r" b="b"/>
            <a:pathLst>
              <a:path w="393" h="174">
                <a:moveTo>
                  <a:pt x="0" y="0"/>
                </a:moveTo>
                <a:lnTo>
                  <a:pt x="16" y="1"/>
                </a:lnTo>
                <a:lnTo>
                  <a:pt x="33" y="3"/>
                </a:lnTo>
                <a:lnTo>
                  <a:pt x="49" y="7"/>
                </a:lnTo>
                <a:lnTo>
                  <a:pt x="65" y="11"/>
                </a:lnTo>
                <a:lnTo>
                  <a:pt x="82" y="17"/>
                </a:lnTo>
                <a:lnTo>
                  <a:pt x="98" y="24"/>
                </a:lnTo>
                <a:lnTo>
                  <a:pt x="114" y="31"/>
                </a:lnTo>
                <a:lnTo>
                  <a:pt x="131" y="40"/>
                </a:lnTo>
                <a:lnTo>
                  <a:pt x="147" y="48"/>
                </a:lnTo>
                <a:lnTo>
                  <a:pt x="164" y="58"/>
                </a:lnTo>
                <a:lnTo>
                  <a:pt x="180" y="67"/>
                </a:lnTo>
                <a:lnTo>
                  <a:pt x="196" y="77"/>
                </a:lnTo>
                <a:lnTo>
                  <a:pt x="213" y="86"/>
                </a:lnTo>
                <a:lnTo>
                  <a:pt x="229" y="96"/>
                </a:lnTo>
                <a:lnTo>
                  <a:pt x="246" y="105"/>
                </a:lnTo>
                <a:lnTo>
                  <a:pt x="262" y="113"/>
                </a:lnTo>
                <a:lnTo>
                  <a:pt x="278" y="122"/>
                </a:lnTo>
                <a:lnTo>
                  <a:pt x="295" y="129"/>
                </a:lnTo>
                <a:lnTo>
                  <a:pt x="311" y="136"/>
                </a:lnTo>
                <a:lnTo>
                  <a:pt x="327" y="142"/>
                </a:lnTo>
                <a:lnTo>
                  <a:pt x="344" y="147"/>
                </a:lnTo>
                <a:lnTo>
                  <a:pt x="360" y="150"/>
                </a:lnTo>
                <a:lnTo>
                  <a:pt x="377" y="152"/>
                </a:lnTo>
                <a:lnTo>
                  <a:pt x="393" y="153"/>
                </a:lnTo>
                <a:lnTo>
                  <a:pt x="393" y="174"/>
                </a:lnTo>
                <a:lnTo>
                  <a:pt x="377" y="173"/>
                </a:lnTo>
                <a:lnTo>
                  <a:pt x="360" y="171"/>
                </a:lnTo>
                <a:lnTo>
                  <a:pt x="344" y="167"/>
                </a:lnTo>
                <a:lnTo>
                  <a:pt x="327" y="162"/>
                </a:lnTo>
                <a:lnTo>
                  <a:pt x="311" y="156"/>
                </a:lnTo>
                <a:lnTo>
                  <a:pt x="295" y="150"/>
                </a:lnTo>
                <a:lnTo>
                  <a:pt x="278" y="142"/>
                </a:lnTo>
                <a:lnTo>
                  <a:pt x="262" y="134"/>
                </a:lnTo>
                <a:lnTo>
                  <a:pt x="246" y="125"/>
                </a:lnTo>
                <a:lnTo>
                  <a:pt x="229" y="116"/>
                </a:lnTo>
                <a:lnTo>
                  <a:pt x="213" y="107"/>
                </a:lnTo>
                <a:lnTo>
                  <a:pt x="196" y="97"/>
                </a:lnTo>
                <a:lnTo>
                  <a:pt x="180" y="87"/>
                </a:lnTo>
                <a:lnTo>
                  <a:pt x="164" y="78"/>
                </a:lnTo>
                <a:lnTo>
                  <a:pt x="147" y="69"/>
                </a:lnTo>
                <a:lnTo>
                  <a:pt x="131" y="60"/>
                </a:lnTo>
                <a:lnTo>
                  <a:pt x="114" y="52"/>
                </a:lnTo>
                <a:lnTo>
                  <a:pt x="98" y="44"/>
                </a:lnTo>
                <a:lnTo>
                  <a:pt x="82" y="38"/>
                </a:lnTo>
                <a:lnTo>
                  <a:pt x="65" y="32"/>
                </a:lnTo>
                <a:lnTo>
                  <a:pt x="49" y="27"/>
                </a:lnTo>
                <a:lnTo>
                  <a:pt x="33" y="23"/>
                </a:lnTo>
                <a:lnTo>
                  <a:pt x="16" y="21"/>
                </a:lnTo>
                <a:lnTo>
                  <a:pt x="0" y="2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3324225"/>
            <a:ext cx="3743325" cy="2847975"/>
          </a:xfrm>
          <a:custGeom>
            <a:avLst/>
            <a:gdLst/>
            <a:ahLst/>
            <a:cxnLst/>
            <a:rect l="l" t="t" r="r" b="b"/>
            <a:pathLst>
              <a:path w="393" h="299">
                <a:moveTo>
                  <a:pt x="0" y="0"/>
                </a:moveTo>
                <a:lnTo>
                  <a:pt x="16" y="2"/>
                </a:lnTo>
                <a:lnTo>
                  <a:pt x="33" y="6"/>
                </a:lnTo>
                <a:lnTo>
                  <a:pt x="49" y="13"/>
                </a:lnTo>
                <a:lnTo>
                  <a:pt x="65" y="22"/>
                </a:lnTo>
                <a:lnTo>
                  <a:pt x="82" y="33"/>
                </a:lnTo>
                <a:lnTo>
                  <a:pt x="98" y="46"/>
                </a:lnTo>
                <a:lnTo>
                  <a:pt x="114" y="61"/>
                </a:lnTo>
                <a:lnTo>
                  <a:pt x="131" y="77"/>
                </a:lnTo>
                <a:lnTo>
                  <a:pt x="147" y="94"/>
                </a:lnTo>
                <a:lnTo>
                  <a:pt x="164" y="111"/>
                </a:lnTo>
                <a:lnTo>
                  <a:pt x="180" y="129"/>
                </a:lnTo>
                <a:lnTo>
                  <a:pt x="196" y="148"/>
                </a:lnTo>
                <a:lnTo>
                  <a:pt x="213" y="166"/>
                </a:lnTo>
                <a:lnTo>
                  <a:pt x="229" y="184"/>
                </a:lnTo>
                <a:lnTo>
                  <a:pt x="246" y="202"/>
                </a:lnTo>
                <a:lnTo>
                  <a:pt x="262" y="219"/>
                </a:lnTo>
                <a:lnTo>
                  <a:pt x="278" y="235"/>
                </a:lnTo>
                <a:lnTo>
                  <a:pt x="295" y="249"/>
                </a:lnTo>
                <a:lnTo>
                  <a:pt x="311" y="262"/>
                </a:lnTo>
                <a:lnTo>
                  <a:pt x="327" y="273"/>
                </a:lnTo>
                <a:lnTo>
                  <a:pt x="344" y="283"/>
                </a:lnTo>
                <a:lnTo>
                  <a:pt x="360" y="289"/>
                </a:lnTo>
                <a:lnTo>
                  <a:pt x="377" y="294"/>
                </a:lnTo>
                <a:lnTo>
                  <a:pt x="393" y="295"/>
                </a:lnTo>
                <a:lnTo>
                  <a:pt x="393" y="299"/>
                </a:lnTo>
                <a:lnTo>
                  <a:pt x="377" y="297"/>
                </a:lnTo>
                <a:lnTo>
                  <a:pt x="360" y="293"/>
                </a:lnTo>
                <a:lnTo>
                  <a:pt x="344" y="286"/>
                </a:lnTo>
                <a:lnTo>
                  <a:pt x="327" y="277"/>
                </a:lnTo>
                <a:lnTo>
                  <a:pt x="311" y="266"/>
                </a:lnTo>
                <a:lnTo>
                  <a:pt x="295" y="253"/>
                </a:lnTo>
                <a:lnTo>
                  <a:pt x="278" y="238"/>
                </a:lnTo>
                <a:lnTo>
                  <a:pt x="262" y="222"/>
                </a:lnTo>
                <a:lnTo>
                  <a:pt x="246" y="206"/>
                </a:lnTo>
                <a:lnTo>
                  <a:pt x="229" y="188"/>
                </a:lnTo>
                <a:lnTo>
                  <a:pt x="213" y="170"/>
                </a:lnTo>
                <a:lnTo>
                  <a:pt x="196" y="151"/>
                </a:lnTo>
                <a:lnTo>
                  <a:pt x="180" y="133"/>
                </a:lnTo>
                <a:lnTo>
                  <a:pt x="164" y="115"/>
                </a:lnTo>
                <a:lnTo>
                  <a:pt x="147" y="97"/>
                </a:lnTo>
                <a:lnTo>
                  <a:pt x="131" y="80"/>
                </a:lnTo>
                <a:lnTo>
                  <a:pt x="114" y="65"/>
                </a:lnTo>
                <a:lnTo>
                  <a:pt x="98" y="50"/>
                </a:lnTo>
                <a:lnTo>
                  <a:pt x="82" y="37"/>
                </a:lnTo>
                <a:lnTo>
                  <a:pt x="65" y="26"/>
                </a:lnTo>
                <a:lnTo>
                  <a:pt x="49" y="17"/>
                </a:lnTo>
                <a:lnTo>
                  <a:pt x="33" y="10"/>
                </a:lnTo>
                <a:lnTo>
                  <a:pt x="16" y="5"/>
                </a:lnTo>
                <a:lnTo>
                  <a:pt x="0" y="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2495550"/>
            <a:ext cx="3743325" cy="1171575"/>
          </a:xfrm>
          <a:custGeom>
            <a:avLst/>
            <a:gdLst/>
            <a:ahLst/>
            <a:cxnLst/>
            <a:rect l="l" t="t" r="r" b="b"/>
            <a:pathLst>
              <a:path w="393" h="123">
                <a:moveTo>
                  <a:pt x="0" y="97"/>
                </a:moveTo>
                <a:lnTo>
                  <a:pt x="16" y="97"/>
                </a:lnTo>
                <a:lnTo>
                  <a:pt x="33" y="95"/>
                </a:lnTo>
                <a:lnTo>
                  <a:pt x="49" y="93"/>
                </a:lnTo>
                <a:lnTo>
                  <a:pt x="65" y="90"/>
                </a:lnTo>
                <a:lnTo>
                  <a:pt x="82" y="86"/>
                </a:lnTo>
                <a:lnTo>
                  <a:pt x="98" y="82"/>
                </a:lnTo>
                <a:lnTo>
                  <a:pt x="114" y="77"/>
                </a:lnTo>
                <a:lnTo>
                  <a:pt x="131" y="72"/>
                </a:lnTo>
                <a:lnTo>
                  <a:pt x="147" y="66"/>
                </a:lnTo>
                <a:lnTo>
                  <a:pt x="164" y="61"/>
                </a:lnTo>
                <a:lnTo>
                  <a:pt x="180" y="55"/>
                </a:lnTo>
                <a:lnTo>
                  <a:pt x="196" y="49"/>
                </a:lnTo>
                <a:lnTo>
                  <a:pt x="213" y="43"/>
                </a:lnTo>
                <a:lnTo>
                  <a:pt x="229" y="37"/>
                </a:lnTo>
                <a:lnTo>
                  <a:pt x="246" y="31"/>
                </a:lnTo>
                <a:lnTo>
                  <a:pt x="262" y="25"/>
                </a:lnTo>
                <a:lnTo>
                  <a:pt x="278" y="20"/>
                </a:lnTo>
                <a:lnTo>
                  <a:pt x="295" y="15"/>
                </a:lnTo>
                <a:lnTo>
                  <a:pt x="311" y="11"/>
                </a:lnTo>
                <a:lnTo>
                  <a:pt x="327" y="8"/>
                </a:lnTo>
                <a:lnTo>
                  <a:pt x="344" y="5"/>
                </a:lnTo>
                <a:lnTo>
                  <a:pt x="360" y="2"/>
                </a:lnTo>
                <a:lnTo>
                  <a:pt x="377" y="1"/>
                </a:lnTo>
                <a:lnTo>
                  <a:pt x="393" y="0"/>
                </a:lnTo>
                <a:lnTo>
                  <a:pt x="393" y="26"/>
                </a:lnTo>
                <a:lnTo>
                  <a:pt x="377" y="27"/>
                </a:lnTo>
                <a:lnTo>
                  <a:pt x="360" y="28"/>
                </a:lnTo>
                <a:lnTo>
                  <a:pt x="344" y="31"/>
                </a:lnTo>
                <a:lnTo>
                  <a:pt x="327" y="34"/>
                </a:lnTo>
                <a:lnTo>
                  <a:pt x="311" y="37"/>
                </a:lnTo>
                <a:lnTo>
                  <a:pt x="295" y="42"/>
                </a:lnTo>
                <a:lnTo>
                  <a:pt x="278" y="46"/>
                </a:lnTo>
                <a:lnTo>
                  <a:pt x="262" y="52"/>
                </a:lnTo>
                <a:lnTo>
                  <a:pt x="246" y="57"/>
                </a:lnTo>
                <a:lnTo>
                  <a:pt x="229" y="63"/>
                </a:lnTo>
                <a:lnTo>
                  <a:pt x="213" y="69"/>
                </a:lnTo>
                <a:lnTo>
                  <a:pt x="196" y="75"/>
                </a:lnTo>
                <a:lnTo>
                  <a:pt x="180" y="81"/>
                </a:lnTo>
                <a:lnTo>
                  <a:pt x="164" y="87"/>
                </a:lnTo>
                <a:lnTo>
                  <a:pt x="147" y="93"/>
                </a:lnTo>
                <a:lnTo>
                  <a:pt x="131" y="98"/>
                </a:lnTo>
                <a:lnTo>
                  <a:pt x="114" y="103"/>
                </a:lnTo>
                <a:lnTo>
                  <a:pt x="98" y="108"/>
                </a:lnTo>
                <a:lnTo>
                  <a:pt x="82" y="112"/>
                </a:lnTo>
                <a:lnTo>
                  <a:pt x="65" y="116"/>
                </a:lnTo>
                <a:lnTo>
                  <a:pt x="49" y="119"/>
                </a:lnTo>
                <a:lnTo>
                  <a:pt x="33" y="121"/>
                </a:lnTo>
                <a:lnTo>
                  <a:pt x="16" y="123"/>
                </a:lnTo>
                <a:lnTo>
                  <a:pt x="0" y="123"/>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3667125"/>
            <a:ext cx="3743325" cy="1314450"/>
          </a:xfrm>
          <a:custGeom>
            <a:avLst/>
            <a:gdLst/>
            <a:ahLst/>
            <a:cxnLst/>
            <a:rect l="l" t="t" r="r" b="b"/>
            <a:pathLst>
              <a:path w="393" h="138">
                <a:moveTo>
                  <a:pt x="0" y="0"/>
                </a:moveTo>
                <a:lnTo>
                  <a:pt x="16" y="1"/>
                </a:lnTo>
                <a:lnTo>
                  <a:pt x="33" y="2"/>
                </a:lnTo>
                <a:lnTo>
                  <a:pt x="49" y="5"/>
                </a:lnTo>
                <a:lnTo>
                  <a:pt x="65" y="9"/>
                </a:lnTo>
                <a:lnTo>
                  <a:pt x="82" y="13"/>
                </a:lnTo>
                <a:lnTo>
                  <a:pt x="98" y="18"/>
                </a:lnTo>
                <a:lnTo>
                  <a:pt x="114" y="24"/>
                </a:lnTo>
                <a:lnTo>
                  <a:pt x="131" y="31"/>
                </a:lnTo>
                <a:lnTo>
                  <a:pt x="147" y="37"/>
                </a:lnTo>
                <a:lnTo>
                  <a:pt x="164" y="44"/>
                </a:lnTo>
                <a:lnTo>
                  <a:pt x="180" y="52"/>
                </a:lnTo>
                <a:lnTo>
                  <a:pt x="196" y="59"/>
                </a:lnTo>
                <a:lnTo>
                  <a:pt x="213" y="66"/>
                </a:lnTo>
                <a:lnTo>
                  <a:pt x="229" y="73"/>
                </a:lnTo>
                <a:lnTo>
                  <a:pt x="246" y="80"/>
                </a:lnTo>
                <a:lnTo>
                  <a:pt x="262" y="87"/>
                </a:lnTo>
                <a:lnTo>
                  <a:pt x="278" y="93"/>
                </a:lnTo>
                <a:lnTo>
                  <a:pt x="295" y="99"/>
                </a:lnTo>
                <a:lnTo>
                  <a:pt x="311" y="104"/>
                </a:lnTo>
                <a:lnTo>
                  <a:pt x="327" y="109"/>
                </a:lnTo>
                <a:lnTo>
                  <a:pt x="344" y="113"/>
                </a:lnTo>
                <a:lnTo>
                  <a:pt x="360" y="115"/>
                </a:lnTo>
                <a:lnTo>
                  <a:pt x="377" y="117"/>
                </a:lnTo>
                <a:lnTo>
                  <a:pt x="393" y="118"/>
                </a:lnTo>
                <a:lnTo>
                  <a:pt x="393" y="138"/>
                </a:lnTo>
                <a:lnTo>
                  <a:pt x="377" y="137"/>
                </a:lnTo>
                <a:lnTo>
                  <a:pt x="360" y="136"/>
                </a:lnTo>
                <a:lnTo>
                  <a:pt x="344" y="133"/>
                </a:lnTo>
                <a:lnTo>
                  <a:pt x="327" y="129"/>
                </a:lnTo>
                <a:lnTo>
                  <a:pt x="311" y="125"/>
                </a:lnTo>
                <a:lnTo>
                  <a:pt x="295" y="120"/>
                </a:lnTo>
                <a:lnTo>
                  <a:pt x="278" y="114"/>
                </a:lnTo>
                <a:lnTo>
                  <a:pt x="262" y="108"/>
                </a:lnTo>
                <a:lnTo>
                  <a:pt x="246" y="101"/>
                </a:lnTo>
                <a:lnTo>
                  <a:pt x="229" y="94"/>
                </a:lnTo>
                <a:lnTo>
                  <a:pt x="213" y="87"/>
                </a:lnTo>
                <a:lnTo>
                  <a:pt x="196" y="79"/>
                </a:lnTo>
                <a:lnTo>
                  <a:pt x="180" y="72"/>
                </a:lnTo>
                <a:lnTo>
                  <a:pt x="164" y="65"/>
                </a:lnTo>
                <a:lnTo>
                  <a:pt x="147" y="58"/>
                </a:lnTo>
                <a:lnTo>
                  <a:pt x="131" y="51"/>
                </a:lnTo>
                <a:lnTo>
                  <a:pt x="114" y="45"/>
                </a:lnTo>
                <a:lnTo>
                  <a:pt x="98" y="39"/>
                </a:lnTo>
                <a:lnTo>
                  <a:pt x="82" y="34"/>
                </a:lnTo>
                <a:lnTo>
                  <a:pt x="65" y="29"/>
                </a:lnTo>
                <a:lnTo>
                  <a:pt x="49" y="26"/>
                </a:lnTo>
                <a:lnTo>
                  <a:pt x="33" y="23"/>
                </a:lnTo>
                <a:lnTo>
                  <a:pt x="16" y="21"/>
                </a:lnTo>
                <a:lnTo>
                  <a:pt x="0" y="20"/>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3857625"/>
            <a:ext cx="3743325" cy="2343150"/>
          </a:xfrm>
          <a:custGeom>
            <a:avLst/>
            <a:gdLst/>
            <a:ahLst/>
            <a:cxnLst/>
            <a:rect l="l" t="t" r="r" b="b"/>
            <a:pathLst>
              <a:path w="393" h="246">
                <a:moveTo>
                  <a:pt x="0" y="0"/>
                </a:moveTo>
                <a:lnTo>
                  <a:pt x="16" y="2"/>
                </a:lnTo>
                <a:lnTo>
                  <a:pt x="33" y="5"/>
                </a:lnTo>
                <a:lnTo>
                  <a:pt x="49" y="11"/>
                </a:lnTo>
                <a:lnTo>
                  <a:pt x="65" y="18"/>
                </a:lnTo>
                <a:lnTo>
                  <a:pt x="82" y="28"/>
                </a:lnTo>
                <a:lnTo>
                  <a:pt x="98" y="38"/>
                </a:lnTo>
                <a:lnTo>
                  <a:pt x="114" y="50"/>
                </a:lnTo>
                <a:lnTo>
                  <a:pt x="131" y="63"/>
                </a:lnTo>
                <a:lnTo>
                  <a:pt x="147" y="77"/>
                </a:lnTo>
                <a:lnTo>
                  <a:pt x="164" y="92"/>
                </a:lnTo>
                <a:lnTo>
                  <a:pt x="180" y="107"/>
                </a:lnTo>
                <a:lnTo>
                  <a:pt x="196" y="122"/>
                </a:lnTo>
                <a:lnTo>
                  <a:pt x="213" y="137"/>
                </a:lnTo>
                <a:lnTo>
                  <a:pt x="229" y="152"/>
                </a:lnTo>
                <a:lnTo>
                  <a:pt x="246" y="166"/>
                </a:lnTo>
                <a:lnTo>
                  <a:pt x="262" y="180"/>
                </a:lnTo>
                <a:lnTo>
                  <a:pt x="278" y="193"/>
                </a:lnTo>
                <a:lnTo>
                  <a:pt x="295" y="205"/>
                </a:lnTo>
                <a:lnTo>
                  <a:pt x="311" y="216"/>
                </a:lnTo>
                <a:lnTo>
                  <a:pt x="327" y="225"/>
                </a:lnTo>
                <a:lnTo>
                  <a:pt x="344" y="232"/>
                </a:lnTo>
                <a:lnTo>
                  <a:pt x="360" y="238"/>
                </a:lnTo>
                <a:lnTo>
                  <a:pt x="377" y="242"/>
                </a:lnTo>
                <a:lnTo>
                  <a:pt x="393" y="243"/>
                </a:lnTo>
                <a:lnTo>
                  <a:pt x="393" y="246"/>
                </a:lnTo>
                <a:lnTo>
                  <a:pt x="377" y="245"/>
                </a:lnTo>
                <a:lnTo>
                  <a:pt x="360" y="241"/>
                </a:lnTo>
                <a:lnTo>
                  <a:pt x="344" y="235"/>
                </a:lnTo>
                <a:lnTo>
                  <a:pt x="327" y="228"/>
                </a:lnTo>
                <a:lnTo>
                  <a:pt x="311" y="219"/>
                </a:lnTo>
                <a:lnTo>
                  <a:pt x="295" y="208"/>
                </a:lnTo>
                <a:lnTo>
                  <a:pt x="278" y="196"/>
                </a:lnTo>
                <a:lnTo>
                  <a:pt x="262" y="183"/>
                </a:lnTo>
                <a:lnTo>
                  <a:pt x="246" y="169"/>
                </a:lnTo>
                <a:lnTo>
                  <a:pt x="229" y="155"/>
                </a:lnTo>
                <a:lnTo>
                  <a:pt x="213" y="140"/>
                </a:lnTo>
                <a:lnTo>
                  <a:pt x="196" y="125"/>
                </a:lnTo>
                <a:lnTo>
                  <a:pt x="180" y="110"/>
                </a:lnTo>
                <a:lnTo>
                  <a:pt x="164" y="95"/>
                </a:lnTo>
                <a:lnTo>
                  <a:pt x="147" y="80"/>
                </a:lnTo>
                <a:lnTo>
                  <a:pt x="131" y="66"/>
                </a:lnTo>
                <a:lnTo>
                  <a:pt x="114" y="53"/>
                </a:lnTo>
                <a:lnTo>
                  <a:pt x="98" y="41"/>
                </a:lnTo>
                <a:lnTo>
                  <a:pt x="82" y="31"/>
                </a:lnTo>
                <a:lnTo>
                  <a:pt x="65" y="21"/>
                </a:lnTo>
                <a:lnTo>
                  <a:pt x="49" y="14"/>
                </a:lnTo>
                <a:lnTo>
                  <a:pt x="33" y="8"/>
                </a:lnTo>
                <a:lnTo>
                  <a:pt x="16" y="5"/>
                </a:lnTo>
                <a:lnTo>
                  <a:pt x="0" y="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2743200"/>
            <a:ext cx="3743325" cy="1466850"/>
          </a:xfrm>
          <a:custGeom>
            <a:avLst/>
            <a:gdLst/>
            <a:ahLst/>
            <a:cxnLst/>
            <a:rect l="l" t="t" r="r" b="b"/>
            <a:pathLst>
              <a:path w="393" h="154">
                <a:moveTo>
                  <a:pt x="0" y="127"/>
                </a:moveTo>
                <a:lnTo>
                  <a:pt x="16" y="126"/>
                </a:lnTo>
                <a:lnTo>
                  <a:pt x="33" y="124"/>
                </a:lnTo>
                <a:lnTo>
                  <a:pt x="49" y="121"/>
                </a:lnTo>
                <a:lnTo>
                  <a:pt x="65" y="117"/>
                </a:lnTo>
                <a:lnTo>
                  <a:pt x="82" y="112"/>
                </a:lnTo>
                <a:lnTo>
                  <a:pt x="98" y="107"/>
                </a:lnTo>
                <a:lnTo>
                  <a:pt x="114" y="101"/>
                </a:lnTo>
                <a:lnTo>
                  <a:pt x="131" y="94"/>
                </a:lnTo>
                <a:lnTo>
                  <a:pt x="147" y="87"/>
                </a:lnTo>
                <a:lnTo>
                  <a:pt x="164" y="79"/>
                </a:lnTo>
                <a:lnTo>
                  <a:pt x="180" y="71"/>
                </a:lnTo>
                <a:lnTo>
                  <a:pt x="196" y="63"/>
                </a:lnTo>
                <a:lnTo>
                  <a:pt x="213" y="56"/>
                </a:lnTo>
                <a:lnTo>
                  <a:pt x="229" y="48"/>
                </a:lnTo>
                <a:lnTo>
                  <a:pt x="246" y="40"/>
                </a:lnTo>
                <a:lnTo>
                  <a:pt x="262" y="33"/>
                </a:lnTo>
                <a:lnTo>
                  <a:pt x="278" y="26"/>
                </a:lnTo>
                <a:lnTo>
                  <a:pt x="295" y="20"/>
                </a:lnTo>
                <a:lnTo>
                  <a:pt x="311" y="15"/>
                </a:lnTo>
                <a:lnTo>
                  <a:pt x="327" y="10"/>
                </a:lnTo>
                <a:lnTo>
                  <a:pt x="344" y="6"/>
                </a:lnTo>
                <a:lnTo>
                  <a:pt x="360" y="3"/>
                </a:lnTo>
                <a:lnTo>
                  <a:pt x="377" y="1"/>
                </a:lnTo>
                <a:lnTo>
                  <a:pt x="393" y="0"/>
                </a:lnTo>
                <a:lnTo>
                  <a:pt x="393" y="28"/>
                </a:lnTo>
                <a:lnTo>
                  <a:pt x="377" y="29"/>
                </a:lnTo>
                <a:lnTo>
                  <a:pt x="360" y="31"/>
                </a:lnTo>
                <a:lnTo>
                  <a:pt x="344" y="34"/>
                </a:lnTo>
                <a:lnTo>
                  <a:pt x="327" y="38"/>
                </a:lnTo>
                <a:lnTo>
                  <a:pt x="311" y="42"/>
                </a:lnTo>
                <a:lnTo>
                  <a:pt x="295" y="48"/>
                </a:lnTo>
                <a:lnTo>
                  <a:pt x="278" y="54"/>
                </a:lnTo>
                <a:lnTo>
                  <a:pt x="262" y="61"/>
                </a:lnTo>
                <a:lnTo>
                  <a:pt x="246" y="68"/>
                </a:lnTo>
                <a:lnTo>
                  <a:pt x="229" y="76"/>
                </a:lnTo>
                <a:lnTo>
                  <a:pt x="213" y="83"/>
                </a:lnTo>
                <a:lnTo>
                  <a:pt x="196" y="91"/>
                </a:lnTo>
                <a:lnTo>
                  <a:pt x="180" y="99"/>
                </a:lnTo>
                <a:lnTo>
                  <a:pt x="164" y="107"/>
                </a:lnTo>
                <a:lnTo>
                  <a:pt x="147" y="114"/>
                </a:lnTo>
                <a:lnTo>
                  <a:pt x="131" y="122"/>
                </a:lnTo>
                <a:lnTo>
                  <a:pt x="114" y="128"/>
                </a:lnTo>
                <a:lnTo>
                  <a:pt x="98" y="135"/>
                </a:lnTo>
                <a:lnTo>
                  <a:pt x="82" y="140"/>
                </a:lnTo>
                <a:lnTo>
                  <a:pt x="65" y="145"/>
                </a:lnTo>
                <a:lnTo>
                  <a:pt x="49" y="149"/>
                </a:lnTo>
                <a:lnTo>
                  <a:pt x="33" y="152"/>
                </a:lnTo>
                <a:lnTo>
                  <a:pt x="16" y="154"/>
                </a:lnTo>
                <a:lnTo>
                  <a:pt x="0" y="154"/>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210050"/>
            <a:ext cx="3743325" cy="952500"/>
          </a:xfrm>
          <a:custGeom>
            <a:avLst/>
            <a:gdLst/>
            <a:ahLst/>
            <a:cxnLst/>
            <a:rect l="l" t="t" r="r" b="b"/>
            <a:pathLst>
              <a:path w="393" h="100">
                <a:moveTo>
                  <a:pt x="0" y="0"/>
                </a:moveTo>
                <a:lnTo>
                  <a:pt x="16" y="1"/>
                </a:lnTo>
                <a:lnTo>
                  <a:pt x="33" y="2"/>
                </a:lnTo>
                <a:lnTo>
                  <a:pt x="49" y="4"/>
                </a:lnTo>
                <a:lnTo>
                  <a:pt x="65" y="6"/>
                </a:lnTo>
                <a:lnTo>
                  <a:pt x="82" y="9"/>
                </a:lnTo>
                <a:lnTo>
                  <a:pt x="98" y="13"/>
                </a:lnTo>
                <a:lnTo>
                  <a:pt x="114" y="17"/>
                </a:lnTo>
                <a:lnTo>
                  <a:pt x="131" y="21"/>
                </a:lnTo>
                <a:lnTo>
                  <a:pt x="147" y="26"/>
                </a:lnTo>
                <a:lnTo>
                  <a:pt x="164" y="31"/>
                </a:lnTo>
                <a:lnTo>
                  <a:pt x="180" y="36"/>
                </a:lnTo>
                <a:lnTo>
                  <a:pt x="196" y="41"/>
                </a:lnTo>
                <a:lnTo>
                  <a:pt x="213" y="46"/>
                </a:lnTo>
                <a:lnTo>
                  <a:pt x="229" y="51"/>
                </a:lnTo>
                <a:lnTo>
                  <a:pt x="246" y="55"/>
                </a:lnTo>
                <a:lnTo>
                  <a:pt x="262" y="60"/>
                </a:lnTo>
                <a:lnTo>
                  <a:pt x="278" y="64"/>
                </a:lnTo>
                <a:lnTo>
                  <a:pt x="295" y="68"/>
                </a:lnTo>
                <a:lnTo>
                  <a:pt x="311" y="72"/>
                </a:lnTo>
                <a:lnTo>
                  <a:pt x="327" y="75"/>
                </a:lnTo>
                <a:lnTo>
                  <a:pt x="344" y="78"/>
                </a:lnTo>
                <a:lnTo>
                  <a:pt x="360" y="79"/>
                </a:lnTo>
                <a:lnTo>
                  <a:pt x="377" y="81"/>
                </a:lnTo>
                <a:lnTo>
                  <a:pt x="393" y="81"/>
                </a:lnTo>
                <a:lnTo>
                  <a:pt x="393" y="100"/>
                </a:lnTo>
                <a:lnTo>
                  <a:pt x="377" y="100"/>
                </a:lnTo>
                <a:lnTo>
                  <a:pt x="360" y="99"/>
                </a:lnTo>
                <a:lnTo>
                  <a:pt x="344" y="97"/>
                </a:lnTo>
                <a:lnTo>
                  <a:pt x="327" y="94"/>
                </a:lnTo>
                <a:lnTo>
                  <a:pt x="311" y="91"/>
                </a:lnTo>
                <a:lnTo>
                  <a:pt x="295" y="88"/>
                </a:lnTo>
                <a:lnTo>
                  <a:pt x="278" y="84"/>
                </a:lnTo>
                <a:lnTo>
                  <a:pt x="262" y="79"/>
                </a:lnTo>
                <a:lnTo>
                  <a:pt x="246" y="75"/>
                </a:lnTo>
                <a:lnTo>
                  <a:pt x="229" y="70"/>
                </a:lnTo>
                <a:lnTo>
                  <a:pt x="213" y="65"/>
                </a:lnTo>
                <a:lnTo>
                  <a:pt x="196" y="60"/>
                </a:lnTo>
                <a:lnTo>
                  <a:pt x="180" y="55"/>
                </a:lnTo>
                <a:lnTo>
                  <a:pt x="164" y="50"/>
                </a:lnTo>
                <a:lnTo>
                  <a:pt x="147" y="45"/>
                </a:lnTo>
                <a:lnTo>
                  <a:pt x="131" y="40"/>
                </a:lnTo>
                <a:lnTo>
                  <a:pt x="114" y="36"/>
                </a:lnTo>
                <a:lnTo>
                  <a:pt x="98" y="32"/>
                </a:lnTo>
                <a:lnTo>
                  <a:pt x="82" y="28"/>
                </a:lnTo>
                <a:lnTo>
                  <a:pt x="65" y="25"/>
                </a:lnTo>
                <a:lnTo>
                  <a:pt x="49" y="23"/>
                </a:lnTo>
                <a:lnTo>
                  <a:pt x="33" y="21"/>
                </a:lnTo>
                <a:lnTo>
                  <a:pt x="16" y="20"/>
                </a:lnTo>
                <a:lnTo>
                  <a:pt x="0" y="19"/>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4391025"/>
            <a:ext cx="3743325" cy="1828800"/>
          </a:xfrm>
          <a:custGeom>
            <a:avLst/>
            <a:gdLst/>
            <a:ahLst/>
            <a:cxnLst/>
            <a:rect l="l" t="t" r="r" b="b"/>
            <a:pathLst>
              <a:path w="393" h="192">
                <a:moveTo>
                  <a:pt x="0" y="0"/>
                </a:moveTo>
                <a:lnTo>
                  <a:pt x="16" y="1"/>
                </a:lnTo>
                <a:lnTo>
                  <a:pt x="33" y="4"/>
                </a:lnTo>
                <a:lnTo>
                  <a:pt x="49" y="9"/>
                </a:lnTo>
                <a:lnTo>
                  <a:pt x="65" y="14"/>
                </a:lnTo>
                <a:lnTo>
                  <a:pt x="82" y="22"/>
                </a:lnTo>
                <a:lnTo>
                  <a:pt x="98" y="30"/>
                </a:lnTo>
                <a:lnTo>
                  <a:pt x="114" y="39"/>
                </a:lnTo>
                <a:lnTo>
                  <a:pt x="131" y="50"/>
                </a:lnTo>
                <a:lnTo>
                  <a:pt x="147" y="60"/>
                </a:lnTo>
                <a:lnTo>
                  <a:pt x="164" y="72"/>
                </a:lnTo>
                <a:lnTo>
                  <a:pt x="180" y="83"/>
                </a:lnTo>
                <a:lnTo>
                  <a:pt x="196" y="95"/>
                </a:lnTo>
                <a:lnTo>
                  <a:pt x="213" y="107"/>
                </a:lnTo>
                <a:lnTo>
                  <a:pt x="229" y="119"/>
                </a:lnTo>
                <a:lnTo>
                  <a:pt x="246" y="130"/>
                </a:lnTo>
                <a:lnTo>
                  <a:pt x="262" y="141"/>
                </a:lnTo>
                <a:lnTo>
                  <a:pt x="278" y="151"/>
                </a:lnTo>
                <a:lnTo>
                  <a:pt x="295" y="160"/>
                </a:lnTo>
                <a:lnTo>
                  <a:pt x="311" y="169"/>
                </a:lnTo>
                <a:lnTo>
                  <a:pt x="327" y="176"/>
                </a:lnTo>
                <a:lnTo>
                  <a:pt x="344" y="182"/>
                </a:lnTo>
                <a:lnTo>
                  <a:pt x="360" y="186"/>
                </a:lnTo>
                <a:lnTo>
                  <a:pt x="377" y="189"/>
                </a:lnTo>
                <a:lnTo>
                  <a:pt x="393" y="190"/>
                </a:lnTo>
                <a:lnTo>
                  <a:pt x="393" y="192"/>
                </a:lnTo>
                <a:lnTo>
                  <a:pt x="377" y="191"/>
                </a:lnTo>
                <a:lnTo>
                  <a:pt x="360" y="189"/>
                </a:lnTo>
                <a:lnTo>
                  <a:pt x="344" y="184"/>
                </a:lnTo>
                <a:lnTo>
                  <a:pt x="327" y="178"/>
                </a:lnTo>
                <a:lnTo>
                  <a:pt x="311" y="171"/>
                </a:lnTo>
                <a:lnTo>
                  <a:pt x="295" y="163"/>
                </a:lnTo>
                <a:lnTo>
                  <a:pt x="278" y="153"/>
                </a:lnTo>
                <a:lnTo>
                  <a:pt x="262" y="143"/>
                </a:lnTo>
                <a:lnTo>
                  <a:pt x="246" y="133"/>
                </a:lnTo>
                <a:lnTo>
                  <a:pt x="229" y="121"/>
                </a:lnTo>
                <a:lnTo>
                  <a:pt x="213" y="110"/>
                </a:lnTo>
                <a:lnTo>
                  <a:pt x="196" y="98"/>
                </a:lnTo>
                <a:lnTo>
                  <a:pt x="180" y="86"/>
                </a:lnTo>
                <a:lnTo>
                  <a:pt x="164" y="74"/>
                </a:lnTo>
                <a:lnTo>
                  <a:pt x="147" y="63"/>
                </a:lnTo>
                <a:lnTo>
                  <a:pt x="131" y="52"/>
                </a:lnTo>
                <a:lnTo>
                  <a:pt x="114" y="42"/>
                </a:lnTo>
                <a:lnTo>
                  <a:pt x="98" y="33"/>
                </a:lnTo>
                <a:lnTo>
                  <a:pt x="82" y="24"/>
                </a:lnTo>
                <a:lnTo>
                  <a:pt x="65" y="17"/>
                </a:lnTo>
                <a:lnTo>
                  <a:pt x="49" y="11"/>
                </a:lnTo>
                <a:lnTo>
                  <a:pt x="33" y="7"/>
                </a:lnTo>
                <a:lnTo>
                  <a:pt x="16" y="4"/>
                </a:lnTo>
                <a:lnTo>
                  <a:pt x="0" y="3"/>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3009900"/>
            <a:ext cx="3743325" cy="1704975"/>
          </a:xfrm>
          <a:custGeom>
            <a:avLst/>
            <a:gdLst/>
            <a:ahLst/>
            <a:cxnLst/>
            <a:rect l="l" t="t" r="r" b="b"/>
            <a:pathLst>
              <a:path w="393" h="179">
                <a:moveTo>
                  <a:pt x="0" y="154"/>
                </a:moveTo>
                <a:lnTo>
                  <a:pt x="16" y="153"/>
                </a:lnTo>
                <a:lnTo>
                  <a:pt x="33" y="151"/>
                </a:lnTo>
                <a:lnTo>
                  <a:pt x="49" y="147"/>
                </a:lnTo>
                <a:lnTo>
                  <a:pt x="65" y="143"/>
                </a:lnTo>
                <a:lnTo>
                  <a:pt x="82" y="137"/>
                </a:lnTo>
                <a:lnTo>
                  <a:pt x="98" y="130"/>
                </a:lnTo>
                <a:lnTo>
                  <a:pt x="114" y="122"/>
                </a:lnTo>
                <a:lnTo>
                  <a:pt x="131" y="114"/>
                </a:lnTo>
                <a:lnTo>
                  <a:pt x="147" y="105"/>
                </a:lnTo>
                <a:lnTo>
                  <a:pt x="164" y="96"/>
                </a:lnTo>
                <a:lnTo>
                  <a:pt x="180" y="87"/>
                </a:lnTo>
                <a:lnTo>
                  <a:pt x="196" y="77"/>
                </a:lnTo>
                <a:lnTo>
                  <a:pt x="213" y="68"/>
                </a:lnTo>
                <a:lnTo>
                  <a:pt x="229" y="58"/>
                </a:lnTo>
                <a:lnTo>
                  <a:pt x="246" y="49"/>
                </a:lnTo>
                <a:lnTo>
                  <a:pt x="262" y="40"/>
                </a:lnTo>
                <a:lnTo>
                  <a:pt x="278" y="32"/>
                </a:lnTo>
                <a:lnTo>
                  <a:pt x="295" y="24"/>
                </a:lnTo>
                <a:lnTo>
                  <a:pt x="311" y="18"/>
                </a:lnTo>
                <a:lnTo>
                  <a:pt x="327" y="12"/>
                </a:lnTo>
                <a:lnTo>
                  <a:pt x="344" y="7"/>
                </a:lnTo>
                <a:lnTo>
                  <a:pt x="360" y="3"/>
                </a:lnTo>
                <a:lnTo>
                  <a:pt x="377" y="1"/>
                </a:lnTo>
                <a:lnTo>
                  <a:pt x="393" y="0"/>
                </a:lnTo>
                <a:lnTo>
                  <a:pt x="393" y="25"/>
                </a:lnTo>
                <a:lnTo>
                  <a:pt x="377" y="26"/>
                </a:lnTo>
                <a:lnTo>
                  <a:pt x="360" y="28"/>
                </a:lnTo>
                <a:lnTo>
                  <a:pt x="344" y="31"/>
                </a:lnTo>
                <a:lnTo>
                  <a:pt x="327" y="36"/>
                </a:lnTo>
                <a:lnTo>
                  <a:pt x="311" y="42"/>
                </a:lnTo>
                <a:lnTo>
                  <a:pt x="295" y="49"/>
                </a:lnTo>
                <a:lnTo>
                  <a:pt x="278" y="56"/>
                </a:lnTo>
                <a:lnTo>
                  <a:pt x="262" y="65"/>
                </a:lnTo>
                <a:lnTo>
                  <a:pt x="246" y="73"/>
                </a:lnTo>
                <a:lnTo>
                  <a:pt x="229" y="83"/>
                </a:lnTo>
                <a:lnTo>
                  <a:pt x="213" y="92"/>
                </a:lnTo>
                <a:lnTo>
                  <a:pt x="196" y="102"/>
                </a:lnTo>
                <a:lnTo>
                  <a:pt x="180" y="111"/>
                </a:lnTo>
                <a:lnTo>
                  <a:pt x="164" y="121"/>
                </a:lnTo>
                <a:lnTo>
                  <a:pt x="147" y="130"/>
                </a:lnTo>
                <a:lnTo>
                  <a:pt x="131" y="139"/>
                </a:lnTo>
                <a:lnTo>
                  <a:pt x="114" y="147"/>
                </a:lnTo>
                <a:lnTo>
                  <a:pt x="98" y="155"/>
                </a:lnTo>
                <a:lnTo>
                  <a:pt x="82" y="161"/>
                </a:lnTo>
                <a:lnTo>
                  <a:pt x="65" y="167"/>
                </a:lnTo>
                <a:lnTo>
                  <a:pt x="49" y="172"/>
                </a:lnTo>
                <a:lnTo>
                  <a:pt x="33" y="176"/>
                </a:lnTo>
                <a:lnTo>
                  <a:pt x="16" y="178"/>
                </a:lnTo>
                <a:lnTo>
                  <a:pt x="0" y="179"/>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4714875"/>
            <a:ext cx="3743325" cy="657225"/>
          </a:xfrm>
          <a:custGeom>
            <a:avLst/>
            <a:gdLst/>
            <a:ahLst/>
            <a:cxnLst/>
            <a:rect l="l" t="t" r="r" b="b"/>
            <a:pathLst>
              <a:path w="393" h="69">
                <a:moveTo>
                  <a:pt x="0" y="0"/>
                </a:moveTo>
                <a:lnTo>
                  <a:pt x="16" y="0"/>
                </a:lnTo>
                <a:lnTo>
                  <a:pt x="33" y="0"/>
                </a:lnTo>
                <a:lnTo>
                  <a:pt x="49" y="2"/>
                </a:lnTo>
                <a:lnTo>
                  <a:pt x="65" y="3"/>
                </a:lnTo>
                <a:lnTo>
                  <a:pt x="82" y="5"/>
                </a:lnTo>
                <a:lnTo>
                  <a:pt x="98" y="7"/>
                </a:lnTo>
                <a:lnTo>
                  <a:pt x="114" y="9"/>
                </a:lnTo>
                <a:lnTo>
                  <a:pt x="131" y="12"/>
                </a:lnTo>
                <a:lnTo>
                  <a:pt x="147" y="15"/>
                </a:lnTo>
                <a:lnTo>
                  <a:pt x="164" y="17"/>
                </a:lnTo>
                <a:lnTo>
                  <a:pt x="180" y="20"/>
                </a:lnTo>
                <a:lnTo>
                  <a:pt x="196" y="23"/>
                </a:lnTo>
                <a:lnTo>
                  <a:pt x="213" y="26"/>
                </a:lnTo>
                <a:lnTo>
                  <a:pt x="229" y="29"/>
                </a:lnTo>
                <a:lnTo>
                  <a:pt x="246" y="32"/>
                </a:lnTo>
                <a:lnTo>
                  <a:pt x="262" y="35"/>
                </a:lnTo>
                <a:lnTo>
                  <a:pt x="278" y="37"/>
                </a:lnTo>
                <a:lnTo>
                  <a:pt x="295" y="40"/>
                </a:lnTo>
                <a:lnTo>
                  <a:pt x="311" y="42"/>
                </a:lnTo>
                <a:lnTo>
                  <a:pt x="327" y="44"/>
                </a:lnTo>
                <a:lnTo>
                  <a:pt x="344" y="45"/>
                </a:lnTo>
                <a:lnTo>
                  <a:pt x="360" y="46"/>
                </a:lnTo>
                <a:lnTo>
                  <a:pt x="377" y="47"/>
                </a:lnTo>
                <a:lnTo>
                  <a:pt x="393" y="47"/>
                </a:lnTo>
                <a:lnTo>
                  <a:pt x="393" y="69"/>
                </a:lnTo>
                <a:lnTo>
                  <a:pt x="377" y="69"/>
                </a:lnTo>
                <a:lnTo>
                  <a:pt x="360" y="68"/>
                </a:lnTo>
                <a:lnTo>
                  <a:pt x="344" y="67"/>
                </a:lnTo>
                <a:lnTo>
                  <a:pt x="327" y="66"/>
                </a:lnTo>
                <a:lnTo>
                  <a:pt x="311" y="64"/>
                </a:lnTo>
                <a:lnTo>
                  <a:pt x="295" y="62"/>
                </a:lnTo>
                <a:lnTo>
                  <a:pt x="278" y="59"/>
                </a:lnTo>
                <a:lnTo>
                  <a:pt x="262" y="57"/>
                </a:lnTo>
                <a:lnTo>
                  <a:pt x="246" y="54"/>
                </a:lnTo>
                <a:lnTo>
                  <a:pt x="229" y="51"/>
                </a:lnTo>
                <a:lnTo>
                  <a:pt x="213" y="48"/>
                </a:lnTo>
                <a:lnTo>
                  <a:pt x="196" y="45"/>
                </a:lnTo>
                <a:lnTo>
                  <a:pt x="180" y="42"/>
                </a:lnTo>
                <a:lnTo>
                  <a:pt x="164" y="39"/>
                </a:lnTo>
                <a:lnTo>
                  <a:pt x="147" y="37"/>
                </a:lnTo>
                <a:lnTo>
                  <a:pt x="131" y="34"/>
                </a:lnTo>
                <a:lnTo>
                  <a:pt x="114" y="31"/>
                </a:lnTo>
                <a:lnTo>
                  <a:pt x="98" y="29"/>
                </a:lnTo>
                <a:lnTo>
                  <a:pt x="82" y="27"/>
                </a:lnTo>
                <a:lnTo>
                  <a:pt x="65" y="25"/>
                </a:lnTo>
                <a:lnTo>
                  <a:pt x="49" y="24"/>
                </a:lnTo>
                <a:lnTo>
                  <a:pt x="33" y="23"/>
                </a:lnTo>
                <a:lnTo>
                  <a:pt x="16" y="22"/>
                </a:lnTo>
                <a:lnTo>
                  <a:pt x="0" y="22"/>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4924425"/>
            <a:ext cx="3743325" cy="1323975"/>
          </a:xfrm>
          <a:custGeom>
            <a:avLst/>
            <a:gdLst/>
            <a:ahLst/>
            <a:cxnLst/>
            <a:rect l="l" t="t" r="r" b="b"/>
            <a:pathLst>
              <a:path w="393" h="139">
                <a:moveTo>
                  <a:pt x="0" y="0"/>
                </a:moveTo>
                <a:lnTo>
                  <a:pt x="16" y="0"/>
                </a:lnTo>
                <a:lnTo>
                  <a:pt x="33" y="2"/>
                </a:lnTo>
                <a:lnTo>
                  <a:pt x="49" y="5"/>
                </a:lnTo>
                <a:lnTo>
                  <a:pt x="65" y="10"/>
                </a:lnTo>
                <a:lnTo>
                  <a:pt x="82" y="15"/>
                </a:lnTo>
                <a:lnTo>
                  <a:pt x="98" y="21"/>
                </a:lnTo>
                <a:lnTo>
                  <a:pt x="114" y="28"/>
                </a:lnTo>
                <a:lnTo>
                  <a:pt x="131" y="35"/>
                </a:lnTo>
                <a:lnTo>
                  <a:pt x="147" y="43"/>
                </a:lnTo>
                <a:lnTo>
                  <a:pt x="164" y="51"/>
                </a:lnTo>
                <a:lnTo>
                  <a:pt x="180" y="59"/>
                </a:lnTo>
                <a:lnTo>
                  <a:pt x="196" y="68"/>
                </a:lnTo>
                <a:lnTo>
                  <a:pt x="213" y="77"/>
                </a:lnTo>
                <a:lnTo>
                  <a:pt x="229" y="85"/>
                </a:lnTo>
                <a:lnTo>
                  <a:pt x="246" y="93"/>
                </a:lnTo>
                <a:lnTo>
                  <a:pt x="262" y="101"/>
                </a:lnTo>
                <a:lnTo>
                  <a:pt x="278" y="108"/>
                </a:lnTo>
                <a:lnTo>
                  <a:pt x="295" y="115"/>
                </a:lnTo>
                <a:lnTo>
                  <a:pt x="311" y="121"/>
                </a:lnTo>
                <a:lnTo>
                  <a:pt x="327" y="126"/>
                </a:lnTo>
                <a:lnTo>
                  <a:pt x="344" y="131"/>
                </a:lnTo>
                <a:lnTo>
                  <a:pt x="360" y="134"/>
                </a:lnTo>
                <a:lnTo>
                  <a:pt x="377" y="136"/>
                </a:lnTo>
                <a:lnTo>
                  <a:pt x="393" y="136"/>
                </a:lnTo>
                <a:lnTo>
                  <a:pt x="393" y="139"/>
                </a:lnTo>
                <a:lnTo>
                  <a:pt x="377" y="139"/>
                </a:lnTo>
                <a:lnTo>
                  <a:pt x="360" y="137"/>
                </a:lnTo>
                <a:lnTo>
                  <a:pt x="344" y="133"/>
                </a:lnTo>
                <a:lnTo>
                  <a:pt x="327" y="129"/>
                </a:lnTo>
                <a:lnTo>
                  <a:pt x="311" y="124"/>
                </a:lnTo>
                <a:lnTo>
                  <a:pt x="295" y="118"/>
                </a:lnTo>
                <a:lnTo>
                  <a:pt x="278" y="111"/>
                </a:lnTo>
                <a:lnTo>
                  <a:pt x="262" y="104"/>
                </a:lnTo>
                <a:lnTo>
                  <a:pt x="246" y="96"/>
                </a:lnTo>
                <a:lnTo>
                  <a:pt x="229" y="88"/>
                </a:lnTo>
                <a:lnTo>
                  <a:pt x="213" y="79"/>
                </a:lnTo>
                <a:lnTo>
                  <a:pt x="196" y="71"/>
                </a:lnTo>
                <a:lnTo>
                  <a:pt x="180" y="62"/>
                </a:lnTo>
                <a:lnTo>
                  <a:pt x="164" y="54"/>
                </a:lnTo>
                <a:lnTo>
                  <a:pt x="147" y="46"/>
                </a:lnTo>
                <a:lnTo>
                  <a:pt x="131" y="38"/>
                </a:lnTo>
                <a:lnTo>
                  <a:pt x="114" y="31"/>
                </a:lnTo>
                <a:lnTo>
                  <a:pt x="98" y="24"/>
                </a:lnTo>
                <a:lnTo>
                  <a:pt x="82" y="18"/>
                </a:lnTo>
                <a:lnTo>
                  <a:pt x="65" y="13"/>
                </a:lnTo>
                <a:lnTo>
                  <a:pt x="49" y="8"/>
                </a:lnTo>
                <a:lnTo>
                  <a:pt x="33" y="5"/>
                </a:lnTo>
                <a:lnTo>
                  <a:pt x="16" y="3"/>
                </a:lnTo>
                <a:lnTo>
                  <a:pt x="0" y="3"/>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3248025"/>
            <a:ext cx="3743325" cy="2009775"/>
          </a:xfrm>
          <a:custGeom>
            <a:avLst/>
            <a:gdLst/>
            <a:ahLst/>
            <a:cxnLst/>
            <a:rect l="l" t="t" r="r" b="b"/>
            <a:pathLst>
              <a:path w="393" h="211">
                <a:moveTo>
                  <a:pt x="0" y="185"/>
                </a:moveTo>
                <a:lnTo>
                  <a:pt x="16" y="184"/>
                </a:lnTo>
                <a:lnTo>
                  <a:pt x="33" y="181"/>
                </a:lnTo>
                <a:lnTo>
                  <a:pt x="49" y="177"/>
                </a:lnTo>
                <a:lnTo>
                  <a:pt x="65" y="171"/>
                </a:lnTo>
                <a:lnTo>
                  <a:pt x="82" y="164"/>
                </a:lnTo>
                <a:lnTo>
                  <a:pt x="98" y="156"/>
                </a:lnTo>
                <a:lnTo>
                  <a:pt x="114" y="147"/>
                </a:lnTo>
                <a:lnTo>
                  <a:pt x="131" y="137"/>
                </a:lnTo>
                <a:lnTo>
                  <a:pt x="147" y="126"/>
                </a:lnTo>
                <a:lnTo>
                  <a:pt x="164" y="115"/>
                </a:lnTo>
                <a:lnTo>
                  <a:pt x="180" y="104"/>
                </a:lnTo>
                <a:lnTo>
                  <a:pt x="196" y="92"/>
                </a:lnTo>
                <a:lnTo>
                  <a:pt x="213" y="81"/>
                </a:lnTo>
                <a:lnTo>
                  <a:pt x="229" y="69"/>
                </a:lnTo>
                <a:lnTo>
                  <a:pt x="246" y="58"/>
                </a:lnTo>
                <a:lnTo>
                  <a:pt x="262" y="48"/>
                </a:lnTo>
                <a:lnTo>
                  <a:pt x="278" y="38"/>
                </a:lnTo>
                <a:lnTo>
                  <a:pt x="295" y="29"/>
                </a:lnTo>
                <a:lnTo>
                  <a:pt x="311" y="21"/>
                </a:lnTo>
                <a:lnTo>
                  <a:pt x="327" y="14"/>
                </a:lnTo>
                <a:lnTo>
                  <a:pt x="344" y="8"/>
                </a:lnTo>
                <a:lnTo>
                  <a:pt x="360" y="3"/>
                </a:lnTo>
                <a:lnTo>
                  <a:pt x="377" y="1"/>
                </a:lnTo>
                <a:lnTo>
                  <a:pt x="393" y="0"/>
                </a:lnTo>
                <a:lnTo>
                  <a:pt x="393" y="26"/>
                </a:lnTo>
                <a:lnTo>
                  <a:pt x="377" y="27"/>
                </a:lnTo>
                <a:lnTo>
                  <a:pt x="360" y="30"/>
                </a:lnTo>
                <a:lnTo>
                  <a:pt x="344" y="34"/>
                </a:lnTo>
                <a:lnTo>
                  <a:pt x="327" y="40"/>
                </a:lnTo>
                <a:lnTo>
                  <a:pt x="311" y="47"/>
                </a:lnTo>
                <a:lnTo>
                  <a:pt x="295" y="55"/>
                </a:lnTo>
                <a:lnTo>
                  <a:pt x="278" y="64"/>
                </a:lnTo>
                <a:lnTo>
                  <a:pt x="262" y="74"/>
                </a:lnTo>
                <a:lnTo>
                  <a:pt x="246" y="85"/>
                </a:lnTo>
                <a:lnTo>
                  <a:pt x="229" y="96"/>
                </a:lnTo>
                <a:lnTo>
                  <a:pt x="213" y="107"/>
                </a:lnTo>
                <a:lnTo>
                  <a:pt x="196" y="119"/>
                </a:lnTo>
                <a:lnTo>
                  <a:pt x="180" y="130"/>
                </a:lnTo>
                <a:lnTo>
                  <a:pt x="164" y="141"/>
                </a:lnTo>
                <a:lnTo>
                  <a:pt x="147" y="152"/>
                </a:lnTo>
                <a:lnTo>
                  <a:pt x="131" y="163"/>
                </a:lnTo>
                <a:lnTo>
                  <a:pt x="114" y="173"/>
                </a:lnTo>
                <a:lnTo>
                  <a:pt x="98" y="182"/>
                </a:lnTo>
                <a:lnTo>
                  <a:pt x="82" y="190"/>
                </a:lnTo>
                <a:lnTo>
                  <a:pt x="65" y="197"/>
                </a:lnTo>
                <a:lnTo>
                  <a:pt x="49" y="203"/>
                </a:lnTo>
                <a:lnTo>
                  <a:pt x="33" y="207"/>
                </a:lnTo>
                <a:lnTo>
                  <a:pt x="16" y="210"/>
                </a:lnTo>
                <a:lnTo>
                  <a:pt x="0" y="211"/>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5257800"/>
            <a:ext cx="3743325" cy="314325"/>
          </a:xfrm>
          <a:custGeom>
            <a:avLst/>
            <a:gdLst/>
            <a:ahLst/>
            <a:cxnLst/>
            <a:rect l="l" t="t" r="r" b="b"/>
            <a:pathLst>
              <a:path w="393" h="33">
                <a:moveTo>
                  <a:pt x="0" y="0"/>
                </a:moveTo>
                <a:lnTo>
                  <a:pt x="16" y="0"/>
                </a:lnTo>
                <a:lnTo>
                  <a:pt x="33" y="0"/>
                </a:lnTo>
                <a:lnTo>
                  <a:pt x="49" y="0"/>
                </a:lnTo>
                <a:lnTo>
                  <a:pt x="65" y="1"/>
                </a:lnTo>
                <a:lnTo>
                  <a:pt x="82" y="1"/>
                </a:lnTo>
                <a:lnTo>
                  <a:pt x="98" y="2"/>
                </a:lnTo>
                <a:lnTo>
                  <a:pt x="114" y="2"/>
                </a:lnTo>
                <a:lnTo>
                  <a:pt x="131" y="3"/>
                </a:lnTo>
                <a:lnTo>
                  <a:pt x="147" y="4"/>
                </a:lnTo>
                <a:lnTo>
                  <a:pt x="164" y="5"/>
                </a:lnTo>
                <a:lnTo>
                  <a:pt x="180" y="5"/>
                </a:lnTo>
                <a:lnTo>
                  <a:pt x="196" y="6"/>
                </a:lnTo>
                <a:lnTo>
                  <a:pt x="213" y="7"/>
                </a:lnTo>
                <a:lnTo>
                  <a:pt x="229" y="8"/>
                </a:lnTo>
                <a:lnTo>
                  <a:pt x="246" y="8"/>
                </a:lnTo>
                <a:lnTo>
                  <a:pt x="262" y="9"/>
                </a:lnTo>
                <a:lnTo>
                  <a:pt x="278" y="10"/>
                </a:lnTo>
                <a:lnTo>
                  <a:pt x="295" y="10"/>
                </a:lnTo>
                <a:lnTo>
                  <a:pt x="311" y="11"/>
                </a:lnTo>
                <a:lnTo>
                  <a:pt x="327" y="11"/>
                </a:lnTo>
                <a:lnTo>
                  <a:pt x="344" y="12"/>
                </a:lnTo>
                <a:lnTo>
                  <a:pt x="360" y="12"/>
                </a:lnTo>
                <a:lnTo>
                  <a:pt x="377" y="12"/>
                </a:lnTo>
                <a:lnTo>
                  <a:pt x="393" y="12"/>
                </a:lnTo>
                <a:lnTo>
                  <a:pt x="393" y="33"/>
                </a:lnTo>
                <a:lnTo>
                  <a:pt x="377" y="33"/>
                </a:lnTo>
                <a:lnTo>
                  <a:pt x="360" y="32"/>
                </a:lnTo>
                <a:lnTo>
                  <a:pt x="344" y="32"/>
                </a:lnTo>
                <a:lnTo>
                  <a:pt x="327" y="32"/>
                </a:lnTo>
                <a:lnTo>
                  <a:pt x="311" y="31"/>
                </a:lnTo>
                <a:lnTo>
                  <a:pt x="295" y="31"/>
                </a:lnTo>
                <a:lnTo>
                  <a:pt x="278" y="30"/>
                </a:lnTo>
                <a:lnTo>
                  <a:pt x="262" y="29"/>
                </a:lnTo>
                <a:lnTo>
                  <a:pt x="246" y="29"/>
                </a:lnTo>
                <a:lnTo>
                  <a:pt x="229" y="28"/>
                </a:lnTo>
                <a:lnTo>
                  <a:pt x="213" y="27"/>
                </a:lnTo>
                <a:lnTo>
                  <a:pt x="196" y="27"/>
                </a:lnTo>
                <a:lnTo>
                  <a:pt x="180" y="26"/>
                </a:lnTo>
                <a:lnTo>
                  <a:pt x="164" y="25"/>
                </a:lnTo>
                <a:lnTo>
                  <a:pt x="147" y="24"/>
                </a:lnTo>
                <a:lnTo>
                  <a:pt x="131" y="24"/>
                </a:lnTo>
                <a:lnTo>
                  <a:pt x="114" y="23"/>
                </a:lnTo>
                <a:lnTo>
                  <a:pt x="98" y="22"/>
                </a:lnTo>
                <a:lnTo>
                  <a:pt x="82" y="22"/>
                </a:lnTo>
                <a:lnTo>
                  <a:pt x="65" y="21"/>
                </a:lnTo>
                <a:lnTo>
                  <a:pt x="49" y="21"/>
                </a:lnTo>
                <a:lnTo>
                  <a:pt x="33" y="21"/>
                </a:lnTo>
                <a:lnTo>
                  <a:pt x="16" y="20"/>
                </a:lnTo>
                <a:lnTo>
                  <a:pt x="0" y="20"/>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5448300"/>
            <a:ext cx="3743325" cy="828675"/>
          </a:xfrm>
          <a:custGeom>
            <a:avLst/>
            <a:gdLst/>
            <a:ahLst/>
            <a:cxnLst/>
            <a:rect l="l" t="t" r="r" b="b"/>
            <a:pathLst>
              <a:path w="393" h="87">
                <a:moveTo>
                  <a:pt x="0" y="0"/>
                </a:moveTo>
                <a:lnTo>
                  <a:pt x="16" y="1"/>
                </a:lnTo>
                <a:lnTo>
                  <a:pt x="33" y="2"/>
                </a:lnTo>
                <a:lnTo>
                  <a:pt x="49" y="4"/>
                </a:lnTo>
                <a:lnTo>
                  <a:pt x="65" y="7"/>
                </a:lnTo>
                <a:lnTo>
                  <a:pt x="82" y="10"/>
                </a:lnTo>
                <a:lnTo>
                  <a:pt x="98" y="13"/>
                </a:lnTo>
                <a:lnTo>
                  <a:pt x="114" y="18"/>
                </a:lnTo>
                <a:lnTo>
                  <a:pt x="131" y="22"/>
                </a:lnTo>
                <a:lnTo>
                  <a:pt x="147" y="27"/>
                </a:lnTo>
                <a:lnTo>
                  <a:pt x="164" y="32"/>
                </a:lnTo>
                <a:lnTo>
                  <a:pt x="180" y="37"/>
                </a:lnTo>
                <a:lnTo>
                  <a:pt x="196" y="42"/>
                </a:lnTo>
                <a:lnTo>
                  <a:pt x="213" y="48"/>
                </a:lnTo>
                <a:lnTo>
                  <a:pt x="229" y="53"/>
                </a:lnTo>
                <a:lnTo>
                  <a:pt x="246" y="58"/>
                </a:lnTo>
                <a:lnTo>
                  <a:pt x="262" y="63"/>
                </a:lnTo>
                <a:lnTo>
                  <a:pt x="278" y="67"/>
                </a:lnTo>
                <a:lnTo>
                  <a:pt x="295" y="71"/>
                </a:lnTo>
                <a:lnTo>
                  <a:pt x="311" y="75"/>
                </a:lnTo>
                <a:lnTo>
                  <a:pt x="327" y="78"/>
                </a:lnTo>
                <a:lnTo>
                  <a:pt x="344" y="81"/>
                </a:lnTo>
                <a:lnTo>
                  <a:pt x="360" y="83"/>
                </a:lnTo>
                <a:lnTo>
                  <a:pt x="377" y="84"/>
                </a:lnTo>
                <a:lnTo>
                  <a:pt x="393" y="84"/>
                </a:lnTo>
                <a:lnTo>
                  <a:pt x="393" y="87"/>
                </a:lnTo>
                <a:lnTo>
                  <a:pt x="377" y="87"/>
                </a:lnTo>
                <a:lnTo>
                  <a:pt x="360" y="85"/>
                </a:lnTo>
                <a:lnTo>
                  <a:pt x="344" y="83"/>
                </a:lnTo>
                <a:lnTo>
                  <a:pt x="327" y="81"/>
                </a:lnTo>
                <a:lnTo>
                  <a:pt x="311" y="78"/>
                </a:lnTo>
                <a:lnTo>
                  <a:pt x="295" y="74"/>
                </a:lnTo>
                <a:lnTo>
                  <a:pt x="278" y="70"/>
                </a:lnTo>
                <a:lnTo>
                  <a:pt x="262" y="65"/>
                </a:lnTo>
                <a:lnTo>
                  <a:pt x="246" y="60"/>
                </a:lnTo>
                <a:lnTo>
                  <a:pt x="229" y="55"/>
                </a:lnTo>
                <a:lnTo>
                  <a:pt x="213" y="50"/>
                </a:lnTo>
                <a:lnTo>
                  <a:pt x="196" y="45"/>
                </a:lnTo>
                <a:lnTo>
                  <a:pt x="180" y="40"/>
                </a:lnTo>
                <a:lnTo>
                  <a:pt x="164" y="35"/>
                </a:lnTo>
                <a:lnTo>
                  <a:pt x="147" y="30"/>
                </a:lnTo>
                <a:lnTo>
                  <a:pt x="131" y="25"/>
                </a:lnTo>
                <a:lnTo>
                  <a:pt x="114" y="20"/>
                </a:lnTo>
                <a:lnTo>
                  <a:pt x="98" y="16"/>
                </a:lnTo>
                <a:lnTo>
                  <a:pt x="82" y="12"/>
                </a:lnTo>
                <a:lnTo>
                  <a:pt x="65" y="9"/>
                </a:lnTo>
                <a:lnTo>
                  <a:pt x="49" y="7"/>
                </a:lnTo>
                <a:lnTo>
                  <a:pt x="33" y="5"/>
                </a:lnTo>
                <a:lnTo>
                  <a:pt x="16" y="3"/>
                </a:lnTo>
                <a:lnTo>
                  <a:pt x="0" y="3"/>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3495675"/>
            <a:ext cx="3743325" cy="2286000"/>
          </a:xfrm>
          <a:custGeom>
            <a:avLst/>
            <a:gdLst/>
            <a:ahLst/>
            <a:cxnLst/>
            <a:rect l="l" t="t" r="r" b="b"/>
            <a:pathLst>
              <a:path w="393" h="240">
                <a:moveTo>
                  <a:pt x="0" y="214"/>
                </a:moveTo>
                <a:lnTo>
                  <a:pt x="16" y="213"/>
                </a:lnTo>
                <a:lnTo>
                  <a:pt x="33" y="210"/>
                </a:lnTo>
                <a:lnTo>
                  <a:pt x="49" y="205"/>
                </a:lnTo>
                <a:lnTo>
                  <a:pt x="65" y="198"/>
                </a:lnTo>
                <a:lnTo>
                  <a:pt x="82" y="190"/>
                </a:lnTo>
                <a:lnTo>
                  <a:pt x="98" y="181"/>
                </a:lnTo>
                <a:lnTo>
                  <a:pt x="114" y="170"/>
                </a:lnTo>
                <a:lnTo>
                  <a:pt x="131" y="159"/>
                </a:lnTo>
                <a:lnTo>
                  <a:pt x="147" y="146"/>
                </a:lnTo>
                <a:lnTo>
                  <a:pt x="164" y="134"/>
                </a:lnTo>
                <a:lnTo>
                  <a:pt x="180" y="120"/>
                </a:lnTo>
                <a:lnTo>
                  <a:pt x="196" y="107"/>
                </a:lnTo>
                <a:lnTo>
                  <a:pt x="213" y="94"/>
                </a:lnTo>
                <a:lnTo>
                  <a:pt x="229" y="81"/>
                </a:lnTo>
                <a:lnTo>
                  <a:pt x="246" y="68"/>
                </a:lnTo>
                <a:lnTo>
                  <a:pt x="262" y="56"/>
                </a:lnTo>
                <a:lnTo>
                  <a:pt x="278" y="44"/>
                </a:lnTo>
                <a:lnTo>
                  <a:pt x="295" y="34"/>
                </a:lnTo>
                <a:lnTo>
                  <a:pt x="311" y="24"/>
                </a:lnTo>
                <a:lnTo>
                  <a:pt x="327" y="16"/>
                </a:lnTo>
                <a:lnTo>
                  <a:pt x="344" y="9"/>
                </a:lnTo>
                <a:lnTo>
                  <a:pt x="360" y="4"/>
                </a:lnTo>
                <a:lnTo>
                  <a:pt x="377" y="1"/>
                </a:lnTo>
                <a:lnTo>
                  <a:pt x="393" y="0"/>
                </a:lnTo>
                <a:lnTo>
                  <a:pt x="393" y="26"/>
                </a:lnTo>
                <a:lnTo>
                  <a:pt x="377" y="27"/>
                </a:lnTo>
                <a:lnTo>
                  <a:pt x="360" y="30"/>
                </a:lnTo>
                <a:lnTo>
                  <a:pt x="344" y="35"/>
                </a:lnTo>
                <a:lnTo>
                  <a:pt x="327" y="42"/>
                </a:lnTo>
                <a:lnTo>
                  <a:pt x="311" y="50"/>
                </a:lnTo>
                <a:lnTo>
                  <a:pt x="295" y="59"/>
                </a:lnTo>
                <a:lnTo>
                  <a:pt x="278" y="70"/>
                </a:lnTo>
                <a:lnTo>
                  <a:pt x="262" y="81"/>
                </a:lnTo>
                <a:lnTo>
                  <a:pt x="246" y="94"/>
                </a:lnTo>
                <a:lnTo>
                  <a:pt x="229" y="106"/>
                </a:lnTo>
                <a:lnTo>
                  <a:pt x="213" y="120"/>
                </a:lnTo>
                <a:lnTo>
                  <a:pt x="196" y="133"/>
                </a:lnTo>
                <a:lnTo>
                  <a:pt x="180" y="146"/>
                </a:lnTo>
                <a:lnTo>
                  <a:pt x="164" y="159"/>
                </a:lnTo>
                <a:lnTo>
                  <a:pt x="147" y="172"/>
                </a:lnTo>
                <a:lnTo>
                  <a:pt x="131" y="184"/>
                </a:lnTo>
                <a:lnTo>
                  <a:pt x="114" y="196"/>
                </a:lnTo>
                <a:lnTo>
                  <a:pt x="98" y="206"/>
                </a:lnTo>
                <a:lnTo>
                  <a:pt x="82" y="216"/>
                </a:lnTo>
                <a:lnTo>
                  <a:pt x="65" y="224"/>
                </a:lnTo>
                <a:lnTo>
                  <a:pt x="49" y="231"/>
                </a:lnTo>
                <a:lnTo>
                  <a:pt x="33" y="236"/>
                </a:lnTo>
                <a:lnTo>
                  <a:pt x="16" y="239"/>
                </a:lnTo>
                <a:lnTo>
                  <a:pt x="0" y="240"/>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5572125"/>
            <a:ext cx="3743325" cy="400050"/>
          </a:xfrm>
          <a:custGeom>
            <a:avLst/>
            <a:gdLst/>
            <a:ahLst/>
            <a:cxnLst/>
            <a:rect l="l" t="t" r="r" b="b"/>
            <a:pathLst>
              <a:path w="393" h="42">
                <a:moveTo>
                  <a:pt x="0" y="22"/>
                </a:moveTo>
                <a:lnTo>
                  <a:pt x="16" y="22"/>
                </a:lnTo>
                <a:lnTo>
                  <a:pt x="33" y="21"/>
                </a:lnTo>
                <a:lnTo>
                  <a:pt x="49" y="21"/>
                </a:lnTo>
                <a:lnTo>
                  <a:pt x="65" y="20"/>
                </a:lnTo>
                <a:lnTo>
                  <a:pt x="82" y="19"/>
                </a:lnTo>
                <a:lnTo>
                  <a:pt x="98" y="18"/>
                </a:lnTo>
                <a:lnTo>
                  <a:pt x="114" y="17"/>
                </a:lnTo>
                <a:lnTo>
                  <a:pt x="131" y="16"/>
                </a:lnTo>
                <a:lnTo>
                  <a:pt x="147" y="15"/>
                </a:lnTo>
                <a:lnTo>
                  <a:pt x="164" y="13"/>
                </a:lnTo>
                <a:lnTo>
                  <a:pt x="180" y="12"/>
                </a:lnTo>
                <a:lnTo>
                  <a:pt x="196" y="11"/>
                </a:lnTo>
                <a:lnTo>
                  <a:pt x="213" y="9"/>
                </a:lnTo>
                <a:lnTo>
                  <a:pt x="229" y="8"/>
                </a:lnTo>
                <a:lnTo>
                  <a:pt x="246" y="7"/>
                </a:lnTo>
                <a:lnTo>
                  <a:pt x="262" y="5"/>
                </a:lnTo>
                <a:lnTo>
                  <a:pt x="278" y="4"/>
                </a:lnTo>
                <a:lnTo>
                  <a:pt x="295" y="3"/>
                </a:lnTo>
                <a:lnTo>
                  <a:pt x="311" y="2"/>
                </a:lnTo>
                <a:lnTo>
                  <a:pt x="327" y="1"/>
                </a:lnTo>
                <a:lnTo>
                  <a:pt x="344" y="1"/>
                </a:lnTo>
                <a:lnTo>
                  <a:pt x="360" y="0"/>
                </a:lnTo>
                <a:lnTo>
                  <a:pt x="377" y="0"/>
                </a:lnTo>
                <a:lnTo>
                  <a:pt x="393" y="0"/>
                </a:lnTo>
                <a:lnTo>
                  <a:pt x="393" y="20"/>
                </a:lnTo>
                <a:lnTo>
                  <a:pt x="377" y="21"/>
                </a:lnTo>
                <a:lnTo>
                  <a:pt x="360" y="21"/>
                </a:lnTo>
                <a:lnTo>
                  <a:pt x="344" y="21"/>
                </a:lnTo>
                <a:lnTo>
                  <a:pt x="327" y="22"/>
                </a:lnTo>
                <a:lnTo>
                  <a:pt x="311" y="23"/>
                </a:lnTo>
                <a:lnTo>
                  <a:pt x="295" y="24"/>
                </a:lnTo>
                <a:lnTo>
                  <a:pt x="278" y="25"/>
                </a:lnTo>
                <a:lnTo>
                  <a:pt x="262" y="26"/>
                </a:lnTo>
                <a:lnTo>
                  <a:pt x="246" y="27"/>
                </a:lnTo>
                <a:lnTo>
                  <a:pt x="229" y="29"/>
                </a:lnTo>
                <a:lnTo>
                  <a:pt x="213" y="30"/>
                </a:lnTo>
                <a:lnTo>
                  <a:pt x="196" y="31"/>
                </a:lnTo>
                <a:lnTo>
                  <a:pt x="180" y="33"/>
                </a:lnTo>
                <a:lnTo>
                  <a:pt x="164" y="34"/>
                </a:lnTo>
                <a:lnTo>
                  <a:pt x="147" y="36"/>
                </a:lnTo>
                <a:lnTo>
                  <a:pt x="131" y="37"/>
                </a:lnTo>
                <a:lnTo>
                  <a:pt x="114" y="38"/>
                </a:lnTo>
                <a:lnTo>
                  <a:pt x="98" y="39"/>
                </a:lnTo>
                <a:lnTo>
                  <a:pt x="82" y="40"/>
                </a:lnTo>
                <a:lnTo>
                  <a:pt x="65" y="41"/>
                </a:lnTo>
                <a:lnTo>
                  <a:pt x="49" y="42"/>
                </a:lnTo>
                <a:lnTo>
                  <a:pt x="33" y="42"/>
                </a:lnTo>
                <a:lnTo>
                  <a:pt x="16" y="42"/>
                </a:lnTo>
                <a:lnTo>
                  <a:pt x="0" y="42"/>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5972175"/>
            <a:ext cx="3743325" cy="333375"/>
          </a:xfrm>
          <a:custGeom>
            <a:avLst/>
            <a:gdLst/>
            <a:ahLst/>
            <a:cxnLst/>
            <a:rect l="l" t="t" r="r" b="b"/>
            <a:pathLst>
              <a:path w="393" h="35">
                <a:moveTo>
                  <a:pt x="0" y="0"/>
                </a:moveTo>
                <a:lnTo>
                  <a:pt x="16" y="1"/>
                </a:lnTo>
                <a:lnTo>
                  <a:pt x="33" y="1"/>
                </a:lnTo>
                <a:lnTo>
                  <a:pt x="49" y="2"/>
                </a:lnTo>
                <a:lnTo>
                  <a:pt x="65" y="3"/>
                </a:lnTo>
                <a:lnTo>
                  <a:pt x="82" y="4"/>
                </a:lnTo>
                <a:lnTo>
                  <a:pt x="98" y="5"/>
                </a:lnTo>
                <a:lnTo>
                  <a:pt x="114" y="7"/>
                </a:lnTo>
                <a:lnTo>
                  <a:pt x="131" y="9"/>
                </a:lnTo>
                <a:lnTo>
                  <a:pt x="147" y="10"/>
                </a:lnTo>
                <a:lnTo>
                  <a:pt x="164" y="12"/>
                </a:lnTo>
                <a:lnTo>
                  <a:pt x="180" y="14"/>
                </a:lnTo>
                <a:lnTo>
                  <a:pt x="196" y="16"/>
                </a:lnTo>
                <a:lnTo>
                  <a:pt x="213" y="18"/>
                </a:lnTo>
                <a:lnTo>
                  <a:pt x="229" y="20"/>
                </a:lnTo>
                <a:lnTo>
                  <a:pt x="246" y="22"/>
                </a:lnTo>
                <a:lnTo>
                  <a:pt x="262" y="24"/>
                </a:lnTo>
                <a:lnTo>
                  <a:pt x="278" y="26"/>
                </a:lnTo>
                <a:lnTo>
                  <a:pt x="295" y="27"/>
                </a:lnTo>
                <a:lnTo>
                  <a:pt x="311" y="28"/>
                </a:lnTo>
                <a:lnTo>
                  <a:pt x="327" y="30"/>
                </a:lnTo>
                <a:lnTo>
                  <a:pt x="344" y="31"/>
                </a:lnTo>
                <a:lnTo>
                  <a:pt x="360" y="31"/>
                </a:lnTo>
                <a:lnTo>
                  <a:pt x="377" y="32"/>
                </a:lnTo>
                <a:lnTo>
                  <a:pt x="393" y="32"/>
                </a:lnTo>
                <a:lnTo>
                  <a:pt x="393" y="35"/>
                </a:lnTo>
                <a:lnTo>
                  <a:pt x="377" y="35"/>
                </a:lnTo>
                <a:lnTo>
                  <a:pt x="360" y="34"/>
                </a:lnTo>
                <a:lnTo>
                  <a:pt x="344" y="34"/>
                </a:lnTo>
                <a:lnTo>
                  <a:pt x="327" y="33"/>
                </a:lnTo>
                <a:lnTo>
                  <a:pt x="311" y="31"/>
                </a:lnTo>
                <a:lnTo>
                  <a:pt x="295" y="30"/>
                </a:lnTo>
                <a:lnTo>
                  <a:pt x="278" y="29"/>
                </a:lnTo>
                <a:lnTo>
                  <a:pt x="262" y="27"/>
                </a:lnTo>
                <a:lnTo>
                  <a:pt x="246" y="25"/>
                </a:lnTo>
                <a:lnTo>
                  <a:pt x="229" y="23"/>
                </a:lnTo>
                <a:lnTo>
                  <a:pt x="213" y="21"/>
                </a:lnTo>
                <a:lnTo>
                  <a:pt x="196" y="19"/>
                </a:lnTo>
                <a:lnTo>
                  <a:pt x="180" y="17"/>
                </a:lnTo>
                <a:lnTo>
                  <a:pt x="164" y="15"/>
                </a:lnTo>
                <a:lnTo>
                  <a:pt x="147" y="13"/>
                </a:lnTo>
                <a:lnTo>
                  <a:pt x="131" y="12"/>
                </a:lnTo>
                <a:lnTo>
                  <a:pt x="114" y="10"/>
                </a:lnTo>
                <a:lnTo>
                  <a:pt x="98" y="8"/>
                </a:lnTo>
                <a:lnTo>
                  <a:pt x="82" y="7"/>
                </a:lnTo>
                <a:lnTo>
                  <a:pt x="65" y="6"/>
                </a:lnTo>
                <a:lnTo>
                  <a:pt x="49" y="5"/>
                </a:lnTo>
                <a:lnTo>
                  <a:pt x="33" y="4"/>
                </a:lnTo>
                <a:lnTo>
                  <a:pt x="16" y="4"/>
                </a:lnTo>
                <a:lnTo>
                  <a:pt x="0" y="4"/>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3743325"/>
            <a:ext cx="3743325" cy="2543175"/>
          </a:xfrm>
          <a:custGeom>
            <a:avLst/>
            <a:gdLst/>
            <a:ahLst/>
            <a:cxnLst/>
            <a:rect l="l" t="t" r="r" b="b"/>
            <a:pathLst>
              <a:path w="393" h="267">
                <a:moveTo>
                  <a:pt x="0" y="244"/>
                </a:moveTo>
                <a:lnTo>
                  <a:pt x="16" y="242"/>
                </a:lnTo>
                <a:lnTo>
                  <a:pt x="33" y="239"/>
                </a:lnTo>
                <a:lnTo>
                  <a:pt x="49" y="233"/>
                </a:lnTo>
                <a:lnTo>
                  <a:pt x="65" y="225"/>
                </a:lnTo>
                <a:lnTo>
                  <a:pt x="82" y="216"/>
                </a:lnTo>
                <a:lnTo>
                  <a:pt x="98" y="205"/>
                </a:lnTo>
                <a:lnTo>
                  <a:pt x="114" y="193"/>
                </a:lnTo>
                <a:lnTo>
                  <a:pt x="131" y="180"/>
                </a:lnTo>
                <a:lnTo>
                  <a:pt x="147" y="166"/>
                </a:lnTo>
                <a:lnTo>
                  <a:pt x="164" y="152"/>
                </a:lnTo>
                <a:lnTo>
                  <a:pt x="180" y="137"/>
                </a:lnTo>
                <a:lnTo>
                  <a:pt x="196" y="122"/>
                </a:lnTo>
                <a:lnTo>
                  <a:pt x="213" y="107"/>
                </a:lnTo>
                <a:lnTo>
                  <a:pt x="229" y="92"/>
                </a:lnTo>
                <a:lnTo>
                  <a:pt x="246" y="77"/>
                </a:lnTo>
                <a:lnTo>
                  <a:pt x="262" y="63"/>
                </a:lnTo>
                <a:lnTo>
                  <a:pt x="278" y="50"/>
                </a:lnTo>
                <a:lnTo>
                  <a:pt x="295" y="38"/>
                </a:lnTo>
                <a:lnTo>
                  <a:pt x="311" y="27"/>
                </a:lnTo>
                <a:lnTo>
                  <a:pt x="327" y="18"/>
                </a:lnTo>
                <a:lnTo>
                  <a:pt x="344" y="10"/>
                </a:lnTo>
                <a:lnTo>
                  <a:pt x="360" y="5"/>
                </a:lnTo>
                <a:lnTo>
                  <a:pt x="377" y="1"/>
                </a:lnTo>
                <a:lnTo>
                  <a:pt x="393" y="0"/>
                </a:lnTo>
                <a:lnTo>
                  <a:pt x="393" y="23"/>
                </a:lnTo>
                <a:lnTo>
                  <a:pt x="377" y="25"/>
                </a:lnTo>
                <a:lnTo>
                  <a:pt x="360" y="28"/>
                </a:lnTo>
                <a:lnTo>
                  <a:pt x="344" y="34"/>
                </a:lnTo>
                <a:lnTo>
                  <a:pt x="327" y="41"/>
                </a:lnTo>
                <a:lnTo>
                  <a:pt x="311" y="51"/>
                </a:lnTo>
                <a:lnTo>
                  <a:pt x="295" y="61"/>
                </a:lnTo>
                <a:lnTo>
                  <a:pt x="278" y="73"/>
                </a:lnTo>
                <a:lnTo>
                  <a:pt x="262" y="87"/>
                </a:lnTo>
                <a:lnTo>
                  <a:pt x="246" y="100"/>
                </a:lnTo>
                <a:lnTo>
                  <a:pt x="229" y="115"/>
                </a:lnTo>
                <a:lnTo>
                  <a:pt x="213" y="130"/>
                </a:lnTo>
                <a:lnTo>
                  <a:pt x="196" y="145"/>
                </a:lnTo>
                <a:lnTo>
                  <a:pt x="180" y="160"/>
                </a:lnTo>
                <a:lnTo>
                  <a:pt x="164" y="175"/>
                </a:lnTo>
                <a:lnTo>
                  <a:pt x="147" y="190"/>
                </a:lnTo>
                <a:lnTo>
                  <a:pt x="131" y="204"/>
                </a:lnTo>
                <a:lnTo>
                  <a:pt x="114" y="217"/>
                </a:lnTo>
                <a:lnTo>
                  <a:pt x="98" y="229"/>
                </a:lnTo>
                <a:lnTo>
                  <a:pt x="82" y="240"/>
                </a:lnTo>
                <a:lnTo>
                  <a:pt x="65" y="249"/>
                </a:lnTo>
                <a:lnTo>
                  <a:pt x="49" y="256"/>
                </a:lnTo>
                <a:lnTo>
                  <a:pt x="33" y="262"/>
                </a:lnTo>
                <a:lnTo>
                  <a:pt x="16" y="266"/>
                </a:lnTo>
                <a:lnTo>
                  <a:pt x="0" y="267"/>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5762625"/>
            <a:ext cx="3743325" cy="742950"/>
          </a:xfrm>
          <a:custGeom>
            <a:avLst/>
            <a:gdLst/>
            <a:ahLst/>
            <a:cxnLst/>
            <a:rect l="l" t="t" r="r" b="b"/>
            <a:pathLst>
              <a:path w="393" h="78">
                <a:moveTo>
                  <a:pt x="0" y="55"/>
                </a:moveTo>
                <a:lnTo>
                  <a:pt x="16" y="55"/>
                </a:lnTo>
                <a:lnTo>
                  <a:pt x="33" y="54"/>
                </a:lnTo>
                <a:lnTo>
                  <a:pt x="49" y="53"/>
                </a:lnTo>
                <a:lnTo>
                  <a:pt x="65" y="51"/>
                </a:lnTo>
                <a:lnTo>
                  <a:pt x="82" y="49"/>
                </a:lnTo>
                <a:lnTo>
                  <a:pt x="98" y="46"/>
                </a:lnTo>
                <a:lnTo>
                  <a:pt x="114" y="44"/>
                </a:lnTo>
                <a:lnTo>
                  <a:pt x="131" y="41"/>
                </a:lnTo>
                <a:lnTo>
                  <a:pt x="147" y="38"/>
                </a:lnTo>
                <a:lnTo>
                  <a:pt x="164" y="34"/>
                </a:lnTo>
                <a:lnTo>
                  <a:pt x="180" y="31"/>
                </a:lnTo>
                <a:lnTo>
                  <a:pt x="196" y="28"/>
                </a:lnTo>
                <a:lnTo>
                  <a:pt x="213" y="24"/>
                </a:lnTo>
                <a:lnTo>
                  <a:pt x="229" y="21"/>
                </a:lnTo>
                <a:lnTo>
                  <a:pt x="246" y="18"/>
                </a:lnTo>
                <a:lnTo>
                  <a:pt x="262" y="15"/>
                </a:lnTo>
                <a:lnTo>
                  <a:pt x="278" y="12"/>
                </a:lnTo>
                <a:lnTo>
                  <a:pt x="295" y="9"/>
                </a:lnTo>
                <a:lnTo>
                  <a:pt x="311" y="7"/>
                </a:lnTo>
                <a:lnTo>
                  <a:pt x="327" y="4"/>
                </a:lnTo>
                <a:lnTo>
                  <a:pt x="344" y="3"/>
                </a:lnTo>
                <a:lnTo>
                  <a:pt x="360" y="2"/>
                </a:lnTo>
                <a:lnTo>
                  <a:pt x="377" y="1"/>
                </a:lnTo>
                <a:lnTo>
                  <a:pt x="393" y="0"/>
                </a:lnTo>
                <a:lnTo>
                  <a:pt x="393" y="24"/>
                </a:lnTo>
                <a:lnTo>
                  <a:pt x="377" y="24"/>
                </a:lnTo>
                <a:lnTo>
                  <a:pt x="360" y="25"/>
                </a:lnTo>
                <a:lnTo>
                  <a:pt x="344" y="26"/>
                </a:lnTo>
                <a:lnTo>
                  <a:pt x="327" y="28"/>
                </a:lnTo>
                <a:lnTo>
                  <a:pt x="311" y="30"/>
                </a:lnTo>
                <a:lnTo>
                  <a:pt x="295" y="32"/>
                </a:lnTo>
                <a:lnTo>
                  <a:pt x="278" y="35"/>
                </a:lnTo>
                <a:lnTo>
                  <a:pt x="262" y="38"/>
                </a:lnTo>
                <a:lnTo>
                  <a:pt x="246" y="41"/>
                </a:lnTo>
                <a:lnTo>
                  <a:pt x="229" y="44"/>
                </a:lnTo>
                <a:lnTo>
                  <a:pt x="213" y="47"/>
                </a:lnTo>
                <a:lnTo>
                  <a:pt x="196" y="51"/>
                </a:lnTo>
                <a:lnTo>
                  <a:pt x="180" y="54"/>
                </a:lnTo>
                <a:lnTo>
                  <a:pt x="164" y="58"/>
                </a:lnTo>
                <a:lnTo>
                  <a:pt x="147" y="61"/>
                </a:lnTo>
                <a:lnTo>
                  <a:pt x="131" y="64"/>
                </a:lnTo>
                <a:lnTo>
                  <a:pt x="114" y="67"/>
                </a:lnTo>
                <a:lnTo>
                  <a:pt x="98" y="69"/>
                </a:lnTo>
                <a:lnTo>
                  <a:pt x="82" y="72"/>
                </a:lnTo>
                <a:lnTo>
                  <a:pt x="65" y="74"/>
                </a:lnTo>
                <a:lnTo>
                  <a:pt x="49" y="76"/>
                </a:lnTo>
                <a:lnTo>
                  <a:pt x="33" y="77"/>
                </a:lnTo>
                <a:lnTo>
                  <a:pt x="16" y="78"/>
                </a:lnTo>
                <a:lnTo>
                  <a:pt x="0" y="78"/>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6305550"/>
            <a:ext cx="3743325" cy="228600"/>
          </a:xfrm>
          <a:custGeom>
            <a:avLst/>
            <a:gdLst/>
            <a:ahLst/>
            <a:cxnLst/>
            <a:rect l="l" t="t" r="r" b="b"/>
            <a:pathLst>
              <a:path w="393" h="24">
                <a:moveTo>
                  <a:pt x="0" y="21"/>
                </a:moveTo>
                <a:lnTo>
                  <a:pt x="16" y="21"/>
                </a:lnTo>
                <a:lnTo>
                  <a:pt x="33" y="21"/>
                </a:lnTo>
                <a:lnTo>
                  <a:pt x="49" y="20"/>
                </a:lnTo>
                <a:lnTo>
                  <a:pt x="65" y="19"/>
                </a:lnTo>
                <a:lnTo>
                  <a:pt x="82" y="19"/>
                </a:lnTo>
                <a:lnTo>
                  <a:pt x="98" y="18"/>
                </a:lnTo>
                <a:lnTo>
                  <a:pt x="114" y="17"/>
                </a:lnTo>
                <a:lnTo>
                  <a:pt x="131" y="16"/>
                </a:lnTo>
                <a:lnTo>
                  <a:pt x="147" y="14"/>
                </a:lnTo>
                <a:lnTo>
                  <a:pt x="164" y="13"/>
                </a:lnTo>
                <a:lnTo>
                  <a:pt x="180" y="12"/>
                </a:lnTo>
                <a:lnTo>
                  <a:pt x="196" y="11"/>
                </a:lnTo>
                <a:lnTo>
                  <a:pt x="213" y="9"/>
                </a:lnTo>
                <a:lnTo>
                  <a:pt x="229" y="8"/>
                </a:lnTo>
                <a:lnTo>
                  <a:pt x="246" y="7"/>
                </a:lnTo>
                <a:lnTo>
                  <a:pt x="262" y="5"/>
                </a:lnTo>
                <a:lnTo>
                  <a:pt x="278" y="4"/>
                </a:lnTo>
                <a:lnTo>
                  <a:pt x="295" y="3"/>
                </a:lnTo>
                <a:lnTo>
                  <a:pt x="311" y="2"/>
                </a:lnTo>
                <a:lnTo>
                  <a:pt x="327" y="2"/>
                </a:lnTo>
                <a:lnTo>
                  <a:pt x="344" y="1"/>
                </a:lnTo>
                <a:lnTo>
                  <a:pt x="360" y="0"/>
                </a:lnTo>
                <a:lnTo>
                  <a:pt x="377" y="0"/>
                </a:lnTo>
                <a:lnTo>
                  <a:pt x="393" y="0"/>
                </a:lnTo>
                <a:lnTo>
                  <a:pt x="393" y="3"/>
                </a:lnTo>
                <a:lnTo>
                  <a:pt x="377" y="3"/>
                </a:lnTo>
                <a:lnTo>
                  <a:pt x="360" y="3"/>
                </a:lnTo>
                <a:lnTo>
                  <a:pt x="344" y="4"/>
                </a:lnTo>
                <a:lnTo>
                  <a:pt x="327" y="5"/>
                </a:lnTo>
                <a:lnTo>
                  <a:pt x="311" y="5"/>
                </a:lnTo>
                <a:lnTo>
                  <a:pt x="295" y="6"/>
                </a:lnTo>
                <a:lnTo>
                  <a:pt x="278" y="7"/>
                </a:lnTo>
                <a:lnTo>
                  <a:pt x="262" y="8"/>
                </a:lnTo>
                <a:lnTo>
                  <a:pt x="246" y="10"/>
                </a:lnTo>
                <a:lnTo>
                  <a:pt x="229" y="11"/>
                </a:lnTo>
                <a:lnTo>
                  <a:pt x="213" y="12"/>
                </a:lnTo>
                <a:lnTo>
                  <a:pt x="196" y="14"/>
                </a:lnTo>
                <a:lnTo>
                  <a:pt x="180" y="15"/>
                </a:lnTo>
                <a:lnTo>
                  <a:pt x="164" y="16"/>
                </a:lnTo>
                <a:lnTo>
                  <a:pt x="147" y="17"/>
                </a:lnTo>
                <a:lnTo>
                  <a:pt x="131" y="19"/>
                </a:lnTo>
                <a:lnTo>
                  <a:pt x="114" y="20"/>
                </a:lnTo>
                <a:lnTo>
                  <a:pt x="98" y="21"/>
                </a:lnTo>
                <a:lnTo>
                  <a:pt x="82" y="22"/>
                </a:lnTo>
                <a:lnTo>
                  <a:pt x="65" y="22"/>
                </a:lnTo>
                <a:lnTo>
                  <a:pt x="49" y="23"/>
                </a:lnTo>
                <a:lnTo>
                  <a:pt x="33" y="24"/>
                </a:lnTo>
                <a:lnTo>
                  <a:pt x="16" y="24"/>
                </a:lnTo>
                <a:lnTo>
                  <a:pt x="0" y="24"/>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41195" y="1304925"/>
            <a:ext cx="114300" cy="471493"/>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7175" y="1304925"/>
            <a:ext cx="1626870" cy="471493"/>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Rectangle 43"/>
          <p:cNvSpPr/>
          <p:nvPr/>
        </p:nvSpPr>
        <p:spPr>
          <a:xfrm>
            <a:off x="1941195" y="1833568"/>
            <a:ext cx="114300" cy="471490"/>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7175" y="1833568"/>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Rectangle 45"/>
          <p:cNvSpPr/>
          <p:nvPr/>
        </p:nvSpPr>
        <p:spPr>
          <a:xfrm>
            <a:off x="1941195" y="2362207"/>
            <a:ext cx="114300" cy="47149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7175" y="2362207"/>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Rectangle 47"/>
          <p:cNvSpPr/>
          <p:nvPr/>
        </p:nvSpPr>
        <p:spPr>
          <a:xfrm>
            <a:off x="1941195" y="2890847"/>
            <a:ext cx="114300" cy="471490"/>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7175" y="2890847"/>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Rectangle 49"/>
          <p:cNvSpPr/>
          <p:nvPr/>
        </p:nvSpPr>
        <p:spPr>
          <a:xfrm>
            <a:off x="1941195" y="3419487"/>
            <a:ext cx="114300" cy="47149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7175" y="3419487"/>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Rectangle 51"/>
          <p:cNvSpPr/>
          <p:nvPr/>
        </p:nvSpPr>
        <p:spPr>
          <a:xfrm>
            <a:off x="1941195" y="3948127"/>
            <a:ext cx="114300" cy="4714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7175" y="3948127"/>
            <a:ext cx="1626870" cy="47148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4" name="Rectangle 53"/>
          <p:cNvSpPr/>
          <p:nvPr/>
        </p:nvSpPr>
        <p:spPr>
          <a:xfrm>
            <a:off x="1941195" y="4476764"/>
            <a:ext cx="114300" cy="471487"/>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7175" y="4476764"/>
            <a:ext cx="1626870" cy="47148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6" name="Rectangle 55"/>
          <p:cNvSpPr/>
          <p:nvPr/>
        </p:nvSpPr>
        <p:spPr>
          <a:xfrm>
            <a:off x="1941195" y="5005401"/>
            <a:ext cx="114300" cy="47148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7175" y="5005401"/>
            <a:ext cx="1626870" cy="471484"/>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8" name="Rectangle 57"/>
          <p:cNvSpPr/>
          <p:nvPr/>
        </p:nvSpPr>
        <p:spPr>
          <a:xfrm>
            <a:off x="1941195" y="5534035"/>
            <a:ext cx="114300" cy="47148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7175" y="5534035"/>
            <a:ext cx="1626870" cy="471484"/>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0" name="Rectangle 59"/>
          <p:cNvSpPr/>
          <p:nvPr/>
        </p:nvSpPr>
        <p:spPr>
          <a:xfrm>
            <a:off x="1941195" y="6062669"/>
            <a:ext cx="114300" cy="471481"/>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7175" y="6062669"/>
            <a:ext cx="1626870" cy="471481"/>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2" name="Rectangle 61"/>
          <p:cNvSpPr/>
          <p:nvPr/>
        </p:nvSpPr>
        <p:spPr>
          <a:xfrm>
            <a:off x="5800725" y="1504950"/>
            <a:ext cx="114300" cy="246095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72175" y="1504950"/>
            <a:ext cx="1381125" cy="2460952"/>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4" name="Rectangle 63"/>
          <p:cNvSpPr/>
          <p:nvPr/>
        </p:nvSpPr>
        <p:spPr>
          <a:xfrm>
            <a:off x="5800725" y="4023052"/>
            <a:ext cx="114300" cy="196349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72175" y="4023052"/>
            <a:ext cx="1381125" cy="1963494"/>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6" name="Rectangle 65"/>
          <p:cNvSpPr/>
          <p:nvPr/>
        </p:nvSpPr>
        <p:spPr>
          <a:xfrm>
            <a:off x="5800725" y="6043696"/>
            <a:ext cx="114300" cy="29042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72175" y="6043696"/>
            <a:ext cx="1381125" cy="290429"/>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8" name="Rounded Rectangle 67"/>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70" name="Rectangle 69"/>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2" name="TextBox 7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73" name="TextBox 72"/>
          <p:cNvSpPr txBox="1"/>
          <p:nvPr/>
        </p:nvSpPr>
        <p:spPr>
          <a:xfrm>
            <a:off x="522595" y="1456851"/>
            <a:ext cx="1264570" cy="186689"/>
          </a:xfrm>
          <a:prstGeom prst="rect">
            <a:avLst/>
          </a:prstGeom>
          <a:noFill/>
        </p:spPr>
        <p:txBody>
          <a:bodyPr wrap="none" lIns="0" rIns="0" tIns="0" bIns="0">
            <a:spAutoFit/>
          </a:bodyPr>
          <a:lstStyle/>
          <a:p>
            <a:r>
              <a:rPr sz="1100" b="1">
                <a:solidFill>
                  <a:srgbClr val="2E2E2E"/>
                </a:solidFill>
                <a:latin typeface="Calibri"/>
              </a:rPr>
              <a:t>DIATER Laboratories</a:t>
            </a:r>
          </a:p>
        </p:txBody>
      </p:sp>
      <p:pic>
        <p:nvPicPr>
          <p:cNvPr id="74" name="Picture 73" descr="lock.png"/>
          <p:cNvPicPr>
            <a:picLocks noChangeAspect="1"/>
          </p:cNvPicPr>
          <p:nvPr/>
        </p:nvPicPr>
        <p:blipFill>
          <a:blip r:embed="rId4"/>
          <a:stretch>
            <a:fillRect/>
          </a:stretch>
        </p:blipFill>
        <p:spPr>
          <a:xfrm>
            <a:off x="1735218" y="1447072"/>
            <a:ext cx="128699" cy="187198"/>
          </a:xfrm>
          <a:prstGeom prst="rect">
            <a:avLst/>
          </a:prstGeom>
        </p:spPr>
      </p:pic>
      <p:sp>
        <p:nvSpPr>
          <p:cNvPr id="75" name="TextBox 74"/>
          <p:cNvSpPr txBox="1"/>
          <p:nvPr/>
        </p:nvSpPr>
        <p:spPr>
          <a:xfrm>
            <a:off x="391894" y="1901673"/>
            <a:ext cx="1473100" cy="186689"/>
          </a:xfrm>
          <a:prstGeom prst="rect">
            <a:avLst/>
          </a:prstGeom>
          <a:noFill/>
        </p:spPr>
        <p:txBody>
          <a:bodyPr wrap="none" lIns="0" rIns="0" tIns="0" bIns="0">
            <a:spAutoFit/>
          </a:bodyPr>
          <a:lstStyle/>
          <a:p>
            <a:r>
              <a:rPr sz="1100" b="1">
                <a:solidFill>
                  <a:srgbClr val="2E2E2E"/>
                </a:solidFill>
                <a:latin typeface="Calibri"/>
              </a:rPr>
              <a:t>Jubilant HollisterStier LLC</a:t>
            </a:r>
          </a:p>
        </p:txBody>
      </p:sp>
      <p:pic>
        <p:nvPicPr>
          <p:cNvPr id="76" name="Picture 75" descr="lock.png"/>
          <p:cNvPicPr>
            <a:picLocks noChangeAspect="1"/>
          </p:cNvPicPr>
          <p:nvPr/>
        </p:nvPicPr>
        <p:blipFill>
          <a:blip r:embed="rId4"/>
          <a:stretch>
            <a:fillRect/>
          </a:stretch>
        </p:blipFill>
        <p:spPr>
          <a:xfrm>
            <a:off x="1735218" y="2059534"/>
            <a:ext cx="128699" cy="187198"/>
          </a:xfrm>
          <a:prstGeom prst="rect">
            <a:avLst/>
          </a:prstGeom>
        </p:spPr>
      </p:pic>
      <p:sp>
        <p:nvSpPr>
          <p:cNvPr id="77" name="TextBox 76"/>
          <p:cNvSpPr txBox="1"/>
          <p:nvPr/>
        </p:nvSpPr>
        <p:spPr>
          <a:xfrm>
            <a:off x="470996" y="2430312"/>
            <a:ext cx="1393998" cy="186689"/>
          </a:xfrm>
          <a:prstGeom prst="rect">
            <a:avLst/>
          </a:prstGeom>
          <a:noFill/>
        </p:spPr>
        <p:txBody>
          <a:bodyPr wrap="none" lIns="0" rIns="0" tIns="0" bIns="0">
            <a:spAutoFit/>
          </a:bodyPr>
          <a:lstStyle/>
          <a:p>
            <a:r>
              <a:rPr sz="1100" b="1">
                <a:solidFill>
                  <a:srgbClr val="2E2E2E"/>
                </a:solidFill>
                <a:latin typeface="Calibri"/>
              </a:rPr>
              <a:t>Allergopharma GmbH &amp;</a:t>
            </a:r>
          </a:p>
        </p:txBody>
      </p:sp>
      <p:sp>
        <p:nvSpPr>
          <p:cNvPr id="78" name="TextBox 77"/>
          <p:cNvSpPr txBox="1"/>
          <p:nvPr/>
        </p:nvSpPr>
        <p:spPr>
          <a:xfrm>
            <a:off x="1327695" y="2597952"/>
            <a:ext cx="459471" cy="186689"/>
          </a:xfrm>
          <a:prstGeom prst="rect">
            <a:avLst/>
          </a:prstGeom>
          <a:noFill/>
        </p:spPr>
        <p:txBody>
          <a:bodyPr wrap="none" lIns="0" rIns="0" tIns="0" bIns="0">
            <a:spAutoFit/>
          </a:bodyPr>
          <a:lstStyle/>
          <a:p>
            <a:r>
              <a:rPr sz="1100" b="1">
                <a:solidFill>
                  <a:srgbClr val="2E2E2E"/>
                </a:solidFill>
                <a:latin typeface="Calibri"/>
              </a:rPr>
              <a:t>Co. KG</a:t>
            </a:r>
          </a:p>
        </p:txBody>
      </p:sp>
      <p:pic>
        <p:nvPicPr>
          <p:cNvPr id="79" name="Picture 78" descr="lock.png"/>
          <p:cNvPicPr>
            <a:picLocks noChangeAspect="1"/>
          </p:cNvPicPr>
          <p:nvPr/>
        </p:nvPicPr>
        <p:blipFill>
          <a:blip r:embed="rId4"/>
          <a:stretch>
            <a:fillRect/>
          </a:stretch>
        </p:blipFill>
        <p:spPr>
          <a:xfrm>
            <a:off x="1735218" y="2588173"/>
            <a:ext cx="128699" cy="187198"/>
          </a:xfrm>
          <a:prstGeom prst="rect">
            <a:avLst/>
          </a:prstGeom>
        </p:spPr>
      </p:pic>
      <p:sp>
        <p:nvSpPr>
          <p:cNvPr id="80" name="TextBox 79"/>
          <p:cNvSpPr txBox="1"/>
          <p:nvPr/>
        </p:nvSpPr>
        <p:spPr>
          <a:xfrm>
            <a:off x="646026" y="3042772"/>
            <a:ext cx="1141139" cy="186689"/>
          </a:xfrm>
          <a:prstGeom prst="rect">
            <a:avLst/>
          </a:prstGeom>
          <a:noFill/>
        </p:spPr>
        <p:txBody>
          <a:bodyPr wrap="none" lIns="0" rIns="0" tIns="0" bIns="0">
            <a:spAutoFit/>
          </a:bodyPr>
          <a:lstStyle/>
          <a:p>
            <a:r>
              <a:rPr sz="1100" b="1">
                <a:solidFill>
                  <a:srgbClr val="2E2E2E"/>
                </a:solidFill>
                <a:latin typeface="Calibri"/>
              </a:rPr>
              <a:t>HAL Allergy Group</a:t>
            </a:r>
          </a:p>
        </p:txBody>
      </p:sp>
      <p:pic>
        <p:nvPicPr>
          <p:cNvPr id="81" name="Picture 80" descr="lock.png"/>
          <p:cNvPicPr>
            <a:picLocks noChangeAspect="1"/>
          </p:cNvPicPr>
          <p:nvPr/>
        </p:nvPicPr>
        <p:blipFill>
          <a:blip r:embed="rId4"/>
          <a:stretch>
            <a:fillRect/>
          </a:stretch>
        </p:blipFill>
        <p:spPr>
          <a:xfrm>
            <a:off x="1735218" y="3032993"/>
            <a:ext cx="128699" cy="187198"/>
          </a:xfrm>
          <a:prstGeom prst="rect">
            <a:avLst/>
          </a:prstGeom>
        </p:spPr>
      </p:pic>
      <p:sp>
        <p:nvSpPr>
          <p:cNvPr id="82" name="TextBox 81"/>
          <p:cNvSpPr txBox="1"/>
          <p:nvPr/>
        </p:nvSpPr>
        <p:spPr>
          <a:xfrm>
            <a:off x="841934" y="3571412"/>
            <a:ext cx="945232" cy="186689"/>
          </a:xfrm>
          <a:prstGeom prst="rect">
            <a:avLst/>
          </a:prstGeom>
          <a:noFill/>
        </p:spPr>
        <p:txBody>
          <a:bodyPr wrap="none" lIns="0" rIns="0" tIns="0" bIns="0">
            <a:spAutoFit/>
          </a:bodyPr>
          <a:lstStyle/>
          <a:p>
            <a:r>
              <a:rPr sz="1100" b="1">
                <a:solidFill>
                  <a:srgbClr val="2E2E2E"/>
                </a:solidFill>
                <a:latin typeface="Calibri"/>
              </a:rPr>
              <a:t>Inmunotek S.L.</a:t>
            </a:r>
          </a:p>
        </p:txBody>
      </p:sp>
      <p:pic>
        <p:nvPicPr>
          <p:cNvPr id="83" name="Picture 82" descr="lock.png"/>
          <p:cNvPicPr>
            <a:picLocks noChangeAspect="1"/>
          </p:cNvPicPr>
          <p:nvPr/>
        </p:nvPicPr>
        <p:blipFill>
          <a:blip r:embed="rId4"/>
          <a:stretch>
            <a:fillRect/>
          </a:stretch>
        </p:blipFill>
        <p:spPr>
          <a:xfrm>
            <a:off x="1735218" y="3561633"/>
            <a:ext cx="128699" cy="187198"/>
          </a:xfrm>
          <a:prstGeom prst="rect">
            <a:avLst/>
          </a:prstGeom>
        </p:spPr>
      </p:pic>
      <p:sp>
        <p:nvSpPr>
          <p:cNvPr id="84" name="TextBox 83"/>
          <p:cNvSpPr txBox="1"/>
          <p:nvPr/>
        </p:nvSpPr>
        <p:spPr>
          <a:xfrm>
            <a:off x="794052" y="4016230"/>
            <a:ext cx="1070942" cy="186689"/>
          </a:xfrm>
          <a:prstGeom prst="rect">
            <a:avLst/>
          </a:prstGeom>
          <a:noFill/>
        </p:spPr>
        <p:txBody>
          <a:bodyPr wrap="none" lIns="0" rIns="0" tIns="0" bIns="0">
            <a:spAutoFit/>
          </a:bodyPr>
          <a:lstStyle/>
          <a:p>
            <a:r>
              <a:rPr sz="1100" b="1">
                <a:solidFill>
                  <a:srgbClr val="2E2E2E"/>
                </a:solidFill>
                <a:latin typeface="Calibri"/>
              </a:rPr>
              <a:t>Stallergenes Greer</a:t>
            </a:r>
          </a:p>
        </p:txBody>
      </p:sp>
      <p:sp>
        <p:nvSpPr>
          <p:cNvPr id="85" name="TextBox 84"/>
          <p:cNvSpPr txBox="1"/>
          <p:nvPr/>
        </p:nvSpPr>
        <p:spPr>
          <a:xfrm>
            <a:off x="744279" y="4183870"/>
            <a:ext cx="1042887" cy="186689"/>
          </a:xfrm>
          <a:prstGeom prst="rect">
            <a:avLst/>
          </a:prstGeom>
          <a:noFill/>
        </p:spPr>
        <p:txBody>
          <a:bodyPr wrap="none" lIns="0" rIns="0" tIns="0" bIns="0">
            <a:spAutoFit/>
          </a:bodyPr>
          <a:lstStyle/>
          <a:p>
            <a:r>
              <a:rPr sz="1100" b="1">
                <a:solidFill>
                  <a:srgbClr val="2E2E2E"/>
                </a:solidFill>
                <a:latin typeface="Calibri"/>
              </a:rPr>
              <a:t>International AG</a:t>
            </a:r>
          </a:p>
        </p:txBody>
      </p:sp>
      <p:pic>
        <p:nvPicPr>
          <p:cNvPr id="86" name="Picture 85" descr="lock.png"/>
          <p:cNvPicPr>
            <a:picLocks noChangeAspect="1"/>
          </p:cNvPicPr>
          <p:nvPr/>
        </p:nvPicPr>
        <p:blipFill>
          <a:blip r:embed="rId4"/>
          <a:stretch>
            <a:fillRect/>
          </a:stretch>
        </p:blipFill>
        <p:spPr>
          <a:xfrm>
            <a:off x="1735218" y="4174091"/>
            <a:ext cx="128699" cy="187198"/>
          </a:xfrm>
          <a:prstGeom prst="rect">
            <a:avLst/>
          </a:prstGeom>
        </p:spPr>
      </p:pic>
      <p:sp>
        <p:nvSpPr>
          <p:cNvPr id="87" name="TextBox 86"/>
          <p:cNvSpPr txBox="1"/>
          <p:nvPr/>
        </p:nvSpPr>
        <p:spPr>
          <a:xfrm>
            <a:off x="416971" y="4544867"/>
            <a:ext cx="1448023" cy="186689"/>
          </a:xfrm>
          <a:prstGeom prst="rect">
            <a:avLst/>
          </a:prstGeom>
          <a:noFill/>
        </p:spPr>
        <p:txBody>
          <a:bodyPr wrap="none" lIns="0" rIns="0" tIns="0" bIns="0">
            <a:spAutoFit/>
          </a:bodyPr>
          <a:lstStyle/>
          <a:p>
            <a:r>
              <a:rPr sz="1100" b="1">
                <a:solidFill>
                  <a:srgbClr val="2E2E2E"/>
                </a:solidFill>
                <a:latin typeface="Calibri"/>
              </a:rPr>
              <a:t>Torii Pharmaceutical Co.,</a:t>
            </a:r>
          </a:p>
        </p:txBody>
      </p:sp>
      <p:sp>
        <p:nvSpPr>
          <p:cNvPr id="88" name="TextBox 87"/>
          <p:cNvSpPr txBox="1"/>
          <p:nvPr/>
        </p:nvSpPr>
        <p:spPr>
          <a:xfrm>
            <a:off x="1490818" y="4712507"/>
            <a:ext cx="296348" cy="186689"/>
          </a:xfrm>
          <a:prstGeom prst="rect">
            <a:avLst/>
          </a:prstGeom>
          <a:noFill/>
        </p:spPr>
        <p:txBody>
          <a:bodyPr wrap="none" lIns="0" rIns="0" tIns="0" bIns="0">
            <a:spAutoFit/>
          </a:bodyPr>
          <a:lstStyle/>
          <a:p>
            <a:r>
              <a:rPr sz="1100" b="1">
                <a:solidFill>
                  <a:srgbClr val="2E2E2E"/>
                </a:solidFill>
                <a:latin typeface="Calibri"/>
              </a:rPr>
              <a:t>Ltd.</a:t>
            </a:r>
          </a:p>
        </p:txBody>
      </p:sp>
      <p:pic>
        <p:nvPicPr>
          <p:cNvPr id="89" name="Picture 88" descr="lock.png"/>
          <p:cNvPicPr>
            <a:picLocks noChangeAspect="1"/>
          </p:cNvPicPr>
          <p:nvPr/>
        </p:nvPicPr>
        <p:blipFill>
          <a:blip r:embed="rId4"/>
          <a:stretch>
            <a:fillRect/>
          </a:stretch>
        </p:blipFill>
        <p:spPr>
          <a:xfrm>
            <a:off x="1735218" y="4702728"/>
            <a:ext cx="128699" cy="187198"/>
          </a:xfrm>
          <a:prstGeom prst="rect">
            <a:avLst/>
          </a:prstGeom>
        </p:spPr>
      </p:pic>
      <p:sp>
        <p:nvSpPr>
          <p:cNvPr id="90" name="TextBox 89"/>
          <p:cNvSpPr txBox="1"/>
          <p:nvPr/>
        </p:nvSpPr>
        <p:spPr>
          <a:xfrm>
            <a:off x="831881" y="5157323"/>
            <a:ext cx="955285" cy="186689"/>
          </a:xfrm>
          <a:prstGeom prst="rect">
            <a:avLst/>
          </a:prstGeom>
          <a:noFill/>
        </p:spPr>
        <p:txBody>
          <a:bodyPr wrap="none" lIns="0" rIns="0" tIns="0" bIns="0">
            <a:spAutoFit/>
          </a:bodyPr>
          <a:lstStyle/>
          <a:p>
            <a:r>
              <a:rPr sz="1100" b="1">
                <a:solidFill>
                  <a:srgbClr val="2E2E2E"/>
                </a:solidFill>
                <a:latin typeface="Calibri"/>
              </a:rPr>
              <a:t>ALK-Abelló A/S</a:t>
            </a:r>
          </a:p>
        </p:txBody>
      </p:sp>
      <p:pic>
        <p:nvPicPr>
          <p:cNvPr id="91" name="Picture 90" descr="lock.png"/>
          <p:cNvPicPr>
            <a:picLocks noChangeAspect="1"/>
          </p:cNvPicPr>
          <p:nvPr/>
        </p:nvPicPr>
        <p:blipFill>
          <a:blip r:embed="rId4"/>
          <a:stretch>
            <a:fillRect/>
          </a:stretch>
        </p:blipFill>
        <p:spPr>
          <a:xfrm>
            <a:off x="1735218" y="5147543"/>
            <a:ext cx="128699" cy="187198"/>
          </a:xfrm>
          <a:prstGeom prst="rect">
            <a:avLst/>
          </a:prstGeom>
        </p:spPr>
      </p:pic>
      <p:sp>
        <p:nvSpPr>
          <p:cNvPr id="92" name="TextBox 91"/>
          <p:cNvSpPr txBox="1"/>
          <p:nvPr/>
        </p:nvSpPr>
        <p:spPr>
          <a:xfrm>
            <a:off x="289550" y="5602136"/>
            <a:ext cx="1575444" cy="186689"/>
          </a:xfrm>
          <a:prstGeom prst="rect">
            <a:avLst/>
          </a:prstGeom>
          <a:noFill/>
        </p:spPr>
        <p:txBody>
          <a:bodyPr wrap="none" lIns="0" rIns="0" tIns="0" bIns="0">
            <a:spAutoFit/>
          </a:bodyPr>
          <a:lstStyle/>
          <a:p>
            <a:r>
              <a:rPr sz="1100" b="1">
                <a:solidFill>
                  <a:srgbClr val="2E2E2E"/>
                </a:solidFill>
                <a:latin typeface="Calibri"/>
              </a:rPr>
              <a:t>LETI Pharma / Laboratorios</a:t>
            </a:r>
          </a:p>
        </p:txBody>
      </p:sp>
      <p:sp>
        <p:nvSpPr>
          <p:cNvPr id="93" name="TextBox 92"/>
          <p:cNvSpPr txBox="1"/>
          <p:nvPr/>
        </p:nvSpPr>
        <p:spPr>
          <a:xfrm>
            <a:off x="1080679" y="5769776"/>
            <a:ext cx="706487" cy="186689"/>
          </a:xfrm>
          <a:prstGeom prst="rect">
            <a:avLst/>
          </a:prstGeom>
          <a:noFill/>
        </p:spPr>
        <p:txBody>
          <a:bodyPr wrap="none" lIns="0" rIns="0" tIns="0" bIns="0">
            <a:spAutoFit/>
          </a:bodyPr>
          <a:lstStyle/>
          <a:p>
            <a:r>
              <a:rPr sz="1100" b="1">
                <a:solidFill>
                  <a:srgbClr val="2E2E2E"/>
                </a:solidFill>
                <a:latin typeface="Calibri"/>
              </a:rPr>
              <a:t>LETI, S.L.U.</a:t>
            </a:r>
          </a:p>
        </p:txBody>
      </p:sp>
      <p:pic>
        <p:nvPicPr>
          <p:cNvPr id="94" name="Picture 93" descr="lock.png"/>
          <p:cNvPicPr>
            <a:picLocks noChangeAspect="1"/>
          </p:cNvPicPr>
          <p:nvPr/>
        </p:nvPicPr>
        <p:blipFill>
          <a:blip r:embed="rId4"/>
          <a:stretch>
            <a:fillRect/>
          </a:stretch>
        </p:blipFill>
        <p:spPr>
          <a:xfrm>
            <a:off x="1735218" y="5759997"/>
            <a:ext cx="128699" cy="187198"/>
          </a:xfrm>
          <a:prstGeom prst="rect">
            <a:avLst/>
          </a:prstGeom>
        </p:spPr>
      </p:pic>
      <p:sp>
        <p:nvSpPr>
          <p:cNvPr id="95" name="TextBox 94"/>
          <p:cNvSpPr txBox="1"/>
          <p:nvPr/>
        </p:nvSpPr>
        <p:spPr>
          <a:xfrm>
            <a:off x="476999" y="6130769"/>
            <a:ext cx="1387995" cy="186689"/>
          </a:xfrm>
          <a:prstGeom prst="rect">
            <a:avLst/>
          </a:prstGeom>
          <a:noFill/>
        </p:spPr>
        <p:txBody>
          <a:bodyPr wrap="none" lIns="0" rIns="0" tIns="0" bIns="0">
            <a:spAutoFit/>
          </a:bodyPr>
          <a:lstStyle/>
          <a:p>
            <a:r>
              <a:rPr sz="1100" b="1">
                <a:solidFill>
                  <a:srgbClr val="2E2E2E"/>
                </a:solidFill>
                <a:latin typeface="Calibri"/>
              </a:rPr>
              <a:t>Allergy Therapeutics plc</a:t>
            </a:r>
          </a:p>
        </p:txBody>
      </p:sp>
      <p:pic>
        <p:nvPicPr>
          <p:cNvPr id="96" name="Picture 95" descr="lock.png"/>
          <p:cNvPicPr>
            <a:picLocks noChangeAspect="1"/>
          </p:cNvPicPr>
          <p:nvPr/>
        </p:nvPicPr>
        <p:blipFill>
          <a:blip r:embed="rId4"/>
          <a:stretch>
            <a:fillRect/>
          </a:stretch>
        </p:blipFill>
        <p:spPr>
          <a:xfrm>
            <a:off x="1735218" y="6288630"/>
            <a:ext cx="128699" cy="187198"/>
          </a:xfrm>
          <a:prstGeom prst="rect">
            <a:avLst/>
          </a:prstGeom>
        </p:spPr>
      </p:pic>
      <p:sp>
        <p:nvSpPr>
          <p:cNvPr id="97" name="TextBox 96"/>
          <p:cNvSpPr txBox="1"/>
          <p:nvPr/>
        </p:nvSpPr>
        <p:spPr>
          <a:xfrm>
            <a:off x="5972175" y="2483966"/>
            <a:ext cx="680839" cy="186689"/>
          </a:xfrm>
          <a:prstGeom prst="rect">
            <a:avLst/>
          </a:prstGeom>
          <a:noFill/>
        </p:spPr>
        <p:txBody>
          <a:bodyPr wrap="none" lIns="0" rIns="0" tIns="0" bIns="0">
            <a:spAutoFit/>
          </a:bodyPr>
          <a:lstStyle/>
          <a:p>
            <a:r>
              <a:rPr sz="1100" b="1">
                <a:solidFill>
                  <a:srgbClr val="2E2E2E"/>
                </a:solidFill>
                <a:latin typeface="Calibri"/>
              </a:rPr>
              <a:t>Sublingual</a:t>
            </a:r>
          </a:p>
        </p:txBody>
      </p:sp>
      <p:sp>
        <p:nvSpPr>
          <p:cNvPr id="98" name="TextBox 97"/>
          <p:cNvSpPr txBox="1"/>
          <p:nvPr/>
        </p:nvSpPr>
        <p:spPr>
          <a:xfrm>
            <a:off x="5972175" y="2651606"/>
            <a:ext cx="1362075" cy="186689"/>
          </a:xfrm>
          <a:prstGeom prst="rect">
            <a:avLst/>
          </a:prstGeom>
          <a:noFill/>
        </p:spPr>
        <p:txBody>
          <a:bodyPr wrap="none" lIns="0" rIns="0" tIns="0" bIns="0">
            <a:spAutoFit/>
          </a:bodyPr>
          <a:lstStyle/>
          <a:p>
            <a:r>
              <a:rPr sz="1100" b="1">
                <a:solidFill>
                  <a:srgbClr val="2E2E2E"/>
                </a:solidFill>
                <a:latin typeface="Calibri"/>
              </a:rPr>
              <a:t>Immunotherapy (SLIT)</a:t>
            </a:r>
          </a:p>
        </p:txBody>
      </p:sp>
      <p:pic>
        <p:nvPicPr>
          <p:cNvPr id="99" name="Picture 98" descr="lock.png"/>
          <p:cNvPicPr>
            <a:picLocks noChangeAspect="1"/>
          </p:cNvPicPr>
          <p:nvPr/>
        </p:nvPicPr>
        <p:blipFill>
          <a:blip r:embed="rId4"/>
          <a:stretch>
            <a:fillRect/>
          </a:stretch>
        </p:blipFill>
        <p:spPr>
          <a:xfrm>
            <a:off x="5958707" y="2809467"/>
            <a:ext cx="128699" cy="187198"/>
          </a:xfrm>
          <a:prstGeom prst="rect">
            <a:avLst/>
          </a:prstGeom>
        </p:spPr>
      </p:pic>
      <p:sp>
        <p:nvSpPr>
          <p:cNvPr id="100" name="TextBox 99"/>
          <p:cNvSpPr txBox="1"/>
          <p:nvPr/>
        </p:nvSpPr>
        <p:spPr>
          <a:xfrm>
            <a:off x="5972175" y="4753339"/>
            <a:ext cx="894481" cy="186689"/>
          </a:xfrm>
          <a:prstGeom prst="rect">
            <a:avLst/>
          </a:prstGeom>
          <a:noFill/>
        </p:spPr>
        <p:txBody>
          <a:bodyPr wrap="none" lIns="0" rIns="0" tIns="0" bIns="0">
            <a:spAutoFit/>
          </a:bodyPr>
          <a:lstStyle/>
          <a:p>
            <a:r>
              <a:rPr sz="1100" b="1">
                <a:solidFill>
                  <a:srgbClr val="2E2E2E"/>
                </a:solidFill>
                <a:latin typeface="Calibri"/>
              </a:rPr>
              <a:t>Subcutaneous</a:t>
            </a:r>
          </a:p>
        </p:txBody>
      </p:sp>
      <p:sp>
        <p:nvSpPr>
          <p:cNvPr id="101" name="TextBox 100"/>
          <p:cNvSpPr txBox="1"/>
          <p:nvPr/>
        </p:nvSpPr>
        <p:spPr>
          <a:xfrm>
            <a:off x="5972175" y="4920979"/>
            <a:ext cx="1362075" cy="186689"/>
          </a:xfrm>
          <a:prstGeom prst="rect">
            <a:avLst/>
          </a:prstGeom>
          <a:noFill/>
        </p:spPr>
        <p:txBody>
          <a:bodyPr wrap="none" lIns="0" rIns="0" tIns="0" bIns="0">
            <a:spAutoFit/>
          </a:bodyPr>
          <a:lstStyle/>
          <a:p>
            <a:r>
              <a:rPr sz="1100" b="1">
                <a:solidFill>
                  <a:srgbClr val="2E2E2E"/>
                </a:solidFill>
                <a:latin typeface="Calibri"/>
              </a:rPr>
              <a:t>Immunotherapy (SCIT)</a:t>
            </a:r>
          </a:p>
        </p:txBody>
      </p:sp>
      <p:pic>
        <p:nvPicPr>
          <p:cNvPr id="102" name="Picture 101" descr="lock.png"/>
          <p:cNvPicPr>
            <a:picLocks noChangeAspect="1"/>
          </p:cNvPicPr>
          <p:nvPr/>
        </p:nvPicPr>
        <p:blipFill>
          <a:blip r:embed="rId4"/>
          <a:stretch>
            <a:fillRect/>
          </a:stretch>
        </p:blipFill>
        <p:spPr>
          <a:xfrm>
            <a:off x="5958707" y="5078840"/>
            <a:ext cx="128699" cy="187198"/>
          </a:xfrm>
          <a:prstGeom prst="rect">
            <a:avLst/>
          </a:prstGeom>
        </p:spPr>
      </p:pic>
      <p:sp>
        <p:nvSpPr>
          <p:cNvPr id="103" name="TextBox 102"/>
          <p:cNvSpPr txBox="1"/>
          <p:nvPr/>
        </p:nvSpPr>
        <p:spPr>
          <a:xfrm>
            <a:off x="5972175" y="6128560"/>
            <a:ext cx="1187338" cy="139750"/>
          </a:xfrm>
          <a:prstGeom prst="rect">
            <a:avLst/>
          </a:prstGeom>
          <a:noFill/>
        </p:spPr>
        <p:txBody>
          <a:bodyPr wrap="none" lIns="0" rIns="0" tIns="0" bIns="0">
            <a:spAutoFit/>
          </a:bodyPr>
          <a:lstStyle/>
          <a:p>
            <a:r>
              <a:rPr sz="791" b="1">
                <a:solidFill>
                  <a:srgbClr val="2E2E2E"/>
                </a:solidFill>
                <a:latin typeface="Calibri"/>
              </a:rPr>
              <a:t>Oral Immunotherapy (OIT)</a:t>
            </a:r>
          </a:p>
        </p:txBody>
      </p:sp>
      <p:pic>
        <p:nvPicPr>
          <p:cNvPr id="104" name="Picture 103" descr="lock.png"/>
          <p:cNvPicPr>
            <a:picLocks noChangeAspect="1"/>
          </p:cNvPicPr>
          <p:nvPr/>
        </p:nvPicPr>
        <p:blipFill>
          <a:blip r:embed="rId4"/>
          <a:stretch>
            <a:fillRect/>
          </a:stretch>
        </p:blipFill>
        <p:spPr>
          <a:xfrm>
            <a:off x="7100775" y="6121519"/>
            <a:ext cx="92663" cy="134782"/>
          </a:xfrm>
          <a:prstGeom prst="rect">
            <a:avLst/>
          </a:prstGeom>
        </p:spPr>
      </p:pic>
      <p:sp>
        <p:nvSpPr>
          <p:cNvPr id="105" name="TextBox 104"/>
          <p:cNvSpPr txBox="1"/>
          <p:nvPr/>
        </p:nvSpPr>
        <p:spPr>
          <a:xfrm>
            <a:off x="7715250" y="1400175"/>
            <a:ext cx="4075851" cy="194310"/>
          </a:xfrm>
          <a:prstGeom prst="rect">
            <a:avLst/>
          </a:prstGeom>
          <a:noFill/>
        </p:spPr>
        <p:txBody>
          <a:bodyPr wrap="none" lIns="0" rIns="0" tIns="0" bIns="0">
            <a:spAutoFit/>
          </a:bodyPr>
          <a:lstStyle/>
          <a:p>
            <a:r>
              <a:rPr sz="1150" b="0">
                <a:solidFill>
                  <a:srgbClr val="2E2E2E"/>
                </a:solidFill>
                <a:latin typeface="Calibri"/>
              </a:rPr>
              <a:t>DIATER laboratories segment is projected to account for the largest</a:t>
            </a:r>
          </a:p>
        </p:txBody>
      </p:sp>
      <p:sp>
        <p:nvSpPr>
          <p:cNvPr id="106" name="TextBox 105"/>
          <p:cNvSpPr txBox="1"/>
          <p:nvPr/>
        </p:nvSpPr>
        <p:spPr>
          <a:xfrm>
            <a:off x="7715250" y="1575435"/>
            <a:ext cx="4004431" cy="194310"/>
          </a:xfrm>
          <a:prstGeom prst="rect">
            <a:avLst/>
          </a:prstGeom>
          <a:noFill/>
        </p:spPr>
        <p:txBody>
          <a:bodyPr wrap="none" lIns="0" rIns="0" tIns="0" bIns="0">
            <a:spAutoFit/>
          </a:bodyPr>
          <a:lstStyle/>
          <a:p>
            <a:r>
              <a:rPr sz="1150" b="0">
                <a:solidFill>
                  <a:srgbClr val="2E2E2E"/>
                </a:solidFill>
                <a:latin typeface="Calibri"/>
              </a:rPr>
              <a:t>share of the North America allergy immunotherapy market, led by</a:t>
            </a:r>
          </a:p>
        </p:txBody>
      </p:sp>
      <p:sp>
        <p:nvSpPr>
          <p:cNvPr id="107" name="TextBox 106"/>
          <p:cNvSpPr txBox="1"/>
          <p:nvPr/>
        </p:nvSpPr>
        <p:spPr>
          <a:xfrm>
            <a:off x="7715250" y="1750695"/>
            <a:ext cx="2450938" cy="194310"/>
          </a:xfrm>
          <a:prstGeom prst="rect">
            <a:avLst/>
          </a:prstGeom>
          <a:noFill/>
        </p:spPr>
        <p:txBody>
          <a:bodyPr wrap="none" lIns="0" rIns="0" tIns="0" bIns="0">
            <a:spAutoFit/>
          </a:bodyPr>
          <a:lstStyle/>
          <a:p>
            <a:r>
              <a:rPr sz="1150" b="0">
                <a:solidFill>
                  <a:srgbClr val="2E2E2E"/>
                </a:solidFill>
                <a:latin typeface="Calibri"/>
              </a:rPr>
              <a:t>sublingual immunotherapy (SLIT) at US$</a:t>
            </a:r>
          </a:p>
        </p:txBody>
      </p:sp>
      <p:pic>
        <p:nvPicPr>
          <p:cNvPr id="108" name="Picture 107" descr="lock.png"/>
          <p:cNvPicPr>
            <a:picLocks noChangeAspect="1"/>
          </p:cNvPicPr>
          <p:nvPr/>
        </p:nvPicPr>
        <p:blipFill>
          <a:blip r:embed="rId4"/>
          <a:stretch>
            <a:fillRect/>
          </a:stretch>
        </p:blipFill>
        <p:spPr>
          <a:xfrm>
            <a:off x="10115342" y="1740471"/>
            <a:ext cx="134549" cy="195707"/>
          </a:xfrm>
          <a:prstGeom prst="rect">
            <a:avLst/>
          </a:prstGeom>
        </p:spPr>
      </p:pic>
      <p:sp>
        <p:nvSpPr>
          <p:cNvPr id="109" name="TextBox 108"/>
          <p:cNvSpPr txBox="1"/>
          <p:nvPr/>
        </p:nvSpPr>
        <p:spPr>
          <a:xfrm>
            <a:off x="10290451" y="1750695"/>
            <a:ext cx="787908" cy="194310"/>
          </a:xfrm>
          <a:prstGeom prst="rect">
            <a:avLst/>
          </a:prstGeom>
          <a:noFill/>
        </p:spPr>
        <p:txBody>
          <a:bodyPr wrap="none" lIns="0" rIns="0" tIns="0" bIns="0">
            <a:spAutoFit/>
          </a:bodyPr>
          <a:lstStyle/>
          <a:p>
            <a:r>
              <a:rPr sz="1150" b="0">
                <a:solidFill>
                  <a:srgbClr val="2E2E2E"/>
                </a:solidFill>
                <a:latin typeface="Calibri"/>
              </a:rPr>
              <a:t>Mn in 2036.</a:t>
            </a:r>
          </a:p>
        </p:txBody>
      </p:sp>
      <p:sp>
        <p:nvSpPr>
          <p:cNvPr id="110" name="TextBox 109"/>
          <p:cNvSpPr txBox="1"/>
          <p:nvPr/>
        </p:nvSpPr>
        <p:spPr>
          <a:xfrm>
            <a:off x="7715250" y="1925955"/>
            <a:ext cx="4171950" cy="194310"/>
          </a:xfrm>
          <a:prstGeom prst="rect">
            <a:avLst/>
          </a:prstGeom>
          <a:noFill/>
        </p:spPr>
        <p:txBody>
          <a:bodyPr wrap="none" lIns="0" rIns="0" tIns="0" bIns="0">
            <a:spAutoFit/>
          </a:bodyPr>
          <a:lstStyle/>
          <a:p>
            <a:r>
              <a:rPr sz="1150" b="0">
                <a:solidFill>
                  <a:srgbClr val="2E2E2E"/>
                </a:solidFill>
                <a:latin typeface="Calibri"/>
              </a:rPr>
              <a:t>'Allergopharma GmbH &amp; Co. KG × Sublingual Immunotherapy (SLIT)' is</a:t>
            </a:r>
          </a:p>
        </p:txBody>
      </p:sp>
      <p:sp>
        <p:nvSpPr>
          <p:cNvPr id="111" name="TextBox 110"/>
          <p:cNvSpPr txBox="1"/>
          <p:nvPr/>
        </p:nvSpPr>
        <p:spPr>
          <a:xfrm>
            <a:off x="7715250" y="2101215"/>
            <a:ext cx="2311734" cy="194310"/>
          </a:xfrm>
          <a:prstGeom prst="rect">
            <a:avLst/>
          </a:prstGeom>
          <a:noFill/>
        </p:spPr>
        <p:txBody>
          <a:bodyPr wrap="none" lIns="0" rIns="0" tIns="0" bIns="0">
            <a:spAutoFit/>
          </a:bodyPr>
          <a:lstStyle/>
          <a:p>
            <a:r>
              <a:rPr sz="1150" b="0">
                <a:solidFill>
                  <a:srgbClr val="2E2E2E"/>
                </a:solidFill>
                <a:latin typeface="Calibri"/>
              </a:rPr>
              <a:t>the single largest cross-sectional cell (</a:t>
            </a:r>
          </a:p>
        </p:txBody>
      </p:sp>
      <p:pic>
        <p:nvPicPr>
          <p:cNvPr id="112" name="Picture 111" descr="lock.png"/>
          <p:cNvPicPr>
            <a:picLocks noChangeAspect="1"/>
          </p:cNvPicPr>
          <p:nvPr/>
        </p:nvPicPr>
        <p:blipFill>
          <a:blip r:embed="rId4"/>
          <a:stretch>
            <a:fillRect/>
          </a:stretch>
        </p:blipFill>
        <p:spPr>
          <a:xfrm>
            <a:off x="9976138" y="2090991"/>
            <a:ext cx="134549" cy="195707"/>
          </a:xfrm>
          <a:prstGeom prst="rect">
            <a:avLst/>
          </a:prstGeom>
        </p:spPr>
      </p:pic>
      <p:sp>
        <p:nvSpPr>
          <p:cNvPr id="113" name="TextBox 112"/>
          <p:cNvSpPr txBox="1"/>
          <p:nvPr/>
        </p:nvSpPr>
        <p:spPr>
          <a:xfrm>
            <a:off x="10151248" y="2101215"/>
            <a:ext cx="1418604" cy="194310"/>
          </a:xfrm>
          <a:prstGeom prst="rect">
            <a:avLst/>
          </a:prstGeom>
          <a:noFill/>
        </p:spPr>
        <p:txBody>
          <a:bodyPr wrap="none" lIns="0" rIns="0" tIns="0" bIns="0">
            <a:spAutoFit/>
          </a:bodyPr>
          <a:lstStyle/>
          <a:p>
            <a:r>
              <a:rPr sz="1150" b="0">
                <a:solidFill>
                  <a:srgbClr val="2E2E2E"/>
                </a:solidFill>
                <a:latin typeface="Calibri"/>
              </a:rPr>
              <a:t>US$ Mn, 2026E), while</a:t>
            </a:r>
          </a:p>
        </p:txBody>
      </p:sp>
      <p:sp>
        <p:nvSpPr>
          <p:cNvPr id="114" name="TextBox 113"/>
          <p:cNvSpPr txBox="1"/>
          <p:nvPr/>
        </p:nvSpPr>
        <p:spPr>
          <a:xfrm>
            <a:off x="7715250" y="2276475"/>
            <a:ext cx="4146487" cy="194310"/>
          </a:xfrm>
          <a:prstGeom prst="rect">
            <a:avLst/>
          </a:prstGeom>
          <a:noFill/>
        </p:spPr>
        <p:txBody>
          <a:bodyPr wrap="none" lIns="0" rIns="0" tIns="0" bIns="0">
            <a:spAutoFit/>
          </a:bodyPr>
          <a:lstStyle/>
          <a:p>
            <a:r>
              <a:rPr sz="1150" b="0">
                <a:solidFill>
                  <a:srgbClr val="2E2E2E"/>
                </a:solidFill>
                <a:latin typeface="Calibri"/>
              </a:rPr>
              <a:t>'Allergy Therapeutics plc × Sublingual Immunotherapy (SLIT)' records</a:t>
            </a:r>
          </a:p>
        </p:txBody>
      </p:sp>
      <p:sp>
        <p:nvSpPr>
          <p:cNvPr id="115" name="TextBox 114"/>
          <p:cNvSpPr txBox="1"/>
          <p:nvPr/>
        </p:nvSpPr>
        <p:spPr>
          <a:xfrm>
            <a:off x="7715250" y="2451735"/>
            <a:ext cx="1943739" cy="194310"/>
          </a:xfrm>
          <a:prstGeom prst="rect">
            <a:avLst/>
          </a:prstGeom>
          <a:noFill/>
        </p:spPr>
        <p:txBody>
          <a:bodyPr wrap="none" lIns="0" rIns="0" tIns="0" bIns="0">
            <a:spAutoFit/>
          </a:bodyPr>
          <a:lstStyle/>
          <a:p>
            <a:r>
              <a:rPr sz="1150" b="0">
                <a:solidFill>
                  <a:srgbClr val="2E2E2E"/>
                </a:solidFill>
                <a:latin typeface="Calibri"/>
              </a:rPr>
              <a:t>the fastest growth at a CAGR of</a:t>
            </a:r>
          </a:p>
        </p:txBody>
      </p:sp>
      <p:pic>
        <p:nvPicPr>
          <p:cNvPr id="116" name="Picture 115" descr="lock.png"/>
          <p:cNvPicPr>
            <a:picLocks noChangeAspect="1"/>
          </p:cNvPicPr>
          <p:nvPr/>
        </p:nvPicPr>
        <p:blipFill>
          <a:blip r:embed="rId4"/>
          <a:stretch>
            <a:fillRect/>
          </a:stretch>
        </p:blipFill>
        <p:spPr>
          <a:xfrm>
            <a:off x="9608143" y="2441511"/>
            <a:ext cx="134549" cy="195707"/>
          </a:xfrm>
          <a:prstGeom prst="rect">
            <a:avLst/>
          </a:prstGeom>
        </p:spPr>
      </p:pic>
      <p:sp>
        <p:nvSpPr>
          <p:cNvPr id="117" name="TextBox 116"/>
          <p:cNvSpPr txBox="1"/>
          <p:nvPr/>
        </p:nvSpPr>
        <p:spPr>
          <a:xfrm>
            <a:off x="9783252" y="245173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18" name="TextBox 117"/>
          <p:cNvSpPr txBox="1"/>
          <p:nvPr/>
        </p:nvSpPr>
        <p:spPr>
          <a:xfrm>
            <a:off x="7715250" y="2679573"/>
            <a:ext cx="4171950" cy="194310"/>
          </a:xfrm>
          <a:prstGeom prst="rect">
            <a:avLst/>
          </a:prstGeom>
          <a:noFill/>
        </p:spPr>
        <p:txBody>
          <a:bodyPr wrap="none" lIns="0" rIns="0" tIns="0" bIns="0">
            <a:spAutoFit/>
          </a:bodyPr>
          <a:lstStyle/>
          <a:p>
            <a:r>
              <a:rPr sz="1150" b="0">
                <a:solidFill>
                  <a:srgbClr val="2E2E2E"/>
                </a:solidFill>
                <a:latin typeface="Calibri"/>
              </a:rPr>
              <a:t>Combined, the top three company × therapy format cells generate an</a:t>
            </a:r>
          </a:p>
        </p:txBody>
      </p:sp>
      <p:sp>
        <p:nvSpPr>
          <p:cNvPr id="119" name="TextBox 118"/>
          <p:cNvSpPr txBox="1"/>
          <p:nvPr/>
        </p:nvSpPr>
        <p:spPr>
          <a:xfrm>
            <a:off x="7715250" y="2854832"/>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120" name="Picture 119" descr="lock.png"/>
          <p:cNvPicPr>
            <a:picLocks noChangeAspect="1"/>
          </p:cNvPicPr>
          <p:nvPr/>
        </p:nvPicPr>
        <p:blipFill>
          <a:blip r:embed="rId4"/>
          <a:stretch>
            <a:fillRect/>
          </a:stretch>
        </p:blipFill>
        <p:spPr>
          <a:xfrm>
            <a:off x="9258439" y="2844609"/>
            <a:ext cx="134549" cy="195707"/>
          </a:xfrm>
          <a:prstGeom prst="rect">
            <a:avLst/>
          </a:prstGeom>
        </p:spPr>
      </p:pic>
      <p:sp>
        <p:nvSpPr>
          <p:cNvPr id="121" name="TextBox 120"/>
          <p:cNvSpPr txBox="1"/>
          <p:nvPr/>
        </p:nvSpPr>
        <p:spPr>
          <a:xfrm>
            <a:off x="9433549" y="285483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Company × Therapy Format, 2026E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therapy format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Company × Therapy Format, 2026E (% of each row)</a:t>
            </a:r>
          </a:p>
        </p:txBody>
      </p:sp>
      <p:graphicFrame>
        <p:nvGraphicFramePr>
          <p:cNvPr id="13" name="Table 12"/>
          <p:cNvGraphicFramePr>
            <a:graphicFrameLocks noGrp="1"/>
          </p:cNvGraphicFramePr>
          <p:nvPr/>
        </p:nvGraphicFramePr>
        <p:xfrm>
          <a:off x="152400" y="1238250"/>
          <a:ext cx="11887200" cy="3200406"/>
        </p:xfrm>
        <a:graphic>
          <a:graphicData uri="http://schemas.openxmlformats.org/drawingml/2006/table">
            <a:tbl>
              <a:tblPr>
                <a:tableStyleId>{5C22544A-7EE6-4342-B048-85BDC9FD1C3A}</a:tableStyleId>
              </a:tblPr>
              <a:tblGrid>
                <a:gridCol w="3420330"/>
                <a:gridCol w="2785984"/>
                <a:gridCol w="1149858"/>
                <a:gridCol w="1323177"/>
                <a:gridCol w="2439293"/>
                <a:gridCol w="768558"/>
              </a:tblGrid>
              <a:tr h="246126">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Subcutaneous Immunotherapy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Sublingual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Oral Immunotherapy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190">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Subcutaneous Immunotherapy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SLIT Tablets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SLIT Solutions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Food Allergen Oral Powder</a:t>
                      </a:r>
                      <a:endParaRPr sz="1100"/>
                    </a:p>
                  </a:txBody>
                  <a:tcPr marL="47625" marR="38100" marT="19050" marB="19050" anchor="ctr">
                    <a:solidFill>
                      <a:srgbClr val="E0E8EF"/>
                    </a:solidFill>
                  </a:tcPr>
                </a:tc>
                <a:tc>
                  <a:txBody>
                    <a:bodyPr wrap="none"/>
                    <a:lstStyle/>
                    <a:p>
                      <a:pPr algn="ct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619474" y="2817911"/>
            <a:ext cx="366712" cy="533400"/>
          </a:xfrm>
          <a:prstGeom prst="rect">
            <a:avLst/>
          </a:prstGeom>
        </p:spPr>
      </p:pic>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Company × Therapy Format, 2026E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therapy format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Therapy Format Mix by Company, 2026E (% share)</a:t>
            </a:r>
          </a:p>
        </p:txBody>
      </p:sp>
      <p:graphicFrame>
        <p:nvGraphicFramePr>
          <p:cNvPr id="12" name="Chart 11"/>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5" name="Rectangle 14"/>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816628" y="2804566"/>
            <a:ext cx="230207" cy="334847"/>
          </a:xfrm>
          <a:prstGeom prst="rect">
            <a:avLst/>
          </a:prstGeom>
        </p:spPr>
      </p:pic>
      <p:sp>
        <p:nvSpPr>
          <p:cNvPr id="19" name="TextBox 18"/>
          <p:cNvSpPr txBox="1"/>
          <p:nvPr/>
        </p:nvSpPr>
        <p:spPr>
          <a:xfrm>
            <a:off x="7715250" y="1400175"/>
            <a:ext cx="4003290" cy="194310"/>
          </a:xfrm>
          <a:prstGeom prst="rect">
            <a:avLst/>
          </a:prstGeom>
          <a:noFill/>
        </p:spPr>
        <p:txBody>
          <a:bodyPr wrap="none" lIns="0" rIns="0" tIns="0" bIns="0">
            <a:spAutoFit/>
          </a:bodyPr>
          <a:lstStyle/>
          <a:p>
            <a:r>
              <a:rPr sz="1150" b="0">
                <a:solidFill>
                  <a:srgbClr val="2E2E2E"/>
                </a:solidFill>
                <a:latin typeface="Calibri"/>
              </a:rPr>
              <a:t>▪ 'Subcutaneous Immunotherapy (SCIT)' holds the highest share of</a:t>
            </a:r>
          </a:p>
        </p:txBody>
      </p:sp>
      <p:sp>
        <p:nvSpPr>
          <p:cNvPr id="20" name="TextBox 19"/>
          <p:cNvSpPr txBox="1"/>
          <p:nvPr/>
        </p:nvSpPr>
        <p:spPr>
          <a:xfrm>
            <a:off x="7715250" y="1575435"/>
            <a:ext cx="1711275" cy="194310"/>
          </a:xfrm>
          <a:prstGeom prst="rect">
            <a:avLst/>
          </a:prstGeom>
          <a:noFill/>
        </p:spPr>
        <p:txBody>
          <a:bodyPr wrap="none" lIns="0" rIns="0" tIns="0" bIns="0">
            <a:spAutoFit/>
          </a:bodyPr>
          <a:lstStyle/>
          <a:p>
            <a:r>
              <a:rPr sz="1150" b="0">
                <a:solidFill>
                  <a:srgbClr val="2E2E2E"/>
                </a:solidFill>
                <a:latin typeface="Calibri"/>
              </a:rPr>
              <a:t>'Allergy Therapeutics plc' at</a:t>
            </a:r>
          </a:p>
        </p:txBody>
      </p:sp>
      <p:pic>
        <p:nvPicPr>
          <p:cNvPr id="21" name="Picture 20" descr="lock.png"/>
          <p:cNvPicPr>
            <a:picLocks noChangeAspect="1"/>
          </p:cNvPicPr>
          <p:nvPr/>
        </p:nvPicPr>
        <p:blipFill>
          <a:blip r:embed="rId5"/>
          <a:stretch>
            <a:fillRect/>
          </a:stretch>
        </p:blipFill>
        <p:spPr>
          <a:xfrm>
            <a:off x="9375679" y="1565211"/>
            <a:ext cx="134549" cy="195707"/>
          </a:xfrm>
          <a:prstGeom prst="rect">
            <a:avLst/>
          </a:prstGeom>
        </p:spPr>
      </p:pic>
      <p:sp>
        <p:nvSpPr>
          <p:cNvPr id="22" name="TextBox 21"/>
          <p:cNvSpPr txBox="1"/>
          <p:nvPr/>
        </p:nvSpPr>
        <p:spPr>
          <a:xfrm>
            <a:off x="9550788"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3" name="TextBox 22"/>
          <p:cNvSpPr txBox="1"/>
          <p:nvPr/>
        </p:nvSpPr>
        <p:spPr>
          <a:xfrm>
            <a:off x="7715250" y="1803273"/>
            <a:ext cx="3739145" cy="194310"/>
          </a:xfrm>
          <a:prstGeom prst="rect">
            <a:avLst/>
          </a:prstGeom>
          <a:noFill/>
        </p:spPr>
        <p:txBody>
          <a:bodyPr wrap="none" lIns="0" rIns="0" tIns="0" bIns="0">
            <a:spAutoFit/>
          </a:bodyPr>
          <a:lstStyle/>
          <a:p>
            <a:r>
              <a:rPr sz="1150" b="0">
                <a:solidFill>
                  <a:srgbClr val="2E2E2E"/>
                </a:solidFill>
                <a:latin typeface="Calibri"/>
              </a:rPr>
              <a:t>▪ 'Allergy Therapeutics plc' is the most concentrated company</a:t>
            </a:r>
          </a:p>
        </p:txBody>
      </p:sp>
      <p:sp>
        <p:nvSpPr>
          <p:cNvPr id="24" name="TextBox 23"/>
          <p:cNvSpPr txBox="1"/>
          <p:nvPr/>
        </p:nvSpPr>
        <p:spPr>
          <a:xfrm>
            <a:off x="7715250" y="1978533"/>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5" name="Picture 24" descr="lock.png"/>
          <p:cNvPicPr>
            <a:picLocks noChangeAspect="1"/>
          </p:cNvPicPr>
          <p:nvPr/>
        </p:nvPicPr>
        <p:blipFill>
          <a:blip r:embed="rId5"/>
          <a:stretch>
            <a:fillRect/>
          </a:stretch>
        </p:blipFill>
        <p:spPr>
          <a:xfrm>
            <a:off x="8843110" y="1968309"/>
            <a:ext cx="134549" cy="195707"/>
          </a:xfrm>
          <a:prstGeom prst="rect">
            <a:avLst/>
          </a:prstGeom>
        </p:spPr>
      </p:pic>
      <p:sp>
        <p:nvSpPr>
          <p:cNvPr id="26" name="TextBox 25"/>
          <p:cNvSpPr txBox="1"/>
          <p:nvPr/>
        </p:nvSpPr>
        <p:spPr>
          <a:xfrm>
            <a:off x="9018219" y="1978533"/>
            <a:ext cx="2824906" cy="194310"/>
          </a:xfrm>
          <a:prstGeom prst="rect">
            <a:avLst/>
          </a:prstGeom>
          <a:noFill/>
        </p:spPr>
        <p:txBody>
          <a:bodyPr wrap="none" lIns="0" rIns="0" tIns="0" bIns="0">
            <a:spAutoFit/>
          </a:bodyPr>
          <a:lstStyle/>
          <a:p>
            <a:r>
              <a:rPr sz="1150" b="0">
                <a:solidFill>
                  <a:srgbClr val="2E2E2E"/>
                </a:solidFill>
                <a:latin typeface="Calibri"/>
              </a:rPr>
              <a:t>of its value via 'Subcutaneous Immunotherapy</a:t>
            </a:r>
          </a:p>
        </p:txBody>
      </p:sp>
      <p:sp>
        <p:nvSpPr>
          <p:cNvPr id="27" name="TextBox 26"/>
          <p:cNvSpPr txBox="1"/>
          <p:nvPr/>
        </p:nvSpPr>
        <p:spPr>
          <a:xfrm>
            <a:off x="7715250" y="2153793"/>
            <a:ext cx="486680" cy="194310"/>
          </a:xfrm>
          <a:prstGeom prst="rect">
            <a:avLst/>
          </a:prstGeom>
          <a:noFill/>
        </p:spPr>
        <p:txBody>
          <a:bodyPr wrap="none" lIns="0" rIns="0" tIns="0" bIns="0">
            <a:spAutoFit/>
          </a:bodyPr>
          <a:lstStyle/>
          <a:p>
            <a:r>
              <a:rPr sz="1150" b="0">
                <a:solidFill>
                  <a:srgbClr val="2E2E2E"/>
                </a:solidFill>
                <a:latin typeface="Calibri"/>
              </a:rPr>
              <a:t>(SCIT)'.</a:t>
            </a:r>
          </a:p>
        </p:txBody>
      </p:sp>
      <p:sp>
        <p:nvSpPr>
          <p:cNvPr id="28" name="TextBox 27"/>
          <p:cNvSpPr txBox="1"/>
          <p:nvPr/>
        </p:nvSpPr>
        <p:spPr>
          <a:xfrm>
            <a:off x="7715250" y="2381631"/>
            <a:ext cx="1487921" cy="194310"/>
          </a:xfrm>
          <a:prstGeom prst="rect">
            <a:avLst/>
          </a:prstGeom>
          <a:noFill/>
        </p:spPr>
        <p:txBody>
          <a:bodyPr wrap="none" lIns="0" rIns="0" tIns="0" bIns="0">
            <a:spAutoFit/>
          </a:bodyPr>
          <a:lstStyle/>
          <a:p>
            <a:r>
              <a:rPr sz="1150" b="0">
                <a:solidFill>
                  <a:srgbClr val="2E2E2E"/>
                </a:solidFill>
                <a:latin typeface="Calibri"/>
              </a:rPr>
              <a:t>▪ 'SLIT Solutions' gains +</a:t>
            </a:r>
          </a:p>
        </p:txBody>
      </p:sp>
      <p:pic>
        <p:nvPicPr>
          <p:cNvPr id="29" name="Picture 28" descr="lock.png"/>
          <p:cNvPicPr>
            <a:picLocks noChangeAspect="1"/>
          </p:cNvPicPr>
          <p:nvPr/>
        </p:nvPicPr>
        <p:blipFill>
          <a:blip r:embed="rId5"/>
          <a:stretch>
            <a:fillRect/>
          </a:stretch>
        </p:blipFill>
        <p:spPr>
          <a:xfrm>
            <a:off x="9152325" y="2371407"/>
            <a:ext cx="134549" cy="195707"/>
          </a:xfrm>
          <a:prstGeom prst="rect">
            <a:avLst/>
          </a:prstGeom>
        </p:spPr>
      </p:pic>
      <p:sp>
        <p:nvSpPr>
          <p:cNvPr id="30" name="TextBox 29"/>
          <p:cNvSpPr txBox="1"/>
          <p:nvPr/>
        </p:nvSpPr>
        <p:spPr>
          <a:xfrm>
            <a:off x="9327434" y="2381631"/>
            <a:ext cx="2104640" cy="194310"/>
          </a:xfrm>
          <a:prstGeom prst="rect">
            <a:avLst/>
          </a:prstGeom>
          <a:noFill/>
        </p:spPr>
        <p:txBody>
          <a:bodyPr wrap="none" lIns="0" rIns="0" tIns="0" bIns="0">
            <a:spAutoFit/>
          </a:bodyPr>
          <a:lstStyle/>
          <a:p>
            <a:r>
              <a:rPr sz="1150" b="0">
                <a:solidFill>
                  <a:srgbClr val="2E2E2E"/>
                </a:solidFill>
                <a:latin typeface="Calibri"/>
              </a:rPr>
              <a:t>BPS of share of the North America</a:t>
            </a:r>
          </a:p>
        </p:txBody>
      </p:sp>
      <p:sp>
        <p:nvSpPr>
          <p:cNvPr id="31" name="TextBox 30"/>
          <p:cNvSpPr txBox="1"/>
          <p:nvPr/>
        </p:nvSpPr>
        <p:spPr>
          <a:xfrm>
            <a:off x="7715250" y="2556891"/>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2" name="lockshield_12"/>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Company × Therapy Format, 2026E–2036F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Company × Therapy Format, 2026E–2036F</a:t>
            </a:r>
          </a:p>
        </p:txBody>
      </p:sp>
      <p:graphicFrame>
        <p:nvGraphicFramePr>
          <p:cNvPr id="13" name="Table 12"/>
          <p:cNvGraphicFramePr>
            <a:graphicFrameLocks noGrp="1"/>
          </p:cNvGraphicFramePr>
          <p:nvPr/>
        </p:nvGraphicFramePr>
        <p:xfrm>
          <a:off x="152400" y="1238250"/>
          <a:ext cx="11887197" cy="3400428"/>
        </p:xfrm>
        <a:graphic>
          <a:graphicData uri="http://schemas.openxmlformats.org/drawingml/2006/table">
            <a:tbl>
              <a:tblPr>
                <a:tableStyleId>{5C22544A-7EE6-4342-B048-85BDC9FD1C3A}</a:tableStyleId>
              </a:tblPr>
              <a:tblGrid>
                <a:gridCol w="4072021"/>
                <a:gridCol w="976897"/>
                <a:gridCol w="976897"/>
                <a:gridCol w="976897"/>
                <a:gridCol w="976897"/>
                <a:gridCol w="976897"/>
                <a:gridCol w="976897"/>
                <a:gridCol w="976897"/>
                <a:gridCol w="976897"/>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Subcutaneous</a:t>
                      </a:r>
                      <a:endParaRPr sz="1100"/>
                    </a:p>
                    <a:p>
                      <a:pPr algn="ctr"/>
                      <a:r>
                        <a:rPr sz="1100" b="1">
                          <a:solidFill>
                            <a:srgbClr val="0B2E4A"/>
                          </a:solidFill>
                          <a:latin typeface="Calibri"/>
                        </a:rPr>
                        <a:t>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Sublingual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93">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93">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648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945318" y="3014616"/>
            <a:ext cx="366712" cy="533400"/>
          </a:xfrm>
          <a:prstGeom prst="rect">
            <a:avLst/>
          </a:prstGeom>
        </p:spPr>
      </p:pic>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Company × Therapy Format, 2026E–2036F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5600700" cy="5648325"/>
          </a:xfrm>
          <a:prstGeom prst="roundRect">
            <a:avLst>
              <a:gd name="adj" fmla="val 13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2" name="Rectangle 11"/>
          <p:cNvSpPr/>
          <p:nvPr/>
        </p:nvSpPr>
        <p:spPr>
          <a:xfrm>
            <a:off x="276225" y="13049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334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58959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293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16" name="Rectangle 15"/>
          <p:cNvSpPr/>
          <p:nvPr/>
        </p:nvSpPr>
        <p:spPr>
          <a:xfrm>
            <a:off x="60293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9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79914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48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0" name="Rectangle 19"/>
          <p:cNvSpPr/>
          <p:nvPr/>
        </p:nvSpPr>
        <p:spPr>
          <a:xfrm>
            <a:off x="81248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48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100869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203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4" name="Rectangle 23"/>
          <p:cNvSpPr/>
          <p:nvPr/>
        </p:nvSpPr>
        <p:spPr>
          <a:xfrm>
            <a:off x="102203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20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'Stallergenes Greer International AG × Sublingual Immunotherapy' ranks highest (5/5); 'ALK-Abelló A/S × Oral Immunotherapy' lowest (1/5), a deprioritised cell.</a:t>
            </a: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7" name="TextBox 26"/>
          <p:cNvSpPr txBox="1"/>
          <p:nvPr/>
        </p:nvSpPr>
        <p:spPr>
          <a:xfrm>
            <a:off x="276225" y="1400175"/>
            <a:ext cx="4009762" cy="194310"/>
          </a:xfrm>
          <a:prstGeom prst="rect">
            <a:avLst/>
          </a:prstGeom>
          <a:noFill/>
        </p:spPr>
        <p:txBody>
          <a:bodyPr wrap="none" lIns="0" rIns="0" tIns="0" bIns="0">
            <a:spAutoFit/>
          </a:bodyPr>
          <a:lstStyle/>
          <a:p>
            <a:r>
              <a:rPr sz="1150" b="0">
                <a:solidFill>
                  <a:srgbClr val="2E2E2E"/>
                </a:solidFill>
                <a:latin typeface="Calibri"/>
              </a:rPr>
              <a:t>▪ 1. Allergopharma GmbH &amp; Co. KG × Sublingual Immunotherapy –</a:t>
            </a:r>
          </a:p>
        </p:txBody>
      </p:sp>
      <p:pic>
        <p:nvPicPr>
          <p:cNvPr id="28" name="Picture 27" descr="lock.png"/>
          <p:cNvPicPr>
            <a:picLocks noChangeAspect="1"/>
          </p:cNvPicPr>
          <p:nvPr/>
        </p:nvPicPr>
        <p:blipFill>
          <a:blip r:embed="rId4"/>
          <a:stretch>
            <a:fillRect/>
          </a:stretch>
        </p:blipFill>
        <p:spPr>
          <a:xfrm>
            <a:off x="4235141" y="1389951"/>
            <a:ext cx="134549" cy="195707"/>
          </a:xfrm>
          <a:prstGeom prst="rect">
            <a:avLst/>
          </a:prstGeom>
        </p:spPr>
      </p:pic>
      <p:sp>
        <p:nvSpPr>
          <p:cNvPr id="29" name="TextBox 28"/>
          <p:cNvSpPr txBox="1"/>
          <p:nvPr/>
        </p:nvSpPr>
        <p:spPr>
          <a:xfrm>
            <a:off x="4410250" y="14001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0" name="Picture 29" descr="lock.png"/>
          <p:cNvPicPr>
            <a:picLocks noChangeAspect="1"/>
          </p:cNvPicPr>
          <p:nvPr/>
        </p:nvPicPr>
        <p:blipFill>
          <a:blip r:embed="rId4"/>
          <a:stretch>
            <a:fillRect/>
          </a:stretch>
        </p:blipFill>
        <p:spPr>
          <a:xfrm>
            <a:off x="4472402" y="1389951"/>
            <a:ext cx="134549" cy="195707"/>
          </a:xfrm>
          <a:prstGeom prst="rect">
            <a:avLst/>
          </a:prstGeom>
        </p:spPr>
      </p:pic>
      <p:sp>
        <p:nvSpPr>
          <p:cNvPr id="31" name="TextBox 30"/>
          <p:cNvSpPr txBox="1"/>
          <p:nvPr/>
        </p:nvSpPr>
        <p:spPr>
          <a:xfrm>
            <a:off x="4647511" y="140017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2" name="TextBox 31"/>
          <p:cNvSpPr txBox="1"/>
          <p:nvPr/>
        </p:nvSpPr>
        <p:spPr>
          <a:xfrm>
            <a:off x="276225" y="1628013"/>
            <a:ext cx="4273122" cy="194310"/>
          </a:xfrm>
          <a:prstGeom prst="rect">
            <a:avLst/>
          </a:prstGeom>
          <a:noFill/>
        </p:spPr>
        <p:txBody>
          <a:bodyPr wrap="none" lIns="0" rIns="0" tIns="0" bIns="0">
            <a:spAutoFit/>
          </a:bodyPr>
          <a:lstStyle/>
          <a:p>
            <a:r>
              <a:rPr sz="1150" b="0">
                <a:solidFill>
                  <a:srgbClr val="2E2E2E"/>
                </a:solidFill>
                <a:latin typeface="Calibri"/>
              </a:rPr>
              <a:t>▪ 2. Stallergenes Greer International AG × Sublingual Immunotherapy –</a:t>
            </a:r>
          </a:p>
        </p:txBody>
      </p:sp>
      <p:pic>
        <p:nvPicPr>
          <p:cNvPr id="33" name="Picture 32" descr="lock.png"/>
          <p:cNvPicPr>
            <a:picLocks noChangeAspect="1"/>
          </p:cNvPicPr>
          <p:nvPr/>
        </p:nvPicPr>
        <p:blipFill>
          <a:blip r:embed="rId4"/>
          <a:stretch>
            <a:fillRect/>
          </a:stretch>
        </p:blipFill>
        <p:spPr>
          <a:xfrm>
            <a:off x="4498501" y="1617789"/>
            <a:ext cx="134549" cy="195707"/>
          </a:xfrm>
          <a:prstGeom prst="rect">
            <a:avLst/>
          </a:prstGeom>
        </p:spPr>
      </p:pic>
      <p:sp>
        <p:nvSpPr>
          <p:cNvPr id="34" name="TextBox 33"/>
          <p:cNvSpPr txBox="1"/>
          <p:nvPr/>
        </p:nvSpPr>
        <p:spPr>
          <a:xfrm>
            <a:off x="4673611" y="16280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4735762" y="1617789"/>
            <a:ext cx="134549" cy="195707"/>
          </a:xfrm>
          <a:prstGeom prst="rect">
            <a:avLst/>
          </a:prstGeom>
        </p:spPr>
      </p:pic>
      <p:sp>
        <p:nvSpPr>
          <p:cNvPr id="36" name="TextBox 35"/>
          <p:cNvSpPr txBox="1"/>
          <p:nvPr/>
        </p:nvSpPr>
        <p:spPr>
          <a:xfrm>
            <a:off x="4910872" y="162801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1855851"/>
            <a:ext cx="3045086" cy="194310"/>
          </a:xfrm>
          <a:prstGeom prst="rect">
            <a:avLst/>
          </a:prstGeom>
          <a:noFill/>
        </p:spPr>
        <p:txBody>
          <a:bodyPr wrap="none" lIns="0" rIns="0" tIns="0" bIns="0">
            <a:spAutoFit/>
          </a:bodyPr>
          <a:lstStyle/>
          <a:p>
            <a:r>
              <a:rPr sz="1150" b="0">
                <a:solidFill>
                  <a:srgbClr val="2E2E2E"/>
                </a:solidFill>
                <a:latin typeface="Calibri"/>
              </a:rPr>
              <a:t>▪ 3. ALK-Abelló A/S × Sublingual Immunotherapy –</a:t>
            </a:r>
          </a:p>
        </p:txBody>
      </p:sp>
      <p:pic>
        <p:nvPicPr>
          <p:cNvPr id="38" name="Picture 37" descr="lock.png"/>
          <p:cNvPicPr>
            <a:picLocks noChangeAspect="1"/>
          </p:cNvPicPr>
          <p:nvPr/>
        </p:nvPicPr>
        <p:blipFill>
          <a:blip r:embed="rId4"/>
          <a:stretch>
            <a:fillRect/>
          </a:stretch>
        </p:blipFill>
        <p:spPr>
          <a:xfrm>
            <a:off x="3270465" y="1845627"/>
            <a:ext cx="134549" cy="195707"/>
          </a:xfrm>
          <a:prstGeom prst="rect">
            <a:avLst/>
          </a:prstGeom>
        </p:spPr>
      </p:pic>
      <p:sp>
        <p:nvSpPr>
          <p:cNvPr id="39" name="TextBox 38"/>
          <p:cNvSpPr txBox="1"/>
          <p:nvPr/>
        </p:nvSpPr>
        <p:spPr>
          <a:xfrm>
            <a:off x="3445575" y="185585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3507726" y="1845627"/>
            <a:ext cx="134549" cy="195707"/>
          </a:xfrm>
          <a:prstGeom prst="rect">
            <a:avLst/>
          </a:prstGeom>
        </p:spPr>
      </p:pic>
      <p:sp>
        <p:nvSpPr>
          <p:cNvPr id="41" name="TextBox 40"/>
          <p:cNvSpPr txBox="1"/>
          <p:nvPr/>
        </p:nvSpPr>
        <p:spPr>
          <a:xfrm>
            <a:off x="3682836" y="1855851"/>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2" name="TextBox 41"/>
          <p:cNvSpPr txBox="1"/>
          <p:nvPr/>
        </p:nvSpPr>
        <p:spPr>
          <a:xfrm>
            <a:off x="276225" y="2083689"/>
            <a:ext cx="3043411" cy="194310"/>
          </a:xfrm>
          <a:prstGeom prst="rect">
            <a:avLst/>
          </a:prstGeom>
          <a:noFill/>
        </p:spPr>
        <p:txBody>
          <a:bodyPr wrap="none" lIns="0" rIns="0" tIns="0" bIns="0">
            <a:spAutoFit/>
          </a:bodyPr>
          <a:lstStyle/>
          <a:p>
            <a:r>
              <a:rPr sz="1150" b="0">
                <a:solidFill>
                  <a:srgbClr val="2E2E2E"/>
                </a:solidFill>
                <a:latin typeface="Calibri"/>
              </a:rPr>
              <a:t>▪ 4. Inmunotek S.L. × Sublingual Immunotherapy –</a:t>
            </a:r>
          </a:p>
        </p:txBody>
      </p:sp>
      <p:pic>
        <p:nvPicPr>
          <p:cNvPr id="43" name="Picture 42" descr="lock.png"/>
          <p:cNvPicPr>
            <a:picLocks noChangeAspect="1"/>
          </p:cNvPicPr>
          <p:nvPr/>
        </p:nvPicPr>
        <p:blipFill>
          <a:blip r:embed="rId4"/>
          <a:stretch>
            <a:fillRect/>
          </a:stretch>
        </p:blipFill>
        <p:spPr>
          <a:xfrm>
            <a:off x="3268790" y="2073465"/>
            <a:ext cx="134549" cy="195707"/>
          </a:xfrm>
          <a:prstGeom prst="rect">
            <a:avLst/>
          </a:prstGeom>
        </p:spPr>
      </p:pic>
      <p:sp>
        <p:nvSpPr>
          <p:cNvPr id="44" name="TextBox 43"/>
          <p:cNvSpPr txBox="1"/>
          <p:nvPr/>
        </p:nvSpPr>
        <p:spPr>
          <a:xfrm>
            <a:off x="3443899" y="2083689"/>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506051" y="2073465"/>
            <a:ext cx="134549" cy="195707"/>
          </a:xfrm>
          <a:prstGeom prst="rect">
            <a:avLst/>
          </a:prstGeom>
        </p:spPr>
      </p:pic>
      <p:sp>
        <p:nvSpPr>
          <p:cNvPr id="46" name="TextBox 45"/>
          <p:cNvSpPr txBox="1"/>
          <p:nvPr/>
        </p:nvSpPr>
        <p:spPr>
          <a:xfrm>
            <a:off x="3681160" y="2083689"/>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7" name="TextBox 46"/>
          <p:cNvSpPr txBox="1"/>
          <p:nvPr/>
        </p:nvSpPr>
        <p:spPr>
          <a:xfrm>
            <a:off x="276225" y="2311527"/>
            <a:ext cx="4442581" cy="194310"/>
          </a:xfrm>
          <a:prstGeom prst="rect">
            <a:avLst/>
          </a:prstGeom>
          <a:noFill/>
        </p:spPr>
        <p:txBody>
          <a:bodyPr wrap="none" lIns="0" rIns="0" tIns="0" bIns="0">
            <a:spAutoFit/>
          </a:bodyPr>
          <a:lstStyle/>
          <a:p>
            <a:r>
              <a:rPr sz="1150" b="0">
                <a:solidFill>
                  <a:srgbClr val="2E2E2E"/>
                </a:solidFill>
                <a:latin typeface="Calibri"/>
              </a:rPr>
              <a:t>▪ 5. LETI Pharma / Laboratorios LETI, S.L.U. × Sublingual Immunotherapy –</a:t>
            </a:r>
          </a:p>
        </p:txBody>
      </p:sp>
      <p:pic>
        <p:nvPicPr>
          <p:cNvPr id="48" name="Picture 47" descr="lock.png"/>
          <p:cNvPicPr>
            <a:picLocks noChangeAspect="1"/>
          </p:cNvPicPr>
          <p:nvPr/>
        </p:nvPicPr>
        <p:blipFill>
          <a:blip r:embed="rId4"/>
          <a:stretch>
            <a:fillRect/>
          </a:stretch>
        </p:blipFill>
        <p:spPr>
          <a:xfrm>
            <a:off x="4667960" y="2301303"/>
            <a:ext cx="134549" cy="195707"/>
          </a:xfrm>
          <a:prstGeom prst="rect">
            <a:avLst/>
          </a:prstGeom>
        </p:spPr>
      </p:pic>
      <p:sp>
        <p:nvSpPr>
          <p:cNvPr id="49" name="TextBox 48"/>
          <p:cNvSpPr txBox="1"/>
          <p:nvPr/>
        </p:nvSpPr>
        <p:spPr>
          <a:xfrm>
            <a:off x="4843069" y="231152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4905221" y="2301303"/>
            <a:ext cx="134549" cy="195707"/>
          </a:xfrm>
          <a:prstGeom prst="rect">
            <a:avLst/>
          </a:prstGeom>
        </p:spPr>
      </p:pic>
      <p:sp>
        <p:nvSpPr>
          <p:cNvPr id="51" name="TextBox 50"/>
          <p:cNvSpPr txBox="1"/>
          <p:nvPr/>
        </p:nvSpPr>
        <p:spPr>
          <a:xfrm>
            <a:off x="5080330" y="2311527"/>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2" name="TextBox 51"/>
          <p:cNvSpPr txBox="1"/>
          <p:nvPr/>
        </p:nvSpPr>
        <p:spPr>
          <a:xfrm>
            <a:off x="6029325" y="1400175"/>
            <a:ext cx="1617712" cy="194310"/>
          </a:xfrm>
          <a:prstGeom prst="rect">
            <a:avLst/>
          </a:prstGeom>
          <a:noFill/>
        </p:spPr>
        <p:txBody>
          <a:bodyPr wrap="none" lIns="0" rIns="0" tIns="0" bIns="0">
            <a:spAutoFit/>
          </a:bodyPr>
          <a:lstStyle/>
          <a:p>
            <a:r>
              <a:rPr sz="1150" b="0">
                <a:solidFill>
                  <a:srgbClr val="2E2E2E"/>
                </a:solidFill>
                <a:latin typeface="Calibri"/>
              </a:rPr>
              <a:t>▪ 'Allergopharma GmbH &amp;</a:t>
            </a:r>
          </a:p>
        </p:txBody>
      </p:sp>
      <p:sp>
        <p:nvSpPr>
          <p:cNvPr id="53" name="TextBox 52"/>
          <p:cNvSpPr txBox="1"/>
          <p:nvPr/>
        </p:nvSpPr>
        <p:spPr>
          <a:xfrm>
            <a:off x="6029325" y="1575435"/>
            <a:ext cx="1221405" cy="194310"/>
          </a:xfrm>
          <a:prstGeom prst="rect">
            <a:avLst/>
          </a:prstGeom>
          <a:noFill/>
        </p:spPr>
        <p:txBody>
          <a:bodyPr wrap="none" lIns="0" rIns="0" tIns="0" bIns="0">
            <a:spAutoFit/>
          </a:bodyPr>
          <a:lstStyle/>
          <a:p>
            <a:r>
              <a:rPr sz="1150" b="0">
                <a:solidFill>
                  <a:srgbClr val="2E2E2E"/>
                </a:solidFill>
                <a:latin typeface="Calibri"/>
              </a:rPr>
              <a:t>Co. KG × Sublingual</a:t>
            </a:r>
          </a:p>
        </p:txBody>
      </p:sp>
      <p:sp>
        <p:nvSpPr>
          <p:cNvPr id="54" name="TextBox 53"/>
          <p:cNvSpPr txBox="1"/>
          <p:nvPr/>
        </p:nvSpPr>
        <p:spPr>
          <a:xfrm>
            <a:off x="6029325" y="1750695"/>
            <a:ext cx="1384944" cy="194310"/>
          </a:xfrm>
          <a:prstGeom prst="rect">
            <a:avLst/>
          </a:prstGeom>
          <a:noFill/>
        </p:spPr>
        <p:txBody>
          <a:bodyPr wrap="none" lIns="0" rIns="0" tIns="0" bIns="0">
            <a:spAutoFit/>
          </a:bodyPr>
          <a:lstStyle/>
          <a:p>
            <a:r>
              <a:rPr sz="1150" b="0">
                <a:solidFill>
                  <a:srgbClr val="2E2E2E"/>
                </a:solidFill>
                <a:latin typeface="Calibri"/>
              </a:rPr>
              <a:t>Immunotherapy' adds</a:t>
            </a:r>
          </a:p>
        </p:txBody>
      </p:sp>
      <p:pic>
        <p:nvPicPr>
          <p:cNvPr id="55" name="Picture 54" descr="lock.png"/>
          <p:cNvPicPr>
            <a:picLocks noChangeAspect="1"/>
          </p:cNvPicPr>
          <p:nvPr/>
        </p:nvPicPr>
        <p:blipFill>
          <a:blip r:embed="rId4"/>
          <a:stretch>
            <a:fillRect/>
          </a:stretch>
        </p:blipFill>
        <p:spPr>
          <a:xfrm>
            <a:off x="7363423" y="1740471"/>
            <a:ext cx="134549" cy="195707"/>
          </a:xfrm>
          <a:prstGeom prst="rect">
            <a:avLst/>
          </a:prstGeom>
        </p:spPr>
      </p:pic>
      <p:sp>
        <p:nvSpPr>
          <p:cNvPr id="56" name="TextBox 55"/>
          <p:cNvSpPr txBox="1"/>
          <p:nvPr/>
        </p:nvSpPr>
        <p:spPr>
          <a:xfrm>
            <a:off x="6029325" y="1925955"/>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57" name="Picture 56" descr="lock.png"/>
          <p:cNvPicPr>
            <a:picLocks noChangeAspect="1"/>
          </p:cNvPicPr>
          <p:nvPr/>
        </p:nvPicPr>
        <p:blipFill>
          <a:blip r:embed="rId4"/>
          <a:stretch>
            <a:fillRect/>
          </a:stretch>
        </p:blipFill>
        <p:spPr>
          <a:xfrm>
            <a:off x="7203111" y="1915731"/>
            <a:ext cx="134549" cy="195707"/>
          </a:xfrm>
          <a:prstGeom prst="rect">
            <a:avLst/>
          </a:prstGeom>
        </p:spPr>
      </p:pic>
      <p:sp>
        <p:nvSpPr>
          <p:cNvPr id="58" name="TextBox 57"/>
          <p:cNvSpPr txBox="1"/>
          <p:nvPr/>
        </p:nvSpPr>
        <p:spPr>
          <a:xfrm>
            <a:off x="7378220" y="1925955"/>
            <a:ext cx="197718" cy="194310"/>
          </a:xfrm>
          <a:prstGeom prst="rect">
            <a:avLst/>
          </a:prstGeom>
          <a:noFill/>
        </p:spPr>
        <p:txBody>
          <a:bodyPr wrap="none" lIns="0" rIns="0" tIns="0" bIns="0">
            <a:spAutoFit/>
          </a:bodyPr>
          <a:lstStyle/>
          <a:p>
            <a:r>
              <a:rPr sz="1150" b="0">
                <a:solidFill>
                  <a:srgbClr val="2E2E2E"/>
                </a:solidFill>
                <a:latin typeface="Calibri"/>
              </a:rPr>
              <a:t>of</a:t>
            </a:r>
          </a:p>
        </p:txBody>
      </p:sp>
      <p:sp>
        <p:nvSpPr>
          <p:cNvPr id="59" name="TextBox 58"/>
          <p:cNvSpPr txBox="1"/>
          <p:nvPr/>
        </p:nvSpPr>
        <p:spPr>
          <a:xfrm>
            <a:off x="6029325" y="2101215"/>
            <a:ext cx="1366403" cy="194310"/>
          </a:xfrm>
          <a:prstGeom prst="rect">
            <a:avLst/>
          </a:prstGeom>
          <a:noFill/>
        </p:spPr>
        <p:txBody>
          <a:bodyPr wrap="none" lIns="0" rIns="0" tIns="0" bIns="0">
            <a:spAutoFit/>
          </a:bodyPr>
          <a:lstStyle/>
          <a:p>
            <a:r>
              <a:rPr sz="1150" b="0">
                <a:solidFill>
                  <a:srgbClr val="2E2E2E"/>
                </a:solidFill>
                <a:latin typeface="Calibri"/>
              </a:rPr>
              <a:t>the total opportunity.</a:t>
            </a:r>
          </a:p>
        </p:txBody>
      </p:sp>
      <p:sp>
        <p:nvSpPr>
          <p:cNvPr id="60" name="TextBox 59"/>
          <p:cNvSpPr txBox="1"/>
          <p:nvPr/>
        </p:nvSpPr>
        <p:spPr>
          <a:xfrm>
            <a:off x="8124825" y="1400175"/>
            <a:ext cx="1657350" cy="194310"/>
          </a:xfrm>
          <a:prstGeom prst="rect">
            <a:avLst/>
          </a:prstGeom>
          <a:noFill/>
        </p:spPr>
        <p:txBody>
          <a:bodyPr wrap="none" lIns="0" rIns="0" tIns="0" bIns="0">
            <a:spAutoFit/>
          </a:bodyPr>
          <a:lstStyle/>
          <a:p>
            <a:r>
              <a:rPr sz="1150" b="0">
                <a:solidFill>
                  <a:srgbClr val="2E2E2E"/>
                </a:solidFill>
                <a:latin typeface="Calibri"/>
              </a:rPr>
              <a:t>▪ 'Allergy Therapeutics plc ×</a:t>
            </a:r>
          </a:p>
        </p:txBody>
      </p:sp>
      <p:sp>
        <p:nvSpPr>
          <p:cNvPr id="61" name="TextBox 60"/>
          <p:cNvSpPr txBox="1"/>
          <p:nvPr/>
        </p:nvSpPr>
        <p:spPr>
          <a:xfrm>
            <a:off x="8124825" y="1575435"/>
            <a:ext cx="1657350" cy="194310"/>
          </a:xfrm>
          <a:prstGeom prst="rect">
            <a:avLst/>
          </a:prstGeom>
          <a:noFill/>
        </p:spPr>
        <p:txBody>
          <a:bodyPr wrap="none" lIns="0" rIns="0" tIns="0" bIns="0">
            <a:spAutoFit/>
          </a:bodyPr>
          <a:lstStyle/>
          <a:p>
            <a:r>
              <a:rPr sz="1150" b="0">
                <a:solidFill>
                  <a:srgbClr val="2E2E2E"/>
                </a:solidFill>
                <a:latin typeface="Calibri"/>
              </a:rPr>
              <a:t>Sublingual Immunotherapy'</a:t>
            </a:r>
          </a:p>
        </p:txBody>
      </p:sp>
      <p:sp>
        <p:nvSpPr>
          <p:cNvPr id="62" name="TextBox 61"/>
          <p:cNvSpPr txBox="1"/>
          <p:nvPr/>
        </p:nvSpPr>
        <p:spPr>
          <a:xfrm>
            <a:off x="8124825" y="1750695"/>
            <a:ext cx="689495" cy="194310"/>
          </a:xfrm>
          <a:prstGeom prst="rect">
            <a:avLst/>
          </a:prstGeom>
          <a:noFill/>
        </p:spPr>
        <p:txBody>
          <a:bodyPr wrap="none" lIns="0" rIns="0" tIns="0" bIns="0">
            <a:spAutoFit/>
          </a:bodyPr>
          <a:lstStyle/>
          <a:p>
            <a:r>
              <a:rPr sz="1150" b="0">
                <a:solidFill>
                  <a:srgbClr val="2E2E2E"/>
                </a:solidFill>
                <a:latin typeface="Calibri"/>
              </a:rPr>
              <a:t>grows at a</a:t>
            </a:r>
          </a:p>
        </p:txBody>
      </p:sp>
      <p:pic>
        <p:nvPicPr>
          <p:cNvPr id="63" name="Picture 62" descr="lock.png"/>
          <p:cNvPicPr>
            <a:picLocks noChangeAspect="1"/>
          </p:cNvPicPr>
          <p:nvPr/>
        </p:nvPicPr>
        <p:blipFill>
          <a:blip r:embed="rId4"/>
          <a:stretch>
            <a:fillRect/>
          </a:stretch>
        </p:blipFill>
        <p:spPr>
          <a:xfrm>
            <a:off x="8763474" y="1740471"/>
            <a:ext cx="134549" cy="195707"/>
          </a:xfrm>
          <a:prstGeom prst="rect">
            <a:avLst/>
          </a:prstGeom>
        </p:spPr>
      </p:pic>
      <p:sp>
        <p:nvSpPr>
          <p:cNvPr id="64" name="TextBox 63"/>
          <p:cNvSpPr txBox="1"/>
          <p:nvPr/>
        </p:nvSpPr>
        <p:spPr>
          <a:xfrm>
            <a:off x="8938584" y="175069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5" name="Picture 64" descr="lock.png"/>
          <p:cNvPicPr>
            <a:picLocks noChangeAspect="1"/>
          </p:cNvPicPr>
          <p:nvPr/>
        </p:nvPicPr>
        <p:blipFill>
          <a:blip r:embed="rId4"/>
          <a:stretch>
            <a:fillRect/>
          </a:stretch>
        </p:blipFill>
        <p:spPr>
          <a:xfrm>
            <a:off x="9334179" y="1740471"/>
            <a:ext cx="134549" cy="195707"/>
          </a:xfrm>
          <a:prstGeom prst="rect">
            <a:avLst/>
          </a:prstGeom>
        </p:spPr>
      </p:pic>
      <p:sp>
        <p:nvSpPr>
          <p:cNvPr id="66" name="TextBox 65"/>
          <p:cNvSpPr txBox="1"/>
          <p:nvPr/>
        </p:nvSpPr>
        <p:spPr>
          <a:xfrm>
            <a:off x="8124825" y="1925955"/>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67" name="TextBox 66"/>
          <p:cNvSpPr txBox="1"/>
          <p:nvPr/>
        </p:nvSpPr>
        <p:spPr>
          <a:xfrm>
            <a:off x="8124825" y="2101215"/>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Company × Allergen Preparation Technology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Company × Allergen Preparation Technology,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company sub-segment across allergen preparation technology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Company × Allergen Preparation Technology, 2026E and 2036F (US$ Mn)</a:t>
            </a:r>
          </a:p>
        </p:txBody>
      </p:sp>
      <p:graphicFrame>
        <p:nvGraphicFramePr>
          <p:cNvPr id="13" name="Table 12"/>
          <p:cNvGraphicFramePr>
            <a:graphicFrameLocks noGrp="1"/>
          </p:cNvGraphicFramePr>
          <p:nvPr/>
        </p:nvGraphicFramePr>
        <p:xfrm>
          <a:off x="152400" y="1238250"/>
          <a:ext cx="11887199" cy="3400428"/>
        </p:xfrm>
        <a:graphic>
          <a:graphicData uri="http://schemas.openxmlformats.org/drawingml/2006/table">
            <a:tbl>
              <a:tblPr>
                <a:tableStyleId>{5C22544A-7EE6-4342-B048-85BDC9FD1C3A}</a:tableStyleId>
              </a:tblPr>
              <a:tblGrid>
                <a:gridCol w="4653631"/>
                <a:gridCol w="904196"/>
                <a:gridCol w="904196"/>
                <a:gridCol w="904196"/>
                <a:gridCol w="904196"/>
                <a:gridCol w="904196"/>
                <a:gridCol w="904196"/>
                <a:gridCol w="904196"/>
                <a:gridCol w="904196"/>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Native Allergen Extracts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Modified Allergen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Molecular Allergen</a:t>
                      </a:r>
                      <a:endParaRPr sz="1100"/>
                    </a:p>
                    <a:p>
                      <a:pPr algn="ctr"/>
                      <a:r>
                        <a:rPr sz="1100" b="1">
                          <a:solidFill>
                            <a:srgbClr val="0B2E4A"/>
                          </a:solidFill>
                          <a:latin typeface="Calibri"/>
                        </a:rPr>
                        <a:t>Preparations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93">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793">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648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8236125" y="3014616"/>
            <a:ext cx="366712" cy="533400"/>
          </a:xfrm>
          <a:prstGeom prst="rect">
            <a:avLst/>
          </a:prstGeom>
        </p:spPr>
      </p:pic>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Company × Allergen Preparation Technology,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company sub-segment across allergen preparation technology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Company → Allergen Preparation Technology, 2036F (US$ Mn)</a:t>
            </a:r>
          </a:p>
        </p:txBody>
      </p:sp>
      <p:sp>
        <p:nvSpPr>
          <p:cNvPr id="12" name="Freeform 11"/>
          <p:cNvSpPr/>
          <p:nvPr/>
        </p:nvSpPr>
        <p:spPr>
          <a:xfrm>
            <a:off x="2057400" y="1304925"/>
            <a:ext cx="3743325" cy="400050"/>
          </a:xfrm>
          <a:custGeom>
            <a:avLst/>
            <a:gdLst/>
            <a:ahLst/>
            <a:cxnLst/>
            <a:rect l="l" t="t" r="r" b="b"/>
            <a:pathLst>
              <a:path w="393" h="42">
                <a:moveTo>
                  <a:pt x="0" y="0"/>
                </a:moveTo>
                <a:lnTo>
                  <a:pt x="16" y="0"/>
                </a:lnTo>
                <a:lnTo>
                  <a:pt x="33" y="0"/>
                </a:lnTo>
                <a:lnTo>
                  <a:pt x="49" y="1"/>
                </a:lnTo>
                <a:lnTo>
                  <a:pt x="65" y="2"/>
                </a:lnTo>
                <a:lnTo>
                  <a:pt x="82" y="2"/>
                </a:lnTo>
                <a:lnTo>
                  <a:pt x="98" y="3"/>
                </a:lnTo>
                <a:lnTo>
                  <a:pt x="114" y="4"/>
                </a:lnTo>
                <a:lnTo>
                  <a:pt x="131" y="5"/>
                </a:lnTo>
                <a:lnTo>
                  <a:pt x="147" y="7"/>
                </a:lnTo>
                <a:lnTo>
                  <a:pt x="164" y="8"/>
                </a:lnTo>
                <a:lnTo>
                  <a:pt x="180" y="9"/>
                </a:lnTo>
                <a:lnTo>
                  <a:pt x="196" y="11"/>
                </a:lnTo>
                <a:lnTo>
                  <a:pt x="213" y="12"/>
                </a:lnTo>
                <a:lnTo>
                  <a:pt x="229" y="13"/>
                </a:lnTo>
                <a:lnTo>
                  <a:pt x="246" y="14"/>
                </a:lnTo>
                <a:lnTo>
                  <a:pt x="262" y="16"/>
                </a:lnTo>
                <a:lnTo>
                  <a:pt x="278" y="17"/>
                </a:lnTo>
                <a:lnTo>
                  <a:pt x="295" y="18"/>
                </a:lnTo>
                <a:lnTo>
                  <a:pt x="311" y="19"/>
                </a:lnTo>
                <a:lnTo>
                  <a:pt x="327" y="19"/>
                </a:lnTo>
                <a:lnTo>
                  <a:pt x="344" y="20"/>
                </a:lnTo>
                <a:lnTo>
                  <a:pt x="360" y="21"/>
                </a:lnTo>
                <a:lnTo>
                  <a:pt x="377" y="21"/>
                </a:lnTo>
                <a:lnTo>
                  <a:pt x="393" y="21"/>
                </a:lnTo>
                <a:lnTo>
                  <a:pt x="393" y="42"/>
                </a:lnTo>
                <a:lnTo>
                  <a:pt x="377" y="42"/>
                </a:lnTo>
                <a:lnTo>
                  <a:pt x="360" y="42"/>
                </a:lnTo>
                <a:lnTo>
                  <a:pt x="344" y="41"/>
                </a:lnTo>
                <a:lnTo>
                  <a:pt x="327" y="40"/>
                </a:lnTo>
                <a:lnTo>
                  <a:pt x="311" y="40"/>
                </a:lnTo>
                <a:lnTo>
                  <a:pt x="295" y="39"/>
                </a:lnTo>
                <a:lnTo>
                  <a:pt x="278" y="38"/>
                </a:lnTo>
                <a:lnTo>
                  <a:pt x="262" y="36"/>
                </a:lnTo>
                <a:lnTo>
                  <a:pt x="246" y="35"/>
                </a:lnTo>
                <a:lnTo>
                  <a:pt x="229" y="34"/>
                </a:lnTo>
                <a:lnTo>
                  <a:pt x="213" y="33"/>
                </a:lnTo>
                <a:lnTo>
                  <a:pt x="196" y="31"/>
                </a:lnTo>
                <a:lnTo>
                  <a:pt x="180" y="30"/>
                </a:lnTo>
                <a:lnTo>
                  <a:pt x="164" y="29"/>
                </a:lnTo>
                <a:lnTo>
                  <a:pt x="147" y="28"/>
                </a:lnTo>
                <a:lnTo>
                  <a:pt x="131" y="26"/>
                </a:lnTo>
                <a:lnTo>
                  <a:pt x="114" y="25"/>
                </a:lnTo>
                <a:lnTo>
                  <a:pt x="98" y="24"/>
                </a:lnTo>
                <a:lnTo>
                  <a:pt x="82" y="23"/>
                </a:lnTo>
                <a:lnTo>
                  <a:pt x="65" y="22"/>
                </a:lnTo>
                <a:lnTo>
                  <a:pt x="49" y="22"/>
                </a:lnTo>
                <a:lnTo>
                  <a:pt x="33" y="21"/>
                </a:lnTo>
                <a:lnTo>
                  <a:pt x="16" y="21"/>
                </a:lnTo>
                <a:lnTo>
                  <a:pt x="0" y="2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504950"/>
            <a:ext cx="3743325" cy="2105025"/>
          </a:xfrm>
          <a:custGeom>
            <a:avLst/>
            <a:gdLst/>
            <a:ahLst/>
            <a:cxnLst/>
            <a:rect l="l" t="t" r="r" b="b"/>
            <a:pathLst>
              <a:path w="393" h="221">
                <a:moveTo>
                  <a:pt x="0" y="0"/>
                </a:moveTo>
                <a:lnTo>
                  <a:pt x="16" y="1"/>
                </a:lnTo>
                <a:lnTo>
                  <a:pt x="33" y="4"/>
                </a:lnTo>
                <a:lnTo>
                  <a:pt x="49" y="9"/>
                </a:lnTo>
                <a:lnTo>
                  <a:pt x="65" y="15"/>
                </a:lnTo>
                <a:lnTo>
                  <a:pt x="82" y="23"/>
                </a:lnTo>
                <a:lnTo>
                  <a:pt x="98" y="32"/>
                </a:lnTo>
                <a:lnTo>
                  <a:pt x="114" y="42"/>
                </a:lnTo>
                <a:lnTo>
                  <a:pt x="131" y="53"/>
                </a:lnTo>
                <a:lnTo>
                  <a:pt x="147" y="65"/>
                </a:lnTo>
                <a:lnTo>
                  <a:pt x="164" y="77"/>
                </a:lnTo>
                <a:lnTo>
                  <a:pt x="180" y="89"/>
                </a:lnTo>
                <a:lnTo>
                  <a:pt x="196" y="102"/>
                </a:lnTo>
                <a:lnTo>
                  <a:pt x="213" y="115"/>
                </a:lnTo>
                <a:lnTo>
                  <a:pt x="229" y="127"/>
                </a:lnTo>
                <a:lnTo>
                  <a:pt x="246" y="139"/>
                </a:lnTo>
                <a:lnTo>
                  <a:pt x="262" y="151"/>
                </a:lnTo>
                <a:lnTo>
                  <a:pt x="278" y="162"/>
                </a:lnTo>
                <a:lnTo>
                  <a:pt x="295" y="172"/>
                </a:lnTo>
                <a:lnTo>
                  <a:pt x="311" y="181"/>
                </a:lnTo>
                <a:lnTo>
                  <a:pt x="327" y="189"/>
                </a:lnTo>
                <a:lnTo>
                  <a:pt x="344" y="195"/>
                </a:lnTo>
                <a:lnTo>
                  <a:pt x="360" y="200"/>
                </a:lnTo>
                <a:lnTo>
                  <a:pt x="377" y="203"/>
                </a:lnTo>
                <a:lnTo>
                  <a:pt x="393" y="204"/>
                </a:lnTo>
                <a:lnTo>
                  <a:pt x="393" y="221"/>
                </a:lnTo>
                <a:lnTo>
                  <a:pt x="377" y="220"/>
                </a:lnTo>
                <a:lnTo>
                  <a:pt x="360" y="217"/>
                </a:lnTo>
                <a:lnTo>
                  <a:pt x="344" y="212"/>
                </a:lnTo>
                <a:lnTo>
                  <a:pt x="327" y="206"/>
                </a:lnTo>
                <a:lnTo>
                  <a:pt x="311" y="198"/>
                </a:lnTo>
                <a:lnTo>
                  <a:pt x="295" y="189"/>
                </a:lnTo>
                <a:lnTo>
                  <a:pt x="278" y="179"/>
                </a:lnTo>
                <a:lnTo>
                  <a:pt x="262" y="168"/>
                </a:lnTo>
                <a:lnTo>
                  <a:pt x="246" y="157"/>
                </a:lnTo>
                <a:lnTo>
                  <a:pt x="229" y="144"/>
                </a:lnTo>
                <a:lnTo>
                  <a:pt x="213" y="132"/>
                </a:lnTo>
                <a:lnTo>
                  <a:pt x="196" y="119"/>
                </a:lnTo>
                <a:lnTo>
                  <a:pt x="180" y="106"/>
                </a:lnTo>
                <a:lnTo>
                  <a:pt x="164" y="94"/>
                </a:lnTo>
                <a:lnTo>
                  <a:pt x="147" y="82"/>
                </a:lnTo>
                <a:lnTo>
                  <a:pt x="131" y="70"/>
                </a:lnTo>
                <a:lnTo>
                  <a:pt x="114" y="59"/>
                </a:lnTo>
                <a:lnTo>
                  <a:pt x="98" y="49"/>
                </a:lnTo>
                <a:lnTo>
                  <a:pt x="82" y="40"/>
                </a:lnTo>
                <a:lnTo>
                  <a:pt x="65" y="32"/>
                </a:lnTo>
                <a:lnTo>
                  <a:pt x="49" y="26"/>
                </a:lnTo>
                <a:lnTo>
                  <a:pt x="33" y="21"/>
                </a:lnTo>
                <a:lnTo>
                  <a:pt x="16" y="18"/>
                </a:lnTo>
                <a:lnTo>
                  <a:pt x="0" y="17"/>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1666875"/>
            <a:ext cx="3743325" cy="3686175"/>
          </a:xfrm>
          <a:custGeom>
            <a:avLst/>
            <a:gdLst/>
            <a:ahLst/>
            <a:cxnLst/>
            <a:rect l="l" t="t" r="r" b="b"/>
            <a:pathLst>
              <a:path w="393" h="387">
                <a:moveTo>
                  <a:pt x="0" y="0"/>
                </a:moveTo>
                <a:lnTo>
                  <a:pt x="16" y="2"/>
                </a:lnTo>
                <a:lnTo>
                  <a:pt x="33" y="7"/>
                </a:lnTo>
                <a:lnTo>
                  <a:pt x="49" y="16"/>
                </a:lnTo>
                <a:lnTo>
                  <a:pt x="65" y="28"/>
                </a:lnTo>
                <a:lnTo>
                  <a:pt x="82" y="42"/>
                </a:lnTo>
                <a:lnTo>
                  <a:pt x="98" y="59"/>
                </a:lnTo>
                <a:lnTo>
                  <a:pt x="114" y="77"/>
                </a:lnTo>
                <a:lnTo>
                  <a:pt x="131" y="97"/>
                </a:lnTo>
                <a:lnTo>
                  <a:pt x="147" y="119"/>
                </a:lnTo>
                <a:lnTo>
                  <a:pt x="164" y="141"/>
                </a:lnTo>
                <a:lnTo>
                  <a:pt x="180" y="164"/>
                </a:lnTo>
                <a:lnTo>
                  <a:pt x="196" y="188"/>
                </a:lnTo>
                <a:lnTo>
                  <a:pt x="213" y="211"/>
                </a:lnTo>
                <a:lnTo>
                  <a:pt x="229" y="234"/>
                </a:lnTo>
                <a:lnTo>
                  <a:pt x="246" y="257"/>
                </a:lnTo>
                <a:lnTo>
                  <a:pt x="262" y="278"/>
                </a:lnTo>
                <a:lnTo>
                  <a:pt x="278" y="298"/>
                </a:lnTo>
                <a:lnTo>
                  <a:pt x="295" y="317"/>
                </a:lnTo>
                <a:lnTo>
                  <a:pt x="311" y="333"/>
                </a:lnTo>
                <a:lnTo>
                  <a:pt x="327" y="348"/>
                </a:lnTo>
                <a:lnTo>
                  <a:pt x="344" y="359"/>
                </a:lnTo>
                <a:lnTo>
                  <a:pt x="360" y="368"/>
                </a:lnTo>
                <a:lnTo>
                  <a:pt x="377" y="374"/>
                </a:lnTo>
                <a:lnTo>
                  <a:pt x="393" y="376"/>
                </a:lnTo>
                <a:lnTo>
                  <a:pt x="393" y="387"/>
                </a:lnTo>
                <a:lnTo>
                  <a:pt x="377" y="385"/>
                </a:lnTo>
                <a:lnTo>
                  <a:pt x="360" y="380"/>
                </a:lnTo>
                <a:lnTo>
                  <a:pt x="344" y="371"/>
                </a:lnTo>
                <a:lnTo>
                  <a:pt x="327" y="359"/>
                </a:lnTo>
                <a:lnTo>
                  <a:pt x="311" y="345"/>
                </a:lnTo>
                <a:lnTo>
                  <a:pt x="295" y="328"/>
                </a:lnTo>
                <a:lnTo>
                  <a:pt x="278" y="310"/>
                </a:lnTo>
                <a:lnTo>
                  <a:pt x="262" y="290"/>
                </a:lnTo>
                <a:lnTo>
                  <a:pt x="246" y="268"/>
                </a:lnTo>
                <a:lnTo>
                  <a:pt x="229" y="246"/>
                </a:lnTo>
                <a:lnTo>
                  <a:pt x="213" y="223"/>
                </a:lnTo>
                <a:lnTo>
                  <a:pt x="196" y="199"/>
                </a:lnTo>
                <a:lnTo>
                  <a:pt x="180" y="176"/>
                </a:lnTo>
                <a:lnTo>
                  <a:pt x="164" y="153"/>
                </a:lnTo>
                <a:lnTo>
                  <a:pt x="147" y="130"/>
                </a:lnTo>
                <a:lnTo>
                  <a:pt x="131" y="109"/>
                </a:lnTo>
                <a:lnTo>
                  <a:pt x="114" y="89"/>
                </a:lnTo>
                <a:lnTo>
                  <a:pt x="98" y="70"/>
                </a:lnTo>
                <a:lnTo>
                  <a:pt x="82" y="54"/>
                </a:lnTo>
                <a:lnTo>
                  <a:pt x="65" y="39"/>
                </a:lnTo>
                <a:lnTo>
                  <a:pt x="49" y="28"/>
                </a:lnTo>
                <a:lnTo>
                  <a:pt x="33" y="19"/>
                </a:lnTo>
                <a:lnTo>
                  <a:pt x="16" y="13"/>
                </a:lnTo>
                <a:lnTo>
                  <a:pt x="0" y="1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1704975"/>
            <a:ext cx="3743325" cy="285750"/>
          </a:xfrm>
          <a:custGeom>
            <a:avLst/>
            <a:gdLst/>
            <a:ahLst/>
            <a:cxnLst/>
            <a:rect l="l" t="t" r="r" b="b"/>
            <a:pathLst>
              <a:path w="393" h="30">
                <a:moveTo>
                  <a:pt x="0" y="14"/>
                </a:moveTo>
                <a:lnTo>
                  <a:pt x="16" y="13"/>
                </a:lnTo>
                <a:lnTo>
                  <a:pt x="33" y="13"/>
                </a:lnTo>
                <a:lnTo>
                  <a:pt x="49" y="13"/>
                </a:lnTo>
                <a:lnTo>
                  <a:pt x="65" y="12"/>
                </a:lnTo>
                <a:lnTo>
                  <a:pt x="82" y="12"/>
                </a:lnTo>
                <a:lnTo>
                  <a:pt x="98" y="11"/>
                </a:lnTo>
                <a:lnTo>
                  <a:pt x="114" y="11"/>
                </a:lnTo>
                <a:lnTo>
                  <a:pt x="131" y="10"/>
                </a:lnTo>
                <a:lnTo>
                  <a:pt x="147" y="9"/>
                </a:lnTo>
                <a:lnTo>
                  <a:pt x="164" y="8"/>
                </a:lnTo>
                <a:lnTo>
                  <a:pt x="180" y="8"/>
                </a:lnTo>
                <a:lnTo>
                  <a:pt x="196" y="7"/>
                </a:lnTo>
                <a:lnTo>
                  <a:pt x="213" y="6"/>
                </a:lnTo>
                <a:lnTo>
                  <a:pt x="229" y="5"/>
                </a:lnTo>
                <a:lnTo>
                  <a:pt x="246" y="4"/>
                </a:lnTo>
                <a:lnTo>
                  <a:pt x="262" y="3"/>
                </a:lnTo>
                <a:lnTo>
                  <a:pt x="278" y="3"/>
                </a:lnTo>
                <a:lnTo>
                  <a:pt x="295" y="2"/>
                </a:lnTo>
                <a:lnTo>
                  <a:pt x="311" y="1"/>
                </a:lnTo>
                <a:lnTo>
                  <a:pt x="327" y="1"/>
                </a:lnTo>
                <a:lnTo>
                  <a:pt x="344" y="1"/>
                </a:lnTo>
                <a:lnTo>
                  <a:pt x="360" y="0"/>
                </a:lnTo>
                <a:lnTo>
                  <a:pt x="377" y="0"/>
                </a:lnTo>
                <a:lnTo>
                  <a:pt x="393" y="0"/>
                </a:lnTo>
                <a:lnTo>
                  <a:pt x="393" y="17"/>
                </a:lnTo>
                <a:lnTo>
                  <a:pt x="377" y="17"/>
                </a:lnTo>
                <a:lnTo>
                  <a:pt x="360" y="17"/>
                </a:lnTo>
                <a:lnTo>
                  <a:pt x="344" y="17"/>
                </a:lnTo>
                <a:lnTo>
                  <a:pt x="327" y="18"/>
                </a:lnTo>
                <a:lnTo>
                  <a:pt x="311" y="18"/>
                </a:lnTo>
                <a:lnTo>
                  <a:pt x="295" y="19"/>
                </a:lnTo>
                <a:lnTo>
                  <a:pt x="278" y="20"/>
                </a:lnTo>
                <a:lnTo>
                  <a:pt x="262" y="20"/>
                </a:lnTo>
                <a:lnTo>
                  <a:pt x="246" y="21"/>
                </a:lnTo>
                <a:lnTo>
                  <a:pt x="229" y="22"/>
                </a:lnTo>
                <a:lnTo>
                  <a:pt x="213" y="23"/>
                </a:lnTo>
                <a:lnTo>
                  <a:pt x="196" y="24"/>
                </a:lnTo>
                <a:lnTo>
                  <a:pt x="180" y="24"/>
                </a:lnTo>
                <a:lnTo>
                  <a:pt x="164" y="25"/>
                </a:lnTo>
                <a:lnTo>
                  <a:pt x="147" y="26"/>
                </a:lnTo>
                <a:lnTo>
                  <a:pt x="131" y="27"/>
                </a:lnTo>
                <a:lnTo>
                  <a:pt x="114" y="28"/>
                </a:lnTo>
                <a:lnTo>
                  <a:pt x="98" y="28"/>
                </a:lnTo>
                <a:lnTo>
                  <a:pt x="82" y="29"/>
                </a:lnTo>
                <a:lnTo>
                  <a:pt x="65" y="29"/>
                </a:lnTo>
                <a:lnTo>
                  <a:pt x="49" y="30"/>
                </a:lnTo>
                <a:lnTo>
                  <a:pt x="33" y="30"/>
                </a:lnTo>
                <a:lnTo>
                  <a:pt x="16" y="30"/>
                </a:lnTo>
                <a:lnTo>
                  <a:pt x="0" y="3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1990725"/>
            <a:ext cx="3743325" cy="1819275"/>
          </a:xfrm>
          <a:custGeom>
            <a:avLst/>
            <a:gdLst/>
            <a:ahLst/>
            <a:cxnLst/>
            <a:rect l="l" t="t" r="r" b="b"/>
            <a:pathLst>
              <a:path w="393" h="191">
                <a:moveTo>
                  <a:pt x="0" y="0"/>
                </a:moveTo>
                <a:lnTo>
                  <a:pt x="16" y="1"/>
                </a:lnTo>
                <a:lnTo>
                  <a:pt x="33" y="4"/>
                </a:lnTo>
                <a:lnTo>
                  <a:pt x="49" y="8"/>
                </a:lnTo>
                <a:lnTo>
                  <a:pt x="65" y="13"/>
                </a:lnTo>
                <a:lnTo>
                  <a:pt x="82" y="19"/>
                </a:lnTo>
                <a:lnTo>
                  <a:pt x="98" y="27"/>
                </a:lnTo>
                <a:lnTo>
                  <a:pt x="114" y="35"/>
                </a:lnTo>
                <a:lnTo>
                  <a:pt x="131" y="44"/>
                </a:lnTo>
                <a:lnTo>
                  <a:pt x="147" y="54"/>
                </a:lnTo>
                <a:lnTo>
                  <a:pt x="164" y="64"/>
                </a:lnTo>
                <a:lnTo>
                  <a:pt x="180" y="75"/>
                </a:lnTo>
                <a:lnTo>
                  <a:pt x="196" y="85"/>
                </a:lnTo>
                <a:lnTo>
                  <a:pt x="213" y="96"/>
                </a:lnTo>
                <a:lnTo>
                  <a:pt x="229" y="106"/>
                </a:lnTo>
                <a:lnTo>
                  <a:pt x="246" y="116"/>
                </a:lnTo>
                <a:lnTo>
                  <a:pt x="262" y="126"/>
                </a:lnTo>
                <a:lnTo>
                  <a:pt x="278" y="135"/>
                </a:lnTo>
                <a:lnTo>
                  <a:pt x="295" y="144"/>
                </a:lnTo>
                <a:lnTo>
                  <a:pt x="311" y="151"/>
                </a:lnTo>
                <a:lnTo>
                  <a:pt x="327" y="158"/>
                </a:lnTo>
                <a:lnTo>
                  <a:pt x="344" y="163"/>
                </a:lnTo>
                <a:lnTo>
                  <a:pt x="360" y="167"/>
                </a:lnTo>
                <a:lnTo>
                  <a:pt x="377" y="169"/>
                </a:lnTo>
                <a:lnTo>
                  <a:pt x="393" y="170"/>
                </a:lnTo>
                <a:lnTo>
                  <a:pt x="393" y="191"/>
                </a:lnTo>
                <a:lnTo>
                  <a:pt x="377" y="190"/>
                </a:lnTo>
                <a:lnTo>
                  <a:pt x="360" y="187"/>
                </a:lnTo>
                <a:lnTo>
                  <a:pt x="344" y="183"/>
                </a:lnTo>
                <a:lnTo>
                  <a:pt x="327" y="178"/>
                </a:lnTo>
                <a:lnTo>
                  <a:pt x="311" y="172"/>
                </a:lnTo>
                <a:lnTo>
                  <a:pt x="295" y="164"/>
                </a:lnTo>
                <a:lnTo>
                  <a:pt x="278" y="156"/>
                </a:lnTo>
                <a:lnTo>
                  <a:pt x="262" y="147"/>
                </a:lnTo>
                <a:lnTo>
                  <a:pt x="246" y="137"/>
                </a:lnTo>
                <a:lnTo>
                  <a:pt x="229" y="127"/>
                </a:lnTo>
                <a:lnTo>
                  <a:pt x="213" y="116"/>
                </a:lnTo>
                <a:lnTo>
                  <a:pt x="196" y="106"/>
                </a:lnTo>
                <a:lnTo>
                  <a:pt x="180" y="95"/>
                </a:lnTo>
                <a:lnTo>
                  <a:pt x="164" y="85"/>
                </a:lnTo>
                <a:lnTo>
                  <a:pt x="147" y="75"/>
                </a:lnTo>
                <a:lnTo>
                  <a:pt x="131" y="65"/>
                </a:lnTo>
                <a:lnTo>
                  <a:pt x="114" y="56"/>
                </a:lnTo>
                <a:lnTo>
                  <a:pt x="98" y="47"/>
                </a:lnTo>
                <a:lnTo>
                  <a:pt x="82" y="40"/>
                </a:lnTo>
                <a:lnTo>
                  <a:pt x="65" y="33"/>
                </a:lnTo>
                <a:lnTo>
                  <a:pt x="49" y="28"/>
                </a:lnTo>
                <a:lnTo>
                  <a:pt x="33" y="24"/>
                </a:lnTo>
                <a:lnTo>
                  <a:pt x="16" y="22"/>
                </a:lnTo>
                <a:lnTo>
                  <a:pt x="0" y="2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2190750"/>
            <a:ext cx="3743325" cy="3276600"/>
          </a:xfrm>
          <a:custGeom>
            <a:avLst/>
            <a:gdLst/>
            <a:ahLst/>
            <a:cxnLst/>
            <a:rect l="l" t="t" r="r" b="b"/>
            <a:pathLst>
              <a:path w="393" h="344">
                <a:moveTo>
                  <a:pt x="0" y="0"/>
                </a:moveTo>
                <a:lnTo>
                  <a:pt x="16" y="2"/>
                </a:lnTo>
                <a:lnTo>
                  <a:pt x="33" y="6"/>
                </a:lnTo>
                <a:lnTo>
                  <a:pt x="49" y="14"/>
                </a:lnTo>
                <a:lnTo>
                  <a:pt x="65" y="24"/>
                </a:lnTo>
                <a:lnTo>
                  <a:pt x="82" y="37"/>
                </a:lnTo>
                <a:lnTo>
                  <a:pt x="98" y="52"/>
                </a:lnTo>
                <a:lnTo>
                  <a:pt x="114" y="68"/>
                </a:lnTo>
                <a:lnTo>
                  <a:pt x="131" y="86"/>
                </a:lnTo>
                <a:lnTo>
                  <a:pt x="147" y="105"/>
                </a:lnTo>
                <a:lnTo>
                  <a:pt x="164" y="125"/>
                </a:lnTo>
                <a:lnTo>
                  <a:pt x="180" y="145"/>
                </a:lnTo>
                <a:lnTo>
                  <a:pt x="196" y="166"/>
                </a:lnTo>
                <a:lnTo>
                  <a:pt x="213" y="187"/>
                </a:lnTo>
                <a:lnTo>
                  <a:pt x="229" y="207"/>
                </a:lnTo>
                <a:lnTo>
                  <a:pt x="246" y="227"/>
                </a:lnTo>
                <a:lnTo>
                  <a:pt x="262" y="246"/>
                </a:lnTo>
                <a:lnTo>
                  <a:pt x="278" y="264"/>
                </a:lnTo>
                <a:lnTo>
                  <a:pt x="295" y="280"/>
                </a:lnTo>
                <a:lnTo>
                  <a:pt x="311" y="295"/>
                </a:lnTo>
                <a:lnTo>
                  <a:pt x="327" y="307"/>
                </a:lnTo>
                <a:lnTo>
                  <a:pt x="344" y="318"/>
                </a:lnTo>
                <a:lnTo>
                  <a:pt x="360" y="325"/>
                </a:lnTo>
                <a:lnTo>
                  <a:pt x="377" y="330"/>
                </a:lnTo>
                <a:lnTo>
                  <a:pt x="393" y="332"/>
                </a:lnTo>
                <a:lnTo>
                  <a:pt x="393" y="344"/>
                </a:lnTo>
                <a:lnTo>
                  <a:pt x="377" y="342"/>
                </a:lnTo>
                <a:lnTo>
                  <a:pt x="360" y="338"/>
                </a:lnTo>
                <a:lnTo>
                  <a:pt x="344" y="330"/>
                </a:lnTo>
                <a:lnTo>
                  <a:pt x="327" y="319"/>
                </a:lnTo>
                <a:lnTo>
                  <a:pt x="311" y="307"/>
                </a:lnTo>
                <a:lnTo>
                  <a:pt x="295" y="292"/>
                </a:lnTo>
                <a:lnTo>
                  <a:pt x="278" y="276"/>
                </a:lnTo>
                <a:lnTo>
                  <a:pt x="262" y="258"/>
                </a:lnTo>
                <a:lnTo>
                  <a:pt x="246" y="239"/>
                </a:lnTo>
                <a:lnTo>
                  <a:pt x="229" y="219"/>
                </a:lnTo>
                <a:lnTo>
                  <a:pt x="213" y="199"/>
                </a:lnTo>
                <a:lnTo>
                  <a:pt x="196" y="178"/>
                </a:lnTo>
                <a:lnTo>
                  <a:pt x="180" y="157"/>
                </a:lnTo>
                <a:lnTo>
                  <a:pt x="164" y="137"/>
                </a:lnTo>
                <a:lnTo>
                  <a:pt x="147" y="117"/>
                </a:lnTo>
                <a:lnTo>
                  <a:pt x="131" y="98"/>
                </a:lnTo>
                <a:lnTo>
                  <a:pt x="114" y="80"/>
                </a:lnTo>
                <a:lnTo>
                  <a:pt x="98" y="64"/>
                </a:lnTo>
                <a:lnTo>
                  <a:pt x="82" y="49"/>
                </a:lnTo>
                <a:lnTo>
                  <a:pt x="65" y="37"/>
                </a:lnTo>
                <a:lnTo>
                  <a:pt x="49" y="26"/>
                </a:lnTo>
                <a:lnTo>
                  <a:pt x="33" y="19"/>
                </a:lnTo>
                <a:lnTo>
                  <a:pt x="16" y="14"/>
                </a:lnTo>
                <a:lnTo>
                  <a:pt x="0" y="1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1866900"/>
            <a:ext cx="3743325" cy="695325"/>
          </a:xfrm>
          <a:custGeom>
            <a:avLst/>
            <a:gdLst/>
            <a:ahLst/>
            <a:cxnLst/>
            <a:rect l="l" t="t" r="r" b="b"/>
            <a:pathLst>
              <a:path w="393" h="73">
                <a:moveTo>
                  <a:pt x="0" y="52"/>
                </a:moveTo>
                <a:lnTo>
                  <a:pt x="16" y="52"/>
                </a:lnTo>
                <a:lnTo>
                  <a:pt x="33" y="51"/>
                </a:lnTo>
                <a:lnTo>
                  <a:pt x="49" y="50"/>
                </a:lnTo>
                <a:lnTo>
                  <a:pt x="65" y="48"/>
                </a:lnTo>
                <a:lnTo>
                  <a:pt x="82" y="46"/>
                </a:lnTo>
                <a:lnTo>
                  <a:pt x="98" y="44"/>
                </a:lnTo>
                <a:lnTo>
                  <a:pt x="114" y="41"/>
                </a:lnTo>
                <a:lnTo>
                  <a:pt x="131" y="38"/>
                </a:lnTo>
                <a:lnTo>
                  <a:pt x="147" y="35"/>
                </a:lnTo>
                <a:lnTo>
                  <a:pt x="164" y="32"/>
                </a:lnTo>
                <a:lnTo>
                  <a:pt x="180" y="29"/>
                </a:lnTo>
                <a:lnTo>
                  <a:pt x="196" y="26"/>
                </a:lnTo>
                <a:lnTo>
                  <a:pt x="213" y="23"/>
                </a:lnTo>
                <a:lnTo>
                  <a:pt x="229" y="19"/>
                </a:lnTo>
                <a:lnTo>
                  <a:pt x="246" y="16"/>
                </a:lnTo>
                <a:lnTo>
                  <a:pt x="262" y="13"/>
                </a:lnTo>
                <a:lnTo>
                  <a:pt x="278" y="11"/>
                </a:lnTo>
                <a:lnTo>
                  <a:pt x="295" y="8"/>
                </a:lnTo>
                <a:lnTo>
                  <a:pt x="311" y="6"/>
                </a:lnTo>
                <a:lnTo>
                  <a:pt x="327" y="4"/>
                </a:lnTo>
                <a:lnTo>
                  <a:pt x="344" y="2"/>
                </a:lnTo>
                <a:lnTo>
                  <a:pt x="360" y="1"/>
                </a:lnTo>
                <a:lnTo>
                  <a:pt x="377" y="0"/>
                </a:lnTo>
                <a:lnTo>
                  <a:pt x="393" y="0"/>
                </a:lnTo>
                <a:lnTo>
                  <a:pt x="393" y="21"/>
                </a:lnTo>
                <a:lnTo>
                  <a:pt x="377" y="21"/>
                </a:lnTo>
                <a:lnTo>
                  <a:pt x="360" y="22"/>
                </a:lnTo>
                <a:lnTo>
                  <a:pt x="344" y="23"/>
                </a:lnTo>
                <a:lnTo>
                  <a:pt x="327" y="24"/>
                </a:lnTo>
                <a:lnTo>
                  <a:pt x="311" y="26"/>
                </a:lnTo>
                <a:lnTo>
                  <a:pt x="295" y="29"/>
                </a:lnTo>
                <a:lnTo>
                  <a:pt x="278" y="31"/>
                </a:lnTo>
                <a:lnTo>
                  <a:pt x="262" y="34"/>
                </a:lnTo>
                <a:lnTo>
                  <a:pt x="246" y="37"/>
                </a:lnTo>
                <a:lnTo>
                  <a:pt x="229" y="40"/>
                </a:lnTo>
                <a:lnTo>
                  <a:pt x="213" y="43"/>
                </a:lnTo>
                <a:lnTo>
                  <a:pt x="196" y="47"/>
                </a:lnTo>
                <a:lnTo>
                  <a:pt x="180" y="50"/>
                </a:lnTo>
                <a:lnTo>
                  <a:pt x="164" y="53"/>
                </a:lnTo>
                <a:lnTo>
                  <a:pt x="147" y="56"/>
                </a:lnTo>
                <a:lnTo>
                  <a:pt x="131" y="59"/>
                </a:lnTo>
                <a:lnTo>
                  <a:pt x="114" y="62"/>
                </a:lnTo>
                <a:lnTo>
                  <a:pt x="98" y="65"/>
                </a:lnTo>
                <a:lnTo>
                  <a:pt x="82" y="67"/>
                </a:lnTo>
                <a:lnTo>
                  <a:pt x="65" y="69"/>
                </a:lnTo>
                <a:lnTo>
                  <a:pt x="49" y="71"/>
                </a:lnTo>
                <a:lnTo>
                  <a:pt x="33" y="72"/>
                </a:lnTo>
                <a:lnTo>
                  <a:pt x="16" y="73"/>
                </a:lnTo>
                <a:lnTo>
                  <a:pt x="0" y="7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2562225"/>
            <a:ext cx="3743325" cy="1409700"/>
          </a:xfrm>
          <a:custGeom>
            <a:avLst/>
            <a:gdLst/>
            <a:ahLst/>
            <a:cxnLst/>
            <a:rect l="l" t="t" r="r" b="b"/>
            <a:pathLst>
              <a:path w="393" h="148">
                <a:moveTo>
                  <a:pt x="0" y="0"/>
                </a:moveTo>
                <a:lnTo>
                  <a:pt x="16" y="0"/>
                </a:lnTo>
                <a:lnTo>
                  <a:pt x="33" y="2"/>
                </a:lnTo>
                <a:lnTo>
                  <a:pt x="49" y="5"/>
                </a:lnTo>
                <a:lnTo>
                  <a:pt x="65" y="9"/>
                </a:lnTo>
                <a:lnTo>
                  <a:pt x="82" y="14"/>
                </a:lnTo>
                <a:lnTo>
                  <a:pt x="98" y="20"/>
                </a:lnTo>
                <a:lnTo>
                  <a:pt x="114" y="27"/>
                </a:lnTo>
                <a:lnTo>
                  <a:pt x="131" y="34"/>
                </a:lnTo>
                <a:lnTo>
                  <a:pt x="147" y="41"/>
                </a:lnTo>
                <a:lnTo>
                  <a:pt x="164" y="49"/>
                </a:lnTo>
                <a:lnTo>
                  <a:pt x="180" y="57"/>
                </a:lnTo>
                <a:lnTo>
                  <a:pt x="196" y="65"/>
                </a:lnTo>
                <a:lnTo>
                  <a:pt x="213" y="73"/>
                </a:lnTo>
                <a:lnTo>
                  <a:pt x="229" y="81"/>
                </a:lnTo>
                <a:lnTo>
                  <a:pt x="246" y="89"/>
                </a:lnTo>
                <a:lnTo>
                  <a:pt x="262" y="97"/>
                </a:lnTo>
                <a:lnTo>
                  <a:pt x="278" y="104"/>
                </a:lnTo>
                <a:lnTo>
                  <a:pt x="295" y="110"/>
                </a:lnTo>
                <a:lnTo>
                  <a:pt x="311" y="116"/>
                </a:lnTo>
                <a:lnTo>
                  <a:pt x="327" y="121"/>
                </a:lnTo>
                <a:lnTo>
                  <a:pt x="344" y="125"/>
                </a:lnTo>
                <a:lnTo>
                  <a:pt x="360" y="128"/>
                </a:lnTo>
                <a:lnTo>
                  <a:pt x="377" y="130"/>
                </a:lnTo>
                <a:lnTo>
                  <a:pt x="393" y="131"/>
                </a:lnTo>
                <a:lnTo>
                  <a:pt x="393" y="148"/>
                </a:lnTo>
                <a:lnTo>
                  <a:pt x="377" y="147"/>
                </a:lnTo>
                <a:lnTo>
                  <a:pt x="360" y="146"/>
                </a:lnTo>
                <a:lnTo>
                  <a:pt x="344" y="142"/>
                </a:lnTo>
                <a:lnTo>
                  <a:pt x="327" y="138"/>
                </a:lnTo>
                <a:lnTo>
                  <a:pt x="311" y="133"/>
                </a:lnTo>
                <a:lnTo>
                  <a:pt x="295" y="128"/>
                </a:lnTo>
                <a:lnTo>
                  <a:pt x="278" y="121"/>
                </a:lnTo>
                <a:lnTo>
                  <a:pt x="262" y="114"/>
                </a:lnTo>
                <a:lnTo>
                  <a:pt x="246" y="107"/>
                </a:lnTo>
                <a:lnTo>
                  <a:pt x="229" y="99"/>
                </a:lnTo>
                <a:lnTo>
                  <a:pt x="213" y="91"/>
                </a:lnTo>
                <a:lnTo>
                  <a:pt x="196" y="83"/>
                </a:lnTo>
                <a:lnTo>
                  <a:pt x="180" y="75"/>
                </a:lnTo>
                <a:lnTo>
                  <a:pt x="164" y="66"/>
                </a:lnTo>
                <a:lnTo>
                  <a:pt x="147" y="59"/>
                </a:lnTo>
                <a:lnTo>
                  <a:pt x="131" y="51"/>
                </a:lnTo>
                <a:lnTo>
                  <a:pt x="114" y="44"/>
                </a:lnTo>
                <a:lnTo>
                  <a:pt x="98" y="38"/>
                </a:lnTo>
                <a:lnTo>
                  <a:pt x="82" y="32"/>
                </a:lnTo>
                <a:lnTo>
                  <a:pt x="65" y="27"/>
                </a:lnTo>
                <a:lnTo>
                  <a:pt x="49" y="23"/>
                </a:lnTo>
                <a:lnTo>
                  <a:pt x="33" y="20"/>
                </a:lnTo>
                <a:lnTo>
                  <a:pt x="16" y="18"/>
                </a:lnTo>
                <a:lnTo>
                  <a:pt x="0" y="1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2724150"/>
            <a:ext cx="3743325" cy="2847975"/>
          </a:xfrm>
          <a:custGeom>
            <a:avLst/>
            <a:gdLst/>
            <a:ahLst/>
            <a:cxnLst/>
            <a:rect l="l" t="t" r="r" b="b"/>
            <a:pathLst>
              <a:path w="393" h="299">
                <a:moveTo>
                  <a:pt x="0" y="0"/>
                </a:moveTo>
                <a:lnTo>
                  <a:pt x="16" y="2"/>
                </a:lnTo>
                <a:lnTo>
                  <a:pt x="33" y="6"/>
                </a:lnTo>
                <a:lnTo>
                  <a:pt x="49" y="13"/>
                </a:lnTo>
                <a:lnTo>
                  <a:pt x="65" y="22"/>
                </a:lnTo>
                <a:lnTo>
                  <a:pt x="82" y="33"/>
                </a:lnTo>
                <a:lnTo>
                  <a:pt x="98" y="45"/>
                </a:lnTo>
                <a:lnTo>
                  <a:pt x="114" y="59"/>
                </a:lnTo>
                <a:lnTo>
                  <a:pt x="131" y="75"/>
                </a:lnTo>
                <a:lnTo>
                  <a:pt x="147" y="91"/>
                </a:lnTo>
                <a:lnTo>
                  <a:pt x="164" y="109"/>
                </a:lnTo>
                <a:lnTo>
                  <a:pt x="180" y="126"/>
                </a:lnTo>
                <a:lnTo>
                  <a:pt x="196" y="144"/>
                </a:lnTo>
                <a:lnTo>
                  <a:pt x="213" y="162"/>
                </a:lnTo>
                <a:lnTo>
                  <a:pt x="229" y="180"/>
                </a:lnTo>
                <a:lnTo>
                  <a:pt x="246" y="197"/>
                </a:lnTo>
                <a:lnTo>
                  <a:pt x="262" y="213"/>
                </a:lnTo>
                <a:lnTo>
                  <a:pt x="278" y="229"/>
                </a:lnTo>
                <a:lnTo>
                  <a:pt x="295" y="243"/>
                </a:lnTo>
                <a:lnTo>
                  <a:pt x="311" y="256"/>
                </a:lnTo>
                <a:lnTo>
                  <a:pt x="327" y="267"/>
                </a:lnTo>
                <a:lnTo>
                  <a:pt x="344" y="276"/>
                </a:lnTo>
                <a:lnTo>
                  <a:pt x="360" y="282"/>
                </a:lnTo>
                <a:lnTo>
                  <a:pt x="377" y="287"/>
                </a:lnTo>
                <a:lnTo>
                  <a:pt x="393" y="288"/>
                </a:lnTo>
                <a:lnTo>
                  <a:pt x="393" y="299"/>
                </a:lnTo>
                <a:lnTo>
                  <a:pt x="377" y="298"/>
                </a:lnTo>
                <a:lnTo>
                  <a:pt x="360" y="294"/>
                </a:lnTo>
                <a:lnTo>
                  <a:pt x="344" y="287"/>
                </a:lnTo>
                <a:lnTo>
                  <a:pt x="327" y="278"/>
                </a:lnTo>
                <a:lnTo>
                  <a:pt x="311" y="267"/>
                </a:lnTo>
                <a:lnTo>
                  <a:pt x="295" y="254"/>
                </a:lnTo>
                <a:lnTo>
                  <a:pt x="278" y="240"/>
                </a:lnTo>
                <a:lnTo>
                  <a:pt x="262" y="225"/>
                </a:lnTo>
                <a:lnTo>
                  <a:pt x="246" y="208"/>
                </a:lnTo>
                <a:lnTo>
                  <a:pt x="229" y="191"/>
                </a:lnTo>
                <a:lnTo>
                  <a:pt x="213" y="173"/>
                </a:lnTo>
                <a:lnTo>
                  <a:pt x="196" y="155"/>
                </a:lnTo>
                <a:lnTo>
                  <a:pt x="180" y="137"/>
                </a:lnTo>
                <a:lnTo>
                  <a:pt x="164" y="120"/>
                </a:lnTo>
                <a:lnTo>
                  <a:pt x="147" y="103"/>
                </a:lnTo>
                <a:lnTo>
                  <a:pt x="131" y="86"/>
                </a:lnTo>
                <a:lnTo>
                  <a:pt x="114" y="71"/>
                </a:lnTo>
                <a:lnTo>
                  <a:pt x="98" y="56"/>
                </a:lnTo>
                <a:lnTo>
                  <a:pt x="82" y="44"/>
                </a:lnTo>
                <a:lnTo>
                  <a:pt x="65" y="33"/>
                </a:lnTo>
                <a:lnTo>
                  <a:pt x="49" y="24"/>
                </a:lnTo>
                <a:lnTo>
                  <a:pt x="33" y="17"/>
                </a:lnTo>
                <a:lnTo>
                  <a:pt x="16" y="13"/>
                </a:lnTo>
                <a:lnTo>
                  <a:pt x="0" y="1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066925"/>
            <a:ext cx="3743325" cy="1009650"/>
          </a:xfrm>
          <a:custGeom>
            <a:avLst/>
            <a:gdLst/>
            <a:ahLst/>
            <a:cxnLst/>
            <a:rect l="l" t="t" r="r" b="b"/>
            <a:pathLst>
              <a:path w="393" h="106">
                <a:moveTo>
                  <a:pt x="0" y="87"/>
                </a:moveTo>
                <a:lnTo>
                  <a:pt x="16" y="86"/>
                </a:lnTo>
                <a:lnTo>
                  <a:pt x="33" y="85"/>
                </a:lnTo>
                <a:lnTo>
                  <a:pt x="49" y="83"/>
                </a:lnTo>
                <a:lnTo>
                  <a:pt x="65" y="80"/>
                </a:lnTo>
                <a:lnTo>
                  <a:pt x="82" y="77"/>
                </a:lnTo>
                <a:lnTo>
                  <a:pt x="98" y="73"/>
                </a:lnTo>
                <a:lnTo>
                  <a:pt x="114" y="69"/>
                </a:lnTo>
                <a:lnTo>
                  <a:pt x="131" y="64"/>
                </a:lnTo>
                <a:lnTo>
                  <a:pt x="147" y="59"/>
                </a:lnTo>
                <a:lnTo>
                  <a:pt x="164" y="54"/>
                </a:lnTo>
                <a:lnTo>
                  <a:pt x="180" y="48"/>
                </a:lnTo>
                <a:lnTo>
                  <a:pt x="196" y="43"/>
                </a:lnTo>
                <a:lnTo>
                  <a:pt x="213" y="38"/>
                </a:lnTo>
                <a:lnTo>
                  <a:pt x="229" y="32"/>
                </a:lnTo>
                <a:lnTo>
                  <a:pt x="246" y="27"/>
                </a:lnTo>
                <a:lnTo>
                  <a:pt x="262" y="22"/>
                </a:lnTo>
                <a:lnTo>
                  <a:pt x="278" y="17"/>
                </a:lnTo>
                <a:lnTo>
                  <a:pt x="295" y="13"/>
                </a:lnTo>
                <a:lnTo>
                  <a:pt x="311" y="9"/>
                </a:lnTo>
                <a:lnTo>
                  <a:pt x="327" y="6"/>
                </a:lnTo>
                <a:lnTo>
                  <a:pt x="344" y="3"/>
                </a:lnTo>
                <a:lnTo>
                  <a:pt x="360" y="1"/>
                </a:lnTo>
                <a:lnTo>
                  <a:pt x="377" y="0"/>
                </a:lnTo>
                <a:lnTo>
                  <a:pt x="393" y="0"/>
                </a:lnTo>
                <a:lnTo>
                  <a:pt x="393" y="19"/>
                </a:lnTo>
                <a:lnTo>
                  <a:pt x="377" y="20"/>
                </a:lnTo>
                <a:lnTo>
                  <a:pt x="360" y="21"/>
                </a:lnTo>
                <a:lnTo>
                  <a:pt x="344" y="23"/>
                </a:lnTo>
                <a:lnTo>
                  <a:pt x="327" y="26"/>
                </a:lnTo>
                <a:lnTo>
                  <a:pt x="311" y="29"/>
                </a:lnTo>
                <a:lnTo>
                  <a:pt x="295" y="33"/>
                </a:lnTo>
                <a:lnTo>
                  <a:pt x="278" y="37"/>
                </a:lnTo>
                <a:lnTo>
                  <a:pt x="262" y="42"/>
                </a:lnTo>
                <a:lnTo>
                  <a:pt x="246" y="47"/>
                </a:lnTo>
                <a:lnTo>
                  <a:pt x="229" y="52"/>
                </a:lnTo>
                <a:lnTo>
                  <a:pt x="213" y="57"/>
                </a:lnTo>
                <a:lnTo>
                  <a:pt x="196" y="63"/>
                </a:lnTo>
                <a:lnTo>
                  <a:pt x="180" y="68"/>
                </a:lnTo>
                <a:lnTo>
                  <a:pt x="164" y="73"/>
                </a:lnTo>
                <a:lnTo>
                  <a:pt x="147" y="79"/>
                </a:lnTo>
                <a:lnTo>
                  <a:pt x="131" y="83"/>
                </a:lnTo>
                <a:lnTo>
                  <a:pt x="114" y="88"/>
                </a:lnTo>
                <a:lnTo>
                  <a:pt x="98" y="92"/>
                </a:lnTo>
                <a:lnTo>
                  <a:pt x="82" y="96"/>
                </a:lnTo>
                <a:lnTo>
                  <a:pt x="65" y="100"/>
                </a:lnTo>
                <a:lnTo>
                  <a:pt x="49" y="102"/>
                </a:lnTo>
                <a:lnTo>
                  <a:pt x="33" y="104"/>
                </a:lnTo>
                <a:lnTo>
                  <a:pt x="16" y="106"/>
                </a:lnTo>
                <a:lnTo>
                  <a:pt x="0" y="106"/>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3076575"/>
            <a:ext cx="3743325" cy="1066800"/>
          </a:xfrm>
          <a:custGeom>
            <a:avLst/>
            <a:gdLst/>
            <a:ahLst/>
            <a:cxnLst/>
            <a:rect l="l" t="t" r="r" b="b"/>
            <a:pathLst>
              <a:path w="393" h="112">
                <a:moveTo>
                  <a:pt x="0" y="0"/>
                </a:moveTo>
                <a:lnTo>
                  <a:pt x="16" y="0"/>
                </a:lnTo>
                <a:lnTo>
                  <a:pt x="33" y="2"/>
                </a:lnTo>
                <a:lnTo>
                  <a:pt x="49" y="4"/>
                </a:lnTo>
                <a:lnTo>
                  <a:pt x="65" y="7"/>
                </a:lnTo>
                <a:lnTo>
                  <a:pt x="82" y="11"/>
                </a:lnTo>
                <a:lnTo>
                  <a:pt x="98" y="15"/>
                </a:lnTo>
                <a:lnTo>
                  <a:pt x="114" y="19"/>
                </a:lnTo>
                <a:lnTo>
                  <a:pt x="131" y="24"/>
                </a:lnTo>
                <a:lnTo>
                  <a:pt x="147" y="30"/>
                </a:lnTo>
                <a:lnTo>
                  <a:pt x="164" y="35"/>
                </a:lnTo>
                <a:lnTo>
                  <a:pt x="180" y="41"/>
                </a:lnTo>
                <a:lnTo>
                  <a:pt x="196" y="47"/>
                </a:lnTo>
                <a:lnTo>
                  <a:pt x="213" y="53"/>
                </a:lnTo>
                <a:lnTo>
                  <a:pt x="229" y="59"/>
                </a:lnTo>
                <a:lnTo>
                  <a:pt x="246" y="64"/>
                </a:lnTo>
                <a:lnTo>
                  <a:pt x="262" y="70"/>
                </a:lnTo>
                <a:lnTo>
                  <a:pt x="278" y="75"/>
                </a:lnTo>
                <a:lnTo>
                  <a:pt x="295" y="79"/>
                </a:lnTo>
                <a:lnTo>
                  <a:pt x="311" y="84"/>
                </a:lnTo>
                <a:lnTo>
                  <a:pt x="327" y="87"/>
                </a:lnTo>
                <a:lnTo>
                  <a:pt x="344" y="90"/>
                </a:lnTo>
                <a:lnTo>
                  <a:pt x="360" y="92"/>
                </a:lnTo>
                <a:lnTo>
                  <a:pt x="377" y="94"/>
                </a:lnTo>
                <a:lnTo>
                  <a:pt x="393" y="94"/>
                </a:lnTo>
                <a:lnTo>
                  <a:pt x="393" y="112"/>
                </a:lnTo>
                <a:lnTo>
                  <a:pt x="377" y="112"/>
                </a:lnTo>
                <a:lnTo>
                  <a:pt x="360" y="110"/>
                </a:lnTo>
                <a:lnTo>
                  <a:pt x="344" y="108"/>
                </a:lnTo>
                <a:lnTo>
                  <a:pt x="327" y="105"/>
                </a:lnTo>
                <a:lnTo>
                  <a:pt x="311" y="101"/>
                </a:lnTo>
                <a:lnTo>
                  <a:pt x="295" y="97"/>
                </a:lnTo>
                <a:lnTo>
                  <a:pt x="278" y="93"/>
                </a:lnTo>
                <a:lnTo>
                  <a:pt x="262" y="88"/>
                </a:lnTo>
                <a:lnTo>
                  <a:pt x="246" y="82"/>
                </a:lnTo>
                <a:lnTo>
                  <a:pt x="229" y="77"/>
                </a:lnTo>
                <a:lnTo>
                  <a:pt x="213" y="71"/>
                </a:lnTo>
                <a:lnTo>
                  <a:pt x="196" y="65"/>
                </a:lnTo>
                <a:lnTo>
                  <a:pt x="180" y="59"/>
                </a:lnTo>
                <a:lnTo>
                  <a:pt x="164" y="53"/>
                </a:lnTo>
                <a:lnTo>
                  <a:pt x="147" y="48"/>
                </a:lnTo>
                <a:lnTo>
                  <a:pt x="131" y="42"/>
                </a:lnTo>
                <a:lnTo>
                  <a:pt x="114" y="37"/>
                </a:lnTo>
                <a:lnTo>
                  <a:pt x="98" y="33"/>
                </a:lnTo>
                <a:lnTo>
                  <a:pt x="82" y="28"/>
                </a:lnTo>
                <a:lnTo>
                  <a:pt x="65" y="25"/>
                </a:lnTo>
                <a:lnTo>
                  <a:pt x="49" y="22"/>
                </a:lnTo>
                <a:lnTo>
                  <a:pt x="33" y="20"/>
                </a:lnTo>
                <a:lnTo>
                  <a:pt x="16" y="18"/>
                </a:lnTo>
                <a:lnTo>
                  <a:pt x="0" y="1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3248025"/>
            <a:ext cx="3743325" cy="2438400"/>
          </a:xfrm>
          <a:custGeom>
            <a:avLst/>
            <a:gdLst/>
            <a:ahLst/>
            <a:cxnLst/>
            <a:rect l="l" t="t" r="r" b="b"/>
            <a:pathLst>
              <a:path w="393" h="256">
                <a:moveTo>
                  <a:pt x="0" y="0"/>
                </a:moveTo>
                <a:lnTo>
                  <a:pt x="16" y="1"/>
                </a:lnTo>
                <a:lnTo>
                  <a:pt x="33" y="5"/>
                </a:lnTo>
                <a:lnTo>
                  <a:pt x="49" y="10"/>
                </a:lnTo>
                <a:lnTo>
                  <a:pt x="65" y="18"/>
                </a:lnTo>
                <a:lnTo>
                  <a:pt x="82" y="27"/>
                </a:lnTo>
                <a:lnTo>
                  <a:pt x="98" y="38"/>
                </a:lnTo>
                <a:lnTo>
                  <a:pt x="114" y="50"/>
                </a:lnTo>
                <a:lnTo>
                  <a:pt x="131" y="63"/>
                </a:lnTo>
                <a:lnTo>
                  <a:pt x="147" y="77"/>
                </a:lnTo>
                <a:lnTo>
                  <a:pt x="164" y="92"/>
                </a:lnTo>
                <a:lnTo>
                  <a:pt x="180" y="107"/>
                </a:lnTo>
                <a:lnTo>
                  <a:pt x="196" y="122"/>
                </a:lnTo>
                <a:lnTo>
                  <a:pt x="213" y="137"/>
                </a:lnTo>
                <a:lnTo>
                  <a:pt x="229" y="152"/>
                </a:lnTo>
                <a:lnTo>
                  <a:pt x="246" y="167"/>
                </a:lnTo>
                <a:lnTo>
                  <a:pt x="262" y="181"/>
                </a:lnTo>
                <a:lnTo>
                  <a:pt x="278" y="194"/>
                </a:lnTo>
                <a:lnTo>
                  <a:pt x="295" y="206"/>
                </a:lnTo>
                <a:lnTo>
                  <a:pt x="311" y="217"/>
                </a:lnTo>
                <a:lnTo>
                  <a:pt x="327" y="226"/>
                </a:lnTo>
                <a:lnTo>
                  <a:pt x="344" y="234"/>
                </a:lnTo>
                <a:lnTo>
                  <a:pt x="360" y="240"/>
                </a:lnTo>
                <a:lnTo>
                  <a:pt x="377" y="243"/>
                </a:lnTo>
                <a:lnTo>
                  <a:pt x="393" y="244"/>
                </a:lnTo>
                <a:lnTo>
                  <a:pt x="393" y="256"/>
                </a:lnTo>
                <a:lnTo>
                  <a:pt x="377" y="255"/>
                </a:lnTo>
                <a:lnTo>
                  <a:pt x="360" y="252"/>
                </a:lnTo>
                <a:lnTo>
                  <a:pt x="344" y="246"/>
                </a:lnTo>
                <a:lnTo>
                  <a:pt x="327" y="238"/>
                </a:lnTo>
                <a:lnTo>
                  <a:pt x="311" y="229"/>
                </a:lnTo>
                <a:lnTo>
                  <a:pt x="295" y="218"/>
                </a:lnTo>
                <a:lnTo>
                  <a:pt x="278" y="206"/>
                </a:lnTo>
                <a:lnTo>
                  <a:pt x="262" y="193"/>
                </a:lnTo>
                <a:lnTo>
                  <a:pt x="246" y="179"/>
                </a:lnTo>
                <a:lnTo>
                  <a:pt x="229" y="164"/>
                </a:lnTo>
                <a:lnTo>
                  <a:pt x="213" y="149"/>
                </a:lnTo>
                <a:lnTo>
                  <a:pt x="196" y="134"/>
                </a:lnTo>
                <a:lnTo>
                  <a:pt x="180" y="119"/>
                </a:lnTo>
                <a:lnTo>
                  <a:pt x="164" y="104"/>
                </a:lnTo>
                <a:lnTo>
                  <a:pt x="147" y="89"/>
                </a:lnTo>
                <a:lnTo>
                  <a:pt x="131" y="75"/>
                </a:lnTo>
                <a:lnTo>
                  <a:pt x="114" y="62"/>
                </a:lnTo>
                <a:lnTo>
                  <a:pt x="98" y="50"/>
                </a:lnTo>
                <a:lnTo>
                  <a:pt x="82" y="39"/>
                </a:lnTo>
                <a:lnTo>
                  <a:pt x="65" y="30"/>
                </a:lnTo>
                <a:lnTo>
                  <a:pt x="49" y="23"/>
                </a:lnTo>
                <a:lnTo>
                  <a:pt x="33" y="17"/>
                </a:lnTo>
                <a:lnTo>
                  <a:pt x="16" y="13"/>
                </a:lnTo>
                <a:lnTo>
                  <a:pt x="0" y="1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2247900"/>
            <a:ext cx="3743325" cy="1352550"/>
          </a:xfrm>
          <a:custGeom>
            <a:avLst/>
            <a:gdLst/>
            <a:ahLst/>
            <a:cxnLst/>
            <a:rect l="l" t="t" r="r" b="b"/>
            <a:pathLst>
              <a:path w="393" h="142">
                <a:moveTo>
                  <a:pt x="0" y="123"/>
                </a:moveTo>
                <a:lnTo>
                  <a:pt x="16" y="122"/>
                </a:lnTo>
                <a:lnTo>
                  <a:pt x="33" y="121"/>
                </a:lnTo>
                <a:lnTo>
                  <a:pt x="49" y="118"/>
                </a:lnTo>
                <a:lnTo>
                  <a:pt x="65" y="114"/>
                </a:lnTo>
                <a:lnTo>
                  <a:pt x="82" y="109"/>
                </a:lnTo>
                <a:lnTo>
                  <a:pt x="98" y="104"/>
                </a:lnTo>
                <a:lnTo>
                  <a:pt x="114" y="98"/>
                </a:lnTo>
                <a:lnTo>
                  <a:pt x="131" y="91"/>
                </a:lnTo>
                <a:lnTo>
                  <a:pt x="147" y="84"/>
                </a:lnTo>
                <a:lnTo>
                  <a:pt x="164" y="77"/>
                </a:lnTo>
                <a:lnTo>
                  <a:pt x="180" y="69"/>
                </a:lnTo>
                <a:lnTo>
                  <a:pt x="196" y="62"/>
                </a:lnTo>
                <a:lnTo>
                  <a:pt x="213" y="54"/>
                </a:lnTo>
                <a:lnTo>
                  <a:pt x="229" y="46"/>
                </a:lnTo>
                <a:lnTo>
                  <a:pt x="246" y="39"/>
                </a:lnTo>
                <a:lnTo>
                  <a:pt x="262" y="32"/>
                </a:lnTo>
                <a:lnTo>
                  <a:pt x="278" y="25"/>
                </a:lnTo>
                <a:lnTo>
                  <a:pt x="295" y="19"/>
                </a:lnTo>
                <a:lnTo>
                  <a:pt x="311" y="14"/>
                </a:lnTo>
                <a:lnTo>
                  <a:pt x="327" y="9"/>
                </a:lnTo>
                <a:lnTo>
                  <a:pt x="344" y="5"/>
                </a:lnTo>
                <a:lnTo>
                  <a:pt x="360" y="3"/>
                </a:lnTo>
                <a:lnTo>
                  <a:pt x="377" y="1"/>
                </a:lnTo>
                <a:lnTo>
                  <a:pt x="393" y="0"/>
                </a:lnTo>
                <a:lnTo>
                  <a:pt x="393" y="19"/>
                </a:lnTo>
                <a:lnTo>
                  <a:pt x="377" y="20"/>
                </a:lnTo>
                <a:lnTo>
                  <a:pt x="360" y="22"/>
                </a:lnTo>
                <a:lnTo>
                  <a:pt x="344" y="25"/>
                </a:lnTo>
                <a:lnTo>
                  <a:pt x="327" y="28"/>
                </a:lnTo>
                <a:lnTo>
                  <a:pt x="311" y="33"/>
                </a:lnTo>
                <a:lnTo>
                  <a:pt x="295" y="39"/>
                </a:lnTo>
                <a:lnTo>
                  <a:pt x="278" y="45"/>
                </a:lnTo>
                <a:lnTo>
                  <a:pt x="262" y="51"/>
                </a:lnTo>
                <a:lnTo>
                  <a:pt x="246" y="58"/>
                </a:lnTo>
                <a:lnTo>
                  <a:pt x="229" y="66"/>
                </a:lnTo>
                <a:lnTo>
                  <a:pt x="213" y="73"/>
                </a:lnTo>
                <a:lnTo>
                  <a:pt x="196" y="81"/>
                </a:lnTo>
                <a:lnTo>
                  <a:pt x="180" y="88"/>
                </a:lnTo>
                <a:lnTo>
                  <a:pt x="164" y="96"/>
                </a:lnTo>
                <a:lnTo>
                  <a:pt x="147" y="103"/>
                </a:lnTo>
                <a:lnTo>
                  <a:pt x="131" y="110"/>
                </a:lnTo>
                <a:lnTo>
                  <a:pt x="114" y="117"/>
                </a:lnTo>
                <a:lnTo>
                  <a:pt x="98" y="123"/>
                </a:lnTo>
                <a:lnTo>
                  <a:pt x="82" y="128"/>
                </a:lnTo>
                <a:lnTo>
                  <a:pt x="65" y="133"/>
                </a:lnTo>
                <a:lnTo>
                  <a:pt x="49" y="137"/>
                </a:lnTo>
                <a:lnTo>
                  <a:pt x="33" y="140"/>
                </a:lnTo>
                <a:lnTo>
                  <a:pt x="16" y="142"/>
                </a:lnTo>
                <a:lnTo>
                  <a:pt x="0" y="14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3600450"/>
            <a:ext cx="3743325" cy="723900"/>
          </a:xfrm>
          <a:custGeom>
            <a:avLst/>
            <a:gdLst/>
            <a:ahLst/>
            <a:cxnLst/>
            <a:rect l="l" t="t" r="r" b="b"/>
            <a:pathLst>
              <a:path w="393" h="76">
                <a:moveTo>
                  <a:pt x="0" y="0"/>
                </a:moveTo>
                <a:lnTo>
                  <a:pt x="16" y="1"/>
                </a:lnTo>
                <a:lnTo>
                  <a:pt x="33" y="1"/>
                </a:lnTo>
                <a:lnTo>
                  <a:pt x="49" y="3"/>
                </a:lnTo>
                <a:lnTo>
                  <a:pt x="65" y="4"/>
                </a:lnTo>
                <a:lnTo>
                  <a:pt x="82" y="7"/>
                </a:lnTo>
                <a:lnTo>
                  <a:pt x="98" y="9"/>
                </a:lnTo>
                <a:lnTo>
                  <a:pt x="114" y="12"/>
                </a:lnTo>
                <a:lnTo>
                  <a:pt x="131" y="15"/>
                </a:lnTo>
                <a:lnTo>
                  <a:pt x="147" y="18"/>
                </a:lnTo>
                <a:lnTo>
                  <a:pt x="164" y="22"/>
                </a:lnTo>
                <a:lnTo>
                  <a:pt x="180" y="25"/>
                </a:lnTo>
                <a:lnTo>
                  <a:pt x="196" y="29"/>
                </a:lnTo>
                <a:lnTo>
                  <a:pt x="213" y="32"/>
                </a:lnTo>
                <a:lnTo>
                  <a:pt x="229" y="36"/>
                </a:lnTo>
                <a:lnTo>
                  <a:pt x="246" y="39"/>
                </a:lnTo>
                <a:lnTo>
                  <a:pt x="262" y="42"/>
                </a:lnTo>
                <a:lnTo>
                  <a:pt x="278" y="45"/>
                </a:lnTo>
                <a:lnTo>
                  <a:pt x="295" y="48"/>
                </a:lnTo>
                <a:lnTo>
                  <a:pt x="311" y="51"/>
                </a:lnTo>
                <a:lnTo>
                  <a:pt x="327" y="53"/>
                </a:lnTo>
                <a:lnTo>
                  <a:pt x="344" y="55"/>
                </a:lnTo>
                <a:lnTo>
                  <a:pt x="360" y="56"/>
                </a:lnTo>
                <a:lnTo>
                  <a:pt x="377" y="57"/>
                </a:lnTo>
                <a:lnTo>
                  <a:pt x="393" y="57"/>
                </a:lnTo>
                <a:lnTo>
                  <a:pt x="393" y="76"/>
                </a:lnTo>
                <a:lnTo>
                  <a:pt x="377" y="75"/>
                </a:lnTo>
                <a:lnTo>
                  <a:pt x="360" y="75"/>
                </a:lnTo>
                <a:lnTo>
                  <a:pt x="344" y="73"/>
                </a:lnTo>
                <a:lnTo>
                  <a:pt x="327" y="72"/>
                </a:lnTo>
                <a:lnTo>
                  <a:pt x="311" y="69"/>
                </a:lnTo>
                <a:lnTo>
                  <a:pt x="295" y="67"/>
                </a:lnTo>
                <a:lnTo>
                  <a:pt x="278" y="64"/>
                </a:lnTo>
                <a:lnTo>
                  <a:pt x="262" y="61"/>
                </a:lnTo>
                <a:lnTo>
                  <a:pt x="246" y="58"/>
                </a:lnTo>
                <a:lnTo>
                  <a:pt x="229" y="54"/>
                </a:lnTo>
                <a:lnTo>
                  <a:pt x="213" y="51"/>
                </a:lnTo>
                <a:lnTo>
                  <a:pt x="196" y="47"/>
                </a:lnTo>
                <a:lnTo>
                  <a:pt x="180" y="44"/>
                </a:lnTo>
                <a:lnTo>
                  <a:pt x="164" y="40"/>
                </a:lnTo>
                <a:lnTo>
                  <a:pt x="147" y="37"/>
                </a:lnTo>
                <a:lnTo>
                  <a:pt x="131" y="34"/>
                </a:lnTo>
                <a:lnTo>
                  <a:pt x="114" y="31"/>
                </a:lnTo>
                <a:lnTo>
                  <a:pt x="98" y="28"/>
                </a:lnTo>
                <a:lnTo>
                  <a:pt x="82" y="25"/>
                </a:lnTo>
                <a:lnTo>
                  <a:pt x="65" y="23"/>
                </a:lnTo>
                <a:lnTo>
                  <a:pt x="49" y="21"/>
                </a:lnTo>
                <a:lnTo>
                  <a:pt x="33" y="20"/>
                </a:lnTo>
                <a:lnTo>
                  <a:pt x="16" y="19"/>
                </a:lnTo>
                <a:lnTo>
                  <a:pt x="0" y="19"/>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3781425"/>
            <a:ext cx="3743325" cy="2019300"/>
          </a:xfrm>
          <a:custGeom>
            <a:avLst/>
            <a:gdLst/>
            <a:ahLst/>
            <a:cxnLst/>
            <a:rect l="l" t="t" r="r" b="b"/>
            <a:pathLst>
              <a:path w="393" h="212">
                <a:moveTo>
                  <a:pt x="0" y="0"/>
                </a:moveTo>
                <a:lnTo>
                  <a:pt x="16" y="1"/>
                </a:lnTo>
                <a:lnTo>
                  <a:pt x="33" y="4"/>
                </a:lnTo>
                <a:lnTo>
                  <a:pt x="49" y="9"/>
                </a:lnTo>
                <a:lnTo>
                  <a:pt x="65" y="15"/>
                </a:lnTo>
                <a:lnTo>
                  <a:pt x="82" y="22"/>
                </a:lnTo>
                <a:lnTo>
                  <a:pt x="98" y="31"/>
                </a:lnTo>
                <a:lnTo>
                  <a:pt x="114" y="41"/>
                </a:lnTo>
                <a:lnTo>
                  <a:pt x="131" y="52"/>
                </a:lnTo>
                <a:lnTo>
                  <a:pt x="147" y="63"/>
                </a:lnTo>
                <a:lnTo>
                  <a:pt x="164" y="75"/>
                </a:lnTo>
                <a:lnTo>
                  <a:pt x="180" y="88"/>
                </a:lnTo>
                <a:lnTo>
                  <a:pt x="196" y="100"/>
                </a:lnTo>
                <a:lnTo>
                  <a:pt x="213" y="113"/>
                </a:lnTo>
                <a:lnTo>
                  <a:pt x="229" y="125"/>
                </a:lnTo>
                <a:lnTo>
                  <a:pt x="246" y="137"/>
                </a:lnTo>
                <a:lnTo>
                  <a:pt x="262" y="148"/>
                </a:lnTo>
                <a:lnTo>
                  <a:pt x="278" y="159"/>
                </a:lnTo>
                <a:lnTo>
                  <a:pt x="295" y="169"/>
                </a:lnTo>
                <a:lnTo>
                  <a:pt x="311" y="178"/>
                </a:lnTo>
                <a:lnTo>
                  <a:pt x="327" y="186"/>
                </a:lnTo>
                <a:lnTo>
                  <a:pt x="344" y="192"/>
                </a:lnTo>
                <a:lnTo>
                  <a:pt x="360" y="196"/>
                </a:lnTo>
                <a:lnTo>
                  <a:pt x="377" y="199"/>
                </a:lnTo>
                <a:lnTo>
                  <a:pt x="393" y="200"/>
                </a:lnTo>
                <a:lnTo>
                  <a:pt x="393" y="212"/>
                </a:lnTo>
                <a:lnTo>
                  <a:pt x="377" y="211"/>
                </a:lnTo>
                <a:lnTo>
                  <a:pt x="360" y="208"/>
                </a:lnTo>
                <a:lnTo>
                  <a:pt x="344" y="203"/>
                </a:lnTo>
                <a:lnTo>
                  <a:pt x="327" y="197"/>
                </a:lnTo>
                <a:lnTo>
                  <a:pt x="311" y="190"/>
                </a:lnTo>
                <a:lnTo>
                  <a:pt x="295" y="181"/>
                </a:lnTo>
                <a:lnTo>
                  <a:pt x="278" y="171"/>
                </a:lnTo>
                <a:lnTo>
                  <a:pt x="262" y="160"/>
                </a:lnTo>
                <a:lnTo>
                  <a:pt x="246" y="149"/>
                </a:lnTo>
                <a:lnTo>
                  <a:pt x="229" y="137"/>
                </a:lnTo>
                <a:lnTo>
                  <a:pt x="213" y="124"/>
                </a:lnTo>
                <a:lnTo>
                  <a:pt x="196" y="112"/>
                </a:lnTo>
                <a:lnTo>
                  <a:pt x="180" y="99"/>
                </a:lnTo>
                <a:lnTo>
                  <a:pt x="164" y="87"/>
                </a:lnTo>
                <a:lnTo>
                  <a:pt x="147" y="75"/>
                </a:lnTo>
                <a:lnTo>
                  <a:pt x="131" y="63"/>
                </a:lnTo>
                <a:lnTo>
                  <a:pt x="114" y="53"/>
                </a:lnTo>
                <a:lnTo>
                  <a:pt x="98" y="43"/>
                </a:lnTo>
                <a:lnTo>
                  <a:pt x="82" y="34"/>
                </a:lnTo>
                <a:lnTo>
                  <a:pt x="65" y="26"/>
                </a:lnTo>
                <a:lnTo>
                  <a:pt x="49" y="20"/>
                </a:lnTo>
                <a:lnTo>
                  <a:pt x="33" y="15"/>
                </a:lnTo>
                <a:lnTo>
                  <a:pt x="16" y="13"/>
                </a:lnTo>
                <a:lnTo>
                  <a:pt x="0" y="1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2428875"/>
            <a:ext cx="3743325" cy="1724025"/>
          </a:xfrm>
          <a:custGeom>
            <a:avLst/>
            <a:gdLst/>
            <a:ahLst/>
            <a:cxnLst/>
            <a:rect l="l" t="t" r="r" b="b"/>
            <a:pathLst>
              <a:path w="393" h="181">
                <a:moveTo>
                  <a:pt x="0" y="160"/>
                </a:moveTo>
                <a:lnTo>
                  <a:pt x="16" y="159"/>
                </a:lnTo>
                <a:lnTo>
                  <a:pt x="33" y="156"/>
                </a:lnTo>
                <a:lnTo>
                  <a:pt x="49" y="153"/>
                </a:lnTo>
                <a:lnTo>
                  <a:pt x="65" y="148"/>
                </a:lnTo>
                <a:lnTo>
                  <a:pt x="82" y="142"/>
                </a:lnTo>
                <a:lnTo>
                  <a:pt x="98" y="135"/>
                </a:lnTo>
                <a:lnTo>
                  <a:pt x="114" y="127"/>
                </a:lnTo>
                <a:lnTo>
                  <a:pt x="131" y="118"/>
                </a:lnTo>
                <a:lnTo>
                  <a:pt x="147" y="109"/>
                </a:lnTo>
                <a:lnTo>
                  <a:pt x="164" y="100"/>
                </a:lnTo>
                <a:lnTo>
                  <a:pt x="180" y="90"/>
                </a:lnTo>
                <a:lnTo>
                  <a:pt x="196" y="80"/>
                </a:lnTo>
                <a:lnTo>
                  <a:pt x="213" y="70"/>
                </a:lnTo>
                <a:lnTo>
                  <a:pt x="229" y="60"/>
                </a:lnTo>
                <a:lnTo>
                  <a:pt x="246" y="51"/>
                </a:lnTo>
                <a:lnTo>
                  <a:pt x="262" y="42"/>
                </a:lnTo>
                <a:lnTo>
                  <a:pt x="278" y="33"/>
                </a:lnTo>
                <a:lnTo>
                  <a:pt x="295" y="25"/>
                </a:lnTo>
                <a:lnTo>
                  <a:pt x="311" y="18"/>
                </a:lnTo>
                <a:lnTo>
                  <a:pt x="327" y="12"/>
                </a:lnTo>
                <a:lnTo>
                  <a:pt x="344" y="7"/>
                </a:lnTo>
                <a:lnTo>
                  <a:pt x="360" y="3"/>
                </a:lnTo>
                <a:lnTo>
                  <a:pt x="377" y="1"/>
                </a:lnTo>
                <a:lnTo>
                  <a:pt x="393" y="0"/>
                </a:lnTo>
                <a:lnTo>
                  <a:pt x="393" y="21"/>
                </a:lnTo>
                <a:lnTo>
                  <a:pt x="377" y="22"/>
                </a:lnTo>
                <a:lnTo>
                  <a:pt x="360" y="25"/>
                </a:lnTo>
                <a:lnTo>
                  <a:pt x="344" y="28"/>
                </a:lnTo>
                <a:lnTo>
                  <a:pt x="327" y="33"/>
                </a:lnTo>
                <a:lnTo>
                  <a:pt x="311" y="39"/>
                </a:lnTo>
                <a:lnTo>
                  <a:pt x="295" y="46"/>
                </a:lnTo>
                <a:lnTo>
                  <a:pt x="278" y="54"/>
                </a:lnTo>
                <a:lnTo>
                  <a:pt x="262" y="63"/>
                </a:lnTo>
                <a:lnTo>
                  <a:pt x="246" y="72"/>
                </a:lnTo>
                <a:lnTo>
                  <a:pt x="229" y="81"/>
                </a:lnTo>
                <a:lnTo>
                  <a:pt x="213" y="91"/>
                </a:lnTo>
                <a:lnTo>
                  <a:pt x="196" y="101"/>
                </a:lnTo>
                <a:lnTo>
                  <a:pt x="180" y="111"/>
                </a:lnTo>
                <a:lnTo>
                  <a:pt x="164" y="121"/>
                </a:lnTo>
                <a:lnTo>
                  <a:pt x="147" y="130"/>
                </a:lnTo>
                <a:lnTo>
                  <a:pt x="131" y="139"/>
                </a:lnTo>
                <a:lnTo>
                  <a:pt x="114" y="148"/>
                </a:lnTo>
                <a:lnTo>
                  <a:pt x="98" y="156"/>
                </a:lnTo>
                <a:lnTo>
                  <a:pt x="82" y="163"/>
                </a:lnTo>
                <a:lnTo>
                  <a:pt x="65" y="169"/>
                </a:lnTo>
                <a:lnTo>
                  <a:pt x="49" y="174"/>
                </a:lnTo>
                <a:lnTo>
                  <a:pt x="33" y="177"/>
                </a:lnTo>
                <a:lnTo>
                  <a:pt x="16" y="180"/>
                </a:lnTo>
                <a:lnTo>
                  <a:pt x="0" y="18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152900"/>
            <a:ext cx="3743325" cy="333375"/>
          </a:xfrm>
          <a:custGeom>
            <a:avLst/>
            <a:gdLst/>
            <a:ahLst/>
            <a:cxnLst/>
            <a:rect l="l" t="t" r="r" b="b"/>
            <a:pathLst>
              <a:path w="393" h="35">
                <a:moveTo>
                  <a:pt x="0" y="0"/>
                </a:moveTo>
                <a:lnTo>
                  <a:pt x="16" y="0"/>
                </a:lnTo>
                <a:lnTo>
                  <a:pt x="33" y="0"/>
                </a:lnTo>
                <a:lnTo>
                  <a:pt x="49" y="0"/>
                </a:lnTo>
                <a:lnTo>
                  <a:pt x="65" y="1"/>
                </a:lnTo>
                <a:lnTo>
                  <a:pt x="82" y="2"/>
                </a:lnTo>
                <a:lnTo>
                  <a:pt x="98" y="2"/>
                </a:lnTo>
                <a:lnTo>
                  <a:pt x="114" y="3"/>
                </a:lnTo>
                <a:lnTo>
                  <a:pt x="131" y="4"/>
                </a:lnTo>
                <a:lnTo>
                  <a:pt x="147" y="5"/>
                </a:lnTo>
                <a:lnTo>
                  <a:pt x="164" y="6"/>
                </a:lnTo>
                <a:lnTo>
                  <a:pt x="180" y="7"/>
                </a:lnTo>
                <a:lnTo>
                  <a:pt x="196" y="9"/>
                </a:lnTo>
                <a:lnTo>
                  <a:pt x="213" y="10"/>
                </a:lnTo>
                <a:lnTo>
                  <a:pt x="229" y="11"/>
                </a:lnTo>
                <a:lnTo>
                  <a:pt x="246" y="12"/>
                </a:lnTo>
                <a:lnTo>
                  <a:pt x="262" y="13"/>
                </a:lnTo>
                <a:lnTo>
                  <a:pt x="278" y="14"/>
                </a:lnTo>
                <a:lnTo>
                  <a:pt x="295" y="15"/>
                </a:lnTo>
                <a:lnTo>
                  <a:pt x="311" y="16"/>
                </a:lnTo>
                <a:lnTo>
                  <a:pt x="327" y="16"/>
                </a:lnTo>
                <a:lnTo>
                  <a:pt x="344" y="17"/>
                </a:lnTo>
                <a:lnTo>
                  <a:pt x="360" y="17"/>
                </a:lnTo>
                <a:lnTo>
                  <a:pt x="377" y="18"/>
                </a:lnTo>
                <a:lnTo>
                  <a:pt x="393" y="18"/>
                </a:lnTo>
                <a:lnTo>
                  <a:pt x="393" y="35"/>
                </a:lnTo>
                <a:lnTo>
                  <a:pt x="377" y="35"/>
                </a:lnTo>
                <a:lnTo>
                  <a:pt x="360" y="35"/>
                </a:lnTo>
                <a:lnTo>
                  <a:pt x="344" y="34"/>
                </a:lnTo>
                <a:lnTo>
                  <a:pt x="327" y="34"/>
                </a:lnTo>
                <a:lnTo>
                  <a:pt x="311" y="33"/>
                </a:lnTo>
                <a:lnTo>
                  <a:pt x="295" y="32"/>
                </a:lnTo>
                <a:lnTo>
                  <a:pt x="278" y="31"/>
                </a:lnTo>
                <a:lnTo>
                  <a:pt x="262" y="30"/>
                </a:lnTo>
                <a:lnTo>
                  <a:pt x="246" y="29"/>
                </a:lnTo>
                <a:lnTo>
                  <a:pt x="229" y="28"/>
                </a:lnTo>
                <a:lnTo>
                  <a:pt x="213" y="27"/>
                </a:lnTo>
                <a:lnTo>
                  <a:pt x="196" y="26"/>
                </a:lnTo>
                <a:lnTo>
                  <a:pt x="180" y="25"/>
                </a:lnTo>
                <a:lnTo>
                  <a:pt x="164" y="24"/>
                </a:lnTo>
                <a:lnTo>
                  <a:pt x="147" y="23"/>
                </a:lnTo>
                <a:lnTo>
                  <a:pt x="131" y="22"/>
                </a:lnTo>
                <a:lnTo>
                  <a:pt x="114" y="21"/>
                </a:lnTo>
                <a:lnTo>
                  <a:pt x="98" y="20"/>
                </a:lnTo>
                <a:lnTo>
                  <a:pt x="82" y="19"/>
                </a:lnTo>
                <a:lnTo>
                  <a:pt x="65" y="18"/>
                </a:lnTo>
                <a:lnTo>
                  <a:pt x="49" y="18"/>
                </a:lnTo>
                <a:lnTo>
                  <a:pt x="33" y="17"/>
                </a:lnTo>
                <a:lnTo>
                  <a:pt x="16" y="17"/>
                </a:lnTo>
                <a:lnTo>
                  <a:pt x="0" y="17"/>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4314825"/>
            <a:ext cx="3743325" cy="1590675"/>
          </a:xfrm>
          <a:custGeom>
            <a:avLst/>
            <a:gdLst/>
            <a:ahLst/>
            <a:cxnLst/>
            <a:rect l="l" t="t" r="r" b="b"/>
            <a:pathLst>
              <a:path w="393" h="167">
                <a:moveTo>
                  <a:pt x="0" y="0"/>
                </a:moveTo>
                <a:lnTo>
                  <a:pt x="16" y="1"/>
                </a:lnTo>
                <a:lnTo>
                  <a:pt x="33" y="3"/>
                </a:lnTo>
                <a:lnTo>
                  <a:pt x="49" y="7"/>
                </a:lnTo>
                <a:lnTo>
                  <a:pt x="65" y="12"/>
                </a:lnTo>
                <a:lnTo>
                  <a:pt x="82" y="18"/>
                </a:lnTo>
                <a:lnTo>
                  <a:pt x="98" y="24"/>
                </a:lnTo>
                <a:lnTo>
                  <a:pt x="114" y="32"/>
                </a:lnTo>
                <a:lnTo>
                  <a:pt x="131" y="40"/>
                </a:lnTo>
                <a:lnTo>
                  <a:pt x="147" y="49"/>
                </a:lnTo>
                <a:lnTo>
                  <a:pt x="164" y="59"/>
                </a:lnTo>
                <a:lnTo>
                  <a:pt x="180" y="68"/>
                </a:lnTo>
                <a:lnTo>
                  <a:pt x="196" y="78"/>
                </a:lnTo>
                <a:lnTo>
                  <a:pt x="213" y="88"/>
                </a:lnTo>
                <a:lnTo>
                  <a:pt x="229" y="97"/>
                </a:lnTo>
                <a:lnTo>
                  <a:pt x="246" y="107"/>
                </a:lnTo>
                <a:lnTo>
                  <a:pt x="262" y="116"/>
                </a:lnTo>
                <a:lnTo>
                  <a:pt x="278" y="124"/>
                </a:lnTo>
                <a:lnTo>
                  <a:pt x="295" y="132"/>
                </a:lnTo>
                <a:lnTo>
                  <a:pt x="311" y="138"/>
                </a:lnTo>
                <a:lnTo>
                  <a:pt x="327" y="144"/>
                </a:lnTo>
                <a:lnTo>
                  <a:pt x="344" y="149"/>
                </a:lnTo>
                <a:lnTo>
                  <a:pt x="360" y="153"/>
                </a:lnTo>
                <a:lnTo>
                  <a:pt x="377" y="155"/>
                </a:lnTo>
                <a:lnTo>
                  <a:pt x="393" y="156"/>
                </a:lnTo>
                <a:lnTo>
                  <a:pt x="393" y="167"/>
                </a:lnTo>
                <a:lnTo>
                  <a:pt x="377" y="166"/>
                </a:lnTo>
                <a:lnTo>
                  <a:pt x="360" y="164"/>
                </a:lnTo>
                <a:lnTo>
                  <a:pt x="344" y="160"/>
                </a:lnTo>
                <a:lnTo>
                  <a:pt x="327" y="155"/>
                </a:lnTo>
                <a:lnTo>
                  <a:pt x="311" y="149"/>
                </a:lnTo>
                <a:lnTo>
                  <a:pt x="295" y="143"/>
                </a:lnTo>
                <a:lnTo>
                  <a:pt x="278" y="135"/>
                </a:lnTo>
                <a:lnTo>
                  <a:pt x="262" y="127"/>
                </a:lnTo>
                <a:lnTo>
                  <a:pt x="246" y="118"/>
                </a:lnTo>
                <a:lnTo>
                  <a:pt x="229" y="108"/>
                </a:lnTo>
                <a:lnTo>
                  <a:pt x="213" y="99"/>
                </a:lnTo>
                <a:lnTo>
                  <a:pt x="196" y="89"/>
                </a:lnTo>
                <a:lnTo>
                  <a:pt x="180" y="79"/>
                </a:lnTo>
                <a:lnTo>
                  <a:pt x="164" y="70"/>
                </a:lnTo>
                <a:lnTo>
                  <a:pt x="147" y="60"/>
                </a:lnTo>
                <a:lnTo>
                  <a:pt x="131" y="51"/>
                </a:lnTo>
                <a:lnTo>
                  <a:pt x="114" y="43"/>
                </a:lnTo>
                <a:lnTo>
                  <a:pt x="98" y="35"/>
                </a:lnTo>
                <a:lnTo>
                  <a:pt x="82" y="28"/>
                </a:lnTo>
                <a:lnTo>
                  <a:pt x="65" y="23"/>
                </a:lnTo>
                <a:lnTo>
                  <a:pt x="49" y="18"/>
                </a:lnTo>
                <a:lnTo>
                  <a:pt x="33" y="14"/>
                </a:lnTo>
                <a:lnTo>
                  <a:pt x="16" y="12"/>
                </a:lnTo>
                <a:lnTo>
                  <a:pt x="0" y="1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2628900"/>
            <a:ext cx="3743325" cy="2047875"/>
          </a:xfrm>
          <a:custGeom>
            <a:avLst/>
            <a:gdLst/>
            <a:ahLst/>
            <a:cxnLst/>
            <a:rect l="l" t="t" r="r" b="b"/>
            <a:pathLst>
              <a:path w="393" h="215">
                <a:moveTo>
                  <a:pt x="0" y="194"/>
                </a:moveTo>
                <a:lnTo>
                  <a:pt x="16" y="193"/>
                </a:lnTo>
                <a:lnTo>
                  <a:pt x="33" y="190"/>
                </a:lnTo>
                <a:lnTo>
                  <a:pt x="49" y="186"/>
                </a:lnTo>
                <a:lnTo>
                  <a:pt x="65" y="180"/>
                </a:lnTo>
                <a:lnTo>
                  <a:pt x="82" y="172"/>
                </a:lnTo>
                <a:lnTo>
                  <a:pt x="98" y="164"/>
                </a:lnTo>
                <a:lnTo>
                  <a:pt x="114" y="154"/>
                </a:lnTo>
                <a:lnTo>
                  <a:pt x="131" y="144"/>
                </a:lnTo>
                <a:lnTo>
                  <a:pt x="147" y="133"/>
                </a:lnTo>
                <a:lnTo>
                  <a:pt x="164" y="121"/>
                </a:lnTo>
                <a:lnTo>
                  <a:pt x="180" y="109"/>
                </a:lnTo>
                <a:lnTo>
                  <a:pt x="196" y="97"/>
                </a:lnTo>
                <a:lnTo>
                  <a:pt x="213" y="85"/>
                </a:lnTo>
                <a:lnTo>
                  <a:pt x="229" y="73"/>
                </a:lnTo>
                <a:lnTo>
                  <a:pt x="246" y="62"/>
                </a:lnTo>
                <a:lnTo>
                  <a:pt x="262" y="51"/>
                </a:lnTo>
                <a:lnTo>
                  <a:pt x="278" y="40"/>
                </a:lnTo>
                <a:lnTo>
                  <a:pt x="295" y="31"/>
                </a:lnTo>
                <a:lnTo>
                  <a:pt x="311" y="22"/>
                </a:lnTo>
                <a:lnTo>
                  <a:pt x="327" y="15"/>
                </a:lnTo>
                <a:lnTo>
                  <a:pt x="344" y="9"/>
                </a:lnTo>
                <a:lnTo>
                  <a:pt x="360" y="4"/>
                </a:lnTo>
                <a:lnTo>
                  <a:pt x="377" y="1"/>
                </a:lnTo>
                <a:lnTo>
                  <a:pt x="393" y="0"/>
                </a:lnTo>
                <a:lnTo>
                  <a:pt x="393" y="21"/>
                </a:lnTo>
                <a:lnTo>
                  <a:pt x="377" y="22"/>
                </a:lnTo>
                <a:lnTo>
                  <a:pt x="360" y="25"/>
                </a:lnTo>
                <a:lnTo>
                  <a:pt x="344" y="30"/>
                </a:lnTo>
                <a:lnTo>
                  <a:pt x="327" y="36"/>
                </a:lnTo>
                <a:lnTo>
                  <a:pt x="311" y="43"/>
                </a:lnTo>
                <a:lnTo>
                  <a:pt x="295" y="52"/>
                </a:lnTo>
                <a:lnTo>
                  <a:pt x="278" y="61"/>
                </a:lnTo>
                <a:lnTo>
                  <a:pt x="262" y="72"/>
                </a:lnTo>
                <a:lnTo>
                  <a:pt x="246" y="83"/>
                </a:lnTo>
                <a:lnTo>
                  <a:pt x="229" y="94"/>
                </a:lnTo>
                <a:lnTo>
                  <a:pt x="213" y="106"/>
                </a:lnTo>
                <a:lnTo>
                  <a:pt x="196" y="118"/>
                </a:lnTo>
                <a:lnTo>
                  <a:pt x="180" y="130"/>
                </a:lnTo>
                <a:lnTo>
                  <a:pt x="164" y="142"/>
                </a:lnTo>
                <a:lnTo>
                  <a:pt x="147" y="154"/>
                </a:lnTo>
                <a:lnTo>
                  <a:pt x="131" y="165"/>
                </a:lnTo>
                <a:lnTo>
                  <a:pt x="114" y="175"/>
                </a:lnTo>
                <a:lnTo>
                  <a:pt x="98" y="185"/>
                </a:lnTo>
                <a:lnTo>
                  <a:pt x="82" y="193"/>
                </a:lnTo>
                <a:lnTo>
                  <a:pt x="65" y="201"/>
                </a:lnTo>
                <a:lnTo>
                  <a:pt x="49" y="207"/>
                </a:lnTo>
                <a:lnTo>
                  <a:pt x="33" y="211"/>
                </a:lnTo>
                <a:lnTo>
                  <a:pt x="16" y="214"/>
                </a:lnTo>
                <a:lnTo>
                  <a:pt x="0" y="215"/>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4486275"/>
            <a:ext cx="3743325" cy="361950"/>
          </a:xfrm>
          <a:custGeom>
            <a:avLst/>
            <a:gdLst/>
            <a:ahLst/>
            <a:cxnLst/>
            <a:rect l="l" t="t" r="r" b="b"/>
            <a:pathLst>
              <a:path w="393" h="38">
                <a:moveTo>
                  <a:pt x="0" y="20"/>
                </a:moveTo>
                <a:lnTo>
                  <a:pt x="16" y="20"/>
                </a:lnTo>
                <a:lnTo>
                  <a:pt x="33" y="20"/>
                </a:lnTo>
                <a:lnTo>
                  <a:pt x="49" y="19"/>
                </a:lnTo>
                <a:lnTo>
                  <a:pt x="65" y="19"/>
                </a:lnTo>
                <a:lnTo>
                  <a:pt x="82" y="18"/>
                </a:lnTo>
                <a:lnTo>
                  <a:pt x="98" y="17"/>
                </a:lnTo>
                <a:lnTo>
                  <a:pt x="114" y="16"/>
                </a:lnTo>
                <a:lnTo>
                  <a:pt x="131" y="15"/>
                </a:lnTo>
                <a:lnTo>
                  <a:pt x="147" y="14"/>
                </a:lnTo>
                <a:lnTo>
                  <a:pt x="164" y="13"/>
                </a:lnTo>
                <a:lnTo>
                  <a:pt x="180" y="11"/>
                </a:lnTo>
                <a:lnTo>
                  <a:pt x="196" y="10"/>
                </a:lnTo>
                <a:lnTo>
                  <a:pt x="213" y="9"/>
                </a:lnTo>
                <a:lnTo>
                  <a:pt x="229" y="8"/>
                </a:lnTo>
                <a:lnTo>
                  <a:pt x="246" y="6"/>
                </a:lnTo>
                <a:lnTo>
                  <a:pt x="262" y="5"/>
                </a:lnTo>
                <a:lnTo>
                  <a:pt x="278" y="4"/>
                </a:lnTo>
                <a:lnTo>
                  <a:pt x="295" y="3"/>
                </a:lnTo>
                <a:lnTo>
                  <a:pt x="311" y="2"/>
                </a:lnTo>
                <a:lnTo>
                  <a:pt x="327" y="2"/>
                </a:lnTo>
                <a:lnTo>
                  <a:pt x="344" y="1"/>
                </a:lnTo>
                <a:lnTo>
                  <a:pt x="360" y="1"/>
                </a:lnTo>
                <a:lnTo>
                  <a:pt x="377" y="0"/>
                </a:lnTo>
                <a:lnTo>
                  <a:pt x="393" y="0"/>
                </a:lnTo>
                <a:lnTo>
                  <a:pt x="393" y="18"/>
                </a:lnTo>
                <a:lnTo>
                  <a:pt x="377" y="18"/>
                </a:lnTo>
                <a:lnTo>
                  <a:pt x="360" y="19"/>
                </a:lnTo>
                <a:lnTo>
                  <a:pt x="344" y="19"/>
                </a:lnTo>
                <a:lnTo>
                  <a:pt x="327" y="20"/>
                </a:lnTo>
                <a:lnTo>
                  <a:pt x="311" y="21"/>
                </a:lnTo>
                <a:lnTo>
                  <a:pt x="295" y="21"/>
                </a:lnTo>
                <a:lnTo>
                  <a:pt x="278" y="22"/>
                </a:lnTo>
                <a:lnTo>
                  <a:pt x="262" y="24"/>
                </a:lnTo>
                <a:lnTo>
                  <a:pt x="246" y="25"/>
                </a:lnTo>
                <a:lnTo>
                  <a:pt x="229" y="26"/>
                </a:lnTo>
                <a:lnTo>
                  <a:pt x="213" y="27"/>
                </a:lnTo>
                <a:lnTo>
                  <a:pt x="196" y="28"/>
                </a:lnTo>
                <a:lnTo>
                  <a:pt x="180" y="30"/>
                </a:lnTo>
                <a:lnTo>
                  <a:pt x="164" y="31"/>
                </a:lnTo>
                <a:lnTo>
                  <a:pt x="147" y="32"/>
                </a:lnTo>
                <a:lnTo>
                  <a:pt x="131" y="33"/>
                </a:lnTo>
                <a:lnTo>
                  <a:pt x="114" y="34"/>
                </a:lnTo>
                <a:lnTo>
                  <a:pt x="98" y="35"/>
                </a:lnTo>
                <a:lnTo>
                  <a:pt x="82" y="36"/>
                </a:lnTo>
                <a:lnTo>
                  <a:pt x="65" y="37"/>
                </a:lnTo>
                <a:lnTo>
                  <a:pt x="49" y="37"/>
                </a:lnTo>
                <a:lnTo>
                  <a:pt x="33" y="38"/>
                </a:lnTo>
                <a:lnTo>
                  <a:pt x="16" y="38"/>
                </a:lnTo>
                <a:lnTo>
                  <a:pt x="0" y="38"/>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4848225"/>
            <a:ext cx="3743325" cy="1152525"/>
          </a:xfrm>
          <a:custGeom>
            <a:avLst/>
            <a:gdLst/>
            <a:ahLst/>
            <a:cxnLst/>
            <a:rect l="l" t="t" r="r" b="b"/>
            <a:pathLst>
              <a:path w="393" h="121">
                <a:moveTo>
                  <a:pt x="0" y="0"/>
                </a:moveTo>
                <a:lnTo>
                  <a:pt x="16" y="1"/>
                </a:lnTo>
                <a:lnTo>
                  <a:pt x="33" y="2"/>
                </a:lnTo>
                <a:lnTo>
                  <a:pt x="49" y="5"/>
                </a:lnTo>
                <a:lnTo>
                  <a:pt x="65" y="8"/>
                </a:lnTo>
                <a:lnTo>
                  <a:pt x="82" y="13"/>
                </a:lnTo>
                <a:lnTo>
                  <a:pt x="98" y="17"/>
                </a:lnTo>
                <a:lnTo>
                  <a:pt x="114" y="23"/>
                </a:lnTo>
                <a:lnTo>
                  <a:pt x="131" y="29"/>
                </a:lnTo>
                <a:lnTo>
                  <a:pt x="147" y="35"/>
                </a:lnTo>
                <a:lnTo>
                  <a:pt x="164" y="42"/>
                </a:lnTo>
                <a:lnTo>
                  <a:pt x="180" y="49"/>
                </a:lnTo>
                <a:lnTo>
                  <a:pt x="196" y="56"/>
                </a:lnTo>
                <a:lnTo>
                  <a:pt x="213" y="62"/>
                </a:lnTo>
                <a:lnTo>
                  <a:pt x="229" y="69"/>
                </a:lnTo>
                <a:lnTo>
                  <a:pt x="246" y="76"/>
                </a:lnTo>
                <a:lnTo>
                  <a:pt x="262" y="82"/>
                </a:lnTo>
                <a:lnTo>
                  <a:pt x="278" y="88"/>
                </a:lnTo>
                <a:lnTo>
                  <a:pt x="295" y="94"/>
                </a:lnTo>
                <a:lnTo>
                  <a:pt x="311" y="99"/>
                </a:lnTo>
                <a:lnTo>
                  <a:pt x="327" y="103"/>
                </a:lnTo>
                <a:lnTo>
                  <a:pt x="344" y="106"/>
                </a:lnTo>
                <a:lnTo>
                  <a:pt x="360" y="109"/>
                </a:lnTo>
                <a:lnTo>
                  <a:pt x="377" y="110"/>
                </a:lnTo>
                <a:lnTo>
                  <a:pt x="393" y="111"/>
                </a:lnTo>
                <a:lnTo>
                  <a:pt x="393" y="121"/>
                </a:lnTo>
                <a:lnTo>
                  <a:pt x="377" y="121"/>
                </a:lnTo>
                <a:lnTo>
                  <a:pt x="360" y="119"/>
                </a:lnTo>
                <a:lnTo>
                  <a:pt x="344" y="117"/>
                </a:lnTo>
                <a:lnTo>
                  <a:pt x="327" y="113"/>
                </a:lnTo>
                <a:lnTo>
                  <a:pt x="311" y="109"/>
                </a:lnTo>
                <a:lnTo>
                  <a:pt x="295" y="104"/>
                </a:lnTo>
                <a:lnTo>
                  <a:pt x="278" y="99"/>
                </a:lnTo>
                <a:lnTo>
                  <a:pt x="262" y="93"/>
                </a:lnTo>
                <a:lnTo>
                  <a:pt x="246" y="86"/>
                </a:lnTo>
                <a:lnTo>
                  <a:pt x="229" y="80"/>
                </a:lnTo>
                <a:lnTo>
                  <a:pt x="213" y="73"/>
                </a:lnTo>
                <a:lnTo>
                  <a:pt x="196" y="66"/>
                </a:lnTo>
                <a:lnTo>
                  <a:pt x="180" y="59"/>
                </a:lnTo>
                <a:lnTo>
                  <a:pt x="164" y="52"/>
                </a:lnTo>
                <a:lnTo>
                  <a:pt x="147" y="46"/>
                </a:lnTo>
                <a:lnTo>
                  <a:pt x="131" y="39"/>
                </a:lnTo>
                <a:lnTo>
                  <a:pt x="114" y="33"/>
                </a:lnTo>
                <a:lnTo>
                  <a:pt x="98" y="28"/>
                </a:lnTo>
                <a:lnTo>
                  <a:pt x="82" y="23"/>
                </a:lnTo>
                <a:lnTo>
                  <a:pt x="65" y="19"/>
                </a:lnTo>
                <a:lnTo>
                  <a:pt x="49" y="15"/>
                </a:lnTo>
                <a:lnTo>
                  <a:pt x="33" y="13"/>
                </a:lnTo>
                <a:lnTo>
                  <a:pt x="16" y="11"/>
                </a:lnTo>
                <a:lnTo>
                  <a:pt x="0" y="11"/>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2828925"/>
            <a:ext cx="3743325" cy="2352675"/>
          </a:xfrm>
          <a:custGeom>
            <a:avLst/>
            <a:gdLst/>
            <a:ahLst/>
            <a:cxnLst/>
            <a:rect l="l" t="t" r="r" b="b"/>
            <a:pathLst>
              <a:path w="393" h="247">
                <a:moveTo>
                  <a:pt x="0" y="229"/>
                </a:moveTo>
                <a:lnTo>
                  <a:pt x="16" y="227"/>
                </a:lnTo>
                <a:lnTo>
                  <a:pt x="33" y="224"/>
                </a:lnTo>
                <a:lnTo>
                  <a:pt x="49" y="219"/>
                </a:lnTo>
                <a:lnTo>
                  <a:pt x="65" y="212"/>
                </a:lnTo>
                <a:lnTo>
                  <a:pt x="82" y="203"/>
                </a:lnTo>
                <a:lnTo>
                  <a:pt x="98" y="193"/>
                </a:lnTo>
                <a:lnTo>
                  <a:pt x="114" y="182"/>
                </a:lnTo>
                <a:lnTo>
                  <a:pt x="131" y="169"/>
                </a:lnTo>
                <a:lnTo>
                  <a:pt x="147" y="156"/>
                </a:lnTo>
                <a:lnTo>
                  <a:pt x="164" y="143"/>
                </a:lnTo>
                <a:lnTo>
                  <a:pt x="180" y="129"/>
                </a:lnTo>
                <a:lnTo>
                  <a:pt x="196" y="114"/>
                </a:lnTo>
                <a:lnTo>
                  <a:pt x="213" y="100"/>
                </a:lnTo>
                <a:lnTo>
                  <a:pt x="229" y="86"/>
                </a:lnTo>
                <a:lnTo>
                  <a:pt x="246" y="73"/>
                </a:lnTo>
                <a:lnTo>
                  <a:pt x="262" y="60"/>
                </a:lnTo>
                <a:lnTo>
                  <a:pt x="278" y="47"/>
                </a:lnTo>
                <a:lnTo>
                  <a:pt x="295" y="36"/>
                </a:lnTo>
                <a:lnTo>
                  <a:pt x="311" y="26"/>
                </a:lnTo>
                <a:lnTo>
                  <a:pt x="327" y="17"/>
                </a:lnTo>
                <a:lnTo>
                  <a:pt x="344" y="10"/>
                </a:lnTo>
                <a:lnTo>
                  <a:pt x="360" y="5"/>
                </a:lnTo>
                <a:lnTo>
                  <a:pt x="377" y="2"/>
                </a:lnTo>
                <a:lnTo>
                  <a:pt x="393" y="0"/>
                </a:lnTo>
                <a:lnTo>
                  <a:pt x="393" y="19"/>
                </a:lnTo>
                <a:lnTo>
                  <a:pt x="377" y="20"/>
                </a:lnTo>
                <a:lnTo>
                  <a:pt x="360" y="24"/>
                </a:lnTo>
                <a:lnTo>
                  <a:pt x="344" y="29"/>
                </a:lnTo>
                <a:lnTo>
                  <a:pt x="327" y="36"/>
                </a:lnTo>
                <a:lnTo>
                  <a:pt x="311" y="45"/>
                </a:lnTo>
                <a:lnTo>
                  <a:pt x="295" y="55"/>
                </a:lnTo>
                <a:lnTo>
                  <a:pt x="278" y="66"/>
                </a:lnTo>
                <a:lnTo>
                  <a:pt x="262" y="78"/>
                </a:lnTo>
                <a:lnTo>
                  <a:pt x="246" y="91"/>
                </a:lnTo>
                <a:lnTo>
                  <a:pt x="229" y="105"/>
                </a:lnTo>
                <a:lnTo>
                  <a:pt x="213" y="119"/>
                </a:lnTo>
                <a:lnTo>
                  <a:pt x="196" y="133"/>
                </a:lnTo>
                <a:lnTo>
                  <a:pt x="180" y="147"/>
                </a:lnTo>
                <a:lnTo>
                  <a:pt x="164" y="161"/>
                </a:lnTo>
                <a:lnTo>
                  <a:pt x="147" y="175"/>
                </a:lnTo>
                <a:lnTo>
                  <a:pt x="131" y="188"/>
                </a:lnTo>
                <a:lnTo>
                  <a:pt x="114" y="200"/>
                </a:lnTo>
                <a:lnTo>
                  <a:pt x="98" y="212"/>
                </a:lnTo>
                <a:lnTo>
                  <a:pt x="82" y="222"/>
                </a:lnTo>
                <a:lnTo>
                  <a:pt x="65" y="230"/>
                </a:lnTo>
                <a:lnTo>
                  <a:pt x="49" y="237"/>
                </a:lnTo>
                <a:lnTo>
                  <a:pt x="33" y="243"/>
                </a:lnTo>
                <a:lnTo>
                  <a:pt x="16" y="246"/>
                </a:lnTo>
                <a:lnTo>
                  <a:pt x="0" y="247"/>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4657725"/>
            <a:ext cx="3743325" cy="714375"/>
          </a:xfrm>
          <a:custGeom>
            <a:avLst/>
            <a:gdLst/>
            <a:ahLst/>
            <a:cxnLst/>
            <a:rect l="l" t="t" r="r" b="b"/>
            <a:pathLst>
              <a:path w="393" h="75">
                <a:moveTo>
                  <a:pt x="0" y="55"/>
                </a:moveTo>
                <a:lnTo>
                  <a:pt x="16" y="55"/>
                </a:lnTo>
                <a:lnTo>
                  <a:pt x="33" y="54"/>
                </a:lnTo>
                <a:lnTo>
                  <a:pt x="49" y="53"/>
                </a:lnTo>
                <a:lnTo>
                  <a:pt x="65" y="51"/>
                </a:lnTo>
                <a:lnTo>
                  <a:pt x="82" y="49"/>
                </a:lnTo>
                <a:lnTo>
                  <a:pt x="98" y="47"/>
                </a:lnTo>
                <a:lnTo>
                  <a:pt x="114" y="44"/>
                </a:lnTo>
                <a:lnTo>
                  <a:pt x="131" y="41"/>
                </a:lnTo>
                <a:lnTo>
                  <a:pt x="147" y="38"/>
                </a:lnTo>
                <a:lnTo>
                  <a:pt x="164" y="35"/>
                </a:lnTo>
                <a:lnTo>
                  <a:pt x="180" y="31"/>
                </a:lnTo>
                <a:lnTo>
                  <a:pt x="196" y="28"/>
                </a:lnTo>
                <a:lnTo>
                  <a:pt x="213" y="24"/>
                </a:lnTo>
                <a:lnTo>
                  <a:pt x="229" y="21"/>
                </a:lnTo>
                <a:lnTo>
                  <a:pt x="246" y="18"/>
                </a:lnTo>
                <a:lnTo>
                  <a:pt x="262" y="15"/>
                </a:lnTo>
                <a:lnTo>
                  <a:pt x="278" y="12"/>
                </a:lnTo>
                <a:lnTo>
                  <a:pt x="295" y="9"/>
                </a:lnTo>
                <a:lnTo>
                  <a:pt x="311" y="7"/>
                </a:lnTo>
                <a:lnTo>
                  <a:pt x="327" y="4"/>
                </a:lnTo>
                <a:lnTo>
                  <a:pt x="344" y="3"/>
                </a:lnTo>
                <a:lnTo>
                  <a:pt x="360" y="1"/>
                </a:lnTo>
                <a:lnTo>
                  <a:pt x="377" y="1"/>
                </a:lnTo>
                <a:lnTo>
                  <a:pt x="393" y="0"/>
                </a:lnTo>
                <a:lnTo>
                  <a:pt x="393" y="20"/>
                </a:lnTo>
                <a:lnTo>
                  <a:pt x="377" y="20"/>
                </a:lnTo>
                <a:lnTo>
                  <a:pt x="360" y="21"/>
                </a:lnTo>
                <a:lnTo>
                  <a:pt x="344" y="22"/>
                </a:lnTo>
                <a:lnTo>
                  <a:pt x="327" y="24"/>
                </a:lnTo>
                <a:lnTo>
                  <a:pt x="311" y="26"/>
                </a:lnTo>
                <a:lnTo>
                  <a:pt x="295" y="29"/>
                </a:lnTo>
                <a:lnTo>
                  <a:pt x="278" y="31"/>
                </a:lnTo>
                <a:lnTo>
                  <a:pt x="262" y="34"/>
                </a:lnTo>
                <a:lnTo>
                  <a:pt x="246" y="37"/>
                </a:lnTo>
                <a:lnTo>
                  <a:pt x="229" y="41"/>
                </a:lnTo>
                <a:lnTo>
                  <a:pt x="213" y="44"/>
                </a:lnTo>
                <a:lnTo>
                  <a:pt x="196" y="48"/>
                </a:lnTo>
                <a:lnTo>
                  <a:pt x="180" y="51"/>
                </a:lnTo>
                <a:lnTo>
                  <a:pt x="164" y="54"/>
                </a:lnTo>
                <a:lnTo>
                  <a:pt x="147" y="58"/>
                </a:lnTo>
                <a:lnTo>
                  <a:pt x="131" y="61"/>
                </a:lnTo>
                <a:lnTo>
                  <a:pt x="114" y="64"/>
                </a:lnTo>
                <a:lnTo>
                  <a:pt x="98" y="66"/>
                </a:lnTo>
                <a:lnTo>
                  <a:pt x="82" y="69"/>
                </a:lnTo>
                <a:lnTo>
                  <a:pt x="65" y="71"/>
                </a:lnTo>
                <a:lnTo>
                  <a:pt x="49" y="73"/>
                </a:lnTo>
                <a:lnTo>
                  <a:pt x="33" y="74"/>
                </a:lnTo>
                <a:lnTo>
                  <a:pt x="16" y="75"/>
                </a:lnTo>
                <a:lnTo>
                  <a:pt x="0" y="75"/>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5372100"/>
            <a:ext cx="3743325" cy="733425"/>
          </a:xfrm>
          <a:custGeom>
            <a:avLst/>
            <a:gdLst/>
            <a:ahLst/>
            <a:cxnLst/>
            <a:rect l="l" t="t" r="r" b="b"/>
            <a:pathLst>
              <a:path w="393" h="77">
                <a:moveTo>
                  <a:pt x="0" y="0"/>
                </a:moveTo>
                <a:lnTo>
                  <a:pt x="16" y="0"/>
                </a:lnTo>
                <a:lnTo>
                  <a:pt x="33" y="1"/>
                </a:lnTo>
                <a:lnTo>
                  <a:pt x="49" y="3"/>
                </a:lnTo>
                <a:lnTo>
                  <a:pt x="65" y="5"/>
                </a:lnTo>
                <a:lnTo>
                  <a:pt x="82" y="7"/>
                </a:lnTo>
                <a:lnTo>
                  <a:pt x="98" y="10"/>
                </a:lnTo>
                <a:lnTo>
                  <a:pt x="114" y="14"/>
                </a:lnTo>
                <a:lnTo>
                  <a:pt x="131" y="17"/>
                </a:lnTo>
                <a:lnTo>
                  <a:pt x="147" y="21"/>
                </a:lnTo>
                <a:lnTo>
                  <a:pt x="164" y="25"/>
                </a:lnTo>
                <a:lnTo>
                  <a:pt x="180" y="29"/>
                </a:lnTo>
                <a:lnTo>
                  <a:pt x="196" y="33"/>
                </a:lnTo>
                <a:lnTo>
                  <a:pt x="213" y="37"/>
                </a:lnTo>
                <a:lnTo>
                  <a:pt x="229" y="41"/>
                </a:lnTo>
                <a:lnTo>
                  <a:pt x="246" y="45"/>
                </a:lnTo>
                <a:lnTo>
                  <a:pt x="262" y="49"/>
                </a:lnTo>
                <a:lnTo>
                  <a:pt x="278" y="53"/>
                </a:lnTo>
                <a:lnTo>
                  <a:pt x="295" y="56"/>
                </a:lnTo>
                <a:lnTo>
                  <a:pt x="311" y="59"/>
                </a:lnTo>
                <a:lnTo>
                  <a:pt x="327" y="61"/>
                </a:lnTo>
                <a:lnTo>
                  <a:pt x="344" y="63"/>
                </a:lnTo>
                <a:lnTo>
                  <a:pt x="360" y="65"/>
                </a:lnTo>
                <a:lnTo>
                  <a:pt x="377" y="66"/>
                </a:lnTo>
                <a:lnTo>
                  <a:pt x="393" y="66"/>
                </a:lnTo>
                <a:lnTo>
                  <a:pt x="393" y="77"/>
                </a:lnTo>
                <a:lnTo>
                  <a:pt x="377" y="77"/>
                </a:lnTo>
                <a:lnTo>
                  <a:pt x="360" y="76"/>
                </a:lnTo>
                <a:lnTo>
                  <a:pt x="344" y="74"/>
                </a:lnTo>
                <a:lnTo>
                  <a:pt x="327" y="72"/>
                </a:lnTo>
                <a:lnTo>
                  <a:pt x="311" y="70"/>
                </a:lnTo>
                <a:lnTo>
                  <a:pt x="295" y="67"/>
                </a:lnTo>
                <a:lnTo>
                  <a:pt x="278" y="64"/>
                </a:lnTo>
                <a:lnTo>
                  <a:pt x="262" y="60"/>
                </a:lnTo>
                <a:lnTo>
                  <a:pt x="246" y="56"/>
                </a:lnTo>
                <a:lnTo>
                  <a:pt x="229" y="52"/>
                </a:lnTo>
                <a:lnTo>
                  <a:pt x="213" y="48"/>
                </a:lnTo>
                <a:lnTo>
                  <a:pt x="196" y="44"/>
                </a:lnTo>
                <a:lnTo>
                  <a:pt x="180" y="40"/>
                </a:lnTo>
                <a:lnTo>
                  <a:pt x="164" y="36"/>
                </a:lnTo>
                <a:lnTo>
                  <a:pt x="147" y="32"/>
                </a:lnTo>
                <a:lnTo>
                  <a:pt x="131" y="28"/>
                </a:lnTo>
                <a:lnTo>
                  <a:pt x="114" y="25"/>
                </a:lnTo>
                <a:lnTo>
                  <a:pt x="98" y="21"/>
                </a:lnTo>
                <a:lnTo>
                  <a:pt x="82" y="18"/>
                </a:lnTo>
                <a:lnTo>
                  <a:pt x="65" y="16"/>
                </a:lnTo>
                <a:lnTo>
                  <a:pt x="49" y="14"/>
                </a:lnTo>
                <a:lnTo>
                  <a:pt x="33" y="12"/>
                </a:lnTo>
                <a:lnTo>
                  <a:pt x="16" y="11"/>
                </a:lnTo>
                <a:lnTo>
                  <a:pt x="0" y="11"/>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3009900"/>
            <a:ext cx="3743325" cy="2714625"/>
          </a:xfrm>
          <a:custGeom>
            <a:avLst/>
            <a:gdLst/>
            <a:ahLst/>
            <a:cxnLst/>
            <a:rect l="l" t="t" r="r" b="b"/>
            <a:pathLst>
              <a:path w="393" h="285">
                <a:moveTo>
                  <a:pt x="0" y="265"/>
                </a:moveTo>
                <a:lnTo>
                  <a:pt x="16" y="264"/>
                </a:lnTo>
                <a:lnTo>
                  <a:pt x="33" y="260"/>
                </a:lnTo>
                <a:lnTo>
                  <a:pt x="49" y="254"/>
                </a:lnTo>
                <a:lnTo>
                  <a:pt x="65" y="245"/>
                </a:lnTo>
                <a:lnTo>
                  <a:pt x="82" y="235"/>
                </a:lnTo>
                <a:lnTo>
                  <a:pt x="98" y="224"/>
                </a:lnTo>
                <a:lnTo>
                  <a:pt x="114" y="211"/>
                </a:lnTo>
                <a:lnTo>
                  <a:pt x="131" y="196"/>
                </a:lnTo>
                <a:lnTo>
                  <a:pt x="147" y="181"/>
                </a:lnTo>
                <a:lnTo>
                  <a:pt x="164" y="165"/>
                </a:lnTo>
                <a:lnTo>
                  <a:pt x="180" y="149"/>
                </a:lnTo>
                <a:lnTo>
                  <a:pt x="196" y="133"/>
                </a:lnTo>
                <a:lnTo>
                  <a:pt x="213" y="116"/>
                </a:lnTo>
                <a:lnTo>
                  <a:pt x="229" y="100"/>
                </a:lnTo>
                <a:lnTo>
                  <a:pt x="246" y="84"/>
                </a:lnTo>
                <a:lnTo>
                  <a:pt x="262" y="69"/>
                </a:lnTo>
                <a:lnTo>
                  <a:pt x="278" y="55"/>
                </a:lnTo>
                <a:lnTo>
                  <a:pt x="295" y="41"/>
                </a:lnTo>
                <a:lnTo>
                  <a:pt x="311" y="30"/>
                </a:lnTo>
                <a:lnTo>
                  <a:pt x="327" y="20"/>
                </a:lnTo>
                <a:lnTo>
                  <a:pt x="344" y="11"/>
                </a:lnTo>
                <a:lnTo>
                  <a:pt x="360" y="5"/>
                </a:lnTo>
                <a:lnTo>
                  <a:pt x="377" y="1"/>
                </a:lnTo>
                <a:lnTo>
                  <a:pt x="393" y="0"/>
                </a:lnTo>
                <a:lnTo>
                  <a:pt x="393" y="20"/>
                </a:lnTo>
                <a:lnTo>
                  <a:pt x="377" y="21"/>
                </a:lnTo>
                <a:lnTo>
                  <a:pt x="360" y="25"/>
                </a:lnTo>
                <a:lnTo>
                  <a:pt x="344" y="31"/>
                </a:lnTo>
                <a:lnTo>
                  <a:pt x="327" y="40"/>
                </a:lnTo>
                <a:lnTo>
                  <a:pt x="311" y="50"/>
                </a:lnTo>
                <a:lnTo>
                  <a:pt x="295" y="61"/>
                </a:lnTo>
                <a:lnTo>
                  <a:pt x="278" y="75"/>
                </a:lnTo>
                <a:lnTo>
                  <a:pt x="262" y="89"/>
                </a:lnTo>
                <a:lnTo>
                  <a:pt x="246" y="104"/>
                </a:lnTo>
                <a:lnTo>
                  <a:pt x="229" y="120"/>
                </a:lnTo>
                <a:lnTo>
                  <a:pt x="213" y="136"/>
                </a:lnTo>
                <a:lnTo>
                  <a:pt x="196" y="153"/>
                </a:lnTo>
                <a:lnTo>
                  <a:pt x="180" y="169"/>
                </a:lnTo>
                <a:lnTo>
                  <a:pt x="164" y="185"/>
                </a:lnTo>
                <a:lnTo>
                  <a:pt x="147" y="201"/>
                </a:lnTo>
                <a:lnTo>
                  <a:pt x="131" y="216"/>
                </a:lnTo>
                <a:lnTo>
                  <a:pt x="114" y="231"/>
                </a:lnTo>
                <a:lnTo>
                  <a:pt x="98" y="244"/>
                </a:lnTo>
                <a:lnTo>
                  <a:pt x="82" y="255"/>
                </a:lnTo>
                <a:lnTo>
                  <a:pt x="65" y="265"/>
                </a:lnTo>
                <a:lnTo>
                  <a:pt x="49" y="274"/>
                </a:lnTo>
                <a:lnTo>
                  <a:pt x="33" y="280"/>
                </a:lnTo>
                <a:lnTo>
                  <a:pt x="16" y="284"/>
                </a:lnTo>
                <a:lnTo>
                  <a:pt x="0" y="285"/>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4848225"/>
            <a:ext cx="3743325" cy="1047750"/>
          </a:xfrm>
          <a:custGeom>
            <a:avLst/>
            <a:gdLst/>
            <a:ahLst/>
            <a:cxnLst/>
            <a:rect l="l" t="t" r="r" b="b"/>
            <a:pathLst>
              <a:path w="393" h="110">
                <a:moveTo>
                  <a:pt x="0" y="92"/>
                </a:moveTo>
                <a:lnTo>
                  <a:pt x="16" y="92"/>
                </a:lnTo>
                <a:lnTo>
                  <a:pt x="33" y="90"/>
                </a:lnTo>
                <a:lnTo>
                  <a:pt x="49" y="88"/>
                </a:lnTo>
                <a:lnTo>
                  <a:pt x="65" y="85"/>
                </a:lnTo>
                <a:lnTo>
                  <a:pt x="82" y="82"/>
                </a:lnTo>
                <a:lnTo>
                  <a:pt x="98" y="78"/>
                </a:lnTo>
                <a:lnTo>
                  <a:pt x="114" y="73"/>
                </a:lnTo>
                <a:lnTo>
                  <a:pt x="131" y="68"/>
                </a:lnTo>
                <a:lnTo>
                  <a:pt x="147" y="63"/>
                </a:lnTo>
                <a:lnTo>
                  <a:pt x="164" y="57"/>
                </a:lnTo>
                <a:lnTo>
                  <a:pt x="180" y="52"/>
                </a:lnTo>
                <a:lnTo>
                  <a:pt x="196" y="46"/>
                </a:lnTo>
                <a:lnTo>
                  <a:pt x="213" y="40"/>
                </a:lnTo>
                <a:lnTo>
                  <a:pt x="229" y="35"/>
                </a:lnTo>
                <a:lnTo>
                  <a:pt x="246" y="29"/>
                </a:lnTo>
                <a:lnTo>
                  <a:pt x="262" y="24"/>
                </a:lnTo>
                <a:lnTo>
                  <a:pt x="278" y="19"/>
                </a:lnTo>
                <a:lnTo>
                  <a:pt x="295" y="14"/>
                </a:lnTo>
                <a:lnTo>
                  <a:pt x="311" y="10"/>
                </a:lnTo>
                <a:lnTo>
                  <a:pt x="327" y="7"/>
                </a:lnTo>
                <a:lnTo>
                  <a:pt x="344" y="4"/>
                </a:lnTo>
                <a:lnTo>
                  <a:pt x="360" y="2"/>
                </a:lnTo>
                <a:lnTo>
                  <a:pt x="377" y="1"/>
                </a:lnTo>
                <a:lnTo>
                  <a:pt x="393" y="0"/>
                </a:lnTo>
                <a:lnTo>
                  <a:pt x="393" y="18"/>
                </a:lnTo>
                <a:lnTo>
                  <a:pt x="377" y="18"/>
                </a:lnTo>
                <a:lnTo>
                  <a:pt x="360" y="20"/>
                </a:lnTo>
                <a:lnTo>
                  <a:pt x="344" y="22"/>
                </a:lnTo>
                <a:lnTo>
                  <a:pt x="327" y="25"/>
                </a:lnTo>
                <a:lnTo>
                  <a:pt x="311" y="28"/>
                </a:lnTo>
                <a:lnTo>
                  <a:pt x="295" y="32"/>
                </a:lnTo>
                <a:lnTo>
                  <a:pt x="278" y="37"/>
                </a:lnTo>
                <a:lnTo>
                  <a:pt x="262" y="42"/>
                </a:lnTo>
                <a:lnTo>
                  <a:pt x="246" y="47"/>
                </a:lnTo>
                <a:lnTo>
                  <a:pt x="229" y="52"/>
                </a:lnTo>
                <a:lnTo>
                  <a:pt x="213" y="58"/>
                </a:lnTo>
                <a:lnTo>
                  <a:pt x="196" y="64"/>
                </a:lnTo>
                <a:lnTo>
                  <a:pt x="180" y="69"/>
                </a:lnTo>
                <a:lnTo>
                  <a:pt x="164" y="75"/>
                </a:lnTo>
                <a:lnTo>
                  <a:pt x="147" y="81"/>
                </a:lnTo>
                <a:lnTo>
                  <a:pt x="131" y="86"/>
                </a:lnTo>
                <a:lnTo>
                  <a:pt x="114" y="91"/>
                </a:lnTo>
                <a:lnTo>
                  <a:pt x="98" y="95"/>
                </a:lnTo>
                <a:lnTo>
                  <a:pt x="82" y="99"/>
                </a:lnTo>
                <a:lnTo>
                  <a:pt x="65" y="103"/>
                </a:lnTo>
                <a:lnTo>
                  <a:pt x="49" y="106"/>
                </a:lnTo>
                <a:lnTo>
                  <a:pt x="33" y="108"/>
                </a:lnTo>
                <a:lnTo>
                  <a:pt x="16" y="109"/>
                </a:lnTo>
                <a:lnTo>
                  <a:pt x="0" y="110"/>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5895975"/>
            <a:ext cx="3743325" cy="323850"/>
          </a:xfrm>
          <a:custGeom>
            <a:avLst/>
            <a:gdLst/>
            <a:ahLst/>
            <a:cxnLst/>
            <a:rect l="l" t="t" r="r" b="b"/>
            <a:pathLst>
              <a:path w="393" h="34">
                <a:moveTo>
                  <a:pt x="0" y="0"/>
                </a:moveTo>
                <a:lnTo>
                  <a:pt x="16" y="0"/>
                </a:lnTo>
                <a:lnTo>
                  <a:pt x="33" y="0"/>
                </a:lnTo>
                <a:lnTo>
                  <a:pt x="49" y="1"/>
                </a:lnTo>
                <a:lnTo>
                  <a:pt x="65" y="1"/>
                </a:lnTo>
                <a:lnTo>
                  <a:pt x="82" y="2"/>
                </a:lnTo>
                <a:lnTo>
                  <a:pt x="98" y="3"/>
                </a:lnTo>
                <a:lnTo>
                  <a:pt x="114" y="4"/>
                </a:lnTo>
                <a:lnTo>
                  <a:pt x="131" y="6"/>
                </a:lnTo>
                <a:lnTo>
                  <a:pt x="147" y="7"/>
                </a:lnTo>
                <a:lnTo>
                  <a:pt x="164" y="8"/>
                </a:lnTo>
                <a:lnTo>
                  <a:pt x="180" y="10"/>
                </a:lnTo>
                <a:lnTo>
                  <a:pt x="196" y="11"/>
                </a:lnTo>
                <a:lnTo>
                  <a:pt x="213" y="12"/>
                </a:lnTo>
                <a:lnTo>
                  <a:pt x="229" y="14"/>
                </a:lnTo>
                <a:lnTo>
                  <a:pt x="246" y="15"/>
                </a:lnTo>
                <a:lnTo>
                  <a:pt x="262" y="16"/>
                </a:lnTo>
                <a:lnTo>
                  <a:pt x="278" y="18"/>
                </a:lnTo>
                <a:lnTo>
                  <a:pt x="295" y="19"/>
                </a:lnTo>
                <a:lnTo>
                  <a:pt x="311" y="20"/>
                </a:lnTo>
                <a:lnTo>
                  <a:pt x="327" y="21"/>
                </a:lnTo>
                <a:lnTo>
                  <a:pt x="344" y="21"/>
                </a:lnTo>
                <a:lnTo>
                  <a:pt x="360" y="22"/>
                </a:lnTo>
                <a:lnTo>
                  <a:pt x="377" y="22"/>
                </a:lnTo>
                <a:lnTo>
                  <a:pt x="393" y="22"/>
                </a:lnTo>
                <a:lnTo>
                  <a:pt x="393" y="34"/>
                </a:lnTo>
                <a:lnTo>
                  <a:pt x="377" y="34"/>
                </a:lnTo>
                <a:lnTo>
                  <a:pt x="360" y="34"/>
                </a:lnTo>
                <a:lnTo>
                  <a:pt x="344" y="33"/>
                </a:lnTo>
                <a:lnTo>
                  <a:pt x="327" y="32"/>
                </a:lnTo>
                <a:lnTo>
                  <a:pt x="311" y="32"/>
                </a:lnTo>
                <a:lnTo>
                  <a:pt x="295" y="31"/>
                </a:lnTo>
                <a:lnTo>
                  <a:pt x="278" y="29"/>
                </a:lnTo>
                <a:lnTo>
                  <a:pt x="262" y="28"/>
                </a:lnTo>
                <a:lnTo>
                  <a:pt x="246" y="27"/>
                </a:lnTo>
                <a:lnTo>
                  <a:pt x="229" y="26"/>
                </a:lnTo>
                <a:lnTo>
                  <a:pt x="213" y="24"/>
                </a:lnTo>
                <a:lnTo>
                  <a:pt x="196" y="23"/>
                </a:lnTo>
                <a:lnTo>
                  <a:pt x="180" y="21"/>
                </a:lnTo>
                <a:lnTo>
                  <a:pt x="164" y="20"/>
                </a:lnTo>
                <a:lnTo>
                  <a:pt x="147" y="19"/>
                </a:lnTo>
                <a:lnTo>
                  <a:pt x="131" y="17"/>
                </a:lnTo>
                <a:lnTo>
                  <a:pt x="114" y="16"/>
                </a:lnTo>
                <a:lnTo>
                  <a:pt x="98" y="15"/>
                </a:lnTo>
                <a:lnTo>
                  <a:pt x="82" y="14"/>
                </a:lnTo>
                <a:lnTo>
                  <a:pt x="65" y="13"/>
                </a:lnTo>
                <a:lnTo>
                  <a:pt x="49" y="12"/>
                </a:lnTo>
                <a:lnTo>
                  <a:pt x="33" y="12"/>
                </a:lnTo>
                <a:lnTo>
                  <a:pt x="16" y="12"/>
                </a:lnTo>
                <a:lnTo>
                  <a:pt x="0" y="12"/>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3200400"/>
            <a:ext cx="3743325" cy="3048000"/>
          </a:xfrm>
          <a:custGeom>
            <a:avLst/>
            <a:gdLst/>
            <a:ahLst/>
            <a:cxnLst/>
            <a:rect l="l" t="t" r="r" b="b"/>
            <a:pathLst>
              <a:path w="393" h="320">
                <a:moveTo>
                  <a:pt x="0" y="301"/>
                </a:moveTo>
                <a:lnTo>
                  <a:pt x="16" y="299"/>
                </a:lnTo>
                <a:lnTo>
                  <a:pt x="33" y="295"/>
                </a:lnTo>
                <a:lnTo>
                  <a:pt x="49" y="288"/>
                </a:lnTo>
                <a:lnTo>
                  <a:pt x="65" y="278"/>
                </a:lnTo>
                <a:lnTo>
                  <a:pt x="82" y="267"/>
                </a:lnTo>
                <a:lnTo>
                  <a:pt x="98" y="254"/>
                </a:lnTo>
                <a:lnTo>
                  <a:pt x="114" y="239"/>
                </a:lnTo>
                <a:lnTo>
                  <a:pt x="131" y="223"/>
                </a:lnTo>
                <a:lnTo>
                  <a:pt x="147" y="205"/>
                </a:lnTo>
                <a:lnTo>
                  <a:pt x="164" y="187"/>
                </a:lnTo>
                <a:lnTo>
                  <a:pt x="180" y="169"/>
                </a:lnTo>
                <a:lnTo>
                  <a:pt x="196" y="150"/>
                </a:lnTo>
                <a:lnTo>
                  <a:pt x="213" y="132"/>
                </a:lnTo>
                <a:lnTo>
                  <a:pt x="229" y="113"/>
                </a:lnTo>
                <a:lnTo>
                  <a:pt x="246" y="95"/>
                </a:lnTo>
                <a:lnTo>
                  <a:pt x="262" y="78"/>
                </a:lnTo>
                <a:lnTo>
                  <a:pt x="278" y="62"/>
                </a:lnTo>
                <a:lnTo>
                  <a:pt x="295" y="47"/>
                </a:lnTo>
                <a:lnTo>
                  <a:pt x="311" y="34"/>
                </a:lnTo>
                <a:lnTo>
                  <a:pt x="327" y="22"/>
                </a:lnTo>
                <a:lnTo>
                  <a:pt x="344" y="13"/>
                </a:lnTo>
                <a:lnTo>
                  <a:pt x="360" y="6"/>
                </a:lnTo>
                <a:lnTo>
                  <a:pt x="377" y="2"/>
                </a:lnTo>
                <a:lnTo>
                  <a:pt x="393" y="0"/>
                </a:lnTo>
                <a:lnTo>
                  <a:pt x="393" y="20"/>
                </a:lnTo>
                <a:lnTo>
                  <a:pt x="377" y="22"/>
                </a:lnTo>
                <a:lnTo>
                  <a:pt x="360" y="26"/>
                </a:lnTo>
                <a:lnTo>
                  <a:pt x="344" y="33"/>
                </a:lnTo>
                <a:lnTo>
                  <a:pt x="327" y="42"/>
                </a:lnTo>
                <a:lnTo>
                  <a:pt x="311" y="54"/>
                </a:lnTo>
                <a:lnTo>
                  <a:pt x="295" y="67"/>
                </a:lnTo>
                <a:lnTo>
                  <a:pt x="278" y="82"/>
                </a:lnTo>
                <a:lnTo>
                  <a:pt x="262" y="98"/>
                </a:lnTo>
                <a:lnTo>
                  <a:pt x="246" y="115"/>
                </a:lnTo>
                <a:lnTo>
                  <a:pt x="229" y="133"/>
                </a:lnTo>
                <a:lnTo>
                  <a:pt x="213" y="152"/>
                </a:lnTo>
                <a:lnTo>
                  <a:pt x="196" y="170"/>
                </a:lnTo>
                <a:lnTo>
                  <a:pt x="180" y="189"/>
                </a:lnTo>
                <a:lnTo>
                  <a:pt x="164" y="207"/>
                </a:lnTo>
                <a:lnTo>
                  <a:pt x="147" y="225"/>
                </a:lnTo>
                <a:lnTo>
                  <a:pt x="131" y="243"/>
                </a:lnTo>
                <a:lnTo>
                  <a:pt x="114" y="259"/>
                </a:lnTo>
                <a:lnTo>
                  <a:pt x="98" y="274"/>
                </a:lnTo>
                <a:lnTo>
                  <a:pt x="82" y="287"/>
                </a:lnTo>
                <a:lnTo>
                  <a:pt x="65" y="298"/>
                </a:lnTo>
                <a:lnTo>
                  <a:pt x="49" y="308"/>
                </a:lnTo>
                <a:lnTo>
                  <a:pt x="33" y="315"/>
                </a:lnTo>
                <a:lnTo>
                  <a:pt x="16" y="319"/>
                </a:lnTo>
                <a:lnTo>
                  <a:pt x="0" y="320"/>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5019675"/>
            <a:ext cx="3743325" cy="1400175"/>
          </a:xfrm>
          <a:custGeom>
            <a:avLst/>
            <a:gdLst/>
            <a:ahLst/>
            <a:cxnLst/>
            <a:rect l="l" t="t" r="r" b="b"/>
            <a:pathLst>
              <a:path w="393" h="147">
                <a:moveTo>
                  <a:pt x="0" y="129"/>
                </a:moveTo>
                <a:lnTo>
                  <a:pt x="16" y="129"/>
                </a:lnTo>
                <a:lnTo>
                  <a:pt x="33" y="127"/>
                </a:lnTo>
                <a:lnTo>
                  <a:pt x="49" y="124"/>
                </a:lnTo>
                <a:lnTo>
                  <a:pt x="65" y="120"/>
                </a:lnTo>
                <a:lnTo>
                  <a:pt x="82" y="115"/>
                </a:lnTo>
                <a:lnTo>
                  <a:pt x="98" y="109"/>
                </a:lnTo>
                <a:lnTo>
                  <a:pt x="114" y="103"/>
                </a:lnTo>
                <a:lnTo>
                  <a:pt x="131" y="96"/>
                </a:lnTo>
                <a:lnTo>
                  <a:pt x="147" y="88"/>
                </a:lnTo>
                <a:lnTo>
                  <a:pt x="164" y="81"/>
                </a:lnTo>
                <a:lnTo>
                  <a:pt x="180" y="73"/>
                </a:lnTo>
                <a:lnTo>
                  <a:pt x="196" y="65"/>
                </a:lnTo>
                <a:lnTo>
                  <a:pt x="213" y="57"/>
                </a:lnTo>
                <a:lnTo>
                  <a:pt x="229" y="49"/>
                </a:lnTo>
                <a:lnTo>
                  <a:pt x="246" y="41"/>
                </a:lnTo>
                <a:lnTo>
                  <a:pt x="262" y="33"/>
                </a:lnTo>
                <a:lnTo>
                  <a:pt x="278" y="26"/>
                </a:lnTo>
                <a:lnTo>
                  <a:pt x="295" y="20"/>
                </a:lnTo>
                <a:lnTo>
                  <a:pt x="311" y="14"/>
                </a:lnTo>
                <a:lnTo>
                  <a:pt x="327" y="9"/>
                </a:lnTo>
                <a:lnTo>
                  <a:pt x="344" y="5"/>
                </a:lnTo>
                <a:lnTo>
                  <a:pt x="360" y="2"/>
                </a:lnTo>
                <a:lnTo>
                  <a:pt x="377" y="0"/>
                </a:lnTo>
                <a:lnTo>
                  <a:pt x="393" y="0"/>
                </a:lnTo>
                <a:lnTo>
                  <a:pt x="393" y="18"/>
                </a:lnTo>
                <a:lnTo>
                  <a:pt x="377" y="18"/>
                </a:lnTo>
                <a:lnTo>
                  <a:pt x="360" y="20"/>
                </a:lnTo>
                <a:lnTo>
                  <a:pt x="344" y="23"/>
                </a:lnTo>
                <a:lnTo>
                  <a:pt x="327" y="27"/>
                </a:lnTo>
                <a:lnTo>
                  <a:pt x="311" y="32"/>
                </a:lnTo>
                <a:lnTo>
                  <a:pt x="295" y="38"/>
                </a:lnTo>
                <a:lnTo>
                  <a:pt x="278" y="44"/>
                </a:lnTo>
                <a:lnTo>
                  <a:pt x="262" y="51"/>
                </a:lnTo>
                <a:lnTo>
                  <a:pt x="246" y="59"/>
                </a:lnTo>
                <a:lnTo>
                  <a:pt x="229" y="66"/>
                </a:lnTo>
                <a:lnTo>
                  <a:pt x="213" y="74"/>
                </a:lnTo>
                <a:lnTo>
                  <a:pt x="196" y="82"/>
                </a:lnTo>
                <a:lnTo>
                  <a:pt x="180" y="90"/>
                </a:lnTo>
                <a:lnTo>
                  <a:pt x="164" y="98"/>
                </a:lnTo>
                <a:lnTo>
                  <a:pt x="147" y="106"/>
                </a:lnTo>
                <a:lnTo>
                  <a:pt x="131" y="114"/>
                </a:lnTo>
                <a:lnTo>
                  <a:pt x="114" y="121"/>
                </a:lnTo>
                <a:lnTo>
                  <a:pt x="98" y="127"/>
                </a:lnTo>
                <a:lnTo>
                  <a:pt x="82" y="133"/>
                </a:lnTo>
                <a:lnTo>
                  <a:pt x="65" y="138"/>
                </a:lnTo>
                <a:lnTo>
                  <a:pt x="49" y="142"/>
                </a:lnTo>
                <a:lnTo>
                  <a:pt x="33" y="145"/>
                </a:lnTo>
                <a:lnTo>
                  <a:pt x="16" y="146"/>
                </a:lnTo>
                <a:lnTo>
                  <a:pt x="0" y="147"/>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6219825"/>
            <a:ext cx="3743325" cy="314325"/>
          </a:xfrm>
          <a:custGeom>
            <a:avLst/>
            <a:gdLst/>
            <a:ahLst/>
            <a:cxnLst/>
            <a:rect l="l" t="t" r="r" b="b"/>
            <a:pathLst>
              <a:path w="393" h="33">
                <a:moveTo>
                  <a:pt x="0" y="21"/>
                </a:moveTo>
                <a:lnTo>
                  <a:pt x="16" y="21"/>
                </a:lnTo>
                <a:lnTo>
                  <a:pt x="33" y="21"/>
                </a:lnTo>
                <a:lnTo>
                  <a:pt x="49" y="20"/>
                </a:lnTo>
                <a:lnTo>
                  <a:pt x="65" y="20"/>
                </a:lnTo>
                <a:lnTo>
                  <a:pt x="82" y="19"/>
                </a:lnTo>
                <a:lnTo>
                  <a:pt x="98" y="18"/>
                </a:lnTo>
                <a:lnTo>
                  <a:pt x="114" y="17"/>
                </a:lnTo>
                <a:lnTo>
                  <a:pt x="131" y="16"/>
                </a:lnTo>
                <a:lnTo>
                  <a:pt x="147" y="15"/>
                </a:lnTo>
                <a:lnTo>
                  <a:pt x="164" y="13"/>
                </a:lnTo>
                <a:lnTo>
                  <a:pt x="180" y="12"/>
                </a:lnTo>
                <a:lnTo>
                  <a:pt x="196" y="11"/>
                </a:lnTo>
                <a:lnTo>
                  <a:pt x="213" y="9"/>
                </a:lnTo>
                <a:lnTo>
                  <a:pt x="229" y="8"/>
                </a:lnTo>
                <a:lnTo>
                  <a:pt x="246" y="7"/>
                </a:lnTo>
                <a:lnTo>
                  <a:pt x="262" y="6"/>
                </a:lnTo>
                <a:lnTo>
                  <a:pt x="278" y="4"/>
                </a:lnTo>
                <a:lnTo>
                  <a:pt x="295" y="3"/>
                </a:lnTo>
                <a:lnTo>
                  <a:pt x="311" y="3"/>
                </a:lnTo>
                <a:lnTo>
                  <a:pt x="327" y="2"/>
                </a:lnTo>
                <a:lnTo>
                  <a:pt x="344" y="1"/>
                </a:lnTo>
                <a:lnTo>
                  <a:pt x="360" y="1"/>
                </a:lnTo>
                <a:lnTo>
                  <a:pt x="377" y="0"/>
                </a:lnTo>
                <a:lnTo>
                  <a:pt x="393" y="0"/>
                </a:lnTo>
                <a:lnTo>
                  <a:pt x="393" y="12"/>
                </a:lnTo>
                <a:lnTo>
                  <a:pt x="377" y="12"/>
                </a:lnTo>
                <a:lnTo>
                  <a:pt x="360" y="12"/>
                </a:lnTo>
                <a:lnTo>
                  <a:pt x="344" y="13"/>
                </a:lnTo>
                <a:lnTo>
                  <a:pt x="327" y="14"/>
                </a:lnTo>
                <a:lnTo>
                  <a:pt x="311" y="14"/>
                </a:lnTo>
                <a:lnTo>
                  <a:pt x="295" y="15"/>
                </a:lnTo>
                <a:lnTo>
                  <a:pt x="278" y="16"/>
                </a:lnTo>
                <a:lnTo>
                  <a:pt x="262" y="17"/>
                </a:lnTo>
                <a:lnTo>
                  <a:pt x="246" y="19"/>
                </a:lnTo>
                <a:lnTo>
                  <a:pt x="229" y="20"/>
                </a:lnTo>
                <a:lnTo>
                  <a:pt x="213" y="21"/>
                </a:lnTo>
                <a:lnTo>
                  <a:pt x="196" y="23"/>
                </a:lnTo>
                <a:lnTo>
                  <a:pt x="180" y="24"/>
                </a:lnTo>
                <a:lnTo>
                  <a:pt x="164" y="25"/>
                </a:lnTo>
                <a:lnTo>
                  <a:pt x="147" y="26"/>
                </a:lnTo>
                <a:lnTo>
                  <a:pt x="131" y="28"/>
                </a:lnTo>
                <a:lnTo>
                  <a:pt x="114" y="29"/>
                </a:lnTo>
                <a:lnTo>
                  <a:pt x="98" y="30"/>
                </a:lnTo>
                <a:lnTo>
                  <a:pt x="82" y="31"/>
                </a:lnTo>
                <a:lnTo>
                  <a:pt x="65" y="31"/>
                </a:lnTo>
                <a:lnTo>
                  <a:pt x="49" y="32"/>
                </a:lnTo>
                <a:lnTo>
                  <a:pt x="33" y="33"/>
                </a:lnTo>
                <a:lnTo>
                  <a:pt x="16" y="33"/>
                </a:lnTo>
                <a:lnTo>
                  <a:pt x="0" y="33"/>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41195" y="1304925"/>
            <a:ext cx="114300" cy="471493"/>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7175" y="1304925"/>
            <a:ext cx="1626870" cy="471493"/>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Rectangle 43"/>
          <p:cNvSpPr/>
          <p:nvPr/>
        </p:nvSpPr>
        <p:spPr>
          <a:xfrm>
            <a:off x="1941195" y="1833568"/>
            <a:ext cx="114300" cy="471490"/>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7175" y="1833568"/>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Rectangle 45"/>
          <p:cNvSpPr/>
          <p:nvPr/>
        </p:nvSpPr>
        <p:spPr>
          <a:xfrm>
            <a:off x="1941195" y="2362207"/>
            <a:ext cx="114300" cy="47149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7175" y="2362207"/>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Rectangle 47"/>
          <p:cNvSpPr/>
          <p:nvPr/>
        </p:nvSpPr>
        <p:spPr>
          <a:xfrm>
            <a:off x="1941195" y="2890847"/>
            <a:ext cx="114300" cy="471490"/>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7175" y="2890847"/>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Rectangle 49"/>
          <p:cNvSpPr/>
          <p:nvPr/>
        </p:nvSpPr>
        <p:spPr>
          <a:xfrm>
            <a:off x="1941195" y="3419487"/>
            <a:ext cx="114300" cy="471487"/>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7175" y="3419487"/>
            <a:ext cx="1626870" cy="47148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Rectangle 51"/>
          <p:cNvSpPr/>
          <p:nvPr/>
        </p:nvSpPr>
        <p:spPr>
          <a:xfrm>
            <a:off x="1941195" y="3948124"/>
            <a:ext cx="114300" cy="4714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7175" y="3948124"/>
            <a:ext cx="1626870" cy="47148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4" name="Rectangle 53"/>
          <p:cNvSpPr/>
          <p:nvPr/>
        </p:nvSpPr>
        <p:spPr>
          <a:xfrm>
            <a:off x="1941195" y="4476761"/>
            <a:ext cx="114300" cy="471487"/>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7175" y="4476761"/>
            <a:ext cx="1626870" cy="47148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6" name="Rectangle 55"/>
          <p:cNvSpPr/>
          <p:nvPr/>
        </p:nvSpPr>
        <p:spPr>
          <a:xfrm>
            <a:off x="1941195" y="5005398"/>
            <a:ext cx="114300" cy="47148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7175" y="5005398"/>
            <a:ext cx="1626870" cy="471484"/>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8" name="Rectangle 57"/>
          <p:cNvSpPr/>
          <p:nvPr/>
        </p:nvSpPr>
        <p:spPr>
          <a:xfrm>
            <a:off x="1941195" y="5534032"/>
            <a:ext cx="114300" cy="47148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7175" y="5534032"/>
            <a:ext cx="1626870" cy="471484"/>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0" name="Rectangle 59"/>
          <p:cNvSpPr/>
          <p:nvPr/>
        </p:nvSpPr>
        <p:spPr>
          <a:xfrm>
            <a:off x="1941195" y="6062666"/>
            <a:ext cx="114300" cy="47148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7175" y="6062666"/>
            <a:ext cx="1626870" cy="471484"/>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2" name="Rectangle 61"/>
          <p:cNvSpPr/>
          <p:nvPr/>
        </p:nvSpPr>
        <p:spPr>
          <a:xfrm>
            <a:off x="5800725" y="1504950"/>
            <a:ext cx="114300" cy="1886366"/>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72175" y="1504950"/>
            <a:ext cx="1381125" cy="1886366"/>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4" name="Rectangle 63"/>
          <p:cNvSpPr/>
          <p:nvPr/>
        </p:nvSpPr>
        <p:spPr>
          <a:xfrm>
            <a:off x="5800725" y="3448466"/>
            <a:ext cx="114300" cy="173806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72175" y="3448466"/>
            <a:ext cx="1381125" cy="1738067"/>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6" name="Rectangle 65"/>
          <p:cNvSpPr/>
          <p:nvPr/>
        </p:nvSpPr>
        <p:spPr>
          <a:xfrm>
            <a:off x="5800725" y="5243683"/>
            <a:ext cx="114300" cy="109044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72175" y="5243683"/>
            <a:ext cx="1381125" cy="1090442"/>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8" name="Rounded Rectangle 67"/>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70" name="Rectangle 69"/>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2" name="TextBox 7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73" name="TextBox 72"/>
          <p:cNvSpPr txBox="1"/>
          <p:nvPr/>
        </p:nvSpPr>
        <p:spPr>
          <a:xfrm>
            <a:off x="289550" y="1373031"/>
            <a:ext cx="1575444" cy="186689"/>
          </a:xfrm>
          <a:prstGeom prst="rect">
            <a:avLst/>
          </a:prstGeom>
          <a:noFill/>
        </p:spPr>
        <p:txBody>
          <a:bodyPr wrap="none" lIns="0" rIns="0" tIns="0" bIns="0">
            <a:spAutoFit/>
          </a:bodyPr>
          <a:lstStyle/>
          <a:p>
            <a:r>
              <a:rPr sz="1100" b="1">
                <a:solidFill>
                  <a:srgbClr val="2E2E2E"/>
                </a:solidFill>
                <a:latin typeface="Calibri"/>
              </a:rPr>
              <a:t>LETI Pharma / Laboratorios</a:t>
            </a:r>
          </a:p>
        </p:txBody>
      </p:sp>
      <p:sp>
        <p:nvSpPr>
          <p:cNvPr id="74" name="TextBox 73"/>
          <p:cNvSpPr txBox="1"/>
          <p:nvPr/>
        </p:nvSpPr>
        <p:spPr>
          <a:xfrm>
            <a:off x="1080679" y="1540671"/>
            <a:ext cx="706487" cy="186689"/>
          </a:xfrm>
          <a:prstGeom prst="rect">
            <a:avLst/>
          </a:prstGeom>
          <a:noFill/>
        </p:spPr>
        <p:txBody>
          <a:bodyPr wrap="none" lIns="0" rIns="0" tIns="0" bIns="0">
            <a:spAutoFit/>
          </a:bodyPr>
          <a:lstStyle/>
          <a:p>
            <a:r>
              <a:rPr sz="1100" b="1">
                <a:solidFill>
                  <a:srgbClr val="2E2E2E"/>
                </a:solidFill>
                <a:latin typeface="Calibri"/>
              </a:rPr>
              <a:t>LETI, S.L.U.</a:t>
            </a:r>
          </a:p>
        </p:txBody>
      </p:sp>
      <p:pic>
        <p:nvPicPr>
          <p:cNvPr id="75" name="Picture 74" descr="lock.png"/>
          <p:cNvPicPr>
            <a:picLocks noChangeAspect="1"/>
          </p:cNvPicPr>
          <p:nvPr/>
        </p:nvPicPr>
        <p:blipFill>
          <a:blip r:embed="rId4"/>
          <a:stretch>
            <a:fillRect/>
          </a:stretch>
        </p:blipFill>
        <p:spPr>
          <a:xfrm>
            <a:off x="1735218" y="1530892"/>
            <a:ext cx="128699" cy="187198"/>
          </a:xfrm>
          <a:prstGeom prst="rect">
            <a:avLst/>
          </a:prstGeom>
        </p:spPr>
      </p:pic>
      <p:sp>
        <p:nvSpPr>
          <p:cNvPr id="76" name="TextBox 75"/>
          <p:cNvSpPr txBox="1"/>
          <p:nvPr/>
        </p:nvSpPr>
        <p:spPr>
          <a:xfrm>
            <a:off x="831881" y="1985493"/>
            <a:ext cx="955285" cy="186689"/>
          </a:xfrm>
          <a:prstGeom prst="rect">
            <a:avLst/>
          </a:prstGeom>
          <a:noFill/>
        </p:spPr>
        <p:txBody>
          <a:bodyPr wrap="none" lIns="0" rIns="0" tIns="0" bIns="0">
            <a:spAutoFit/>
          </a:bodyPr>
          <a:lstStyle/>
          <a:p>
            <a:r>
              <a:rPr sz="1100" b="1">
                <a:solidFill>
                  <a:srgbClr val="2E2E2E"/>
                </a:solidFill>
                <a:latin typeface="Calibri"/>
              </a:rPr>
              <a:t>ALK-Abelló A/S</a:t>
            </a:r>
          </a:p>
        </p:txBody>
      </p:sp>
      <p:pic>
        <p:nvPicPr>
          <p:cNvPr id="77" name="Picture 76" descr="lock.png"/>
          <p:cNvPicPr>
            <a:picLocks noChangeAspect="1"/>
          </p:cNvPicPr>
          <p:nvPr/>
        </p:nvPicPr>
        <p:blipFill>
          <a:blip r:embed="rId4"/>
          <a:stretch>
            <a:fillRect/>
          </a:stretch>
        </p:blipFill>
        <p:spPr>
          <a:xfrm>
            <a:off x="1735218" y="1975714"/>
            <a:ext cx="128699" cy="187198"/>
          </a:xfrm>
          <a:prstGeom prst="rect">
            <a:avLst/>
          </a:prstGeom>
        </p:spPr>
      </p:pic>
      <p:sp>
        <p:nvSpPr>
          <p:cNvPr id="78" name="TextBox 77"/>
          <p:cNvSpPr txBox="1"/>
          <p:nvPr/>
        </p:nvSpPr>
        <p:spPr>
          <a:xfrm>
            <a:off x="841934" y="2514132"/>
            <a:ext cx="945232" cy="186689"/>
          </a:xfrm>
          <a:prstGeom prst="rect">
            <a:avLst/>
          </a:prstGeom>
          <a:noFill/>
        </p:spPr>
        <p:txBody>
          <a:bodyPr wrap="none" lIns="0" rIns="0" tIns="0" bIns="0">
            <a:spAutoFit/>
          </a:bodyPr>
          <a:lstStyle/>
          <a:p>
            <a:r>
              <a:rPr sz="1100" b="1">
                <a:solidFill>
                  <a:srgbClr val="2E2E2E"/>
                </a:solidFill>
                <a:latin typeface="Calibri"/>
              </a:rPr>
              <a:t>Inmunotek S.L.</a:t>
            </a:r>
          </a:p>
        </p:txBody>
      </p:sp>
      <p:pic>
        <p:nvPicPr>
          <p:cNvPr id="79" name="Picture 78" descr="lock.png"/>
          <p:cNvPicPr>
            <a:picLocks noChangeAspect="1"/>
          </p:cNvPicPr>
          <p:nvPr/>
        </p:nvPicPr>
        <p:blipFill>
          <a:blip r:embed="rId4"/>
          <a:stretch>
            <a:fillRect/>
          </a:stretch>
        </p:blipFill>
        <p:spPr>
          <a:xfrm>
            <a:off x="1735218" y="2504353"/>
            <a:ext cx="128699" cy="187198"/>
          </a:xfrm>
          <a:prstGeom prst="rect">
            <a:avLst/>
          </a:prstGeom>
        </p:spPr>
      </p:pic>
      <p:sp>
        <p:nvSpPr>
          <p:cNvPr id="80" name="TextBox 79"/>
          <p:cNvSpPr txBox="1"/>
          <p:nvPr/>
        </p:nvSpPr>
        <p:spPr>
          <a:xfrm>
            <a:off x="476999" y="2958952"/>
            <a:ext cx="1387995" cy="186689"/>
          </a:xfrm>
          <a:prstGeom prst="rect">
            <a:avLst/>
          </a:prstGeom>
          <a:noFill/>
        </p:spPr>
        <p:txBody>
          <a:bodyPr wrap="none" lIns="0" rIns="0" tIns="0" bIns="0">
            <a:spAutoFit/>
          </a:bodyPr>
          <a:lstStyle/>
          <a:p>
            <a:r>
              <a:rPr sz="1100" b="1">
                <a:solidFill>
                  <a:srgbClr val="2E2E2E"/>
                </a:solidFill>
                <a:latin typeface="Calibri"/>
              </a:rPr>
              <a:t>Allergy Therapeutics plc</a:t>
            </a:r>
          </a:p>
        </p:txBody>
      </p:sp>
      <p:pic>
        <p:nvPicPr>
          <p:cNvPr id="81" name="Picture 80" descr="lock.png"/>
          <p:cNvPicPr>
            <a:picLocks noChangeAspect="1"/>
          </p:cNvPicPr>
          <p:nvPr/>
        </p:nvPicPr>
        <p:blipFill>
          <a:blip r:embed="rId4"/>
          <a:stretch>
            <a:fillRect/>
          </a:stretch>
        </p:blipFill>
        <p:spPr>
          <a:xfrm>
            <a:off x="1735218" y="3116813"/>
            <a:ext cx="128699" cy="187198"/>
          </a:xfrm>
          <a:prstGeom prst="rect">
            <a:avLst/>
          </a:prstGeom>
        </p:spPr>
      </p:pic>
      <p:sp>
        <p:nvSpPr>
          <p:cNvPr id="82" name="TextBox 81"/>
          <p:cNvSpPr txBox="1"/>
          <p:nvPr/>
        </p:nvSpPr>
        <p:spPr>
          <a:xfrm>
            <a:off x="416971" y="3487590"/>
            <a:ext cx="1448023" cy="186689"/>
          </a:xfrm>
          <a:prstGeom prst="rect">
            <a:avLst/>
          </a:prstGeom>
          <a:noFill/>
        </p:spPr>
        <p:txBody>
          <a:bodyPr wrap="none" lIns="0" rIns="0" tIns="0" bIns="0">
            <a:spAutoFit/>
          </a:bodyPr>
          <a:lstStyle/>
          <a:p>
            <a:r>
              <a:rPr sz="1100" b="1">
                <a:solidFill>
                  <a:srgbClr val="2E2E2E"/>
                </a:solidFill>
                <a:latin typeface="Calibri"/>
              </a:rPr>
              <a:t>Torii Pharmaceutical Co.,</a:t>
            </a:r>
          </a:p>
        </p:txBody>
      </p:sp>
      <p:sp>
        <p:nvSpPr>
          <p:cNvPr id="83" name="TextBox 82"/>
          <p:cNvSpPr txBox="1"/>
          <p:nvPr/>
        </p:nvSpPr>
        <p:spPr>
          <a:xfrm>
            <a:off x="1490818" y="3655230"/>
            <a:ext cx="296348" cy="186689"/>
          </a:xfrm>
          <a:prstGeom prst="rect">
            <a:avLst/>
          </a:prstGeom>
          <a:noFill/>
        </p:spPr>
        <p:txBody>
          <a:bodyPr wrap="none" lIns="0" rIns="0" tIns="0" bIns="0">
            <a:spAutoFit/>
          </a:bodyPr>
          <a:lstStyle/>
          <a:p>
            <a:r>
              <a:rPr sz="1100" b="1">
                <a:solidFill>
                  <a:srgbClr val="2E2E2E"/>
                </a:solidFill>
                <a:latin typeface="Calibri"/>
              </a:rPr>
              <a:t>Ltd.</a:t>
            </a:r>
          </a:p>
        </p:txBody>
      </p:sp>
      <p:pic>
        <p:nvPicPr>
          <p:cNvPr id="84" name="Picture 83" descr="lock.png"/>
          <p:cNvPicPr>
            <a:picLocks noChangeAspect="1"/>
          </p:cNvPicPr>
          <p:nvPr/>
        </p:nvPicPr>
        <p:blipFill>
          <a:blip r:embed="rId4"/>
          <a:stretch>
            <a:fillRect/>
          </a:stretch>
        </p:blipFill>
        <p:spPr>
          <a:xfrm>
            <a:off x="1735218" y="3645451"/>
            <a:ext cx="128699" cy="187198"/>
          </a:xfrm>
          <a:prstGeom prst="rect">
            <a:avLst/>
          </a:prstGeom>
        </p:spPr>
      </p:pic>
      <p:sp>
        <p:nvSpPr>
          <p:cNvPr id="85" name="TextBox 84"/>
          <p:cNvSpPr txBox="1"/>
          <p:nvPr/>
        </p:nvSpPr>
        <p:spPr>
          <a:xfrm>
            <a:off x="522595" y="4100047"/>
            <a:ext cx="1264570" cy="186689"/>
          </a:xfrm>
          <a:prstGeom prst="rect">
            <a:avLst/>
          </a:prstGeom>
          <a:noFill/>
        </p:spPr>
        <p:txBody>
          <a:bodyPr wrap="none" lIns="0" rIns="0" tIns="0" bIns="0">
            <a:spAutoFit/>
          </a:bodyPr>
          <a:lstStyle/>
          <a:p>
            <a:r>
              <a:rPr sz="1100" b="1">
                <a:solidFill>
                  <a:srgbClr val="2E2E2E"/>
                </a:solidFill>
                <a:latin typeface="Calibri"/>
              </a:rPr>
              <a:t>DIATER Laboratories</a:t>
            </a:r>
          </a:p>
        </p:txBody>
      </p:sp>
      <p:pic>
        <p:nvPicPr>
          <p:cNvPr id="86" name="Picture 85" descr="lock.png"/>
          <p:cNvPicPr>
            <a:picLocks noChangeAspect="1"/>
          </p:cNvPicPr>
          <p:nvPr/>
        </p:nvPicPr>
        <p:blipFill>
          <a:blip r:embed="rId4"/>
          <a:stretch>
            <a:fillRect/>
          </a:stretch>
        </p:blipFill>
        <p:spPr>
          <a:xfrm>
            <a:off x="1735218" y="4090268"/>
            <a:ext cx="128699" cy="187198"/>
          </a:xfrm>
          <a:prstGeom prst="rect">
            <a:avLst/>
          </a:prstGeom>
        </p:spPr>
      </p:pic>
      <p:sp>
        <p:nvSpPr>
          <p:cNvPr id="87" name="TextBox 86"/>
          <p:cNvSpPr txBox="1"/>
          <p:nvPr/>
        </p:nvSpPr>
        <p:spPr>
          <a:xfrm>
            <a:off x="646026" y="4628684"/>
            <a:ext cx="1141139" cy="186689"/>
          </a:xfrm>
          <a:prstGeom prst="rect">
            <a:avLst/>
          </a:prstGeom>
          <a:noFill/>
        </p:spPr>
        <p:txBody>
          <a:bodyPr wrap="none" lIns="0" rIns="0" tIns="0" bIns="0">
            <a:spAutoFit/>
          </a:bodyPr>
          <a:lstStyle/>
          <a:p>
            <a:r>
              <a:rPr sz="1100" b="1">
                <a:solidFill>
                  <a:srgbClr val="2E2E2E"/>
                </a:solidFill>
                <a:latin typeface="Calibri"/>
              </a:rPr>
              <a:t>HAL Allergy Group</a:t>
            </a:r>
          </a:p>
        </p:txBody>
      </p:sp>
      <p:pic>
        <p:nvPicPr>
          <p:cNvPr id="88" name="Picture 87" descr="lock.png"/>
          <p:cNvPicPr>
            <a:picLocks noChangeAspect="1"/>
          </p:cNvPicPr>
          <p:nvPr/>
        </p:nvPicPr>
        <p:blipFill>
          <a:blip r:embed="rId4"/>
          <a:stretch>
            <a:fillRect/>
          </a:stretch>
        </p:blipFill>
        <p:spPr>
          <a:xfrm>
            <a:off x="1735218" y="4618905"/>
            <a:ext cx="128699" cy="187198"/>
          </a:xfrm>
          <a:prstGeom prst="rect">
            <a:avLst/>
          </a:prstGeom>
        </p:spPr>
      </p:pic>
      <p:sp>
        <p:nvSpPr>
          <p:cNvPr id="89" name="TextBox 88"/>
          <p:cNvSpPr txBox="1"/>
          <p:nvPr/>
        </p:nvSpPr>
        <p:spPr>
          <a:xfrm>
            <a:off x="794052" y="5073500"/>
            <a:ext cx="1070942" cy="186689"/>
          </a:xfrm>
          <a:prstGeom prst="rect">
            <a:avLst/>
          </a:prstGeom>
          <a:noFill/>
        </p:spPr>
        <p:txBody>
          <a:bodyPr wrap="none" lIns="0" rIns="0" tIns="0" bIns="0">
            <a:spAutoFit/>
          </a:bodyPr>
          <a:lstStyle/>
          <a:p>
            <a:r>
              <a:rPr sz="1100" b="1">
                <a:solidFill>
                  <a:srgbClr val="2E2E2E"/>
                </a:solidFill>
                <a:latin typeface="Calibri"/>
              </a:rPr>
              <a:t>Stallergenes Greer</a:t>
            </a:r>
          </a:p>
        </p:txBody>
      </p:sp>
      <p:sp>
        <p:nvSpPr>
          <p:cNvPr id="90" name="TextBox 89"/>
          <p:cNvSpPr txBox="1"/>
          <p:nvPr/>
        </p:nvSpPr>
        <p:spPr>
          <a:xfrm>
            <a:off x="744279" y="5241140"/>
            <a:ext cx="1042887" cy="186689"/>
          </a:xfrm>
          <a:prstGeom prst="rect">
            <a:avLst/>
          </a:prstGeom>
          <a:noFill/>
        </p:spPr>
        <p:txBody>
          <a:bodyPr wrap="none" lIns="0" rIns="0" tIns="0" bIns="0">
            <a:spAutoFit/>
          </a:bodyPr>
          <a:lstStyle/>
          <a:p>
            <a:r>
              <a:rPr sz="1100" b="1">
                <a:solidFill>
                  <a:srgbClr val="2E2E2E"/>
                </a:solidFill>
                <a:latin typeface="Calibri"/>
              </a:rPr>
              <a:t>International AG</a:t>
            </a:r>
          </a:p>
        </p:txBody>
      </p:sp>
      <p:pic>
        <p:nvPicPr>
          <p:cNvPr id="91" name="Picture 90" descr="lock.png"/>
          <p:cNvPicPr>
            <a:picLocks noChangeAspect="1"/>
          </p:cNvPicPr>
          <p:nvPr/>
        </p:nvPicPr>
        <p:blipFill>
          <a:blip r:embed="rId4"/>
          <a:stretch>
            <a:fillRect/>
          </a:stretch>
        </p:blipFill>
        <p:spPr>
          <a:xfrm>
            <a:off x="1735218" y="5231360"/>
            <a:ext cx="128699" cy="187198"/>
          </a:xfrm>
          <a:prstGeom prst="rect">
            <a:avLst/>
          </a:prstGeom>
        </p:spPr>
      </p:pic>
      <p:sp>
        <p:nvSpPr>
          <p:cNvPr id="92" name="TextBox 91"/>
          <p:cNvSpPr txBox="1"/>
          <p:nvPr/>
        </p:nvSpPr>
        <p:spPr>
          <a:xfrm>
            <a:off x="391894" y="5602133"/>
            <a:ext cx="1473100" cy="186689"/>
          </a:xfrm>
          <a:prstGeom prst="rect">
            <a:avLst/>
          </a:prstGeom>
          <a:noFill/>
        </p:spPr>
        <p:txBody>
          <a:bodyPr wrap="none" lIns="0" rIns="0" tIns="0" bIns="0">
            <a:spAutoFit/>
          </a:bodyPr>
          <a:lstStyle/>
          <a:p>
            <a:r>
              <a:rPr sz="1100" b="1">
                <a:solidFill>
                  <a:srgbClr val="2E2E2E"/>
                </a:solidFill>
                <a:latin typeface="Calibri"/>
              </a:rPr>
              <a:t>Jubilant HollisterStier LLC</a:t>
            </a:r>
          </a:p>
        </p:txBody>
      </p:sp>
      <p:pic>
        <p:nvPicPr>
          <p:cNvPr id="93" name="Picture 92" descr="lock.png"/>
          <p:cNvPicPr>
            <a:picLocks noChangeAspect="1"/>
          </p:cNvPicPr>
          <p:nvPr/>
        </p:nvPicPr>
        <p:blipFill>
          <a:blip r:embed="rId4"/>
          <a:stretch>
            <a:fillRect/>
          </a:stretch>
        </p:blipFill>
        <p:spPr>
          <a:xfrm>
            <a:off x="1735218" y="5759994"/>
            <a:ext cx="128699" cy="187198"/>
          </a:xfrm>
          <a:prstGeom prst="rect">
            <a:avLst/>
          </a:prstGeom>
        </p:spPr>
      </p:pic>
      <p:sp>
        <p:nvSpPr>
          <p:cNvPr id="94" name="TextBox 93"/>
          <p:cNvSpPr txBox="1"/>
          <p:nvPr/>
        </p:nvSpPr>
        <p:spPr>
          <a:xfrm>
            <a:off x="470996" y="6130768"/>
            <a:ext cx="1393998" cy="186689"/>
          </a:xfrm>
          <a:prstGeom prst="rect">
            <a:avLst/>
          </a:prstGeom>
          <a:noFill/>
        </p:spPr>
        <p:txBody>
          <a:bodyPr wrap="none" lIns="0" rIns="0" tIns="0" bIns="0">
            <a:spAutoFit/>
          </a:bodyPr>
          <a:lstStyle/>
          <a:p>
            <a:r>
              <a:rPr sz="1100" b="1">
                <a:solidFill>
                  <a:srgbClr val="2E2E2E"/>
                </a:solidFill>
                <a:latin typeface="Calibri"/>
              </a:rPr>
              <a:t>Allergopharma GmbH &amp;</a:t>
            </a:r>
          </a:p>
        </p:txBody>
      </p:sp>
      <p:sp>
        <p:nvSpPr>
          <p:cNvPr id="95" name="TextBox 94"/>
          <p:cNvSpPr txBox="1"/>
          <p:nvPr/>
        </p:nvSpPr>
        <p:spPr>
          <a:xfrm>
            <a:off x="1327695" y="6298408"/>
            <a:ext cx="459471" cy="186689"/>
          </a:xfrm>
          <a:prstGeom prst="rect">
            <a:avLst/>
          </a:prstGeom>
          <a:noFill/>
        </p:spPr>
        <p:txBody>
          <a:bodyPr wrap="none" lIns="0" rIns="0" tIns="0" bIns="0">
            <a:spAutoFit/>
          </a:bodyPr>
          <a:lstStyle/>
          <a:p>
            <a:r>
              <a:rPr sz="1100" b="1">
                <a:solidFill>
                  <a:srgbClr val="2E2E2E"/>
                </a:solidFill>
                <a:latin typeface="Calibri"/>
              </a:rPr>
              <a:t>Co. KG</a:t>
            </a:r>
          </a:p>
        </p:txBody>
      </p:sp>
      <p:pic>
        <p:nvPicPr>
          <p:cNvPr id="96" name="Picture 95" descr="lock.png"/>
          <p:cNvPicPr>
            <a:picLocks noChangeAspect="1"/>
          </p:cNvPicPr>
          <p:nvPr/>
        </p:nvPicPr>
        <p:blipFill>
          <a:blip r:embed="rId4"/>
          <a:stretch>
            <a:fillRect/>
          </a:stretch>
        </p:blipFill>
        <p:spPr>
          <a:xfrm>
            <a:off x="1735218" y="6288628"/>
            <a:ext cx="128699" cy="187198"/>
          </a:xfrm>
          <a:prstGeom prst="rect">
            <a:avLst/>
          </a:prstGeom>
        </p:spPr>
      </p:pic>
      <p:sp>
        <p:nvSpPr>
          <p:cNvPr id="97" name="TextBox 96"/>
          <p:cNvSpPr txBox="1"/>
          <p:nvPr/>
        </p:nvSpPr>
        <p:spPr>
          <a:xfrm>
            <a:off x="5972175" y="2364313"/>
            <a:ext cx="1123677" cy="186689"/>
          </a:xfrm>
          <a:prstGeom prst="rect">
            <a:avLst/>
          </a:prstGeom>
          <a:noFill/>
        </p:spPr>
        <p:txBody>
          <a:bodyPr wrap="none" lIns="0" rIns="0" tIns="0" bIns="0">
            <a:spAutoFit/>
          </a:bodyPr>
          <a:lstStyle/>
          <a:p>
            <a:r>
              <a:rPr sz="1100" b="1">
                <a:solidFill>
                  <a:srgbClr val="2E2E2E"/>
                </a:solidFill>
                <a:latin typeface="Calibri"/>
              </a:rPr>
              <a:t>Modified Allergen</a:t>
            </a:r>
          </a:p>
        </p:txBody>
      </p:sp>
      <p:pic>
        <p:nvPicPr>
          <p:cNvPr id="98" name="Picture 97" descr="lock.png"/>
          <p:cNvPicPr>
            <a:picLocks noChangeAspect="1"/>
          </p:cNvPicPr>
          <p:nvPr/>
        </p:nvPicPr>
        <p:blipFill>
          <a:blip r:embed="rId4"/>
          <a:stretch>
            <a:fillRect/>
          </a:stretch>
        </p:blipFill>
        <p:spPr>
          <a:xfrm>
            <a:off x="7043903" y="2354534"/>
            <a:ext cx="128699" cy="187198"/>
          </a:xfrm>
          <a:prstGeom prst="rect">
            <a:avLst/>
          </a:prstGeom>
        </p:spPr>
      </p:pic>
      <p:sp>
        <p:nvSpPr>
          <p:cNvPr id="99" name="TextBox 98"/>
          <p:cNvSpPr txBox="1"/>
          <p:nvPr/>
        </p:nvSpPr>
        <p:spPr>
          <a:xfrm>
            <a:off x="5972175" y="4149859"/>
            <a:ext cx="973335" cy="186689"/>
          </a:xfrm>
          <a:prstGeom prst="rect">
            <a:avLst/>
          </a:prstGeom>
          <a:noFill/>
        </p:spPr>
        <p:txBody>
          <a:bodyPr wrap="none" lIns="0" rIns="0" tIns="0" bIns="0">
            <a:spAutoFit/>
          </a:bodyPr>
          <a:lstStyle/>
          <a:p>
            <a:r>
              <a:rPr sz="1100" b="1">
                <a:solidFill>
                  <a:srgbClr val="2E2E2E"/>
                </a:solidFill>
                <a:latin typeface="Calibri"/>
              </a:rPr>
              <a:t>Native Allergen</a:t>
            </a:r>
          </a:p>
        </p:txBody>
      </p:sp>
      <p:sp>
        <p:nvSpPr>
          <p:cNvPr id="100" name="TextBox 99"/>
          <p:cNvSpPr txBox="1"/>
          <p:nvPr/>
        </p:nvSpPr>
        <p:spPr>
          <a:xfrm>
            <a:off x="5972175" y="4317499"/>
            <a:ext cx="538410" cy="186689"/>
          </a:xfrm>
          <a:prstGeom prst="rect">
            <a:avLst/>
          </a:prstGeom>
          <a:noFill/>
        </p:spPr>
        <p:txBody>
          <a:bodyPr wrap="none" lIns="0" rIns="0" tIns="0" bIns="0">
            <a:spAutoFit/>
          </a:bodyPr>
          <a:lstStyle/>
          <a:p>
            <a:r>
              <a:rPr sz="1100" b="1">
                <a:solidFill>
                  <a:srgbClr val="2E2E2E"/>
                </a:solidFill>
                <a:latin typeface="Calibri"/>
              </a:rPr>
              <a:t>Extracts</a:t>
            </a:r>
          </a:p>
        </p:txBody>
      </p:sp>
      <p:pic>
        <p:nvPicPr>
          <p:cNvPr id="101" name="Picture 100" descr="lock.png"/>
          <p:cNvPicPr>
            <a:picLocks noChangeAspect="1"/>
          </p:cNvPicPr>
          <p:nvPr/>
        </p:nvPicPr>
        <p:blipFill>
          <a:blip r:embed="rId4"/>
          <a:stretch>
            <a:fillRect/>
          </a:stretch>
        </p:blipFill>
        <p:spPr>
          <a:xfrm>
            <a:off x="6458637" y="4307720"/>
            <a:ext cx="128699" cy="187198"/>
          </a:xfrm>
          <a:prstGeom prst="rect">
            <a:avLst/>
          </a:prstGeom>
        </p:spPr>
      </p:pic>
      <p:sp>
        <p:nvSpPr>
          <p:cNvPr id="102" name="TextBox 101"/>
          <p:cNvSpPr txBox="1"/>
          <p:nvPr/>
        </p:nvSpPr>
        <p:spPr>
          <a:xfrm>
            <a:off x="5972175" y="5621263"/>
            <a:ext cx="1181521" cy="186689"/>
          </a:xfrm>
          <a:prstGeom prst="rect">
            <a:avLst/>
          </a:prstGeom>
          <a:noFill/>
        </p:spPr>
        <p:txBody>
          <a:bodyPr wrap="none" lIns="0" rIns="0" tIns="0" bIns="0">
            <a:spAutoFit/>
          </a:bodyPr>
          <a:lstStyle/>
          <a:p>
            <a:r>
              <a:rPr sz="1100" b="1">
                <a:solidFill>
                  <a:srgbClr val="2E2E2E"/>
                </a:solidFill>
                <a:latin typeface="Calibri"/>
              </a:rPr>
              <a:t>Molecular Allergen</a:t>
            </a:r>
          </a:p>
        </p:txBody>
      </p:sp>
      <p:sp>
        <p:nvSpPr>
          <p:cNvPr id="103" name="TextBox 102"/>
          <p:cNvSpPr txBox="1"/>
          <p:nvPr/>
        </p:nvSpPr>
        <p:spPr>
          <a:xfrm>
            <a:off x="5972175" y="5788903"/>
            <a:ext cx="822176" cy="186689"/>
          </a:xfrm>
          <a:prstGeom prst="rect">
            <a:avLst/>
          </a:prstGeom>
          <a:noFill/>
        </p:spPr>
        <p:txBody>
          <a:bodyPr wrap="none" lIns="0" rIns="0" tIns="0" bIns="0">
            <a:spAutoFit/>
          </a:bodyPr>
          <a:lstStyle/>
          <a:p>
            <a:r>
              <a:rPr sz="1100" b="1">
                <a:solidFill>
                  <a:srgbClr val="2E2E2E"/>
                </a:solidFill>
                <a:latin typeface="Calibri"/>
              </a:rPr>
              <a:t>Preparations</a:t>
            </a:r>
          </a:p>
        </p:txBody>
      </p:sp>
      <p:pic>
        <p:nvPicPr>
          <p:cNvPr id="104" name="Picture 103" descr="lock.png"/>
          <p:cNvPicPr>
            <a:picLocks noChangeAspect="1"/>
          </p:cNvPicPr>
          <p:nvPr/>
        </p:nvPicPr>
        <p:blipFill>
          <a:blip r:embed="rId4"/>
          <a:stretch>
            <a:fillRect/>
          </a:stretch>
        </p:blipFill>
        <p:spPr>
          <a:xfrm>
            <a:off x="6742402" y="5779124"/>
            <a:ext cx="128699" cy="187198"/>
          </a:xfrm>
          <a:prstGeom prst="rect">
            <a:avLst/>
          </a:prstGeom>
        </p:spPr>
      </p:pic>
      <p:sp>
        <p:nvSpPr>
          <p:cNvPr id="105" name="TextBox 104"/>
          <p:cNvSpPr txBox="1"/>
          <p:nvPr/>
        </p:nvSpPr>
        <p:spPr>
          <a:xfrm>
            <a:off x="7715250" y="1400175"/>
            <a:ext cx="3768811" cy="194310"/>
          </a:xfrm>
          <a:prstGeom prst="rect">
            <a:avLst/>
          </a:prstGeom>
          <a:noFill/>
        </p:spPr>
        <p:txBody>
          <a:bodyPr wrap="none" lIns="0" rIns="0" tIns="0" bIns="0">
            <a:spAutoFit/>
          </a:bodyPr>
          <a:lstStyle/>
          <a:p>
            <a:r>
              <a:rPr sz="1150" b="0">
                <a:solidFill>
                  <a:srgbClr val="2E2E2E"/>
                </a:solidFill>
                <a:latin typeface="Calibri"/>
              </a:rPr>
              <a:t>LETI pharma / laboratorios LETI, S.L.U. segment is projected to</a:t>
            </a:r>
          </a:p>
        </p:txBody>
      </p:sp>
      <p:sp>
        <p:nvSpPr>
          <p:cNvPr id="106" name="TextBox 105"/>
          <p:cNvSpPr txBox="1"/>
          <p:nvPr/>
        </p:nvSpPr>
        <p:spPr>
          <a:xfrm>
            <a:off x="7715250" y="1575435"/>
            <a:ext cx="3502669" cy="194310"/>
          </a:xfrm>
          <a:prstGeom prst="rect">
            <a:avLst/>
          </a:prstGeom>
          <a:noFill/>
        </p:spPr>
        <p:txBody>
          <a:bodyPr wrap="none" lIns="0" rIns="0" tIns="0" bIns="0">
            <a:spAutoFit/>
          </a:bodyPr>
          <a:lstStyle/>
          <a:p>
            <a:r>
              <a:rPr sz="1150" b="0">
                <a:solidFill>
                  <a:srgbClr val="2E2E2E"/>
                </a:solidFill>
                <a:latin typeface="Calibri"/>
              </a:rPr>
              <a:t>account for the largest share of the North America allergy</a:t>
            </a:r>
          </a:p>
        </p:txBody>
      </p:sp>
      <p:sp>
        <p:nvSpPr>
          <p:cNvPr id="107" name="TextBox 106"/>
          <p:cNvSpPr txBox="1"/>
          <p:nvPr/>
        </p:nvSpPr>
        <p:spPr>
          <a:xfrm>
            <a:off x="7715250" y="1750695"/>
            <a:ext cx="3421087" cy="194310"/>
          </a:xfrm>
          <a:prstGeom prst="rect">
            <a:avLst/>
          </a:prstGeom>
          <a:noFill/>
        </p:spPr>
        <p:txBody>
          <a:bodyPr wrap="none" lIns="0" rIns="0" tIns="0" bIns="0">
            <a:spAutoFit/>
          </a:bodyPr>
          <a:lstStyle/>
          <a:p>
            <a:r>
              <a:rPr sz="1150" b="0">
                <a:solidFill>
                  <a:srgbClr val="2E2E2E"/>
                </a:solidFill>
                <a:latin typeface="Calibri"/>
              </a:rPr>
              <a:t>immunotherapy market, led by modified allergen at US$</a:t>
            </a:r>
          </a:p>
        </p:txBody>
      </p:sp>
      <p:pic>
        <p:nvPicPr>
          <p:cNvPr id="108" name="Picture 107" descr="lock.png"/>
          <p:cNvPicPr>
            <a:picLocks noChangeAspect="1"/>
          </p:cNvPicPr>
          <p:nvPr/>
        </p:nvPicPr>
        <p:blipFill>
          <a:blip r:embed="rId4"/>
          <a:stretch>
            <a:fillRect/>
          </a:stretch>
        </p:blipFill>
        <p:spPr>
          <a:xfrm>
            <a:off x="11085491" y="1740471"/>
            <a:ext cx="134549" cy="195707"/>
          </a:xfrm>
          <a:prstGeom prst="rect">
            <a:avLst/>
          </a:prstGeom>
        </p:spPr>
      </p:pic>
      <p:sp>
        <p:nvSpPr>
          <p:cNvPr id="109" name="TextBox 108"/>
          <p:cNvSpPr txBox="1"/>
          <p:nvPr/>
        </p:nvSpPr>
        <p:spPr>
          <a:xfrm>
            <a:off x="11260600" y="1750695"/>
            <a:ext cx="421357" cy="194310"/>
          </a:xfrm>
          <a:prstGeom prst="rect">
            <a:avLst/>
          </a:prstGeom>
          <a:noFill/>
        </p:spPr>
        <p:txBody>
          <a:bodyPr wrap="none" lIns="0" rIns="0" tIns="0" bIns="0">
            <a:spAutoFit/>
          </a:bodyPr>
          <a:lstStyle/>
          <a:p>
            <a:r>
              <a:rPr sz="1150" b="0">
                <a:solidFill>
                  <a:srgbClr val="2E2E2E"/>
                </a:solidFill>
                <a:latin typeface="Calibri"/>
              </a:rPr>
              <a:t>Mn in</a:t>
            </a:r>
          </a:p>
        </p:txBody>
      </p:sp>
      <p:sp>
        <p:nvSpPr>
          <p:cNvPr id="110" name="TextBox 109"/>
          <p:cNvSpPr txBox="1"/>
          <p:nvPr/>
        </p:nvSpPr>
        <p:spPr>
          <a:xfrm>
            <a:off x="7715250" y="1925955"/>
            <a:ext cx="3966492" cy="194310"/>
          </a:xfrm>
          <a:prstGeom prst="rect">
            <a:avLst/>
          </a:prstGeom>
          <a:noFill/>
        </p:spPr>
        <p:txBody>
          <a:bodyPr wrap="none" lIns="0" rIns="0" tIns="0" bIns="0">
            <a:spAutoFit/>
          </a:bodyPr>
          <a:lstStyle/>
          <a:p>
            <a:r>
              <a:rPr sz="1150" b="0">
                <a:solidFill>
                  <a:srgbClr val="2E2E2E"/>
                </a:solidFill>
                <a:latin typeface="Calibri"/>
              </a:rPr>
              <a:t>2036. 'HAL Allergy Group × Modified Allergen' is the single largest</a:t>
            </a:r>
          </a:p>
        </p:txBody>
      </p:sp>
      <p:sp>
        <p:nvSpPr>
          <p:cNvPr id="111" name="TextBox 110"/>
          <p:cNvSpPr txBox="1"/>
          <p:nvPr/>
        </p:nvSpPr>
        <p:spPr>
          <a:xfrm>
            <a:off x="7715250" y="2101215"/>
            <a:ext cx="1269131" cy="194310"/>
          </a:xfrm>
          <a:prstGeom prst="rect">
            <a:avLst/>
          </a:prstGeom>
          <a:noFill/>
        </p:spPr>
        <p:txBody>
          <a:bodyPr wrap="none" lIns="0" rIns="0" tIns="0" bIns="0">
            <a:spAutoFit/>
          </a:bodyPr>
          <a:lstStyle/>
          <a:p>
            <a:r>
              <a:rPr sz="1150" b="0">
                <a:solidFill>
                  <a:srgbClr val="2E2E2E"/>
                </a:solidFill>
                <a:latin typeface="Calibri"/>
              </a:rPr>
              <a:t>cross-sectional cell (</a:t>
            </a:r>
          </a:p>
        </p:txBody>
      </p:sp>
      <p:pic>
        <p:nvPicPr>
          <p:cNvPr id="112" name="Picture 111" descr="lock.png"/>
          <p:cNvPicPr>
            <a:picLocks noChangeAspect="1"/>
          </p:cNvPicPr>
          <p:nvPr/>
        </p:nvPicPr>
        <p:blipFill>
          <a:blip r:embed="rId4"/>
          <a:stretch>
            <a:fillRect/>
          </a:stretch>
        </p:blipFill>
        <p:spPr>
          <a:xfrm>
            <a:off x="8933535" y="2090991"/>
            <a:ext cx="134549" cy="195707"/>
          </a:xfrm>
          <a:prstGeom prst="rect">
            <a:avLst/>
          </a:prstGeom>
        </p:spPr>
      </p:pic>
      <p:sp>
        <p:nvSpPr>
          <p:cNvPr id="113" name="TextBox 112"/>
          <p:cNvSpPr txBox="1"/>
          <p:nvPr/>
        </p:nvSpPr>
        <p:spPr>
          <a:xfrm>
            <a:off x="9108645" y="2101215"/>
            <a:ext cx="2473759" cy="194310"/>
          </a:xfrm>
          <a:prstGeom prst="rect">
            <a:avLst/>
          </a:prstGeom>
          <a:noFill/>
        </p:spPr>
        <p:txBody>
          <a:bodyPr wrap="none" lIns="0" rIns="0" tIns="0" bIns="0">
            <a:spAutoFit/>
          </a:bodyPr>
          <a:lstStyle/>
          <a:p>
            <a:r>
              <a:rPr sz="1150" b="0">
                <a:solidFill>
                  <a:srgbClr val="2E2E2E"/>
                </a:solidFill>
                <a:latin typeface="Calibri"/>
              </a:rPr>
              <a:t>US$ Mn, 2026E), while 'Inmunotek S.L. ×</a:t>
            </a:r>
          </a:p>
        </p:txBody>
      </p:sp>
      <p:sp>
        <p:nvSpPr>
          <p:cNvPr id="114" name="TextBox 113"/>
          <p:cNvSpPr txBox="1"/>
          <p:nvPr/>
        </p:nvSpPr>
        <p:spPr>
          <a:xfrm>
            <a:off x="7715250" y="2276475"/>
            <a:ext cx="3907997" cy="194310"/>
          </a:xfrm>
          <a:prstGeom prst="rect">
            <a:avLst/>
          </a:prstGeom>
          <a:noFill/>
        </p:spPr>
        <p:txBody>
          <a:bodyPr wrap="none" lIns="0" rIns="0" tIns="0" bIns="0">
            <a:spAutoFit/>
          </a:bodyPr>
          <a:lstStyle/>
          <a:p>
            <a:r>
              <a:rPr sz="1150" b="0">
                <a:solidFill>
                  <a:srgbClr val="2E2E2E"/>
                </a:solidFill>
                <a:latin typeface="Calibri"/>
              </a:rPr>
              <a:t>Native Allergen Extracts' records the fastest growth at a CAGR of</a:t>
            </a:r>
          </a:p>
        </p:txBody>
      </p:sp>
      <p:pic>
        <p:nvPicPr>
          <p:cNvPr id="115" name="Picture 114" descr="lock.png"/>
          <p:cNvPicPr>
            <a:picLocks noChangeAspect="1"/>
          </p:cNvPicPr>
          <p:nvPr/>
        </p:nvPicPr>
        <p:blipFill>
          <a:blip r:embed="rId4"/>
          <a:stretch>
            <a:fillRect/>
          </a:stretch>
        </p:blipFill>
        <p:spPr>
          <a:xfrm>
            <a:off x="11572401" y="2266251"/>
            <a:ext cx="134549" cy="195707"/>
          </a:xfrm>
          <a:prstGeom prst="rect">
            <a:avLst/>
          </a:prstGeom>
        </p:spPr>
      </p:pic>
      <p:sp>
        <p:nvSpPr>
          <p:cNvPr id="116" name="TextBox 115"/>
          <p:cNvSpPr txBox="1"/>
          <p:nvPr/>
        </p:nvSpPr>
        <p:spPr>
          <a:xfrm>
            <a:off x="7715250" y="245173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17" name="TextBox 116"/>
          <p:cNvSpPr txBox="1"/>
          <p:nvPr/>
        </p:nvSpPr>
        <p:spPr>
          <a:xfrm>
            <a:off x="7715250" y="2679573"/>
            <a:ext cx="4170734" cy="194310"/>
          </a:xfrm>
          <a:prstGeom prst="rect">
            <a:avLst/>
          </a:prstGeom>
          <a:noFill/>
        </p:spPr>
        <p:txBody>
          <a:bodyPr wrap="none" lIns="0" rIns="0" tIns="0" bIns="0">
            <a:spAutoFit/>
          </a:bodyPr>
          <a:lstStyle/>
          <a:p>
            <a:r>
              <a:rPr sz="1150" b="0">
                <a:solidFill>
                  <a:srgbClr val="2E2E2E"/>
                </a:solidFill>
                <a:latin typeface="Calibri"/>
              </a:rPr>
              <a:t>Combined, the top three company × allergen preparation technology</a:t>
            </a:r>
          </a:p>
        </p:txBody>
      </p:sp>
      <p:sp>
        <p:nvSpPr>
          <p:cNvPr id="118" name="TextBox 117"/>
          <p:cNvSpPr txBox="1"/>
          <p:nvPr/>
        </p:nvSpPr>
        <p:spPr>
          <a:xfrm>
            <a:off x="7715250" y="2854832"/>
            <a:ext cx="2632645" cy="194310"/>
          </a:xfrm>
          <a:prstGeom prst="rect">
            <a:avLst/>
          </a:prstGeom>
          <a:noFill/>
        </p:spPr>
        <p:txBody>
          <a:bodyPr wrap="none" lIns="0" rIns="0" tIns="0" bIns="0">
            <a:spAutoFit/>
          </a:bodyPr>
          <a:lstStyle/>
          <a:p>
            <a:r>
              <a:rPr sz="1150" b="0">
                <a:solidFill>
                  <a:srgbClr val="2E2E2E"/>
                </a:solidFill>
                <a:latin typeface="Calibri"/>
              </a:rPr>
              <a:t>cells generate an absolute $ opportunity of</a:t>
            </a:r>
          </a:p>
        </p:txBody>
      </p:sp>
      <p:pic>
        <p:nvPicPr>
          <p:cNvPr id="119" name="Picture 118" descr="lock.png"/>
          <p:cNvPicPr>
            <a:picLocks noChangeAspect="1"/>
          </p:cNvPicPr>
          <p:nvPr/>
        </p:nvPicPr>
        <p:blipFill>
          <a:blip r:embed="rId4"/>
          <a:stretch>
            <a:fillRect/>
          </a:stretch>
        </p:blipFill>
        <p:spPr>
          <a:xfrm>
            <a:off x="10297049" y="2844609"/>
            <a:ext cx="134549" cy="195707"/>
          </a:xfrm>
          <a:prstGeom prst="rect">
            <a:avLst/>
          </a:prstGeom>
        </p:spPr>
      </p:pic>
      <p:sp>
        <p:nvSpPr>
          <p:cNvPr id="120" name="TextBox 119"/>
          <p:cNvSpPr txBox="1"/>
          <p:nvPr/>
        </p:nvSpPr>
        <p:spPr>
          <a:xfrm>
            <a:off x="10472158" y="285483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Company × Allergen Preparation Technology, 2026E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allergen preparation technology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4248150"/>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Company × Allergen Preparation Technology, 2026E (% of each row)</a:t>
            </a:r>
          </a:p>
        </p:txBody>
      </p:sp>
      <p:graphicFrame>
        <p:nvGraphicFramePr>
          <p:cNvPr id="13" name="Table 12"/>
          <p:cNvGraphicFramePr>
            <a:graphicFrameLocks noGrp="1"/>
          </p:cNvGraphicFramePr>
          <p:nvPr/>
        </p:nvGraphicFramePr>
        <p:xfrm>
          <a:off x="152400" y="1238250"/>
          <a:ext cx="11888718" cy="3781427"/>
        </p:xfrm>
        <a:graphic>
          <a:graphicData uri="http://schemas.openxmlformats.org/drawingml/2006/table">
            <a:tbl>
              <a:tblPr>
                <a:tableStyleId>{5C22544A-7EE6-4342-B048-85BDC9FD1C3A}</a:tableStyleId>
              </a:tblPr>
              <a:tblGrid>
                <a:gridCol w="2446564"/>
                <a:gridCol w="1480896"/>
                <a:gridCol w="1638368"/>
                <a:gridCol w="1202200"/>
                <a:gridCol w="1738433"/>
                <a:gridCol w="1300033"/>
                <a:gridCol w="1538418"/>
                <a:gridCol w="543806"/>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Native Allergen Extracts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3">
                  <a:txBody>
                    <a:bodyPr wrap="none"/>
                    <a:lstStyle/>
                    <a:p>
                      <a:pPr algn="ctr"/>
                      <a:r>
                        <a:rPr sz="1100" b="1">
                          <a:solidFill>
                            <a:srgbClr val="0B2E4A"/>
                          </a:solidFill>
                          <a:latin typeface="Calibri"/>
                        </a:rPr>
                        <a:t>Modified Allergen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Molecular Allergen</a:t>
                      </a:r>
                      <a:endParaRPr sz="1100"/>
                    </a:p>
                    <a:p>
                      <a:pPr algn="ctr"/>
                      <a:r>
                        <a:rPr sz="1100" b="1">
                          <a:solidFill>
                            <a:srgbClr val="0B2E4A"/>
                          </a:solidFill>
                          <a:latin typeface="Calibri"/>
                        </a:rPr>
                        <a:t>Preparations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631983">
                <a:tc vMerge="1">
                  <a:txBody>
                    <a:bodyPr wrap="none"/>
                    <a:lstStyle/>
                    <a:p>
                      <a:pPr algn="l"/>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Standardized Allergen Extracts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Non-standardized Allergen Extracts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Polymerized Allergoids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Depigmented-Polymerized Allergoids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Carbamylated Allergoids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Molecular Allergen Preparations</a:t>
                      </a:r>
                      <a:endParaRPr sz="1100"/>
                    </a:p>
                  </a:txBody>
                  <a:tcPr marL="47625" marR="38100" marT="19050" marB="19050" anchor="ctr">
                    <a:solidFill>
                      <a:srgbClr val="E0E8EF"/>
                    </a:solidFill>
                  </a:tcPr>
                </a:tc>
                <a:tc>
                  <a:txBody>
                    <a:bodyPr wrap="none"/>
                    <a:lstStyle/>
                    <a:p>
                      <a:pPr algn="ctr"/>
                      <a:endParaRPr sz="1100"/>
                    </a:p>
                  </a:txBody>
                  <a:tcPr marL="47625" marR="38100" marT="19050" marB="19050" anchor="ctr">
                    <a:solidFill>
                      <a:srgbClr val="E0E8EF"/>
                    </a:solidFill>
                  </a:tcPr>
                </a:tc>
              </a:tr>
              <a:tr h="246412">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5029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119365" y="3397712"/>
            <a:ext cx="366712" cy="533400"/>
          </a:xfrm>
          <a:prstGeom prst="rect">
            <a:avLst/>
          </a:prstGeom>
        </p:spPr>
      </p:pic>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Company × Allergen Preparation Technology, 2026E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allergen preparation technology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Allergen Preparation Technology Mix by Company, 2026E (% share)</a:t>
            </a:r>
          </a:p>
        </p:txBody>
      </p:sp>
      <p:graphicFrame>
        <p:nvGraphicFramePr>
          <p:cNvPr id="12" name="Chart 11"/>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5" name="Rectangle 14"/>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816628" y="2804566"/>
            <a:ext cx="230207" cy="334847"/>
          </a:xfrm>
          <a:prstGeom prst="rect">
            <a:avLst/>
          </a:prstGeom>
        </p:spPr>
      </p:pic>
      <p:sp>
        <p:nvSpPr>
          <p:cNvPr id="19" name="TextBox 18"/>
          <p:cNvSpPr txBox="1"/>
          <p:nvPr/>
        </p:nvSpPr>
        <p:spPr>
          <a:xfrm>
            <a:off x="7715250" y="1400175"/>
            <a:ext cx="3716325" cy="194310"/>
          </a:xfrm>
          <a:prstGeom prst="rect">
            <a:avLst/>
          </a:prstGeom>
          <a:noFill/>
        </p:spPr>
        <p:txBody>
          <a:bodyPr wrap="none" lIns="0" rIns="0" tIns="0" bIns="0">
            <a:spAutoFit/>
          </a:bodyPr>
          <a:lstStyle/>
          <a:p>
            <a:r>
              <a:rPr sz="1150" b="0">
                <a:solidFill>
                  <a:srgbClr val="2E2E2E"/>
                </a:solidFill>
                <a:latin typeface="Calibri"/>
              </a:rPr>
              <a:t>▪ 'Molecular Allergen Preparations' holds the highest share of</a:t>
            </a:r>
          </a:p>
        </p:txBody>
      </p:sp>
      <p:sp>
        <p:nvSpPr>
          <p:cNvPr id="20" name="TextBox 19"/>
          <p:cNvSpPr txBox="1"/>
          <p:nvPr/>
        </p:nvSpPr>
        <p:spPr>
          <a:xfrm>
            <a:off x="7715250" y="1575435"/>
            <a:ext cx="1178385" cy="194310"/>
          </a:xfrm>
          <a:prstGeom prst="rect">
            <a:avLst/>
          </a:prstGeom>
          <a:noFill/>
        </p:spPr>
        <p:txBody>
          <a:bodyPr wrap="none" lIns="0" rIns="0" tIns="0" bIns="0">
            <a:spAutoFit/>
          </a:bodyPr>
          <a:lstStyle/>
          <a:p>
            <a:r>
              <a:rPr sz="1150" b="0">
                <a:solidFill>
                  <a:srgbClr val="2E2E2E"/>
                </a:solidFill>
                <a:latin typeface="Calibri"/>
              </a:rPr>
              <a:t>'ALK-Abelló A/S' at</a:t>
            </a:r>
          </a:p>
        </p:txBody>
      </p:sp>
      <p:pic>
        <p:nvPicPr>
          <p:cNvPr id="21" name="Picture 20" descr="lock.png"/>
          <p:cNvPicPr>
            <a:picLocks noChangeAspect="1"/>
          </p:cNvPicPr>
          <p:nvPr/>
        </p:nvPicPr>
        <p:blipFill>
          <a:blip r:embed="rId5"/>
          <a:stretch>
            <a:fillRect/>
          </a:stretch>
        </p:blipFill>
        <p:spPr>
          <a:xfrm>
            <a:off x="8842789" y="1565211"/>
            <a:ext cx="134549" cy="195707"/>
          </a:xfrm>
          <a:prstGeom prst="rect">
            <a:avLst/>
          </a:prstGeom>
        </p:spPr>
      </p:pic>
      <p:sp>
        <p:nvSpPr>
          <p:cNvPr id="22" name="TextBox 21"/>
          <p:cNvSpPr txBox="1"/>
          <p:nvPr/>
        </p:nvSpPr>
        <p:spPr>
          <a:xfrm>
            <a:off x="9017898"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3" name="TextBox 22"/>
          <p:cNvSpPr txBox="1"/>
          <p:nvPr/>
        </p:nvSpPr>
        <p:spPr>
          <a:xfrm>
            <a:off x="7715250" y="1803273"/>
            <a:ext cx="4044901" cy="194310"/>
          </a:xfrm>
          <a:prstGeom prst="rect">
            <a:avLst/>
          </a:prstGeom>
          <a:noFill/>
        </p:spPr>
        <p:txBody>
          <a:bodyPr wrap="none" lIns="0" rIns="0" tIns="0" bIns="0">
            <a:spAutoFit/>
          </a:bodyPr>
          <a:lstStyle/>
          <a:p>
            <a:r>
              <a:rPr sz="1150" b="0">
                <a:solidFill>
                  <a:srgbClr val="2E2E2E"/>
                </a:solidFill>
                <a:latin typeface="Calibri"/>
              </a:rPr>
              <a:t>▪ 'ALK-Abelló A/S' is the most concentrated company sub-segment,</a:t>
            </a:r>
          </a:p>
        </p:txBody>
      </p:sp>
      <p:sp>
        <p:nvSpPr>
          <p:cNvPr id="24" name="TextBox 23"/>
          <p:cNvSpPr txBox="1"/>
          <p:nvPr/>
        </p:nvSpPr>
        <p:spPr>
          <a:xfrm>
            <a:off x="7715250" y="1978533"/>
            <a:ext cx="340059" cy="194310"/>
          </a:xfrm>
          <a:prstGeom prst="rect">
            <a:avLst/>
          </a:prstGeom>
          <a:noFill/>
        </p:spPr>
        <p:txBody>
          <a:bodyPr wrap="none" lIns="0" rIns="0" tIns="0" bIns="0">
            <a:spAutoFit/>
          </a:bodyPr>
          <a:lstStyle/>
          <a:p>
            <a:r>
              <a:rPr sz="1150" b="0">
                <a:solidFill>
                  <a:srgbClr val="2E2E2E"/>
                </a:solidFill>
                <a:latin typeface="Calibri"/>
              </a:rPr>
              <a:t>with</a:t>
            </a:r>
          </a:p>
        </p:txBody>
      </p:sp>
      <p:pic>
        <p:nvPicPr>
          <p:cNvPr id="25" name="Picture 24" descr="lock.png"/>
          <p:cNvPicPr>
            <a:picLocks noChangeAspect="1"/>
          </p:cNvPicPr>
          <p:nvPr/>
        </p:nvPicPr>
        <p:blipFill>
          <a:blip r:embed="rId5"/>
          <a:stretch>
            <a:fillRect/>
          </a:stretch>
        </p:blipFill>
        <p:spPr>
          <a:xfrm>
            <a:off x="8004463" y="1968309"/>
            <a:ext cx="134549" cy="195707"/>
          </a:xfrm>
          <a:prstGeom prst="rect">
            <a:avLst/>
          </a:prstGeom>
        </p:spPr>
      </p:pic>
      <p:sp>
        <p:nvSpPr>
          <p:cNvPr id="26" name="TextBox 25"/>
          <p:cNvSpPr txBox="1"/>
          <p:nvPr/>
        </p:nvSpPr>
        <p:spPr>
          <a:xfrm>
            <a:off x="8179573" y="1978533"/>
            <a:ext cx="2981511" cy="194310"/>
          </a:xfrm>
          <a:prstGeom prst="rect">
            <a:avLst/>
          </a:prstGeom>
          <a:noFill/>
        </p:spPr>
        <p:txBody>
          <a:bodyPr wrap="none" lIns="0" rIns="0" tIns="0" bIns="0">
            <a:spAutoFit/>
          </a:bodyPr>
          <a:lstStyle/>
          <a:p>
            <a:r>
              <a:rPr sz="1150" b="0">
                <a:solidFill>
                  <a:srgbClr val="2E2E2E"/>
                </a:solidFill>
                <a:latin typeface="Calibri"/>
              </a:rPr>
              <a:t>of its value via 'Molecular Allergen Preparations'.</a:t>
            </a:r>
          </a:p>
        </p:txBody>
      </p:sp>
      <p:sp>
        <p:nvSpPr>
          <p:cNvPr id="27" name="TextBox 26"/>
          <p:cNvSpPr txBox="1"/>
          <p:nvPr/>
        </p:nvSpPr>
        <p:spPr>
          <a:xfrm>
            <a:off x="7715250" y="2206371"/>
            <a:ext cx="2763862" cy="194310"/>
          </a:xfrm>
          <a:prstGeom prst="rect">
            <a:avLst/>
          </a:prstGeom>
          <a:noFill/>
        </p:spPr>
        <p:txBody>
          <a:bodyPr wrap="none" lIns="0" rIns="0" tIns="0" bIns="0">
            <a:spAutoFit/>
          </a:bodyPr>
          <a:lstStyle/>
          <a:p>
            <a:r>
              <a:rPr sz="1150" b="0">
                <a:solidFill>
                  <a:srgbClr val="2E2E2E"/>
                </a:solidFill>
                <a:latin typeface="Calibri"/>
              </a:rPr>
              <a:t>▪ 'Non-standardized Allergen Extracts' gains +</a:t>
            </a:r>
          </a:p>
        </p:txBody>
      </p:sp>
      <p:pic>
        <p:nvPicPr>
          <p:cNvPr id="28" name="Picture 27" descr="lock.png"/>
          <p:cNvPicPr>
            <a:picLocks noChangeAspect="1"/>
          </p:cNvPicPr>
          <p:nvPr/>
        </p:nvPicPr>
        <p:blipFill>
          <a:blip r:embed="rId5"/>
          <a:stretch>
            <a:fillRect/>
          </a:stretch>
        </p:blipFill>
        <p:spPr>
          <a:xfrm>
            <a:off x="10428266" y="2196147"/>
            <a:ext cx="134549" cy="195707"/>
          </a:xfrm>
          <a:prstGeom prst="rect">
            <a:avLst/>
          </a:prstGeom>
        </p:spPr>
      </p:pic>
      <p:sp>
        <p:nvSpPr>
          <p:cNvPr id="29" name="TextBox 28"/>
          <p:cNvSpPr txBox="1"/>
          <p:nvPr/>
        </p:nvSpPr>
        <p:spPr>
          <a:xfrm>
            <a:off x="10603375" y="2206371"/>
            <a:ext cx="1199815" cy="194310"/>
          </a:xfrm>
          <a:prstGeom prst="rect">
            <a:avLst/>
          </a:prstGeom>
          <a:noFill/>
        </p:spPr>
        <p:txBody>
          <a:bodyPr wrap="none" lIns="0" rIns="0" tIns="0" bIns="0">
            <a:spAutoFit/>
          </a:bodyPr>
          <a:lstStyle/>
          <a:p>
            <a:r>
              <a:rPr sz="1150" b="0">
                <a:solidFill>
                  <a:srgbClr val="2E2E2E"/>
                </a:solidFill>
                <a:latin typeface="Calibri"/>
              </a:rPr>
              <a:t>BPS of share of the</a:t>
            </a:r>
          </a:p>
        </p:txBody>
      </p:sp>
      <p:sp>
        <p:nvSpPr>
          <p:cNvPr id="30" name="TextBox 29"/>
          <p:cNvSpPr txBox="1"/>
          <p:nvPr/>
        </p:nvSpPr>
        <p:spPr>
          <a:xfrm>
            <a:off x="7715250" y="2381631"/>
            <a:ext cx="2367430" cy="194310"/>
          </a:xfrm>
          <a:prstGeom prst="rect">
            <a:avLst/>
          </a:prstGeom>
          <a:noFill/>
        </p:spPr>
        <p:txBody>
          <a:bodyPr wrap="none" lIns="0" rIns="0" tIns="0" bIns="0">
            <a:spAutoFit/>
          </a:bodyPr>
          <a:lstStyle/>
          <a:p>
            <a:r>
              <a:rPr sz="1150" b="0">
                <a:solidFill>
                  <a:srgbClr val="2E2E2E"/>
                </a:solidFill>
                <a:latin typeface="Calibri"/>
              </a:rPr>
              <a:t>North America cross-section by 2036F.</a:t>
            </a:r>
          </a:p>
        </p:txBody>
      </p:sp>
      <p:sp>
        <p:nvSpPr>
          <p:cNvPr id="31" name="lockshield_12"/>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Company × Allergen Preparation Technology, 2026E–2036F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Company × Allergen Preparation Technology, 2026E–2036F</a:t>
            </a:r>
          </a:p>
        </p:txBody>
      </p:sp>
      <p:graphicFrame>
        <p:nvGraphicFramePr>
          <p:cNvPr id="13" name="Table 12"/>
          <p:cNvGraphicFramePr>
            <a:graphicFrameLocks noGrp="1"/>
          </p:cNvGraphicFramePr>
          <p:nvPr/>
        </p:nvGraphicFramePr>
        <p:xfrm>
          <a:off x="152400" y="1238250"/>
          <a:ext cx="11887197" cy="3400428"/>
        </p:xfrm>
        <a:graphic>
          <a:graphicData uri="http://schemas.openxmlformats.org/drawingml/2006/table">
            <a:tbl>
              <a:tblPr>
                <a:tableStyleId>{5C22544A-7EE6-4342-B048-85BDC9FD1C3A}</a:tableStyleId>
              </a:tblPr>
              <a:tblGrid>
                <a:gridCol w="4072021"/>
                <a:gridCol w="976897"/>
                <a:gridCol w="976897"/>
                <a:gridCol w="976897"/>
                <a:gridCol w="976897"/>
                <a:gridCol w="976897"/>
                <a:gridCol w="976897"/>
                <a:gridCol w="976897"/>
                <a:gridCol w="976897"/>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Native Allergen Extracts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Modified Allergen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Molecular Allergen</a:t>
                      </a:r>
                      <a:endParaRPr sz="1100"/>
                    </a:p>
                    <a:p>
                      <a:pPr algn="ctr"/>
                      <a:r>
                        <a:rPr sz="1100" b="1">
                          <a:solidFill>
                            <a:srgbClr val="0B2E4A"/>
                          </a:solidFill>
                          <a:latin typeface="Calibri"/>
                        </a:rPr>
                        <a:t>Preparations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93">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93">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648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945318" y="3014616"/>
            <a:ext cx="366712" cy="533400"/>
          </a:xfrm>
          <a:prstGeom prst="rect">
            <a:avLst/>
          </a:prstGeom>
        </p:spPr>
      </p:pic>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Company × Allergen Preparation Technology, 2026E–2036F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5600700" cy="5648325"/>
          </a:xfrm>
          <a:prstGeom prst="roundRect">
            <a:avLst>
              <a:gd name="adj" fmla="val 13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2" name="Rectangle 11"/>
          <p:cNvSpPr/>
          <p:nvPr/>
        </p:nvSpPr>
        <p:spPr>
          <a:xfrm>
            <a:off x="276225" y="13049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334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58959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293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16" name="Rectangle 15"/>
          <p:cNvSpPr/>
          <p:nvPr/>
        </p:nvSpPr>
        <p:spPr>
          <a:xfrm>
            <a:off x="60293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9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79914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48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0" name="Rectangle 19"/>
          <p:cNvSpPr/>
          <p:nvPr/>
        </p:nvSpPr>
        <p:spPr>
          <a:xfrm>
            <a:off x="81248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48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100869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203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4" name="Rectangle 23"/>
          <p:cNvSpPr/>
          <p:nvPr/>
        </p:nvSpPr>
        <p:spPr>
          <a:xfrm>
            <a:off x="102203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20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'ALK-Abelló A/S × Native Allergen Extracts' ranks highest (5/5); 'Stallergenes Greer International AG × Molecular Allergen Preparations' lowest (1/5), a deprioritised cell.</a:t>
            </a: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7" name="TextBox 26"/>
          <p:cNvSpPr txBox="1"/>
          <p:nvPr/>
        </p:nvSpPr>
        <p:spPr>
          <a:xfrm>
            <a:off x="276225" y="1400175"/>
            <a:ext cx="2853681" cy="194310"/>
          </a:xfrm>
          <a:prstGeom prst="rect">
            <a:avLst/>
          </a:prstGeom>
          <a:noFill/>
        </p:spPr>
        <p:txBody>
          <a:bodyPr wrap="none" lIns="0" rIns="0" tIns="0" bIns="0">
            <a:spAutoFit/>
          </a:bodyPr>
          <a:lstStyle/>
          <a:p>
            <a:r>
              <a:rPr sz="1150" b="0">
                <a:solidFill>
                  <a:srgbClr val="2E2E2E"/>
                </a:solidFill>
                <a:latin typeface="Calibri"/>
              </a:rPr>
              <a:t>▪ 1. ALK-Abelló A/S × Native Allergen Extracts –</a:t>
            </a:r>
          </a:p>
        </p:txBody>
      </p:sp>
      <p:pic>
        <p:nvPicPr>
          <p:cNvPr id="28" name="Picture 27" descr="lock.png"/>
          <p:cNvPicPr>
            <a:picLocks noChangeAspect="1"/>
          </p:cNvPicPr>
          <p:nvPr/>
        </p:nvPicPr>
        <p:blipFill>
          <a:blip r:embed="rId4"/>
          <a:stretch>
            <a:fillRect/>
          </a:stretch>
        </p:blipFill>
        <p:spPr>
          <a:xfrm>
            <a:off x="3079060" y="1389951"/>
            <a:ext cx="134549" cy="195707"/>
          </a:xfrm>
          <a:prstGeom prst="rect">
            <a:avLst/>
          </a:prstGeom>
        </p:spPr>
      </p:pic>
      <p:sp>
        <p:nvSpPr>
          <p:cNvPr id="29" name="TextBox 28"/>
          <p:cNvSpPr txBox="1"/>
          <p:nvPr/>
        </p:nvSpPr>
        <p:spPr>
          <a:xfrm>
            <a:off x="3254169" y="14001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0" name="Picture 29" descr="lock.png"/>
          <p:cNvPicPr>
            <a:picLocks noChangeAspect="1"/>
          </p:cNvPicPr>
          <p:nvPr/>
        </p:nvPicPr>
        <p:blipFill>
          <a:blip r:embed="rId4"/>
          <a:stretch>
            <a:fillRect/>
          </a:stretch>
        </p:blipFill>
        <p:spPr>
          <a:xfrm>
            <a:off x="3316321" y="1389951"/>
            <a:ext cx="134549" cy="195707"/>
          </a:xfrm>
          <a:prstGeom prst="rect">
            <a:avLst/>
          </a:prstGeom>
        </p:spPr>
      </p:pic>
      <p:sp>
        <p:nvSpPr>
          <p:cNvPr id="31" name="TextBox 30"/>
          <p:cNvSpPr txBox="1"/>
          <p:nvPr/>
        </p:nvSpPr>
        <p:spPr>
          <a:xfrm>
            <a:off x="3491430" y="140017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2" name="TextBox 31"/>
          <p:cNvSpPr txBox="1"/>
          <p:nvPr/>
        </p:nvSpPr>
        <p:spPr>
          <a:xfrm>
            <a:off x="276225" y="1628013"/>
            <a:ext cx="4081717" cy="194310"/>
          </a:xfrm>
          <a:prstGeom prst="rect">
            <a:avLst/>
          </a:prstGeom>
          <a:noFill/>
        </p:spPr>
        <p:txBody>
          <a:bodyPr wrap="none" lIns="0" rIns="0" tIns="0" bIns="0">
            <a:spAutoFit/>
          </a:bodyPr>
          <a:lstStyle/>
          <a:p>
            <a:r>
              <a:rPr sz="1150" b="0">
                <a:solidFill>
                  <a:srgbClr val="2E2E2E"/>
                </a:solidFill>
                <a:latin typeface="Calibri"/>
              </a:rPr>
              <a:t>▪ 2. Stallergenes Greer International AG × Native Allergen Extracts –</a:t>
            </a:r>
          </a:p>
        </p:txBody>
      </p:sp>
      <p:pic>
        <p:nvPicPr>
          <p:cNvPr id="33" name="Picture 32" descr="lock.png"/>
          <p:cNvPicPr>
            <a:picLocks noChangeAspect="1"/>
          </p:cNvPicPr>
          <p:nvPr/>
        </p:nvPicPr>
        <p:blipFill>
          <a:blip r:embed="rId4"/>
          <a:stretch>
            <a:fillRect/>
          </a:stretch>
        </p:blipFill>
        <p:spPr>
          <a:xfrm>
            <a:off x="4307096" y="1617789"/>
            <a:ext cx="134549" cy="195707"/>
          </a:xfrm>
          <a:prstGeom prst="rect">
            <a:avLst/>
          </a:prstGeom>
        </p:spPr>
      </p:pic>
      <p:sp>
        <p:nvSpPr>
          <p:cNvPr id="34" name="TextBox 33"/>
          <p:cNvSpPr txBox="1"/>
          <p:nvPr/>
        </p:nvSpPr>
        <p:spPr>
          <a:xfrm>
            <a:off x="4482205" y="16280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4544357" y="1617789"/>
            <a:ext cx="134549" cy="195707"/>
          </a:xfrm>
          <a:prstGeom prst="rect">
            <a:avLst/>
          </a:prstGeom>
        </p:spPr>
      </p:pic>
      <p:sp>
        <p:nvSpPr>
          <p:cNvPr id="36" name="TextBox 35"/>
          <p:cNvSpPr txBox="1"/>
          <p:nvPr/>
        </p:nvSpPr>
        <p:spPr>
          <a:xfrm>
            <a:off x="4719466" y="162801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1855851"/>
            <a:ext cx="3705445" cy="194310"/>
          </a:xfrm>
          <a:prstGeom prst="rect">
            <a:avLst/>
          </a:prstGeom>
          <a:noFill/>
        </p:spPr>
        <p:txBody>
          <a:bodyPr wrap="none" lIns="0" rIns="0" tIns="0" bIns="0">
            <a:spAutoFit/>
          </a:bodyPr>
          <a:lstStyle/>
          <a:p>
            <a:r>
              <a:rPr sz="1150" b="0">
                <a:solidFill>
                  <a:srgbClr val="2E2E2E"/>
                </a:solidFill>
                <a:latin typeface="Calibri"/>
              </a:rPr>
              <a:t>▪ 3. Torii Pharmaceutical Co., Ltd. × Native Allergen Extracts –</a:t>
            </a:r>
          </a:p>
        </p:txBody>
      </p:sp>
      <p:pic>
        <p:nvPicPr>
          <p:cNvPr id="38" name="Picture 37" descr="lock.png"/>
          <p:cNvPicPr>
            <a:picLocks noChangeAspect="1"/>
          </p:cNvPicPr>
          <p:nvPr/>
        </p:nvPicPr>
        <p:blipFill>
          <a:blip r:embed="rId4"/>
          <a:stretch>
            <a:fillRect/>
          </a:stretch>
        </p:blipFill>
        <p:spPr>
          <a:xfrm>
            <a:off x="3930824" y="1845627"/>
            <a:ext cx="134549" cy="195707"/>
          </a:xfrm>
          <a:prstGeom prst="rect">
            <a:avLst/>
          </a:prstGeom>
        </p:spPr>
      </p:pic>
      <p:sp>
        <p:nvSpPr>
          <p:cNvPr id="39" name="TextBox 38"/>
          <p:cNvSpPr txBox="1"/>
          <p:nvPr/>
        </p:nvSpPr>
        <p:spPr>
          <a:xfrm>
            <a:off x="4105933" y="185585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4168085" y="1845627"/>
            <a:ext cx="134549" cy="195707"/>
          </a:xfrm>
          <a:prstGeom prst="rect">
            <a:avLst/>
          </a:prstGeom>
        </p:spPr>
      </p:pic>
      <p:sp>
        <p:nvSpPr>
          <p:cNvPr id="41" name="TextBox 40"/>
          <p:cNvSpPr txBox="1"/>
          <p:nvPr/>
        </p:nvSpPr>
        <p:spPr>
          <a:xfrm>
            <a:off x="4343194" y="1855851"/>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2083689"/>
            <a:ext cx="3055106" cy="194310"/>
          </a:xfrm>
          <a:prstGeom prst="rect">
            <a:avLst/>
          </a:prstGeom>
          <a:noFill/>
        </p:spPr>
        <p:txBody>
          <a:bodyPr wrap="none" lIns="0" rIns="0" tIns="0" bIns="0">
            <a:spAutoFit/>
          </a:bodyPr>
          <a:lstStyle/>
          <a:p>
            <a:r>
              <a:rPr sz="1150" b="0">
                <a:solidFill>
                  <a:srgbClr val="2E2E2E"/>
                </a:solidFill>
                <a:latin typeface="Calibri"/>
              </a:rPr>
              <a:t>▪ 4. HAL Allergy Group × Native Allergen Extracts –</a:t>
            </a:r>
          </a:p>
        </p:txBody>
      </p:sp>
      <p:pic>
        <p:nvPicPr>
          <p:cNvPr id="43" name="Picture 42" descr="lock.png"/>
          <p:cNvPicPr>
            <a:picLocks noChangeAspect="1"/>
          </p:cNvPicPr>
          <p:nvPr/>
        </p:nvPicPr>
        <p:blipFill>
          <a:blip r:embed="rId4"/>
          <a:stretch>
            <a:fillRect/>
          </a:stretch>
        </p:blipFill>
        <p:spPr>
          <a:xfrm>
            <a:off x="3280485" y="2073465"/>
            <a:ext cx="134549" cy="195707"/>
          </a:xfrm>
          <a:prstGeom prst="rect">
            <a:avLst/>
          </a:prstGeom>
        </p:spPr>
      </p:pic>
      <p:sp>
        <p:nvSpPr>
          <p:cNvPr id="44" name="TextBox 43"/>
          <p:cNvSpPr txBox="1"/>
          <p:nvPr/>
        </p:nvSpPr>
        <p:spPr>
          <a:xfrm>
            <a:off x="3455594" y="2083689"/>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517746" y="2073465"/>
            <a:ext cx="134549" cy="195707"/>
          </a:xfrm>
          <a:prstGeom prst="rect">
            <a:avLst/>
          </a:prstGeom>
        </p:spPr>
      </p:pic>
      <p:sp>
        <p:nvSpPr>
          <p:cNvPr id="46" name="TextBox 45"/>
          <p:cNvSpPr txBox="1"/>
          <p:nvPr/>
        </p:nvSpPr>
        <p:spPr>
          <a:xfrm>
            <a:off x="3692855" y="2083689"/>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7" name="TextBox 46"/>
          <p:cNvSpPr txBox="1"/>
          <p:nvPr/>
        </p:nvSpPr>
        <p:spPr>
          <a:xfrm>
            <a:off x="276225" y="2311527"/>
            <a:ext cx="2829007" cy="194310"/>
          </a:xfrm>
          <a:prstGeom prst="rect">
            <a:avLst/>
          </a:prstGeom>
          <a:noFill/>
        </p:spPr>
        <p:txBody>
          <a:bodyPr wrap="none" lIns="0" rIns="0" tIns="0" bIns="0">
            <a:spAutoFit/>
          </a:bodyPr>
          <a:lstStyle/>
          <a:p>
            <a:r>
              <a:rPr sz="1150" b="0">
                <a:solidFill>
                  <a:srgbClr val="2E2E2E"/>
                </a:solidFill>
                <a:latin typeface="Calibri"/>
              </a:rPr>
              <a:t>▪ 5. DIATER Laboratories × Modified Allergen –</a:t>
            </a:r>
          </a:p>
        </p:txBody>
      </p:sp>
      <p:pic>
        <p:nvPicPr>
          <p:cNvPr id="48" name="Picture 47" descr="lock.png"/>
          <p:cNvPicPr>
            <a:picLocks noChangeAspect="1"/>
          </p:cNvPicPr>
          <p:nvPr/>
        </p:nvPicPr>
        <p:blipFill>
          <a:blip r:embed="rId4"/>
          <a:stretch>
            <a:fillRect/>
          </a:stretch>
        </p:blipFill>
        <p:spPr>
          <a:xfrm>
            <a:off x="3054386" y="2301303"/>
            <a:ext cx="134549" cy="195707"/>
          </a:xfrm>
          <a:prstGeom prst="rect">
            <a:avLst/>
          </a:prstGeom>
        </p:spPr>
      </p:pic>
      <p:sp>
        <p:nvSpPr>
          <p:cNvPr id="49" name="TextBox 48"/>
          <p:cNvSpPr txBox="1"/>
          <p:nvPr/>
        </p:nvSpPr>
        <p:spPr>
          <a:xfrm>
            <a:off x="3229495" y="231152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291647" y="2301303"/>
            <a:ext cx="134549" cy="195707"/>
          </a:xfrm>
          <a:prstGeom prst="rect">
            <a:avLst/>
          </a:prstGeom>
        </p:spPr>
      </p:pic>
      <p:sp>
        <p:nvSpPr>
          <p:cNvPr id="51" name="TextBox 50"/>
          <p:cNvSpPr txBox="1"/>
          <p:nvPr/>
        </p:nvSpPr>
        <p:spPr>
          <a:xfrm>
            <a:off x="3466756" y="2311527"/>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2" name="TextBox 51"/>
          <p:cNvSpPr txBox="1"/>
          <p:nvPr/>
        </p:nvSpPr>
        <p:spPr>
          <a:xfrm>
            <a:off x="6029325" y="1400175"/>
            <a:ext cx="1603413" cy="194310"/>
          </a:xfrm>
          <a:prstGeom prst="rect">
            <a:avLst/>
          </a:prstGeom>
          <a:noFill/>
        </p:spPr>
        <p:txBody>
          <a:bodyPr wrap="none" lIns="0" rIns="0" tIns="0" bIns="0">
            <a:spAutoFit/>
          </a:bodyPr>
          <a:lstStyle/>
          <a:p>
            <a:r>
              <a:rPr sz="1150" b="0">
                <a:solidFill>
                  <a:srgbClr val="2E2E2E"/>
                </a:solidFill>
                <a:latin typeface="Calibri"/>
              </a:rPr>
              <a:t>▪ 'ALK-Abelló A/S × Native</a:t>
            </a:r>
          </a:p>
        </p:txBody>
      </p:sp>
      <p:sp>
        <p:nvSpPr>
          <p:cNvPr id="53" name="TextBox 52"/>
          <p:cNvSpPr txBox="1"/>
          <p:nvPr/>
        </p:nvSpPr>
        <p:spPr>
          <a:xfrm>
            <a:off x="6029325" y="1575435"/>
            <a:ext cx="1421457" cy="194310"/>
          </a:xfrm>
          <a:prstGeom prst="rect">
            <a:avLst/>
          </a:prstGeom>
          <a:noFill/>
        </p:spPr>
        <p:txBody>
          <a:bodyPr wrap="none" lIns="0" rIns="0" tIns="0" bIns="0">
            <a:spAutoFit/>
          </a:bodyPr>
          <a:lstStyle/>
          <a:p>
            <a:r>
              <a:rPr sz="1150" b="0">
                <a:solidFill>
                  <a:srgbClr val="2E2E2E"/>
                </a:solidFill>
                <a:latin typeface="Calibri"/>
              </a:rPr>
              <a:t>Allergen Extracts' adds</a:t>
            </a:r>
          </a:p>
        </p:txBody>
      </p:sp>
      <p:pic>
        <p:nvPicPr>
          <p:cNvPr id="54" name="Picture 53" descr="lock.png"/>
          <p:cNvPicPr>
            <a:picLocks noChangeAspect="1"/>
          </p:cNvPicPr>
          <p:nvPr/>
        </p:nvPicPr>
        <p:blipFill>
          <a:blip r:embed="rId4"/>
          <a:stretch>
            <a:fillRect/>
          </a:stretch>
        </p:blipFill>
        <p:spPr>
          <a:xfrm>
            <a:off x="7399936" y="1565211"/>
            <a:ext cx="134549" cy="195707"/>
          </a:xfrm>
          <a:prstGeom prst="rect">
            <a:avLst/>
          </a:prstGeom>
        </p:spPr>
      </p:pic>
      <p:sp>
        <p:nvSpPr>
          <p:cNvPr id="55" name="TextBox 54"/>
          <p:cNvSpPr txBox="1"/>
          <p:nvPr/>
        </p:nvSpPr>
        <p:spPr>
          <a:xfrm>
            <a:off x="6029325" y="1750695"/>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56" name="Picture 55" descr="lock.png"/>
          <p:cNvPicPr>
            <a:picLocks noChangeAspect="1"/>
          </p:cNvPicPr>
          <p:nvPr/>
        </p:nvPicPr>
        <p:blipFill>
          <a:blip r:embed="rId4"/>
          <a:stretch>
            <a:fillRect/>
          </a:stretch>
        </p:blipFill>
        <p:spPr>
          <a:xfrm>
            <a:off x="7203111" y="1740471"/>
            <a:ext cx="134549" cy="195707"/>
          </a:xfrm>
          <a:prstGeom prst="rect">
            <a:avLst/>
          </a:prstGeom>
        </p:spPr>
      </p:pic>
      <p:sp>
        <p:nvSpPr>
          <p:cNvPr id="57" name="TextBox 56"/>
          <p:cNvSpPr txBox="1"/>
          <p:nvPr/>
        </p:nvSpPr>
        <p:spPr>
          <a:xfrm>
            <a:off x="7378220" y="1750695"/>
            <a:ext cx="197718" cy="194310"/>
          </a:xfrm>
          <a:prstGeom prst="rect">
            <a:avLst/>
          </a:prstGeom>
          <a:noFill/>
        </p:spPr>
        <p:txBody>
          <a:bodyPr wrap="none" lIns="0" rIns="0" tIns="0" bIns="0">
            <a:spAutoFit/>
          </a:bodyPr>
          <a:lstStyle/>
          <a:p>
            <a:r>
              <a:rPr sz="1150" b="0">
                <a:solidFill>
                  <a:srgbClr val="2E2E2E"/>
                </a:solidFill>
                <a:latin typeface="Calibri"/>
              </a:rPr>
              <a:t>of</a:t>
            </a:r>
          </a:p>
        </p:txBody>
      </p:sp>
      <p:sp>
        <p:nvSpPr>
          <p:cNvPr id="58" name="TextBox 57"/>
          <p:cNvSpPr txBox="1"/>
          <p:nvPr/>
        </p:nvSpPr>
        <p:spPr>
          <a:xfrm>
            <a:off x="6029325" y="1925955"/>
            <a:ext cx="1366403" cy="194310"/>
          </a:xfrm>
          <a:prstGeom prst="rect">
            <a:avLst/>
          </a:prstGeom>
          <a:noFill/>
        </p:spPr>
        <p:txBody>
          <a:bodyPr wrap="none" lIns="0" rIns="0" tIns="0" bIns="0">
            <a:spAutoFit/>
          </a:bodyPr>
          <a:lstStyle/>
          <a:p>
            <a:r>
              <a:rPr sz="1150" b="0">
                <a:solidFill>
                  <a:srgbClr val="2E2E2E"/>
                </a:solidFill>
                <a:latin typeface="Calibri"/>
              </a:rPr>
              <a:t>the total opportunity.</a:t>
            </a:r>
          </a:p>
        </p:txBody>
      </p:sp>
      <p:sp>
        <p:nvSpPr>
          <p:cNvPr id="59" name="TextBox 58"/>
          <p:cNvSpPr txBox="1"/>
          <p:nvPr/>
        </p:nvSpPr>
        <p:spPr>
          <a:xfrm>
            <a:off x="8124825" y="1400175"/>
            <a:ext cx="1601737" cy="194310"/>
          </a:xfrm>
          <a:prstGeom prst="rect">
            <a:avLst/>
          </a:prstGeom>
          <a:noFill/>
        </p:spPr>
        <p:txBody>
          <a:bodyPr wrap="none" lIns="0" rIns="0" tIns="0" bIns="0">
            <a:spAutoFit/>
          </a:bodyPr>
          <a:lstStyle/>
          <a:p>
            <a:r>
              <a:rPr sz="1150" b="0">
                <a:solidFill>
                  <a:srgbClr val="2E2E2E"/>
                </a:solidFill>
                <a:latin typeface="Calibri"/>
              </a:rPr>
              <a:t>▪ 'Inmunotek S.L. × Native</a:t>
            </a:r>
          </a:p>
        </p:txBody>
      </p:sp>
      <p:sp>
        <p:nvSpPr>
          <p:cNvPr id="60" name="TextBox 59"/>
          <p:cNvSpPr txBox="1"/>
          <p:nvPr/>
        </p:nvSpPr>
        <p:spPr>
          <a:xfrm>
            <a:off x="8124825" y="1575435"/>
            <a:ext cx="1651372" cy="194310"/>
          </a:xfrm>
          <a:prstGeom prst="rect">
            <a:avLst/>
          </a:prstGeom>
          <a:noFill/>
        </p:spPr>
        <p:txBody>
          <a:bodyPr wrap="none" lIns="0" rIns="0" tIns="0" bIns="0">
            <a:spAutoFit/>
          </a:bodyPr>
          <a:lstStyle/>
          <a:p>
            <a:r>
              <a:rPr sz="1150" b="0">
                <a:solidFill>
                  <a:srgbClr val="2E2E2E"/>
                </a:solidFill>
                <a:latin typeface="Calibri"/>
              </a:rPr>
              <a:t>Allergen Extracts' grows at</a:t>
            </a:r>
          </a:p>
        </p:txBody>
      </p:sp>
      <p:sp>
        <p:nvSpPr>
          <p:cNvPr id="61" name="TextBox 60"/>
          <p:cNvSpPr txBox="1"/>
          <p:nvPr/>
        </p:nvSpPr>
        <p:spPr>
          <a:xfrm>
            <a:off x="8124825" y="1750695"/>
            <a:ext cx="146087" cy="194310"/>
          </a:xfrm>
          <a:prstGeom prst="rect">
            <a:avLst/>
          </a:prstGeom>
          <a:noFill/>
        </p:spPr>
        <p:txBody>
          <a:bodyPr wrap="none" lIns="0" rIns="0" tIns="0" bIns="0">
            <a:spAutoFit/>
          </a:bodyPr>
          <a:lstStyle/>
          <a:p>
            <a:r>
              <a:rPr sz="1150" b="0">
                <a:solidFill>
                  <a:srgbClr val="2E2E2E"/>
                </a:solidFill>
                <a:latin typeface="Calibri"/>
              </a:rPr>
              <a:t>a</a:t>
            </a:r>
          </a:p>
        </p:txBody>
      </p:sp>
      <p:pic>
        <p:nvPicPr>
          <p:cNvPr id="62" name="Picture 61" descr="lock.png"/>
          <p:cNvPicPr>
            <a:picLocks noChangeAspect="1"/>
          </p:cNvPicPr>
          <p:nvPr/>
        </p:nvPicPr>
        <p:blipFill>
          <a:blip r:embed="rId4"/>
          <a:stretch>
            <a:fillRect/>
          </a:stretch>
        </p:blipFill>
        <p:spPr>
          <a:xfrm>
            <a:off x="8220066" y="1740471"/>
            <a:ext cx="134549" cy="195707"/>
          </a:xfrm>
          <a:prstGeom prst="rect">
            <a:avLst/>
          </a:prstGeom>
        </p:spPr>
      </p:pic>
      <p:sp>
        <p:nvSpPr>
          <p:cNvPr id="63" name="TextBox 62"/>
          <p:cNvSpPr txBox="1"/>
          <p:nvPr/>
        </p:nvSpPr>
        <p:spPr>
          <a:xfrm>
            <a:off x="8395175" y="175069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4" name="Picture 63" descr="lock.png"/>
          <p:cNvPicPr>
            <a:picLocks noChangeAspect="1"/>
          </p:cNvPicPr>
          <p:nvPr/>
        </p:nvPicPr>
        <p:blipFill>
          <a:blip r:embed="rId4"/>
          <a:stretch>
            <a:fillRect/>
          </a:stretch>
        </p:blipFill>
        <p:spPr>
          <a:xfrm>
            <a:off x="8790771" y="1740471"/>
            <a:ext cx="134549" cy="195707"/>
          </a:xfrm>
          <a:prstGeom prst="rect">
            <a:avLst/>
          </a:prstGeom>
        </p:spPr>
      </p:pic>
      <p:sp>
        <p:nvSpPr>
          <p:cNvPr id="65" name="TextBox 64"/>
          <p:cNvSpPr txBox="1"/>
          <p:nvPr/>
        </p:nvSpPr>
        <p:spPr>
          <a:xfrm>
            <a:off x="8965880" y="1750695"/>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66" name="TextBox 65"/>
          <p:cNvSpPr txBox="1"/>
          <p:nvPr/>
        </p:nvSpPr>
        <p:spPr>
          <a:xfrm>
            <a:off x="8124825" y="1925955"/>
            <a:ext cx="1517017" cy="194310"/>
          </a:xfrm>
          <a:prstGeom prst="rect">
            <a:avLst/>
          </a:prstGeom>
          <a:noFill/>
        </p:spPr>
        <p:txBody>
          <a:bodyPr wrap="none" lIns="0" rIns="0" tIns="0" bIns="0">
            <a:spAutoFit/>
          </a:bodyPr>
          <a:lstStyle/>
          <a:p>
            <a:r>
              <a:rPr sz="1150" b="0">
                <a:solidFill>
                  <a:srgbClr val="2E2E2E"/>
                </a:solidFill>
                <a:latin typeface="Calibri"/>
              </a:rPr>
              <a:t>above the cross-section.</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370455"/>
            <a:ext cx="7239000" cy="247650"/>
          </a:xfrm>
          <a:prstGeom prst="rect">
            <a:avLst/>
          </a:prstGeom>
          <a:noFill/>
        </p:spPr>
        <p:txBody>
          <a:bodyPr wrap="none" lIns="0" tIns="0">
            <a:spAutoFit/>
          </a:bodyPr>
          <a:lstStyle/>
          <a:p>
            <a:r>
              <a:rPr sz="1400" b="0">
                <a:solidFill>
                  <a:srgbClr val="8FC8F2"/>
                </a:solidFill>
                <a:latin typeface="Calibri"/>
              </a:rPr>
              <a:t>Allergy Immunotherapy Market</a:t>
            </a:r>
          </a:p>
        </p:txBody>
      </p:sp>
      <p:sp>
        <p:nvSpPr>
          <p:cNvPr id="6" name="FMI Breaker Title"/>
          <p:cNvSpPr txBox="1"/>
          <p:nvPr/>
        </p:nvSpPr>
        <p:spPr>
          <a:xfrm>
            <a:off x="914400" y="2675255"/>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380105"/>
            <a:ext cx="7124700" cy="253619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Therapy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Allergen Class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Commercial Product Model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Allergen Preparation Technology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Allergen Composition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Sales / Procurement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Volume Overview (Patient Treatment Courses)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volume: size, growth, YoY momentum and gap to the Global benchmark</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(PATIENT TREATMENT COURSES)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2" name="Rounded Rectangle 11"/>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(PATIENT TREATMENT COURSES)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3" name="Rounded Rectangle 12"/>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4" name="Rounded Rectangle 13"/>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5" name="Rounded Rectangle 14"/>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(Patient Treatment Courses), 2021–2036</a:t>
            </a:r>
          </a:p>
        </p:txBody>
      </p:sp>
      <p:graphicFrame>
        <p:nvGraphicFramePr>
          <p:cNvPr id="17" name="Chart 16"/>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8" name="Rounded Rectangle 17"/>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20" name="Chart 19"/>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1" name="TextBox 20"/>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2" name="TextBox 21"/>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3" name="Rounded Rectangle 22"/>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(Patient Treatment Courses)</a:t>
            </a:r>
          </a:p>
        </p:txBody>
      </p:sp>
      <p:graphicFrame>
        <p:nvGraphicFramePr>
          <p:cNvPr id="25" name="Chart 24"/>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6" name="Rounded Rectangle 25"/>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8" name="Chart 27"/>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9" name="Rounded Rectangle 28"/>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Rounded Rectangle 29"/>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8"/>
          <a:stretch>
            <a:fillRect/>
          </a:stretch>
        </p:blipFill>
        <p:spPr>
          <a:xfrm>
            <a:off x="14930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4502944" y="1219200"/>
            <a:ext cx="157162" cy="228600"/>
          </a:xfrm>
          <a:prstGeom prst="rect">
            <a:avLst/>
          </a:prstGeom>
        </p:spPr>
      </p:pic>
      <p:pic>
        <p:nvPicPr>
          <p:cNvPr id="34" name="Picture 33" descr="lock.png"/>
          <p:cNvPicPr>
            <a:picLocks noChangeAspect="1"/>
          </p:cNvPicPr>
          <p:nvPr/>
        </p:nvPicPr>
        <p:blipFill>
          <a:blip r:embed="rId8"/>
          <a:stretch>
            <a:fillRect/>
          </a:stretch>
        </p:blipFill>
        <p:spPr>
          <a:xfrm>
            <a:off x="75128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10522744" y="1303020"/>
            <a:ext cx="157162" cy="228600"/>
          </a:xfrm>
          <a:prstGeom prst="rect">
            <a:avLst/>
          </a:prstGeom>
        </p:spPr>
      </p:pic>
      <p:pic>
        <p:nvPicPr>
          <p:cNvPr id="36" name="Picture 35" descr="lock.png"/>
          <p:cNvPicPr>
            <a:picLocks noChangeAspect="1"/>
          </p:cNvPicPr>
          <p:nvPr/>
        </p:nvPicPr>
        <p:blipFill>
          <a:blip r:embed="rId8"/>
          <a:stretch>
            <a:fillRect/>
          </a:stretch>
        </p:blipFill>
        <p:spPr>
          <a:xfrm>
            <a:off x="2554414" y="2661285"/>
            <a:ext cx="165021" cy="240030"/>
          </a:xfrm>
          <a:prstGeom prst="rect">
            <a:avLst/>
          </a:prstGeom>
        </p:spPr>
      </p:pic>
      <p:pic>
        <p:nvPicPr>
          <p:cNvPr id="37" name="Picture 36" descr="lock.png"/>
          <p:cNvPicPr>
            <a:picLocks noChangeAspect="1"/>
          </p:cNvPicPr>
          <p:nvPr/>
        </p:nvPicPr>
        <p:blipFill>
          <a:blip r:embed="rId8"/>
          <a:stretch>
            <a:fillRect/>
          </a:stretch>
        </p:blipFill>
        <p:spPr>
          <a:xfrm>
            <a:off x="6762365" y="2599095"/>
            <a:ext cx="191595" cy="278683"/>
          </a:xfrm>
          <a:prstGeom prst="rect">
            <a:avLst/>
          </a:prstGeom>
        </p:spPr>
      </p:pic>
      <p:pic>
        <p:nvPicPr>
          <p:cNvPr id="38" name="Picture 37" descr="lock.png"/>
          <p:cNvPicPr>
            <a:picLocks noChangeAspect="1"/>
          </p:cNvPicPr>
          <p:nvPr/>
        </p:nvPicPr>
        <p:blipFill>
          <a:blip r:embed="rId8"/>
          <a:stretch>
            <a:fillRect/>
          </a:stretch>
        </p:blipFill>
        <p:spPr>
          <a:xfrm>
            <a:off x="9878378" y="2141220"/>
            <a:ext cx="230504" cy="335279"/>
          </a:xfrm>
          <a:prstGeom prst="rect">
            <a:avLst/>
          </a:prstGeom>
        </p:spPr>
      </p:pic>
      <p:pic>
        <p:nvPicPr>
          <p:cNvPr id="39" name="Picture 38" descr="lock.png"/>
          <p:cNvPicPr>
            <a:picLocks noChangeAspect="1"/>
          </p:cNvPicPr>
          <p:nvPr/>
        </p:nvPicPr>
        <p:blipFill>
          <a:blip r:embed="rId8"/>
          <a:stretch>
            <a:fillRect/>
          </a:stretch>
        </p:blipFill>
        <p:spPr>
          <a:xfrm>
            <a:off x="2554414" y="4575810"/>
            <a:ext cx="165021" cy="240030"/>
          </a:xfrm>
          <a:prstGeom prst="rect">
            <a:avLst/>
          </a:prstGeom>
        </p:spPr>
      </p:pic>
      <p:pic>
        <p:nvPicPr>
          <p:cNvPr id="40" name="Picture 39" descr="lock.png"/>
          <p:cNvPicPr>
            <a:picLocks noChangeAspect="1"/>
          </p:cNvPicPr>
          <p:nvPr/>
        </p:nvPicPr>
        <p:blipFill>
          <a:blip r:embed="rId8"/>
          <a:stretch>
            <a:fillRect/>
          </a:stretch>
        </p:blipFill>
        <p:spPr>
          <a:xfrm>
            <a:off x="8715708" y="4462938"/>
            <a:ext cx="261282" cy="380047"/>
          </a:xfrm>
          <a:prstGeom prst="rect">
            <a:avLst/>
          </a:prstGeom>
        </p:spPr>
      </p:pic>
      <p:sp>
        <p:nvSpPr>
          <p:cNvPr id="41" name="TextBox 40"/>
          <p:cNvSpPr txBox="1"/>
          <p:nvPr/>
        </p:nvSpPr>
        <p:spPr>
          <a:xfrm>
            <a:off x="8071485" y="2876550"/>
            <a:ext cx="2833910" cy="186689"/>
          </a:xfrm>
          <a:prstGeom prst="rect">
            <a:avLst/>
          </a:prstGeom>
          <a:noFill/>
        </p:spPr>
        <p:txBody>
          <a:bodyPr wrap="none" lIns="0" rIns="0" tIns="0" bIns="0">
            <a:spAutoFit/>
          </a:bodyPr>
          <a:lstStyle/>
          <a:p>
            <a:r>
              <a:rPr sz="1100" b="0">
                <a:solidFill>
                  <a:srgbClr val="2E2E2E"/>
                </a:solidFill>
                <a:latin typeface="Calibri"/>
              </a:rPr>
              <a:t>U.S.'s allergy immunotherapy market expands at</a:t>
            </a:r>
          </a:p>
        </p:txBody>
      </p:sp>
      <p:pic>
        <p:nvPicPr>
          <p:cNvPr id="42" name="Picture 41" descr="lock.png"/>
          <p:cNvPicPr>
            <a:picLocks noChangeAspect="1"/>
          </p:cNvPicPr>
          <p:nvPr/>
        </p:nvPicPr>
        <p:blipFill>
          <a:blip r:embed="rId8"/>
          <a:stretch>
            <a:fillRect/>
          </a:stretch>
        </p:blipFill>
        <p:spPr>
          <a:xfrm>
            <a:off x="10853447" y="2866771"/>
            <a:ext cx="128699" cy="187198"/>
          </a:xfrm>
          <a:prstGeom prst="rect">
            <a:avLst/>
          </a:prstGeom>
        </p:spPr>
      </p:pic>
      <p:sp>
        <p:nvSpPr>
          <p:cNvPr id="43" name="TextBox 42"/>
          <p:cNvSpPr txBox="1"/>
          <p:nvPr/>
        </p:nvSpPr>
        <p:spPr>
          <a:xfrm>
            <a:off x="11020943" y="2876550"/>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44" name="TextBox 43"/>
          <p:cNvSpPr txBox="1"/>
          <p:nvPr/>
        </p:nvSpPr>
        <p:spPr>
          <a:xfrm>
            <a:off x="8071485" y="3044190"/>
            <a:ext cx="3218358" cy="186689"/>
          </a:xfrm>
          <a:prstGeom prst="rect">
            <a:avLst/>
          </a:prstGeom>
          <a:noFill/>
        </p:spPr>
        <p:txBody>
          <a:bodyPr wrap="none" lIns="0" rIns="0" tIns="0" bIns="0">
            <a:spAutoFit/>
          </a:bodyPr>
          <a:lstStyle/>
          <a:p>
            <a:r>
              <a:rPr sz="1100" b="0">
                <a:solidFill>
                  <a:srgbClr val="2E2E2E"/>
                </a:solidFill>
                <a:latin typeface="Calibri"/>
              </a:rPr>
              <a:t>through 2036, trailing the North America benchmark of</a:t>
            </a:r>
          </a:p>
        </p:txBody>
      </p:sp>
      <p:pic>
        <p:nvPicPr>
          <p:cNvPr id="45" name="Picture 44" descr="lock.png"/>
          <p:cNvPicPr>
            <a:picLocks noChangeAspect="1"/>
          </p:cNvPicPr>
          <p:nvPr/>
        </p:nvPicPr>
        <p:blipFill>
          <a:blip r:embed="rId8"/>
          <a:stretch>
            <a:fillRect/>
          </a:stretch>
        </p:blipFill>
        <p:spPr>
          <a:xfrm>
            <a:off x="11237895" y="3034411"/>
            <a:ext cx="128699" cy="187198"/>
          </a:xfrm>
          <a:prstGeom prst="rect">
            <a:avLst/>
          </a:prstGeom>
        </p:spPr>
      </p:pic>
      <p:sp>
        <p:nvSpPr>
          <p:cNvPr id="46" name="TextBox 45"/>
          <p:cNvSpPr txBox="1"/>
          <p:nvPr/>
        </p:nvSpPr>
        <p:spPr>
          <a:xfrm>
            <a:off x="11405391"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7" name="Picture 46" descr="lock.png"/>
          <p:cNvPicPr>
            <a:picLocks noChangeAspect="1"/>
          </p:cNvPicPr>
          <p:nvPr/>
        </p:nvPicPr>
        <p:blipFill>
          <a:blip r:embed="rId8"/>
          <a:stretch>
            <a:fillRect/>
          </a:stretch>
        </p:blipFill>
        <p:spPr>
          <a:xfrm>
            <a:off x="8058017" y="3202051"/>
            <a:ext cx="128699" cy="187198"/>
          </a:xfrm>
          <a:prstGeom prst="rect">
            <a:avLst/>
          </a:prstGeom>
        </p:spPr>
      </p:pic>
      <p:sp>
        <p:nvSpPr>
          <p:cNvPr id="48" name="TextBox 47"/>
          <p:cNvSpPr txBox="1"/>
          <p:nvPr/>
        </p:nvSpPr>
        <p:spPr>
          <a:xfrm>
            <a:off x="8225513"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9" name="TextBox 48"/>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50" name="Picture 49" descr="lock.png"/>
          <p:cNvPicPr>
            <a:picLocks noChangeAspect="1"/>
          </p:cNvPicPr>
          <p:nvPr/>
        </p:nvPicPr>
        <p:blipFill>
          <a:blip r:embed="rId8"/>
          <a:stretch>
            <a:fillRect/>
          </a:stretch>
        </p:blipFill>
        <p:spPr>
          <a:xfrm>
            <a:off x="844592" y="5956680"/>
            <a:ext cx="128699" cy="187198"/>
          </a:xfrm>
          <a:prstGeom prst="rect">
            <a:avLst/>
          </a:prstGeom>
        </p:spPr>
      </p:pic>
      <p:sp>
        <p:nvSpPr>
          <p:cNvPr id="51" name="TextBox 50"/>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2" name="Picture 51" descr="lock.png"/>
          <p:cNvPicPr>
            <a:picLocks noChangeAspect="1"/>
          </p:cNvPicPr>
          <p:nvPr/>
        </p:nvPicPr>
        <p:blipFill>
          <a:blip r:embed="rId8"/>
          <a:stretch>
            <a:fillRect/>
          </a:stretch>
        </p:blipFill>
        <p:spPr>
          <a:xfrm>
            <a:off x="1995140" y="5956680"/>
            <a:ext cx="128699" cy="187198"/>
          </a:xfrm>
          <a:prstGeom prst="rect">
            <a:avLst/>
          </a:prstGeom>
        </p:spPr>
      </p:pic>
      <p:sp>
        <p:nvSpPr>
          <p:cNvPr id="53" name="TextBox 52"/>
          <p:cNvSpPr txBox="1"/>
          <p:nvPr/>
        </p:nvSpPr>
        <p:spPr>
          <a:xfrm>
            <a:off x="2162635" y="5966460"/>
            <a:ext cx="3568699" cy="186689"/>
          </a:xfrm>
          <a:prstGeom prst="rect">
            <a:avLst/>
          </a:prstGeom>
          <a:noFill/>
        </p:spPr>
        <p:txBody>
          <a:bodyPr wrap="none" lIns="0" rIns="0" tIns="0" bIns="0">
            <a:spAutoFit/>
          </a:bodyPr>
          <a:lstStyle/>
          <a:p>
            <a:r>
              <a:rPr sz="1100" b="0">
                <a:solidFill>
                  <a:srgbClr val="2E2E2E"/>
                </a:solidFill>
                <a:latin typeface="Calibri"/>
              </a:rPr>
              <a:t>of the North America allergy immunotherapy market in 2026;</a:t>
            </a:r>
          </a:p>
        </p:txBody>
      </p:sp>
      <p:sp>
        <p:nvSpPr>
          <p:cNvPr id="54" name="TextBox 53"/>
          <p:cNvSpPr txBox="1"/>
          <p:nvPr/>
        </p:nvSpPr>
        <p:spPr>
          <a:xfrm>
            <a:off x="257175" y="6134100"/>
            <a:ext cx="1779339" cy="186689"/>
          </a:xfrm>
          <a:prstGeom prst="rect">
            <a:avLst/>
          </a:prstGeom>
          <a:noFill/>
        </p:spPr>
        <p:txBody>
          <a:bodyPr wrap="none" lIns="0" rIns="0" tIns="0" bIns="0">
            <a:spAutoFit/>
          </a:bodyPr>
          <a:lstStyle/>
          <a:p>
            <a:r>
              <a:rPr sz="1100" b="0">
                <a:solidFill>
                  <a:srgbClr val="2E2E2E"/>
                </a:solidFill>
                <a:latin typeface="Calibri"/>
              </a:rPr>
              <a:t>by 2036 those shares move to</a:t>
            </a:r>
          </a:p>
        </p:txBody>
      </p:sp>
      <p:pic>
        <p:nvPicPr>
          <p:cNvPr id="55" name="Picture 54" descr="lock.png"/>
          <p:cNvPicPr>
            <a:picLocks noChangeAspect="1"/>
          </p:cNvPicPr>
          <p:nvPr/>
        </p:nvPicPr>
        <p:blipFill>
          <a:blip r:embed="rId8"/>
          <a:stretch>
            <a:fillRect/>
          </a:stretch>
        </p:blipFill>
        <p:spPr>
          <a:xfrm>
            <a:off x="1984566" y="6124320"/>
            <a:ext cx="128699" cy="187198"/>
          </a:xfrm>
          <a:prstGeom prst="rect">
            <a:avLst/>
          </a:prstGeom>
        </p:spPr>
      </p:pic>
      <p:sp>
        <p:nvSpPr>
          <p:cNvPr id="56" name="TextBox 55"/>
          <p:cNvSpPr txBox="1"/>
          <p:nvPr/>
        </p:nvSpPr>
        <p:spPr>
          <a:xfrm>
            <a:off x="2152061"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7" name="Picture 56" descr="lock.png"/>
          <p:cNvPicPr>
            <a:picLocks noChangeAspect="1"/>
          </p:cNvPicPr>
          <p:nvPr/>
        </p:nvPicPr>
        <p:blipFill>
          <a:blip r:embed="rId8"/>
          <a:stretch>
            <a:fillRect/>
          </a:stretch>
        </p:blipFill>
        <p:spPr>
          <a:xfrm>
            <a:off x="2389956" y="6124320"/>
            <a:ext cx="128699" cy="187198"/>
          </a:xfrm>
          <a:prstGeom prst="rect">
            <a:avLst/>
          </a:prstGeom>
        </p:spPr>
      </p:pic>
      <p:sp>
        <p:nvSpPr>
          <p:cNvPr id="58" name="TextBox 57"/>
          <p:cNvSpPr txBox="1"/>
          <p:nvPr/>
        </p:nvSpPr>
        <p:spPr>
          <a:xfrm>
            <a:off x="255745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9" name="TextBox 58"/>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60" name="Picture 59" descr="lock.png"/>
          <p:cNvPicPr>
            <a:picLocks noChangeAspect="1"/>
          </p:cNvPicPr>
          <p:nvPr/>
        </p:nvPicPr>
        <p:blipFill>
          <a:blip r:embed="rId8"/>
          <a:stretch>
            <a:fillRect/>
          </a:stretch>
        </p:blipFill>
        <p:spPr>
          <a:xfrm>
            <a:off x="7821530" y="5956680"/>
            <a:ext cx="128699" cy="187198"/>
          </a:xfrm>
          <a:prstGeom prst="rect">
            <a:avLst/>
          </a:prstGeom>
        </p:spPr>
      </p:pic>
      <p:sp>
        <p:nvSpPr>
          <p:cNvPr id="61" name="TextBox 60"/>
          <p:cNvSpPr txBox="1"/>
          <p:nvPr/>
        </p:nvSpPr>
        <p:spPr>
          <a:xfrm>
            <a:off x="7989026" y="5966460"/>
            <a:ext cx="3486298" cy="186689"/>
          </a:xfrm>
          <a:prstGeom prst="rect">
            <a:avLst/>
          </a:prstGeom>
          <a:noFill/>
        </p:spPr>
        <p:txBody>
          <a:bodyPr wrap="none" lIns="0" rIns="0" tIns="0" bIns="0">
            <a:spAutoFit/>
          </a:bodyPr>
          <a:lstStyle/>
          <a:p>
            <a:r>
              <a:rPr sz="1100" b="0">
                <a:solidFill>
                  <a:srgbClr val="2E2E2E"/>
                </a:solidFill>
                <a:latin typeface="Calibri"/>
              </a:rPr>
              <a:t>Patient Treatment Courses between 2026 and 2036 the U.S.</a:t>
            </a:r>
          </a:p>
        </p:txBody>
      </p:sp>
      <p:sp>
        <p:nvSpPr>
          <p:cNvPr id="62" name="TextBox 61"/>
          <p:cNvSpPr txBox="1"/>
          <p:nvPr/>
        </p:nvSpPr>
        <p:spPr>
          <a:xfrm>
            <a:off x="6286500" y="6134100"/>
            <a:ext cx="1010170" cy="186689"/>
          </a:xfrm>
          <a:prstGeom prst="rect">
            <a:avLst/>
          </a:prstGeom>
          <a:noFill/>
        </p:spPr>
        <p:txBody>
          <a:bodyPr wrap="none" lIns="0" rIns="0" tIns="0" bIns="0">
            <a:spAutoFit/>
          </a:bodyPr>
          <a:lstStyle/>
          <a:p>
            <a:r>
              <a:rPr sz="1100" b="0">
                <a:solidFill>
                  <a:srgbClr val="2E2E2E"/>
                </a:solidFill>
                <a:latin typeface="Calibri"/>
              </a:rPr>
              <a:t>market grows to</a:t>
            </a:r>
          </a:p>
        </p:txBody>
      </p:sp>
      <p:pic>
        <p:nvPicPr>
          <p:cNvPr id="63" name="Picture 62" descr="lock.png"/>
          <p:cNvPicPr>
            <a:picLocks noChangeAspect="1"/>
          </p:cNvPicPr>
          <p:nvPr/>
        </p:nvPicPr>
        <p:blipFill>
          <a:blip r:embed="rId8"/>
          <a:stretch>
            <a:fillRect/>
          </a:stretch>
        </p:blipFill>
        <p:spPr>
          <a:xfrm>
            <a:off x="7244722" y="6124320"/>
            <a:ext cx="128699" cy="187198"/>
          </a:xfrm>
          <a:prstGeom prst="rect">
            <a:avLst/>
          </a:prstGeom>
        </p:spPr>
      </p:pic>
      <p:sp>
        <p:nvSpPr>
          <p:cNvPr id="64" name="TextBox 63"/>
          <p:cNvSpPr txBox="1"/>
          <p:nvPr/>
        </p:nvSpPr>
        <p:spPr>
          <a:xfrm>
            <a:off x="7412218" y="6134100"/>
            <a:ext cx="1856829" cy="186689"/>
          </a:xfrm>
          <a:prstGeom prst="rect">
            <a:avLst/>
          </a:prstGeom>
          <a:noFill/>
        </p:spPr>
        <p:txBody>
          <a:bodyPr wrap="none" lIns="0" rIns="0" tIns="0" bIns="0">
            <a:spAutoFit/>
          </a:bodyPr>
          <a:lstStyle/>
          <a:p>
            <a:r>
              <a:rPr sz="1100" b="0">
                <a:solidFill>
                  <a:srgbClr val="2E2E2E"/>
                </a:solidFill>
                <a:latin typeface="Calibri"/>
              </a:rPr>
              <a:t>× its 2026 size over the decade.</a:t>
            </a:r>
          </a:p>
        </p:txBody>
      </p:sp>
      <p:sp>
        <p:nvSpPr>
          <p:cNvPr id="65" name="lockshield_17"/>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20"/>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25"/>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28"/>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Value Overview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value: size, growth, YoY momentum and gap to the Global benchmark</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2" name="Rounded Rectangle 11"/>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3" name="Rounded Rectangle 12"/>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4" name="Rounded Rectangle 13"/>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5" name="Rounded Rectangle 14"/>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(US$ Mn), 2021–2036</a:t>
            </a:r>
          </a:p>
        </p:txBody>
      </p:sp>
      <p:graphicFrame>
        <p:nvGraphicFramePr>
          <p:cNvPr id="17" name="Chart 16"/>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8" name="Rounded Rectangle 17"/>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20" name="Chart 19"/>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1" name="TextBox 20"/>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2" name="TextBox 21"/>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3" name="Rounded Rectangle 22"/>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5" name="Chart 24"/>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6" name="Rounded Rectangle 25"/>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8" name="Chart 27"/>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9" name="Rounded Rectangle 28"/>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Rounded Rectangle 29"/>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8"/>
          <a:stretch>
            <a:fillRect/>
          </a:stretch>
        </p:blipFill>
        <p:spPr>
          <a:xfrm>
            <a:off x="14930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4502944" y="1219200"/>
            <a:ext cx="157162" cy="228600"/>
          </a:xfrm>
          <a:prstGeom prst="rect">
            <a:avLst/>
          </a:prstGeom>
        </p:spPr>
      </p:pic>
      <p:pic>
        <p:nvPicPr>
          <p:cNvPr id="34" name="Picture 33" descr="lock.png"/>
          <p:cNvPicPr>
            <a:picLocks noChangeAspect="1"/>
          </p:cNvPicPr>
          <p:nvPr/>
        </p:nvPicPr>
        <p:blipFill>
          <a:blip r:embed="rId8"/>
          <a:stretch>
            <a:fillRect/>
          </a:stretch>
        </p:blipFill>
        <p:spPr>
          <a:xfrm>
            <a:off x="75128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10522744" y="1303020"/>
            <a:ext cx="157162" cy="228600"/>
          </a:xfrm>
          <a:prstGeom prst="rect">
            <a:avLst/>
          </a:prstGeom>
        </p:spPr>
      </p:pic>
      <p:pic>
        <p:nvPicPr>
          <p:cNvPr id="36" name="Picture 35" descr="lock.png"/>
          <p:cNvPicPr>
            <a:picLocks noChangeAspect="1"/>
          </p:cNvPicPr>
          <p:nvPr/>
        </p:nvPicPr>
        <p:blipFill>
          <a:blip r:embed="rId8"/>
          <a:stretch>
            <a:fillRect/>
          </a:stretch>
        </p:blipFill>
        <p:spPr>
          <a:xfrm>
            <a:off x="2554414" y="2661285"/>
            <a:ext cx="165021" cy="240030"/>
          </a:xfrm>
          <a:prstGeom prst="rect">
            <a:avLst/>
          </a:prstGeom>
        </p:spPr>
      </p:pic>
      <p:pic>
        <p:nvPicPr>
          <p:cNvPr id="37" name="Picture 36" descr="lock.png"/>
          <p:cNvPicPr>
            <a:picLocks noChangeAspect="1"/>
          </p:cNvPicPr>
          <p:nvPr/>
        </p:nvPicPr>
        <p:blipFill>
          <a:blip r:embed="rId8"/>
          <a:stretch>
            <a:fillRect/>
          </a:stretch>
        </p:blipFill>
        <p:spPr>
          <a:xfrm>
            <a:off x="6762365" y="2599095"/>
            <a:ext cx="191595" cy="278683"/>
          </a:xfrm>
          <a:prstGeom prst="rect">
            <a:avLst/>
          </a:prstGeom>
        </p:spPr>
      </p:pic>
      <p:pic>
        <p:nvPicPr>
          <p:cNvPr id="38" name="Picture 37" descr="lock.png"/>
          <p:cNvPicPr>
            <a:picLocks noChangeAspect="1"/>
          </p:cNvPicPr>
          <p:nvPr/>
        </p:nvPicPr>
        <p:blipFill>
          <a:blip r:embed="rId8"/>
          <a:stretch>
            <a:fillRect/>
          </a:stretch>
        </p:blipFill>
        <p:spPr>
          <a:xfrm>
            <a:off x="9878378" y="2141220"/>
            <a:ext cx="230504" cy="335279"/>
          </a:xfrm>
          <a:prstGeom prst="rect">
            <a:avLst/>
          </a:prstGeom>
        </p:spPr>
      </p:pic>
      <p:pic>
        <p:nvPicPr>
          <p:cNvPr id="39" name="Picture 38" descr="lock.png"/>
          <p:cNvPicPr>
            <a:picLocks noChangeAspect="1"/>
          </p:cNvPicPr>
          <p:nvPr/>
        </p:nvPicPr>
        <p:blipFill>
          <a:blip r:embed="rId8"/>
          <a:stretch>
            <a:fillRect/>
          </a:stretch>
        </p:blipFill>
        <p:spPr>
          <a:xfrm>
            <a:off x="2554414" y="4575810"/>
            <a:ext cx="165021" cy="240030"/>
          </a:xfrm>
          <a:prstGeom prst="rect">
            <a:avLst/>
          </a:prstGeom>
        </p:spPr>
      </p:pic>
      <p:pic>
        <p:nvPicPr>
          <p:cNvPr id="40" name="Picture 39" descr="lock.png"/>
          <p:cNvPicPr>
            <a:picLocks noChangeAspect="1"/>
          </p:cNvPicPr>
          <p:nvPr/>
        </p:nvPicPr>
        <p:blipFill>
          <a:blip r:embed="rId8"/>
          <a:stretch>
            <a:fillRect/>
          </a:stretch>
        </p:blipFill>
        <p:spPr>
          <a:xfrm>
            <a:off x="8715708" y="4462938"/>
            <a:ext cx="261282" cy="380047"/>
          </a:xfrm>
          <a:prstGeom prst="rect">
            <a:avLst/>
          </a:prstGeom>
        </p:spPr>
      </p:pic>
      <p:sp>
        <p:nvSpPr>
          <p:cNvPr id="41" name="TextBox 40"/>
          <p:cNvSpPr txBox="1"/>
          <p:nvPr/>
        </p:nvSpPr>
        <p:spPr>
          <a:xfrm>
            <a:off x="8071485" y="2876550"/>
            <a:ext cx="2833910" cy="186689"/>
          </a:xfrm>
          <a:prstGeom prst="rect">
            <a:avLst/>
          </a:prstGeom>
          <a:noFill/>
        </p:spPr>
        <p:txBody>
          <a:bodyPr wrap="none" lIns="0" rIns="0" tIns="0" bIns="0">
            <a:spAutoFit/>
          </a:bodyPr>
          <a:lstStyle/>
          <a:p>
            <a:r>
              <a:rPr sz="1100" b="0">
                <a:solidFill>
                  <a:srgbClr val="2E2E2E"/>
                </a:solidFill>
                <a:latin typeface="Calibri"/>
              </a:rPr>
              <a:t>U.S.'s allergy immunotherapy market expands at</a:t>
            </a:r>
          </a:p>
        </p:txBody>
      </p:sp>
      <p:pic>
        <p:nvPicPr>
          <p:cNvPr id="42" name="Picture 41" descr="lock.png"/>
          <p:cNvPicPr>
            <a:picLocks noChangeAspect="1"/>
          </p:cNvPicPr>
          <p:nvPr/>
        </p:nvPicPr>
        <p:blipFill>
          <a:blip r:embed="rId8"/>
          <a:stretch>
            <a:fillRect/>
          </a:stretch>
        </p:blipFill>
        <p:spPr>
          <a:xfrm>
            <a:off x="10853447" y="2866771"/>
            <a:ext cx="128699" cy="187198"/>
          </a:xfrm>
          <a:prstGeom prst="rect">
            <a:avLst/>
          </a:prstGeom>
        </p:spPr>
      </p:pic>
      <p:sp>
        <p:nvSpPr>
          <p:cNvPr id="43" name="TextBox 42"/>
          <p:cNvSpPr txBox="1"/>
          <p:nvPr/>
        </p:nvSpPr>
        <p:spPr>
          <a:xfrm>
            <a:off x="11020943" y="2876550"/>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44" name="TextBox 43"/>
          <p:cNvSpPr txBox="1"/>
          <p:nvPr/>
        </p:nvSpPr>
        <p:spPr>
          <a:xfrm>
            <a:off x="8071485" y="3044190"/>
            <a:ext cx="3218358" cy="186689"/>
          </a:xfrm>
          <a:prstGeom prst="rect">
            <a:avLst/>
          </a:prstGeom>
          <a:noFill/>
        </p:spPr>
        <p:txBody>
          <a:bodyPr wrap="none" lIns="0" rIns="0" tIns="0" bIns="0">
            <a:spAutoFit/>
          </a:bodyPr>
          <a:lstStyle/>
          <a:p>
            <a:r>
              <a:rPr sz="1100" b="0">
                <a:solidFill>
                  <a:srgbClr val="2E2E2E"/>
                </a:solidFill>
                <a:latin typeface="Calibri"/>
              </a:rPr>
              <a:t>through 2036, trailing the North America benchmark of</a:t>
            </a:r>
          </a:p>
        </p:txBody>
      </p:sp>
      <p:pic>
        <p:nvPicPr>
          <p:cNvPr id="45" name="Picture 44" descr="lock.png"/>
          <p:cNvPicPr>
            <a:picLocks noChangeAspect="1"/>
          </p:cNvPicPr>
          <p:nvPr/>
        </p:nvPicPr>
        <p:blipFill>
          <a:blip r:embed="rId8"/>
          <a:stretch>
            <a:fillRect/>
          </a:stretch>
        </p:blipFill>
        <p:spPr>
          <a:xfrm>
            <a:off x="11237895" y="3034411"/>
            <a:ext cx="128699" cy="187198"/>
          </a:xfrm>
          <a:prstGeom prst="rect">
            <a:avLst/>
          </a:prstGeom>
        </p:spPr>
      </p:pic>
      <p:sp>
        <p:nvSpPr>
          <p:cNvPr id="46" name="TextBox 45"/>
          <p:cNvSpPr txBox="1"/>
          <p:nvPr/>
        </p:nvSpPr>
        <p:spPr>
          <a:xfrm>
            <a:off x="11405391"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7" name="Picture 46" descr="lock.png"/>
          <p:cNvPicPr>
            <a:picLocks noChangeAspect="1"/>
          </p:cNvPicPr>
          <p:nvPr/>
        </p:nvPicPr>
        <p:blipFill>
          <a:blip r:embed="rId8"/>
          <a:stretch>
            <a:fillRect/>
          </a:stretch>
        </p:blipFill>
        <p:spPr>
          <a:xfrm>
            <a:off x="8058017" y="3202051"/>
            <a:ext cx="128699" cy="187198"/>
          </a:xfrm>
          <a:prstGeom prst="rect">
            <a:avLst/>
          </a:prstGeom>
        </p:spPr>
      </p:pic>
      <p:sp>
        <p:nvSpPr>
          <p:cNvPr id="48" name="TextBox 47"/>
          <p:cNvSpPr txBox="1"/>
          <p:nvPr/>
        </p:nvSpPr>
        <p:spPr>
          <a:xfrm>
            <a:off x="8225513"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9" name="TextBox 48"/>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50" name="Picture 49" descr="lock.png"/>
          <p:cNvPicPr>
            <a:picLocks noChangeAspect="1"/>
          </p:cNvPicPr>
          <p:nvPr/>
        </p:nvPicPr>
        <p:blipFill>
          <a:blip r:embed="rId8"/>
          <a:stretch>
            <a:fillRect/>
          </a:stretch>
        </p:blipFill>
        <p:spPr>
          <a:xfrm>
            <a:off x="844592" y="5956680"/>
            <a:ext cx="128699" cy="187198"/>
          </a:xfrm>
          <a:prstGeom prst="rect">
            <a:avLst/>
          </a:prstGeom>
        </p:spPr>
      </p:pic>
      <p:sp>
        <p:nvSpPr>
          <p:cNvPr id="51" name="TextBox 50"/>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2" name="Picture 51" descr="lock.png"/>
          <p:cNvPicPr>
            <a:picLocks noChangeAspect="1"/>
          </p:cNvPicPr>
          <p:nvPr/>
        </p:nvPicPr>
        <p:blipFill>
          <a:blip r:embed="rId8"/>
          <a:stretch>
            <a:fillRect/>
          </a:stretch>
        </p:blipFill>
        <p:spPr>
          <a:xfrm>
            <a:off x="1995140" y="5956680"/>
            <a:ext cx="128699" cy="187198"/>
          </a:xfrm>
          <a:prstGeom prst="rect">
            <a:avLst/>
          </a:prstGeom>
        </p:spPr>
      </p:pic>
      <p:sp>
        <p:nvSpPr>
          <p:cNvPr id="53" name="TextBox 52"/>
          <p:cNvSpPr txBox="1"/>
          <p:nvPr/>
        </p:nvSpPr>
        <p:spPr>
          <a:xfrm>
            <a:off x="2162635" y="5966460"/>
            <a:ext cx="3568699" cy="186689"/>
          </a:xfrm>
          <a:prstGeom prst="rect">
            <a:avLst/>
          </a:prstGeom>
          <a:noFill/>
        </p:spPr>
        <p:txBody>
          <a:bodyPr wrap="none" lIns="0" rIns="0" tIns="0" bIns="0">
            <a:spAutoFit/>
          </a:bodyPr>
          <a:lstStyle/>
          <a:p>
            <a:r>
              <a:rPr sz="1100" b="0">
                <a:solidFill>
                  <a:srgbClr val="2E2E2E"/>
                </a:solidFill>
                <a:latin typeface="Calibri"/>
              </a:rPr>
              <a:t>of the North America allergy immunotherapy market in 2026;</a:t>
            </a:r>
          </a:p>
        </p:txBody>
      </p:sp>
      <p:sp>
        <p:nvSpPr>
          <p:cNvPr id="54" name="TextBox 53"/>
          <p:cNvSpPr txBox="1"/>
          <p:nvPr/>
        </p:nvSpPr>
        <p:spPr>
          <a:xfrm>
            <a:off x="257175" y="6134100"/>
            <a:ext cx="1779339" cy="186689"/>
          </a:xfrm>
          <a:prstGeom prst="rect">
            <a:avLst/>
          </a:prstGeom>
          <a:noFill/>
        </p:spPr>
        <p:txBody>
          <a:bodyPr wrap="none" lIns="0" rIns="0" tIns="0" bIns="0">
            <a:spAutoFit/>
          </a:bodyPr>
          <a:lstStyle/>
          <a:p>
            <a:r>
              <a:rPr sz="1100" b="0">
                <a:solidFill>
                  <a:srgbClr val="2E2E2E"/>
                </a:solidFill>
                <a:latin typeface="Calibri"/>
              </a:rPr>
              <a:t>by 2036 those shares move to</a:t>
            </a:r>
          </a:p>
        </p:txBody>
      </p:sp>
      <p:pic>
        <p:nvPicPr>
          <p:cNvPr id="55" name="Picture 54" descr="lock.png"/>
          <p:cNvPicPr>
            <a:picLocks noChangeAspect="1"/>
          </p:cNvPicPr>
          <p:nvPr/>
        </p:nvPicPr>
        <p:blipFill>
          <a:blip r:embed="rId8"/>
          <a:stretch>
            <a:fillRect/>
          </a:stretch>
        </p:blipFill>
        <p:spPr>
          <a:xfrm>
            <a:off x="1984566" y="6124320"/>
            <a:ext cx="128699" cy="187198"/>
          </a:xfrm>
          <a:prstGeom prst="rect">
            <a:avLst/>
          </a:prstGeom>
        </p:spPr>
      </p:pic>
      <p:sp>
        <p:nvSpPr>
          <p:cNvPr id="56" name="TextBox 55"/>
          <p:cNvSpPr txBox="1"/>
          <p:nvPr/>
        </p:nvSpPr>
        <p:spPr>
          <a:xfrm>
            <a:off x="2152061"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7" name="Picture 56" descr="lock.png"/>
          <p:cNvPicPr>
            <a:picLocks noChangeAspect="1"/>
          </p:cNvPicPr>
          <p:nvPr/>
        </p:nvPicPr>
        <p:blipFill>
          <a:blip r:embed="rId8"/>
          <a:stretch>
            <a:fillRect/>
          </a:stretch>
        </p:blipFill>
        <p:spPr>
          <a:xfrm>
            <a:off x="2389956" y="6124320"/>
            <a:ext cx="128699" cy="187198"/>
          </a:xfrm>
          <a:prstGeom prst="rect">
            <a:avLst/>
          </a:prstGeom>
        </p:spPr>
      </p:pic>
      <p:sp>
        <p:nvSpPr>
          <p:cNvPr id="58" name="TextBox 57"/>
          <p:cNvSpPr txBox="1"/>
          <p:nvPr/>
        </p:nvSpPr>
        <p:spPr>
          <a:xfrm>
            <a:off x="255745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9" name="TextBox 58"/>
          <p:cNvSpPr txBox="1"/>
          <p:nvPr/>
        </p:nvSpPr>
        <p:spPr>
          <a:xfrm>
            <a:off x="6286500" y="5882640"/>
            <a:ext cx="3103215" cy="186689"/>
          </a:xfrm>
          <a:prstGeom prst="rect">
            <a:avLst/>
          </a:prstGeom>
          <a:noFill/>
        </p:spPr>
        <p:txBody>
          <a:bodyPr wrap="none" lIns="0" rIns="0" tIns="0" bIns="0">
            <a:spAutoFit/>
          </a:bodyPr>
          <a:lstStyle/>
          <a:p>
            <a:r>
              <a:rPr sz="1100" b="0">
                <a:solidFill>
                  <a:srgbClr val="2E2E2E"/>
                </a:solidFill>
                <a:latin typeface="Calibri"/>
              </a:rPr>
              <a:t>The market in the U.S. is expected to account for US$</a:t>
            </a:r>
          </a:p>
        </p:txBody>
      </p:sp>
      <p:pic>
        <p:nvPicPr>
          <p:cNvPr id="60" name="Picture 59" descr="lock.png"/>
          <p:cNvPicPr>
            <a:picLocks noChangeAspect="1"/>
          </p:cNvPicPr>
          <p:nvPr/>
        </p:nvPicPr>
        <p:blipFill>
          <a:blip r:embed="rId8"/>
          <a:stretch>
            <a:fillRect/>
          </a:stretch>
        </p:blipFill>
        <p:spPr>
          <a:xfrm>
            <a:off x="9337766" y="5872860"/>
            <a:ext cx="128699" cy="187198"/>
          </a:xfrm>
          <a:prstGeom prst="rect">
            <a:avLst/>
          </a:prstGeom>
        </p:spPr>
      </p:pic>
      <p:sp>
        <p:nvSpPr>
          <p:cNvPr id="61" name="TextBox 60"/>
          <p:cNvSpPr txBox="1"/>
          <p:nvPr/>
        </p:nvSpPr>
        <p:spPr>
          <a:xfrm>
            <a:off x="9505262"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62" name="Picture 61" descr="lock.png"/>
          <p:cNvPicPr>
            <a:picLocks noChangeAspect="1"/>
          </p:cNvPicPr>
          <p:nvPr/>
        </p:nvPicPr>
        <p:blipFill>
          <a:blip r:embed="rId8"/>
          <a:stretch>
            <a:fillRect/>
          </a:stretch>
        </p:blipFill>
        <p:spPr>
          <a:xfrm>
            <a:off x="10948871" y="5872860"/>
            <a:ext cx="128699" cy="187198"/>
          </a:xfrm>
          <a:prstGeom prst="rect">
            <a:avLst/>
          </a:prstGeom>
        </p:spPr>
      </p:pic>
      <p:sp>
        <p:nvSpPr>
          <p:cNvPr id="63" name="TextBox 62"/>
          <p:cNvSpPr txBox="1"/>
          <p:nvPr/>
        </p:nvSpPr>
        <p:spPr>
          <a:xfrm>
            <a:off x="11116366"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4" name="TextBox 63"/>
          <p:cNvSpPr txBox="1"/>
          <p:nvPr/>
        </p:nvSpPr>
        <p:spPr>
          <a:xfrm>
            <a:off x="6286500" y="6050280"/>
            <a:ext cx="4694758" cy="186689"/>
          </a:xfrm>
          <a:prstGeom prst="rect">
            <a:avLst/>
          </a:prstGeom>
          <a:noFill/>
        </p:spPr>
        <p:txBody>
          <a:bodyPr wrap="none" lIns="0" rIns="0" tIns="0" bIns="0">
            <a:spAutoFit/>
          </a:bodyPr>
          <a:lstStyle/>
          <a:p>
            <a:r>
              <a:rPr sz="1100" b="0">
                <a:solidFill>
                  <a:srgbClr val="2E2E2E"/>
                </a:solidFill>
                <a:latin typeface="Calibri"/>
              </a:rPr>
              <a:t>forecast period. The U.S. is expected to create an incremental opportunity of US$</a:t>
            </a:r>
          </a:p>
        </p:txBody>
      </p:sp>
      <p:pic>
        <p:nvPicPr>
          <p:cNvPr id="65" name="Picture 64" descr="lock.png"/>
          <p:cNvPicPr>
            <a:picLocks noChangeAspect="1"/>
          </p:cNvPicPr>
          <p:nvPr/>
        </p:nvPicPr>
        <p:blipFill>
          <a:blip r:embed="rId8"/>
          <a:stretch>
            <a:fillRect/>
          </a:stretch>
        </p:blipFill>
        <p:spPr>
          <a:xfrm>
            <a:off x="10929309" y="6040501"/>
            <a:ext cx="128699" cy="187198"/>
          </a:xfrm>
          <a:prstGeom prst="rect">
            <a:avLst/>
          </a:prstGeom>
        </p:spPr>
      </p:pic>
      <p:sp>
        <p:nvSpPr>
          <p:cNvPr id="66" name="TextBox 65"/>
          <p:cNvSpPr txBox="1"/>
          <p:nvPr/>
        </p:nvSpPr>
        <p:spPr>
          <a:xfrm>
            <a:off x="11096805"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7" name="TextBox 66"/>
          <p:cNvSpPr txBox="1"/>
          <p:nvPr/>
        </p:nvSpPr>
        <p:spPr>
          <a:xfrm>
            <a:off x="6286500" y="6217920"/>
            <a:ext cx="3388345" cy="186689"/>
          </a:xfrm>
          <a:prstGeom prst="rect">
            <a:avLst/>
          </a:prstGeom>
          <a:noFill/>
        </p:spPr>
        <p:txBody>
          <a:bodyPr wrap="none" lIns="0" rIns="0" tIns="0" bIns="0">
            <a:spAutoFit/>
          </a:bodyPr>
          <a:lstStyle/>
          <a:p>
            <a:r>
              <a:rPr sz="1100" b="0">
                <a:solidFill>
                  <a:srgbClr val="2E2E2E"/>
                </a:solidFill>
                <a:latin typeface="Calibri"/>
              </a:rPr>
              <a:t>overall allergy immunotherapy market from 2025 to 2036.</a:t>
            </a:r>
          </a:p>
        </p:txBody>
      </p:sp>
      <p:sp>
        <p:nvSpPr>
          <p:cNvPr id="68" name="lockshield_17"/>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20"/>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ockshield_25"/>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lockshield_28"/>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Key Segments Overview, By Value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Therapy Format  (US$ Mn)</a:t>
            </a:r>
          </a:p>
        </p:txBody>
      </p:sp>
      <p:graphicFrame>
        <p:nvGraphicFramePr>
          <p:cNvPr id="13" name="Chart 12"/>
          <p:cNvGraphicFramePr>
            <a:graphicFrameLocks noGrp="1"/>
          </p:cNvGraphicFramePr>
          <p:nvPr/>
        </p:nvGraphicFramePr>
        <p:xfrm>
          <a:off x="238125" y="1266825"/>
          <a:ext cx="2667000" cy="1352550"/>
        </p:xfrm>
        <a:graphic>
          <a:graphicData uri="http://schemas.openxmlformats.org/drawingml/2006/chart">
            <c:chart xmlns:c="http://schemas.openxmlformats.org/drawingml/2006/chart" r:id="rId3"/>
          </a:graphicData>
        </a:graphic>
      </p:graphicFrame>
      <p:sp>
        <p:nvSpPr>
          <p:cNvPr id="14" name="Rounded Rectangle 13"/>
          <p:cNvSpPr/>
          <p:nvPr/>
        </p:nvSpPr>
        <p:spPr>
          <a:xfrm>
            <a:off x="31527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Allergen Class  (US$ Mn)</a:t>
            </a:r>
          </a:p>
        </p:txBody>
      </p:sp>
      <p:graphicFrame>
        <p:nvGraphicFramePr>
          <p:cNvPr id="16" name="Chart 15"/>
          <p:cNvGraphicFramePr>
            <a:graphicFrameLocks noGrp="1"/>
          </p:cNvGraphicFramePr>
          <p:nvPr/>
        </p:nvGraphicFramePr>
        <p:xfrm>
          <a:off x="3248025" y="1266825"/>
          <a:ext cx="2667000" cy="1352550"/>
        </p:xfrm>
        <a:graphic>
          <a:graphicData uri="http://schemas.openxmlformats.org/drawingml/2006/chart">
            <c:chart xmlns:c="http://schemas.openxmlformats.org/drawingml/2006/chart" r:id="rId4"/>
          </a:graphicData>
        </a:graphic>
      </p:graphicFrame>
      <p:sp>
        <p:nvSpPr>
          <p:cNvPr id="17" name="Rounded Rectangle 16"/>
          <p:cNvSpPr/>
          <p:nvPr/>
        </p:nvSpPr>
        <p:spPr>
          <a:xfrm>
            <a:off x="61626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925" y="1038225"/>
            <a:ext cx="266700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Commercial Product Model  (US$ Mn)</a:t>
            </a:r>
          </a:p>
        </p:txBody>
      </p:sp>
      <p:graphicFrame>
        <p:nvGraphicFramePr>
          <p:cNvPr id="19" name="Chart 18"/>
          <p:cNvGraphicFramePr>
            <a:graphicFrameLocks noGrp="1"/>
          </p:cNvGraphicFramePr>
          <p:nvPr/>
        </p:nvGraphicFramePr>
        <p:xfrm>
          <a:off x="6257925" y="1438275"/>
          <a:ext cx="2667000" cy="1181100"/>
        </p:xfrm>
        <a:graphic>
          <a:graphicData uri="http://schemas.openxmlformats.org/drawingml/2006/chart">
            <c:chart xmlns:c="http://schemas.openxmlformats.org/drawingml/2006/chart" r:id="rId5"/>
          </a:graphicData>
        </a:graphic>
      </p:graphicFrame>
      <p:sp>
        <p:nvSpPr>
          <p:cNvPr id="20" name="Rounded Rectangle 19"/>
          <p:cNvSpPr/>
          <p:nvPr/>
        </p:nvSpPr>
        <p:spPr>
          <a:xfrm>
            <a:off x="91725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67825" y="1038225"/>
            <a:ext cx="266700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Allergen Preparation Technology  (US$ Mn)</a:t>
            </a:r>
          </a:p>
        </p:txBody>
      </p:sp>
      <p:graphicFrame>
        <p:nvGraphicFramePr>
          <p:cNvPr id="22" name="Chart 21"/>
          <p:cNvGraphicFramePr>
            <a:graphicFrameLocks noGrp="1"/>
          </p:cNvGraphicFramePr>
          <p:nvPr/>
        </p:nvGraphicFramePr>
        <p:xfrm>
          <a:off x="9267825" y="1438275"/>
          <a:ext cx="2667000" cy="1181100"/>
        </p:xfrm>
        <a:graphic>
          <a:graphicData uri="http://schemas.openxmlformats.org/drawingml/2006/chart">
            <c:chart xmlns:c="http://schemas.openxmlformats.org/drawingml/2006/chart" r:id="rId6"/>
          </a:graphicData>
        </a:graphic>
      </p:graphicFrame>
      <p:sp>
        <p:nvSpPr>
          <p:cNvPr id="23" name="Rounded Rectangle 22"/>
          <p:cNvSpPr/>
          <p:nvPr/>
        </p:nvSpPr>
        <p:spPr>
          <a:xfrm>
            <a:off x="142875" y="2809875"/>
            <a:ext cx="29337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2867025"/>
            <a:ext cx="27432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Allergen Composition  (US$ Mn)</a:t>
            </a:r>
          </a:p>
        </p:txBody>
      </p:sp>
      <p:graphicFrame>
        <p:nvGraphicFramePr>
          <p:cNvPr id="25" name="Chart 24"/>
          <p:cNvGraphicFramePr>
            <a:graphicFrameLocks noGrp="1"/>
          </p:cNvGraphicFramePr>
          <p:nvPr/>
        </p:nvGraphicFramePr>
        <p:xfrm>
          <a:off x="238125" y="3095625"/>
          <a:ext cx="2743200" cy="1352550"/>
        </p:xfrm>
        <a:graphic>
          <a:graphicData uri="http://schemas.openxmlformats.org/drawingml/2006/chart">
            <c:chart xmlns:c="http://schemas.openxmlformats.org/drawingml/2006/chart" r:id="rId7"/>
          </a:graphicData>
        </a:graphic>
      </p:graphicFrame>
      <p:sp>
        <p:nvSpPr>
          <p:cNvPr id="26" name="Rounded Rectangle 25"/>
          <p:cNvSpPr/>
          <p:nvPr/>
        </p:nvSpPr>
        <p:spPr>
          <a:xfrm>
            <a:off x="3228975" y="2809875"/>
            <a:ext cx="29337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24225" y="2867025"/>
            <a:ext cx="274320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 Procurement Channel  (US$ Mn)</a:t>
            </a:r>
          </a:p>
        </p:txBody>
      </p:sp>
      <p:graphicFrame>
        <p:nvGraphicFramePr>
          <p:cNvPr id="28" name="Chart 27"/>
          <p:cNvGraphicFramePr>
            <a:graphicFrameLocks noGrp="1"/>
          </p:cNvGraphicFramePr>
          <p:nvPr/>
        </p:nvGraphicFramePr>
        <p:xfrm>
          <a:off x="3324225" y="3267075"/>
          <a:ext cx="2743200" cy="1181100"/>
        </p:xfrm>
        <a:graphic>
          <a:graphicData uri="http://schemas.openxmlformats.org/drawingml/2006/chart">
            <c:chart xmlns:c="http://schemas.openxmlformats.org/drawingml/2006/chart" r:id="rId8"/>
          </a:graphicData>
        </a:graphic>
      </p:graphicFrame>
      <p:sp>
        <p:nvSpPr>
          <p:cNvPr id="29" name="Rounded Rectangle 28"/>
          <p:cNvSpPr/>
          <p:nvPr/>
        </p:nvSpPr>
        <p:spPr>
          <a:xfrm>
            <a:off x="142875" y="4638675"/>
            <a:ext cx="11906250" cy="1981200"/>
          </a:xfrm>
          <a:prstGeom prst="roundRect">
            <a:avLst>
              <a:gd name="adj" fmla="val 3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4724400"/>
            <a:ext cx="11639550" cy="209550"/>
          </a:xfrm>
          <a:prstGeom prst="rect">
            <a:avLst/>
          </a:prstGeom>
          <a:noFill/>
        </p:spPr>
        <p:txBody>
          <a:bodyPr wrap="square" lIns="0" rIns="19050" tIns="9525" bIns="9525">
            <a:spAutoFit/>
          </a:bodyPr>
          <a:lstStyle/>
          <a:p>
            <a:pPr algn="l"/>
            <a:r>
              <a:rPr sz="1300" b="1">
                <a:solidFill>
                  <a:srgbClr val="0B2E4A"/>
                </a:solidFill>
                <a:latin typeface="Calibri"/>
              </a:rPr>
              <a:t/>
            </a:r>
          </a:p>
        </p:txBody>
      </p:sp>
      <p:sp>
        <p:nvSpPr>
          <p:cNvPr id="31" name="Rectangle 30"/>
          <p:cNvSpPr/>
          <p:nvPr/>
        </p:nvSpPr>
        <p:spPr>
          <a:xfrm>
            <a:off x="276225" y="49625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6225" y="5048250"/>
            <a:ext cx="11639550" cy="14954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4" name="Picture 33" descr="lock.png"/>
          <p:cNvPicPr>
            <a:picLocks noChangeAspect="1"/>
          </p:cNvPicPr>
          <p:nvPr/>
        </p:nvPicPr>
        <p:blipFill>
          <a:blip r:embed="rId10"/>
          <a:stretch>
            <a:fillRect/>
          </a:stretch>
        </p:blipFill>
        <p:spPr>
          <a:xfrm>
            <a:off x="1811655" y="1724025"/>
            <a:ext cx="183356" cy="266700"/>
          </a:xfrm>
          <a:prstGeom prst="rect">
            <a:avLst/>
          </a:prstGeom>
        </p:spPr>
      </p:pic>
      <p:pic>
        <p:nvPicPr>
          <p:cNvPr id="35" name="Picture 34" descr="lock.png"/>
          <p:cNvPicPr>
            <a:picLocks noChangeAspect="1"/>
          </p:cNvPicPr>
          <p:nvPr/>
        </p:nvPicPr>
        <p:blipFill>
          <a:blip r:embed="rId10"/>
          <a:stretch>
            <a:fillRect/>
          </a:stretch>
        </p:blipFill>
        <p:spPr>
          <a:xfrm>
            <a:off x="4821555" y="1724025"/>
            <a:ext cx="183356" cy="266700"/>
          </a:xfrm>
          <a:prstGeom prst="rect">
            <a:avLst/>
          </a:prstGeom>
        </p:spPr>
      </p:pic>
      <p:pic>
        <p:nvPicPr>
          <p:cNvPr id="36" name="Picture 35" descr="lock.png"/>
          <p:cNvPicPr>
            <a:picLocks noChangeAspect="1"/>
          </p:cNvPicPr>
          <p:nvPr/>
        </p:nvPicPr>
        <p:blipFill>
          <a:blip r:embed="rId10"/>
          <a:stretch>
            <a:fillRect/>
          </a:stretch>
        </p:blipFill>
        <p:spPr>
          <a:xfrm>
            <a:off x="7831455" y="1809750"/>
            <a:ext cx="183356" cy="266700"/>
          </a:xfrm>
          <a:prstGeom prst="rect">
            <a:avLst/>
          </a:prstGeom>
        </p:spPr>
      </p:pic>
      <p:pic>
        <p:nvPicPr>
          <p:cNvPr id="37" name="Picture 36" descr="lock.png"/>
          <p:cNvPicPr>
            <a:picLocks noChangeAspect="1"/>
          </p:cNvPicPr>
          <p:nvPr/>
        </p:nvPicPr>
        <p:blipFill>
          <a:blip r:embed="rId10"/>
          <a:stretch>
            <a:fillRect/>
          </a:stretch>
        </p:blipFill>
        <p:spPr>
          <a:xfrm>
            <a:off x="10841355" y="1809750"/>
            <a:ext cx="183356" cy="266700"/>
          </a:xfrm>
          <a:prstGeom prst="rect">
            <a:avLst/>
          </a:prstGeom>
        </p:spPr>
      </p:pic>
      <p:pic>
        <p:nvPicPr>
          <p:cNvPr id="38" name="Picture 37" descr="lock.png"/>
          <p:cNvPicPr>
            <a:picLocks noChangeAspect="1"/>
          </p:cNvPicPr>
          <p:nvPr/>
        </p:nvPicPr>
        <p:blipFill>
          <a:blip r:embed="rId10"/>
          <a:stretch>
            <a:fillRect/>
          </a:stretch>
        </p:blipFill>
        <p:spPr>
          <a:xfrm>
            <a:off x="1849755" y="3552825"/>
            <a:ext cx="183356" cy="266700"/>
          </a:xfrm>
          <a:prstGeom prst="rect">
            <a:avLst/>
          </a:prstGeom>
        </p:spPr>
      </p:pic>
      <p:pic>
        <p:nvPicPr>
          <p:cNvPr id="39" name="Picture 38" descr="lock.png"/>
          <p:cNvPicPr>
            <a:picLocks noChangeAspect="1"/>
          </p:cNvPicPr>
          <p:nvPr/>
        </p:nvPicPr>
        <p:blipFill>
          <a:blip r:embed="rId10"/>
          <a:stretch>
            <a:fillRect/>
          </a:stretch>
        </p:blipFill>
        <p:spPr>
          <a:xfrm>
            <a:off x="4935855" y="3638550"/>
            <a:ext cx="183356" cy="266700"/>
          </a:xfrm>
          <a:prstGeom prst="rect">
            <a:avLst/>
          </a:prstGeom>
        </p:spPr>
      </p:pic>
      <p:sp>
        <p:nvSpPr>
          <p:cNvPr id="40" name="TextBox 39"/>
          <p:cNvSpPr txBox="1"/>
          <p:nvPr/>
        </p:nvSpPr>
        <p:spPr>
          <a:xfrm>
            <a:off x="276225" y="4733925"/>
            <a:ext cx="1468037" cy="161696"/>
          </a:xfrm>
          <a:prstGeom prst="rect">
            <a:avLst/>
          </a:prstGeom>
          <a:noFill/>
        </p:spPr>
        <p:txBody>
          <a:bodyPr wrap="none" lIns="0" rIns="0" tIns="0" bIns="0">
            <a:spAutoFit/>
          </a:bodyPr>
          <a:lstStyle/>
          <a:p>
            <a:r>
              <a:rPr sz="935" b="1">
                <a:solidFill>
                  <a:srgbClr val="0B2E4A"/>
                </a:solidFill>
                <a:latin typeface="Calibri"/>
              </a:rPr>
              <a:t>Key Takeaways · 2026 Total:</a:t>
            </a:r>
          </a:p>
        </p:txBody>
      </p:sp>
      <p:pic>
        <p:nvPicPr>
          <p:cNvPr id="41" name="Picture 40" descr="lock.png"/>
          <p:cNvPicPr>
            <a:picLocks noChangeAspect="1"/>
          </p:cNvPicPr>
          <p:nvPr/>
        </p:nvPicPr>
        <p:blipFill>
          <a:blip r:embed="rId10"/>
          <a:stretch>
            <a:fillRect/>
          </a:stretch>
        </p:blipFill>
        <p:spPr>
          <a:xfrm>
            <a:off x="1688698" y="4725603"/>
            <a:ext cx="109510" cy="159288"/>
          </a:xfrm>
          <a:prstGeom prst="rect">
            <a:avLst/>
          </a:prstGeom>
        </p:spPr>
      </p:pic>
      <p:sp>
        <p:nvSpPr>
          <p:cNvPr id="42" name="TextBox 41"/>
          <p:cNvSpPr txBox="1"/>
          <p:nvPr/>
        </p:nvSpPr>
        <p:spPr>
          <a:xfrm>
            <a:off x="1831222" y="4733925"/>
            <a:ext cx="465087" cy="161696"/>
          </a:xfrm>
          <a:prstGeom prst="rect">
            <a:avLst/>
          </a:prstGeom>
          <a:noFill/>
        </p:spPr>
        <p:txBody>
          <a:bodyPr wrap="none" lIns="0" rIns="0" tIns="0" bIns="0">
            <a:spAutoFit/>
          </a:bodyPr>
          <a:lstStyle/>
          <a:p>
            <a:r>
              <a:rPr sz="935" b="1">
                <a:solidFill>
                  <a:srgbClr val="0B2E4A"/>
                </a:solidFill>
                <a:latin typeface="Calibri"/>
              </a:rPr>
              <a:t>US$ Mn</a:t>
            </a:r>
          </a:p>
        </p:txBody>
      </p:sp>
      <p:sp>
        <p:nvSpPr>
          <p:cNvPr id="43" name="TextBox 42"/>
          <p:cNvSpPr txBox="1"/>
          <p:nvPr/>
        </p:nvSpPr>
        <p:spPr>
          <a:xfrm>
            <a:off x="276225" y="5057775"/>
            <a:ext cx="3573802" cy="179984"/>
          </a:xfrm>
          <a:prstGeom prst="rect">
            <a:avLst/>
          </a:prstGeom>
          <a:noFill/>
        </p:spPr>
        <p:txBody>
          <a:bodyPr wrap="none" lIns="0" rIns="0" tIns="0" bIns="0">
            <a:spAutoFit/>
          </a:bodyPr>
          <a:lstStyle/>
          <a:p>
            <a:r>
              <a:rPr sz="1055" b="0">
                <a:solidFill>
                  <a:srgbClr val="2E2E2E"/>
                </a:solidFill>
                <a:latin typeface="Calibri"/>
              </a:rPr>
              <a:t>▪ By Therapy Format, 'Sublingual Immunotherapy (SLIT)' leads at</a:t>
            </a:r>
          </a:p>
        </p:txBody>
      </p:sp>
      <p:pic>
        <p:nvPicPr>
          <p:cNvPr id="44" name="Picture 43" descr="lock.png"/>
          <p:cNvPicPr>
            <a:picLocks noChangeAspect="1"/>
          </p:cNvPicPr>
          <p:nvPr/>
        </p:nvPicPr>
        <p:blipFill>
          <a:blip r:embed="rId10"/>
          <a:stretch>
            <a:fillRect/>
          </a:stretch>
        </p:blipFill>
        <p:spPr>
          <a:xfrm>
            <a:off x="3797108" y="5048387"/>
            <a:ext cx="123551" cy="179710"/>
          </a:xfrm>
          <a:prstGeom prst="rect">
            <a:avLst/>
          </a:prstGeom>
        </p:spPr>
      </p:pic>
      <p:sp>
        <p:nvSpPr>
          <p:cNvPr id="45" name="TextBox 44"/>
          <p:cNvSpPr txBox="1"/>
          <p:nvPr/>
        </p:nvSpPr>
        <p:spPr>
          <a:xfrm>
            <a:off x="3957904" y="5057775"/>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46" name="Picture 45" descr="lock.png"/>
          <p:cNvPicPr>
            <a:picLocks noChangeAspect="1"/>
          </p:cNvPicPr>
          <p:nvPr/>
        </p:nvPicPr>
        <p:blipFill>
          <a:blip r:embed="rId10"/>
          <a:stretch>
            <a:fillRect/>
          </a:stretch>
        </p:blipFill>
        <p:spPr>
          <a:xfrm>
            <a:off x="4483582" y="5048387"/>
            <a:ext cx="123551" cy="179710"/>
          </a:xfrm>
          <a:prstGeom prst="rect">
            <a:avLst/>
          </a:prstGeom>
        </p:spPr>
      </p:pic>
      <p:sp>
        <p:nvSpPr>
          <p:cNvPr id="47" name="TextBox 46"/>
          <p:cNvSpPr txBox="1"/>
          <p:nvPr/>
        </p:nvSpPr>
        <p:spPr>
          <a:xfrm>
            <a:off x="4644378" y="5057775"/>
            <a:ext cx="3148464" cy="179984"/>
          </a:xfrm>
          <a:prstGeom prst="rect">
            <a:avLst/>
          </a:prstGeom>
          <a:noFill/>
        </p:spPr>
        <p:txBody>
          <a:bodyPr wrap="none" lIns="0" rIns="0" tIns="0" bIns="0">
            <a:spAutoFit/>
          </a:bodyPr>
          <a:lstStyle/>
          <a:p>
            <a:r>
              <a:rPr sz="1055" b="0">
                <a:solidFill>
                  <a:srgbClr val="2E2E2E"/>
                </a:solidFill>
                <a:latin typeface="Calibri"/>
              </a:rPr>
              <a:t>share), ahead of 'Subcutaneous Immunotherapy (SCIT)' (</a:t>
            </a:r>
          </a:p>
        </p:txBody>
      </p:sp>
      <p:pic>
        <p:nvPicPr>
          <p:cNvPr id="48" name="Picture 47" descr="lock.png"/>
          <p:cNvPicPr>
            <a:picLocks noChangeAspect="1"/>
          </p:cNvPicPr>
          <p:nvPr/>
        </p:nvPicPr>
        <p:blipFill>
          <a:blip r:embed="rId10"/>
          <a:stretch>
            <a:fillRect/>
          </a:stretch>
        </p:blipFill>
        <p:spPr>
          <a:xfrm>
            <a:off x="7739924" y="5048387"/>
            <a:ext cx="123551" cy="179710"/>
          </a:xfrm>
          <a:prstGeom prst="rect">
            <a:avLst/>
          </a:prstGeom>
        </p:spPr>
      </p:pic>
      <p:sp>
        <p:nvSpPr>
          <p:cNvPr id="49" name="TextBox 48"/>
          <p:cNvSpPr txBox="1"/>
          <p:nvPr/>
        </p:nvSpPr>
        <p:spPr>
          <a:xfrm>
            <a:off x="7900720" y="5057775"/>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50" name="TextBox 49"/>
          <p:cNvSpPr txBox="1"/>
          <p:nvPr/>
        </p:nvSpPr>
        <p:spPr>
          <a:xfrm>
            <a:off x="276225" y="5266989"/>
            <a:ext cx="2636880" cy="179984"/>
          </a:xfrm>
          <a:prstGeom prst="rect">
            <a:avLst/>
          </a:prstGeom>
          <a:noFill/>
        </p:spPr>
        <p:txBody>
          <a:bodyPr wrap="none" lIns="0" rIns="0" tIns="0" bIns="0">
            <a:spAutoFit/>
          </a:bodyPr>
          <a:lstStyle/>
          <a:p>
            <a:r>
              <a:rPr sz="1055" b="0">
                <a:solidFill>
                  <a:srgbClr val="2E2E2E"/>
                </a:solidFill>
                <a:latin typeface="Calibri"/>
              </a:rPr>
              <a:t>▪ By Allergen Class, 'Inhalant Allergens' leads at</a:t>
            </a:r>
          </a:p>
        </p:txBody>
      </p:sp>
      <p:pic>
        <p:nvPicPr>
          <p:cNvPr id="51" name="Picture 50" descr="lock.png"/>
          <p:cNvPicPr>
            <a:picLocks noChangeAspect="1"/>
          </p:cNvPicPr>
          <p:nvPr/>
        </p:nvPicPr>
        <p:blipFill>
          <a:blip r:embed="rId10"/>
          <a:stretch>
            <a:fillRect/>
          </a:stretch>
        </p:blipFill>
        <p:spPr>
          <a:xfrm>
            <a:off x="2860187" y="5257601"/>
            <a:ext cx="123551" cy="179710"/>
          </a:xfrm>
          <a:prstGeom prst="rect">
            <a:avLst/>
          </a:prstGeom>
        </p:spPr>
      </p:pic>
      <p:sp>
        <p:nvSpPr>
          <p:cNvPr id="52" name="TextBox 51"/>
          <p:cNvSpPr txBox="1"/>
          <p:nvPr/>
        </p:nvSpPr>
        <p:spPr>
          <a:xfrm>
            <a:off x="3020983" y="5266989"/>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53" name="Picture 52" descr="lock.png"/>
          <p:cNvPicPr>
            <a:picLocks noChangeAspect="1"/>
          </p:cNvPicPr>
          <p:nvPr/>
        </p:nvPicPr>
        <p:blipFill>
          <a:blip r:embed="rId10"/>
          <a:stretch>
            <a:fillRect/>
          </a:stretch>
        </p:blipFill>
        <p:spPr>
          <a:xfrm>
            <a:off x="3546660" y="5257601"/>
            <a:ext cx="123551" cy="179710"/>
          </a:xfrm>
          <a:prstGeom prst="rect">
            <a:avLst/>
          </a:prstGeom>
        </p:spPr>
      </p:pic>
      <p:sp>
        <p:nvSpPr>
          <p:cNvPr id="54" name="TextBox 53"/>
          <p:cNvSpPr txBox="1"/>
          <p:nvPr/>
        </p:nvSpPr>
        <p:spPr>
          <a:xfrm>
            <a:off x="3707456" y="5266989"/>
            <a:ext cx="1929641" cy="179984"/>
          </a:xfrm>
          <a:prstGeom prst="rect">
            <a:avLst/>
          </a:prstGeom>
          <a:noFill/>
        </p:spPr>
        <p:txBody>
          <a:bodyPr wrap="none" lIns="0" rIns="0" tIns="0" bIns="0">
            <a:spAutoFit/>
          </a:bodyPr>
          <a:lstStyle/>
          <a:p>
            <a:r>
              <a:rPr sz="1055" b="0">
                <a:solidFill>
                  <a:srgbClr val="2E2E2E"/>
                </a:solidFill>
                <a:latin typeface="Calibri"/>
              </a:rPr>
              <a:t>share), ahead of 'Food Allergens' (</a:t>
            </a:r>
          </a:p>
        </p:txBody>
      </p:sp>
      <p:pic>
        <p:nvPicPr>
          <p:cNvPr id="55" name="Picture 54" descr="lock.png"/>
          <p:cNvPicPr>
            <a:picLocks noChangeAspect="1"/>
          </p:cNvPicPr>
          <p:nvPr/>
        </p:nvPicPr>
        <p:blipFill>
          <a:blip r:embed="rId10"/>
          <a:stretch>
            <a:fillRect/>
          </a:stretch>
        </p:blipFill>
        <p:spPr>
          <a:xfrm>
            <a:off x="5584179" y="5257601"/>
            <a:ext cx="123551" cy="179710"/>
          </a:xfrm>
          <a:prstGeom prst="rect">
            <a:avLst/>
          </a:prstGeom>
        </p:spPr>
      </p:pic>
      <p:sp>
        <p:nvSpPr>
          <p:cNvPr id="56" name="TextBox 55"/>
          <p:cNvSpPr txBox="1"/>
          <p:nvPr/>
        </p:nvSpPr>
        <p:spPr>
          <a:xfrm>
            <a:off x="5744975" y="5266989"/>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57" name="TextBox 56"/>
          <p:cNvSpPr txBox="1"/>
          <p:nvPr/>
        </p:nvSpPr>
        <p:spPr>
          <a:xfrm>
            <a:off x="276225" y="5476204"/>
            <a:ext cx="4137782" cy="179984"/>
          </a:xfrm>
          <a:prstGeom prst="rect">
            <a:avLst/>
          </a:prstGeom>
          <a:noFill/>
        </p:spPr>
        <p:txBody>
          <a:bodyPr wrap="none" lIns="0" rIns="0" tIns="0" bIns="0">
            <a:spAutoFit/>
          </a:bodyPr>
          <a:lstStyle/>
          <a:p>
            <a:r>
              <a:rPr sz="1055" b="0">
                <a:solidFill>
                  <a:srgbClr val="2E2E2E"/>
                </a:solidFill>
                <a:latin typeface="Calibri"/>
              </a:rPr>
              <a:t>▪ By Commercial Product Model, 'Individual-Prescription Products' leads at</a:t>
            </a:r>
          </a:p>
        </p:txBody>
      </p:sp>
      <p:pic>
        <p:nvPicPr>
          <p:cNvPr id="58" name="Picture 57" descr="lock.png"/>
          <p:cNvPicPr>
            <a:picLocks noChangeAspect="1"/>
          </p:cNvPicPr>
          <p:nvPr/>
        </p:nvPicPr>
        <p:blipFill>
          <a:blip r:embed="rId10"/>
          <a:stretch>
            <a:fillRect/>
          </a:stretch>
        </p:blipFill>
        <p:spPr>
          <a:xfrm>
            <a:off x="4361088" y="5466816"/>
            <a:ext cx="123551" cy="179710"/>
          </a:xfrm>
          <a:prstGeom prst="rect">
            <a:avLst/>
          </a:prstGeom>
        </p:spPr>
      </p:pic>
      <p:sp>
        <p:nvSpPr>
          <p:cNvPr id="59" name="TextBox 58"/>
          <p:cNvSpPr txBox="1"/>
          <p:nvPr/>
        </p:nvSpPr>
        <p:spPr>
          <a:xfrm>
            <a:off x="4521884" y="5476204"/>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60" name="Picture 59" descr="lock.png"/>
          <p:cNvPicPr>
            <a:picLocks noChangeAspect="1"/>
          </p:cNvPicPr>
          <p:nvPr/>
        </p:nvPicPr>
        <p:blipFill>
          <a:blip r:embed="rId10"/>
          <a:stretch>
            <a:fillRect/>
          </a:stretch>
        </p:blipFill>
        <p:spPr>
          <a:xfrm>
            <a:off x="5047562" y="5466816"/>
            <a:ext cx="123551" cy="179710"/>
          </a:xfrm>
          <a:prstGeom prst="rect">
            <a:avLst/>
          </a:prstGeom>
        </p:spPr>
      </p:pic>
      <p:sp>
        <p:nvSpPr>
          <p:cNvPr id="61" name="TextBox 60"/>
          <p:cNvSpPr txBox="1"/>
          <p:nvPr/>
        </p:nvSpPr>
        <p:spPr>
          <a:xfrm>
            <a:off x="5208358" y="5476204"/>
            <a:ext cx="2795111" cy="179984"/>
          </a:xfrm>
          <a:prstGeom prst="rect">
            <a:avLst/>
          </a:prstGeom>
          <a:noFill/>
        </p:spPr>
        <p:txBody>
          <a:bodyPr wrap="none" lIns="0" rIns="0" tIns="0" bIns="0">
            <a:spAutoFit/>
          </a:bodyPr>
          <a:lstStyle/>
          <a:p>
            <a:r>
              <a:rPr sz="1055" b="0">
                <a:solidFill>
                  <a:srgbClr val="2E2E2E"/>
                </a:solidFill>
                <a:latin typeface="Calibri"/>
              </a:rPr>
              <a:t>share), ahead of 'Licensed Finished AIT Products' (</a:t>
            </a:r>
          </a:p>
        </p:txBody>
      </p:sp>
      <p:pic>
        <p:nvPicPr>
          <p:cNvPr id="62" name="Picture 61" descr="lock.png"/>
          <p:cNvPicPr>
            <a:picLocks noChangeAspect="1"/>
          </p:cNvPicPr>
          <p:nvPr/>
        </p:nvPicPr>
        <p:blipFill>
          <a:blip r:embed="rId10"/>
          <a:stretch>
            <a:fillRect/>
          </a:stretch>
        </p:blipFill>
        <p:spPr>
          <a:xfrm>
            <a:off x="7950551" y="5466816"/>
            <a:ext cx="123551" cy="179710"/>
          </a:xfrm>
          <a:prstGeom prst="rect">
            <a:avLst/>
          </a:prstGeom>
        </p:spPr>
      </p:pic>
      <p:sp>
        <p:nvSpPr>
          <p:cNvPr id="63" name="TextBox 62"/>
          <p:cNvSpPr txBox="1"/>
          <p:nvPr/>
        </p:nvSpPr>
        <p:spPr>
          <a:xfrm>
            <a:off x="8111347" y="5476204"/>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64" name="TextBox 63"/>
          <p:cNvSpPr txBox="1"/>
          <p:nvPr/>
        </p:nvSpPr>
        <p:spPr>
          <a:xfrm>
            <a:off x="276225" y="5685419"/>
            <a:ext cx="3662103" cy="179984"/>
          </a:xfrm>
          <a:prstGeom prst="rect">
            <a:avLst/>
          </a:prstGeom>
          <a:noFill/>
        </p:spPr>
        <p:txBody>
          <a:bodyPr wrap="none" lIns="0" rIns="0" tIns="0" bIns="0">
            <a:spAutoFit/>
          </a:bodyPr>
          <a:lstStyle/>
          <a:p>
            <a:r>
              <a:rPr sz="1055" b="0">
                <a:solidFill>
                  <a:srgbClr val="2E2E2E"/>
                </a:solidFill>
                <a:latin typeface="Calibri"/>
              </a:rPr>
              <a:t>▪ By Allergen Preparation Technology, 'Modified Allergen' leads at</a:t>
            </a:r>
          </a:p>
        </p:txBody>
      </p:sp>
      <p:pic>
        <p:nvPicPr>
          <p:cNvPr id="65" name="Picture 64" descr="lock.png"/>
          <p:cNvPicPr>
            <a:picLocks noChangeAspect="1"/>
          </p:cNvPicPr>
          <p:nvPr/>
        </p:nvPicPr>
        <p:blipFill>
          <a:blip r:embed="rId10"/>
          <a:stretch>
            <a:fillRect/>
          </a:stretch>
        </p:blipFill>
        <p:spPr>
          <a:xfrm>
            <a:off x="3885410" y="5676031"/>
            <a:ext cx="123551" cy="179710"/>
          </a:xfrm>
          <a:prstGeom prst="rect">
            <a:avLst/>
          </a:prstGeom>
        </p:spPr>
      </p:pic>
      <p:sp>
        <p:nvSpPr>
          <p:cNvPr id="66" name="TextBox 65"/>
          <p:cNvSpPr txBox="1"/>
          <p:nvPr/>
        </p:nvSpPr>
        <p:spPr>
          <a:xfrm>
            <a:off x="4046206" y="5685419"/>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67" name="Picture 66" descr="lock.png"/>
          <p:cNvPicPr>
            <a:picLocks noChangeAspect="1"/>
          </p:cNvPicPr>
          <p:nvPr/>
        </p:nvPicPr>
        <p:blipFill>
          <a:blip r:embed="rId10"/>
          <a:stretch>
            <a:fillRect/>
          </a:stretch>
        </p:blipFill>
        <p:spPr>
          <a:xfrm>
            <a:off x="4571884" y="5676031"/>
            <a:ext cx="123551" cy="179710"/>
          </a:xfrm>
          <a:prstGeom prst="rect">
            <a:avLst/>
          </a:prstGeom>
        </p:spPr>
      </p:pic>
      <p:sp>
        <p:nvSpPr>
          <p:cNvPr id="68" name="TextBox 67"/>
          <p:cNvSpPr txBox="1"/>
          <p:nvPr/>
        </p:nvSpPr>
        <p:spPr>
          <a:xfrm>
            <a:off x="4732680" y="5685419"/>
            <a:ext cx="2422374" cy="179984"/>
          </a:xfrm>
          <a:prstGeom prst="rect">
            <a:avLst/>
          </a:prstGeom>
          <a:noFill/>
        </p:spPr>
        <p:txBody>
          <a:bodyPr wrap="none" lIns="0" rIns="0" tIns="0" bIns="0">
            <a:spAutoFit/>
          </a:bodyPr>
          <a:lstStyle/>
          <a:p>
            <a:r>
              <a:rPr sz="1055" b="0">
                <a:solidFill>
                  <a:srgbClr val="2E2E2E"/>
                </a:solidFill>
                <a:latin typeface="Calibri"/>
              </a:rPr>
              <a:t>share), ahead of 'Native Allergen Extracts' (</a:t>
            </a:r>
          </a:p>
        </p:txBody>
      </p:sp>
      <p:pic>
        <p:nvPicPr>
          <p:cNvPr id="69" name="Picture 68" descr="lock.png"/>
          <p:cNvPicPr>
            <a:picLocks noChangeAspect="1"/>
          </p:cNvPicPr>
          <p:nvPr/>
        </p:nvPicPr>
        <p:blipFill>
          <a:blip r:embed="rId10"/>
          <a:stretch>
            <a:fillRect/>
          </a:stretch>
        </p:blipFill>
        <p:spPr>
          <a:xfrm>
            <a:off x="7102135" y="5676031"/>
            <a:ext cx="123551" cy="179710"/>
          </a:xfrm>
          <a:prstGeom prst="rect">
            <a:avLst/>
          </a:prstGeom>
        </p:spPr>
      </p:pic>
      <p:sp>
        <p:nvSpPr>
          <p:cNvPr id="70" name="TextBox 69"/>
          <p:cNvSpPr txBox="1"/>
          <p:nvPr/>
        </p:nvSpPr>
        <p:spPr>
          <a:xfrm>
            <a:off x="7262931" y="5685419"/>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71" name="TextBox 70"/>
          <p:cNvSpPr txBox="1"/>
          <p:nvPr/>
        </p:nvSpPr>
        <p:spPr>
          <a:xfrm>
            <a:off x="276225" y="5894633"/>
            <a:ext cx="3358256" cy="179984"/>
          </a:xfrm>
          <a:prstGeom prst="rect">
            <a:avLst/>
          </a:prstGeom>
          <a:noFill/>
        </p:spPr>
        <p:txBody>
          <a:bodyPr wrap="none" lIns="0" rIns="0" tIns="0" bIns="0">
            <a:spAutoFit/>
          </a:bodyPr>
          <a:lstStyle/>
          <a:p>
            <a:r>
              <a:rPr sz="1055" b="0">
                <a:solidFill>
                  <a:srgbClr val="2E2E2E"/>
                </a:solidFill>
                <a:latin typeface="Calibri"/>
              </a:rPr>
              <a:t>▪ By Allergen Composition, 'Fixed Allergen Mixtures' leads at</a:t>
            </a:r>
          </a:p>
        </p:txBody>
      </p:sp>
      <p:pic>
        <p:nvPicPr>
          <p:cNvPr id="72" name="Picture 71" descr="lock.png"/>
          <p:cNvPicPr>
            <a:picLocks noChangeAspect="1"/>
          </p:cNvPicPr>
          <p:nvPr/>
        </p:nvPicPr>
        <p:blipFill>
          <a:blip r:embed="rId10"/>
          <a:stretch>
            <a:fillRect/>
          </a:stretch>
        </p:blipFill>
        <p:spPr>
          <a:xfrm>
            <a:off x="3581562" y="5885246"/>
            <a:ext cx="123551" cy="179710"/>
          </a:xfrm>
          <a:prstGeom prst="rect">
            <a:avLst/>
          </a:prstGeom>
        </p:spPr>
      </p:pic>
      <p:sp>
        <p:nvSpPr>
          <p:cNvPr id="73" name="TextBox 72"/>
          <p:cNvSpPr txBox="1"/>
          <p:nvPr/>
        </p:nvSpPr>
        <p:spPr>
          <a:xfrm>
            <a:off x="3742358" y="5894633"/>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74" name="Picture 73" descr="lock.png"/>
          <p:cNvPicPr>
            <a:picLocks noChangeAspect="1"/>
          </p:cNvPicPr>
          <p:nvPr/>
        </p:nvPicPr>
        <p:blipFill>
          <a:blip r:embed="rId10"/>
          <a:stretch>
            <a:fillRect/>
          </a:stretch>
        </p:blipFill>
        <p:spPr>
          <a:xfrm>
            <a:off x="4268036" y="5885246"/>
            <a:ext cx="123551" cy="179710"/>
          </a:xfrm>
          <a:prstGeom prst="rect">
            <a:avLst/>
          </a:prstGeom>
        </p:spPr>
      </p:pic>
      <p:sp>
        <p:nvSpPr>
          <p:cNvPr id="75" name="TextBox 74"/>
          <p:cNvSpPr txBox="1"/>
          <p:nvPr/>
        </p:nvSpPr>
        <p:spPr>
          <a:xfrm>
            <a:off x="4428832" y="5894633"/>
            <a:ext cx="2667023" cy="179984"/>
          </a:xfrm>
          <a:prstGeom prst="rect">
            <a:avLst/>
          </a:prstGeom>
          <a:noFill/>
        </p:spPr>
        <p:txBody>
          <a:bodyPr wrap="none" lIns="0" rIns="0" tIns="0" bIns="0">
            <a:spAutoFit/>
          </a:bodyPr>
          <a:lstStyle/>
          <a:p>
            <a:r>
              <a:rPr sz="1055" b="0">
                <a:solidFill>
                  <a:srgbClr val="2E2E2E"/>
                </a:solidFill>
                <a:latin typeface="Calibri"/>
              </a:rPr>
              <a:t>share), ahead of 'Single-Allergen Preparations' (</a:t>
            </a:r>
          </a:p>
        </p:txBody>
      </p:sp>
      <p:pic>
        <p:nvPicPr>
          <p:cNvPr id="76" name="Picture 75" descr="lock.png"/>
          <p:cNvPicPr>
            <a:picLocks noChangeAspect="1"/>
          </p:cNvPicPr>
          <p:nvPr/>
        </p:nvPicPr>
        <p:blipFill>
          <a:blip r:embed="rId10"/>
          <a:stretch>
            <a:fillRect/>
          </a:stretch>
        </p:blipFill>
        <p:spPr>
          <a:xfrm>
            <a:off x="7042937" y="5885246"/>
            <a:ext cx="123551" cy="179710"/>
          </a:xfrm>
          <a:prstGeom prst="rect">
            <a:avLst/>
          </a:prstGeom>
        </p:spPr>
      </p:pic>
      <p:sp>
        <p:nvSpPr>
          <p:cNvPr id="77" name="TextBox 76"/>
          <p:cNvSpPr txBox="1"/>
          <p:nvPr/>
        </p:nvSpPr>
        <p:spPr>
          <a:xfrm>
            <a:off x="7203733" y="5894633"/>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78" name="TextBox 77"/>
          <p:cNvSpPr txBox="1"/>
          <p:nvPr/>
        </p:nvSpPr>
        <p:spPr>
          <a:xfrm>
            <a:off x="276225" y="6103848"/>
            <a:ext cx="3755353" cy="179984"/>
          </a:xfrm>
          <a:prstGeom prst="rect">
            <a:avLst/>
          </a:prstGeom>
          <a:noFill/>
        </p:spPr>
        <p:txBody>
          <a:bodyPr wrap="none" lIns="0" rIns="0" tIns="0" bIns="0">
            <a:spAutoFit/>
          </a:bodyPr>
          <a:lstStyle/>
          <a:p>
            <a:r>
              <a:rPr sz="1055" b="0">
                <a:solidFill>
                  <a:srgbClr val="2E2E2E"/>
                </a:solidFill>
                <a:latin typeface="Calibri"/>
              </a:rPr>
              <a:t>▪ By Sales / Procurement Channel, 'Direct-to-Allergy Clinics' leads at</a:t>
            </a:r>
          </a:p>
        </p:txBody>
      </p:sp>
      <p:pic>
        <p:nvPicPr>
          <p:cNvPr id="79" name="Picture 78" descr="lock.png"/>
          <p:cNvPicPr>
            <a:picLocks noChangeAspect="1"/>
          </p:cNvPicPr>
          <p:nvPr/>
        </p:nvPicPr>
        <p:blipFill>
          <a:blip r:embed="rId10"/>
          <a:stretch>
            <a:fillRect/>
          </a:stretch>
        </p:blipFill>
        <p:spPr>
          <a:xfrm>
            <a:off x="3978660" y="6094460"/>
            <a:ext cx="123551" cy="179710"/>
          </a:xfrm>
          <a:prstGeom prst="rect">
            <a:avLst/>
          </a:prstGeom>
        </p:spPr>
      </p:pic>
      <p:sp>
        <p:nvSpPr>
          <p:cNvPr id="80" name="TextBox 79"/>
          <p:cNvSpPr txBox="1"/>
          <p:nvPr/>
        </p:nvSpPr>
        <p:spPr>
          <a:xfrm>
            <a:off x="4139456" y="6103848"/>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81" name="Picture 80" descr="lock.png"/>
          <p:cNvPicPr>
            <a:picLocks noChangeAspect="1"/>
          </p:cNvPicPr>
          <p:nvPr/>
        </p:nvPicPr>
        <p:blipFill>
          <a:blip r:embed="rId10"/>
          <a:stretch>
            <a:fillRect/>
          </a:stretch>
        </p:blipFill>
        <p:spPr>
          <a:xfrm>
            <a:off x="4665133" y="6094460"/>
            <a:ext cx="123551" cy="179710"/>
          </a:xfrm>
          <a:prstGeom prst="rect">
            <a:avLst/>
          </a:prstGeom>
        </p:spPr>
      </p:pic>
      <p:sp>
        <p:nvSpPr>
          <p:cNvPr id="82" name="TextBox 81"/>
          <p:cNvSpPr txBox="1"/>
          <p:nvPr/>
        </p:nvSpPr>
        <p:spPr>
          <a:xfrm>
            <a:off x="4825929" y="6103848"/>
            <a:ext cx="2316027" cy="179984"/>
          </a:xfrm>
          <a:prstGeom prst="rect">
            <a:avLst/>
          </a:prstGeom>
          <a:noFill/>
        </p:spPr>
        <p:txBody>
          <a:bodyPr wrap="none" lIns="0" rIns="0" tIns="0" bIns="0">
            <a:spAutoFit/>
          </a:bodyPr>
          <a:lstStyle/>
          <a:p>
            <a:r>
              <a:rPr sz="1055" b="0">
                <a:solidFill>
                  <a:srgbClr val="2E2E2E"/>
                </a:solidFill>
                <a:latin typeface="Calibri"/>
              </a:rPr>
              <a:t>share), ahead of 'Hospital Procurement' (</a:t>
            </a:r>
          </a:p>
        </p:txBody>
      </p:sp>
      <p:pic>
        <p:nvPicPr>
          <p:cNvPr id="83" name="Picture 82" descr="lock.png"/>
          <p:cNvPicPr>
            <a:picLocks noChangeAspect="1"/>
          </p:cNvPicPr>
          <p:nvPr/>
        </p:nvPicPr>
        <p:blipFill>
          <a:blip r:embed="rId10"/>
          <a:stretch>
            <a:fillRect/>
          </a:stretch>
        </p:blipFill>
        <p:spPr>
          <a:xfrm>
            <a:off x="7089038" y="6094460"/>
            <a:ext cx="123551" cy="179710"/>
          </a:xfrm>
          <a:prstGeom prst="rect">
            <a:avLst/>
          </a:prstGeom>
        </p:spPr>
      </p:pic>
      <p:sp>
        <p:nvSpPr>
          <p:cNvPr id="84" name="TextBox 83"/>
          <p:cNvSpPr txBox="1"/>
          <p:nvPr/>
        </p:nvSpPr>
        <p:spPr>
          <a:xfrm>
            <a:off x="7249834" y="6103848"/>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85" name="TextBox 84"/>
          <p:cNvSpPr txBox="1"/>
          <p:nvPr/>
        </p:nvSpPr>
        <p:spPr>
          <a:xfrm>
            <a:off x="276225" y="6313063"/>
            <a:ext cx="6413777" cy="179984"/>
          </a:xfrm>
          <a:prstGeom prst="rect">
            <a:avLst/>
          </a:prstGeom>
          <a:noFill/>
        </p:spPr>
        <p:txBody>
          <a:bodyPr wrap="none" lIns="0" rIns="0" tIns="0" bIns="0">
            <a:spAutoFit/>
          </a:bodyPr>
          <a:lstStyle/>
          <a:p>
            <a:r>
              <a:rPr sz="1055" b="0">
                <a:solidFill>
                  <a:srgbClr val="2E2E2E"/>
                </a:solidFill>
                <a:latin typeface="Calibri"/>
              </a:rPr>
              <a:t>▪ Use the Country slicer in the top band to switch country the selection stays synced across every page of the report.</a:t>
            </a:r>
          </a:p>
        </p:txBody>
      </p:sp>
      <p:sp>
        <p:nvSpPr>
          <p:cNvPr id="86" name="lockshield_13"/>
          <p:cNvSpPr/>
          <p:nvPr/>
        </p:nvSpPr>
        <p:spPr>
          <a:xfrm>
            <a:off x="2381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lockshield_16"/>
          <p:cNvSpPr/>
          <p:nvPr/>
        </p:nvSpPr>
        <p:spPr>
          <a:xfrm>
            <a:off x="32480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lockshield_19"/>
          <p:cNvSpPr/>
          <p:nvPr/>
        </p:nvSpPr>
        <p:spPr>
          <a:xfrm>
            <a:off x="6257925" y="1438275"/>
            <a:ext cx="2667000" cy="118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lockshield_22"/>
          <p:cNvSpPr/>
          <p:nvPr/>
        </p:nvSpPr>
        <p:spPr>
          <a:xfrm>
            <a:off x="9267825" y="1438275"/>
            <a:ext cx="2667000" cy="118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lockshield_25"/>
          <p:cNvSpPr/>
          <p:nvPr/>
        </p:nvSpPr>
        <p:spPr>
          <a:xfrm>
            <a:off x="238125" y="3095625"/>
            <a:ext cx="27432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lockshield_28"/>
          <p:cNvSpPr/>
          <p:nvPr/>
        </p:nvSpPr>
        <p:spPr>
          <a:xfrm>
            <a:off x="3324225" y="3267075"/>
            <a:ext cx="2743200" cy="118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505075"/>
            <a:ext cx="8572500" cy="514350"/>
          </a:xfrm>
          <a:prstGeom prst="rect">
            <a:avLst/>
          </a:prstGeom>
          <a:noFill/>
        </p:spPr>
        <p:txBody>
          <a:bodyPr wrap="square" lIns="0" rIns="0" tIns="0">
            <a:spAutoFit/>
          </a:bodyPr>
          <a:lstStyle/>
          <a:p>
            <a:r>
              <a:rPr sz="3000" b="1">
                <a:solidFill>
                  <a:srgbClr val="0B3C8C"/>
                </a:solidFill>
                <a:latin typeface="Calibri"/>
              </a:rPr>
              <a:t>Segment Overview (Volume &amp; Value)</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Therapy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Allergen Class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Commercial Product Model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Allergen Preparation Technology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Allergen Composition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Sales / Procurement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Therapy Format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Segmental Analysis Therapy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Therapy Format: growth contribution, share variance and absolute $ opportunity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Therapy Format (US$ Mn)</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Therapy Format</a:t>
            </a:r>
          </a:p>
        </p:txBody>
      </p:sp>
      <p:graphicFrame>
        <p:nvGraphicFramePr>
          <p:cNvPr id="16" name="Table 15"/>
          <p:cNvGraphicFramePr>
            <a:graphicFrameLocks noGrp="1"/>
          </p:cNvGraphicFramePr>
          <p:nvPr/>
        </p:nvGraphicFramePr>
        <p:xfrm>
          <a:off x="6181725" y="1238250"/>
          <a:ext cx="5857876" cy="2286000"/>
        </p:xfrm>
        <a:graphic>
          <a:graphicData uri="http://schemas.openxmlformats.org/drawingml/2006/table">
            <a:tbl>
              <a:tblPr>
                <a:tableStyleId>{5C22544A-7EE6-4342-B048-85BDC9FD1C3A}</a:tableStyleId>
              </a:tblPr>
              <a:tblGrid>
                <a:gridCol w="2285947"/>
                <a:gridCol w="897971"/>
                <a:gridCol w="897971"/>
                <a:gridCol w="1134040"/>
                <a:gridCol w="641947"/>
              </a:tblGrid>
              <a:tr h="246126">
                <a:tc>
                  <a:txBody>
                    <a:bodyPr wrap="none"/>
                    <a:lstStyle/>
                    <a:p>
                      <a:pPr algn="l"/>
                      <a:r>
                        <a:rPr sz="1100" b="1">
                          <a:solidFill>
                            <a:srgbClr val="0B2E4A"/>
                          </a:solidFill>
                          <a:latin typeface="Calibri"/>
                        </a:rPr>
                        <a:t>Therapy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679958">
                <a:tc>
                  <a:txBody>
                    <a:bodyPr wrap="none"/>
                    <a:lstStyle/>
                    <a:p>
                      <a:pPr algn="l"/>
                      <a:r>
                        <a:rPr sz="1100" b="1">
                          <a:solidFill>
                            <a:srgbClr val="2E2E2E"/>
                          </a:solidFill>
                          <a:latin typeface="Calibri"/>
                        </a:rPr>
                        <a:t>Subcutaneous Immunotherapy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Sublingual Immunotherapy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79958">
                <a:tc>
                  <a:txBody>
                    <a:bodyPr wrap="none"/>
                    <a:lstStyle/>
                    <a:p>
                      <a:pPr algn="l"/>
                      <a:r>
                        <a:rPr sz="1100" b="1">
                          <a:solidFill>
                            <a:srgbClr val="2E2E2E"/>
                          </a:solidFill>
                          <a:latin typeface="Calibri"/>
                        </a:rPr>
                        <a:t>Oral Immunotherapy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7" name="TextBox 16"/>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Rounded Rectangle 17"/>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Therapy Format (US$ Mn), between 2026–2036</a:t>
            </a:r>
          </a:p>
        </p:txBody>
      </p:sp>
      <p:graphicFrame>
        <p:nvGraphicFramePr>
          <p:cNvPr id="20" name="Chart 19"/>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3094826" y="2237234"/>
            <a:ext cx="263506" cy="383281"/>
          </a:xfrm>
          <a:prstGeom prst="rect">
            <a:avLst/>
          </a:prstGeom>
        </p:spPr>
      </p:pic>
      <p:pic>
        <p:nvPicPr>
          <p:cNvPr id="27" name="Picture 26" descr="lock.png"/>
          <p:cNvPicPr>
            <a:picLocks noChangeAspect="1"/>
          </p:cNvPicPr>
          <p:nvPr/>
        </p:nvPicPr>
        <p:blipFill>
          <a:blip r:embed="rId6"/>
          <a:stretch>
            <a:fillRect/>
          </a:stretch>
        </p:blipFill>
        <p:spPr>
          <a:xfrm>
            <a:off x="10066946" y="2237613"/>
            <a:ext cx="366712" cy="533400"/>
          </a:xfrm>
          <a:prstGeom prst="rect">
            <a:avLst/>
          </a:prstGeom>
        </p:spPr>
      </p:pic>
      <p:pic>
        <p:nvPicPr>
          <p:cNvPr id="28" name="Picture 27" descr="lock.png"/>
          <p:cNvPicPr>
            <a:picLocks noChangeAspect="1"/>
          </p:cNvPicPr>
          <p:nvPr/>
        </p:nvPicPr>
        <p:blipFill>
          <a:blip r:embed="rId6"/>
          <a:stretch>
            <a:fillRect/>
          </a:stretch>
        </p:blipFill>
        <p:spPr>
          <a:xfrm>
            <a:off x="5964247" y="5123309"/>
            <a:ext cx="263506" cy="383281"/>
          </a:xfrm>
          <a:prstGeom prst="rect">
            <a:avLst/>
          </a:prstGeom>
        </p:spPr>
      </p:pic>
      <p:sp>
        <p:nvSpPr>
          <p:cNvPr id="30"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0"/>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Tables Therapy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Therapy Format,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5" name="Rounded Rectangle 14"/>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Therapy Format (US$ Mn)</a:t>
            </a:r>
          </a:p>
        </p:txBody>
      </p:sp>
      <p:graphicFrame>
        <p:nvGraphicFramePr>
          <p:cNvPr id="17" name="Table 16"/>
          <p:cNvGraphicFramePr>
            <a:graphicFrameLocks noGrp="1"/>
          </p:cNvGraphicFramePr>
          <p:nvPr/>
        </p:nvGraphicFramePr>
        <p:xfrm>
          <a:off x="152400" y="1238250"/>
          <a:ext cx="11887196" cy="1724028"/>
        </p:xfrm>
        <a:graphic>
          <a:graphicData uri="http://schemas.openxmlformats.org/drawingml/2006/table">
            <a:tbl>
              <a:tblPr>
                <a:tableStyleId>{5C22544A-7EE6-4342-B048-85BDC9FD1C3A}</a:tableStyleId>
              </a:tblPr>
              <a:tblGrid>
                <a:gridCol w="2058748"/>
                <a:gridCol w="578144"/>
                <a:gridCol w="578144"/>
                <a:gridCol w="578144"/>
                <a:gridCol w="578144"/>
                <a:gridCol w="578144"/>
                <a:gridCol w="578144"/>
                <a:gridCol w="578144"/>
                <a:gridCol w="578144"/>
                <a:gridCol w="578144"/>
                <a:gridCol w="578144"/>
                <a:gridCol w="578144"/>
                <a:gridCol w="578144"/>
                <a:gridCol w="578144"/>
                <a:gridCol w="578144"/>
                <a:gridCol w="578144"/>
                <a:gridCol w="578144"/>
                <a:gridCol w="578144"/>
              </a:tblGrid>
              <a:tr h="246126">
                <a:tc>
                  <a:txBody>
                    <a:bodyPr wrap="none"/>
                    <a:lstStyle/>
                    <a:p>
                      <a:pPr algn="l"/>
                      <a:r>
                        <a:rPr sz="1100" b="1">
                          <a:solidFill>
                            <a:srgbClr val="0B2E4A"/>
                          </a:solidFill>
                          <a:latin typeface="Calibri"/>
                        </a:rPr>
                        <a:t>Therapy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Subcutaneous Immunotherapy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Sublingual Immunotherapy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 SLIT Tablets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SLIT Solutions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Oral Immunotherapy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8" name="TextBox 17"/>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4"/>
          <a:stretch>
            <a:fillRect/>
          </a:stretch>
        </p:blipFill>
        <p:spPr>
          <a:xfrm>
            <a:off x="6938682" y="1956627"/>
            <a:ext cx="366712" cy="533400"/>
          </a:xfrm>
          <a:prstGeom prst="rect">
            <a:avLst/>
          </a:prstGeom>
        </p:spPr>
      </p:pic>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Allergen Class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Segmental Analysis Allergen Class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Allergen Class: growth contribution, share variance and absolute $ opportunity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Allergen Class (US$ Mn)</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Allergen Class</a:t>
            </a:r>
          </a:p>
        </p:txBody>
      </p:sp>
      <p:graphicFrame>
        <p:nvGraphicFramePr>
          <p:cNvPr id="16" name="Table 15"/>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1373998"/>
                <a:gridCol w="1120969"/>
                <a:gridCol w="1120969"/>
                <a:gridCol w="1120969"/>
                <a:gridCol w="1120969"/>
              </a:tblGrid>
              <a:tr h="246126">
                <a:tc>
                  <a:txBody>
                    <a:bodyPr wrap="none"/>
                    <a:lstStyle/>
                    <a:p>
                      <a:pPr algn="l"/>
                      <a:r>
                        <a:rPr sz="1100" b="1">
                          <a:solidFill>
                            <a:srgbClr val="0B2E4A"/>
                          </a:solidFill>
                          <a:latin typeface="Calibri"/>
                        </a:rPr>
                        <a:t>Allergen Class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679958">
                <a:tc>
                  <a:txBody>
                    <a:bodyPr wrap="none"/>
                    <a:lstStyle/>
                    <a:p>
                      <a:pPr algn="l"/>
                      <a:r>
                        <a:rPr sz="1100" b="1">
                          <a:solidFill>
                            <a:srgbClr val="2E2E2E"/>
                          </a:solidFill>
                          <a:latin typeface="Calibri"/>
                        </a:rPr>
                        <a:t>Inhalant Allergens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Venom Allergens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79958">
                <a:tc>
                  <a:txBody>
                    <a:bodyPr wrap="none"/>
                    <a:lstStyle/>
                    <a:p>
                      <a:pPr algn="l"/>
                      <a:r>
                        <a:rPr sz="1100" b="1">
                          <a:solidFill>
                            <a:srgbClr val="2E2E2E"/>
                          </a:solidFill>
                          <a:latin typeface="Calibri"/>
                        </a:rPr>
                        <a:t>Food Allergens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7" name="TextBox 16"/>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Rounded Rectangle 17"/>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Allergen Class (US$ Mn), between 2026–2036</a:t>
            </a:r>
          </a:p>
        </p:txBody>
      </p:sp>
      <p:graphicFrame>
        <p:nvGraphicFramePr>
          <p:cNvPr id="20" name="Chart 19"/>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3094826" y="2237234"/>
            <a:ext cx="263506" cy="383281"/>
          </a:xfrm>
          <a:prstGeom prst="rect">
            <a:avLst/>
          </a:prstGeom>
        </p:spPr>
      </p:pic>
      <p:pic>
        <p:nvPicPr>
          <p:cNvPr id="27" name="Picture 26" descr="lock.png"/>
          <p:cNvPicPr>
            <a:picLocks noChangeAspect="1"/>
          </p:cNvPicPr>
          <p:nvPr/>
        </p:nvPicPr>
        <p:blipFill>
          <a:blip r:embed="rId6"/>
          <a:stretch>
            <a:fillRect/>
          </a:stretch>
        </p:blipFill>
        <p:spPr>
          <a:xfrm>
            <a:off x="9610970" y="2237613"/>
            <a:ext cx="366712" cy="533400"/>
          </a:xfrm>
          <a:prstGeom prst="rect">
            <a:avLst/>
          </a:prstGeom>
        </p:spPr>
      </p:pic>
      <p:pic>
        <p:nvPicPr>
          <p:cNvPr id="28" name="Picture 27" descr="lock.png"/>
          <p:cNvPicPr>
            <a:picLocks noChangeAspect="1"/>
          </p:cNvPicPr>
          <p:nvPr/>
        </p:nvPicPr>
        <p:blipFill>
          <a:blip r:embed="rId6"/>
          <a:stretch>
            <a:fillRect/>
          </a:stretch>
        </p:blipFill>
        <p:spPr>
          <a:xfrm>
            <a:off x="5964247" y="5123309"/>
            <a:ext cx="263506" cy="383281"/>
          </a:xfrm>
          <a:prstGeom prst="rect">
            <a:avLst/>
          </a:prstGeom>
        </p:spPr>
      </p:pic>
      <p:sp>
        <p:nvSpPr>
          <p:cNvPr id="30"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0"/>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Tables Allergen Class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Allergen Class, 2021–2036</a:t>
            </a:r>
          </a:p>
        </p:txBody>
      </p:sp>
      <p:sp>
        <p:nvSpPr>
          <p:cNvPr id="10" name="Rounded Rectangle 9"/>
          <p:cNvSpPr/>
          <p:nvPr/>
        </p:nvSpPr>
        <p:spPr>
          <a:xfrm>
            <a:off x="142875" y="981075"/>
            <a:ext cx="11906250" cy="4410075"/>
          </a:xfrm>
          <a:prstGeom prst="roundRect">
            <a:avLst>
              <a:gd name="adj" fmla="val 17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Allergen Class (US$ Mn)</a:t>
            </a:r>
          </a:p>
        </p:txBody>
      </p:sp>
      <p:graphicFrame>
        <p:nvGraphicFramePr>
          <p:cNvPr id="12" name="Table 11"/>
          <p:cNvGraphicFramePr>
            <a:graphicFrameLocks noGrp="1"/>
          </p:cNvGraphicFramePr>
          <p:nvPr/>
        </p:nvGraphicFramePr>
        <p:xfrm>
          <a:off x="152400" y="1238250"/>
          <a:ext cx="11887194" cy="3943356"/>
        </p:xfrm>
        <a:graphic>
          <a:graphicData uri="http://schemas.openxmlformats.org/drawingml/2006/table">
            <a:tbl>
              <a:tblPr>
                <a:tableStyleId>{5C22544A-7EE6-4342-B048-85BDC9FD1C3A}</a:tableStyleId>
              </a:tblPr>
              <a:tblGrid>
                <a:gridCol w="2794490"/>
                <a:gridCol w="546185"/>
                <a:gridCol w="546185"/>
                <a:gridCol w="546185"/>
                <a:gridCol w="546185"/>
                <a:gridCol w="546185"/>
                <a:gridCol w="526946"/>
                <a:gridCol w="521448"/>
                <a:gridCol w="521448"/>
                <a:gridCol w="521448"/>
                <a:gridCol w="521448"/>
                <a:gridCol w="521448"/>
                <a:gridCol w="521448"/>
                <a:gridCol w="521448"/>
                <a:gridCol w="521448"/>
                <a:gridCol w="521448"/>
                <a:gridCol w="521448"/>
                <a:gridCol w="620353"/>
              </a:tblGrid>
              <a:tr h="246126">
                <a:tc>
                  <a:txBody>
                    <a:bodyPr wrap="none"/>
                    <a:lstStyle/>
                    <a:p>
                      <a:pPr algn="l"/>
                      <a:r>
                        <a:rPr sz="1100" b="1">
                          <a:solidFill>
                            <a:srgbClr val="0B2E4A"/>
                          </a:solidFill>
                          <a:latin typeface="Calibri"/>
                        </a:rPr>
                        <a:t>Allergen Class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482">
                <a:tc>
                  <a:txBody>
                    <a:bodyPr wrap="none"/>
                    <a:lstStyle/>
                    <a:p>
                      <a:pPr algn="l"/>
                      <a:r>
                        <a:rPr sz="1100" b="1">
                          <a:solidFill>
                            <a:srgbClr val="2E2E2E"/>
                          </a:solidFill>
                          <a:latin typeface="Calibri"/>
                        </a:rPr>
                        <a:t>Inhalant Allergens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 Grass Pollen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 Tree Pollen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 Weed &amp; Ragweed Pollen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 House Dust Mite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 Animal Dander / Epithelia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 Mold &amp; Fungal Allergens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Venom Allergens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 Honeybee Venom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 Wasp / Yellow Jacket / Hornet Venom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 Mixed Vespid Venom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Food Allergens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 Peanut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 Other Food Allergens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51911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306551" y="3066291"/>
            <a:ext cx="366712" cy="533400"/>
          </a:xfrm>
          <a:prstGeom prst="rect">
            <a:avLst/>
          </a:prstGeom>
        </p:spPr>
      </p:pic>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Commercial Product Model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Segmental Analysis Commercial Product Model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Commercial Product Model: growth contribution, share variance and absolute $ opportunity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Commercial Product Model (US$ Mn)</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Commercial Product Model</a:t>
            </a:r>
          </a:p>
        </p:txBody>
      </p:sp>
      <p:graphicFrame>
        <p:nvGraphicFramePr>
          <p:cNvPr id="16" name="Table 15"/>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2330476"/>
                <a:gridCol w="886776"/>
                <a:gridCol w="886776"/>
                <a:gridCol w="1119903"/>
                <a:gridCol w="633944"/>
              </a:tblGrid>
              <a:tr h="246126">
                <a:tc>
                  <a:txBody>
                    <a:bodyPr wrap="none"/>
                    <a:lstStyle/>
                    <a:p>
                      <a:pPr algn="l"/>
                      <a:r>
                        <a:rPr sz="1100" b="1">
                          <a:solidFill>
                            <a:srgbClr val="0B2E4A"/>
                          </a:solidFill>
                          <a:latin typeface="Calibri"/>
                        </a:rPr>
                        <a:t>Commercial Product Model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679958">
                <a:tc>
                  <a:txBody>
                    <a:bodyPr wrap="none"/>
                    <a:lstStyle/>
                    <a:p>
                      <a:pPr algn="l"/>
                      <a:r>
                        <a:rPr sz="1100" b="1">
                          <a:solidFill>
                            <a:srgbClr val="2E2E2E"/>
                          </a:solidFill>
                          <a:latin typeface="Calibri"/>
                        </a:rPr>
                        <a:t>Licensed Finished AIT Products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Individual-Prescription Products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79958">
                <a:tc>
                  <a:txBody>
                    <a:bodyPr wrap="none"/>
                    <a:lstStyle/>
                    <a:p>
                      <a:pPr algn="l"/>
                      <a:r>
                        <a:rPr sz="1100" b="1">
                          <a:solidFill>
                            <a:srgbClr val="2E2E2E"/>
                          </a:solidFill>
                          <a:latin typeface="Calibri"/>
                        </a:rPr>
                        <a:t>Bulk Allergen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7" name="TextBox 16"/>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Rounded Rectangle 17"/>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24300"/>
            <a:ext cx="11520309"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Commercial Product Model (US$ Mn), between 2026–2036</a:t>
            </a:r>
          </a:p>
        </p:txBody>
      </p:sp>
      <p:graphicFrame>
        <p:nvGraphicFramePr>
          <p:cNvPr id="20" name="Chart 19"/>
          <p:cNvGraphicFramePr>
            <a:graphicFrameLocks noGrp="1"/>
          </p:cNvGraphicFramePr>
          <p:nvPr/>
        </p:nvGraphicFramePr>
        <p:xfrm>
          <a:off x="238125" y="4324350"/>
          <a:ext cx="11520309" cy="2238375"/>
        </p:xfrm>
        <a:graphic>
          <a:graphicData uri="http://schemas.openxmlformats.org/drawingml/2006/chart">
            <c:chart xmlns:c="http://schemas.openxmlformats.org/drawingml/2006/chart" r:id="rId4"/>
          </a:graphicData>
        </a:graphic>
      </p:graphicFrame>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3094826" y="2237234"/>
            <a:ext cx="263506" cy="383281"/>
          </a:xfrm>
          <a:prstGeom prst="rect">
            <a:avLst/>
          </a:prstGeom>
        </p:spPr>
      </p:pic>
      <p:pic>
        <p:nvPicPr>
          <p:cNvPr id="27" name="Picture 26" descr="lock.png"/>
          <p:cNvPicPr>
            <a:picLocks noChangeAspect="1"/>
          </p:cNvPicPr>
          <p:nvPr/>
        </p:nvPicPr>
        <p:blipFill>
          <a:blip r:embed="rId6"/>
          <a:stretch>
            <a:fillRect/>
          </a:stretch>
        </p:blipFill>
        <p:spPr>
          <a:xfrm>
            <a:off x="10089210" y="2237613"/>
            <a:ext cx="366712" cy="533400"/>
          </a:xfrm>
          <a:prstGeom prst="rect">
            <a:avLst/>
          </a:prstGeom>
        </p:spPr>
      </p:pic>
      <p:pic>
        <p:nvPicPr>
          <p:cNvPr id="28" name="Picture 27" descr="lock.png"/>
          <p:cNvPicPr>
            <a:picLocks noChangeAspect="1"/>
          </p:cNvPicPr>
          <p:nvPr/>
        </p:nvPicPr>
        <p:blipFill>
          <a:blip r:embed="rId6"/>
          <a:stretch>
            <a:fillRect/>
          </a:stretch>
        </p:blipFill>
        <p:spPr>
          <a:xfrm>
            <a:off x="5969555" y="5216754"/>
            <a:ext cx="252890" cy="367840"/>
          </a:xfrm>
          <a:prstGeom prst="rect">
            <a:avLst/>
          </a:prstGeom>
        </p:spPr>
      </p:pic>
      <p:sp>
        <p:nvSpPr>
          <p:cNvPr id="30"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0"/>
          <p:cNvSpPr/>
          <p:nvPr/>
        </p:nvSpPr>
        <p:spPr>
          <a:xfrm>
            <a:off x="238125" y="4324350"/>
            <a:ext cx="11520309"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Tables Commercial Product Model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Commercial Product Model, 2021–2036</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Commercial Product Model (US$ Mn)</a:t>
            </a:r>
          </a:p>
        </p:txBody>
      </p:sp>
      <p:graphicFrame>
        <p:nvGraphicFramePr>
          <p:cNvPr id="12" name="Table 11"/>
          <p:cNvGraphicFramePr>
            <a:graphicFrameLocks noGrp="1"/>
          </p:cNvGraphicFramePr>
          <p:nvPr/>
        </p:nvGraphicFramePr>
        <p:xfrm>
          <a:off x="152400" y="1238250"/>
          <a:ext cx="11887205" cy="2714626"/>
        </p:xfrm>
        <a:graphic>
          <a:graphicData uri="http://schemas.openxmlformats.org/drawingml/2006/table">
            <a:tbl>
              <a:tblPr>
                <a:tableStyleId>{5C22544A-7EE6-4342-B048-85BDC9FD1C3A}</a:tableStyleId>
              </a:tblPr>
              <a:tblGrid>
                <a:gridCol w="2979849"/>
                <a:gridCol w="535051"/>
                <a:gridCol w="535051"/>
                <a:gridCol w="535051"/>
                <a:gridCol w="535051"/>
                <a:gridCol w="535051"/>
                <a:gridCol w="516204"/>
                <a:gridCol w="510819"/>
                <a:gridCol w="510819"/>
                <a:gridCol w="510819"/>
                <a:gridCol w="510819"/>
                <a:gridCol w="510819"/>
                <a:gridCol w="510819"/>
                <a:gridCol w="510819"/>
                <a:gridCol w="510819"/>
                <a:gridCol w="510819"/>
                <a:gridCol w="510819"/>
                <a:gridCol w="607707"/>
              </a:tblGrid>
              <a:tr h="246126">
                <a:tc>
                  <a:txBody>
                    <a:bodyPr wrap="none"/>
                    <a:lstStyle/>
                    <a:p>
                      <a:pPr algn="l"/>
                      <a:r>
                        <a:rPr sz="1100" b="1">
                          <a:solidFill>
                            <a:srgbClr val="0B2E4A"/>
                          </a:solidFill>
                          <a:latin typeface="Calibri"/>
                        </a:rPr>
                        <a:t>Commercial Product Model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Licensed Finished AIT Products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Fixed-dose Branded 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Liquid Products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Individual-Prescription Products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Single-Allergen Personalized Preparations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Multi-Allergen Personalized Preparations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Bulk Allergen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Allergen Stock Concentrates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Venom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399237" y="2451926"/>
            <a:ext cx="366712" cy="533400"/>
          </a:xfrm>
          <a:prstGeom prst="rect">
            <a:avLst/>
          </a:prstGeom>
        </p:spPr>
      </p:pic>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Allergen Preparation Technology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Segmental Analysis Allergen Preparation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Allergen Preparation Technology: growth contribution, share variance and absolute $ opportunity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Allergen Preparation Technology (US$ Mn)</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Allergen Preparation Technology</a:t>
            </a:r>
          </a:p>
        </p:txBody>
      </p:sp>
      <p:graphicFrame>
        <p:nvGraphicFramePr>
          <p:cNvPr id="16" name="Table 15"/>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2358996"/>
                <a:gridCol w="879606"/>
                <a:gridCol w="879606"/>
                <a:gridCol w="1110848"/>
                <a:gridCol w="628818"/>
              </a:tblGrid>
              <a:tr h="246126">
                <a:tc>
                  <a:txBody>
                    <a:bodyPr wrap="none"/>
                    <a:lstStyle/>
                    <a:p>
                      <a:pPr algn="l"/>
                      <a:r>
                        <a:rPr sz="1100" b="1">
                          <a:solidFill>
                            <a:srgbClr val="0B2E4A"/>
                          </a:solidFill>
                          <a:latin typeface="Calibri"/>
                        </a:rPr>
                        <a:t>Allergen Preparation 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679958">
                <a:tc>
                  <a:txBody>
                    <a:bodyPr wrap="none"/>
                    <a:lstStyle/>
                    <a:p>
                      <a:pPr algn="l"/>
                      <a:r>
                        <a:rPr sz="1100" b="1">
                          <a:solidFill>
                            <a:srgbClr val="2E2E2E"/>
                          </a:solidFill>
                          <a:latin typeface="Calibri"/>
                        </a:rPr>
                        <a:t>Native Allergen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Modified Allergen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79958">
                <a:tc>
                  <a:txBody>
                    <a:bodyPr wrap="none"/>
                    <a:lstStyle/>
                    <a:p>
                      <a:pPr algn="l"/>
                      <a:r>
                        <a:rPr sz="1100" b="1">
                          <a:solidFill>
                            <a:srgbClr val="2E2E2E"/>
                          </a:solidFill>
                          <a:latin typeface="Calibri"/>
                        </a:rPr>
                        <a:t>Molecular Allergen Preparations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7" name="TextBox 16"/>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Rounded Rectangle 17"/>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24300"/>
            <a:ext cx="11520309"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Allergen Preparation Technology (US$ Mn), between 2026–2036</a:t>
            </a:r>
          </a:p>
        </p:txBody>
      </p:sp>
      <p:graphicFrame>
        <p:nvGraphicFramePr>
          <p:cNvPr id="20" name="Chart 19"/>
          <p:cNvGraphicFramePr>
            <a:graphicFrameLocks noGrp="1"/>
          </p:cNvGraphicFramePr>
          <p:nvPr/>
        </p:nvGraphicFramePr>
        <p:xfrm>
          <a:off x="238125" y="4324350"/>
          <a:ext cx="11520309" cy="2238375"/>
        </p:xfrm>
        <a:graphic>
          <a:graphicData uri="http://schemas.openxmlformats.org/drawingml/2006/chart">
            <c:chart xmlns:c="http://schemas.openxmlformats.org/drawingml/2006/chart" r:id="rId4"/>
          </a:graphicData>
        </a:graphic>
      </p:graphicFrame>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3100230" y="2330679"/>
            <a:ext cx="252890" cy="367840"/>
          </a:xfrm>
          <a:prstGeom prst="rect">
            <a:avLst/>
          </a:prstGeom>
        </p:spPr>
      </p:pic>
      <p:pic>
        <p:nvPicPr>
          <p:cNvPr id="27" name="Picture 26" descr="lock.png"/>
          <p:cNvPicPr>
            <a:picLocks noChangeAspect="1"/>
          </p:cNvPicPr>
          <p:nvPr/>
        </p:nvPicPr>
        <p:blipFill>
          <a:blip r:embed="rId6"/>
          <a:stretch>
            <a:fillRect/>
          </a:stretch>
        </p:blipFill>
        <p:spPr>
          <a:xfrm>
            <a:off x="10103470" y="2237613"/>
            <a:ext cx="366712" cy="533400"/>
          </a:xfrm>
          <a:prstGeom prst="rect">
            <a:avLst/>
          </a:prstGeom>
        </p:spPr>
      </p:pic>
      <p:pic>
        <p:nvPicPr>
          <p:cNvPr id="28" name="Picture 27" descr="lock.png"/>
          <p:cNvPicPr>
            <a:picLocks noChangeAspect="1"/>
          </p:cNvPicPr>
          <p:nvPr/>
        </p:nvPicPr>
        <p:blipFill>
          <a:blip r:embed="rId6"/>
          <a:stretch>
            <a:fillRect/>
          </a:stretch>
        </p:blipFill>
        <p:spPr>
          <a:xfrm>
            <a:off x="5969555" y="5216754"/>
            <a:ext cx="252890" cy="367840"/>
          </a:xfrm>
          <a:prstGeom prst="rect">
            <a:avLst/>
          </a:prstGeom>
        </p:spPr>
      </p:pic>
      <p:sp>
        <p:nvSpPr>
          <p:cNvPr id="30"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0"/>
          <p:cNvSpPr/>
          <p:nvPr/>
        </p:nvSpPr>
        <p:spPr>
          <a:xfrm>
            <a:off x="238125" y="4324350"/>
            <a:ext cx="11520309"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Tables Allergen Preparation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Allergen Preparation Technology, 2021–2036</a:t>
            </a:r>
          </a:p>
        </p:txBody>
      </p:sp>
      <p:sp>
        <p:nvSpPr>
          <p:cNvPr id="10" name="Rounded Rectangle 9"/>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Allergen Preparation Technology (US$ Mn)</a:t>
            </a:r>
          </a:p>
        </p:txBody>
      </p:sp>
      <p:graphicFrame>
        <p:nvGraphicFramePr>
          <p:cNvPr id="12" name="Table 11"/>
          <p:cNvGraphicFramePr>
            <a:graphicFrameLocks noGrp="1"/>
          </p:cNvGraphicFramePr>
          <p:nvPr/>
        </p:nvGraphicFramePr>
        <p:xfrm>
          <a:off x="152400" y="1238250"/>
          <a:ext cx="11887201" cy="2466975"/>
        </p:xfrm>
        <a:graphic>
          <a:graphicData uri="http://schemas.openxmlformats.org/drawingml/2006/table">
            <a:tbl>
              <a:tblPr>
                <a:tableStyleId>{5C22544A-7EE6-4342-B048-85BDC9FD1C3A}</a:tableStyleId>
              </a:tblPr>
              <a:tblGrid>
                <a:gridCol w="2451181"/>
                <a:gridCol w="555060"/>
                <a:gridCol w="555060"/>
                <a:gridCol w="555060"/>
                <a:gridCol w="555060"/>
                <a:gridCol w="555060"/>
                <a:gridCol w="555060"/>
                <a:gridCol w="555060"/>
                <a:gridCol w="555060"/>
                <a:gridCol w="555060"/>
                <a:gridCol w="555060"/>
                <a:gridCol w="555060"/>
                <a:gridCol w="555060"/>
                <a:gridCol w="555060"/>
                <a:gridCol w="555060"/>
                <a:gridCol w="555060"/>
                <a:gridCol w="555060"/>
                <a:gridCol w="555060"/>
              </a:tblGrid>
              <a:tr h="246126">
                <a:tc>
                  <a:txBody>
                    <a:bodyPr wrap="none"/>
                    <a:lstStyle/>
                    <a:p>
                      <a:pPr algn="l"/>
                      <a:r>
                        <a:rPr sz="1100" b="1">
                          <a:solidFill>
                            <a:srgbClr val="0B2E4A"/>
                          </a:solidFill>
                          <a:latin typeface="Calibri"/>
                        </a:rPr>
                        <a:t>Allergen Preparation 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Native Allergen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 Standardized Allergen Extracts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 Non-standardized Allergen Extracts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Modified Allergen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 Polymerized Allergoids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 Depigmented-Polymerized Allergoids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 Carbamylated Allergoids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Molecular Allergen Preparations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134901" y="2328100"/>
            <a:ext cx="366712" cy="533400"/>
          </a:xfrm>
          <a:prstGeom prst="rect">
            <a:avLst/>
          </a:prstGeom>
        </p:spPr>
      </p:pic>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Allergen Composition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Segmental Analysis Allergen Composition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Allergen Composition: growth contribution, share variance and absolute $ opportunity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Allergen Composition (US$ Mn)</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Allergen Composition</a:t>
            </a:r>
          </a:p>
        </p:txBody>
      </p:sp>
      <p:graphicFrame>
        <p:nvGraphicFramePr>
          <p:cNvPr id="16" name="Table 15"/>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2632085"/>
                <a:gridCol w="810952"/>
                <a:gridCol w="810952"/>
                <a:gridCol w="1024146"/>
                <a:gridCol w="579739"/>
              </a:tblGrid>
              <a:tr h="246126">
                <a:tc>
                  <a:txBody>
                    <a:bodyPr wrap="none"/>
                    <a:lstStyle/>
                    <a:p>
                      <a:pPr algn="l"/>
                      <a:r>
                        <a:rPr sz="1100" b="1">
                          <a:solidFill>
                            <a:srgbClr val="0B2E4A"/>
                          </a:solidFill>
                          <a:latin typeface="Calibri"/>
                        </a:rPr>
                        <a:t>Allergen Composition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679958">
                <a:tc>
                  <a:txBody>
                    <a:bodyPr wrap="none"/>
                    <a:lstStyle/>
                    <a:p>
                      <a:pPr algn="l"/>
                      <a:r>
                        <a:rPr sz="1100" b="1">
                          <a:solidFill>
                            <a:srgbClr val="2E2E2E"/>
                          </a:solidFill>
                          <a:latin typeface="Calibri"/>
                        </a:rPr>
                        <a:t>Single-Allergen Preparations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Fixed Allergen Mixtures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79958">
                <a:tc>
                  <a:txBody>
                    <a:bodyPr wrap="none"/>
                    <a:lstStyle/>
                    <a:p>
                      <a:pPr algn="l"/>
                      <a:r>
                        <a:rPr sz="1100" b="1">
                          <a:solidFill>
                            <a:srgbClr val="2E2E2E"/>
                          </a:solidFill>
                          <a:latin typeface="Calibri"/>
                        </a:rPr>
                        <a:t>Customized Multi-Allergen Preparations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7" name="TextBox 16"/>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Rounded Rectangle 17"/>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24300"/>
            <a:ext cx="11520309"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Allergen Composition (US$ Mn), between 2026–2036</a:t>
            </a:r>
          </a:p>
        </p:txBody>
      </p:sp>
      <p:graphicFrame>
        <p:nvGraphicFramePr>
          <p:cNvPr id="20" name="Chart 19"/>
          <p:cNvGraphicFramePr>
            <a:graphicFrameLocks noGrp="1"/>
          </p:cNvGraphicFramePr>
          <p:nvPr/>
        </p:nvGraphicFramePr>
        <p:xfrm>
          <a:off x="238125" y="4324350"/>
          <a:ext cx="11520309" cy="2238375"/>
        </p:xfrm>
        <a:graphic>
          <a:graphicData uri="http://schemas.openxmlformats.org/drawingml/2006/chart">
            <c:chart xmlns:c="http://schemas.openxmlformats.org/drawingml/2006/chart" r:id="rId4"/>
          </a:graphicData>
        </a:graphic>
      </p:graphicFrame>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3094826" y="2237234"/>
            <a:ext cx="263506" cy="383281"/>
          </a:xfrm>
          <a:prstGeom prst="rect">
            <a:avLst/>
          </a:prstGeom>
        </p:spPr>
      </p:pic>
      <p:pic>
        <p:nvPicPr>
          <p:cNvPr id="27" name="Picture 26" descr="lock.png"/>
          <p:cNvPicPr>
            <a:picLocks noChangeAspect="1"/>
          </p:cNvPicPr>
          <p:nvPr/>
        </p:nvPicPr>
        <p:blipFill>
          <a:blip r:embed="rId6"/>
          <a:stretch>
            <a:fillRect/>
          </a:stretch>
        </p:blipFill>
        <p:spPr>
          <a:xfrm>
            <a:off x="10240856" y="2238815"/>
            <a:ext cx="365058" cy="530994"/>
          </a:xfrm>
          <a:prstGeom prst="rect">
            <a:avLst/>
          </a:prstGeom>
        </p:spPr>
      </p:pic>
      <p:pic>
        <p:nvPicPr>
          <p:cNvPr id="28" name="Picture 27" descr="lock.png"/>
          <p:cNvPicPr>
            <a:picLocks noChangeAspect="1"/>
          </p:cNvPicPr>
          <p:nvPr/>
        </p:nvPicPr>
        <p:blipFill>
          <a:blip r:embed="rId6"/>
          <a:stretch>
            <a:fillRect/>
          </a:stretch>
        </p:blipFill>
        <p:spPr>
          <a:xfrm>
            <a:off x="5969555" y="5216754"/>
            <a:ext cx="252890" cy="367840"/>
          </a:xfrm>
          <a:prstGeom prst="rect">
            <a:avLst/>
          </a:prstGeom>
        </p:spPr>
      </p:pic>
      <p:sp>
        <p:nvSpPr>
          <p:cNvPr id="30"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0"/>
          <p:cNvSpPr/>
          <p:nvPr/>
        </p:nvSpPr>
        <p:spPr>
          <a:xfrm>
            <a:off x="238125" y="4324350"/>
            <a:ext cx="11520309"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Tables Allergen Composition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Allergen Composition,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5" name="Rounded Rectangle 14"/>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Allergen Composition (US$ Mn)</a:t>
            </a:r>
          </a:p>
        </p:txBody>
      </p:sp>
      <p:graphicFrame>
        <p:nvGraphicFramePr>
          <p:cNvPr id="17" name="Table 16"/>
          <p:cNvGraphicFramePr>
            <a:graphicFrameLocks noGrp="1"/>
          </p:cNvGraphicFramePr>
          <p:nvPr/>
        </p:nvGraphicFramePr>
        <p:xfrm>
          <a:off x="152400" y="1238250"/>
          <a:ext cx="11887204" cy="1971675"/>
        </p:xfrm>
        <a:graphic>
          <a:graphicData uri="http://schemas.openxmlformats.org/drawingml/2006/table">
            <a:tbl>
              <a:tblPr>
                <a:tableStyleId>{5C22544A-7EE6-4342-B048-85BDC9FD1C3A}</a:tableStyleId>
              </a:tblPr>
              <a:tblGrid>
                <a:gridCol w="2811278"/>
                <a:gridCol w="545177"/>
                <a:gridCol w="545177"/>
                <a:gridCol w="545177"/>
                <a:gridCol w="545177"/>
                <a:gridCol w="545177"/>
                <a:gridCol w="525973"/>
                <a:gridCol w="520486"/>
                <a:gridCol w="520486"/>
                <a:gridCol w="520486"/>
                <a:gridCol w="520486"/>
                <a:gridCol w="520486"/>
                <a:gridCol w="520486"/>
                <a:gridCol w="520486"/>
                <a:gridCol w="520486"/>
                <a:gridCol w="520486"/>
                <a:gridCol w="520486"/>
                <a:gridCol w="619208"/>
              </a:tblGrid>
              <a:tr h="246126">
                <a:tc>
                  <a:txBody>
                    <a:bodyPr wrap="none"/>
                    <a:lstStyle/>
                    <a:p>
                      <a:pPr algn="l"/>
                      <a:r>
                        <a:rPr sz="1100" b="1">
                          <a:solidFill>
                            <a:srgbClr val="0B2E4A"/>
                          </a:solidFill>
                          <a:latin typeface="Calibri"/>
                        </a:rPr>
                        <a:t>Allergen Composition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Single-Allergen Preparations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Fixed Allergen Mixtures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 Homologous Pollen Mixtures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House Dust Mite Mixtures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 Mixed Vespid Preparations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Customized Multi-Allergen Preparations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8" name="TextBox 17"/>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4"/>
          <a:stretch>
            <a:fillRect/>
          </a:stretch>
        </p:blipFill>
        <p:spPr>
          <a:xfrm>
            <a:off x="7314951" y="2080450"/>
            <a:ext cx="366712" cy="533400"/>
          </a:xfrm>
          <a:prstGeom prst="rect">
            <a:avLst/>
          </a:prstGeom>
        </p:spPr>
      </p:pic>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Sales / Procurement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Segmental Analysis Sales / Procurement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Sales / Procurement Channel: growth contribution, share variance and absolute $ opportunity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Sales / Procurement Channel (US$ Mn)</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Sales / Procurement Channel</a:t>
            </a:r>
          </a:p>
        </p:txBody>
      </p:sp>
      <p:graphicFrame>
        <p:nvGraphicFramePr>
          <p:cNvPr id="16" name="Table 15"/>
          <p:cNvGraphicFramePr>
            <a:graphicFrameLocks noGrp="1"/>
          </p:cNvGraphicFramePr>
          <p:nvPr/>
        </p:nvGraphicFramePr>
        <p:xfrm>
          <a:off x="6181725" y="1238250"/>
          <a:ext cx="5857874" cy="2286001"/>
        </p:xfrm>
        <a:graphic>
          <a:graphicData uri="http://schemas.openxmlformats.org/drawingml/2006/table">
            <a:tbl>
              <a:tblPr>
                <a:tableStyleId>{5C22544A-7EE6-4342-B048-85BDC9FD1C3A}</a:tableStyleId>
              </a:tblPr>
              <a:tblGrid>
                <a:gridCol w="1879930"/>
                <a:gridCol w="994486"/>
                <a:gridCol w="994486"/>
                <a:gridCol w="994486"/>
                <a:gridCol w="994486"/>
              </a:tblGrid>
              <a:tr h="246126">
                <a:tc>
                  <a:txBody>
                    <a:bodyPr wrap="none"/>
                    <a:lstStyle/>
                    <a:p>
                      <a:pPr algn="l"/>
                      <a:r>
                        <a:rPr sz="1100" b="1">
                          <a:solidFill>
                            <a:srgbClr val="0B2E4A"/>
                          </a:solidFill>
                          <a:latin typeface="Calibri"/>
                        </a:rPr>
                        <a:t>Sales / Procurement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407975">
                <a:tc>
                  <a:txBody>
                    <a:bodyPr wrap="none"/>
                    <a:lstStyle/>
                    <a:p>
                      <a:pPr algn="l"/>
                      <a:r>
                        <a:rPr sz="1100" b="1">
                          <a:solidFill>
                            <a:srgbClr val="2E2E2E"/>
                          </a:solidFill>
                          <a:latin typeface="Calibri"/>
                        </a:rPr>
                        <a:t>Direct-to-Allergy Clinics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Hospital Procurement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Retail Pharmacy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Pharmaceutical Distributor</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Mail-order Pharmacy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7" name="TextBox 16"/>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Rounded Rectangle 17"/>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24300"/>
            <a:ext cx="11520309"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Sales / Procurement Channel (US$ Mn), between 2026–2036</a:t>
            </a:r>
          </a:p>
        </p:txBody>
      </p:sp>
      <p:graphicFrame>
        <p:nvGraphicFramePr>
          <p:cNvPr id="20" name="Chart 19"/>
          <p:cNvGraphicFramePr>
            <a:graphicFrameLocks noGrp="1"/>
          </p:cNvGraphicFramePr>
          <p:nvPr/>
        </p:nvGraphicFramePr>
        <p:xfrm>
          <a:off x="238125" y="4324350"/>
          <a:ext cx="11520309" cy="2238375"/>
        </p:xfrm>
        <a:graphic>
          <a:graphicData uri="http://schemas.openxmlformats.org/drawingml/2006/chart">
            <c:chart xmlns:c="http://schemas.openxmlformats.org/drawingml/2006/chart" r:id="rId4"/>
          </a:graphicData>
        </a:graphic>
      </p:graphicFrame>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3094826" y="2237234"/>
            <a:ext cx="263506" cy="383281"/>
          </a:xfrm>
          <a:prstGeom prst="rect">
            <a:avLst/>
          </a:prstGeom>
        </p:spPr>
      </p:pic>
      <p:pic>
        <p:nvPicPr>
          <p:cNvPr id="27" name="Picture 26" descr="lock.png"/>
          <p:cNvPicPr>
            <a:picLocks noChangeAspect="1"/>
          </p:cNvPicPr>
          <p:nvPr/>
        </p:nvPicPr>
        <p:blipFill>
          <a:blip r:embed="rId6"/>
          <a:stretch>
            <a:fillRect/>
          </a:stretch>
        </p:blipFill>
        <p:spPr>
          <a:xfrm>
            <a:off x="9863937" y="2237613"/>
            <a:ext cx="366712" cy="533400"/>
          </a:xfrm>
          <a:prstGeom prst="rect">
            <a:avLst/>
          </a:prstGeom>
        </p:spPr>
      </p:pic>
      <p:pic>
        <p:nvPicPr>
          <p:cNvPr id="28" name="Picture 27" descr="lock.png"/>
          <p:cNvPicPr>
            <a:picLocks noChangeAspect="1"/>
          </p:cNvPicPr>
          <p:nvPr/>
        </p:nvPicPr>
        <p:blipFill>
          <a:blip r:embed="rId6"/>
          <a:stretch>
            <a:fillRect/>
          </a:stretch>
        </p:blipFill>
        <p:spPr>
          <a:xfrm>
            <a:off x="5969555" y="5216754"/>
            <a:ext cx="252890" cy="367840"/>
          </a:xfrm>
          <a:prstGeom prst="rect">
            <a:avLst/>
          </a:prstGeom>
        </p:spPr>
      </p:pic>
      <p:sp>
        <p:nvSpPr>
          <p:cNvPr id="30"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0"/>
          <p:cNvSpPr/>
          <p:nvPr/>
        </p:nvSpPr>
        <p:spPr>
          <a:xfrm>
            <a:off x="238125" y="4324350"/>
            <a:ext cx="11520309"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Allergy Immunotherapy Market Tables Sales / Procurement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Sales / Procurement Channel,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5" name="Rounded Rectangle 14"/>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Sales / Procurement Channel (US$ Mn)</a:t>
            </a:r>
          </a:p>
        </p:txBody>
      </p:sp>
      <p:graphicFrame>
        <p:nvGraphicFramePr>
          <p:cNvPr id="17" name="Table 16"/>
          <p:cNvGraphicFramePr>
            <a:graphicFrameLocks noGrp="1"/>
          </p:cNvGraphicFramePr>
          <p:nvPr/>
        </p:nvGraphicFramePr>
        <p:xfrm>
          <a:off x="152400" y="1238250"/>
          <a:ext cx="11887198" cy="2219326"/>
        </p:xfrm>
        <a:graphic>
          <a:graphicData uri="http://schemas.openxmlformats.org/drawingml/2006/table">
            <a:tbl>
              <a:tblPr>
                <a:tableStyleId>{5C22544A-7EE6-4342-B048-85BDC9FD1C3A}</a:tableStyleId>
              </a:tblPr>
              <a:tblGrid>
                <a:gridCol w="2084097"/>
                <a:gridCol w="576653"/>
                <a:gridCol w="576653"/>
                <a:gridCol w="576653"/>
                <a:gridCol w="576653"/>
                <a:gridCol w="576653"/>
                <a:gridCol w="576653"/>
                <a:gridCol w="576653"/>
                <a:gridCol w="576653"/>
                <a:gridCol w="576653"/>
                <a:gridCol w="576653"/>
                <a:gridCol w="576653"/>
                <a:gridCol w="576653"/>
                <a:gridCol w="576653"/>
                <a:gridCol w="576653"/>
                <a:gridCol w="576653"/>
                <a:gridCol w="576653"/>
                <a:gridCol w="576653"/>
              </a:tblGrid>
              <a:tr h="246126">
                <a:tc>
                  <a:txBody>
                    <a:bodyPr wrap="none"/>
                    <a:lstStyle/>
                    <a:p>
                      <a:pPr algn="l"/>
                      <a:r>
                        <a:rPr sz="1100" b="1">
                          <a:solidFill>
                            <a:srgbClr val="0B2E4A"/>
                          </a:solidFill>
                          <a:latin typeface="Calibri"/>
                        </a:rPr>
                        <a:t>Sales / Procurement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Direct-to-Allergy Clinics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 Customized Allergen Vaccines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 Bulk Extract Supply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Hospital Procurement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Retail Pharmacy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Pharmaceutical Distributor</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Mail-order Pharmacy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8" name="TextBox 17"/>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4"/>
          <a:stretch>
            <a:fillRect/>
          </a:stretch>
        </p:blipFill>
        <p:spPr>
          <a:xfrm>
            <a:off x="6951357" y="2204276"/>
            <a:ext cx="366712" cy="533400"/>
          </a:xfrm>
          <a:prstGeom prst="rect">
            <a:avLst/>
          </a:prstGeom>
        </p:spPr>
      </p:pic>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Cross-sectional Assessment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 Allergen Class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 Therapy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 Allergen Preparation Technology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Company × Allergen Class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Snapshot: Company × Allergen Class,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market value (US$ Mn) for each company sub-segment across allergen class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Value, Company × Allergen Class, 2026E and 2036F (US$ Mn)</a:t>
            </a:r>
          </a:p>
        </p:txBody>
      </p:sp>
      <p:graphicFrame>
        <p:nvGraphicFramePr>
          <p:cNvPr id="13" name="Table 12"/>
          <p:cNvGraphicFramePr>
            <a:graphicFrameLocks noGrp="1"/>
          </p:cNvGraphicFramePr>
          <p:nvPr/>
        </p:nvGraphicFramePr>
        <p:xfrm>
          <a:off x="152400" y="1238250"/>
          <a:ext cx="11887199" cy="3200406"/>
        </p:xfrm>
        <a:graphic>
          <a:graphicData uri="http://schemas.openxmlformats.org/drawingml/2006/table">
            <a:tbl>
              <a:tblPr>
                <a:tableStyleId>{5C22544A-7EE6-4342-B048-85BDC9FD1C3A}</a:tableStyleId>
              </a:tblPr>
              <a:tblGrid>
                <a:gridCol w="4653631"/>
                <a:gridCol w="904196"/>
                <a:gridCol w="904196"/>
                <a:gridCol w="904196"/>
                <a:gridCol w="904196"/>
                <a:gridCol w="904196"/>
                <a:gridCol w="904196"/>
                <a:gridCol w="904196"/>
                <a:gridCol w="904196"/>
              </a:tblGrid>
              <a:tr h="246126">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Inhalant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Venom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Food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190">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8236125" y="2817911"/>
            <a:ext cx="366712" cy="533399"/>
          </a:xfrm>
          <a:prstGeom prst="rect">
            <a:avLst/>
          </a:prstGeom>
        </p:spPr>
      </p:pic>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Snapshot: Company × Allergen Class,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market value (US$ Mn) for each company sub-segment across allergen class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Flow, Company → Allergen Class, 2036F (US$ Mn)</a:t>
            </a:r>
          </a:p>
        </p:txBody>
      </p:sp>
      <p:sp>
        <p:nvSpPr>
          <p:cNvPr id="12" name="Freeform 11"/>
          <p:cNvSpPr/>
          <p:nvPr/>
        </p:nvSpPr>
        <p:spPr>
          <a:xfrm>
            <a:off x="2057400" y="1304925"/>
            <a:ext cx="3743325" cy="485775"/>
          </a:xfrm>
          <a:custGeom>
            <a:avLst/>
            <a:gdLst/>
            <a:ahLst/>
            <a:cxnLst/>
            <a:rect l="l" t="t" r="r" b="b"/>
            <a:pathLst>
              <a:path w="393" h="51">
                <a:moveTo>
                  <a:pt x="0" y="0"/>
                </a:moveTo>
                <a:lnTo>
                  <a:pt x="16" y="0"/>
                </a:lnTo>
                <a:lnTo>
                  <a:pt x="33" y="0"/>
                </a:lnTo>
                <a:lnTo>
                  <a:pt x="49" y="1"/>
                </a:lnTo>
                <a:lnTo>
                  <a:pt x="65" y="2"/>
                </a:lnTo>
                <a:lnTo>
                  <a:pt x="82" y="2"/>
                </a:lnTo>
                <a:lnTo>
                  <a:pt x="98" y="3"/>
                </a:lnTo>
                <a:lnTo>
                  <a:pt x="114" y="4"/>
                </a:lnTo>
                <a:lnTo>
                  <a:pt x="131" y="5"/>
                </a:lnTo>
                <a:lnTo>
                  <a:pt x="147" y="7"/>
                </a:lnTo>
                <a:lnTo>
                  <a:pt x="164" y="8"/>
                </a:lnTo>
                <a:lnTo>
                  <a:pt x="180" y="9"/>
                </a:lnTo>
                <a:lnTo>
                  <a:pt x="196" y="11"/>
                </a:lnTo>
                <a:lnTo>
                  <a:pt x="213" y="12"/>
                </a:lnTo>
                <a:lnTo>
                  <a:pt x="229" y="13"/>
                </a:lnTo>
                <a:lnTo>
                  <a:pt x="246" y="14"/>
                </a:lnTo>
                <a:lnTo>
                  <a:pt x="262" y="16"/>
                </a:lnTo>
                <a:lnTo>
                  <a:pt x="278" y="17"/>
                </a:lnTo>
                <a:lnTo>
                  <a:pt x="295" y="18"/>
                </a:lnTo>
                <a:lnTo>
                  <a:pt x="311" y="19"/>
                </a:lnTo>
                <a:lnTo>
                  <a:pt x="327" y="19"/>
                </a:lnTo>
                <a:lnTo>
                  <a:pt x="344" y="20"/>
                </a:lnTo>
                <a:lnTo>
                  <a:pt x="360" y="21"/>
                </a:lnTo>
                <a:lnTo>
                  <a:pt x="377" y="21"/>
                </a:lnTo>
                <a:lnTo>
                  <a:pt x="393" y="21"/>
                </a:lnTo>
                <a:lnTo>
                  <a:pt x="393" y="51"/>
                </a:lnTo>
                <a:lnTo>
                  <a:pt x="377" y="51"/>
                </a:lnTo>
                <a:lnTo>
                  <a:pt x="360" y="51"/>
                </a:lnTo>
                <a:lnTo>
                  <a:pt x="344" y="51"/>
                </a:lnTo>
                <a:lnTo>
                  <a:pt x="327" y="50"/>
                </a:lnTo>
                <a:lnTo>
                  <a:pt x="311" y="49"/>
                </a:lnTo>
                <a:lnTo>
                  <a:pt x="295" y="48"/>
                </a:lnTo>
                <a:lnTo>
                  <a:pt x="278" y="47"/>
                </a:lnTo>
                <a:lnTo>
                  <a:pt x="262" y="46"/>
                </a:lnTo>
                <a:lnTo>
                  <a:pt x="246" y="45"/>
                </a:lnTo>
                <a:lnTo>
                  <a:pt x="229" y="44"/>
                </a:lnTo>
                <a:lnTo>
                  <a:pt x="213" y="42"/>
                </a:lnTo>
                <a:lnTo>
                  <a:pt x="196" y="41"/>
                </a:lnTo>
                <a:lnTo>
                  <a:pt x="180" y="40"/>
                </a:lnTo>
                <a:lnTo>
                  <a:pt x="164" y="38"/>
                </a:lnTo>
                <a:lnTo>
                  <a:pt x="147" y="37"/>
                </a:lnTo>
                <a:lnTo>
                  <a:pt x="131" y="36"/>
                </a:lnTo>
                <a:lnTo>
                  <a:pt x="114" y="35"/>
                </a:lnTo>
                <a:lnTo>
                  <a:pt x="98" y="34"/>
                </a:lnTo>
                <a:lnTo>
                  <a:pt x="82" y="33"/>
                </a:lnTo>
                <a:lnTo>
                  <a:pt x="65" y="32"/>
                </a:lnTo>
                <a:lnTo>
                  <a:pt x="49" y="31"/>
                </a:lnTo>
                <a:lnTo>
                  <a:pt x="33" y="31"/>
                </a:lnTo>
                <a:lnTo>
                  <a:pt x="16" y="31"/>
                </a:lnTo>
                <a:lnTo>
                  <a:pt x="0" y="3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590675"/>
            <a:ext cx="3743325" cy="3028950"/>
          </a:xfrm>
          <a:custGeom>
            <a:avLst/>
            <a:gdLst/>
            <a:ahLst/>
            <a:cxnLst/>
            <a:rect l="l" t="t" r="r" b="b"/>
            <a:pathLst>
              <a:path w="393" h="318">
                <a:moveTo>
                  <a:pt x="0" y="0"/>
                </a:moveTo>
                <a:lnTo>
                  <a:pt x="16" y="2"/>
                </a:lnTo>
                <a:lnTo>
                  <a:pt x="33" y="7"/>
                </a:lnTo>
                <a:lnTo>
                  <a:pt x="49" y="14"/>
                </a:lnTo>
                <a:lnTo>
                  <a:pt x="65" y="23"/>
                </a:lnTo>
                <a:lnTo>
                  <a:pt x="82" y="35"/>
                </a:lnTo>
                <a:lnTo>
                  <a:pt x="98" y="48"/>
                </a:lnTo>
                <a:lnTo>
                  <a:pt x="114" y="64"/>
                </a:lnTo>
                <a:lnTo>
                  <a:pt x="131" y="80"/>
                </a:lnTo>
                <a:lnTo>
                  <a:pt x="147" y="98"/>
                </a:lnTo>
                <a:lnTo>
                  <a:pt x="164" y="116"/>
                </a:lnTo>
                <a:lnTo>
                  <a:pt x="180" y="135"/>
                </a:lnTo>
                <a:lnTo>
                  <a:pt x="196" y="154"/>
                </a:lnTo>
                <a:lnTo>
                  <a:pt x="213" y="173"/>
                </a:lnTo>
                <a:lnTo>
                  <a:pt x="229" y="192"/>
                </a:lnTo>
                <a:lnTo>
                  <a:pt x="246" y="211"/>
                </a:lnTo>
                <a:lnTo>
                  <a:pt x="262" y="228"/>
                </a:lnTo>
                <a:lnTo>
                  <a:pt x="278" y="245"/>
                </a:lnTo>
                <a:lnTo>
                  <a:pt x="295" y="260"/>
                </a:lnTo>
                <a:lnTo>
                  <a:pt x="311" y="273"/>
                </a:lnTo>
                <a:lnTo>
                  <a:pt x="327" y="285"/>
                </a:lnTo>
                <a:lnTo>
                  <a:pt x="344" y="295"/>
                </a:lnTo>
                <a:lnTo>
                  <a:pt x="360" y="302"/>
                </a:lnTo>
                <a:lnTo>
                  <a:pt x="377" y="306"/>
                </a:lnTo>
                <a:lnTo>
                  <a:pt x="393" y="308"/>
                </a:lnTo>
                <a:lnTo>
                  <a:pt x="393" y="318"/>
                </a:lnTo>
                <a:lnTo>
                  <a:pt x="377" y="317"/>
                </a:lnTo>
                <a:lnTo>
                  <a:pt x="360" y="312"/>
                </a:lnTo>
                <a:lnTo>
                  <a:pt x="344" y="305"/>
                </a:lnTo>
                <a:lnTo>
                  <a:pt x="327" y="296"/>
                </a:lnTo>
                <a:lnTo>
                  <a:pt x="311" y="284"/>
                </a:lnTo>
                <a:lnTo>
                  <a:pt x="295" y="270"/>
                </a:lnTo>
                <a:lnTo>
                  <a:pt x="278" y="255"/>
                </a:lnTo>
                <a:lnTo>
                  <a:pt x="262" y="239"/>
                </a:lnTo>
                <a:lnTo>
                  <a:pt x="246" y="221"/>
                </a:lnTo>
                <a:lnTo>
                  <a:pt x="229" y="203"/>
                </a:lnTo>
                <a:lnTo>
                  <a:pt x="213" y="184"/>
                </a:lnTo>
                <a:lnTo>
                  <a:pt x="196" y="165"/>
                </a:lnTo>
                <a:lnTo>
                  <a:pt x="180" y="146"/>
                </a:lnTo>
                <a:lnTo>
                  <a:pt x="164" y="127"/>
                </a:lnTo>
                <a:lnTo>
                  <a:pt x="147" y="108"/>
                </a:lnTo>
                <a:lnTo>
                  <a:pt x="131" y="91"/>
                </a:lnTo>
                <a:lnTo>
                  <a:pt x="114" y="74"/>
                </a:lnTo>
                <a:lnTo>
                  <a:pt x="98" y="59"/>
                </a:lnTo>
                <a:lnTo>
                  <a:pt x="82" y="45"/>
                </a:lnTo>
                <a:lnTo>
                  <a:pt x="65" y="34"/>
                </a:lnTo>
                <a:lnTo>
                  <a:pt x="49" y="24"/>
                </a:lnTo>
                <a:lnTo>
                  <a:pt x="33" y="17"/>
                </a:lnTo>
                <a:lnTo>
                  <a:pt x="16" y="13"/>
                </a:lnTo>
                <a:lnTo>
                  <a:pt x="0" y="1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1695450"/>
            <a:ext cx="3743325" cy="3952875"/>
          </a:xfrm>
          <a:custGeom>
            <a:avLst/>
            <a:gdLst/>
            <a:ahLst/>
            <a:cxnLst/>
            <a:rect l="l" t="t" r="r" b="b"/>
            <a:pathLst>
              <a:path w="393" h="415">
                <a:moveTo>
                  <a:pt x="0" y="0"/>
                </a:moveTo>
                <a:lnTo>
                  <a:pt x="16" y="2"/>
                </a:lnTo>
                <a:lnTo>
                  <a:pt x="33" y="8"/>
                </a:lnTo>
                <a:lnTo>
                  <a:pt x="49" y="17"/>
                </a:lnTo>
                <a:lnTo>
                  <a:pt x="65" y="30"/>
                </a:lnTo>
                <a:lnTo>
                  <a:pt x="82" y="46"/>
                </a:lnTo>
                <a:lnTo>
                  <a:pt x="98" y="64"/>
                </a:lnTo>
                <a:lnTo>
                  <a:pt x="114" y="84"/>
                </a:lnTo>
                <a:lnTo>
                  <a:pt x="131" y="105"/>
                </a:lnTo>
                <a:lnTo>
                  <a:pt x="147" y="129"/>
                </a:lnTo>
                <a:lnTo>
                  <a:pt x="164" y="153"/>
                </a:lnTo>
                <a:lnTo>
                  <a:pt x="180" y="178"/>
                </a:lnTo>
                <a:lnTo>
                  <a:pt x="196" y="203"/>
                </a:lnTo>
                <a:lnTo>
                  <a:pt x="213" y="229"/>
                </a:lnTo>
                <a:lnTo>
                  <a:pt x="229" y="254"/>
                </a:lnTo>
                <a:lnTo>
                  <a:pt x="246" y="278"/>
                </a:lnTo>
                <a:lnTo>
                  <a:pt x="262" y="301"/>
                </a:lnTo>
                <a:lnTo>
                  <a:pt x="278" y="323"/>
                </a:lnTo>
                <a:lnTo>
                  <a:pt x="295" y="343"/>
                </a:lnTo>
                <a:lnTo>
                  <a:pt x="311" y="361"/>
                </a:lnTo>
                <a:lnTo>
                  <a:pt x="327" y="376"/>
                </a:lnTo>
                <a:lnTo>
                  <a:pt x="344" y="389"/>
                </a:lnTo>
                <a:lnTo>
                  <a:pt x="360" y="398"/>
                </a:lnTo>
                <a:lnTo>
                  <a:pt x="377" y="404"/>
                </a:lnTo>
                <a:lnTo>
                  <a:pt x="393" y="406"/>
                </a:lnTo>
                <a:lnTo>
                  <a:pt x="393" y="415"/>
                </a:lnTo>
                <a:lnTo>
                  <a:pt x="377" y="413"/>
                </a:lnTo>
                <a:lnTo>
                  <a:pt x="360" y="407"/>
                </a:lnTo>
                <a:lnTo>
                  <a:pt x="344" y="397"/>
                </a:lnTo>
                <a:lnTo>
                  <a:pt x="327" y="385"/>
                </a:lnTo>
                <a:lnTo>
                  <a:pt x="311" y="369"/>
                </a:lnTo>
                <a:lnTo>
                  <a:pt x="295" y="351"/>
                </a:lnTo>
                <a:lnTo>
                  <a:pt x="278" y="331"/>
                </a:lnTo>
                <a:lnTo>
                  <a:pt x="262" y="310"/>
                </a:lnTo>
                <a:lnTo>
                  <a:pt x="246" y="286"/>
                </a:lnTo>
                <a:lnTo>
                  <a:pt x="229" y="262"/>
                </a:lnTo>
                <a:lnTo>
                  <a:pt x="213" y="237"/>
                </a:lnTo>
                <a:lnTo>
                  <a:pt x="196" y="212"/>
                </a:lnTo>
                <a:lnTo>
                  <a:pt x="180" y="186"/>
                </a:lnTo>
                <a:lnTo>
                  <a:pt x="164" y="161"/>
                </a:lnTo>
                <a:lnTo>
                  <a:pt x="147" y="137"/>
                </a:lnTo>
                <a:lnTo>
                  <a:pt x="131" y="114"/>
                </a:lnTo>
                <a:lnTo>
                  <a:pt x="114" y="92"/>
                </a:lnTo>
                <a:lnTo>
                  <a:pt x="98" y="72"/>
                </a:lnTo>
                <a:lnTo>
                  <a:pt x="82" y="54"/>
                </a:lnTo>
                <a:lnTo>
                  <a:pt x="65" y="39"/>
                </a:lnTo>
                <a:lnTo>
                  <a:pt x="49" y="26"/>
                </a:lnTo>
                <a:lnTo>
                  <a:pt x="33" y="16"/>
                </a:lnTo>
                <a:lnTo>
                  <a:pt x="16" y="11"/>
                </a:lnTo>
                <a:lnTo>
                  <a:pt x="0" y="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1790700"/>
            <a:ext cx="3743325" cy="352425"/>
          </a:xfrm>
          <a:custGeom>
            <a:avLst/>
            <a:gdLst/>
            <a:ahLst/>
            <a:cxnLst/>
            <a:rect l="l" t="t" r="r" b="b"/>
            <a:pathLst>
              <a:path w="393" h="37">
                <a:moveTo>
                  <a:pt x="0" y="5"/>
                </a:moveTo>
                <a:lnTo>
                  <a:pt x="16" y="4"/>
                </a:lnTo>
                <a:lnTo>
                  <a:pt x="33" y="4"/>
                </a:lnTo>
                <a:lnTo>
                  <a:pt x="49" y="4"/>
                </a:lnTo>
                <a:lnTo>
                  <a:pt x="65" y="4"/>
                </a:lnTo>
                <a:lnTo>
                  <a:pt x="82" y="4"/>
                </a:lnTo>
                <a:lnTo>
                  <a:pt x="98" y="4"/>
                </a:lnTo>
                <a:lnTo>
                  <a:pt x="114" y="4"/>
                </a:lnTo>
                <a:lnTo>
                  <a:pt x="131" y="3"/>
                </a:lnTo>
                <a:lnTo>
                  <a:pt x="147" y="3"/>
                </a:lnTo>
                <a:lnTo>
                  <a:pt x="164" y="3"/>
                </a:lnTo>
                <a:lnTo>
                  <a:pt x="180" y="3"/>
                </a:lnTo>
                <a:lnTo>
                  <a:pt x="196" y="2"/>
                </a:lnTo>
                <a:lnTo>
                  <a:pt x="213" y="2"/>
                </a:lnTo>
                <a:lnTo>
                  <a:pt x="229" y="2"/>
                </a:lnTo>
                <a:lnTo>
                  <a:pt x="246" y="2"/>
                </a:lnTo>
                <a:lnTo>
                  <a:pt x="262" y="2"/>
                </a:lnTo>
                <a:lnTo>
                  <a:pt x="278" y="1"/>
                </a:lnTo>
                <a:lnTo>
                  <a:pt x="295" y="1"/>
                </a:lnTo>
                <a:lnTo>
                  <a:pt x="311" y="1"/>
                </a:lnTo>
                <a:lnTo>
                  <a:pt x="327" y="1"/>
                </a:lnTo>
                <a:lnTo>
                  <a:pt x="344" y="1"/>
                </a:lnTo>
                <a:lnTo>
                  <a:pt x="360" y="1"/>
                </a:lnTo>
                <a:lnTo>
                  <a:pt x="377" y="0"/>
                </a:lnTo>
                <a:lnTo>
                  <a:pt x="393" y="0"/>
                </a:lnTo>
                <a:lnTo>
                  <a:pt x="393" y="33"/>
                </a:lnTo>
                <a:lnTo>
                  <a:pt x="377" y="33"/>
                </a:lnTo>
                <a:lnTo>
                  <a:pt x="360" y="33"/>
                </a:lnTo>
                <a:lnTo>
                  <a:pt x="344" y="33"/>
                </a:lnTo>
                <a:lnTo>
                  <a:pt x="327" y="33"/>
                </a:lnTo>
                <a:lnTo>
                  <a:pt x="311" y="33"/>
                </a:lnTo>
                <a:lnTo>
                  <a:pt x="295" y="34"/>
                </a:lnTo>
                <a:lnTo>
                  <a:pt x="278" y="34"/>
                </a:lnTo>
                <a:lnTo>
                  <a:pt x="262" y="34"/>
                </a:lnTo>
                <a:lnTo>
                  <a:pt x="246" y="34"/>
                </a:lnTo>
                <a:lnTo>
                  <a:pt x="229" y="34"/>
                </a:lnTo>
                <a:lnTo>
                  <a:pt x="213" y="35"/>
                </a:lnTo>
                <a:lnTo>
                  <a:pt x="196" y="35"/>
                </a:lnTo>
                <a:lnTo>
                  <a:pt x="180" y="35"/>
                </a:lnTo>
                <a:lnTo>
                  <a:pt x="164" y="35"/>
                </a:lnTo>
                <a:lnTo>
                  <a:pt x="147" y="36"/>
                </a:lnTo>
                <a:lnTo>
                  <a:pt x="131" y="36"/>
                </a:lnTo>
                <a:lnTo>
                  <a:pt x="114" y="36"/>
                </a:lnTo>
                <a:lnTo>
                  <a:pt x="98" y="36"/>
                </a:lnTo>
                <a:lnTo>
                  <a:pt x="82" y="37"/>
                </a:lnTo>
                <a:lnTo>
                  <a:pt x="65" y="37"/>
                </a:lnTo>
                <a:lnTo>
                  <a:pt x="49" y="37"/>
                </a:lnTo>
                <a:lnTo>
                  <a:pt x="33" y="37"/>
                </a:lnTo>
                <a:lnTo>
                  <a:pt x="16" y="37"/>
                </a:lnTo>
                <a:lnTo>
                  <a:pt x="0" y="3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143125"/>
            <a:ext cx="3743325" cy="2562225"/>
          </a:xfrm>
          <a:custGeom>
            <a:avLst/>
            <a:gdLst/>
            <a:ahLst/>
            <a:cxnLst/>
            <a:rect l="l" t="t" r="r" b="b"/>
            <a:pathLst>
              <a:path w="393" h="269">
                <a:moveTo>
                  <a:pt x="0" y="0"/>
                </a:moveTo>
                <a:lnTo>
                  <a:pt x="16" y="1"/>
                </a:lnTo>
                <a:lnTo>
                  <a:pt x="33" y="5"/>
                </a:lnTo>
                <a:lnTo>
                  <a:pt x="49" y="11"/>
                </a:lnTo>
                <a:lnTo>
                  <a:pt x="65" y="19"/>
                </a:lnTo>
                <a:lnTo>
                  <a:pt x="82" y="29"/>
                </a:lnTo>
                <a:lnTo>
                  <a:pt x="98" y="41"/>
                </a:lnTo>
                <a:lnTo>
                  <a:pt x="114" y="54"/>
                </a:lnTo>
                <a:lnTo>
                  <a:pt x="131" y="68"/>
                </a:lnTo>
                <a:lnTo>
                  <a:pt x="147" y="82"/>
                </a:lnTo>
                <a:lnTo>
                  <a:pt x="164" y="98"/>
                </a:lnTo>
                <a:lnTo>
                  <a:pt x="180" y="114"/>
                </a:lnTo>
                <a:lnTo>
                  <a:pt x="196" y="130"/>
                </a:lnTo>
                <a:lnTo>
                  <a:pt x="213" y="146"/>
                </a:lnTo>
                <a:lnTo>
                  <a:pt x="229" y="162"/>
                </a:lnTo>
                <a:lnTo>
                  <a:pt x="246" y="178"/>
                </a:lnTo>
                <a:lnTo>
                  <a:pt x="262" y="193"/>
                </a:lnTo>
                <a:lnTo>
                  <a:pt x="278" y="207"/>
                </a:lnTo>
                <a:lnTo>
                  <a:pt x="295" y="220"/>
                </a:lnTo>
                <a:lnTo>
                  <a:pt x="311" y="231"/>
                </a:lnTo>
                <a:lnTo>
                  <a:pt x="327" y="241"/>
                </a:lnTo>
                <a:lnTo>
                  <a:pt x="344" y="249"/>
                </a:lnTo>
                <a:lnTo>
                  <a:pt x="360" y="255"/>
                </a:lnTo>
                <a:lnTo>
                  <a:pt x="377" y="259"/>
                </a:lnTo>
                <a:lnTo>
                  <a:pt x="393" y="260"/>
                </a:lnTo>
                <a:lnTo>
                  <a:pt x="393" y="269"/>
                </a:lnTo>
                <a:lnTo>
                  <a:pt x="377" y="268"/>
                </a:lnTo>
                <a:lnTo>
                  <a:pt x="360" y="264"/>
                </a:lnTo>
                <a:lnTo>
                  <a:pt x="344" y="258"/>
                </a:lnTo>
                <a:lnTo>
                  <a:pt x="327" y="250"/>
                </a:lnTo>
                <a:lnTo>
                  <a:pt x="311" y="240"/>
                </a:lnTo>
                <a:lnTo>
                  <a:pt x="295" y="229"/>
                </a:lnTo>
                <a:lnTo>
                  <a:pt x="278" y="216"/>
                </a:lnTo>
                <a:lnTo>
                  <a:pt x="262" y="202"/>
                </a:lnTo>
                <a:lnTo>
                  <a:pt x="246" y="187"/>
                </a:lnTo>
                <a:lnTo>
                  <a:pt x="229" y="171"/>
                </a:lnTo>
                <a:lnTo>
                  <a:pt x="213" y="155"/>
                </a:lnTo>
                <a:lnTo>
                  <a:pt x="196" y="139"/>
                </a:lnTo>
                <a:lnTo>
                  <a:pt x="180" y="123"/>
                </a:lnTo>
                <a:lnTo>
                  <a:pt x="164" y="107"/>
                </a:lnTo>
                <a:lnTo>
                  <a:pt x="147" y="91"/>
                </a:lnTo>
                <a:lnTo>
                  <a:pt x="131" y="76"/>
                </a:lnTo>
                <a:lnTo>
                  <a:pt x="114" y="62"/>
                </a:lnTo>
                <a:lnTo>
                  <a:pt x="98" y="50"/>
                </a:lnTo>
                <a:lnTo>
                  <a:pt x="82" y="38"/>
                </a:lnTo>
                <a:lnTo>
                  <a:pt x="65" y="28"/>
                </a:lnTo>
                <a:lnTo>
                  <a:pt x="49" y="20"/>
                </a:lnTo>
                <a:lnTo>
                  <a:pt x="33" y="14"/>
                </a:lnTo>
                <a:lnTo>
                  <a:pt x="16" y="10"/>
                </a:lnTo>
                <a:lnTo>
                  <a:pt x="0" y="9"/>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2228850"/>
            <a:ext cx="3743325" cy="3495675"/>
          </a:xfrm>
          <a:custGeom>
            <a:avLst/>
            <a:gdLst/>
            <a:ahLst/>
            <a:cxnLst/>
            <a:rect l="l" t="t" r="r" b="b"/>
            <a:pathLst>
              <a:path w="393" h="367">
                <a:moveTo>
                  <a:pt x="0" y="0"/>
                </a:moveTo>
                <a:lnTo>
                  <a:pt x="16" y="2"/>
                </a:lnTo>
                <a:lnTo>
                  <a:pt x="33" y="7"/>
                </a:lnTo>
                <a:lnTo>
                  <a:pt x="49" y="15"/>
                </a:lnTo>
                <a:lnTo>
                  <a:pt x="65" y="26"/>
                </a:lnTo>
                <a:lnTo>
                  <a:pt x="82" y="40"/>
                </a:lnTo>
                <a:lnTo>
                  <a:pt x="98" y="56"/>
                </a:lnTo>
                <a:lnTo>
                  <a:pt x="114" y="74"/>
                </a:lnTo>
                <a:lnTo>
                  <a:pt x="131" y="93"/>
                </a:lnTo>
                <a:lnTo>
                  <a:pt x="147" y="113"/>
                </a:lnTo>
                <a:lnTo>
                  <a:pt x="164" y="135"/>
                </a:lnTo>
                <a:lnTo>
                  <a:pt x="180" y="157"/>
                </a:lnTo>
                <a:lnTo>
                  <a:pt x="196" y="179"/>
                </a:lnTo>
                <a:lnTo>
                  <a:pt x="213" y="202"/>
                </a:lnTo>
                <a:lnTo>
                  <a:pt x="229" y="224"/>
                </a:lnTo>
                <a:lnTo>
                  <a:pt x="246" y="245"/>
                </a:lnTo>
                <a:lnTo>
                  <a:pt x="262" y="266"/>
                </a:lnTo>
                <a:lnTo>
                  <a:pt x="278" y="285"/>
                </a:lnTo>
                <a:lnTo>
                  <a:pt x="295" y="303"/>
                </a:lnTo>
                <a:lnTo>
                  <a:pt x="311" y="319"/>
                </a:lnTo>
                <a:lnTo>
                  <a:pt x="327" y="332"/>
                </a:lnTo>
                <a:lnTo>
                  <a:pt x="344" y="343"/>
                </a:lnTo>
                <a:lnTo>
                  <a:pt x="360" y="352"/>
                </a:lnTo>
                <a:lnTo>
                  <a:pt x="377" y="357"/>
                </a:lnTo>
                <a:lnTo>
                  <a:pt x="393" y="359"/>
                </a:lnTo>
                <a:lnTo>
                  <a:pt x="393" y="367"/>
                </a:lnTo>
                <a:lnTo>
                  <a:pt x="377" y="365"/>
                </a:lnTo>
                <a:lnTo>
                  <a:pt x="360" y="360"/>
                </a:lnTo>
                <a:lnTo>
                  <a:pt x="344" y="352"/>
                </a:lnTo>
                <a:lnTo>
                  <a:pt x="327" y="340"/>
                </a:lnTo>
                <a:lnTo>
                  <a:pt x="311" y="327"/>
                </a:lnTo>
                <a:lnTo>
                  <a:pt x="295" y="311"/>
                </a:lnTo>
                <a:lnTo>
                  <a:pt x="278" y="293"/>
                </a:lnTo>
                <a:lnTo>
                  <a:pt x="262" y="274"/>
                </a:lnTo>
                <a:lnTo>
                  <a:pt x="246" y="253"/>
                </a:lnTo>
                <a:lnTo>
                  <a:pt x="229" y="232"/>
                </a:lnTo>
                <a:lnTo>
                  <a:pt x="213" y="210"/>
                </a:lnTo>
                <a:lnTo>
                  <a:pt x="196" y="187"/>
                </a:lnTo>
                <a:lnTo>
                  <a:pt x="180" y="165"/>
                </a:lnTo>
                <a:lnTo>
                  <a:pt x="164" y="143"/>
                </a:lnTo>
                <a:lnTo>
                  <a:pt x="147" y="122"/>
                </a:lnTo>
                <a:lnTo>
                  <a:pt x="131" y="101"/>
                </a:lnTo>
                <a:lnTo>
                  <a:pt x="114" y="82"/>
                </a:lnTo>
                <a:lnTo>
                  <a:pt x="98" y="64"/>
                </a:lnTo>
                <a:lnTo>
                  <a:pt x="82" y="48"/>
                </a:lnTo>
                <a:lnTo>
                  <a:pt x="65" y="35"/>
                </a:lnTo>
                <a:lnTo>
                  <a:pt x="49" y="23"/>
                </a:lnTo>
                <a:lnTo>
                  <a:pt x="33" y="15"/>
                </a:lnTo>
                <a:lnTo>
                  <a:pt x="16" y="10"/>
                </a:lnTo>
                <a:lnTo>
                  <a:pt x="0" y="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2105025"/>
            <a:ext cx="3743325" cy="542925"/>
          </a:xfrm>
          <a:custGeom>
            <a:avLst/>
            <a:gdLst/>
            <a:ahLst/>
            <a:cxnLst/>
            <a:rect l="l" t="t" r="r" b="b"/>
            <a:pathLst>
              <a:path w="393" h="57">
                <a:moveTo>
                  <a:pt x="0" y="27"/>
                </a:moveTo>
                <a:lnTo>
                  <a:pt x="16" y="27"/>
                </a:lnTo>
                <a:lnTo>
                  <a:pt x="33" y="26"/>
                </a:lnTo>
                <a:lnTo>
                  <a:pt x="49" y="26"/>
                </a:lnTo>
                <a:lnTo>
                  <a:pt x="65" y="25"/>
                </a:lnTo>
                <a:lnTo>
                  <a:pt x="82" y="24"/>
                </a:lnTo>
                <a:lnTo>
                  <a:pt x="98" y="23"/>
                </a:lnTo>
                <a:lnTo>
                  <a:pt x="114" y="21"/>
                </a:lnTo>
                <a:lnTo>
                  <a:pt x="131" y="20"/>
                </a:lnTo>
                <a:lnTo>
                  <a:pt x="147" y="18"/>
                </a:lnTo>
                <a:lnTo>
                  <a:pt x="164" y="17"/>
                </a:lnTo>
                <a:lnTo>
                  <a:pt x="180" y="15"/>
                </a:lnTo>
                <a:lnTo>
                  <a:pt x="196" y="13"/>
                </a:lnTo>
                <a:lnTo>
                  <a:pt x="213" y="12"/>
                </a:lnTo>
                <a:lnTo>
                  <a:pt x="229" y="10"/>
                </a:lnTo>
                <a:lnTo>
                  <a:pt x="246" y="9"/>
                </a:lnTo>
                <a:lnTo>
                  <a:pt x="262" y="7"/>
                </a:lnTo>
                <a:lnTo>
                  <a:pt x="278" y="6"/>
                </a:lnTo>
                <a:lnTo>
                  <a:pt x="295" y="4"/>
                </a:lnTo>
                <a:lnTo>
                  <a:pt x="311" y="3"/>
                </a:lnTo>
                <a:lnTo>
                  <a:pt x="327" y="2"/>
                </a:lnTo>
                <a:lnTo>
                  <a:pt x="344" y="1"/>
                </a:lnTo>
                <a:lnTo>
                  <a:pt x="360" y="1"/>
                </a:lnTo>
                <a:lnTo>
                  <a:pt x="377" y="0"/>
                </a:lnTo>
                <a:lnTo>
                  <a:pt x="393" y="0"/>
                </a:lnTo>
                <a:lnTo>
                  <a:pt x="393" y="30"/>
                </a:lnTo>
                <a:lnTo>
                  <a:pt x="377" y="31"/>
                </a:lnTo>
                <a:lnTo>
                  <a:pt x="360" y="31"/>
                </a:lnTo>
                <a:lnTo>
                  <a:pt x="344" y="32"/>
                </a:lnTo>
                <a:lnTo>
                  <a:pt x="327" y="32"/>
                </a:lnTo>
                <a:lnTo>
                  <a:pt x="311" y="33"/>
                </a:lnTo>
                <a:lnTo>
                  <a:pt x="295" y="35"/>
                </a:lnTo>
                <a:lnTo>
                  <a:pt x="278" y="36"/>
                </a:lnTo>
                <a:lnTo>
                  <a:pt x="262" y="37"/>
                </a:lnTo>
                <a:lnTo>
                  <a:pt x="246" y="39"/>
                </a:lnTo>
                <a:lnTo>
                  <a:pt x="229" y="41"/>
                </a:lnTo>
                <a:lnTo>
                  <a:pt x="213" y="42"/>
                </a:lnTo>
                <a:lnTo>
                  <a:pt x="196" y="44"/>
                </a:lnTo>
                <a:lnTo>
                  <a:pt x="180" y="46"/>
                </a:lnTo>
                <a:lnTo>
                  <a:pt x="164" y="47"/>
                </a:lnTo>
                <a:lnTo>
                  <a:pt x="147" y="49"/>
                </a:lnTo>
                <a:lnTo>
                  <a:pt x="131" y="50"/>
                </a:lnTo>
                <a:lnTo>
                  <a:pt x="114" y="52"/>
                </a:lnTo>
                <a:lnTo>
                  <a:pt x="98" y="53"/>
                </a:lnTo>
                <a:lnTo>
                  <a:pt x="82" y="54"/>
                </a:lnTo>
                <a:lnTo>
                  <a:pt x="65" y="55"/>
                </a:lnTo>
                <a:lnTo>
                  <a:pt x="49" y="56"/>
                </a:lnTo>
                <a:lnTo>
                  <a:pt x="33" y="57"/>
                </a:lnTo>
                <a:lnTo>
                  <a:pt x="16" y="57"/>
                </a:lnTo>
                <a:lnTo>
                  <a:pt x="0" y="57"/>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2647950"/>
            <a:ext cx="3743325" cy="2152650"/>
          </a:xfrm>
          <a:custGeom>
            <a:avLst/>
            <a:gdLst/>
            <a:ahLst/>
            <a:cxnLst/>
            <a:rect l="l" t="t" r="r" b="b"/>
            <a:pathLst>
              <a:path w="393" h="226">
                <a:moveTo>
                  <a:pt x="0" y="0"/>
                </a:moveTo>
                <a:lnTo>
                  <a:pt x="16" y="2"/>
                </a:lnTo>
                <a:lnTo>
                  <a:pt x="33" y="5"/>
                </a:lnTo>
                <a:lnTo>
                  <a:pt x="49" y="10"/>
                </a:lnTo>
                <a:lnTo>
                  <a:pt x="65" y="16"/>
                </a:lnTo>
                <a:lnTo>
                  <a:pt x="82" y="25"/>
                </a:lnTo>
                <a:lnTo>
                  <a:pt x="98" y="34"/>
                </a:lnTo>
                <a:lnTo>
                  <a:pt x="114" y="45"/>
                </a:lnTo>
                <a:lnTo>
                  <a:pt x="131" y="56"/>
                </a:lnTo>
                <a:lnTo>
                  <a:pt x="147" y="69"/>
                </a:lnTo>
                <a:lnTo>
                  <a:pt x="164" y="82"/>
                </a:lnTo>
                <a:lnTo>
                  <a:pt x="180" y="95"/>
                </a:lnTo>
                <a:lnTo>
                  <a:pt x="196" y="108"/>
                </a:lnTo>
                <a:lnTo>
                  <a:pt x="213" y="122"/>
                </a:lnTo>
                <a:lnTo>
                  <a:pt x="229" y="135"/>
                </a:lnTo>
                <a:lnTo>
                  <a:pt x="246" y="148"/>
                </a:lnTo>
                <a:lnTo>
                  <a:pt x="262" y="160"/>
                </a:lnTo>
                <a:lnTo>
                  <a:pt x="278" y="172"/>
                </a:lnTo>
                <a:lnTo>
                  <a:pt x="295" y="183"/>
                </a:lnTo>
                <a:lnTo>
                  <a:pt x="311" y="192"/>
                </a:lnTo>
                <a:lnTo>
                  <a:pt x="327" y="200"/>
                </a:lnTo>
                <a:lnTo>
                  <a:pt x="344" y="207"/>
                </a:lnTo>
                <a:lnTo>
                  <a:pt x="360" y="212"/>
                </a:lnTo>
                <a:lnTo>
                  <a:pt x="377" y="215"/>
                </a:lnTo>
                <a:lnTo>
                  <a:pt x="393" y="216"/>
                </a:lnTo>
                <a:lnTo>
                  <a:pt x="393" y="226"/>
                </a:lnTo>
                <a:lnTo>
                  <a:pt x="377" y="225"/>
                </a:lnTo>
                <a:lnTo>
                  <a:pt x="360" y="222"/>
                </a:lnTo>
                <a:lnTo>
                  <a:pt x="344" y="217"/>
                </a:lnTo>
                <a:lnTo>
                  <a:pt x="327" y="210"/>
                </a:lnTo>
                <a:lnTo>
                  <a:pt x="311" y="202"/>
                </a:lnTo>
                <a:lnTo>
                  <a:pt x="295" y="193"/>
                </a:lnTo>
                <a:lnTo>
                  <a:pt x="278" y="182"/>
                </a:lnTo>
                <a:lnTo>
                  <a:pt x="262" y="170"/>
                </a:lnTo>
                <a:lnTo>
                  <a:pt x="246" y="158"/>
                </a:lnTo>
                <a:lnTo>
                  <a:pt x="229" y="145"/>
                </a:lnTo>
                <a:lnTo>
                  <a:pt x="213" y="132"/>
                </a:lnTo>
                <a:lnTo>
                  <a:pt x="196" y="118"/>
                </a:lnTo>
                <a:lnTo>
                  <a:pt x="180" y="105"/>
                </a:lnTo>
                <a:lnTo>
                  <a:pt x="164" y="92"/>
                </a:lnTo>
                <a:lnTo>
                  <a:pt x="147" y="79"/>
                </a:lnTo>
                <a:lnTo>
                  <a:pt x="131" y="66"/>
                </a:lnTo>
                <a:lnTo>
                  <a:pt x="114" y="55"/>
                </a:lnTo>
                <a:lnTo>
                  <a:pt x="98" y="44"/>
                </a:lnTo>
                <a:lnTo>
                  <a:pt x="82" y="35"/>
                </a:lnTo>
                <a:lnTo>
                  <a:pt x="65" y="26"/>
                </a:lnTo>
                <a:lnTo>
                  <a:pt x="49" y="20"/>
                </a:lnTo>
                <a:lnTo>
                  <a:pt x="33" y="15"/>
                </a:lnTo>
                <a:lnTo>
                  <a:pt x="16" y="12"/>
                </a:lnTo>
                <a:lnTo>
                  <a:pt x="0" y="1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2743200"/>
            <a:ext cx="3743325" cy="3067050"/>
          </a:xfrm>
          <a:custGeom>
            <a:avLst/>
            <a:gdLst/>
            <a:ahLst/>
            <a:cxnLst/>
            <a:rect l="l" t="t" r="r" b="b"/>
            <a:pathLst>
              <a:path w="393" h="322">
                <a:moveTo>
                  <a:pt x="0" y="0"/>
                </a:moveTo>
                <a:lnTo>
                  <a:pt x="16" y="2"/>
                </a:lnTo>
                <a:lnTo>
                  <a:pt x="33" y="7"/>
                </a:lnTo>
                <a:lnTo>
                  <a:pt x="49" y="14"/>
                </a:lnTo>
                <a:lnTo>
                  <a:pt x="65" y="24"/>
                </a:lnTo>
                <a:lnTo>
                  <a:pt x="82" y="36"/>
                </a:lnTo>
                <a:lnTo>
                  <a:pt x="98" y="49"/>
                </a:lnTo>
                <a:lnTo>
                  <a:pt x="114" y="65"/>
                </a:lnTo>
                <a:lnTo>
                  <a:pt x="131" y="82"/>
                </a:lnTo>
                <a:lnTo>
                  <a:pt x="147" y="99"/>
                </a:lnTo>
                <a:lnTo>
                  <a:pt x="164" y="118"/>
                </a:lnTo>
                <a:lnTo>
                  <a:pt x="180" y="137"/>
                </a:lnTo>
                <a:lnTo>
                  <a:pt x="196" y="157"/>
                </a:lnTo>
                <a:lnTo>
                  <a:pt x="213" y="176"/>
                </a:lnTo>
                <a:lnTo>
                  <a:pt x="229" y="195"/>
                </a:lnTo>
                <a:lnTo>
                  <a:pt x="246" y="214"/>
                </a:lnTo>
                <a:lnTo>
                  <a:pt x="262" y="232"/>
                </a:lnTo>
                <a:lnTo>
                  <a:pt x="278" y="249"/>
                </a:lnTo>
                <a:lnTo>
                  <a:pt x="295" y="264"/>
                </a:lnTo>
                <a:lnTo>
                  <a:pt x="311" y="278"/>
                </a:lnTo>
                <a:lnTo>
                  <a:pt x="327" y="290"/>
                </a:lnTo>
                <a:lnTo>
                  <a:pt x="344" y="300"/>
                </a:lnTo>
                <a:lnTo>
                  <a:pt x="360" y="307"/>
                </a:lnTo>
                <a:lnTo>
                  <a:pt x="377" y="311"/>
                </a:lnTo>
                <a:lnTo>
                  <a:pt x="393" y="313"/>
                </a:lnTo>
                <a:lnTo>
                  <a:pt x="393" y="322"/>
                </a:lnTo>
                <a:lnTo>
                  <a:pt x="377" y="320"/>
                </a:lnTo>
                <a:lnTo>
                  <a:pt x="360" y="316"/>
                </a:lnTo>
                <a:lnTo>
                  <a:pt x="344" y="309"/>
                </a:lnTo>
                <a:lnTo>
                  <a:pt x="327" y="299"/>
                </a:lnTo>
                <a:lnTo>
                  <a:pt x="311" y="287"/>
                </a:lnTo>
                <a:lnTo>
                  <a:pt x="295" y="273"/>
                </a:lnTo>
                <a:lnTo>
                  <a:pt x="278" y="258"/>
                </a:lnTo>
                <a:lnTo>
                  <a:pt x="262" y="241"/>
                </a:lnTo>
                <a:lnTo>
                  <a:pt x="246" y="223"/>
                </a:lnTo>
                <a:lnTo>
                  <a:pt x="229" y="204"/>
                </a:lnTo>
                <a:lnTo>
                  <a:pt x="213" y="185"/>
                </a:lnTo>
                <a:lnTo>
                  <a:pt x="196" y="166"/>
                </a:lnTo>
                <a:lnTo>
                  <a:pt x="180" y="146"/>
                </a:lnTo>
                <a:lnTo>
                  <a:pt x="164" y="127"/>
                </a:lnTo>
                <a:lnTo>
                  <a:pt x="147" y="108"/>
                </a:lnTo>
                <a:lnTo>
                  <a:pt x="131" y="91"/>
                </a:lnTo>
                <a:lnTo>
                  <a:pt x="114" y="74"/>
                </a:lnTo>
                <a:lnTo>
                  <a:pt x="98" y="58"/>
                </a:lnTo>
                <a:lnTo>
                  <a:pt x="82" y="45"/>
                </a:lnTo>
                <a:lnTo>
                  <a:pt x="65" y="33"/>
                </a:lnTo>
                <a:lnTo>
                  <a:pt x="49" y="23"/>
                </a:lnTo>
                <a:lnTo>
                  <a:pt x="33" y="16"/>
                </a:lnTo>
                <a:lnTo>
                  <a:pt x="16" y="11"/>
                </a:lnTo>
                <a:lnTo>
                  <a:pt x="0" y="1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390775"/>
            <a:ext cx="3743325" cy="809625"/>
          </a:xfrm>
          <a:custGeom>
            <a:avLst/>
            <a:gdLst/>
            <a:ahLst/>
            <a:cxnLst/>
            <a:rect l="l" t="t" r="r" b="b"/>
            <a:pathLst>
              <a:path w="393" h="85">
                <a:moveTo>
                  <a:pt x="0" y="53"/>
                </a:moveTo>
                <a:lnTo>
                  <a:pt x="16" y="52"/>
                </a:lnTo>
                <a:lnTo>
                  <a:pt x="33" y="51"/>
                </a:lnTo>
                <a:lnTo>
                  <a:pt x="49" y="50"/>
                </a:lnTo>
                <a:lnTo>
                  <a:pt x="65" y="49"/>
                </a:lnTo>
                <a:lnTo>
                  <a:pt x="82" y="47"/>
                </a:lnTo>
                <a:lnTo>
                  <a:pt x="98" y="44"/>
                </a:lnTo>
                <a:lnTo>
                  <a:pt x="114" y="42"/>
                </a:lnTo>
                <a:lnTo>
                  <a:pt x="131" y="39"/>
                </a:lnTo>
                <a:lnTo>
                  <a:pt x="147" y="36"/>
                </a:lnTo>
                <a:lnTo>
                  <a:pt x="164" y="33"/>
                </a:lnTo>
                <a:lnTo>
                  <a:pt x="180" y="30"/>
                </a:lnTo>
                <a:lnTo>
                  <a:pt x="196" y="26"/>
                </a:lnTo>
                <a:lnTo>
                  <a:pt x="213" y="23"/>
                </a:lnTo>
                <a:lnTo>
                  <a:pt x="229" y="20"/>
                </a:lnTo>
                <a:lnTo>
                  <a:pt x="246" y="17"/>
                </a:lnTo>
                <a:lnTo>
                  <a:pt x="262" y="14"/>
                </a:lnTo>
                <a:lnTo>
                  <a:pt x="278" y="11"/>
                </a:lnTo>
                <a:lnTo>
                  <a:pt x="295" y="9"/>
                </a:lnTo>
                <a:lnTo>
                  <a:pt x="311" y="6"/>
                </a:lnTo>
                <a:lnTo>
                  <a:pt x="327" y="4"/>
                </a:lnTo>
                <a:lnTo>
                  <a:pt x="344" y="3"/>
                </a:lnTo>
                <a:lnTo>
                  <a:pt x="360" y="1"/>
                </a:lnTo>
                <a:lnTo>
                  <a:pt x="377" y="1"/>
                </a:lnTo>
                <a:lnTo>
                  <a:pt x="393" y="0"/>
                </a:lnTo>
                <a:lnTo>
                  <a:pt x="393" y="32"/>
                </a:lnTo>
                <a:lnTo>
                  <a:pt x="377" y="33"/>
                </a:lnTo>
                <a:lnTo>
                  <a:pt x="360" y="34"/>
                </a:lnTo>
                <a:lnTo>
                  <a:pt x="344" y="35"/>
                </a:lnTo>
                <a:lnTo>
                  <a:pt x="327" y="36"/>
                </a:lnTo>
                <a:lnTo>
                  <a:pt x="311" y="38"/>
                </a:lnTo>
                <a:lnTo>
                  <a:pt x="295" y="41"/>
                </a:lnTo>
                <a:lnTo>
                  <a:pt x="278" y="43"/>
                </a:lnTo>
                <a:lnTo>
                  <a:pt x="262" y="46"/>
                </a:lnTo>
                <a:lnTo>
                  <a:pt x="246" y="49"/>
                </a:lnTo>
                <a:lnTo>
                  <a:pt x="229" y="52"/>
                </a:lnTo>
                <a:lnTo>
                  <a:pt x="213" y="55"/>
                </a:lnTo>
                <a:lnTo>
                  <a:pt x="196" y="59"/>
                </a:lnTo>
                <a:lnTo>
                  <a:pt x="180" y="62"/>
                </a:lnTo>
                <a:lnTo>
                  <a:pt x="164" y="65"/>
                </a:lnTo>
                <a:lnTo>
                  <a:pt x="147" y="68"/>
                </a:lnTo>
                <a:lnTo>
                  <a:pt x="131" y="71"/>
                </a:lnTo>
                <a:lnTo>
                  <a:pt x="114" y="74"/>
                </a:lnTo>
                <a:lnTo>
                  <a:pt x="98" y="76"/>
                </a:lnTo>
                <a:lnTo>
                  <a:pt x="82" y="79"/>
                </a:lnTo>
                <a:lnTo>
                  <a:pt x="65" y="81"/>
                </a:lnTo>
                <a:lnTo>
                  <a:pt x="49" y="82"/>
                </a:lnTo>
                <a:lnTo>
                  <a:pt x="33" y="84"/>
                </a:lnTo>
                <a:lnTo>
                  <a:pt x="16" y="84"/>
                </a:lnTo>
                <a:lnTo>
                  <a:pt x="0" y="8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3200400"/>
            <a:ext cx="3743325" cy="1695450"/>
          </a:xfrm>
          <a:custGeom>
            <a:avLst/>
            <a:gdLst/>
            <a:ahLst/>
            <a:cxnLst/>
            <a:rect l="l" t="t" r="r" b="b"/>
            <a:pathLst>
              <a:path w="393" h="178">
                <a:moveTo>
                  <a:pt x="0" y="0"/>
                </a:moveTo>
                <a:lnTo>
                  <a:pt x="16" y="0"/>
                </a:lnTo>
                <a:lnTo>
                  <a:pt x="33" y="3"/>
                </a:lnTo>
                <a:lnTo>
                  <a:pt x="49" y="7"/>
                </a:lnTo>
                <a:lnTo>
                  <a:pt x="65" y="12"/>
                </a:lnTo>
                <a:lnTo>
                  <a:pt x="82" y="18"/>
                </a:lnTo>
                <a:lnTo>
                  <a:pt x="98" y="26"/>
                </a:lnTo>
                <a:lnTo>
                  <a:pt x="114" y="34"/>
                </a:lnTo>
                <a:lnTo>
                  <a:pt x="131" y="43"/>
                </a:lnTo>
                <a:lnTo>
                  <a:pt x="147" y="53"/>
                </a:lnTo>
                <a:lnTo>
                  <a:pt x="164" y="63"/>
                </a:lnTo>
                <a:lnTo>
                  <a:pt x="180" y="73"/>
                </a:lnTo>
                <a:lnTo>
                  <a:pt x="196" y="84"/>
                </a:lnTo>
                <a:lnTo>
                  <a:pt x="213" y="94"/>
                </a:lnTo>
                <a:lnTo>
                  <a:pt x="229" y="105"/>
                </a:lnTo>
                <a:lnTo>
                  <a:pt x="246" y="115"/>
                </a:lnTo>
                <a:lnTo>
                  <a:pt x="262" y="125"/>
                </a:lnTo>
                <a:lnTo>
                  <a:pt x="278" y="134"/>
                </a:lnTo>
                <a:lnTo>
                  <a:pt x="295" y="142"/>
                </a:lnTo>
                <a:lnTo>
                  <a:pt x="311" y="149"/>
                </a:lnTo>
                <a:lnTo>
                  <a:pt x="327" y="156"/>
                </a:lnTo>
                <a:lnTo>
                  <a:pt x="344" y="161"/>
                </a:lnTo>
                <a:lnTo>
                  <a:pt x="360" y="165"/>
                </a:lnTo>
                <a:lnTo>
                  <a:pt x="377" y="167"/>
                </a:lnTo>
                <a:lnTo>
                  <a:pt x="393" y="168"/>
                </a:lnTo>
                <a:lnTo>
                  <a:pt x="393" y="178"/>
                </a:lnTo>
                <a:lnTo>
                  <a:pt x="377" y="177"/>
                </a:lnTo>
                <a:lnTo>
                  <a:pt x="360" y="174"/>
                </a:lnTo>
                <a:lnTo>
                  <a:pt x="344" y="171"/>
                </a:lnTo>
                <a:lnTo>
                  <a:pt x="327" y="165"/>
                </a:lnTo>
                <a:lnTo>
                  <a:pt x="311" y="159"/>
                </a:lnTo>
                <a:lnTo>
                  <a:pt x="295" y="151"/>
                </a:lnTo>
                <a:lnTo>
                  <a:pt x="278" y="143"/>
                </a:lnTo>
                <a:lnTo>
                  <a:pt x="262" y="134"/>
                </a:lnTo>
                <a:lnTo>
                  <a:pt x="246" y="124"/>
                </a:lnTo>
                <a:lnTo>
                  <a:pt x="229" y="114"/>
                </a:lnTo>
                <a:lnTo>
                  <a:pt x="213" y="104"/>
                </a:lnTo>
                <a:lnTo>
                  <a:pt x="196" y="93"/>
                </a:lnTo>
                <a:lnTo>
                  <a:pt x="180" y="83"/>
                </a:lnTo>
                <a:lnTo>
                  <a:pt x="164" y="73"/>
                </a:lnTo>
                <a:lnTo>
                  <a:pt x="147" y="62"/>
                </a:lnTo>
                <a:lnTo>
                  <a:pt x="131" y="53"/>
                </a:lnTo>
                <a:lnTo>
                  <a:pt x="114" y="44"/>
                </a:lnTo>
                <a:lnTo>
                  <a:pt x="98" y="35"/>
                </a:lnTo>
                <a:lnTo>
                  <a:pt x="82" y="28"/>
                </a:lnTo>
                <a:lnTo>
                  <a:pt x="65" y="22"/>
                </a:lnTo>
                <a:lnTo>
                  <a:pt x="49" y="16"/>
                </a:lnTo>
                <a:lnTo>
                  <a:pt x="33" y="12"/>
                </a:lnTo>
                <a:lnTo>
                  <a:pt x="16" y="10"/>
                </a:lnTo>
                <a:lnTo>
                  <a:pt x="0" y="9"/>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3286125"/>
            <a:ext cx="3743325" cy="2600325"/>
          </a:xfrm>
          <a:custGeom>
            <a:avLst/>
            <a:gdLst/>
            <a:ahLst/>
            <a:cxnLst/>
            <a:rect l="l" t="t" r="r" b="b"/>
            <a:pathLst>
              <a:path w="393" h="273">
                <a:moveTo>
                  <a:pt x="0" y="0"/>
                </a:moveTo>
                <a:lnTo>
                  <a:pt x="16" y="1"/>
                </a:lnTo>
                <a:lnTo>
                  <a:pt x="33" y="5"/>
                </a:lnTo>
                <a:lnTo>
                  <a:pt x="49" y="11"/>
                </a:lnTo>
                <a:lnTo>
                  <a:pt x="65" y="20"/>
                </a:lnTo>
                <a:lnTo>
                  <a:pt x="82" y="30"/>
                </a:lnTo>
                <a:lnTo>
                  <a:pt x="98" y="41"/>
                </a:lnTo>
                <a:lnTo>
                  <a:pt x="114" y="55"/>
                </a:lnTo>
                <a:lnTo>
                  <a:pt x="131" y="69"/>
                </a:lnTo>
                <a:lnTo>
                  <a:pt x="147" y="84"/>
                </a:lnTo>
                <a:lnTo>
                  <a:pt x="164" y="100"/>
                </a:lnTo>
                <a:lnTo>
                  <a:pt x="180" y="116"/>
                </a:lnTo>
                <a:lnTo>
                  <a:pt x="196" y="133"/>
                </a:lnTo>
                <a:lnTo>
                  <a:pt x="213" y="149"/>
                </a:lnTo>
                <a:lnTo>
                  <a:pt x="229" y="165"/>
                </a:lnTo>
                <a:lnTo>
                  <a:pt x="246" y="181"/>
                </a:lnTo>
                <a:lnTo>
                  <a:pt x="262" y="196"/>
                </a:lnTo>
                <a:lnTo>
                  <a:pt x="278" y="211"/>
                </a:lnTo>
                <a:lnTo>
                  <a:pt x="295" y="224"/>
                </a:lnTo>
                <a:lnTo>
                  <a:pt x="311" y="235"/>
                </a:lnTo>
                <a:lnTo>
                  <a:pt x="327" y="245"/>
                </a:lnTo>
                <a:lnTo>
                  <a:pt x="344" y="254"/>
                </a:lnTo>
                <a:lnTo>
                  <a:pt x="360" y="260"/>
                </a:lnTo>
                <a:lnTo>
                  <a:pt x="377" y="264"/>
                </a:lnTo>
                <a:lnTo>
                  <a:pt x="393" y="265"/>
                </a:lnTo>
                <a:lnTo>
                  <a:pt x="393" y="273"/>
                </a:lnTo>
                <a:lnTo>
                  <a:pt x="377" y="272"/>
                </a:lnTo>
                <a:lnTo>
                  <a:pt x="360" y="268"/>
                </a:lnTo>
                <a:lnTo>
                  <a:pt x="344" y="262"/>
                </a:lnTo>
                <a:lnTo>
                  <a:pt x="327" y="253"/>
                </a:lnTo>
                <a:lnTo>
                  <a:pt x="311" y="243"/>
                </a:lnTo>
                <a:lnTo>
                  <a:pt x="295" y="232"/>
                </a:lnTo>
                <a:lnTo>
                  <a:pt x="278" y="218"/>
                </a:lnTo>
                <a:lnTo>
                  <a:pt x="262" y="204"/>
                </a:lnTo>
                <a:lnTo>
                  <a:pt x="246" y="189"/>
                </a:lnTo>
                <a:lnTo>
                  <a:pt x="229" y="173"/>
                </a:lnTo>
                <a:lnTo>
                  <a:pt x="213" y="157"/>
                </a:lnTo>
                <a:lnTo>
                  <a:pt x="196" y="140"/>
                </a:lnTo>
                <a:lnTo>
                  <a:pt x="180" y="124"/>
                </a:lnTo>
                <a:lnTo>
                  <a:pt x="164" y="108"/>
                </a:lnTo>
                <a:lnTo>
                  <a:pt x="147" y="92"/>
                </a:lnTo>
                <a:lnTo>
                  <a:pt x="131" y="77"/>
                </a:lnTo>
                <a:lnTo>
                  <a:pt x="114" y="62"/>
                </a:lnTo>
                <a:lnTo>
                  <a:pt x="98" y="49"/>
                </a:lnTo>
                <a:lnTo>
                  <a:pt x="82" y="38"/>
                </a:lnTo>
                <a:lnTo>
                  <a:pt x="65" y="28"/>
                </a:lnTo>
                <a:lnTo>
                  <a:pt x="49" y="19"/>
                </a:lnTo>
                <a:lnTo>
                  <a:pt x="33" y="13"/>
                </a:lnTo>
                <a:lnTo>
                  <a:pt x="16" y="9"/>
                </a:lnTo>
                <a:lnTo>
                  <a:pt x="0" y="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2695575"/>
            <a:ext cx="3743325" cy="1019175"/>
          </a:xfrm>
          <a:custGeom>
            <a:avLst/>
            <a:gdLst/>
            <a:ahLst/>
            <a:cxnLst/>
            <a:rect l="l" t="t" r="r" b="b"/>
            <a:pathLst>
              <a:path w="393" h="107">
                <a:moveTo>
                  <a:pt x="0" y="76"/>
                </a:moveTo>
                <a:lnTo>
                  <a:pt x="16" y="76"/>
                </a:lnTo>
                <a:lnTo>
                  <a:pt x="33" y="75"/>
                </a:lnTo>
                <a:lnTo>
                  <a:pt x="49" y="73"/>
                </a:lnTo>
                <a:lnTo>
                  <a:pt x="65" y="70"/>
                </a:lnTo>
                <a:lnTo>
                  <a:pt x="82" y="68"/>
                </a:lnTo>
                <a:lnTo>
                  <a:pt x="98" y="64"/>
                </a:lnTo>
                <a:lnTo>
                  <a:pt x="114" y="60"/>
                </a:lnTo>
                <a:lnTo>
                  <a:pt x="131" y="56"/>
                </a:lnTo>
                <a:lnTo>
                  <a:pt x="147" y="52"/>
                </a:lnTo>
                <a:lnTo>
                  <a:pt x="164" y="48"/>
                </a:lnTo>
                <a:lnTo>
                  <a:pt x="180" y="43"/>
                </a:lnTo>
                <a:lnTo>
                  <a:pt x="196" y="38"/>
                </a:lnTo>
                <a:lnTo>
                  <a:pt x="213" y="34"/>
                </a:lnTo>
                <a:lnTo>
                  <a:pt x="229" y="29"/>
                </a:lnTo>
                <a:lnTo>
                  <a:pt x="246" y="24"/>
                </a:lnTo>
                <a:lnTo>
                  <a:pt x="262" y="20"/>
                </a:lnTo>
                <a:lnTo>
                  <a:pt x="278" y="16"/>
                </a:lnTo>
                <a:lnTo>
                  <a:pt x="295" y="12"/>
                </a:lnTo>
                <a:lnTo>
                  <a:pt x="311" y="9"/>
                </a:lnTo>
                <a:lnTo>
                  <a:pt x="327" y="6"/>
                </a:lnTo>
                <a:lnTo>
                  <a:pt x="344" y="4"/>
                </a:lnTo>
                <a:lnTo>
                  <a:pt x="360" y="2"/>
                </a:lnTo>
                <a:lnTo>
                  <a:pt x="377" y="1"/>
                </a:lnTo>
                <a:lnTo>
                  <a:pt x="393" y="0"/>
                </a:lnTo>
                <a:lnTo>
                  <a:pt x="393" y="32"/>
                </a:lnTo>
                <a:lnTo>
                  <a:pt x="377" y="32"/>
                </a:lnTo>
                <a:lnTo>
                  <a:pt x="360" y="33"/>
                </a:lnTo>
                <a:lnTo>
                  <a:pt x="344" y="35"/>
                </a:lnTo>
                <a:lnTo>
                  <a:pt x="327" y="37"/>
                </a:lnTo>
                <a:lnTo>
                  <a:pt x="311" y="40"/>
                </a:lnTo>
                <a:lnTo>
                  <a:pt x="295" y="43"/>
                </a:lnTo>
                <a:lnTo>
                  <a:pt x="278" y="47"/>
                </a:lnTo>
                <a:lnTo>
                  <a:pt x="262" y="51"/>
                </a:lnTo>
                <a:lnTo>
                  <a:pt x="246" y="55"/>
                </a:lnTo>
                <a:lnTo>
                  <a:pt x="229" y="60"/>
                </a:lnTo>
                <a:lnTo>
                  <a:pt x="213" y="65"/>
                </a:lnTo>
                <a:lnTo>
                  <a:pt x="196" y="69"/>
                </a:lnTo>
                <a:lnTo>
                  <a:pt x="180" y="74"/>
                </a:lnTo>
                <a:lnTo>
                  <a:pt x="164" y="79"/>
                </a:lnTo>
                <a:lnTo>
                  <a:pt x="147" y="83"/>
                </a:lnTo>
                <a:lnTo>
                  <a:pt x="131" y="87"/>
                </a:lnTo>
                <a:lnTo>
                  <a:pt x="114" y="92"/>
                </a:lnTo>
                <a:lnTo>
                  <a:pt x="98" y="95"/>
                </a:lnTo>
                <a:lnTo>
                  <a:pt x="82" y="99"/>
                </a:lnTo>
                <a:lnTo>
                  <a:pt x="65" y="101"/>
                </a:lnTo>
                <a:lnTo>
                  <a:pt x="49" y="104"/>
                </a:lnTo>
                <a:lnTo>
                  <a:pt x="33" y="106"/>
                </a:lnTo>
                <a:lnTo>
                  <a:pt x="16" y="107"/>
                </a:lnTo>
                <a:lnTo>
                  <a:pt x="0" y="107"/>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3714750"/>
            <a:ext cx="3743325" cy="1285875"/>
          </a:xfrm>
          <a:custGeom>
            <a:avLst/>
            <a:gdLst/>
            <a:ahLst/>
            <a:cxnLst/>
            <a:rect l="l" t="t" r="r" b="b"/>
            <a:pathLst>
              <a:path w="393" h="135">
                <a:moveTo>
                  <a:pt x="0" y="0"/>
                </a:moveTo>
                <a:lnTo>
                  <a:pt x="16" y="1"/>
                </a:lnTo>
                <a:lnTo>
                  <a:pt x="33" y="2"/>
                </a:lnTo>
                <a:lnTo>
                  <a:pt x="49" y="5"/>
                </a:lnTo>
                <a:lnTo>
                  <a:pt x="65" y="9"/>
                </a:lnTo>
                <a:lnTo>
                  <a:pt x="82" y="14"/>
                </a:lnTo>
                <a:lnTo>
                  <a:pt x="98" y="19"/>
                </a:lnTo>
                <a:lnTo>
                  <a:pt x="114" y="25"/>
                </a:lnTo>
                <a:lnTo>
                  <a:pt x="131" y="32"/>
                </a:lnTo>
                <a:lnTo>
                  <a:pt x="147" y="39"/>
                </a:lnTo>
                <a:lnTo>
                  <a:pt x="164" y="47"/>
                </a:lnTo>
                <a:lnTo>
                  <a:pt x="180" y="54"/>
                </a:lnTo>
                <a:lnTo>
                  <a:pt x="196" y="62"/>
                </a:lnTo>
                <a:lnTo>
                  <a:pt x="213" y="70"/>
                </a:lnTo>
                <a:lnTo>
                  <a:pt x="229" y="77"/>
                </a:lnTo>
                <a:lnTo>
                  <a:pt x="246" y="85"/>
                </a:lnTo>
                <a:lnTo>
                  <a:pt x="262" y="92"/>
                </a:lnTo>
                <a:lnTo>
                  <a:pt x="278" y="98"/>
                </a:lnTo>
                <a:lnTo>
                  <a:pt x="295" y="104"/>
                </a:lnTo>
                <a:lnTo>
                  <a:pt x="311" y="110"/>
                </a:lnTo>
                <a:lnTo>
                  <a:pt x="327" y="115"/>
                </a:lnTo>
                <a:lnTo>
                  <a:pt x="344" y="118"/>
                </a:lnTo>
                <a:lnTo>
                  <a:pt x="360" y="121"/>
                </a:lnTo>
                <a:lnTo>
                  <a:pt x="377" y="123"/>
                </a:lnTo>
                <a:lnTo>
                  <a:pt x="393" y="124"/>
                </a:lnTo>
                <a:lnTo>
                  <a:pt x="393" y="135"/>
                </a:lnTo>
                <a:lnTo>
                  <a:pt x="377" y="134"/>
                </a:lnTo>
                <a:lnTo>
                  <a:pt x="360" y="132"/>
                </a:lnTo>
                <a:lnTo>
                  <a:pt x="344" y="129"/>
                </a:lnTo>
                <a:lnTo>
                  <a:pt x="327" y="126"/>
                </a:lnTo>
                <a:lnTo>
                  <a:pt x="311" y="121"/>
                </a:lnTo>
                <a:lnTo>
                  <a:pt x="295" y="115"/>
                </a:lnTo>
                <a:lnTo>
                  <a:pt x="278" y="109"/>
                </a:lnTo>
                <a:lnTo>
                  <a:pt x="262" y="103"/>
                </a:lnTo>
                <a:lnTo>
                  <a:pt x="246" y="96"/>
                </a:lnTo>
                <a:lnTo>
                  <a:pt x="229" y="88"/>
                </a:lnTo>
                <a:lnTo>
                  <a:pt x="213" y="81"/>
                </a:lnTo>
                <a:lnTo>
                  <a:pt x="196" y="73"/>
                </a:lnTo>
                <a:lnTo>
                  <a:pt x="180" y="65"/>
                </a:lnTo>
                <a:lnTo>
                  <a:pt x="164" y="58"/>
                </a:lnTo>
                <a:lnTo>
                  <a:pt x="147" y="50"/>
                </a:lnTo>
                <a:lnTo>
                  <a:pt x="131" y="43"/>
                </a:lnTo>
                <a:lnTo>
                  <a:pt x="114" y="36"/>
                </a:lnTo>
                <a:lnTo>
                  <a:pt x="98" y="30"/>
                </a:lnTo>
                <a:lnTo>
                  <a:pt x="82" y="25"/>
                </a:lnTo>
                <a:lnTo>
                  <a:pt x="65" y="20"/>
                </a:lnTo>
                <a:lnTo>
                  <a:pt x="49" y="16"/>
                </a:lnTo>
                <a:lnTo>
                  <a:pt x="33" y="13"/>
                </a:lnTo>
                <a:lnTo>
                  <a:pt x="16" y="12"/>
                </a:lnTo>
                <a:lnTo>
                  <a:pt x="0" y="11"/>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3819525"/>
            <a:ext cx="3743325" cy="2133600"/>
          </a:xfrm>
          <a:custGeom>
            <a:avLst/>
            <a:gdLst/>
            <a:ahLst/>
            <a:cxnLst/>
            <a:rect l="l" t="t" r="r" b="b"/>
            <a:pathLst>
              <a:path w="393" h="224">
                <a:moveTo>
                  <a:pt x="0" y="0"/>
                </a:moveTo>
                <a:lnTo>
                  <a:pt x="16" y="1"/>
                </a:lnTo>
                <a:lnTo>
                  <a:pt x="33" y="4"/>
                </a:lnTo>
                <a:lnTo>
                  <a:pt x="49" y="9"/>
                </a:lnTo>
                <a:lnTo>
                  <a:pt x="65" y="16"/>
                </a:lnTo>
                <a:lnTo>
                  <a:pt x="82" y="24"/>
                </a:lnTo>
                <a:lnTo>
                  <a:pt x="98" y="34"/>
                </a:lnTo>
                <a:lnTo>
                  <a:pt x="114" y="45"/>
                </a:lnTo>
                <a:lnTo>
                  <a:pt x="131" y="56"/>
                </a:lnTo>
                <a:lnTo>
                  <a:pt x="147" y="69"/>
                </a:lnTo>
                <a:lnTo>
                  <a:pt x="164" y="82"/>
                </a:lnTo>
                <a:lnTo>
                  <a:pt x="180" y="95"/>
                </a:lnTo>
                <a:lnTo>
                  <a:pt x="196" y="108"/>
                </a:lnTo>
                <a:lnTo>
                  <a:pt x="213" y="122"/>
                </a:lnTo>
                <a:lnTo>
                  <a:pt x="229" y="135"/>
                </a:lnTo>
                <a:lnTo>
                  <a:pt x="246" y="148"/>
                </a:lnTo>
                <a:lnTo>
                  <a:pt x="262" y="161"/>
                </a:lnTo>
                <a:lnTo>
                  <a:pt x="278" y="172"/>
                </a:lnTo>
                <a:lnTo>
                  <a:pt x="295" y="183"/>
                </a:lnTo>
                <a:lnTo>
                  <a:pt x="311" y="193"/>
                </a:lnTo>
                <a:lnTo>
                  <a:pt x="327" y="201"/>
                </a:lnTo>
                <a:lnTo>
                  <a:pt x="344" y="208"/>
                </a:lnTo>
                <a:lnTo>
                  <a:pt x="360" y="213"/>
                </a:lnTo>
                <a:lnTo>
                  <a:pt x="377" y="216"/>
                </a:lnTo>
                <a:lnTo>
                  <a:pt x="393" y="217"/>
                </a:lnTo>
                <a:lnTo>
                  <a:pt x="393" y="224"/>
                </a:lnTo>
                <a:lnTo>
                  <a:pt x="377" y="223"/>
                </a:lnTo>
                <a:lnTo>
                  <a:pt x="360" y="220"/>
                </a:lnTo>
                <a:lnTo>
                  <a:pt x="344" y="215"/>
                </a:lnTo>
                <a:lnTo>
                  <a:pt x="327" y="208"/>
                </a:lnTo>
                <a:lnTo>
                  <a:pt x="311" y="200"/>
                </a:lnTo>
                <a:lnTo>
                  <a:pt x="295" y="191"/>
                </a:lnTo>
                <a:lnTo>
                  <a:pt x="278" y="180"/>
                </a:lnTo>
                <a:lnTo>
                  <a:pt x="262" y="168"/>
                </a:lnTo>
                <a:lnTo>
                  <a:pt x="246" y="156"/>
                </a:lnTo>
                <a:lnTo>
                  <a:pt x="229" y="143"/>
                </a:lnTo>
                <a:lnTo>
                  <a:pt x="213" y="129"/>
                </a:lnTo>
                <a:lnTo>
                  <a:pt x="196" y="116"/>
                </a:lnTo>
                <a:lnTo>
                  <a:pt x="180" y="102"/>
                </a:lnTo>
                <a:lnTo>
                  <a:pt x="164" y="89"/>
                </a:lnTo>
                <a:lnTo>
                  <a:pt x="147" y="76"/>
                </a:lnTo>
                <a:lnTo>
                  <a:pt x="131" y="64"/>
                </a:lnTo>
                <a:lnTo>
                  <a:pt x="114" y="52"/>
                </a:lnTo>
                <a:lnTo>
                  <a:pt x="98" y="41"/>
                </a:lnTo>
                <a:lnTo>
                  <a:pt x="82" y="32"/>
                </a:lnTo>
                <a:lnTo>
                  <a:pt x="65" y="24"/>
                </a:lnTo>
                <a:lnTo>
                  <a:pt x="49" y="17"/>
                </a:lnTo>
                <a:lnTo>
                  <a:pt x="33" y="12"/>
                </a:lnTo>
                <a:lnTo>
                  <a:pt x="16" y="9"/>
                </a:lnTo>
                <a:lnTo>
                  <a:pt x="0" y="8"/>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3000375"/>
            <a:ext cx="3743325" cy="1228725"/>
          </a:xfrm>
          <a:custGeom>
            <a:avLst/>
            <a:gdLst/>
            <a:ahLst/>
            <a:cxnLst/>
            <a:rect l="l" t="t" r="r" b="b"/>
            <a:pathLst>
              <a:path w="393" h="129">
                <a:moveTo>
                  <a:pt x="0" y="100"/>
                </a:moveTo>
                <a:lnTo>
                  <a:pt x="16" y="99"/>
                </a:lnTo>
                <a:lnTo>
                  <a:pt x="33" y="98"/>
                </a:lnTo>
                <a:lnTo>
                  <a:pt x="49" y="95"/>
                </a:lnTo>
                <a:lnTo>
                  <a:pt x="65" y="92"/>
                </a:lnTo>
                <a:lnTo>
                  <a:pt x="82" y="88"/>
                </a:lnTo>
                <a:lnTo>
                  <a:pt x="98" y="84"/>
                </a:lnTo>
                <a:lnTo>
                  <a:pt x="114" y="79"/>
                </a:lnTo>
                <a:lnTo>
                  <a:pt x="131" y="74"/>
                </a:lnTo>
                <a:lnTo>
                  <a:pt x="147" y="68"/>
                </a:lnTo>
                <a:lnTo>
                  <a:pt x="164" y="62"/>
                </a:lnTo>
                <a:lnTo>
                  <a:pt x="180" y="56"/>
                </a:lnTo>
                <a:lnTo>
                  <a:pt x="196" y="50"/>
                </a:lnTo>
                <a:lnTo>
                  <a:pt x="213" y="43"/>
                </a:lnTo>
                <a:lnTo>
                  <a:pt x="229" y="37"/>
                </a:lnTo>
                <a:lnTo>
                  <a:pt x="246" y="31"/>
                </a:lnTo>
                <a:lnTo>
                  <a:pt x="262" y="25"/>
                </a:lnTo>
                <a:lnTo>
                  <a:pt x="278" y="20"/>
                </a:lnTo>
                <a:lnTo>
                  <a:pt x="295" y="15"/>
                </a:lnTo>
                <a:lnTo>
                  <a:pt x="311" y="11"/>
                </a:lnTo>
                <a:lnTo>
                  <a:pt x="327" y="7"/>
                </a:lnTo>
                <a:lnTo>
                  <a:pt x="344" y="4"/>
                </a:lnTo>
                <a:lnTo>
                  <a:pt x="360" y="1"/>
                </a:lnTo>
                <a:lnTo>
                  <a:pt x="377" y="0"/>
                </a:lnTo>
                <a:lnTo>
                  <a:pt x="393" y="0"/>
                </a:lnTo>
                <a:lnTo>
                  <a:pt x="393" y="29"/>
                </a:lnTo>
                <a:lnTo>
                  <a:pt x="377" y="30"/>
                </a:lnTo>
                <a:lnTo>
                  <a:pt x="360" y="31"/>
                </a:lnTo>
                <a:lnTo>
                  <a:pt x="344" y="34"/>
                </a:lnTo>
                <a:lnTo>
                  <a:pt x="327" y="37"/>
                </a:lnTo>
                <a:lnTo>
                  <a:pt x="311" y="41"/>
                </a:lnTo>
                <a:lnTo>
                  <a:pt x="295" y="45"/>
                </a:lnTo>
                <a:lnTo>
                  <a:pt x="278" y="50"/>
                </a:lnTo>
                <a:lnTo>
                  <a:pt x="262" y="55"/>
                </a:lnTo>
                <a:lnTo>
                  <a:pt x="246" y="61"/>
                </a:lnTo>
                <a:lnTo>
                  <a:pt x="229" y="67"/>
                </a:lnTo>
                <a:lnTo>
                  <a:pt x="213" y="73"/>
                </a:lnTo>
                <a:lnTo>
                  <a:pt x="196" y="79"/>
                </a:lnTo>
                <a:lnTo>
                  <a:pt x="180" y="86"/>
                </a:lnTo>
                <a:lnTo>
                  <a:pt x="164" y="92"/>
                </a:lnTo>
                <a:lnTo>
                  <a:pt x="147" y="98"/>
                </a:lnTo>
                <a:lnTo>
                  <a:pt x="131" y="103"/>
                </a:lnTo>
                <a:lnTo>
                  <a:pt x="114" y="109"/>
                </a:lnTo>
                <a:lnTo>
                  <a:pt x="98" y="114"/>
                </a:lnTo>
                <a:lnTo>
                  <a:pt x="82" y="118"/>
                </a:lnTo>
                <a:lnTo>
                  <a:pt x="65" y="122"/>
                </a:lnTo>
                <a:lnTo>
                  <a:pt x="49" y="125"/>
                </a:lnTo>
                <a:lnTo>
                  <a:pt x="33" y="127"/>
                </a:lnTo>
                <a:lnTo>
                  <a:pt x="16" y="129"/>
                </a:lnTo>
                <a:lnTo>
                  <a:pt x="0" y="129"/>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229100"/>
            <a:ext cx="3743325" cy="876300"/>
          </a:xfrm>
          <a:custGeom>
            <a:avLst/>
            <a:gdLst/>
            <a:ahLst/>
            <a:cxnLst/>
            <a:rect l="l" t="t" r="r" b="b"/>
            <a:pathLst>
              <a:path w="393" h="92">
                <a:moveTo>
                  <a:pt x="0" y="0"/>
                </a:moveTo>
                <a:lnTo>
                  <a:pt x="16" y="1"/>
                </a:lnTo>
                <a:lnTo>
                  <a:pt x="33" y="2"/>
                </a:lnTo>
                <a:lnTo>
                  <a:pt x="49" y="4"/>
                </a:lnTo>
                <a:lnTo>
                  <a:pt x="65" y="6"/>
                </a:lnTo>
                <a:lnTo>
                  <a:pt x="82" y="9"/>
                </a:lnTo>
                <a:lnTo>
                  <a:pt x="98" y="13"/>
                </a:lnTo>
                <a:lnTo>
                  <a:pt x="114" y="17"/>
                </a:lnTo>
                <a:lnTo>
                  <a:pt x="131" y="21"/>
                </a:lnTo>
                <a:lnTo>
                  <a:pt x="147" y="26"/>
                </a:lnTo>
                <a:lnTo>
                  <a:pt x="164" y="31"/>
                </a:lnTo>
                <a:lnTo>
                  <a:pt x="180" y="36"/>
                </a:lnTo>
                <a:lnTo>
                  <a:pt x="196" y="41"/>
                </a:lnTo>
                <a:lnTo>
                  <a:pt x="213" y="46"/>
                </a:lnTo>
                <a:lnTo>
                  <a:pt x="229" y="51"/>
                </a:lnTo>
                <a:lnTo>
                  <a:pt x="246" y="55"/>
                </a:lnTo>
                <a:lnTo>
                  <a:pt x="262" y="60"/>
                </a:lnTo>
                <a:lnTo>
                  <a:pt x="278" y="64"/>
                </a:lnTo>
                <a:lnTo>
                  <a:pt x="295" y="68"/>
                </a:lnTo>
                <a:lnTo>
                  <a:pt x="311" y="72"/>
                </a:lnTo>
                <a:lnTo>
                  <a:pt x="327" y="75"/>
                </a:lnTo>
                <a:lnTo>
                  <a:pt x="344" y="77"/>
                </a:lnTo>
                <a:lnTo>
                  <a:pt x="360" y="79"/>
                </a:lnTo>
                <a:lnTo>
                  <a:pt x="377" y="80"/>
                </a:lnTo>
                <a:lnTo>
                  <a:pt x="393" y="81"/>
                </a:lnTo>
                <a:lnTo>
                  <a:pt x="393" y="92"/>
                </a:lnTo>
                <a:lnTo>
                  <a:pt x="377" y="92"/>
                </a:lnTo>
                <a:lnTo>
                  <a:pt x="360" y="90"/>
                </a:lnTo>
                <a:lnTo>
                  <a:pt x="344" y="89"/>
                </a:lnTo>
                <a:lnTo>
                  <a:pt x="327" y="86"/>
                </a:lnTo>
                <a:lnTo>
                  <a:pt x="311" y="83"/>
                </a:lnTo>
                <a:lnTo>
                  <a:pt x="295" y="79"/>
                </a:lnTo>
                <a:lnTo>
                  <a:pt x="278" y="76"/>
                </a:lnTo>
                <a:lnTo>
                  <a:pt x="262" y="71"/>
                </a:lnTo>
                <a:lnTo>
                  <a:pt x="246" y="67"/>
                </a:lnTo>
                <a:lnTo>
                  <a:pt x="229" y="62"/>
                </a:lnTo>
                <a:lnTo>
                  <a:pt x="213" y="57"/>
                </a:lnTo>
                <a:lnTo>
                  <a:pt x="196" y="52"/>
                </a:lnTo>
                <a:lnTo>
                  <a:pt x="180" y="47"/>
                </a:lnTo>
                <a:lnTo>
                  <a:pt x="164" y="42"/>
                </a:lnTo>
                <a:lnTo>
                  <a:pt x="147" y="37"/>
                </a:lnTo>
                <a:lnTo>
                  <a:pt x="131" y="32"/>
                </a:lnTo>
                <a:lnTo>
                  <a:pt x="114" y="28"/>
                </a:lnTo>
                <a:lnTo>
                  <a:pt x="98" y="24"/>
                </a:lnTo>
                <a:lnTo>
                  <a:pt x="82" y="21"/>
                </a:lnTo>
                <a:lnTo>
                  <a:pt x="65" y="18"/>
                </a:lnTo>
                <a:lnTo>
                  <a:pt x="49" y="15"/>
                </a:lnTo>
                <a:lnTo>
                  <a:pt x="33" y="13"/>
                </a:lnTo>
                <a:lnTo>
                  <a:pt x="16" y="12"/>
                </a:lnTo>
                <a:lnTo>
                  <a:pt x="0" y="12"/>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4343400"/>
            <a:ext cx="3743325" cy="1695450"/>
          </a:xfrm>
          <a:custGeom>
            <a:avLst/>
            <a:gdLst/>
            <a:ahLst/>
            <a:cxnLst/>
            <a:rect l="l" t="t" r="r" b="b"/>
            <a:pathLst>
              <a:path w="393" h="178">
                <a:moveTo>
                  <a:pt x="0" y="0"/>
                </a:moveTo>
                <a:lnTo>
                  <a:pt x="16" y="0"/>
                </a:lnTo>
                <a:lnTo>
                  <a:pt x="33" y="3"/>
                </a:lnTo>
                <a:lnTo>
                  <a:pt x="49" y="7"/>
                </a:lnTo>
                <a:lnTo>
                  <a:pt x="65" y="12"/>
                </a:lnTo>
                <a:lnTo>
                  <a:pt x="82" y="19"/>
                </a:lnTo>
                <a:lnTo>
                  <a:pt x="98" y="26"/>
                </a:lnTo>
                <a:lnTo>
                  <a:pt x="114" y="35"/>
                </a:lnTo>
                <a:lnTo>
                  <a:pt x="131" y="44"/>
                </a:lnTo>
                <a:lnTo>
                  <a:pt x="147" y="53"/>
                </a:lnTo>
                <a:lnTo>
                  <a:pt x="164" y="63"/>
                </a:lnTo>
                <a:lnTo>
                  <a:pt x="180" y="74"/>
                </a:lnTo>
                <a:lnTo>
                  <a:pt x="196" y="85"/>
                </a:lnTo>
                <a:lnTo>
                  <a:pt x="213" y="95"/>
                </a:lnTo>
                <a:lnTo>
                  <a:pt x="229" y="106"/>
                </a:lnTo>
                <a:lnTo>
                  <a:pt x="246" y="116"/>
                </a:lnTo>
                <a:lnTo>
                  <a:pt x="262" y="125"/>
                </a:lnTo>
                <a:lnTo>
                  <a:pt x="278" y="135"/>
                </a:lnTo>
                <a:lnTo>
                  <a:pt x="295" y="143"/>
                </a:lnTo>
                <a:lnTo>
                  <a:pt x="311" y="150"/>
                </a:lnTo>
                <a:lnTo>
                  <a:pt x="327" y="157"/>
                </a:lnTo>
                <a:lnTo>
                  <a:pt x="344" y="162"/>
                </a:lnTo>
                <a:lnTo>
                  <a:pt x="360" y="166"/>
                </a:lnTo>
                <a:lnTo>
                  <a:pt x="377" y="169"/>
                </a:lnTo>
                <a:lnTo>
                  <a:pt x="393" y="169"/>
                </a:lnTo>
                <a:lnTo>
                  <a:pt x="393" y="178"/>
                </a:lnTo>
                <a:lnTo>
                  <a:pt x="377" y="177"/>
                </a:lnTo>
                <a:lnTo>
                  <a:pt x="360" y="174"/>
                </a:lnTo>
                <a:lnTo>
                  <a:pt x="344" y="170"/>
                </a:lnTo>
                <a:lnTo>
                  <a:pt x="327" y="165"/>
                </a:lnTo>
                <a:lnTo>
                  <a:pt x="311" y="159"/>
                </a:lnTo>
                <a:lnTo>
                  <a:pt x="295" y="151"/>
                </a:lnTo>
                <a:lnTo>
                  <a:pt x="278" y="143"/>
                </a:lnTo>
                <a:lnTo>
                  <a:pt x="262" y="134"/>
                </a:lnTo>
                <a:lnTo>
                  <a:pt x="246" y="124"/>
                </a:lnTo>
                <a:lnTo>
                  <a:pt x="229" y="114"/>
                </a:lnTo>
                <a:lnTo>
                  <a:pt x="213" y="103"/>
                </a:lnTo>
                <a:lnTo>
                  <a:pt x="196" y="93"/>
                </a:lnTo>
                <a:lnTo>
                  <a:pt x="180" y="82"/>
                </a:lnTo>
                <a:lnTo>
                  <a:pt x="164" y="72"/>
                </a:lnTo>
                <a:lnTo>
                  <a:pt x="147" y="62"/>
                </a:lnTo>
                <a:lnTo>
                  <a:pt x="131" y="52"/>
                </a:lnTo>
                <a:lnTo>
                  <a:pt x="114" y="43"/>
                </a:lnTo>
                <a:lnTo>
                  <a:pt x="98" y="35"/>
                </a:lnTo>
                <a:lnTo>
                  <a:pt x="82" y="27"/>
                </a:lnTo>
                <a:lnTo>
                  <a:pt x="65" y="21"/>
                </a:lnTo>
                <a:lnTo>
                  <a:pt x="49" y="15"/>
                </a:lnTo>
                <a:lnTo>
                  <a:pt x="33" y="11"/>
                </a:lnTo>
                <a:lnTo>
                  <a:pt x="16" y="9"/>
                </a:lnTo>
                <a:lnTo>
                  <a:pt x="0" y="8"/>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3276600"/>
            <a:ext cx="3743325" cy="1495425"/>
          </a:xfrm>
          <a:custGeom>
            <a:avLst/>
            <a:gdLst/>
            <a:ahLst/>
            <a:cxnLst/>
            <a:rect l="l" t="t" r="r" b="b"/>
            <a:pathLst>
              <a:path w="393" h="157">
                <a:moveTo>
                  <a:pt x="0" y="126"/>
                </a:moveTo>
                <a:lnTo>
                  <a:pt x="16" y="125"/>
                </a:lnTo>
                <a:lnTo>
                  <a:pt x="33" y="124"/>
                </a:lnTo>
                <a:lnTo>
                  <a:pt x="49" y="121"/>
                </a:lnTo>
                <a:lnTo>
                  <a:pt x="65" y="117"/>
                </a:lnTo>
                <a:lnTo>
                  <a:pt x="82" y="112"/>
                </a:lnTo>
                <a:lnTo>
                  <a:pt x="98" y="106"/>
                </a:lnTo>
                <a:lnTo>
                  <a:pt x="114" y="100"/>
                </a:lnTo>
                <a:lnTo>
                  <a:pt x="131" y="93"/>
                </a:lnTo>
                <a:lnTo>
                  <a:pt x="147" y="86"/>
                </a:lnTo>
                <a:lnTo>
                  <a:pt x="164" y="79"/>
                </a:lnTo>
                <a:lnTo>
                  <a:pt x="180" y="71"/>
                </a:lnTo>
                <a:lnTo>
                  <a:pt x="196" y="63"/>
                </a:lnTo>
                <a:lnTo>
                  <a:pt x="213" y="55"/>
                </a:lnTo>
                <a:lnTo>
                  <a:pt x="229" y="48"/>
                </a:lnTo>
                <a:lnTo>
                  <a:pt x="246" y="40"/>
                </a:lnTo>
                <a:lnTo>
                  <a:pt x="262" y="33"/>
                </a:lnTo>
                <a:lnTo>
                  <a:pt x="278" y="26"/>
                </a:lnTo>
                <a:lnTo>
                  <a:pt x="295" y="20"/>
                </a:lnTo>
                <a:lnTo>
                  <a:pt x="311" y="14"/>
                </a:lnTo>
                <a:lnTo>
                  <a:pt x="327" y="10"/>
                </a:lnTo>
                <a:lnTo>
                  <a:pt x="344" y="6"/>
                </a:lnTo>
                <a:lnTo>
                  <a:pt x="360" y="3"/>
                </a:lnTo>
                <a:lnTo>
                  <a:pt x="377" y="1"/>
                </a:lnTo>
                <a:lnTo>
                  <a:pt x="393" y="0"/>
                </a:lnTo>
                <a:lnTo>
                  <a:pt x="393" y="31"/>
                </a:lnTo>
                <a:lnTo>
                  <a:pt x="377" y="32"/>
                </a:lnTo>
                <a:lnTo>
                  <a:pt x="360" y="34"/>
                </a:lnTo>
                <a:lnTo>
                  <a:pt x="344" y="36"/>
                </a:lnTo>
                <a:lnTo>
                  <a:pt x="327" y="40"/>
                </a:lnTo>
                <a:lnTo>
                  <a:pt x="311" y="45"/>
                </a:lnTo>
                <a:lnTo>
                  <a:pt x="295" y="51"/>
                </a:lnTo>
                <a:lnTo>
                  <a:pt x="278" y="57"/>
                </a:lnTo>
                <a:lnTo>
                  <a:pt x="262" y="64"/>
                </a:lnTo>
                <a:lnTo>
                  <a:pt x="246" y="71"/>
                </a:lnTo>
                <a:lnTo>
                  <a:pt x="229" y="78"/>
                </a:lnTo>
                <a:lnTo>
                  <a:pt x="213" y="86"/>
                </a:lnTo>
                <a:lnTo>
                  <a:pt x="196" y="94"/>
                </a:lnTo>
                <a:lnTo>
                  <a:pt x="180" y="102"/>
                </a:lnTo>
                <a:lnTo>
                  <a:pt x="164" y="109"/>
                </a:lnTo>
                <a:lnTo>
                  <a:pt x="147" y="117"/>
                </a:lnTo>
                <a:lnTo>
                  <a:pt x="131" y="124"/>
                </a:lnTo>
                <a:lnTo>
                  <a:pt x="114" y="131"/>
                </a:lnTo>
                <a:lnTo>
                  <a:pt x="98" y="137"/>
                </a:lnTo>
                <a:lnTo>
                  <a:pt x="82" y="143"/>
                </a:lnTo>
                <a:lnTo>
                  <a:pt x="65" y="147"/>
                </a:lnTo>
                <a:lnTo>
                  <a:pt x="49" y="151"/>
                </a:lnTo>
                <a:lnTo>
                  <a:pt x="33" y="154"/>
                </a:lnTo>
                <a:lnTo>
                  <a:pt x="16" y="156"/>
                </a:lnTo>
                <a:lnTo>
                  <a:pt x="0" y="157"/>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4772025"/>
            <a:ext cx="3743325" cy="438150"/>
          </a:xfrm>
          <a:custGeom>
            <a:avLst/>
            <a:gdLst/>
            <a:ahLst/>
            <a:cxnLst/>
            <a:rect l="l" t="t" r="r" b="b"/>
            <a:pathLst>
              <a:path w="393" h="46">
                <a:moveTo>
                  <a:pt x="0" y="0"/>
                </a:moveTo>
                <a:lnTo>
                  <a:pt x="16" y="0"/>
                </a:lnTo>
                <a:lnTo>
                  <a:pt x="33" y="0"/>
                </a:lnTo>
                <a:lnTo>
                  <a:pt x="49" y="1"/>
                </a:lnTo>
                <a:lnTo>
                  <a:pt x="65" y="2"/>
                </a:lnTo>
                <a:lnTo>
                  <a:pt x="82" y="4"/>
                </a:lnTo>
                <a:lnTo>
                  <a:pt x="98" y="5"/>
                </a:lnTo>
                <a:lnTo>
                  <a:pt x="114" y="7"/>
                </a:lnTo>
                <a:lnTo>
                  <a:pt x="131" y="9"/>
                </a:lnTo>
                <a:lnTo>
                  <a:pt x="147" y="11"/>
                </a:lnTo>
                <a:lnTo>
                  <a:pt x="164" y="13"/>
                </a:lnTo>
                <a:lnTo>
                  <a:pt x="180" y="15"/>
                </a:lnTo>
                <a:lnTo>
                  <a:pt x="196" y="17"/>
                </a:lnTo>
                <a:lnTo>
                  <a:pt x="213" y="20"/>
                </a:lnTo>
                <a:lnTo>
                  <a:pt x="229" y="22"/>
                </a:lnTo>
                <a:lnTo>
                  <a:pt x="246" y="24"/>
                </a:lnTo>
                <a:lnTo>
                  <a:pt x="262" y="26"/>
                </a:lnTo>
                <a:lnTo>
                  <a:pt x="278" y="28"/>
                </a:lnTo>
                <a:lnTo>
                  <a:pt x="295" y="30"/>
                </a:lnTo>
                <a:lnTo>
                  <a:pt x="311" y="31"/>
                </a:lnTo>
                <a:lnTo>
                  <a:pt x="327" y="32"/>
                </a:lnTo>
                <a:lnTo>
                  <a:pt x="344" y="34"/>
                </a:lnTo>
                <a:lnTo>
                  <a:pt x="360" y="34"/>
                </a:lnTo>
                <a:lnTo>
                  <a:pt x="377" y="35"/>
                </a:lnTo>
                <a:lnTo>
                  <a:pt x="393" y="35"/>
                </a:lnTo>
                <a:lnTo>
                  <a:pt x="393" y="46"/>
                </a:lnTo>
                <a:lnTo>
                  <a:pt x="377" y="46"/>
                </a:lnTo>
                <a:lnTo>
                  <a:pt x="360" y="45"/>
                </a:lnTo>
                <a:lnTo>
                  <a:pt x="344" y="44"/>
                </a:lnTo>
                <a:lnTo>
                  <a:pt x="327" y="43"/>
                </a:lnTo>
                <a:lnTo>
                  <a:pt x="311" y="42"/>
                </a:lnTo>
                <a:lnTo>
                  <a:pt x="295" y="40"/>
                </a:lnTo>
                <a:lnTo>
                  <a:pt x="278" y="39"/>
                </a:lnTo>
                <a:lnTo>
                  <a:pt x="262" y="37"/>
                </a:lnTo>
                <a:lnTo>
                  <a:pt x="246" y="35"/>
                </a:lnTo>
                <a:lnTo>
                  <a:pt x="229" y="33"/>
                </a:lnTo>
                <a:lnTo>
                  <a:pt x="213" y="30"/>
                </a:lnTo>
                <a:lnTo>
                  <a:pt x="196" y="28"/>
                </a:lnTo>
                <a:lnTo>
                  <a:pt x="180" y="26"/>
                </a:lnTo>
                <a:lnTo>
                  <a:pt x="164" y="24"/>
                </a:lnTo>
                <a:lnTo>
                  <a:pt x="147" y="22"/>
                </a:lnTo>
                <a:lnTo>
                  <a:pt x="131" y="20"/>
                </a:lnTo>
                <a:lnTo>
                  <a:pt x="114" y="18"/>
                </a:lnTo>
                <a:lnTo>
                  <a:pt x="98" y="16"/>
                </a:lnTo>
                <a:lnTo>
                  <a:pt x="82" y="14"/>
                </a:lnTo>
                <a:lnTo>
                  <a:pt x="65" y="13"/>
                </a:lnTo>
                <a:lnTo>
                  <a:pt x="49" y="12"/>
                </a:lnTo>
                <a:lnTo>
                  <a:pt x="33" y="11"/>
                </a:lnTo>
                <a:lnTo>
                  <a:pt x="16" y="11"/>
                </a:lnTo>
                <a:lnTo>
                  <a:pt x="0" y="11"/>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4876800"/>
            <a:ext cx="3743325" cy="1238250"/>
          </a:xfrm>
          <a:custGeom>
            <a:avLst/>
            <a:gdLst/>
            <a:ahLst/>
            <a:cxnLst/>
            <a:rect l="l" t="t" r="r" b="b"/>
            <a:pathLst>
              <a:path w="393" h="130">
                <a:moveTo>
                  <a:pt x="0" y="0"/>
                </a:moveTo>
                <a:lnTo>
                  <a:pt x="16" y="0"/>
                </a:lnTo>
                <a:lnTo>
                  <a:pt x="33" y="2"/>
                </a:lnTo>
                <a:lnTo>
                  <a:pt x="49" y="5"/>
                </a:lnTo>
                <a:lnTo>
                  <a:pt x="65" y="9"/>
                </a:lnTo>
                <a:lnTo>
                  <a:pt x="82" y="13"/>
                </a:lnTo>
                <a:lnTo>
                  <a:pt x="98" y="19"/>
                </a:lnTo>
                <a:lnTo>
                  <a:pt x="114" y="25"/>
                </a:lnTo>
                <a:lnTo>
                  <a:pt x="131" y="31"/>
                </a:lnTo>
                <a:lnTo>
                  <a:pt x="147" y="38"/>
                </a:lnTo>
                <a:lnTo>
                  <a:pt x="164" y="46"/>
                </a:lnTo>
                <a:lnTo>
                  <a:pt x="180" y="53"/>
                </a:lnTo>
                <a:lnTo>
                  <a:pt x="196" y="61"/>
                </a:lnTo>
                <a:lnTo>
                  <a:pt x="213" y="68"/>
                </a:lnTo>
                <a:lnTo>
                  <a:pt x="229" y="76"/>
                </a:lnTo>
                <a:lnTo>
                  <a:pt x="246" y="83"/>
                </a:lnTo>
                <a:lnTo>
                  <a:pt x="262" y="90"/>
                </a:lnTo>
                <a:lnTo>
                  <a:pt x="278" y="97"/>
                </a:lnTo>
                <a:lnTo>
                  <a:pt x="295" y="103"/>
                </a:lnTo>
                <a:lnTo>
                  <a:pt x="311" y="108"/>
                </a:lnTo>
                <a:lnTo>
                  <a:pt x="327" y="113"/>
                </a:lnTo>
                <a:lnTo>
                  <a:pt x="344" y="117"/>
                </a:lnTo>
                <a:lnTo>
                  <a:pt x="360" y="119"/>
                </a:lnTo>
                <a:lnTo>
                  <a:pt x="377" y="121"/>
                </a:lnTo>
                <a:lnTo>
                  <a:pt x="393" y="122"/>
                </a:lnTo>
                <a:lnTo>
                  <a:pt x="393" y="130"/>
                </a:lnTo>
                <a:lnTo>
                  <a:pt x="377" y="129"/>
                </a:lnTo>
                <a:lnTo>
                  <a:pt x="360" y="127"/>
                </a:lnTo>
                <a:lnTo>
                  <a:pt x="344" y="125"/>
                </a:lnTo>
                <a:lnTo>
                  <a:pt x="327" y="121"/>
                </a:lnTo>
                <a:lnTo>
                  <a:pt x="311" y="116"/>
                </a:lnTo>
                <a:lnTo>
                  <a:pt x="295" y="111"/>
                </a:lnTo>
                <a:lnTo>
                  <a:pt x="278" y="105"/>
                </a:lnTo>
                <a:lnTo>
                  <a:pt x="262" y="98"/>
                </a:lnTo>
                <a:lnTo>
                  <a:pt x="246" y="91"/>
                </a:lnTo>
                <a:lnTo>
                  <a:pt x="229" y="84"/>
                </a:lnTo>
                <a:lnTo>
                  <a:pt x="213" y="76"/>
                </a:lnTo>
                <a:lnTo>
                  <a:pt x="196" y="69"/>
                </a:lnTo>
                <a:lnTo>
                  <a:pt x="180" y="61"/>
                </a:lnTo>
                <a:lnTo>
                  <a:pt x="164" y="53"/>
                </a:lnTo>
                <a:lnTo>
                  <a:pt x="147" y="46"/>
                </a:lnTo>
                <a:lnTo>
                  <a:pt x="131" y="39"/>
                </a:lnTo>
                <a:lnTo>
                  <a:pt x="114" y="33"/>
                </a:lnTo>
                <a:lnTo>
                  <a:pt x="98" y="27"/>
                </a:lnTo>
                <a:lnTo>
                  <a:pt x="82" y="21"/>
                </a:lnTo>
                <a:lnTo>
                  <a:pt x="65" y="17"/>
                </a:lnTo>
                <a:lnTo>
                  <a:pt x="49" y="13"/>
                </a:lnTo>
                <a:lnTo>
                  <a:pt x="33" y="10"/>
                </a:lnTo>
                <a:lnTo>
                  <a:pt x="16" y="8"/>
                </a:lnTo>
                <a:lnTo>
                  <a:pt x="0" y="8"/>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3571875"/>
            <a:ext cx="3743325" cy="1733550"/>
          </a:xfrm>
          <a:custGeom>
            <a:avLst/>
            <a:gdLst/>
            <a:ahLst/>
            <a:cxnLst/>
            <a:rect l="l" t="t" r="r" b="b"/>
            <a:pathLst>
              <a:path w="393" h="182">
                <a:moveTo>
                  <a:pt x="0" y="151"/>
                </a:moveTo>
                <a:lnTo>
                  <a:pt x="16" y="150"/>
                </a:lnTo>
                <a:lnTo>
                  <a:pt x="33" y="148"/>
                </a:lnTo>
                <a:lnTo>
                  <a:pt x="49" y="144"/>
                </a:lnTo>
                <a:lnTo>
                  <a:pt x="65" y="139"/>
                </a:lnTo>
                <a:lnTo>
                  <a:pt x="82" y="134"/>
                </a:lnTo>
                <a:lnTo>
                  <a:pt x="98" y="127"/>
                </a:lnTo>
                <a:lnTo>
                  <a:pt x="114" y="120"/>
                </a:lnTo>
                <a:lnTo>
                  <a:pt x="131" y="111"/>
                </a:lnTo>
                <a:lnTo>
                  <a:pt x="147" y="103"/>
                </a:lnTo>
                <a:lnTo>
                  <a:pt x="164" y="94"/>
                </a:lnTo>
                <a:lnTo>
                  <a:pt x="180" y="85"/>
                </a:lnTo>
                <a:lnTo>
                  <a:pt x="196" y="75"/>
                </a:lnTo>
                <a:lnTo>
                  <a:pt x="213" y="66"/>
                </a:lnTo>
                <a:lnTo>
                  <a:pt x="229" y="57"/>
                </a:lnTo>
                <a:lnTo>
                  <a:pt x="246" y="48"/>
                </a:lnTo>
                <a:lnTo>
                  <a:pt x="262" y="39"/>
                </a:lnTo>
                <a:lnTo>
                  <a:pt x="278" y="31"/>
                </a:lnTo>
                <a:lnTo>
                  <a:pt x="295" y="24"/>
                </a:lnTo>
                <a:lnTo>
                  <a:pt x="311" y="17"/>
                </a:lnTo>
                <a:lnTo>
                  <a:pt x="327" y="11"/>
                </a:lnTo>
                <a:lnTo>
                  <a:pt x="344" y="7"/>
                </a:lnTo>
                <a:lnTo>
                  <a:pt x="360" y="3"/>
                </a:lnTo>
                <a:lnTo>
                  <a:pt x="377" y="1"/>
                </a:lnTo>
                <a:lnTo>
                  <a:pt x="393" y="0"/>
                </a:lnTo>
                <a:lnTo>
                  <a:pt x="393" y="32"/>
                </a:lnTo>
                <a:lnTo>
                  <a:pt x="377" y="32"/>
                </a:lnTo>
                <a:lnTo>
                  <a:pt x="360" y="35"/>
                </a:lnTo>
                <a:lnTo>
                  <a:pt x="344" y="38"/>
                </a:lnTo>
                <a:lnTo>
                  <a:pt x="327" y="43"/>
                </a:lnTo>
                <a:lnTo>
                  <a:pt x="311" y="49"/>
                </a:lnTo>
                <a:lnTo>
                  <a:pt x="295" y="55"/>
                </a:lnTo>
                <a:lnTo>
                  <a:pt x="278" y="63"/>
                </a:lnTo>
                <a:lnTo>
                  <a:pt x="262" y="71"/>
                </a:lnTo>
                <a:lnTo>
                  <a:pt x="246" y="79"/>
                </a:lnTo>
                <a:lnTo>
                  <a:pt x="229" y="88"/>
                </a:lnTo>
                <a:lnTo>
                  <a:pt x="213" y="98"/>
                </a:lnTo>
                <a:lnTo>
                  <a:pt x="196" y="107"/>
                </a:lnTo>
                <a:lnTo>
                  <a:pt x="180" y="116"/>
                </a:lnTo>
                <a:lnTo>
                  <a:pt x="164" y="126"/>
                </a:lnTo>
                <a:lnTo>
                  <a:pt x="147" y="135"/>
                </a:lnTo>
                <a:lnTo>
                  <a:pt x="131" y="143"/>
                </a:lnTo>
                <a:lnTo>
                  <a:pt x="114" y="151"/>
                </a:lnTo>
                <a:lnTo>
                  <a:pt x="98" y="159"/>
                </a:lnTo>
                <a:lnTo>
                  <a:pt x="82" y="165"/>
                </a:lnTo>
                <a:lnTo>
                  <a:pt x="65" y="171"/>
                </a:lnTo>
                <a:lnTo>
                  <a:pt x="49" y="176"/>
                </a:lnTo>
                <a:lnTo>
                  <a:pt x="33" y="179"/>
                </a:lnTo>
                <a:lnTo>
                  <a:pt x="16" y="181"/>
                </a:lnTo>
                <a:lnTo>
                  <a:pt x="0" y="182"/>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5210175"/>
            <a:ext cx="3743325" cy="180975"/>
          </a:xfrm>
          <a:custGeom>
            <a:avLst/>
            <a:gdLst/>
            <a:ahLst/>
            <a:cxnLst/>
            <a:rect l="l" t="t" r="r" b="b"/>
            <a:pathLst>
              <a:path w="393" h="19">
                <a:moveTo>
                  <a:pt x="0" y="10"/>
                </a:moveTo>
                <a:lnTo>
                  <a:pt x="16" y="10"/>
                </a:lnTo>
                <a:lnTo>
                  <a:pt x="33" y="10"/>
                </a:lnTo>
                <a:lnTo>
                  <a:pt x="49" y="10"/>
                </a:lnTo>
                <a:lnTo>
                  <a:pt x="65" y="9"/>
                </a:lnTo>
                <a:lnTo>
                  <a:pt x="82" y="9"/>
                </a:lnTo>
                <a:lnTo>
                  <a:pt x="98" y="9"/>
                </a:lnTo>
                <a:lnTo>
                  <a:pt x="114" y="8"/>
                </a:lnTo>
                <a:lnTo>
                  <a:pt x="131" y="8"/>
                </a:lnTo>
                <a:lnTo>
                  <a:pt x="147" y="7"/>
                </a:lnTo>
                <a:lnTo>
                  <a:pt x="164" y="6"/>
                </a:lnTo>
                <a:lnTo>
                  <a:pt x="180" y="6"/>
                </a:lnTo>
                <a:lnTo>
                  <a:pt x="196" y="5"/>
                </a:lnTo>
                <a:lnTo>
                  <a:pt x="213" y="4"/>
                </a:lnTo>
                <a:lnTo>
                  <a:pt x="229" y="4"/>
                </a:lnTo>
                <a:lnTo>
                  <a:pt x="246" y="3"/>
                </a:lnTo>
                <a:lnTo>
                  <a:pt x="262" y="3"/>
                </a:lnTo>
                <a:lnTo>
                  <a:pt x="278" y="2"/>
                </a:lnTo>
                <a:lnTo>
                  <a:pt x="295" y="2"/>
                </a:lnTo>
                <a:lnTo>
                  <a:pt x="311" y="1"/>
                </a:lnTo>
                <a:lnTo>
                  <a:pt x="327" y="1"/>
                </a:lnTo>
                <a:lnTo>
                  <a:pt x="344" y="0"/>
                </a:lnTo>
                <a:lnTo>
                  <a:pt x="360" y="0"/>
                </a:lnTo>
                <a:lnTo>
                  <a:pt x="377" y="0"/>
                </a:lnTo>
                <a:lnTo>
                  <a:pt x="393" y="0"/>
                </a:lnTo>
                <a:lnTo>
                  <a:pt x="393" y="9"/>
                </a:lnTo>
                <a:lnTo>
                  <a:pt x="377" y="9"/>
                </a:lnTo>
                <a:lnTo>
                  <a:pt x="360" y="9"/>
                </a:lnTo>
                <a:lnTo>
                  <a:pt x="344" y="10"/>
                </a:lnTo>
                <a:lnTo>
                  <a:pt x="327" y="10"/>
                </a:lnTo>
                <a:lnTo>
                  <a:pt x="311" y="10"/>
                </a:lnTo>
                <a:lnTo>
                  <a:pt x="295" y="11"/>
                </a:lnTo>
                <a:lnTo>
                  <a:pt x="278" y="11"/>
                </a:lnTo>
                <a:lnTo>
                  <a:pt x="262" y="12"/>
                </a:lnTo>
                <a:lnTo>
                  <a:pt x="246" y="12"/>
                </a:lnTo>
                <a:lnTo>
                  <a:pt x="229" y="13"/>
                </a:lnTo>
                <a:lnTo>
                  <a:pt x="213" y="14"/>
                </a:lnTo>
                <a:lnTo>
                  <a:pt x="196" y="14"/>
                </a:lnTo>
                <a:lnTo>
                  <a:pt x="180" y="15"/>
                </a:lnTo>
                <a:lnTo>
                  <a:pt x="164" y="16"/>
                </a:lnTo>
                <a:lnTo>
                  <a:pt x="147" y="16"/>
                </a:lnTo>
                <a:lnTo>
                  <a:pt x="131" y="17"/>
                </a:lnTo>
                <a:lnTo>
                  <a:pt x="114" y="17"/>
                </a:lnTo>
                <a:lnTo>
                  <a:pt x="98" y="18"/>
                </a:lnTo>
                <a:lnTo>
                  <a:pt x="82" y="18"/>
                </a:lnTo>
                <a:lnTo>
                  <a:pt x="65" y="19"/>
                </a:lnTo>
                <a:lnTo>
                  <a:pt x="49" y="19"/>
                </a:lnTo>
                <a:lnTo>
                  <a:pt x="33" y="19"/>
                </a:lnTo>
                <a:lnTo>
                  <a:pt x="16" y="19"/>
                </a:lnTo>
                <a:lnTo>
                  <a:pt x="0" y="19"/>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5391150"/>
            <a:ext cx="3743325" cy="800100"/>
          </a:xfrm>
          <a:custGeom>
            <a:avLst/>
            <a:gdLst/>
            <a:ahLst/>
            <a:cxnLst/>
            <a:rect l="l" t="t" r="r" b="b"/>
            <a:pathLst>
              <a:path w="393" h="84">
                <a:moveTo>
                  <a:pt x="0" y="0"/>
                </a:moveTo>
                <a:lnTo>
                  <a:pt x="16" y="1"/>
                </a:lnTo>
                <a:lnTo>
                  <a:pt x="33" y="2"/>
                </a:lnTo>
                <a:lnTo>
                  <a:pt x="49" y="4"/>
                </a:lnTo>
                <a:lnTo>
                  <a:pt x="65" y="6"/>
                </a:lnTo>
                <a:lnTo>
                  <a:pt x="82" y="9"/>
                </a:lnTo>
                <a:lnTo>
                  <a:pt x="98" y="12"/>
                </a:lnTo>
                <a:lnTo>
                  <a:pt x="114" y="16"/>
                </a:lnTo>
                <a:lnTo>
                  <a:pt x="131" y="20"/>
                </a:lnTo>
                <a:lnTo>
                  <a:pt x="147" y="24"/>
                </a:lnTo>
                <a:lnTo>
                  <a:pt x="164" y="29"/>
                </a:lnTo>
                <a:lnTo>
                  <a:pt x="180" y="33"/>
                </a:lnTo>
                <a:lnTo>
                  <a:pt x="196" y="38"/>
                </a:lnTo>
                <a:lnTo>
                  <a:pt x="213" y="43"/>
                </a:lnTo>
                <a:lnTo>
                  <a:pt x="229" y="47"/>
                </a:lnTo>
                <a:lnTo>
                  <a:pt x="246" y="52"/>
                </a:lnTo>
                <a:lnTo>
                  <a:pt x="262" y="56"/>
                </a:lnTo>
                <a:lnTo>
                  <a:pt x="278" y="60"/>
                </a:lnTo>
                <a:lnTo>
                  <a:pt x="295" y="64"/>
                </a:lnTo>
                <a:lnTo>
                  <a:pt x="311" y="67"/>
                </a:lnTo>
                <a:lnTo>
                  <a:pt x="327" y="70"/>
                </a:lnTo>
                <a:lnTo>
                  <a:pt x="344" y="73"/>
                </a:lnTo>
                <a:lnTo>
                  <a:pt x="360" y="74"/>
                </a:lnTo>
                <a:lnTo>
                  <a:pt x="377" y="75"/>
                </a:lnTo>
                <a:lnTo>
                  <a:pt x="393" y="76"/>
                </a:lnTo>
                <a:lnTo>
                  <a:pt x="393" y="84"/>
                </a:lnTo>
                <a:lnTo>
                  <a:pt x="377" y="84"/>
                </a:lnTo>
                <a:lnTo>
                  <a:pt x="360" y="83"/>
                </a:lnTo>
                <a:lnTo>
                  <a:pt x="344" y="81"/>
                </a:lnTo>
                <a:lnTo>
                  <a:pt x="327" y="79"/>
                </a:lnTo>
                <a:lnTo>
                  <a:pt x="311" y="76"/>
                </a:lnTo>
                <a:lnTo>
                  <a:pt x="295" y="73"/>
                </a:lnTo>
                <a:lnTo>
                  <a:pt x="278" y="69"/>
                </a:lnTo>
                <a:lnTo>
                  <a:pt x="262" y="65"/>
                </a:lnTo>
                <a:lnTo>
                  <a:pt x="246" y="60"/>
                </a:lnTo>
                <a:lnTo>
                  <a:pt x="229" y="56"/>
                </a:lnTo>
                <a:lnTo>
                  <a:pt x="213" y="51"/>
                </a:lnTo>
                <a:lnTo>
                  <a:pt x="196" y="47"/>
                </a:lnTo>
                <a:lnTo>
                  <a:pt x="180" y="42"/>
                </a:lnTo>
                <a:lnTo>
                  <a:pt x="164" y="37"/>
                </a:lnTo>
                <a:lnTo>
                  <a:pt x="147" y="33"/>
                </a:lnTo>
                <a:lnTo>
                  <a:pt x="131" y="29"/>
                </a:lnTo>
                <a:lnTo>
                  <a:pt x="114" y="24"/>
                </a:lnTo>
                <a:lnTo>
                  <a:pt x="98" y="21"/>
                </a:lnTo>
                <a:lnTo>
                  <a:pt x="82" y="17"/>
                </a:lnTo>
                <a:lnTo>
                  <a:pt x="65" y="15"/>
                </a:lnTo>
                <a:lnTo>
                  <a:pt x="49" y="12"/>
                </a:lnTo>
                <a:lnTo>
                  <a:pt x="33" y="10"/>
                </a:lnTo>
                <a:lnTo>
                  <a:pt x="16" y="9"/>
                </a:lnTo>
                <a:lnTo>
                  <a:pt x="0" y="9"/>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3876675"/>
            <a:ext cx="3743325" cy="1962150"/>
          </a:xfrm>
          <a:custGeom>
            <a:avLst/>
            <a:gdLst/>
            <a:ahLst/>
            <a:cxnLst/>
            <a:rect l="l" t="t" r="r" b="b"/>
            <a:pathLst>
              <a:path w="393" h="206">
                <a:moveTo>
                  <a:pt x="0" y="174"/>
                </a:moveTo>
                <a:lnTo>
                  <a:pt x="16" y="173"/>
                </a:lnTo>
                <a:lnTo>
                  <a:pt x="33" y="171"/>
                </a:lnTo>
                <a:lnTo>
                  <a:pt x="49" y="167"/>
                </a:lnTo>
                <a:lnTo>
                  <a:pt x="65" y="161"/>
                </a:lnTo>
                <a:lnTo>
                  <a:pt x="82" y="154"/>
                </a:lnTo>
                <a:lnTo>
                  <a:pt x="98" y="147"/>
                </a:lnTo>
                <a:lnTo>
                  <a:pt x="114" y="138"/>
                </a:lnTo>
                <a:lnTo>
                  <a:pt x="131" y="129"/>
                </a:lnTo>
                <a:lnTo>
                  <a:pt x="147" y="119"/>
                </a:lnTo>
                <a:lnTo>
                  <a:pt x="164" y="108"/>
                </a:lnTo>
                <a:lnTo>
                  <a:pt x="180" y="98"/>
                </a:lnTo>
                <a:lnTo>
                  <a:pt x="196" y="87"/>
                </a:lnTo>
                <a:lnTo>
                  <a:pt x="213" y="76"/>
                </a:lnTo>
                <a:lnTo>
                  <a:pt x="229" y="65"/>
                </a:lnTo>
                <a:lnTo>
                  <a:pt x="246" y="55"/>
                </a:lnTo>
                <a:lnTo>
                  <a:pt x="262" y="45"/>
                </a:lnTo>
                <a:lnTo>
                  <a:pt x="278" y="36"/>
                </a:lnTo>
                <a:lnTo>
                  <a:pt x="295" y="27"/>
                </a:lnTo>
                <a:lnTo>
                  <a:pt x="311" y="19"/>
                </a:lnTo>
                <a:lnTo>
                  <a:pt x="327" y="13"/>
                </a:lnTo>
                <a:lnTo>
                  <a:pt x="344" y="7"/>
                </a:lnTo>
                <a:lnTo>
                  <a:pt x="360" y="3"/>
                </a:lnTo>
                <a:lnTo>
                  <a:pt x="377" y="1"/>
                </a:lnTo>
                <a:lnTo>
                  <a:pt x="393" y="0"/>
                </a:lnTo>
                <a:lnTo>
                  <a:pt x="393" y="32"/>
                </a:lnTo>
                <a:lnTo>
                  <a:pt x="377" y="33"/>
                </a:lnTo>
                <a:lnTo>
                  <a:pt x="360" y="35"/>
                </a:lnTo>
                <a:lnTo>
                  <a:pt x="344" y="39"/>
                </a:lnTo>
                <a:lnTo>
                  <a:pt x="327" y="45"/>
                </a:lnTo>
                <a:lnTo>
                  <a:pt x="311" y="51"/>
                </a:lnTo>
                <a:lnTo>
                  <a:pt x="295" y="59"/>
                </a:lnTo>
                <a:lnTo>
                  <a:pt x="278" y="68"/>
                </a:lnTo>
                <a:lnTo>
                  <a:pt x="262" y="77"/>
                </a:lnTo>
                <a:lnTo>
                  <a:pt x="246" y="87"/>
                </a:lnTo>
                <a:lnTo>
                  <a:pt x="229" y="97"/>
                </a:lnTo>
                <a:lnTo>
                  <a:pt x="213" y="108"/>
                </a:lnTo>
                <a:lnTo>
                  <a:pt x="196" y="119"/>
                </a:lnTo>
                <a:lnTo>
                  <a:pt x="180" y="130"/>
                </a:lnTo>
                <a:lnTo>
                  <a:pt x="164" y="141"/>
                </a:lnTo>
                <a:lnTo>
                  <a:pt x="147" y="151"/>
                </a:lnTo>
                <a:lnTo>
                  <a:pt x="131" y="161"/>
                </a:lnTo>
                <a:lnTo>
                  <a:pt x="114" y="170"/>
                </a:lnTo>
                <a:lnTo>
                  <a:pt x="98" y="179"/>
                </a:lnTo>
                <a:lnTo>
                  <a:pt x="82" y="187"/>
                </a:lnTo>
                <a:lnTo>
                  <a:pt x="65" y="193"/>
                </a:lnTo>
                <a:lnTo>
                  <a:pt x="49" y="199"/>
                </a:lnTo>
                <a:lnTo>
                  <a:pt x="33" y="203"/>
                </a:lnTo>
                <a:lnTo>
                  <a:pt x="16" y="205"/>
                </a:lnTo>
                <a:lnTo>
                  <a:pt x="0" y="206"/>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5295900"/>
            <a:ext cx="3743325" cy="647700"/>
          </a:xfrm>
          <a:custGeom>
            <a:avLst/>
            <a:gdLst/>
            <a:ahLst/>
            <a:cxnLst/>
            <a:rect l="l" t="t" r="r" b="b"/>
            <a:pathLst>
              <a:path w="393" h="68">
                <a:moveTo>
                  <a:pt x="0" y="57"/>
                </a:moveTo>
                <a:lnTo>
                  <a:pt x="16" y="57"/>
                </a:lnTo>
                <a:lnTo>
                  <a:pt x="33" y="56"/>
                </a:lnTo>
                <a:lnTo>
                  <a:pt x="49" y="55"/>
                </a:lnTo>
                <a:lnTo>
                  <a:pt x="65" y="53"/>
                </a:lnTo>
                <a:lnTo>
                  <a:pt x="82" y="51"/>
                </a:lnTo>
                <a:lnTo>
                  <a:pt x="98" y="48"/>
                </a:lnTo>
                <a:lnTo>
                  <a:pt x="114" y="45"/>
                </a:lnTo>
                <a:lnTo>
                  <a:pt x="131" y="42"/>
                </a:lnTo>
                <a:lnTo>
                  <a:pt x="147" y="39"/>
                </a:lnTo>
                <a:lnTo>
                  <a:pt x="164" y="36"/>
                </a:lnTo>
                <a:lnTo>
                  <a:pt x="180" y="32"/>
                </a:lnTo>
                <a:lnTo>
                  <a:pt x="196" y="29"/>
                </a:lnTo>
                <a:lnTo>
                  <a:pt x="213" y="25"/>
                </a:lnTo>
                <a:lnTo>
                  <a:pt x="229" y="22"/>
                </a:lnTo>
                <a:lnTo>
                  <a:pt x="246" y="18"/>
                </a:lnTo>
                <a:lnTo>
                  <a:pt x="262" y="15"/>
                </a:lnTo>
                <a:lnTo>
                  <a:pt x="278" y="12"/>
                </a:lnTo>
                <a:lnTo>
                  <a:pt x="295" y="9"/>
                </a:lnTo>
                <a:lnTo>
                  <a:pt x="311" y="7"/>
                </a:lnTo>
                <a:lnTo>
                  <a:pt x="327" y="4"/>
                </a:lnTo>
                <a:lnTo>
                  <a:pt x="344" y="3"/>
                </a:lnTo>
                <a:lnTo>
                  <a:pt x="360" y="1"/>
                </a:lnTo>
                <a:lnTo>
                  <a:pt x="377" y="0"/>
                </a:lnTo>
                <a:lnTo>
                  <a:pt x="393" y="0"/>
                </a:lnTo>
                <a:lnTo>
                  <a:pt x="393" y="11"/>
                </a:lnTo>
                <a:lnTo>
                  <a:pt x="377" y="12"/>
                </a:lnTo>
                <a:lnTo>
                  <a:pt x="360" y="12"/>
                </a:lnTo>
                <a:lnTo>
                  <a:pt x="344" y="14"/>
                </a:lnTo>
                <a:lnTo>
                  <a:pt x="327" y="15"/>
                </a:lnTo>
                <a:lnTo>
                  <a:pt x="311" y="18"/>
                </a:lnTo>
                <a:lnTo>
                  <a:pt x="295" y="20"/>
                </a:lnTo>
                <a:lnTo>
                  <a:pt x="278" y="23"/>
                </a:lnTo>
                <a:lnTo>
                  <a:pt x="262" y="26"/>
                </a:lnTo>
                <a:lnTo>
                  <a:pt x="246" y="29"/>
                </a:lnTo>
                <a:lnTo>
                  <a:pt x="229" y="33"/>
                </a:lnTo>
                <a:lnTo>
                  <a:pt x="213" y="36"/>
                </a:lnTo>
                <a:lnTo>
                  <a:pt x="196" y="40"/>
                </a:lnTo>
                <a:lnTo>
                  <a:pt x="180" y="43"/>
                </a:lnTo>
                <a:lnTo>
                  <a:pt x="164" y="47"/>
                </a:lnTo>
                <a:lnTo>
                  <a:pt x="147" y="50"/>
                </a:lnTo>
                <a:lnTo>
                  <a:pt x="131" y="53"/>
                </a:lnTo>
                <a:lnTo>
                  <a:pt x="114" y="56"/>
                </a:lnTo>
                <a:lnTo>
                  <a:pt x="98" y="59"/>
                </a:lnTo>
                <a:lnTo>
                  <a:pt x="82" y="62"/>
                </a:lnTo>
                <a:lnTo>
                  <a:pt x="65" y="64"/>
                </a:lnTo>
                <a:lnTo>
                  <a:pt x="49" y="66"/>
                </a:lnTo>
                <a:lnTo>
                  <a:pt x="33" y="67"/>
                </a:lnTo>
                <a:lnTo>
                  <a:pt x="16" y="68"/>
                </a:lnTo>
                <a:lnTo>
                  <a:pt x="0" y="68"/>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5943600"/>
            <a:ext cx="3743325" cy="314325"/>
          </a:xfrm>
          <a:custGeom>
            <a:avLst/>
            <a:gdLst/>
            <a:ahLst/>
            <a:cxnLst/>
            <a:rect l="l" t="t" r="r" b="b"/>
            <a:pathLst>
              <a:path w="393" h="33">
                <a:moveTo>
                  <a:pt x="0" y="0"/>
                </a:moveTo>
                <a:lnTo>
                  <a:pt x="16" y="0"/>
                </a:lnTo>
                <a:lnTo>
                  <a:pt x="33" y="1"/>
                </a:lnTo>
                <a:lnTo>
                  <a:pt x="49" y="1"/>
                </a:lnTo>
                <a:lnTo>
                  <a:pt x="65" y="2"/>
                </a:lnTo>
                <a:lnTo>
                  <a:pt x="82" y="3"/>
                </a:lnTo>
                <a:lnTo>
                  <a:pt x="98" y="4"/>
                </a:lnTo>
                <a:lnTo>
                  <a:pt x="114" y="6"/>
                </a:lnTo>
                <a:lnTo>
                  <a:pt x="131" y="7"/>
                </a:lnTo>
                <a:lnTo>
                  <a:pt x="147" y="8"/>
                </a:lnTo>
                <a:lnTo>
                  <a:pt x="164" y="10"/>
                </a:lnTo>
                <a:lnTo>
                  <a:pt x="180" y="12"/>
                </a:lnTo>
                <a:lnTo>
                  <a:pt x="196" y="13"/>
                </a:lnTo>
                <a:lnTo>
                  <a:pt x="213" y="15"/>
                </a:lnTo>
                <a:lnTo>
                  <a:pt x="229" y="16"/>
                </a:lnTo>
                <a:lnTo>
                  <a:pt x="246" y="18"/>
                </a:lnTo>
                <a:lnTo>
                  <a:pt x="262" y="20"/>
                </a:lnTo>
                <a:lnTo>
                  <a:pt x="278" y="21"/>
                </a:lnTo>
                <a:lnTo>
                  <a:pt x="295" y="22"/>
                </a:lnTo>
                <a:lnTo>
                  <a:pt x="311" y="23"/>
                </a:lnTo>
                <a:lnTo>
                  <a:pt x="327" y="24"/>
                </a:lnTo>
                <a:lnTo>
                  <a:pt x="344" y="25"/>
                </a:lnTo>
                <a:lnTo>
                  <a:pt x="360" y="26"/>
                </a:lnTo>
                <a:lnTo>
                  <a:pt x="377" y="26"/>
                </a:lnTo>
                <a:lnTo>
                  <a:pt x="393" y="26"/>
                </a:lnTo>
                <a:lnTo>
                  <a:pt x="393" y="33"/>
                </a:lnTo>
                <a:lnTo>
                  <a:pt x="377" y="33"/>
                </a:lnTo>
                <a:lnTo>
                  <a:pt x="360" y="32"/>
                </a:lnTo>
                <a:lnTo>
                  <a:pt x="344" y="32"/>
                </a:lnTo>
                <a:lnTo>
                  <a:pt x="327" y="31"/>
                </a:lnTo>
                <a:lnTo>
                  <a:pt x="311" y="30"/>
                </a:lnTo>
                <a:lnTo>
                  <a:pt x="295" y="29"/>
                </a:lnTo>
                <a:lnTo>
                  <a:pt x="278" y="27"/>
                </a:lnTo>
                <a:lnTo>
                  <a:pt x="262" y="26"/>
                </a:lnTo>
                <a:lnTo>
                  <a:pt x="246" y="24"/>
                </a:lnTo>
                <a:lnTo>
                  <a:pt x="229" y="23"/>
                </a:lnTo>
                <a:lnTo>
                  <a:pt x="213" y="21"/>
                </a:lnTo>
                <a:lnTo>
                  <a:pt x="196" y="20"/>
                </a:lnTo>
                <a:lnTo>
                  <a:pt x="180" y="18"/>
                </a:lnTo>
                <a:lnTo>
                  <a:pt x="164" y="16"/>
                </a:lnTo>
                <a:lnTo>
                  <a:pt x="147" y="15"/>
                </a:lnTo>
                <a:lnTo>
                  <a:pt x="131" y="13"/>
                </a:lnTo>
                <a:lnTo>
                  <a:pt x="114" y="12"/>
                </a:lnTo>
                <a:lnTo>
                  <a:pt x="98" y="11"/>
                </a:lnTo>
                <a:lnTo>
                  <a:pt x="82" y="9"/>
                </a:lnTo>
                <a:lnTo>
                  <a:pt x="65" y="8"/>
                </a:lnTo>
                <a:lnTo>
                  <a:pt x="49" y="8"/>
                </a:lnTo>
                <a:lnTo>
                  <a:pt x="33" y="7"/>
                </a:lnTo>
                <a:lnTo>
                  <a:pt x="16" y="7"/>
                </a:lnTo>
                <a:lnTo>
                  <a:pt x="0" y="7"/>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4181475"/>
            <a:ext cx="3743325" cy="2171700"/>
          </a:xfrm>
          <a:custGeom>
            <a:avLst/>
            <a:gdLst/>
            <a:ahLst/>
            <a:cxnLst/>
            <a:rect l="l" t="t" r="r" b="b"/>
            <a:pathLst>
              <a:path w="393" h="228">
                <a:moveTo>
                  <a:pt x="0" y="198"/>
                </a:moveTo>
                <a:lnTo>
                  <a:pt x="16" y="197"/>
                </a:lnTo>
                <a:lnTo>
                  <a:pt x="33" y="194"/>
                </a:lnTo>
                <a:lnTo>
                  <a:pt x="49" y="189"/>
                </a:lnTo>
                <a:lnTo>
                  <a:pt x="65" y="183"/>
                </a:lnTo>
                <a:lnTo>
                  <a:pt x="82" y="175"/>
                </a:lnTo>
                <a:lnTo>
                  <a:pt x="98" y="167"/>
                </a:lnTo>
                <a:lnTo>
                  <a:pt x="114" y="157"/>
                </a:lnTo>
                <a:lnTo>
                  <a:pt x="131" y="146"/>
                </a:lnTo>
                <a:lnTo>
                  <a:pt x="147" y="135"/>
                </a:lnTo>
                <a:lnTo>
                  <a:pt x="164" y="123"/>
                </a:lnTo>
                <a:lnTo>
                  <a:pt x="180" y="111"/>
                </a:lnTo>
                <a:lnTo>
                  <a:pt x="196" y="99"/>
                </a:lnTo>
                <a:lnTo>
                  <a:pt x="213" y="86"/>
                </a:lnTo>
                <a:lnTo>
                  <a:pt x="229" y="74"/>
                </a:lnTo>
                <a:lnTo>
                  <a:pt x="246" y="62"/>
                </a:lnTo>
                <a:lnTo>
                  <a:pt x="262" y="51"/>
                </a:lnTo>
                <a:lnTo>
                  <a:pt x="278" y="40"/>
                </a:lnTo>
                <a:lnTo>
                  <a:pt x="295" y="31"/>
                </a:lnTo>
                <a:lnTo>
                  <a:pt x="311" y="22"/>
                </a:lnTo>
                <a:lnTo>
                  <a:pt x="327" y="14"/>
                </a:lnTo>
                <a:lnTo>
                  <a:pt x="344" y="8"/>
                </a:lnTo>
                <a:lnTo>
                  <a:pt x="360" y="4"/>
                </a:lnTo>
                <a:lnTo>
                  <a:pt x="377" y="1"/>
                </a:lnTo>
                <a:lnTo>
                  <a:pt x="393" y="0"/>
                </a:lnTo>
                <a:lnTo>
                  <a:pt x="393" y="30"/>
                </a:lnTo>
                <a:lnTo>
                  <a:pt x="377" y="31"/>
                </a:lnTo>
                <a:lnTo>
                  <a:pt x="360" y="34"/>
                </a:lnTo>
                <a:lnTo>
                  <a:pt x="344" y="38"/>
                </a:lnTo>
                <a:lnTo>
                  <a:pt x="327" y="44"/>
                </a:lnTo>
                <a:lnTo>
                  <a:pt x="311" y="52"/>
                </a:lnTo>
                <a:lnTo>
                  <a:pt x="295" y="61"/>
                </a:lnTo>
                <a:lnTo>
                  <a:pt x="278" y="70"/>
                </a:lnTo>
                <a:lnTo>
                  <a:pt x="262" y="81"/>
                </a:lnTo>
                <a:lnTo>
                  <a:pt x="246" y="92"/>
                </a:lnTo>
                <a:lnTo>
                  <a:pt x="229" y="104"/>
                </a:lnTo>
                <a:lnTo>
                  <a:pt x="213" y="116"/>
                </a:lnTo>
                <a:lnTo>
                  <a:pt x="196" y="129"/>
                </a:lnTo>
                <a:lnTo>
                  <a:pt x="180" y="141"/>
                </a:lnTo>
                <a:lnTo>
                  <a:pt x="164" y="153"/>
                </a:lnTo>
                <a:lnTo>
                  <a:pt x="147" y="165"/>
                </a:lnTo>
                <a:lnTo>
                  <a:pt x="131" y="176"/>
                </a:lnTo>
                <a:lnTo>
                  <a:pt x="114" y="187"/>
                </a:lnTo>
                <a:lnTo>
                  <a:pt x="98" y="197"/>
                </a:lnTo>
                <a:lnTo>
                  <a:pt x="82" y="205"/>
                </a:lnTo>
                <a:lnTo>
                  <a:pt x="65" y="213"/>
                </a:lnTo>
                <a:lnTo>
                  <a:pt x="49" y="219"/>
                </a:lnTo>
                <a:lnTo>
                  <a:pt x="33" y="224"/>
                </a:lnTo>
                <a:lnTo>
                  <a:pt x="16" y="227"/>
                </a:lnTo>
                <a:lnTo>
                  <a:pt x="0" y="228"/>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5400675"/>
            <a:ext cx="3743325" cy="1057275"/>
          </a:xfrm>
          <a:custGeom>
            <a:avLst/>
            <a:gdLst/>
            <a:ahLst/>
            <a:cxnLst/>
            <a:rect l="l" t="t" r="r" b="b"/>
            <a:pathLst>
              <a:path w="393" h="111">
                <a:moveTo>
                  <a:pt x="0" y="100"/>
                </a:moveTo>
                <a:lnTo>
                  <a:pt x="16" y="99"/>
                </a:lnTo>
                <a:lnTo>
                  <a:pt x="33" y="98"/>
                </a:lnTo>
                <a:lnTo>
                  <a:pt x="49" y="95"/>
                </a:lnTo>
                <a:lnTo>
                  <a:pt x="65" y="92"/>
                </a:lnTo>
                <a:lnTo>
                  <a:pt x="82" y="88"/>
                </a:lnTo>
                <a:lnTo>
                  <a:pt x="98" y="84"/>
                </a:lnTo>
                <a:lnTo>
                  <a:pt x="114" y="79"/>
                </a:lnTo>
                <a:lnTo>
                  <a:pt x="131" y="74"/>
                </a:lnTo>
                <a:lnTo>
                  <a:pt x="147" y="68"/>
                </a:lnTo>
                <a:lnTo>
                  <a:pt x="164" y="62"/>
                </a:lnTo>
                <a:lnTo>
                  <a:pt x="180" y="56"/>
                </a:lnTo>
                <a:lnTo>
                  <a:pt x="196" y="50"/>
                </a:lnTo>
                <a:lnTo>
                  <a:pt x="213" y="44"/>
                </a:lnTo>
                <a:lnTo>
                  <a:pt x="229" y="38"/>
                </a:lnTo>
                <a:lnTo>
                  <a:pt x="246" y="32"/>
                </a:lnTo>
                <a:lnTo>
                  <a:pt x="262" y="26"/>
                </a:lnTo>
                <a:lnTo>
                  <a:pt x="278" y="21"/>
                </a:lnTo>
                <a:lnTo>
                  <a:pt x="295" y="16"/>
                </a:lnTo>
                <a:lnTo>
                  <a:pt x="311" y="11"/>
                </a:lnTo>
                <a:lnTo>
                  <a:pt x="327" y="8"/>
                </a:lnTo>
                <a:lnTo>
                  <a:pt x="344" y="5"/>
                </a:lnTo>
                <a:lnTo>
                  <a:pt x="360" y="2"/>
                </a:lnTo>
                <a:lnTo>
                  <a:pt x="377" y="1"/>
                </a:lnTo>
                <a:lnTo>
                  <a:pt x="393" y="0"/>
                </a:lnTo>
                <a:lnTo>
                  <a:pt x="393" y="11"/>
                </a:lnTo>
                <a:lnTo>
                  <a:pt x="377" y="12"/>
                </a:lnTo>
                <a:lnTo>
                  <a:pt x="360" y="13"/>
                </a:lnTo>
                <a:lnTo>
                  <a:pt x="344" y="16"/>
                </a:lnTo>
                <a:lnTo>
                  <a:pt x="327" y="19"/>
                </a:lnTo>
                <a:lnTo>
                  <a:pt x="311" y="23"/>
                </a:lnTo>
                <a:lnTo>
                  <a:pt x="295" y="27"/>
                </a:lnTo>
                <a:lnTo>
                  <a:pt x="278" y="32"/>
                </a:lnTo>
                <a:lnTo>
                  <a:pt x="262" y="37"/>
                </a:lnTo>
                <a:lnTo>
                  <a:pt x="246" y="43"/>
                </a:lnTo>
                <a:lnTo>
                  <a:pt x="229" y="49"/>
                </a:lnTo>
                <a:lnTo>
                  <a:pt x="213" y="55"/>
                </a:lnTo>
                <a:lnTo>
                  <a:pt x="196" y="61"/>
                </a:lnTo>
                <a:lnTo>
                  <a:pt x="180" y="67"/>
                </a:lnTo>
                <a:lnTo>
                  <a:pt x="164" y="73"/>
                </a:lnTo>
                <a:lnTo>
                  <a:pt x="147" y="79"/>
                </a:lnTo>
                <a:lnTo>
                  <a:pt x="131" y="85"/>
                </a:lnTo>
                <a:lnTo>
                  <a:pt x="114" y="90"/>
                </a:lnTo>
                <a:lnTo>
                  <a:pt x="98" y="95"/>
                </a:lnTo>
                <a:lnTo>
                  <a:pt x="82" y="100"/>
                </a:lnTo>
                <a:lnTo>
                  <a:pt x="65" y="103"/>
                </a:lnTo>
                <a:lnTo>
                  <a:pt x="49" y="106"/>
                </a:lnTo>
                <a:lnTo>
                  <a:pt x="33" y="109"/>
                </a:lnTo>
                <a:lnTo>
                  <a:pt x="16" y="110"/>
                </a:lnTo>
                <a:lnTo>
                  <a:pt x="0" y="111"/>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6257925"/>
            <a:ext cx="3743325" cy="276225"/>
          </a:xfrm>
          <a:custGeom>
            <a:avLst/>
            <a:gdLst/>
            <a:ahLst/>
            <a:cxnLst/>
            <a:rect l="l" t="t" r="r" b="b"/>
            <a:pathLst>
              <a:path w="393" h="29">
                <a:moveTo>
                  <a:pt x="0" y="21"/>
                </a:moveTo>
                <a:lnTo>
                  <a:pt x="16" y="21"/>
                </a:lnTo>
                <a:lnTo>
                  <a:pt x="33" y="20"/>
                </a:lnTo>
                <a:lnTo>
                  <a:pt x="49" y="20"/>
                </a:lnTo>
                <a:lnTo>
                  <a:pt x="65" y="19"/>
                </a:lnTo>
                <a:lnTo>
                  <a:pt x="82" y="18"/>
                </a:lnTo>
                <a:lnTo>
                  <a:pt x="98" y="17"/>
                </a:lnTo>
                <a:lnTo>
                  <a:pt x="114" y="16"/>
                </a:lnTo>
                <a:lnTo>
                  <a:pt x="131" y="15"/>
                </a:lnTo>
                <a:lnTo>
                  <a:pt x="147" y="14"/>
                </a:lnTo>
                <a:lnTo>
                  <a:pt x="164" y="13"/>
                </a:lnTo>
                <a:lnTo>
                  <a:pt x="180" y="11"/>
                </a:lnTo>
                <a:lnTo>
                  <a:pt x="196" y="10"/>
                </a:lnTo>
                <a:lnTo>
                  <a:pt x="213" y="9"/>
                </a:lnTo>
                <a:lnTo>
                  <a:pt x="229" y="8"/>
                </a:lnTo>
                <a:lnTo>
                  <a:pt x="246" y="6"/>
                </a:lnTo>
                <a:lnTo>
                  <a:pt x="262" y="5"/>
                </a:lnTo>
                <a:lnTo>
                  <a:pt x="278" y="4"/>
                </a:lnTo>
                <a:lnTo>
                  <a:pt x="295" y="3"/>
                </a:lnTo>
                <a:lnTo>
                  <a:pt x="311" y="2"/>
                </a:lnTo>
                <a:lnTo>
                  <a:pt x="327" y="1"/>
                </a:lnTo>
                <a:lnTo>
                  <a:pt x="344" y="1"/>
                </a:lnTo>
                <a:lnTo>
                  <a:pt x="360" y="0"/>
                </a:lnTo>
                <a:lnTo>
                  <a:pt x="377" y="0"/>
                </a:lnTo>
                <a:lnTo>
                  <a:pt x="393" y="0"/>
                </a:lnTo>
                <a:lnTo>
                  <a:pt x="393" y="8"/>
                </a:lnTo>
                <a:lnTo>
                  <a:pt x="377" y="8"/>
                </a:lnTo>
                <a:lnTo>
                  <a:pt x="360" y="8"/>
                </a:lnTo>
                <a:lnTo>
                  <a:pt x="344" y="9"/>
                </a:lnTo>
                <a:lnTo>
                  <a:pt x="327" y="10"/>
                </a:lnTo>
                <a:lnTo>
                  <a:pt x="311" y="10"/>
                </a:lnTo>
                <a:lnTo>
                  <a:pt x="295" y="11"/>
                </a:lnTo>
                <a:lnTo>
                  <a:pt x="278" y="12"/>
                </a:lnTo>
                <a:lnTo>
                  <a:pt x="262" y="13"/>
                </a:lnTo>
                <a:lnTo>
                  <a:pt x="246" y="15"/>
                </a:lnTo>
                <a:lnTo>
                  <a:pt x="229" y="16"/>
                </a:lnTo>
                <a:lnTo>
                  <a:pt x="213" y="17"/>
                </a:lnTo>
                <a:lnTo>
                  <a:pt x="196" y="19"/>
                </a:lnTo>
                <a:lnTo>
                  <a:pt x="180" y="20"/>
                </a:lnTo>
                <a:lnTo>
                  <a:pt x="164" y="21"/>
                </a:lnTo>
                <a:lnTo>
                  <a:pt x="147" y="22"/>
                </a:lnTo>
                <a:lnTo>
                  <a:pt x="131" y="24"/>
                </a:lnTo>
                <a:lnTo>
                  <a:pt x="114" y="25"/>
                </a:lnTo>
                <a:lnTo>
                  <a:pt x="98" y="26"/>
                </a:lnTo>
                <a:lnTo>
                  <a:pt x="82" y="27"/>
                </a:lnTo>
                <a:lnTo>
                  <a:pt x="65" y="27"/>
                </a:lnTo>
                <a:lnTo>
                  <a:pt x="49" y="28"/>
                </a:lnTo>
                <a:lnTo>
                  <a:pt x="33" y="29"/>
                </a:lnTo>
                <a:lnTo>
                  <a:pt x="16" y="29"/>
                </a:lnTo>
                <a:lnTo>
                  <a:pt x="0" y="29"/>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41195" y="1304925"/>
            <a:ext cx="114300" cy="471494"/>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7175" y="1304925"/>
            <a:ext cx="1626870" cy="471494"/>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Rectangle 43"/>
          <p:cNvSpPr/>
          <p:nvPr/>
        </p:nvSpPr>
        <p:spPr>
          <a:xfrm>
            <a:off x="1941195" y="1833569"/>
            <a:ext cx="114300" cy="471494"/>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7175" y="1833569"/>
            <a:ext cx="1626870" cy="471494"/>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Rectangle 45"/>
          <p:cNvSpPr/>
          <p:nvPr/>
        </p:nvSpPr>
        <p:spPr>
          <a:xfrm>
            <a:off x="1941195" y="2362213"/>
            <a:ext cx="114300" cy="47149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7175" y="2362213"/>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Rectangle 47"/>
          <p:cNvSpPr/>
          <p:nvPr/>
        </p:nvSpPr>
        <p:spPr>
          <a:xfrm>
            <a:off x="1941195" y="2890852"/>
            <a:ext cx="114300" cy="471490"/>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7175" y="2890852"/>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Rectangle 49"/>
          <p:cNvSpPr/>
          <p:nvPr/>
        </p:nvSpPr>
        <p:spPr>
          <a:xfrm>
            <a:off x="1941195" y="3419492"/>
            <a:ext cx="114300" cy="47149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7175" y="3419492"/>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Rectangle 51"/>
          <p:cNvSpPr/>
          <p:nvPr/>
        </p:nvSpPr>
        <p:spPr>
          <a:xfrm>
            <a:off x="1941195" y="3948132"/>
            <a:ext cx="114300" cy="47149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7175" y="3948132"/>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4" name="Rectangle 53"/>
          <p:cNvSpPr/>
          <p:nvPr/>
        </p:nvSpPr>
        <p:spPr>
          <a:xfrm>
            <a:off x="1941195" y="4476771"/>
            <a:ext cx="114300" cy="47148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7175" y="4476771"/>
            <a:ext cx="1626870" cy="47148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6" name="Rectangle 55"/>
          <p:cNvSpPr/>
          <p:nvPr/>
        </p:nvSpPr>
        <p:spPr>
          <a:xfrm>
            <a:off x="1941195" y="5005407"/>
            <a:ext cx="114300" cy="47148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7175" y="5005407"/>
            <a:ext cx="1626870" cy="47148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8" name="Rectangle 57"/>
          <p:cNvSpPr/>
          <p:nvPr/>
        </p:nvSpPr>
        <p:spPr>
          <a:xfrm>
            <a:off x="1941195" y="5534042"/>
            <a:ext cx="114300" cy="47148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7175" y="5534042"/>
            <a:ext cx="1626870" cy="47148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0" name="Rectangle 59"/>
          <p:cNvSpPr/>
          <p:nvPr/>
        </p:nvSpPr>
        <p:spPr>
          <a:xfrm>
            <a:off x="1941195" y="6062677"/>
            <a:ext cx="114300" cy="471473"/>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7175" y="6062677"/>
            <a:ext cx="1626870" cy="471473"/>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2" name="Rectangle 61"/>
          <p:cNvSpPr/>
          <p:nvPr/>
        </p:nvSpPr>
        <p:spPr>
          <a:xfrm>
            <a:off x="5800725" y="1504950"/>
            <a:ext cx="114300" cy="296038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72175" y="1504950"/>
            <a:ext cx="1381125" cy="2960387"/>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4" name="Rectangle 63"/>
          <p:cNvSpPr/>
          <p:nvPr/>
        </p:nvSpPr>
        <p:spPr>
          <a:xfrm>
            <a:off x="5800725" y="4522487"/>
            <a:ext cx="114300" cy="98685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72175" y="4522487"/>
            <a:ext cx="1381125" cy="986854"/>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6" name="Rectangle 65"/>
          <p:cNvSpPr/>
          <p:nvPr/>
        </p:nvSpPr>
        <p:spPr>
          <a:xfrm>
            <a:off x="5800725" y="5566491"/>
            <a:ext cx="114300" cy="76763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72175" y="5566491"/>
            <a:ext cx="1381125" cy="767634"/>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8" name="Rounded Rectangle 67"/>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70" name="Rectangle 69"/>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2" name="TextBox 7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73" name="TextBox 72"/>
          <p:cNvSpPr txBox="1"/>
          <p:nvPr/>
        </p:nvSpPr>
        <p:spPr>
          <a:xfrm>
            <a:off x="794052" y="1373032"/>
            <a:ext cx="1070942" cy="186689"/>
          </a:xfrm>
          <a:prstGeom prst="rect">
            <a:avLst/>
          </a:prstGeom>
          <a:noFill/>
        </p:spPr>
        <p:txBody>
          <a:bodyPr wrap="none" lIns="0" rIns="0" tIns="0" bIns="0">
            <a:spAutoFit/>
          </a:bodyPr>
          <a:lstStyle/>
          <a:p>
            <a:r>
              <a:rPr sz="1100" b="1">
                <a:solidFill>
                  <a:srgbClr val="2E2E2E"/>
                </a:solidFill>
                <a:latin typeface="Calibri"/>
              </a:rPr>
              <a:t>Stallergenes Greer</a:t>
            </a:r>
          </a:p>
        </p:txBody>
      </p:sp>
      <p:sp>
        <p:nvSpPr>
          <p:cNvPr id="74" name="TextBox 73"/>
          <p:cNvSpPr txBox="1"/>
          <p:nvPr/>
        </p:nvSpPr>
        <p:spPr>
          <a:xfrm>
            <a:off x="744279" y="1540671"/>
            <a:ext cx="1042887" cy="186689"/>
          </a:xfrm>
          <a:prstGeom prst="rect">
            <a:avLst/>
          </a:prstGeom>
          <a:noFill/>
        </p:spPr>
        <p:txBody>
          <a:bodyPr wrap="none" lIns="0" rIns="0" tIns="0" bIns="0">
            <a:spAutoFit/>
          </a:bodyPr>
          <a:lstStyle/>
          <a:p>
            <a:r>
              <a:rPr sz="1100" b="1">
                <a:solidFill>
                  <a:srgbClr val="2E2E2E"/>
                </a:solidFill>
                <a:latin typeface="Calibri"/>
              </a:rPr>
              <a:t>International AG</a:t>
            </a:r>
          </a:p>
        </p:txBody>
      </p:sp>
      <p:pic>
        <p:nvPicPr>
          <p:cNvPr id="75" name="Picture 74" descr="lock.png"/>
          <p:cNvPicPr>
            <a:picLocks noChangeAspect="1"/>
          </p:cNvPicPr>
          <p:nvPr/>
        </p:nvPicPr>
        <p:blipFill>
          <a:blip r:embed="rId4"/>
          <a:stretch>
            <a:fillRect/>
          </a:stretch>
        </p:blipFill>
        <p:spPr>
          <a:xfrm>
            <a:off x="1735218" y="1530893"/>
            <a:ext cx="128699" cy="187198"/>
          </a:xfrm>
          <a:prstGeom prst="rect">
            <a:avLst/>
          </a:prstGeom>
        </p:spPr>
      </p:pic>
      <p:sp>
        <p:nvSpPr>
          <p:cNvPr id="76" name="TextBox 75"/>
          <p:cNvSpPr txBox="1"/>
          <p:nvPr/>
        </p:nvSpPr>
        <p:spPr>
          <a:xfrm>
            <a:off x="470996" y="1901676"/>
            <a:ext cx="1393998" cy="186689"/>
          </a:xfrm>
          <a:prstGeom prst="rect">
            <a:avLst/>
          </a:prstGeom>
          <a:noFill/>
        </p:spPr>
        <p:txBody>
          <a:bodyPr wrap="none" lIns="0" rIns="0" tIns="0" bIns="0">
            <a:spAutoFit/>
          </a:bodyPr>
          <a:lstStyle/>
          <a:p>
            <a:r>
              <a:rPr sz="1100" b="1">
                <a:solidFill>
                  <a:srgbClr val="2E2E2E"/>
                </a:solidFill>
                <a:latin typeface="Calibri"/>
              </a:rPr>
              <a:t>Allergopharma GmbH &amp;</a:t>
            </a:r>
          </a:p>
        </p:txBody>
      </p:sp>
      <p:sp>
        <p:nvSpPr>
          <p:cNvPr id="77" name="TextBox 76"/>
          <p:cNvSpPr txBox="1"/>
          <p:nvPr/>
        </p:nvSpPr>
        <p:spPr>
          <a:xfrm>
            <a:off x="1327695" y="2069315"/>
            <a:ext cx="459471" cy="186689"/>
          </a:xfrm>
          <a:prstGeom prst="rect">
            <a:avLst/>
          </a:prstGeom>
          <a:noFill/>
        </p:spPr>
        <p:txBody>
          <a:bodyPr wrap="none" lIns="0" rIns="0" tIns="0" bIns="0">
            <a:spAutoFit/>
          </a:bodyPr>
          <a:lstStyle/>
          <a:p>
            <a:r>
              <a:rPr sz="1100" b="1">
                <a:solidFill>
                  <a:srgbClr val="2E2E2E"/>
                </a:solidFill>
                <a:latin typeface="Calibri"/>
              </a:rPr>
              <a:t>Co. KG</a:t>
            </a:r>
          </a:p>
        </p:txBody>
      </p:sp>
      <p:pic>
        <p:nvPicPr>
          <p:cNvPr id="78" name="Picture 77" descr="lock.png"/>
          <p:cNvPicPr>
            <a:picLocks noChangeAspect="1"/>
          </p:cNvPicPr>
          <p:nvPr/>
        </p:nvPicPr>
        <p:blipFill>
          <a:blip r:embed="rId4"/>
          <a:stretch>
            <a:fillRect/>
          </a:stretch>
        </p:blipFill>
        <p:spPr>
          <a:xfrm>
            <a:off x="1735218" y="2059537"/>
            <a:ext cx="128699" cy="187198"/>
          </a:xfrm>
          <a:prstGeom prst="rect">
            <a:avLst/>
          </a:prstGeom>
        </p:spPr>
      </p:pic>
      <p:sp>
        <p:nvSpPr>
          <p:cNvPr id="79" name="TextBox 78"/>
          <p:cNvSpPr txBox="1"/>
          <p:nvPr/>
        </p:nvSpPr>
        <p:spPr>
          <a:xfrm>
            <a:off x="289550" y="2430318"/>
            <a:ext cx="1575444" cy="186689"/>
          </a:xfrm>
          <a:prstGeom prst="rect">
            <a:avLst/>
          </a:prstGeom>
          <a:noFill/>
        </p:spPr>
        <p:txBody>
          <a:bodyPr wrap="none" lIns="0" rIns="0" tIns="0" bIns="0">
            <a:spAutoFit/>
          </a:bodyPr>
          <a:lstStyle/>
          <a:p>
            <a:r>
              <a:rPr sz="1100" b="1">
                <a:solidFill>
                  <a:srgbClr val="2E2E2E"/>
                </a:solidFill>
                <a:latin typeface="Calibri"/>
              </a:rPr>
              <a:t>LETI Pharma / Laboratorios</a:t>
            </a:r>
          </a:p>
        </p:txBody>
      </p:sp>
      <p:sp>
        <p:nvSpPr>
          <p:cNvPr id="80" name="TextBox 79"/>
          <p:cNvSpPr txBox="1"/>
          <p:nvPr/>
        </p:nvSpPr>
        <p:spPr>
          <a:xfrm>
            <a:off x="1080679" y="2597958"/>
            <a:ext cx="706487" cy="186689"/>
          </a:xfrm>
          <a:prstGeom prst="rect">
            <a:avLst/>
          </a:prstGeom>
          <a:noFill/>
        </p:spPr>
        <p:txBody>
          <a:bodyPr wrap="none" lIns="0" rIns="0" tIns="0" bIns="0">
            <a:spAutoFit/>
          </a:bodyPr>
          <a:lstStyle/>
          <a:p>
            <a:r>
              <a:rPr sz="1100" b="1">
                <a:solidFill>
                  <a:srgbClr val="2E2E2E"/>
                </a:solidFill>
                <a:latin typeface="Calibri"/>
              </a:rPr>
              <a:t>LETI, S.L.U.</a:t>
            </a:r>
          </a:p>
        </p:txBody>
      </p:sp>
      <p:pic>
        <p:nvPicPr>
          <p:cNvPr id="81" name="Picture 80" descr="lock.png"/>
          <p:cNvPicPr>
            <a:picLocks noChangeAspect="1"/>
          </p:cNvPicPr>
          <p:nvPr/>
        </p:nvPicPr>
        <p:blipFill>
          <a:blip r:embed="rId4"/>
          <a:stretch>
            <a:fillRect/>
          </a:stretch>
        </p:blipFill>
        <p:spPr>
          <a:xfrm>
            <a:off x="1735218" y="2588179"/>
            <a:ext cx="128699" cy="187198"/>
          </a:xfrm>
          <a:prstGeom prst="rect">
            <a:avLst/>
          </a:prstGeom>
        </p:spPr>
      </p:pic>
      <p:sp>
        <p:nvSpPr>
          <p:cNvPr id="82" name="TextBox 81"/>
          <p:cNvSpPr txBox="1"/>
          <p:nvPr/>
        </p:nvSpPr>
        <p:spPr>
          <a:xfrm>
            <a:off x="831881" y="3042777"/>
            <a:ext cx="955285" cy="186689"/>
          </a:xfrm>
          <a:prstGeom prst="rect">
            <a:avLst/>
          </a:prstGeom>
          <a:noFill/>
        </p:spPr>
        <p:txBody>
          <a:bodyPr wrap="none" lIns="0" rIns="0" tIns="0" bIns="0">
            <a:spAutoFit/>
          </a:bodyPr>
          <a:lstStyle/>
          <a:p>
            <a:r>
              <a:rPr sz="1100" b="1">
                <a:solidFill>
                  <a:srgbClr val="2E2E2E"/>
                </a:solidFill>
                <a:latin typeface="Calibri"/>
              </a:rPr>
              <a:t>ALK-Abelló A/S</a:t>
            </a:r>
          </a:p>
        </p:txBody>
      </p:sp>
      <p:pic>
        <p:nvPicPr>
          <p:cNvPr id="83" name="Picture 82" descr="lock.png"/>
          <p:cNvPicPr>
            <a:picLocks noChangeAspect="1"/>
          </p:cNvPicPr>
          <p:nvPr/>
        </p:nvPicPr>
        <p:blipFill>
          <a:blip r:embed="rId4"/>
          <a:stretch>
            <a:fillRect/>
          </a:stretch>
        </p:blipFill>
        <p:spPr>
          <a:xfrm>
            <a:off x="1735218" y="3032998"/>
            <a:ext cx="128699" cy="187198"/>
          </a:xfrm>
          <a:prstGeom prst="rect">
            <a:avLst/>
          </a:prstGeom>
        </p:spPr>
      </p:pic>
      <p:sp>
        <p:nvSpPr>
          <p:cNvPr id="84" name="TextBox 83"/>
          <p:cNvSpPr txBox="1"/>
          <p:nvPr/>
        </p:nvSpPr>
        <p:spPr>
          <a:xfrm>
            <a:off x="522595" y="3571417"/>
            <a:ext cx="1264570" cy="186689"/>
          </a:xfrm>
          <a:prstGeom prst="rect">
            <a:avLst/>
          </a:prstGeom>
          <a:noFill/>
        </p:spPr>
        <p:txBody>
          <a:bodyPr wrap="none" lIns="0" rIns="0" tIns="0" bIns="0">
            <a:spAutoFit/>
          </a:bodyPr>
          <a:lstStyle/>
          <a:p>
            <a:r>
              <a:rPr sz="1100" b="1">
                <a:solidFill>
                  <a:srgbClr val="2E2E2E"/>
                </a:solidFill>
                <a:latin typeface="Calibri"/>
              </a:rPr>
              <a:t>DIATER Laboratories</a:t>
            </a:r>
          </a:p>
        </p:txBody>
      </p:sp>
      <p:pic>
        <p:nvPicPr>
          <p:cNvPr id="85" name="Picture 84" descr="lock.png"/>
          <p:cNvPicPr>
            <a:picLocks noChangeAspect="1"/>
          </p:cNvPicPr>
          <p:nvPr/>
        </p:nvPicPr>
        <p:blipFill>
          <a:blip r:embed="rId4"/>
          <a:stretch>
            <a:fillRect/>
          </a:stretch>
        </p:blipFill>
        <p:spPr>
          <a:xfrm>
            <a:off x="1735218" y="3561638"/>
            <a:ext cx="128699" cy="187198"/>
          </a:xfrm>
          <a:prstGeom prst="rect">
            <a:avLst/>
          </a:prstGeom>
        </p:spPr>
      </p:pic>
      <p:sp>
        <p:nvSpPr>
          <p:cNvPr id="86" name="TextBox 85"/>
          <p:cNvSpPr txBox="1"/>
          <p:nvPr/>
        </p:nvSpPr>
        <p:spPr>
          <a:xfrm>
            <a:off x="646026" y="4100057"/>
            <a:ext cx="1141139" cy="186689"/>
          </a:xfrm>
          <a:prstGeom prst="rect">
            <a:avLst/>
          </a:prstGeom>
          <a:noFill/>
        </p:spPr>
        <p:txBody>
          <a:bodyPr wrap="none" lIns="0" rIns="0" tIns="0" bIns="0">
            <a:spAutoFit/>
          </a:bodyPr>
          <a:lstStyle/>
          <a:p>
            <a:r>
              <a:rPr sz="1100" b="1">
                <a:solidFill>
                  <a:srgbClr val="2E2E2E"/>
                </a:solidFill>
                <a:latin typeface="Calibri"/>
              </a:rPr>
              <a:t>HAL Allergy Group</a:t>
            </a:r>
          </a:p>
        </p:txBody>
      </p:sp>
      <p:pic>
        <p:nvPicPr>
          <p:cNvPr id="87" name="Picture 86" descr="lock.png"/>
          <p:cNvPicPr>
            <a:picLocks noChangeAspect="1"/>
          </p:cNvPicPr>
          <p:nvPr/>
        </p:nvPicPr>
        <p:blipFill>
          <a:blip r:embed="rId4"/>
          <a:stretch>
            <a:fillRect/>
          </a:stretch>
        </p:blipFill>
        <p:spPr>
          <a:xfrm>
            <a:off x="1735218" y="4090278"/>
            <a:ext cx="128699" cy="187198"/>
          </a:xfrm>
          <a:prstGeom prst="rect">
            <a:avLst/>
          </a:prstGeom>
        </p:spPr>
      </p:pic>
      <p:sp>
        <p:nvSpPr>
          <p:cNvPr id="88" name="TextBox 87"/>
          <p:cNvSpPr txBox="1"/>
          <p:nvPr/>
        </p:nvSpPr>
        <p:spPr>
          <a:xfrm>
            <a:off x="841934" y="4628693"/>
            <a:ext cx="945232" cy="186689"/>
          </a:xfrm>
          <a:prstGeom prst="rect">
            <a:avLst/>
          </a:prstGeom>
          <a:noFill/>
        </p:spPr>
        <p:txBody>
          <a:bodyPr wrap="none" lIns="0" rIns="0" tIns="0" bIns="0">
            <a:spAutoFit/>
          </a:bodyPr>
          <a:lstStyle/>
          <a:p>
            <a:r>
              <a:rPr sz="1100" b="1">
                <a:solidFill>
                  <a:srgbClr val="2E2E2E"/>
                </a:solidFill>
                <a:latin typeface="Calibri"/>
              </a:rPr>
              <a:t>Inmunotek S.L.</a:t>
            </a:r>
          </a:p>
        </p:txBody>
      </p:sp>
      <p:pic>
        <p:nvPicPr>
          <p:cNvPr id="89" name="Picture 88" descr="lock.png"/>
          <p:cNvPicPr>
            <a:picLocks noChangeAspect="1"/>
          </p:cNvPicPr>
          <p:nvPr/>
        </p:nvPicPr>
        <p:blipFill>
          <a:blip r:embed="rId4"/>
          <a:stretch>
            <a:fillRect/>
          </a:stretch>
        </p:blipFill>
        <p:spPr>
          <a:xfrm>
            <a:off x="1735218" y="4618914"/>
            <a:ext cx="128699" cy="187198"/>
          </a:xfrm>
          <a:prstGeom prst="rect">
            <a:avLst/>
          </a:prstGeom>
        </p:spPr>
      </p:pic>
      <p:sp>
        <p:nvSpPr>
          <p:cNvPr id="90" name="TextBox 89"/>
          <p:cNvSpPr txBox="1"/>
          <p:nvPr/>
        </p:nvSpPr>
        <p:spPr>
          <a:xfrm>
            <a:off x="391894" y="5073509"/>
            <a:ext cx="1473100" cy="186689"/>
          </a:xfrm>
          <a:prstGeom prst="rect">
            <a:avLst/>
          </a:prstGeom>
          <a:noFill/>
        </p:spPr>
        <p:txBody>
          <a:bodyPr wrap="none" lIns="0" rIns="0" tIns="0" bIns="0">
            <a:spAutoFit/>
          </a:bodyPr>
          <a:lstStyle/>
          <a:p>
            <a:r>
              <a:rPr sz="1100" b="1">
                <a:solidFill>
                  <a:srgbClr val="2E2E2E"/>
                </a:solidFill>
                <a:latin typeface="Calibri"/>
              </a:rPr>
              <a:t>Jubilant HollisterStier LLC</a:t>
            </a:r>
          </a:p>
        </p:txBody>
      </p:sp>
      <p:pic>
        <p:nvPicPr>
          <p:cNvPr id="91" name="Picture 90" descr="lock.png"/>
          <p:cNvPicPr>
            <a:picLocks noChangeAspect="1"/>
          </p:cNvPicPr>
          <p:nvPr/>
        </p:nvPicPr>
        <p:blipFill>
          <a:blip r:embed="rId4"/>
          <a:stretch>
            <a:fillRect/>
          </a:stretch>
        </p:blipFill>
        <p:spPr>
          <a:xfrm>
            <a:off x="1735218" y="5231370"/>
            <a:ext cx="128699" cy="187198"/>
          </a:xfrm>
          <a:prstGeom prst="rect">
            <a:avLst/>
          </a:prstGeom>
        </p:spPr>
      </p:pic>
      <p:sp>
        <p:nvSpPr>
          <p:cNvPr id="92" name="TextBox 91"/>
          <p:cNvSpPr txBox="1"/>
          <p:nvPr/>
        </p:nvSpPr>
        <p:spPr>
          <a:xfrm>
            <a:off x="476999" y="5602144"/>
            <a:ext cx="1387995" cy="186689"/>
          </a:xfrm>
          <a:prstGeom prst="rect">
            <a:avLst/>
          </a:prstGeom>
          <a:noFill/>
        </p:spPr>
        <p:txBody>
          <a:bodyPr wrap="none" lIns="0" rIns="0" tIns="0" bIns="0">
            <a:spAutoFit/>
          </a:bodyPr>
          <a:lstStyle/>
          <a:p>
            <a:r>
              <a:rPr sz="1100" b="1">
                <a:solidFill>
                  <a:srgbClr val="2E2E2E"/>
                </a:solidFill>
                <a:latin typeface="Calibri"/>
              </a:rPr>
              <a:t>Allergy Therapeutics plc</a:t>
            </a:r>
          </a:p>
        </p:txBody>
      </p:sp>
      <p:pic>
        <p:nvPicPr>
          <p:cNvPr id="93" name="Picture 92" descr="lock.png"/>
          <p:cNvPicPr>
            <a:picLocks noChangeAspect="1"/>
          </p:cNvPicPr>
          <p:nvPr/>
        </p:nvPicPr>
        <p:blipFill>
          <a:blip r:embed="rId4"/>
          <a:stretch>
            <a:fillRect/>
          </a:stretch>
        </p:blipFill>
        <p:spPr>
          <a:xfrm>
            <a:off x="1735218" y="5760005"/>
            <a:ext cx="128699" cy="187198"/>
          </a:xfrm>
          <a:prstGeom prst="rect">
            <a:avLst/>
          </a:prstGeom>
        </p:spPr>
      </p:pic>
      <p:sp>
        <p:nvSpPr>
          <p:cNvPr id="94" name="TextBox 93"/>
          <p:cNvSpPr txBox="1"/>
          <p:nvPr/>
        </p:nvSpPr>
        <p:spPr>
          <a:xfrm>
            <a:off x="416971" y="6130773"/>
            <a:ext cx="1448023" cy="186689"/>
          </a:xfrm>
          <a:prstGeom prst="rect">
            <a:avLst/>
          </a:prstGeom>
          <a:noFill/>
        </p:spPr>
        <p:txBody>
          <a:bodyPr wrap="none" lIns="0" rIns="0" tIns="0" bIns="0">
            <a:spAutoFit/>
          </a:bodyPr>
          <a:lstStyle/>
          <a:p>
            <a:r>
              <a:rPr sz="1100" b="1">
                <a:solidFill>
                  <a:srgbClr val="2E2E2E"/>
                </a:solidFill>
                <a:latin typeface="Calibri"/>
              </a:rPr>
              <a:t>Torii Pharmaceutical Co.,</a:t>
            </a:r>
          </a:p>
        </p:txBody>
      </p:sp>
      <p:sp>
        <p:nvSpPr>
          <p:cNvPr id="95" name="TextBox 94"/>
          <p:cNvSpPr txBox="1"/>
          <p:nvPr/>
        </p:nvSpPr>
        <p:spPr>
          <a:xfrm>
            <a:off x="1490818" y="6298413"/>
            <a:ext cx="296348" cy="186689"/>
          </a:xfrm>
          <a:prstGeom prst="rect">
            <a:avLst/>
          </a:prstGeom>
          <a:noFill/>
        </p:spPr>
        <p:txBody>
          <a:bodyPr wrap="none" lIns="0" rIns="0" tIns="0" bIns="0">
            <a:spAutoFit/>
          </a:bodyPr>
          <a:lstStyle/>
          <a:p>
            <a:r>
              <a:rPr sz="1100" b="1">
                <a:solidFill>
                  <a:srgbClr val="2E2E2E"/>
                </a:solidFill>
                <a:latin typeface="Calibri"/>
              </a:rPr>
              <a:t>Ltd.</a:t>
            </a:r>
          </a:p>
        </p:txBody>
      </p:sp>
      <p:pic>
        <p:nvPicPr>
          <p:cNvPr id="96" name="Picture 95" descr="lock.png"/>
          <p:cNvPicPr>
            <a:picLocks noChangeAspect="1"/>
          </p:cNvPicPr>
          <p:nvPr/>
        </p:nvPicPr>
        <p:blipFill>
          <a:blip r:embed="rId4"/>
          <a:stretch>
            <a:fillRect/>
          </a:stretch>
        </p:blipFill>
        <p:spPr>
          <a:xfrm>
            <a:off x="1735218" y="6288634"/>
            <a:ext cx="128699" cy="187198"/>
          </a:xfrm>
          <a:prstGeom prst="rect">
            <a:avLst/>
          </a:prstGeom>
        </p:spPr>
      </p:pic>
      <p:sp>
        <p:nvSpPr>
          <p:cNvPr id="97" name="TextBox 96"/>
          <p:cNvSpPr txBox="1"/>
          <p:nvPr/>
        </p:nvSpPr>
        <p:spPr>
          <a:xfrm>
            <a:off x="5972175" y="2901323"/>
            <a:ext cx="1132135" cy="186689"/>
          </a:xfrm>
          <a:prstGeom prst="rect">
            <a:avLst/>
          </a:prstGeom>
          <a:noFill/>
        </p:spPr>
        <p:txBody>
          <a:bodyPr wrap="none" lIns="0" rIns="0" tIns="0" bIns="0">
            <a:spAutoFit/>
          </a:bodyPr>
          <a:lstStyle/>
          <a:p>
            <a:r>
              <a:rPr sz="1100" b="1">
                <a:solidFill>
                  <a:srgbClr val="2E2E2E"/>
                </a:solidFill>
                <a:latin typeface="Calibri"/>
              </a:rPr>
              <a:t>Inhalant Allergens</a:t>
            </a:r>
          </a:p>
        </p:txBody>
      </p:sp>
      <p:pic>
        <p:nvPicPr>
          <p:cNvPr id="98" name="Picture 97" descr="lock.png"/>
          <p:cNvPicPr>
            <a:picLocks noChangeAspect="1"/>
          </p:cNvPicPr>
          <p:nvPr/>
        </p:nvPicPr>
        <p:blipFill>
          <a:blip r:embed="rId4"/>
          <a:stretch>
            <a:fillRect/>
          </a:stretch>
        </p:blipFill>
        <p:spPr>
          <a:xfrm>
            <a:off x="7052362" y="2891544"/>
            <a:ext cx="128699" cy="187198"/>
          </a:xfrm>
          <a:prstGeom prst="rect">
            <a:avLst/>
          </a:prstGeom>
        </p:spPr>
      </p:pic>
      <p:sp>
        <p:nvSpPr>
          <p:cNvPr id="99" name="TextBox 98"/>
          <p:cNvSpPr txBox="1"/>
          <p:nvPr/>
        </p:nvSpPr>
        <p:spPr>
          <a:xfrm>
            <a:off x="5972175" y="4932094"/>
            <a:ext cx="937839" cy="186689"/>
          </a:xfrm>
          <a:prstGeom prst="rect">
            <a:avLst/>
          </a:prstGeom>
          <a:noFill/>
        </p:spPr>
        <p:txBody>
          <a:bodyPr wrap="none" lIns="0" rIns="0" tIns="0" bIns="0">
            <a:spAutoFit/>
          </a:bodyPr>
          <a:lstStyle/>
          <a:p>
            <a:r>
              <a:rPr sz="1100" b="1">
                <a:solidFill>
                  <a:srgbClr val="2E2E2E"/>
                </a:solidFill>
                <a:latin typeface="Calibri"/>
              </a:rPr>
              <a:t>Food Allergens</a:t>
            </a:r>
          </a:p>
        </p:txBody>
      </p:sp>
      <p:pic>
        <p:nvPicPr>
          <p:cNvPr id="100" name="Picture 99" descr="lock.png"/>
          <p:cNvPicPr>
            <a:picLocks noChangeAspect="1"/>
          </p:cNvPicPr>
          <p:nvPr/>
        </p:nvPicPr>
        <p:blipFill>
          <a:blip r:embed="rId4"/>
          <a:stretch>
            <a:fillRect/>
          </a:stretch>
        </p:blipFill>
        <p:spPr>
          <a:xfrm>
            <a:off x="6858066" y="4922314"/>
            <a:ext cx="128699" cy="187198"/>
          </a:xfrm>
          <a:prstGeom prst="rect">
            <a:avLst/>
          </a:prstGeom>
        </p:spPr>
      </p:pic>
      <p:sp>
        <p:nvSpPr>
          <p:cNvPr id="101" name="TextBox 100"/>
          <p:cNvSpPr txBox="1"/>
          <p:nvPr/>
        </p:nvSpPr>
        <p:spPr>
          <a:xfrm>
            <a:off x="5972175" y="5866488"/>
            <a:ext cx="1065559" cy="186689"/>
          </a:xfrm>
          <a:prstGeom prst="rect">
            <a:avLst/>
          </a:prstGeom>
          <a:noFill/>
        </p:spPr>
        <p:txBody>
          <a:bodyPr wrap="none" lIns="0" rIns="0" tIns="0" bIns="0">
            <a:spAutoFit/>
          </a:bodyPr>
          <a:lstStyle/>
          <a:p>
            <a:r>
              <a:rPr sz="1100" b="1">
                <a:solidFill>
                  <a:srgbClr val="2E2E2E"/>
                </a:solidFill>
                <a:latin typeface="Calibri"/>
              </a:rPr>
              <a:t>Venom Allergens</a:t>
            </a:r>
          </a:p>
        </p:txBody>
      </p:sp>
      <p:pic>
        <p:nvPicPr>
          <p:cNvPr id="102" name="Picture 101" descr="lock.png"/>
          <p:cNvPicPr>
            <a:picLocks noChangeAspect="1"/>
          </p:cNvPicPr>
          <p:nvPr/>
        </p:nvPicPr>
        <p:blipFill>
          <a:blip r:embed="rId4"/>
          <a:stretch>
            <a:fillRect/>
          </a:stretch>
        </p:blipFill>
        <p:spPr>
          <a:xfrm>
            <a:off x="6985786" y="5856708"/>
            <a:ext cx="128699" cy="187198"/>
          </a:xfrm>
          <a:prstGeom prst="rect">
            <a:avLst/>
          </a:prstGeom>
        </p:spPr>
      </p:pic>
      <p:sp>
        <p:nvSpPr>
          <p:cNvPr id="103" name="TextBox 102"/>
          <p:cNvSpPr txBox="1"/>
          <p:nvPr/>
        </p:nvSpPr>
        <p:spPr>
          <a:xfrm>
            <a:off x="7715250" y="1400175"/>
            <a:ext cx="4105678" cy="194310"/>
          </a:xfrm>
          <a:prstGeom prst="rect">
            <a:avLst/>
          </a:prstGeom>
          <a:noFill/>
        </p:spPr>
        <p:txBody>
          <a:bodyPr wrap="none" lIns="0" rIns="0" tIns="0" bIns="0">
            <a:spAutoFit/>
          </a:bodyPr>
          <a:lstStyle/>
          <a:p>
            <a:r>
              <a:rPr sz="1150" b="0">
                <a:solidFill>
                  <a:srgbClr val="2E2E2E"/>
                </a:solidFill>
                <a:latin typeface="Calibri"/>
              </a:rPr>
              <a:t>Stallergenes greer international AG segment is projected to account</a:t>
            </a:r>
          </a:p>
        </p:txBody>
      </p:sp>
      <p:sp>
        <p:nvSpPr>
          <p:cNvPr id="104" name="TextBox 103"/>
          <p:cNvSpPr txBox="1"/>
          <p:nvPr/>
        </p:nvSpPr>
        <p:spPr>
          <a:xfrm>
            <a:off x="7715250" y="1575435"/>
            <a:ext cx="4171950" cy="194310"/>
          </a:xfrm>
          <a:prstGeom prst="rect">
            <a:avLst/>
          </a:prstGeom>
          <a:noFill/>
        </p:spPr>
        <p:txBody>
          <a:bodyPr wrap="none" lIns="0" rIns="0" tIns="0" bIns="0">
            <a:spAutoFit/>
          </a:bodyPr>
          <a:lstStyle/>
          <a:p>
            <a:r>
              <a:rPr sz="1150" b="0">
                <a:solidFill>
                  <a:srgbClr val="2E2E2E"/>
                </a:solidFill>
                <a:latin typeface="Calibri"/>
              </a:rPr>
              <a:t>for the largest share of the U.S. allergy immunotherapy market, led by</a:t>
            </a:r>
          </a:p>
        </p:txBody>
      </p:sp>
      <p:sp>
        <p:nvSpPr>
          <p:cNvPr id="105" name="TextBox 104"/>
          <p:cNvSpPr txBox="1"/>
          <p:nvPr/>
        </p:nvSpPr>
        <p:spPr>
          <a:xfrm>
            <a:off x="7715250" y="1750695"/>
            <a:ext cx="1552103" cy="194310"/>
          </a:xfrm>
          <a:prstGeom prst="rect">
            <a:avLst/>
          </a:prstGeom>
          <a:noFill/>
        </p:spPr>
        <p:txBody>
          <a:bodyPr wrap="none" lIns="0" rIns="0" tIns="0" bIns="0">
            <a:spAutoFit/>
          </a:bodyPr>
          <a:lstStyle/>
          <a:p>
            <a:r>
              <a:rPr sz="1150" b="0">
                <a:solidFill>
                  <a:srgbClr val="2E2E2E"/>
                </a:solidFill>
                <a:latin typeface="Calibri"/>
              </a:rPr>
              <a:t>inhalant allergens at US$</a:t>
            </a:r>
          </a:p>
        </p:txBody>
      </p:sp>
      <p:pic>
        <p:nvPicPr>
          <p:cNvPr id="106" name="Picture 105" descr="lock.png"/>
          <p:cNvPicPr>
            <a:picLocks noChangeAspect="1"/>
          </p:cNvPicPr>
          <p:nvPr/>
        </p:nvPicPr>
        <p:blipFill>
          <a:blip r:embed="rId4"/>
          <a:stretch>
            <a:fillRect/>
          </a:stretch>
        </p:blipFill>
        <p:spPr>
          <a:xfrm>
            <a:off x="9216507" y="1740471"/>
            <a:ext cx="134549" cy="195707"/>
          </a:xfrm>
          <a:prstGeom prst="rect">
            <a:avLst/>
          </a:prstGeom>
        </p:spPr>
      </p:pic>
      <p:sp>
        <p:nvSpPr>
          <p:cNvPr id="107" name="TextBox 106"/>
          <p:cNvSpPr txBox="1"/>
          <p:nvPr/>
        </p:nvSpPr>
        <p:spPr>
          <a:xfrm>
            <a:off x="9391616" y="1750695"/>
            <a:ext cx="2277789" cy="194310"/>
          </a:xfrm>
          <a:prstGeom prst="rect">
            <a:avLst/>
          </a:prstGeom>
          <a:noFill/>
        </p:spPr>
        <p:txBody>
          <a:bodyPr wrap="none" lIns="0" rIns="0" tIns="0" bIns="0">
            <a:spAutoFit/>
          </a:bodyPr>
          <a:lstStyle/>
          <a:p>
            <a:r>
              <a:rPr sz="1150" b="0">
                <a:solidFill>
                  <a:srgbClr val="2E2E2E"/>
                </a:solidFill>
                <a:latin typeface="Calibri"/>
              </a:rPr>
              <a:t>Mn in 2036. 'Allergopharma GmbH &amp;</a:t>
            </a:r>
          </a:p>
        </p:txBody>
      </p:sp>
      <p:sp>
        <p:nvSpPr>
          <p:cNvPr id="108" name="TextBox 107"/>
          <p:cNvSpPr txBox="1"/>
          <p:nvPr/>
        </p:nvSpPr>
        <p:spPr>
          <a:xfrm>
            <a:off x="7715250" y="1925955"/>
            <a:ext cx="4028588" cy="194310"/>
          </a:xfrm>
          <a:prstGeom prst="rect">
            <a:avLst/>
          </a:prstGeom>
          <a:noFill/>
        </p:spPr>
        <p:txBody>
          <a:bodyPr wrap="none" lIns="0" rIns="0" tIns="0" bIns="0">
            <a:spAutoFit/>
          </a:bodyPr>
          <a:lstStyle/>
          <a:p>
            <a:r>
              <a:rPr sz="1150" b="0">
                <a:solidFill>
                  <a:srgbClr val="2E2E2E"/>
                </a:solidFill>
                <a:latin typeface="Calibri"/>
              </a:rPr>
              <a:t>Co. KG × Inhalant Allergens' is the single largest cross-sectional cell</a:t>
            </a:r>
          </a:p>
        </p:txBody>
      </p:sp>
      <p:sp>
        <p:nvSpPr>
          <p:cNvPr id="109" name="TextBox 108"/>
          <p:cNvSpPr txBox="1"/>
          <p:nvPr/>
        </p:nvSpPr>
        <p:spPr>
          <a:xfrm>
            <a:off x="7715250" y="2101215"/>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110" name="Picture 109" descr="lock.png"/>
          <p:cNvPicPr>
            <a:picLocks noChangeAspect="1"/>
          </p:cNvPicPr>
          <p:nvPr/>
        </p:nvPicPr>
        <p:blipFill>
          <a:blip r:embed="rId4"/>
          <a:stretch>
            <a:fillRect/>
          </a:stretch>
        </p:blipFill>
        <p:spPr>
          <a:xfrm>
            <a:off x="7784818" y="2090991"/>
            <a:ext cx="134549" cy="195707"/>
          </a:xfrm>
          <a:prstGeom prst="rect">
            <a:avLst/>
          </a:prstGeom>
        </p:spPr>
      </p:pic>
      <p:sp>
        <p:nvSpPr>
          <p:cNvPr id="111" name="TextBox 110"/>
          <p:cNvSpPr txBox="1"/>
          <p:nvPr/>
        </p:nvSpPr>
        <p:spPr>
          <a:xfrm>
            <a:off x="7959927" y="2101215"/>
            <a:ext cx="3815593" cy="194310"/>
          </a:xfrm>
          <a:prstGeom prst="rect">
            <a:avLst/>
          </a:prstGeom>
          <a:noFill/>
        </p:spPr>
        <p:txBody>
          <a:bodyPr wrap="none" lIns="0" rIns="0" tIns="0" bIns="0">
            <a:spAutoFit/>
          </a:bodyPr>
          <a:lstStyle/>
          <a:p>
            <a:r>
              <a:rPr sz="1150" b="0">
                <a:solidFill>
                  <a:srgbClr val="2E2E2E"/>
                </a:solidFill>
                <a:latin typeface="Calibri"/>
              </a:rPr>
              <a:t>US$ Mn, 2026E), while 'HAL Allergy Group × Inhalant Allergens'</a:t>
            </a:r>
          </a:p>
        </p:txBody>
      </p:sp>
      <p:sp>
        <p:nvSpPr>
          <p:cNvPr id="112" name="TextBox 111"/>
          <p:cNvSpPr txBox="1"/>
          <p:nvPr/>
        </p:nvSpPr>
        <p:spPr>
          <a:xfrm>
            <a:off x="7715250" y="2276475"/>
            <a:ext cx="2424392" cy="194310"/>
          </a:xfrm>
          <a:prstGeom prst="rect">
            <a:avLst/>
          </a:prstGeom>
          <a:noFill/>
        </p:spPr>
        <p:txBody>
          <a:bodyPr wrap="none" lIns="0" rIns="0" tIns="0" bIns="0">
            <a:spAutoFit/>
          </a:bodyPr>
          <a:lstStyle/>
          <a:p>
            <a:r>
              <a:rPr sz="1150" b="0">
                <a:solidFill>
                  <a:srgbClr val="2E2E2E"/>
                </a:solidFill>
                <a:latin typeface="Calibri"/>
              </a:rPr>
              <a:t>records the fastest growth at a CAGR of</a:t>
            </a:r>
          </a:p>
        </p:txBody>
      </p:sp>
      <p:pic>
        <p:nvPicPr>
          <p:cNvPr id="113" name="Picture 112" descr="lock.png"/>
          <p:cNvPicPr>
            <a:picLocks noChangeAspect="1"/>
          </p:cNvPicPr>
          <p:nvPr/>
        </p:nvPicPr>
        <p:blipFill>
          <a:blip r:embed="rId4"/>
          <a:stretch>
            <a:fillRect/>
          </a:stretch>
        </p:blipFill>
        <p:spPr>
          <a:xfrm>
            <a:off x="10088796" y="2266251"/>
            <a:ext cx="134549" cy="195707"/>
          </a:xfrm>
          <a:prstGeom prst="rect">
            <a:avLst/>
          </a:prstGeom>
        </p:spPr>
      </p:pic>
      <p:sp>
        <p:nvSpPr>
          <p:cNvPr id="114" name="TextBox 113"/>
          <p:cNvSpPr txBox="1"/>
          <p:nvPr/>
        </p:nvSpPr>
        <p:spPr>
          <a:xfrm>
            <a:off x="10263905" y="227647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15" name="TextBox 114"/>
          <p:cNvSpPr txBox="1"/>
          <p:nvPr/>
        </p:nvSpPr>
        <p:spPr>
          <a:xfrm>
            <a:off x="7715250" y="2504313"/>
            <a:ext cx="4091433" cy="194310"/>
          </a:xfrm>
          <a:prstGeom prst="rect">
            <a:avLst/>
          </a:prstGeom>
          <a:noFill/>
        </p:spPr>
        <p:txBody>
          <a:bodyPr wrap="none" lIns="0" rIns="0" tIns="0" bIns="0">
            <a:spAutoFit/>
          </a:bodyPr>
          <a:lstStyle/>
          <a:p>
            <a:r>
              <a:rPr sz="1150" b="0">
                <a:solidFill>
                  <a:srgbClr val="2E2E2E"/>
                </a:solidFill>
                <a:latin typeface="Calibri"/>
              </a:rPr>
              <a:t>Combined, the top three company × allergen class cells generate an</a:t>
            </a:r>
          </a:p>
        </p:txBody>
      </p:sp>
      <p:sp>
        <p:nvSpPr>
          <p:cNvPr id="116" name="TextBox 115"/>
          <p:cNvSpPr txBox="1"/>
          <p:nvPr/>
        </p:nvSpPr>
        <p:spPr>
          <a:xfrm>
            <a:off x="7715250" y="2679573"/>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117" name="Picture 116" descr="lock.png"/>
          <p:cNvPicPr>
            <a:picLocks noChangeAspect="1"/>
          </p:cNvPicPr>
          <p:nvPr/>
        </p:nvPicPr>
        <p:blipFill>
          <a:blip r:embed="rId4"/>
          <a:stretch>
            <a:fillRect/>
          </a:stretch>
        </p:blipFill>
        <p:spPr>
          <a:xfrm>
            <a:off x="9258439" y="2669349"/>
            <a:ext cx="134549" cy="195707"/>
          </a:xfrm>
          <a:prstGeom prst="rect">
            <a:avLst/>
          </a:prstGeom>
        </p:spPr>
      </p:pic>
      <p:sp>
        <p:nvSpPr>
          <p:cNvPr id="118" name="TextBox 117"/>
          <p:cNvSpPr txBox="1"/>
          <p:nvPr/>
        </p:nvSpPr>
        <p:spPr>
          <a:xfrm>
            <a:off x="9433549" y="2679573"/>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Share Analysis: Company × Allergen Class, 2026E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U.S. market value, each row split across all allergen class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11906250" cy="4248150"/>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Share, Company × Allergen Class, 2026E (% of each row)</a:t>
            </a:r>
          </a:p>
        </p:txBody>
      </p:sp>
      <p:graphicFrame>
        <p:nvGraphicFramePr>
          <p:cNvPr id="13" name="Table 12"/>
          <p:cNvGraphicFramePr>
            <a:graphicFrameLocks noGrp="1"/>
          </p:cNvGraphicFramePr>
          <p:nvPr/>
        </p:nvGraphicFramePr>
        <p:xfrm>
          <a:off x="152400" y="1238250"/>
          <a:ext cx="11888718" cy="3781428"/>
        </p:xfrm>
        <a:graphic>
          <a:graphicData uri="http://schemas.openxmlformats.org/drawingml/2006/table">
            <a:tbl>
              <a:tblPr>
                <a:tableStyleId>{5C22544A-7EE6-4342-B048-85BDC9FD1C3A}</a:tableStyleId>
              </a:tblPr>
              <a:tblGrid>
                <a:gridCol w="2446564"/>
                <a:gridCol w="593094"/>
                <a:gridCol w="573132"/>
                <a:gridCol w="948230"/>
                <a:gridCol w="679371"/>
                <a:gridCol w="948823"/>
                <a:gridCol w="950961"/>
                <a:gridCol w="864265"/>
                <a:gridCol w="1117071"/>
                <a:gridCol w="804584"/>
                <a:gridCol w="530058"/>
                <a:gridCol w="888759"/>
                <a:gridCol w="543806"/>
              </a:tblGrid>
              <a:tr h="246126">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6">
                  <a:txBody>
                    <a:bodyPr wrap="none"/>
                    <a:lstStyle/>
                    <a:p>
                      <a:pPr algn="ctr"/>
                      <a:r>
                        <a:rPr sz="1100" b="1">
                          <a:solidFill>
                            <a:srgbClr val="0B2E4A"/>
                          </a:solidFill>
                          <a:latin typeface="Calibri"/>
                        </a:rPr>
                        <a:t>Inhalant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3">
                  <a:txBody>
                    <a:bodyPr wrap="none"/>
                    <a:lstStyle/>
                    <a:p>
                      <a:pPr algn="ctr"/>
                      <a:r>
                        <a:rPr sz="1100" b="1">
                          <a:solidFill>
                            <a:srgbClr val="0B2E4A"/>
                          </a:solidFill>
                          <a:latin typeface="Calibri"/>
                        </a:rPr>
                        <a:t>Venom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Food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824770">
                <a:tc vMerge="1">
                  <a:txBody>
                    <a:bodyPr wrap="none"/>
                    <a:lstStyle/>
                    <a:p>
                      <a:pPr algn="l"/>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Grass Pollen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Tree Pollen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Weed &amp; Ragweed Pollen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House Dust Mite</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Animal Dander / Epithelia</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Mold &amp; Fungal Allergens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Honeybee Venom</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Wasp / Yellow Jacket / Hornet Venom</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Mixed Vespid Venom</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Peanut</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Other Food Allergens</a:t>
                      </a:r>
                      <a:endParaRPr sz="1100"/>
                    </a:p>
                  </a:txBody>
                  <a:tcPr marL="47625" marR="38100" marT="19050" marB="19050" anchor="ctr">
                    <a:solidFill>
                      <a:srgbClr val="E0E8EF"/>
                    </a:solidFill>
                  </a:tcPr>
                </a:tc>
                <a:tc>
                  <a:txBody>
                    <a:bodyPr wrap="none"/>
                    <a:lstStyle/>
                    <a:p>
                      <a:pPr algn="ctr"/>
                      <a:endParaRPr sz="1100"/>
                    </a:p>
                  </a:txBody>
                  <a:tcPr marL="47625" marR="38100" marT="19050" marB="19050" anchor="ctr">
                    <a:solidFill>
                      <a:srgbClr val="E0E8EF"/>
                    </a:solidFill>
                  </a:tcPr>
                </a:tc>
              </a:tr>
              <a:tr h="246412">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5029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119365" y="3397712"/>
            <a:ext cx="366712" cy="533400"/>
          </a:xfrm>
          <a:prstGeom prst="rect">
            <a:avLst/>
          </a:prstGeom>
        </p:spPr>
      </p:pic>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Share Analysis: Company × Allergen Class, 2026E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U.S. market value, each row split across all allergen class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Allergen Class Mix by Company, 2026E (% share)</a:t>
            </a:r>
          </a:p>
        </p:txBody>
      </p:sp>
      <p:graphicFrame>
        <p:nvGraphicFramePr>
          <p:cNvPr id="12" name="Chart 11"/>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5" name="Rectangle 14"/>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816628" y="2804566"/>
            <a:ext cx="230207" cy="334847"/>
          </a:xfrm>
          <a:prstGeom prst="rect">
            <a:avLst/>
          </a:prstGeom>
        </p:spPr>
      </p:pic>
      <p:sp>
        <p:nvSpPr>
          <p:cNvPr id="19" name="TextBox 18"/>
          <p:cNvSpPr txBox="1"/>
          <p:nvPr/>
        </p:nvSpPr>
        <p:spPr>
          <a:xfrm>
            <a:off x="7715250" y="1400175"/>
            <a:ext cx="3531164" cy="194310"/>
          </a:xfrm>
          <a:prstGeom prst="rect">
            <a:avLst/>
          </a:prstGeom>
          <a:noFill/>
        </p:spPr>
        <p:txBody>
          <a:bodyPr wrap="none" lIns="0" rIns="0" tIns="0" bIns="0">
            <a:spAutoFit/>
          </a:bodyPr>
          <a:lstStyle/>
          <a:p>
            <a:r>
              <a:rPr sz="1150" b="0">
                <a:solidFill>
                  <a:srgbClr val="2E2E2E"/>
                </a:solidFill>
                <a:latin typeface="Calibri"/>
              </a:rPr>
              <a:t>▪ 'Other Food Allergens' holds the highest share of 'Allergy</a:t>
            </a:r>
          </a:p>
        </p:txBody>
      </p:sp>
      <p:sp>
        <p:nvSpPr>
          <p:cNvPr id="20" name="TextBox 19"/>
          <p:cNvSpPr txBox="1"/>
          <p:nvPr/>
        </p:nvSpPr>
        <p:spPr>
          <a:xfrm>
            <a:off x="7715250" y="1575435"/>
            <a:ext cx="1235471" cy="194310"/>
          </a:xfrm>
          <a:prstGeom prst="rect">
            <a:avLst/>
          </a:prstGeom>
          <a:noFill/>
        </p:spPr>
        <p:txBody>
          <a:bodyPr wrap="none" lIns="0" rIns="0" tIns="0" bIns="0">
            <a:spAutoFit/>
          </a:bodyPr>
          <a:lstStyle/>
          <a:p>
            <a:r>
              <a:rPr sz="1150" b="0">
                <a:solidFill>
                  <a:srgbClr val="2E2E2E"/>
                </a:solidFill>
                <a:latin typeface="Calibri"/>
              </a:rPr>
              <a:t>Therapeutics plc' at</a:t>
            </a:r>
          </a:p>
        </p:txBody>
      </p:sp>
      <p:pic>
        <p:nvPicPr>
          <p:cNvPr id="21" name="Picture 20" descr="lock.png"/>
          <p:cNvPicPr>
            <a:picLocks noChangeAspect="1"/>
          </p:cNvPicPr>
          <p:nvPr/>
        </p:nvPicPr>
        <p:blipFill>
          <a:blip r:embed="rId5"/>
          <a:stretch>
            <a:fillRect/>
          </a:stretch>
        </p:blipFill>
        <p:spPr>
          <a:xfrm>
            <a:off x="8899875" y="1565211"/>
            <a:ext cx="134549" cy="195707"/>
          </a:xfrm>
          <a:prstGeom prst="rect">
            <a:avLst/>
          </a:prstGeom>
        </p:spPr>
      </p:pic>
      <p:sp>
        <p:nvSpPr>
          <p:cNvPr id="22" name="TextBox 21"/>
          <p:cNvSpPr txBox="1"/>
          <p:nvPr/>
        </p:nvSpPr>
        <p:spPr>
          <a:xfrm>
            <a:off x="9074985"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3" name="TextBox 22"/>
          <p:cNvSpPr txBox="1"/>
          <p:nvPr/>
        </p:nvSpPr>
        <p:spPr>
          <a:xfrm>
            <a:off x="7715250" y="1803273"/>
            <a:ext cx="3739145" cy="194310"/>
          </a:xfrm>
          <a:prstGeom prst="rect">
            <a:avLst/>
          </a:prstGeom>
          <a:noFill/>
        </p:spPr>
        <p:txBody>
          <a:bodyPr wrap="none" lIns="0" rIns="0" tIns="0" bIns="0">
            <a:spAutoFit/>
          </a:bodyPr>
          <a:lstStyle/>
          <a:p>
            <a:r>
              <a:rPr sz="1150" b="0">
                <a:solidFill>
                  <a:srgbClr val="2E2E2E"/>
                </a:solidFill>
                <a:latin typeface="Calibri"/>
              </a:rPr>
              <a:t>▪ 'Allergy Therapeutics plc' is the most concentrated company</a:t>
            </a:r>
          </a:p>
        </p:txBody>
      </p:sp>
      <p:sp>
        <p:nvSpPr>
          <p:cNvPr id="24" name="TextBox 23"/>
          <p:cNvSpPr txBox="1"/>
          <p:nvPr/>
        </p:nvSpPr>
        <p:spPr>
          <a:xfrm>
            <a:off x="7715250" y="1978533"/>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5" name="Picture 24" descr="lock.png"/>
          <p:cNvPicPr>
            <a:picLocks noChangeAspect="1"/>
          </p:cNvPicPr>
          <p:nvPr/>
        </p:nvPicPr>
        <p:blipFill>
          <a:blip r:embed="rId5"/>
          <a:stretch>
            <a:fillRect/>
          </a:stretch>
        </p:blipFill>
        <p:spPr>
          <a:xfrm>
            <a:off x="8843110" y="1968309"/>
            <a:ext cx="134549" cy="195707"/>
          </a:xfrm>
          <a:prstGeom prst="rect">
            <a:avLst/>
          </a:prstGeom>
        </p:spPr>
      </p:pic>
      <p:sp>
        <p:nvSpPr>
          <p:cNvPr id="26" name="TextBox 25"/>
          <p:cNvSpPr txBox="1"/>
          <p:nvPr/>
        </p:nvSpPr>
        <p:spPr>
          <a:xfrm>
            <a:off x="9018219" y="1978533"/>
            <a:ext cx="2320546" cy="194310"/>
          </a:xfrm>
          <a:prstGeom prst="rect">
            <a:avLst/>
          </a:prstGeom>
          <a:noFill/>
        </p:spPr>
        <p:txBody>
          <a:bodyPr wrap="none" lIns="0" rIns="0" tIns="0" bIns="0">
            <a:spAutoFit/>
          </a:bodyPr>
          <a:lstStyle/>
          <a:p>
            <a:r>
              <a:rPr sz="1150" b="0">
                <a:solidFill>
                  <a:srgbClr val="2E2E2E"/>
                </a:solidFill>
                <a:latin typeface="Calibri"/>
              </a:rPr>
              <a:t>of its value via 'Other Food Allergens'.</a:t>
            </a:r>
          </a:p>
        </p:txBody>
      </p:sp>
      <p:sp>
        <p:nvSpPr>
          <p:cNvPr id="27" name="TextBox 26"/>
          <p:cNvSpPr txBox="1"/>
          <p:nvPr/>
        </p:nvSpPr>
        <p:spPr>
          <a:xfrm>
            <a:off x="7715250" y="2206371"/>
            <a:ext cx="1400063" cy="194310"/>
          </a:xfrm>
          <a:prstGeom prst="rect">
            <a:avLst/>
          </a:prstGeom>
          <a:noFill/>
        </p:spPr>
        <p:txBody>
          <a:bodyPr wrap="none" lIns="0" rIns="0" tIns="0" bIns="0">
            <a:spAutoFit/>
          </a:bodyPr>
          <a:lstStyle/>
          <a:p>
            <a:r>
              <a:rPr sz="1150" b="0">
                <a:solidFill>
                  <a:srgbClr val="2E2E2E"/>
                </a:solidFill>
                <a:latin typeface="Calibri"/>
              </a:rPr>
              <a:t>▪ 'Grass Pollen' gains +</a:t>
            </a:r>
          </a:p>
        </p:txBody>
      </p:sp>
      <p:pic>
        <p:nvPicPr>
          <p:cNvPr id="28" name="Picture 27" descr="lock.png"/>
          <p:cNvPicPr>
            <a:picLocks noChangeAspect="1"/>
          </p:cNvPicPr>
          <p:nvPr/>
        </p:nvPicPr>
        <p:blipFill>
          <a:blip r:embed="rId5"/>
          <a:stretch>
            <a:fillRect/>
          </a:stretch>
        </p:blipFill>
        <p:spPr>
          <a:xfrm>
            <a:off x="9064467" y="2196147"/>
            <a:ext cx="134549" cy="195707"/>
          </a:xfrm>
          <a:prstGeom prst="rect">
            <a:avLst/>
          </a:prstGeom>
        </p:spPr>
      </p:pic>
      <p:sp>
        <p:nvSpPr>
          <p:cNvPr id="29" name="TextBox 28"/>
          <p:cNvSpPr txBox="1"/>
          <p:nvPr/>
        </p:nvSpPr>
        <p:spPr>
          <a:xfrm>
            <a:off x="9239576" y="2206371"/>
            <a:ext cx="2453506" cy="194310"/>
          </a:xfrm>
          <a:prstGeom prst="rect">
            <a:avLst/>
          </a:prstGeom>
          <a:noFill/>
        </p:spPr>
        <p:txBody>
          <a:bodyPr wrap="none" lIns="0" rIns="0" tIns="0" bIns="0">
            <a:spAutoFit/>
          </a:bodyPr>
          <a:lstStyle/>
          <a:p>
            <a:r>
              <a:rPr sz="1150" b="0">
                <a:solidFill>
                  <a:srgbClr val="2E2E2E"/>
                </a:solidFill>
                <a:latin typeface="Calibri"/>
              </a:rPr>
              <a:t>BPS of share of the U.S. cross-section by</a:t>
            </a:r>
          </a:p>
        </p:txBody>
      </p:sp>
      <p:sp>
        <p:nvSpPr>
          <p:cNvPr id="30" name="TextBox 29"/>
          <p:cNvSpPr txBox="1"/>
          <p:nvPr/>
        </p:nvSpPr>
        <p:spPr>
          <a:xfrm>
            <a:off x="7715250" y="2381631"/>
            <a:ext cx="476482" cy="194310"/>
          </a:xfrm>
          <a:prstGeom prst="rect">
            <a:avLst/>
          </a:prstGeom>
          <a:noFill/>
        </p:spPr>
        <p:txBody>
          <a:bodyPr wrap="none" lIns="0" rIns="0" tIns="0" bIns="0">
            <a:spAutoFit/>
          </a:bodyPr>
          <a:lstStyle/>
          <a:p>
            <a:r>
              <a:rPr sz="1150" b="0">
                <a:solidFill>
                  <a:srgbClr val="2E2E2E"/>
                </a:solidFill>
                <a:latin typeface="Calibri"/>
              </a:rPr>
              <a:t>2036F.</a:t>
            </a:r>
          </a:p>
        </p:txBody>
      </p:sp>
      <p:sp>
        <p:nvSpPr>
          <p:cNvPr id="31" name="lockshield_12"/>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Absolute $ Opportunity &amp; Attractiveness: Company × Allergen Class,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Company × Allergen Class, 2026E–2036F</a:t>
            </a:r>
          </a:p>
        </p:txBody>
      </p:sp>
      <p:graphicFrame>
        <p:nvGraphicFramePr>
          <p:cNvPr id="13" name="Table 12"/>
          <p:cNvGraphicFramePr>
            <a:graphicFrameLocks noGrp="1"/>
          </p:cNvGraphicFramePr>
          <p:nvPr/>
        </p:nvGraphicFramePr>
        <p:xfrm>
          <a:off x="152400" y="1238250"/>
          <a:ext cx="11887197" cy="3200406"/>
        </p:xfrm>
        <a:graphic>
          <a:graphicData uri="http://schemas.openxmlformats.org/drawingml/2006/table">
            <a:tbl>
              <a:tblPr>
                <a:tableStyleId>{5C22544A-7EE6-4342-B048-85BDC9FD1C3A}</a:tableStyleId>
              </a:tblPr>
              <a:tblGrid>
                <a:gridCol w="4072021"/>
                <a:gridCol w="976897"/>
                <a:gridCol w="976897"/>
                <a:gridCol w="976897"/>
                <a:gridCol w="976897"/>
                <a:gridCol w="976897"/>
                <a:gridCol w="976897"/>
                <a:gridCol w="976897"/>
                <a:gridCol w="976897"/>
              </a:tblGrid>
              <a:tr h="246126">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Inhalant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Venom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Food Allergens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190">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781550"/>
            <a:ext cx="560070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86727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7" name="Rectangle 16"/>
          <p:cNvSpPr/>
          <p:nvPr/>
        </p:nvSpPr>
        <p:spPr>
          <a:xfrm>
            <a:off x="276225" y="510540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191125"/>
            <a:ext cx="533400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Rounded Rectangle 18"/>
          <p:cNvSpPr/>
          <p:nvPr/>
        </p:nvSpPr>
        <p:spPr>
          <a:xfrm>
            <a:off x="5895975" y="4781550"/>
            <a:ext cx="194310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29325" y="486727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1" name="Rectangle 20"/>
          <p:cNvSpPr/>
          <p:nvPr/>
        </p:nvSpPr>
        <p:spPr>
          <a:xfrm>
            <a:off x="6029325" y="51054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29325" y="5191125"/>
            <a:ext cx="167640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3" name="Rounded Rectangle 22"/>
          <p:cNvSpPr/>
          <p:nvPr/>
        </p:nvSpPr>
        <p:spPr>
          <a:xfrm>
            <a:off x="7991475" y="4781550"/>
            <a:ext cx="194310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24825" y="486727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5" name="Rectangle 24"/>
          <p:cNvSpPr/>
          <p:nvPr/>
        </p:nvSpPr>
        <p:spPr>
          <a:xfrm>
            <a:off x="8124825" y="51054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24825" y="5191125"/>
            <a:ext cx="167640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7" name="Rounded Rectangle 26"/>
          <p:cNvSpPr/>
          <p:nvPr/>
        </p:nvSpPr>
        <p:spPr>
          <a:xfrm>
            <a:off x="10086975" y="4781550"/>
            <a:ext cx="194310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20325" y="486727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9" name="Rectangle 28"/>
          <p:cNvSpPr/>
          <p:nvPr/>
        </p:nvSpPr>
        <p:spPr>
          <a:xfrm>
            <a:off x="10220325" y="510540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20325" y="5191125"/>
            <a:ext cx="167640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'ALK-Abelló A/S × Inhalant Allergens' ranks highest (5/5); 'ALK-Abelló A/S × Food Allergens' lowest (1/5), a deprioritised cell.</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4"/>
          <a:stretch>
            <a:fillRect/>
          </a:stretch>
        </p:blipFill>
        <p:spPr>
          <a:xfrm>
            <a:off x="7945318" y="2817911"/>
            <a:ext cx="366712" cy="533399"/>
          </a:xfrm>
          <a:prstGeom prst="rect">
            <a:avLst/>
          </a:prstGeom>
        </p:spPr>
      </p:pic>
      <p:sp>
        <p:nvSpPr>
          <p:cNvPr id="33" name="TextBox 32"/>
          <p:cNvSpPr txBox="1"/>
          <p:nvPr/>
        </p:nvSpPr>
        <p:spPr>
          <a:xfrm>
            <a:off x="276225" y="5200650"/>
            <a:ext cx="3473484" cy="194310"/>
          </a:xfrm>
          <a:prstGeom prst="rect">
            <a:avLst/>
          </a:prstGeom>
          <a:noFill/>
        </p:spPr>
        <p:txBody>
          <a:bodyPr wrap="none" lIns="0" rIns="0" tIns="0" bIns="0">
            <a:spAutoFit/>
          </a:bodyPr>
          <a:lstStyle/>
          <a:p>
            <a:r>
              <a:rPr sz="1150" b="0">
                <a:solidFill>
                  <a:srgbClr val="2E2E2E"/>
                </a:solidFill>
                <a:latin typeface="Calibri"/>
              </a:rPr>
              <a:t>▪ 1. Allergopharma GmbH &amp; Co. KG × Inhalant Allergens –</a:t>
            </a:r>
          </a:p>
        </p:txBody>
      </p:sp>
      <p:pic>
        <p:nvPicPr>
          <p:cNvPr id="34" name="Picture 33" descr="lock.png"/>
          <p:cNvPicPr>
            <a:picLocks noChangeAspect="1"/>
          </p:cNvPicPr>
          <p:nvPr/>
        </p:nvPicPr>
        <p:blipFill>
          <a:blip r:embed="rId4"/>
          <a:stretch>
            <a:fillRect/>
          </a:stretch>
        </p:blipFill>
        <p:spPr>
          <a:xfrm>
            <a:off x="3698863" y="5190426"/>
            <a:ext cx="134549" cy="195707"/>
          </a:xfrm>
          <a:prstGeom prst="rect">
            <a:avLst/>
          </a:prstGeom>
        </p:spPr>
      </p:pic>
      <p:sp>
        <p:nvSpPr>
          <p:cNvPr id="35" name="TextBox 34"/>
          <p:cNvSpPr txBox="1"/>
          <p:nvPr/>
        </p:nvSpPr>
        <p:spPr>
          <a:xfrm>
            <a:off x="3873973" y="520065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6" name="Picture 35" descr="lock.png"/>
          <p:cNvPicPr>
            <a:picLocks noChangeAspect="1"/>
          </p:cNvPicPr>
          <p:nvPr/>
        </p:nvPicPr>
        <p:blipFill>
          <a:blip r:embed="rId4"/>
          <a:stretch>
            <a:fillRect/>
          </a:stretch>
        </p:blipFill>
        <p:spPr>
          <a:xfrm>
            <a:off x="3936124" y="5190426"/>
            <a:ext cx="134549" cy="195707"/>
          </a:xfrm>
          <a:prstGeom prst="rect">
            <a:avLst/>
          </a:prstGeom>
        </p:spPr>
      </p:pic>
      <p:sp>
        <p:nvSpPr>
          <p:cNvPr id="37" name="TextBox 36"/>
          <p:cNvSpPr txBox="1"/>
          <p:nvPr/>
        </p:nvSpPr>
        <p:spPr>
          <a:xfrm>
            <a:off x="4111234" y="520065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8" name="TextBox 37"/>
          <p:cNvSpPr txBox="1"/>
          <p:nvPr/>
        </p:nvSpPr>
        <p:spPr>
          <a:xfrm>
            <a:off x="276225" y="5428488"/>
            <a:ext cx="2508809" cy="194310"/>
          </a:xfrm>
          <a:prstGeom prst="rect">
            <a:avLst/>
          </a:prstGeom>
          <a:noFill/>
        </p:spPr>
        <p:txBody>
          <a:bodyPr wrap="none" lIns="0" rIns="0" tIns="0" bIns="0">
            <a:spAutoFit/>
          </a:bodyPr>
          <a:lstStyle/>
          <a:p>
            <a:r>
              <a:rPr sz="1150" b="0">
                <a:solidFill>
                  <a:srgbClr val="2E2E2E"/>
                </a:solidFill>
                <a:latin typeface="Calibri"/>
              </a:rPr>
              <a:t>▪ 2. ALK-Abelló A/S × Inhalant Allergens –</a:t>
            </a:r>
          </a:p>
        </p:txBody>
      </p:sp>
      <p:pic>
        <p:nvPicPr>
          <p:cNvPr id="39" name="Picture 38" descr="lock.png"/>
          <p:cNvPicPr>
            <a:picLocks noChangeAspect="1"/>
          </p:cNvPicPr>
          <p:nvPr/>
        </p:nvPicPr>
        <p:blipFill>
          <a:blip r:embed="rId4"/>
          <a:stretch>
            <a:fillRect/>
          </a:stretch>
        </p:blipFill>
        <p:spPr>
          <a:xfrm>
            <a:off x="2734188" y="5418264"/>
            <a:ext cx="134549" cy="195707"/>
          </a:xfrm>
          <a:prstGeom prst="rect">
            <a:avLst/>
          </a:prstGeom>
        </p:spPr>
      </p:pic>
      <p:sp>
        <p:nvSpPr>
          <p:cNvPr id="40" name="TextBox 39"/>
          <p:cNvSpPr txBox="1"/>
          <p:nvPr/>
        </p:nvSpPr>
        <p:spPr>
          <a:xfrm>
            <a:off x="2909297" y="5428488"/>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1" name="Picture 40" descr="lock.png"/>
          <p:cNvPicPr>
            <a:picLocks noChangeAspect="1"/>
          </p:cNvPicPr>
          <p:nvPr/>
        </p:nvPicPr>
        <p:blipFill>
          <a:blip r:embed="rId4"/>
          <a:stretch>
            <a:fillRect/>
          </a:stretch>
        </p:blipFill>
        <p:spPr>
          <a:xfrm>
            <a:off x="2971449" y="5418264"/>
            <a:ext cx="134549" cy="195707"/>
          </a:xfrm>
          <a:prstGeom prst="rect">
            <a:avLst/>
          </a:prstGeom>
        </p:spPr>
      </p:pic>
      <p:sp>
        <p:nvSpPr>
          <p:cNvPr id="42" name="TextBox 41"/>
          <p:cNvSpPr txBox="1"/>
          <p:nvPr/>
        </p:nvSpPr>
        <p:spPr>
          <a:xfrm>
            <a:off x="3146558" y="5428488"/>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3" name="TextBox 42"/>
          <p:cNvSpPr txBox="1"/>
          <p:nvPr/>
        </p:nvSpPr>
        <p:spPr>
          <a:xfrm>
            <a:off x="276225" y="5656325"/>
            <a:ext cx="3041699" cy="194310"/>
          </a:xfrm>
          <a:prstGeom prst="rect">
            <a:avLst/>
          </a:prstGeom>
          <a:noFill/>
        </p:spPr>
        <p:txBody>
          <a:bodyPr wrap="none" lIns="0" rIns="0" tIns="0" bIns="0">
            <a:spAutoFit/>
          </a:bodyPr>
          <a:lstStyle/>
          <a:p>
            <a:r>
              <a:rPr sz="1150" b="0">
                <a:solidFill>
                  <a:srgbClr val="2E2E2E"/>
                </a:solidFill>
                <a:latin typeface="Calibri"/>
              </a:rPr>
              <a:t>▪ 3. Allergy Therapeutics plc × Inhalant Allergens –</a:t>
            </a:r>
          </a:p>
        </p:txBody>
      </p:sp>
      <p:pic>
        <p:nvPicPr>
          <p:cNvPr id="44" name="Picture 43" descr="lock.png"/>
          <p:cNvPicPr>
            <a:picLocks noChangeAspect="1"/>
          </p:cNvPicPr>
          <p:nvPr/>
        </p:nvPicPr>
        <p:blipFill>
          <a:blip r:embed="rId4"/>
          <a:stretch>
            <a:fillRect/>
          </a:stretch>
        </p:blipFill>
        <p:spPr>
          <a:xfrm>
            <a:off x="3267078" y="5646102"/>
            <a:ext cx="134549" cy="195707"/>
          </a:xfrm>
          <a:prstGeom prst="rect">
            <a:avLst/>
          </a:prstGeom>
        </p:spPr>
      </p:pic>
      <p:sp>
        <p:nvSpPr>
          <p:cNvPr id="45" name="TextBox 44"/>
          <p:cNvSpPr txBox="1"/>
          <p:nvPr/>
        </p:nvSpPr>
        <p:spPr>
          <a:xfrm>
            <a:off x="3442187" y="565632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6" name="Picture 45" descr="lock.png"/>
          <p:cNvPicPr>
            <a:picLocks noChangeAspect="1"/>
          </p:cNvPicPr>
          <p:nvPr/>
        </p:nvPicPr>
        <p:blipFill>
          <a:blip r:embed="rId4"/>
          <a:stretch>
            <a:fillRect/>
          </a:stretch>
        </p:blipFill>
        <p:spPr>
          <a:xfrm>
            <a:off x="3504339" y="5646102"/>
            <a:ext cx="134549" cy="195707"/>
          </a:xfrm>
          <a:prstGeom prst="rect">
            <a:avLst/>
          </a:prstGeom>
        </p:spPr>
      </p:pic>
      <p:sp>
        <p:nvSpPr>
          <p:cNvPr id="47" name="TextBox 46"/>
          <p:cNvSpPr txBox="1"/>
          <p:nvPr/>
        </p:nvSpPr>
        <p:spPr>
          <a:xfrm>
            <a:off x="3679448" y="565632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8" name="TextBox 47"/>
          <p:cNvSpPr txBox="1"/>
          <p:nvPr/>
        </p:nvSpPr>
        <p:spPr>
          <a:xfrm>
            <a:off x="276225" y="5884163"/>
            <a:ext cx="3125256" cy="194310"/>
          </a:xfrm>
          <a:prstGeom prst="rect">
            <a:avLst/>
          </a:prstGeom>
          <a:noFill/>
        </p:spPr>
        <p:txBody>
          <a:bodyPr wrap="none" lIns="0" rIns="0" tIns="0" bIns="0">
            <a:spAutoFit/>
          </a:bodyPr>
          <a:lstStyle/>
          <a:p>
            <a:r>
              <a:rPr sz="1150" b="0">
                <a:solidFill>
                  <a:srgbClr val="2E2E2E"/>
                </a:solidFill>
                <a:latin typeface="Calibri"/>
              </a:rPr>
              <a:t>▪ 4. Jubilant HollisterStier LLC × Inhalant Allergens –</a:t>
            </a:r>
          </a:p>
        </p:txBody>
      </p:sp>
      <p:pic>
        <p:nvPicPr>
          <p:cNvPr id="49" name="Picture 48" descr="lock.png"/>
          <p:cNvPicPr>
            <a:picLocks noChangeAspect="1"/>
          </p:cNvPicPr>
          <p:nvPr/>
        </p:nvPicPr>
        <p:blipFill>
          <a:blip r:embed="rId4"/>
          <a:stretch>
            <a:fillRect/>
          </a:stretch>
        </p:blipFill>
        <p:spPr>
          <a:xfrm>
            <a:off x="3350635" y="5873940"/>
            <a:ext cx="134549" cy="195707"/>
          </a:xfrm>
          <a:prstGeom prst="rect">
            <a:avLst/>
          </a:prstGeom>
        </p:spPr>
      </p:pic>
      <p:sp>
        <p:nvSpPr>
          <p:cNvPr id="50" name="TextBox 49"/>
          <p:cNvSpPr txBox="1"/>
          <p:nvPr/>
        </p:nvSpPr>
        <p:spPr>
          <a:xfrm>
            <a:off x="3525744" y="588416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1" name="Picture 50" descr="lock.png"/>
          <p:cNvPicPr>
            <a:picLocks noChangeAspect="1"/>
          </p:cNvPicPr>
          <p:nvPr/>
        </p:nvPicPr>
        <p:blipFill>
          <a:blip r:embed="rId4"/>
          <a:stretch>
            <a:fillRect/>
          </a:stretch>
        </p:blipFill>
        <p:spPr>
          <a:xfrm>
            <a:off x="3587896" y="5873940"/>
            <a:ext cx="134549" cy="195707"/>
          </a:xfrm>
          <a:prstGeom prst="rect">
            <a:avLst/>
          </a:prstGeom>
        </p:spPr>
      </p:pic>
      <p:sp>
        <p:nvSpPr>
          <p:cNvPr id="52" name="TextBox 51"/>
          <p:cNvSpPr txBox="1"/>
          <p:nvPr/>
        </p:nvSpPr>
        <p:spPr>
          <a:xfrm>
            <a:off x="3763005" y="5884163"/>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3" name="TextBox 52"/>
          <p:cNvSpPr txBox="1"/>
          <p:nvPr/>
        </p:nvSpPr>
        <p:spPr>
          <a:xfrm>
            <a:off x="276225" y="6112001"/>
            <a:ext cx="2835568" cy="194310"/>
          </a:xfrm>
          <a:prstGeom prst="rect">
            <a:avLst/>
          </a:prstGeom>
          <a:noFill/>
        </p:spPr>
        <p:txBody>
          <a:bodyPr wrap="none" lIns="0" rIns="0" tIns="0" bIns="0">
            <a:spAutoFit/>
          </a:bodyPr>
          <a:lstStyle/>
          <a:p>
            <a:r>
              <a:rPr sz="1150" b="0">
                <a:solidFill>
                  <a:srgbClr val="2E2E2E"/>
                </a:solidFill>
                <a:latin typeface="Calibri"/>
              </a:rPr>
              <a:t>▪ 5. DIATER Laboratories × Inhalant Allergens –</a:t>
            </a:r>
          </a:p>
        </p:txBody>
      </p:sp>
      <p:pic>
        <p:nvPicPr>
          <p:cNvPr id="54" name="Picture 53" descr="lock.png"/>
          <p:cNvPicPr>
            <a:picLocks noChangeAspect="1"/>
          </p:cNvPicPr>
          <p:nvPr/>
        </p:nvPicPr>
        <p:blipFill>
          <a:blip r:embed="rId4"/>
          <a:stretch>
            <a:fillRect/>
          </a:stretch>
        </p:blipFill>
        <p:spPr>
          <a:xfrm>
            <a:off x="3060946" y="6101778"/>
            <a:ext cx="134549" cy="195707"/>
          </a:xfrm>
          <a:prstGeom prst="rect">
            <a:avLst/>
          </a:prstGeom>
        </p:spPr>
      </p:pic>
      <p:sp>
        <p:nvSpPr>
          <p:cNvPr id="55" name="TextBox 54"/>
          <p:cNvSpPr txBox="1"/>
          <p:nvPr/>
        </p:nvSpPr>
        <p:spPr>
          <a:xfrm>
            <a:off x="3236056" y="611200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6" name="Picture 55" descr="lock.png"/>
          <p:cNvPicPr>
            <a:picLocks noChangeAspect="1"/>
          </p:cNvPicPr>
          <p:nvPr/>
        </p:nvPicPr>
        <p:blipFill>
          <a:blip r:embed="rId4"/>
          <a:stretch>
            <a:fillRect/>
          </a:stretch>
        </p:blipFill>
        <p:spPr>
          <a:xfrm>
            <a:off x="3298207" y="6101778"/>
            <a:ext cx="134549" cy="195707"/>
          </a:xfrm>
          <a:prstGeom prst="rect">
            <a:avLst/>
          </a:prstGeom>
        </p:spPr>
      </p:pic>
      <p:sp>
        <p:nvSpPr>
          <p:cNvPr id="57" name="TextBox 56"/>
          <p:cNvSpPr txBox="1"/>
          <p:nvPr/>
        </p:nvSpPr>
        <p:spPr>
          <a:xfrm>
            <a:off x="3473317" y="6112001"/>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8" name="TextBox 57"/>
          <p:cNvSpPr txBox="1"/>
          <p:nvPr/>
        </p:nvSpPr>
        <p:spPr>
          <a:xfrm>
            <a:off x="6029325" y="5200650"/>
            <a:ext cx="1617712" cy="194310"/>
          </a:xfrm>
          <a:prstGeom prst="rect">
            <a:avLst/>
          </a:prstGeom>
          <a:noFill/>
        </p:spPr>
        <p:txBody>
          <a:bodyPr wrap="none" lIns="0" rIns="0" tIns="0" bIns="0">
            <a:spAutoFit/>
          </a:bodyPr>
          <a:lstStyle/>
          <a:p>
            <a:r>
              <a:rPr sz="1150" b="0">
                <a:solidFill>
                  <a:srgbClr val="2E2E2E"/>
                </a:solidFill>
                <a:latin typeface="Calibri"/>
              </a:rPr>
              <a:t>▪ 'Allergopharma GmbH &amp;</a:t>
            </a:r>
          </a:p>
        </p:txBody>
      </p:sp>
      <p:sp>
        <p:nvSpPr>
          <p:cNvPr id="59" name="TextBox 58"/>
          <p:cNvSpPr txBox="1"/>
          <p:nvPr/>
        </p:nvSpPr>
        <p:spPr>
          <a:xfrm>
            <a:off x="6029325" y="5375910"/>
            <a:ext cx="1657350" cy="194310"/>
          </a:xfrm>
          <a:prstGeom prst="rect">
            <a:avLst/>
          </a:prstGeom>
          <a:noFill/>
        </p:spPr>
        <p:txBody>
          <a:bodyPr wrap="none" lIns="0" rIns="0" tIns="0" bIns="0">
            <a:spAutoFit/>
          </a:bodyPr>
          <a:lstStyle/>
          <a:p>
            <a:r>
              <a:rPr sz="1150" b="0">
                <a:solidFill>
                  <a:srgbClr val="2E2E2E"/>
                </a:solidFill>
                <a:latin typeface="Calibri"/>
              </a:rPr>
              <a:t>Co. KG × Inhalant Allergens'</a:t>
            </a:r>
          </a:p>
        </p:txBody>
      </p:sp>
      <p:sp>
        <p:nvSpPr>
          <p:cNvPr id="60" name="TextBox 59"/>
          <p:cNvSpPr txBox="1"/>
          <p:nvPr/>
        </p:nvSpPr>
        <p:spPr>
          <a:xfrm>
            <a:off x="6029325" y="5551170"/>
            <a:ext cx="356604" cy="194310"/>
          </a:xfrm>
          <a:prstGeom prst="rect">
            <a:avLst/>
          </a:prstGeom>
          <a:noFill/>
        </p:spPr>
        <p:txBody>
          <a:bodyPr wrap="none" lIns="0" rIns="0" tIns="0" bIns="0">
            <a:spAutoFit/>
          </a:bodyPr>
          <a:lstStyle/>
          <a:p>
            <a:r>
              <a:rPr sz="1150" b="0">
                <a:solidFill>
                  <a:srgbClr val="2E2E2E"/>
                </a:solidFill>
                <a:latin typeface="Calibri"/>
              </a:rPr>
              <a:t>adds</a:t>
            </a:r>
          </a:p>
        </p:txBody>
      </p:sp>
      <p:pic>
        <p:nvPicPr>
          <p:cNvPr id="61" name="Picture 60" descr="lock.png"/>
          <p:cNvPicPr>
            <a:picLocks noChangeAspect="1"/>
          </p:cNvPicPr>
          <p:nvPr/>
        </p:nvPicPr>
        <p:blipFill>
          <a:blip r:embed="rId4"/>
          <a:stretch>
            <a:fillRect/>
          </a:stretch>
        </p:blipFill>
        <p:spPr>
          <a:xfrm>
            <a:off x="6335083" y="5540946"/>
            <a:ext cx="134549" cy="195707"/>
          </a:xfrm>
          <a:prstGeom prst="rect">
            <a:avLst/>
          </a:prstGeom>
        </p:spPr>
      </p:pic>
      <p:sp>
        <p:nvSpPr>
          <p:cNvPr id="62" name="TextBox 61"/>
          <p:cNvSpPr txBox="1"/>
          <p:nvPr/>
        </p:nvSpPr>
        <p:spPr>
          <a:xfrm>
            <a:off x="6510192" y="5551170"/>
            <a:ext cx="1118803" cy="194310"/>
          </a:xfrm>
          <a:prstGeom prst="rect">
            <a:avLst/>
          </a:prstGeom>
          <a:noFill/>
        </p:spPr>
        <p:txBody>
          <a:bodyPr wrap="none" lIns="0" rIns="0" tIns="0" bIns="0">
            <a:spAutoFit/>
          </a:bodyPr>
          <a:lstStyle/>
          <a:p>
            <a:r>
              <a:rPr sz="1150" b="0">
                <a:solidFill>
                  <a:srgbClr val="2E2E2E"/>
                </a:solidFill>
                <a:latin typeface="Calibri"/>
              </a:rPr>
              <a:t>US$ Mn by 2036F</a:t>
            </a:r>
          </a:p>
        </p:txBody>
      </p:sp>
      <p:sp>
        <p:nvSpPr>
          <p:cNvPr id="63" name="TextBox 62"/>
          <p:cNvSpPr txBox="1"/>
          <p:nvPr/>
        </p:nvSpPr>
        <p:spPr>
          <a:xfrm>
            <a:off x="6029325" y="5726429"/>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4" name="Picture 63" descr="lock.png"/>
          <p:cNvPicPr>
            <a:picLocks noChangeAspect="1"/>
          </p:cNvPicPr>
          <p:nvPr/>
        </p:nvPicPr>
        <p:blipFill>
          <a:blip r:embed="rId4"/>
          <a:stretch>
            <a:fillRect/>
          </a:stretch>
        </p:blipFill>
        <p:spPr>
          <a:xfrm>
            <a:off x="6127418" y="5716206"/>
            <a:ext cx="134549" cy="195707"/>
          </a:xfrm>
          <a:prstGeom prst="rect">
            <a:avLst/>
          </a:prstGeom>
        </p:spPr>
      </p:pic>
      <p:sp>
        <p:nvSpPr>
          <p:cNvPr id="65" name="TextBox 64"/>
          <p:cNvSpPr txBox="1"/>
          <p:nvPr/>
        </p:nvSpPr>
        <p:spPr>
          <a:xfrm>
            <a:off x="6302527" y="572642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6" name="TextBox 65"/>
          <p:cNvSpPr txBox="1"/>
          <p:nvPr/>
        </p:nvSpPr>
        <p:spPr>
          <a:xfrm>
            <a:off x="6029325" y="590168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7" name="TextBox 66"/>
          <p:cNvSpPr txBox="1"/>
          <p:nvPr/>
        </p:nvSpPr>
        <p:spPr>
          <a:xfrm>
            <a:off x="8124825" y="5200650"/>
            <a:ext cx="1386085" cy="194310"/>
          </a:xfrm>
          <a:prstGeom prst="rect">
            <a:avLst/>
          </a:prstGeom>
          <a:noFill/>
        </p:spPr>
        <p:txBody>
          <a:bodyPr wrap="none" lIns="0" rIns="0" tIns="0" bIns="0">
            <a:spAutoFit/>
          </a:bodyPr>
          <a:lstStyle/>
          <a:p>
            <a:r>
              <a:rPr sz="1150" b="0">
                <a:solidFill>
                  <a:srgbClr val="2E2E2E"/>
                </a:solidFill>
                <a:latin typeface="Calibri"/>
              </a:rPr>
              <a:t>▪ 'HAL Allergy Group ×</a:t>
            </a:r>
          </a:p>
        </p:txBody>
      </p:sp>
      <p:sp>
        <p:nvSpPr>
          <p:cNvPr id="68" name="TextBox 67"/>
          <p:cNvSpPr txBox="1"/>
          <p:nvPr/>
        </p:nvSpPr>
        <p:spPr>
          <a:xfrm>
            <a:off x="8124825" y="5375910"/>
            <a:ext cx="1657350" cy="194310"/>
          </a:xfrm>
          <a:prstGeom prst="rect">
            <a:avLst/>
          </a:prstGeom>
          <a:noFill/>
        </p:spPr>
        <p:txBody>
          <a:bodyPr wrap="none" lIns="0" rIns="0" tIns="0" bIns="0">
            <a:spAutoFit/>
          </a:bodyPr>
          <a:lstStyle/>
          <a:p>
            <a:r>
              <a:rPr sz="1150" b="0">
                <a:solidFill>
                  <a:srgbClr val="2E2E2E"/>
                </a:solidFill>
                <a:latin typeface="Calibri"/>
              </a:rPr>
              <a:t>Inhalant Allergens' grows at</a:t>
            </a:r>
          </a:p>
        </p:txBody>
      </p:sp>
      <p:sp>
        <p:nvSpPr>
          <p:cNvPr id="69" name="TextBox 68"/>
          <p:cNvSpPr txBox="1"/>
          <p:nvPr/>
        </p:nvSpPr>
        <p:spPr>
          <a:xfrm>
            <a:off x="8124825" y="5551170"/>
            <a:ext cx="146087" cy="194310"/>
          </a:xfrm>
          <a:prstGeom prst="rect">
            <a:avLst/>
          </a:prstGeom>
          <a:noFill/>
        </p:spPr>
        <p:txBody>
          <a:bodyPr wrap="none" lIns="0" rIns="0" tIns="0" bIns="0">
            <a:spAutoFit/>
          </a:bodyPr>
          <a:lstStyle/>
          <a:p>
            <a:r>
              <a:rPr sz="1150" b="0">
                <a:solidFill>
                  <a:srgbClr val="2E2E2E"/>
                </a:solidFill>
                <a:latin typeface="Calibri"/>
              </a:rPr>
              <a:t>a</a:t>
            </a:r>
          </a:p>
        </p:txBody>
      </p:sp>
      <p:pic>
        <p:nvPicPr>
          <p:cNvPr id="70" name="Picture 69" descr="lock.png"/>
          <p:cNvPicPr>
            <a:picLocks noChangeAspect="1"/>
          </p:cNvPicPr>
          <p:nvPr/>
        </p:nvPicPr>
        <p:blipFill>
          <a:blip r:embed="rId4"/>
          <a:stretch>
            <a:fillRect/>
          </a:stretch>
        </p:blipFill>
        <p:spPr>
          <a:xfrm>
            <a:off x="8220066" y="5540946"/>
            <a:ext cx="134549" cy="195707"/>
          </a:xfrm>
          <a:prstGeom prst="rect">
            <a:avLst/>
          </a:prstGeom>
        </p:spPr>
      </p:pic>
      <p:sp>
        <p:nvSpPr>
          <p:cNvPr id="71" name="TextBox 70"/>
          <p:cNvSpPr txBox="1"/>
          <p:nvPr/>
        </p:nvSpPr>
        <p:spPr>
          <a:xfrm>
            <a:off x="8395175" y="5551170"/>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2" name="Picture 71" descr="lock.png"/>
          <p:cNvPicPr>
            <a:picLocks noChangeAspect="1"/>
          </p:cNvPicPr>
          <p:nvPr/>
        </p:nvPicPr>
        <p:blipFill>
          <a:blip r:embed="rId4"/>
          <a:stretch>
            <a:fillRect/>
          </a:stretch>
        </p:blipFill>
        <p:spPr>
          <a:xfrm>
            <a:off x="8790771" y="5540946"/>
            <a:ext cx="134549" cy="195707"/>
          </a:xfrm>
          <a:prstGeom prst="rect">
            <a:avLst/>
          </a:prstGeom>
        </p:spPr>
      </p:pic>
      <p:sp>
        <p:nvSpPr>
          <p:cNvPr id="73" name="TextBox 72"/>
          <p:cNvSpPr txBox="1"/>
          <p:nvPr/>
        </p:nvSpPr>
        <p:spPr>
          <a:xfrm>
            <a:off x="8965880" y="5551170"/>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74" name="TextBox 73"/>
          <p:cNvSpPr txBox="1"/>
          <p:nvPr/>
        </p:nvSpPr>
        <p:spPr>
          <a:xfrm>
            <a:off x="8124825" y="5726429"/>
            <a:ext cx="1517017" cy="194310"/>
          </a:xfrm>
          <a:prstGeom prst="rect">
            <a:avLst/>
          </a:prstGeom>
          <a:noFill/>
        </p:spPr>
        <p:txBody>
          <a:bodyPr wrap="none" lIns="0" rIns="0" tIns="0" bIns="0">
            <a:spAutoFit/>
          </a:bodyPr>
          <a:lstStyle/>
          <a:p>
            <a:r>
              <a:rPr sz="1150" b="0">
                <a:solidFill>
                  <a:srgbClr val="2E2E2E"/>
                </a:solidFill>
                <a:latin typeface="Calibri"/>
              </a:rPr>
              <a:t>above the cross-section.</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Company × Therapy Format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Snapshot: Company × Therapy Format,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market value (US$ Mn) for each company sub-segment across therapy format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Value, Company × Therapy Format, 2026E and 2036F (US$ Mn)</a:t>
            </a:r>
          </a:p>
        </p:txBody>
      </p:sp>
      <p:graphicFrame>
        <p:nvGraphicFramePr>
          <p:cNvPr id="13" name="Table 12"/>
          <p:cNvGraphicFramePr>
            <a:graphicFrameLocks noGrp="1"/>
          </p:cNvGraphicFramePr>
          <p:nvPr/>
        </p:nvGraphicFramePr>
        <p:xfrm>
          <a:off x="152400" y="1238250"/>
          <a:ext cx="11887199" cy="3400428"/>
        </p:xfrm>
        <a:graphic>
          <a:graphicData uri="http://schemas.openxmlformats.org/drawingml/2006/table">
            <a:tbl>
              <a:tblPr>
                <a:tableStyleId>{5C22544A-7EE6-4342-B048-85BDC9FD1C3A}</a:tableStyleId>
              </a:tblPr>
              <a:tblGrid>
                <a:gridCol w="4653631"/>
                <a:gridCol w="904196"/>
                <a:gridCol w="904196"/>
                <a:gridCol w="904196"/>
                <a:gridCol w="904196"/>
                <a:gridCol w="904196"/>
                <a:gridCol w="904196"/>
                <a:gridCol w="904196"/>
                <a:gridCol w="904196"/>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Subcutaneous</a:t>
                      </a:r>
                      <a:endParaRPr sz="1100"/>
                    </a:p>
                    <a:p>
                      <a:pPr algn="ctr"/>
                      <a:r>
                        <a:rPr sz="1100" b="1">
                          <a:solidFill>
                            <a:srgbClr val="0B2E4A"/>
                          </a:solidFill>
                          <a:latin typeface="Calibri"/>
                        </a:rPr>
                        <a:t>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Sublingual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93">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793">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648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8236125" y="3014616"/>
            <a:ext cx="366712" cy="533400"/>
          </a:xfrm>
          <a:prstGeom prst="rect">
            <a:avLst/>
          </a:prstGeom>
        </p:spPr>
      </p:pic>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Snapshot: Company × Therapy Format,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market value (US$ Mn) for each company sub-segment across therapy format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Flow, Company → Therapy Format, 2036F (US$ Mn)</a:t>
            </a:r>
          </a:p>
        </p:txBody>
      </p:sp>
      <p:sp>
        <p:nvSpPr>
          <p:cNvPr id="12" name="Freeform 11"/>
          <p:cNvSpPr/>
          <p:nvPr/>
        </p:nvSpPr>
        <p:spPr>
          <a:xfrm>
            <a:off x="2057400" y="1304925"/>
            <a:ext cx="3743325" cy="447675"/>
          </a:xfrm>
          <a:custGeom>
            <a:avLst/>
            <a:gdLst/>
            <a:ahLst/>
            <a:cxnLst/>
            <a:rect l="l" t="t" r="r" b="b"/>
            <a:pathLst>
              <a:path w="393" h="47">
                <a:moveTo>
                  <a:pt x="0" y="0"/>
                </a:moveTo>
                <a:lnTo>
                  <a:pt x="16" y="0"/>
                </a:lnTo>
                <a:lnTo>
                  <a:pt x="33" y="0"/>
                </a:lnTo>
                <a:lnTo>
                  <a:pt x="49" y="1"/>
                </a:lnTo>
                <a:lnTo>
                  <a:pt x="65" y="2"/>
                </a:lnTo>
                <a:lnTo>
                  <a:pt x="82" y="2"/>
                </a:lnTo>
                <a:lnTo>
                  <a:pt x="98" y="3"/>
                </a:lnTo>
                <a:lnTo>
                  <a:pt x="114" y="4"/>
                </a:lnTo>
                <a:lnTo>
                  <a:pt x="131" y="5"/>
                </a:lnTo>
                <a:lnTo>
                  <a:pt x="147" y="7"/>
                </a:lnTo>
                <a:lnTo>
                  <a:pt x="164" y="8"/>
                </a:lnTo>
                <a:lnTo>
                  <a:pt x="180" y="9"/>
                </a:lnTo>
                <a:lnTo>
                  <a:pt x="196" y="11"/>
                </a:lnTo>
                <a:lnTo>
                  <a:pt x="213" y="12"/>
                </a:lnTo>
                <a:lnTo>
                  <a:pt x="229" y="13"/>
                </a:lnTo>
                <a:lnTo>
                  <a:pt x="246" y="14"/>
                </a:lnTo>
                <a:lnTo>
                  <a:pt x="262" y="16"/>
                </a:lnTo>
                <a:lnTo>
                  <a:pt x="278" y="17"/>
                </a:lnTo>
                <a:lnTo>
                  <a:pt x="295" y="18"/>
                </a:lnTo>
                <a:lnTo>
                  <a:pt x="311" y="19"/>
                </a:lnTo>
                <a:lnTo>
                  <a:pt x="327" y="19"/>
                </a:lnTo>
                <a:lnTo>
                  <a:pt x="344" y="20"/>
                </a:lnTo>
                <a:lnTo>
                  <a:pt x="360" y="21"/>
                </a:lnTo>
                <a:lnTo>
                  <a:pt x="377" y="21"/>
                </a:lnTo>
                <a:lnTo>
                  <a:pt x="393" y="21"/>
                </a:lnTo>
                <a:lnTo>
                  <a:pt x="393" y="47"/>
                </a:lnTo>
                <a:lnTo>
                  <a:pt x="377" y="47"/>
                </a:lnTo>
                <a:lnTo>
                  <a:pt x="360" y="47"/>
                </a:lnTo>
                <a:lnTo>
                  <a:pt x="344" y="46"/>
                </a:lnTo>
                <a:lnTo>
                  <a:pt x="327" y="46"/>
                </a:lnTo>
                <a:lnTo>
                  <a:pt x="311" y="45"/>
                </a:lnTo>
                <a:lnTo>
                  <a:pt x="295" y="44"/>
                </a:lnTo>
                <a:lnTo>
                  <a:pt x="278" y="43"/>
                </a:lnTo>
                <a:lnTo>
                  <a:pt x="262" y="42"/>
                </a:lnTo>
                <a:lnTo>
                  <a:pt x="246" y="41"/>
                </a:lnTo>
                <a:lnTo>
                  <a:pt x="229" y="39"/>
                </a:lnTo>
                <a:lnTo>
                  <a:pt x="213" y="38"/>
                </a:lnTo>
                <a:lnTo>
                  <a:pt x="196" y="37"/>
                </a:lnTo>
                <a:lnTo>
                  <a:pt x="180" y="35"/>
                </a:lnTo>
                <a:lnTo>
                  <a:pt x="164" y="34"/>
                </a:lnTo>
                <a:lnTo>
                  <a:pt x="147" y="33"/>
                </a:lnTo>
                <a:lnTo>
                  <a:pt x="131" y="32"/>
                </a:lnTo>
                <a:lnTo>
                  <a:pt x="114" y="31"/>
                </a:lnTo>
                <a:lnTo>
                  <a:pt x="98" y="30"/>
                </a:lnTo>
                <a:lnTo>
                  <a:pt x="82" y="29"/>
                </a:lnTo>
                <a:lnTo>
                  <a:pt x="65" y="28"/>
                </a:lnTo>
                <a:lnTo>
                  <a:pt x="49" y="27"/>
                </a:lnTo>
                <a:lnTo>
                  <a:pt x="33" y="27"/>
                </a:lnTo>
                <a:lnTo>
                  <a:pt x="16" y="26"/>
                </a:lnTo>
                <a:lnTo>
                  <a:pt x="0" y="2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552575"/>
            <a:ext cx="3743325" cy="2733675"/>
          </a:xfrm>
          <a:custGeom>
            <a:avLst/>
            <a:gdLst/>
            <a:ahLst/>
            <a:cxnLst/>
            <a:rect l="l" t="t" r="r" b="b"/>
            <a:pathLst>
              <a:path w="393" h="287">
                <a:moveTo>
                  <a:pt x="0" y="0"/>
                </a:moveTo>
                <a:lnTo>
                  <a:pt x="16" y="2"/>
                </a:lnTo>
                <a:lnTo>
                  <a:pt x="33" y="5"/>
                </a:lnTo>
                <a:lnTo>
                  <a:pt x="49" y="12"/>
                </a:lnTo>
                <a:lnTo>
                  <a:pt x="65" y="20"/>
                </a:lnTo>
                <a:lnTo>
                  <a:pt x="82" y="30"/>
                </a:lnTo>
                <a:lnTo>
                  <a:pt x="98" y="42"/>
                </a:lnTo>
                <a:lnTo>
                  <a:pt x="114" y="55"/>
                </a:lnTo>
                <a:lnTo>
                  <a:pt x="131" y="69"/>
                </a:lnTo>
                <a:lnTo>
                  <a:pt x="147" y="84"/>
                </a:lnTo>
                <a:lnTo>
                  <a:pt x="164" y="100"/>
                </a:lnTo>
                <a:lnTo>
                  <a:pt x="180" y="117"/>
                </a:lnTo>
                <a:lnTo>
                  <a:pt x="196" y="133"/>
                </a:lnTo>
                <a:lnTo>
                  <a:pt x="213" y="150"/>
                </a:lnTo>
                <a:lnTo>
                  <a:pt x="229" y="166"/>
                </a:lnTo>
                <a:lnTo>
                  <a:pt x="246" y="182"/>
                </a:lnTo>
                <a:lnTo>
                  <a:pt x="262" y="197"/>
                </a:lnTo>
                <a:lnTo>
                  <a:pt x="278" y="211"/>
                </a:lnTo>
                <a:lnTo>
                  <a:pt x="295" y="225"/>
                </a:lnTo>
                <a:lnTo>
                  <a:pt x="311" y="236"/>
                </a:lnTo>
                <a:lnTo>
                  <a:pt x="327" y="246"/>
                </a:lnTo>
                <a:lnTo>
                  <a:pt x="344" y="255"/>
                </a:lnTo>
                <a:lnTo>
                  <a:pt x="360" y="261"/>
                </a:lnTo>
                <a:lnTo>
                  <a:pt x="377" y="265"/>
                </a:lnTo>
                <a:lnTo>
                  <a:pt x="393" y="266"/>
                </a:lnTo>
                <a:lnTo>
                  <a:pt x="393" y="287"/>
                </a:lnTo>
                <a:lnTo>
                  <a:pt x="377" y="286"/>
                </a:lnTo>
                <a:lnTo>
                  <a:pt x="360" y="282"/>
                </a:lnTo>
                <a:lnTo>
                  <a:pt x="344" y="275"/>
                </a:lnTo>
                <a:lnTo>
                  <a:pt x="327" y="267"/>
                </a:lnTo>
                <a:lnTo>
                  <a:pt x="311" y="257"/>
                </a:lnTo>
                <a:lnTo>
                  <a:pt x="295" y="245"/>
                </a:lnTo>
                <a:lnTo>
                  <a:pt x="278" y="232"/>
                </a:lnTo>
                <a:lnTo>
                  <a:pt x="262" y="218"/>
                </a:lnTo>
                <a:lnTo>
                  <a:pt x="246" y="203"/>
                </a:lnTo>
                <a:lnTo>
                  <a:pt x="229" y="187"/>
                </a:lnTo>
                <a:lnTo>
                  <a:pt x="213" y="171"/>
                </a:lnTo>
                <a:lnTo>
                  <a:pt x="196" y="154"/>
                </a:lnTo>
                <a:lnTo>
                  <a:pt x="180" y="137"/>
                </a:lnTo>
                <a:lnTo>
                  <a:pt x="164" y="121"/>
                </a:lnTo>
                <a:lnTo>
                  <a:pt x="147" y="105"/>
                </a:lnTo>
                <a:lnTo>
                  <a:pt x="131" y="90"/>
                </a:lnTo>
                <a:lnTo>
                  <a:pt x="114" y="76"/>
                </a:lnTo>
                <a:lnTo>
                  <a:pt x="98" y="63"/>
                </a:lnTo>
                <a:lnTo>
                  <a:pt x="82" y="51"/>
                </a:lnTo>
                <a:lnTo>
                  <a:pt x="65" y="41"/>
                </a:lnTo>
                <a:lnTo>
                  <a:pt x="49" y="33"/>
                </a:lnTo>
                <a:lnTo>
                  <a:pt x="33" y="26"/>
                </a:lnTo>
                <a:lnTo>
                  <a:pt x="16" y="22"/>
                </a:lnTo>
                <a:lnTo>
                  <a:pt x="0" y="2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1752600"/>
            <a:ext cx="3743325" cy="4333875"/>
          </a:xfrm>
          <a:custGeom>
            <a:avLst/>
            <a:gdLst/>
            <a:ahLst/>
            <a:cxnLst/>
            <a:rect l="l" t="t" r="r" b="b"/>
            <a:pathLst>
              <a:path w="393" h="455">
                <a:moveTo>
                  <a:pt x="0" y="0"/>
                </a:moveTo>
                <a:lnTo>
                  <a:pt x="16" y="2"/>
                </a:lnTo>
                <a:lnTo>
                  <a:pt x="33" y="9"/>
                </a:lnTo>
                <a:lnTo>
                  <a:pt x="49" y="20"/>
                </a:lnTo>
                <a:lnTo>
                  <a:pt x="65" y="34"/>
                </a:lnTo>
                <a:lnTo>
                  <a:pt x="82" y="51"/>
                </a:lnTo>
                <a:lnTo>
                  <a:pt x="98" y="71"/>
                </a:lnTo>
                <a:lnTo>
                  <a:pt x="114" y="93"/>
                </a:lnTo>
                <a:lnTo>
                  <a:pt x="131" y="117"/>
                </a:lnTo>
                <a:lnTo>
                  <a:pt x="147" y="143"/>
                </a:lnTo>
                <a:lnTo>
                  <a:pt x="164" y="170"/>
                </a:lnTo>
                <a:lnTo>
                  <a:pt x="180" y="198"/>
                </a:lnTo>
                <a:lnTo>
                  <a:pt x="196" y="226"/>
                </a:lnTo>
                <a:lnTo>
                  <a:pt x="213" y="254"/>
                </a:lnTo>
                <a:lnTo>
                  <a:pt x="229" y="282"/>
                </a:lnTo>
                <a:lnTo>
                  <a:pt x="246" y="309"/>
                </a:lnTo>
                <a:lnTo>
                  <a:pt x="262" y="335"/>
                </a:lnTo>
                <a:lnTo>
                  <a:pt x="278" y="359"/>
                </a:lnTo>
                <a:lnTo>
                  <a:pt x="295" y="382"/>
                </a:lnTo>
                <a:lnTo>
                  <a:pt x="311" y="402"/>
                </a:lnTo>
                <a:lnTo>
                  <a:pt x="327" y="419"/>
                </a:lnTo>
                <a:lnTo>
                  <a:pt x="344" y="433"/>
                </a:lnTo>
                <a:lnTo>
                  <a:pt x="360" y="443"/>
                </a:lnTo>
                <a:lnTo>
                  <a:pt x="377" y="450"/>
                </a:lnTo>
                <a:lnTo>
                  <a:pt x="393" y="452"/>
                </a:lnTo>
                <a:lnTo>
                  <a:pt x="393" y="455"/>
                </a:lnTo>
                <a:lnTo>
                  <a:pt x="377" y="452"/>
                </a:lnTo>
                <a:lnTo>
                  <a:pt x="360" y="446"/>
                </a:lnTo>
                <a:lnTo>
                  <a:pt x="344" y="435"/>
                </a:lnTo>
                <a:lnTo>
                  <a:pt x="327" y="421"/>
                </a:lnTo>
                <a:lnTo>
                  <a:pt x="311" y="404"/>
                </a:lnTo>
                <a:lnTo>
                  <a:pt x="295" y="384"/>
                </a:lnTo>
                <a:lnTo>
                  <a:pt x="278" y="362"/>
                </a:lnTo>
                <a:lnTo>
                  <a:pt x="262" y="338"/>
                </a:lnTo>
                <a:lnTo>
                  <a:pt x="246" y="312"/>
                </a:lnTo>
                <a:lnTo>
                  <a:pt x="229" y="285"/>
                </a:lnTo>
                <a:lnTo>
                  <a:pt x="213" y="257"/>
                </a:lnTo>
                <a:lnTo>
                  <a:pt x="196" y="229"/>
                </a:lnTo>
                <a:lnTo>
                  <a:pt x="180" y="200"/>
                </a:lnTo>
                <a:lnTo>
                  <a:pt x="164" y="173"/>
                </a:lnTo>
                <a:lnTo>
                  <a:pt x="147" y="146"/>
                </a:lnTo>
                <a:lnTo>
                  <a:pt x="131" y="120"/>
                </a:lnTo>
                <a:lnTo>
                  <a:pt x="114" y="95"/>
                </a:lnTo>
                <a:lnTo>
                  <a:pt x="98" y="73"/>
                </a:lnTo>
                <a:lnTo>
                  <a:pt x="82" y="53"/>
                </a:lnTo>
                <a:lnTo>
                  <a:pt x="65" y="36"/>
                </a:lnTo>
                <a:lnTo>
                  <a:pt x="49" y="22"/>
                </a:lnTo>
                <a:lnTo>
                  <a:pt x="33" y="11"/>
                </a:lnTo>
                <a:lnTo>
                  <a:pt x="16" y="5"/>
                </a:lnTo>
                <a:lnTo>
                  <a:pt x="0" y="3"/>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1752600"/>
            <a:ext cx="3743325" cy="333375"/>
          </a:xfrm>
          <a:custGeom>
            <a:avLst/>
            <a:gdLst/>
            <a:ahLst/>
            <a:cxnLst/>
            <a:rect l="l" t="t" r="r" b="b"/>
            <a:pathLst>
              <a:path w="393" h="35">
                <a:moveTo>
                  <a:pt x="0" y="9"/>
                </a:moveTo>
                <a:lnTo>
                  <a:pt x="16" y="8"/>
                </a:lnTo>
                <a:lnTo>
                  <a:pt x="33" y="8"/>
                </a:lnTo>
                <a:lnTo>
                  <a:pt x="49" y="8"/>
                </a:lnTo>
                <a:lnTo>
                  <a:pt x="65" y="8"/>
                </a:lnTo>
                <a:lnTo>
                  <a:pt x="82" y="8"/>
                </a:lnTo>
                <a:lnTo>
                  <a:pt x="98" y="7"/>
                </a:lnTo>
                <a:lnTo>
                  <a:pt x="114" y="7"/>
                </a:lnTo>
                <a:lnTo>
                  <a:pt x="131" y="6"/>
                </a:lnTo>
                <a:lnTo>
                  <a:pt x="147" y="6"/>
                </a:lnTo>
                <a:lnTo>
                  <a:pt x="164" y="5"/>
                </a:lnTo>
                <a:lnTo>
                  <a:pt x="180" y="5"/>
                </a:lnTo>
                <a:lnTo>
                  <a:pt x="196" y="4"/>
                </a:lnTo>
                <a:lnTo>
                  <a:pt x="213" y="4"/>
                </a:lnTo>
                <a:lnTo>
                  <a:pt x="229" y="3"/>
                </a:lnTo>
                <a:lnTo>
                  <a:pt x="246" y="3"/>
                </a:lnTo>
                <a:lnTo>
                  <a:pt x="262" y="2"/>
                </a:lnTo>
                <a:lnTo>
                  <a:pt x="278" y="2"/>
                </a:lnTo>
                <a:lnTo>
                  <a:pt x="295" y="2"/>
                </a:lnTo>
                <a:lnTo>
                  <a:pt x="311" y="1"/>
                </a:lnTo>
                <a:lnTo>
                  <a:pt x="327" y="1"/>
                </a:lnTo>
                <a:lnTo>
                  <a:pt x="344" y="1"/>
                </a:lnTo>
                <a:lnTo>
                  <a:pt x="360" y="0"/>
                </a:lnTo>
                <a:lnTo>
                  <a:pt x="377" y="0"/>
                </a:lnTo>
                <a:lnTo>
                  <a:pt x="393" y="0"/>
                </a:lnTo>
                <a:lnTo>
                  <a:pt x="393" y="27"/>
                </a:lnTo>
                <a:lnTo>
                  <a:pt x="377" y="27"/>
                </a:lnTo>
                <a:lnTo>
                  <a:pt x="360" y="27"/>
                </a:lnTo>
                <a:lnTo>
                  <a:pt x="344" y="27"/>
                </a:lnTo>
                <a:lnTo>
                  <a:pt x="327" y="27"/>
                </a:lnTo>
                <a:lnTo>
                  <a:pt x="311" y="28"/>
                </a:lnTo>
                <a:lnTo>
                  <a:pt x="295" y="28"/>
                </a:lnTo>
                <a:lnTo>
                  <a:pt x="278" y="28"/>
                </a:lnTo>
                <a:lnTo>
                  <a:pt x="262" y="29"/>
                </a:lnTo>
                <a:lnTo>
                  <a:pt x="246" y="29"/>
                </a:lnTo>
                <a:lnTo>
                  <a:pt x="229" y="30"/>
                </a:lnTo>
                <a:lnTo>
                  <a:pt x="213" y="30"/>
                </a:lnTo>
                <a:lnTo>
                  <a:pt x="196" y="31"/>
                </a:lnTo>
                <a:lnTo>
                  <a:pt x="180" y="31"/>
                </a:lnTo>
                <a:lnTo>
                  <a:pt x="164" y="32"/>
                </a:lnTo>
                <a:lnTo>
                  <a:pt x="147" y="32"/>
                </a:lnTo>
                <a:lnTo>
                  <a:pt x="131" y="33"/>
                </a:lnTo>
                <a:lnTo>
                  <a:pt x="114" y="33"/>
                </a:lnTo>
                <a:lnTo>
                  <a:pt x="98" y="34"/>
                </a:lnTo>
                <a:lnTo>
                  <a:pt x="82" y="34"/>
                </a:lnTo>
                <a:lnTo>
                  <a:pt x="65" y="34"/>
                </a:lnTo>
                <a:lnTo>
                  <a:pt x="49" y="35"/>
                </a:lnTo>
                <a:lnTo>
                  <a:pt x="33" y="35"/>
                </a:lnTo>
                <a:lnTo>
                  <a:pt x="16" y="35"/>
                </a:lnTo>
                <a:lnTo>
                  <a:pt x="0" y="3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085975"/>
            <a:ext cx="3743325" cy="2390775"/>
          </a:xfrm>
          <a:custGeom>
            <a:avLst/>
            <a:gdLst/>
            <a:ahLst/>
            <a:cxnLst/>
            <a:rect l="l" t="t" r="r" b="b"/>
            <a:pathLst>
              <a:path w="393" h="251">
                <a:moveTo>
                  <a:pt x="0" y="0"/>
                </a:moveTo>
                <a:lnTo>
                  <a:pt x="16" y="1"/>
                </a:lnTo>
                <a:lnTo>
                  <a:pt x="33" y="5"/>
                </a:lnTo>
                <a:lnTo>
                  <a:pt x="49" y="10"/>
                </a:lnTo>
                <a:lnTo>
                  <a:pt x="65" y="17"/>
                </a:lnTo>
                <a:lnTo>
                  <a:pt x="82" y="26"/>
                </a:lnTo>
                <a:lnTo>
                  <a:pt x="98" y="36"/>
                </a:lnTo>
                <a:lnTo>
                  <a:pt x="114" y="47"/>
                </a:lnTo>
                <a:lnTo>
                  <a:pt x="131" y="60"/>
                </a:lnTo>
                <a:lnTo>
                  <a:pt x="147" y="73"/>
                </a:lnTo>
                <a:lnTo>
                  <a:pt x="164" y="87"/>
                </a:lnTo>
                <a:lnTo>
                  <a:pt x="180" y="101"/>
                </a:lnTo>
                <a:lnTo>
                  <a:pt x="196" y="115"/>
                </a:lnTo>
                <a:lnTo>
                  <a:pt x="213" y="130"/>
                </a:lnTo>
                <a:lnTo>
                  <a:pt x="229" y="144"/>
                </a:lnTo>
                <a:lnTo>
                  <a:pt x="246" y="158"/>
                </a:lnTo>
                <a:lnTo>
                  <a:pt x="262" y="171"/>
                </a:lnTo>
                <a:lnTo>
                  <a:pt x="278" y="183"/>
                </a:lnTo>
                <a:lnTo>
                  <a:pt x="295" y="195"/>
                </a:lnTo>
                <a:lnTo>
                  <a:pt x="311" y="205"/>
                </a:lnTo>
                <a:lnTo>
                  <a:pt x="327" y="214"/>
                </a:lnTo>
                <a:lnTo>
                  <a:pt x="344" y="221"/>
                </a:lnTo>
                <a:lnTo>
                  <a:pt x="360" y="226"/>
                </a:lnTo>
                <a:lnTo>
                  <a:pt x="377" y="230"/>
                </a:lnTo>
                <a:lnTo>
                  <a:pt x="393" y="231"/>
                </a:lnTo>
                <a:lnTo>
                  <a:pt x="393" y="251"/>
                </a:lnTo>
                <a:lnTo>
                  <a:pt x="377" y="250"/>
                </a:lnTo>
                <a:lnTo>
                  <a:pt x="360" y="247"/>
                </a:lnTo>
                <a:lnTo>
                  <a:pt x="344" y="241"/>
                </a:lnTo>
                <a:lnTo>
                  <a:pt x="327" y="234"/>
                </a:lnTo>
                <a:lnTo>
                  <a:pt x="311" y="225"/>
                </a:lnTo>
                <a:lnTo>
                  <a:pt x="295" y="215"/>
                </a:lnTo>
                <a:lnTo>
                  <a:pt x="278" y="204"/>
                </a:lnTo>
                <a:lnTo>
                  <a:pt x="262" y="191"/>
                </a:lnTo>
                <a:lnTo>
                  <a:pt x="246" y="178"/>
                </a:lnTo>
                <a:lnTo>
                  <a:pt x="229" y="164"/>
                </a:lnTo>
                <a:lnTo>
                  <a:pt x="213" y="150"/>
                </a:lnTo>
                <a:lnTo>
                  <a:pt x="196" y="136"/>
                </a:lnTo>
                <a:lnTo>
                  <a:pt x="180" y="121"/>
                </a:lnTo>
                <a:lnTo>
                  <a:pt x="164" y="107"/>
                </a:lnTo>
                <a:lnTo>
                  <a:pt x="147" y="93"/>
                </a:lnTo>
                <a:lnTo>
                  <a:pt x="131" y="80"/>
                </a:lnTo>
                <a:lnTo>
                  <a:pt x="114" y="68"/>
                </a:lnTo>
                <a:lnTo>
                  <a:pt x="98" y="56"/>
                </a:lnTo>
                <a:lnTo>
                  <a:pt x="82" y="46"/>
                </a:lnTo>
                <a:lnTo>
                  <a:pt x="65" y="37"/>
                </a:lnTo>
                <a:lnTo>
                  <a:pt x="49" y="30"/>
                </a:lnTo>
                <a:lnTo>
                  <a:pt x="33" y="25"/>
                </a:lnTo>
                <a:lnTo>
                  <a:pt x="16" y="22"/>
                </a:lnTo>
                <a:lnTo>
                  <a:pt x="0" y="2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2276475"/>
            <a:ext cx="3743325" cy="3829050"/>
          </a:xfrm>
          <a:custGeom>
            <a:avLst/>
            <a:gdLst/>
            <a:ahLst/>
            <a:cxnLst/>
            <a:rect l="l" t="t" r="r" b="b"/>
            <a:pathLst>
              <a:path w="393" h="402">
                <a:moveTo>
                  <a:pt x="0" y="0"/>
                </a:moveTo>
                <a:lnTo>
                  <a:pt x="16" y="2"/>
                </a:lnTo>
                <a:lnTo>
                  <a:pt x="33" y="8"/>
                </a:lnTo>
                <a:lnTo>
                  <a:pt x="49" y="17"/>
                </a:lnTo>
                <a:lnTo>
                  <a:pt x="65" y="30"/>
                </a:lnTo>
                <a:lnTo>
                  <a:pt x="82" y="45"/>
                </a:lnTo>
                <a:lnTo>
                  <a:pt x="98" y="63"/>
                </a:lnTo>
                <a:lnTo>
                  <a:pt x="114" y="82"/>
                </a:lnTo>
                <a:lnTo>
                  <a:pt x="131" y="104"/>
                </a:lnTo>
                <a:lnTo>
                  <a:pt x="147" y="127"/>
                </a:lnTo>
                <a:lnTo>
                  <a:pt x="164" y="151"/>
                </a:lnTo>
                <a:lnTo>
                  <a:pt x="180" y="175"/>
                </a:lnTo>
                <a:lnTo>
                  <a:pt x="196" y="200"/>
                </a:lnTo>
                <a:lnTo>
                  <a:pt x="213" y="225"/>
                </a:lnTo>
                <a:lnTo>
                  <a:pt x="229" y="250"/>
                </a:lnTo>
                <a:lnTo>
                  <a:pt x="246" y="273"/>
                </a:lnTo>
                <a:lnTo>
                  <a:pt x="262" y="296"/>
                </a:lnTo>
                <a:lnTo>
                  <a:pt x="278" y="318"/>
                </a:lnTo>
                <a:lnTo>
                  <a:pt x="295" y="337"/>
                </a:lnTo>
                <a:lnTo>
                  <a:pt x="311" y="355"/>
                </a:lnTo>
                <a:lnTo>
                  <a:pt x="327" y="370"/>
                </a:lnTo>
                <a:lnTo>
                  <a:pt x="344" y="383"/>
                </a:lnTo>
                <a:lnTo>
                  <a:pt x="360" y="392"/>
                </a:lnTo>
                <a:lnTo>
                  <a:pt x="377" y="398"/>
                </a:lnTo>
                <a:lnTo>
                  <a:pt x="393" y="400"/>
                </a:lnTo>
                <a:lnTo>
                  <a:pt x="393" y="402"/>
                </a:lnTo>
                <a:lnTo>
                  <a:pt x="377" y="400"/>
                </a:lnTo>
                <a:lnTo>
                  <a:pt x="360" y="395"/>
                </a:lnTo>
                <a:lnTo>
                  <a:pt x="344" y="385"/>
                </a:lnTo>
                <a:lnTo>
                  <a:pt x="327" y="373"/>
                </a:lnTo>
                <a:lnTo>
                  <a:pt x="311" y="358"/>
                </a:lnTo>
                <a:lnTo>
                  <a:pt x="295" y="340"/>
                </a:lnTo>
                <a:lnTo>
                  <a:pt x="278" y="320"/>
                </a:lnTo>
                <a:lnTo>
                  <a:pt x="262" y="299"/>
                </a:lnTo>
                <a:lnTo>
                  <a:pt x="246" y="276"/>
                </a:lnTo>
                <a:lnTo>
                  <a:pt x="229" y="252"/>
                </a:lnTo>
                <a:lnTo>
                  <a:pt x="213" y="228"/>
                </a:lnTo>
                <a:lnTo>
                  <a:pt x="196" y="203"/>
                </a:lnTo>
                <a:lnTo>
                  <a:pt x="180" y="178"/>
                </a:lnTo>
                <a:lnTo>
                  <a:pt x="164" y="153"/>
                </a:lnTo>
                <a:lnTo>
                  <a:pt x="147" y="129"/>
                </a:lnTo>
                <a:lnTo>
                  <a:pt x="131" y="107"/>
                </a:lnTo>
                <a:lnTo>
                  <a:pt x="114" y="85"/>
                </a:lnTo>
                <a:lnTo>
                  <a:pt x="98" y="65"/>
                </a:lnTo>
                <a:lnTo>
                  <a:pt x="82" y="48"/>
                </a:lnTo>
                <a:lnTo>
                  <a:pt x="65" y="33"/>
                </a:lnTo>
                <a:lnTo>
                  <a:pt x="49" y="20"/>
                </a:lnTo>
                <a:lnTo>
                  <a:pt x="33" y="11"/>
                </a:lnTo>
                <a:lnTo>
                  <a:pt x="16" y="5"/>
                </a:lnTo>
                <a:lnTo>
                  <a:pt x="0" y="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2009775"/>
            <a:ext cx="3743325" cy="619125"/>
          </a:xfrm>
          <a:custGeom>
            <a:avLst/>
            <a:gdLst/>
            <a:ahLst/>
            <a:cxnLst/>
            <a:rect l="l" t="t" r="r" b="b"/>
            <a:pathLst>
              <a:path w="393" h="65">
                <a:moveTo>
                  <a:pt x="0" y="37"/>
                </a:moveTo>
                <a:lnTo>
                  <a:pt x="16" y="37"/>
                </a:lnTo>
                <a:lnTo>
                  <a:pt x="33" y="36"/>
                </a:lnTo>
                <a:lnTo>
                  <a:pt x="49" y="35"/>
                </a:lnTo>
                <a:lnTo>
                  <a:pt x="65" y="34"/>
                </a:lnTo>
                <a:lnTo>
                  <a:pt x="82" y="33"/>
                </a:lnTo>
                <a:lnTo>
                  <a:pt x="98" y="31"/>
                </a:lnTo>
                <a:lnTo>
                  <a:pt x="114" y="29"/>
                </a:lnTo>
                <a:lnTo>
                  <a:pt x="131" y="27"/>
                </a:lnTo>
                <a:lnTo>
                  <a:pt x="147" y="25"/>
                </a:lnTo>
                <a:lnTo>
                  <a:pt x="164" y="23"/>
                </a:lnTo>
                <a:lnTo>
                  <a:pt x="180" y="21"/>
                </a:lnTo>
                <a:lnTo>
                  <a:pt x="196" y="18"/>
                </a:lnTo>
                <a:lnTo>
                  <a:pt x="213" y="16"/>
                </a:lnTo>
                <a:lnTo>
                  <a:pt x="229" y="14"/>
                </a:lnTo>
                <a:lnTo>
                  <a:pt x="246" y="12"/>
                </a:lnTo>
                <a:lnTo>
                  <a:pt x="262" y="9"/>
                </a:lnTo>
                <a:lnTo>
                  <a:pt x="278" y="7"/>
                </a:lnTo>
                <a:lnTo>
                  <a:pt x="295" y="6"/>
                </a:lnTo>
                <a:lnTo>
                  <a:pt x="311" y="4"/>
                </a:lnTo>
                <a:lnTo>
                  <a:pt x="327" y="3"/>
                </a:lnTo>
                <a:lnTo>
                  <a:pt x="344" y="1"/>
                </a:lnTo>
                <a:lnTo>
                  <a:pt x="360" y="0"/>
                </a:lnTo>
                <a:lnTo>
                  <a:pt x="377" y="0"/>
                </a:lnTo>
                <a:lnTo>
                  <a:pt x="393" y="0"/>
                </a:lnTo>
                <a:lnTo>
                  <a:pt x="393" y="28"/>
                </a:lnTo>
                <a:lnTo>
                  <a:pt x="377" y="28"/>
                </a:lnTo>
                <a:lnTo>
                  <a:pt x="360" y="29"/>
                </a:lnTo>
                <a:lnTo>
                  <a:pt x="344" y="30"/>
                </a:lnTo>
                <a:lnTo>
                  <a:pt x="327" y="31"/>
                </a:lnTo>
                <a:lnTo>
                  <a:pt x="311" y="32"/>
                </a:lnTo>
                <a:lnTo>
                  <a:pt x="295" y="34"/>
                </a:lnTo>
                <a:lnTo>
                  <a:pt x="278" y="36"/>
                </a:lnTo>
                <a:lnTo>
                  <a:pt x="262" y="38"/>
                </a:lnTo>
                <a:lnTo>
                  <a:pt x="246" y="40"/>
                </a:lnTo>
                <a:lnTo>
                  <a:pt x="229" y="42"/>
                </a:lnTo>
                <a:lnTo>
                  <a:pt x="213" y="44"/>
                </a:lnTo>
                <a:lnTo>
                  <a:pt x="196" y="47"/>
                </a:lnTo>
                <a:lnTo>
                  <a:pt x="180" y="49"/>
                </a:lnTo>
                <a:lnTo>
                  <a:pt x="164" y="51"/>
                </a:lnTo>
                <a:lnTo>
                  <a:pt x="147" y="54"/>
                </a:lnTo>
                <a:lnTo>
                  <a:pt x="131" y="56"/>
                </a:lnTo>
                <a:lnTo>
                  <a:pt x="114" y="58"/>
                </a:lnTo>
                <a:lnTo>
                  <a:pt x="98" y="60"/>
                </a:lnTo>
                <a:lnTo>
                  <a:pt x="82" y="61"/>
                </a:lnTo>
                <a:lnTo>
                  <a:pt x="65" y="63"/>
                </a:lnTo>
                <a:lnTo>
                  <a:pt x="49" y="64"/>
                </a:lnTo>
                <a:lnTo>
                  <a:pt x="33" y="65"/>
                </a:lnTo>
                <a:lnTo>
                  <a:pt x="16" y="65"/>
                </a:lnTo>
                <a:lnTo>
                  <a:pt x="0" y="6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2628900"/>
            <a:ext cx="3743325" cy="2019300"/>
          </a:xfrm>
          <a:custGeom>
            <a:avLst/>
            <a:gdLst/>
            <a:ahLst/>
            <a:cxnLst/>
            <a:rect l="l" t="t" r="r" b="b"/>
            <a:pathLst>
              <a:path w="393" h="212">
                <a:moveTo>
                  <a:pt x="0" y="0"/>
                </a:moveTo>
                <a:lnTo>
                  <a:pt x="16" y="1"/>
                </a:lnTo>
                <a:lnTo>
                  <a:pt x="33" y="4"/>
                </a:lnTo>
                <a:lnTo>
                  <a:pt x="49" y="9"/>
                </a:lnTo>
                <a:lnTo>
                  <a:pt x="65" y="15"/>
                </a:lnTo>
                <a:lnTo>
                  <a:pt x="82" y="22"/>
                </a:lnTo>
                <a:lnTo>
                  <a:pt x="98" y="31"/>
                </a:lnTo>
                <a:lnTo>
                  <a:pt x="114" y="40"/>
                </a:lnTo>
                <a:lnTo>
                  <a:pt x="131" y="51"/>
                </a:lnTo>
                <a:lnTo>
                  <a:pt x="147" y="62"/>
                </a:lnTo>
                <a:lnTo>
                  <a:pt x="164" y="73"/>
                </a:lnTo>
                <a:lnTo>
                  <a:pt x="180" y="85"/>
                </a:lnTo>
                <a:lnTo>
                  <a:pt x="196" y="97"/>
                </a:lnTo>
                <a:lnTo>
                  <a:pt x="213" y="109"/>
                </a:lnTo>
                <a:lnTo>
                  <a:pt x="229" y="121"/>
                </a:lnTo>
                <a:lnTo>
                  <a:pt x="246" y="133"/>
                </a:lnTo>
                <a:lnTo>
                  <a:pt x="262" y="144"/>
                </a:lnTo>
                <a:lnTo>
                  <a:pt x="278" y="154"/>
                </a:lnTo>
                <a:lnTo>
                  <a:pt x="295" y="164"/>
                </a:lnTo>
                <a:lnTo>
                  <a:pt x="311" y="172"/>
                </a:lnTo>
                <a:lnTo>
                  <a:pt x="327" y="180"/>
                </a:lnTo>
                <a:lnTo>
                  <a:pt x="344" y="186"/>
                </a:lnTo>
                <a:lnTo>
                  <a:pt x="360" y="190"/>
                </a:lnTo>
                <a:lnTo>
                  <a:pt x="377" y="193"/>
                </a:lnTo>
                <a:lnTo>
                  <a:pt x="393" y="194"/>
                </a:lnTo>
                <a:lnTo>
                  <a:pt x="393" y="212"/>
                </a:lnTo>
                <a:lnTo>
                  <a:pt x="377" y="211"/>
                </a:lnTo>
                <a:lnTo>
                  <a:pt x="360" y="208"/>
                </a:lnTo>
                <a:lnTo>
                  <a:pt x="344" y="204"/>
                </a:lnTo>
                <a:lnTo>
                  <a:pt x="327" y="198"/>
                </a:lnTo>
                <a:lnTo>
                  <a:pt x="311" y="191"/>
                </a:lnTo>
                <a:lnTo>
                  <a:pt x="295" y="182"/>
                </a:lnTo>
                <a:lnTo>
                  <a:pt x="278" y="172"/>
                </a:lnTo>
                <a:lnTo>
                  <a:pt x="262" y="162"/>
                </a:lnTo>
                <a:lnTo>
                  <a:pt x="246" y="151"/>
                </a:lnTo>
                <a:lnTo>
                  <a:pt x="229" y="139"/>
                </a:lnTo>
                <a:lnTo>
                  <a:pt x="213" y="127"/>
                </a:lnTo>
                <a:lnTo>
                  <a:pt x="196" y="115"/>
                </a:lnTo>
                <a:lnTo>
                  <a:pt x="180" y="103"/>
                </a:lnTo>
                <a:lnTo>
                  <a:pt x="164" y="91"/>
                </a:lnTo>
                <a:lnTo>
                  <a:pt x="147" y="80"/>
                </a:lnTo>
                <a:lnTo>
                  <a:pt x="131" y="69"/>
                </a:lnTo>
                <a:lnTo>
                  <a:pt x="114" y="58"/>
                </a:lnTo>
                <a:lnTo>
                  <a:pt x="98" y="49"/>
                </a:lnTo>
                <a:lnTo>
                  <a:pt x="82" y="40"/>
                </a:lnTo>
                <a:lnTo>
                  <a:pt x="65" y="33"/>
                </a:lnTo>
                <a:lnTo>
                  <a:pt x="49" y="27"/>
                </a:lnTo>
                <a:lnTo>
                  <a:pt x="33" y="22"/>
                </a:lnTo>
                <a:lnTo>
                  <a:pt x="16" y="19"/>
                </a:lnTo>
                <a:lnTo>
                  <a:pt x="0" y="18"/>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2800350"/>
            <a:ext cx="3743325" cy="3333750"/>
          </a:xfrm>
          <a:custGeom>
            <a:avLst/>
            <a:gdLst/>
            <a:ahLst/>
            <a:cxnLst/>
            <a:rect l="l" t="t" r="r" b="b"/>
            <a:pathLst>
              <a:path w="393" h="350">
                <a:moveTo>
                  <a:pt x="0" y="0"/>
                </a:moveTo>
                <a:lnTo>
                  <a:pt x="16" y="2"/>
                </a:lnTo>
                <a:lnTo>
                  <a:pt x="33" y="7"/>
                </a:lnTo>
                <a:lnTo>
                  <a:pt x="49" y="15"/>
                </a:lnTo>
                <a:lnTo>
                  <a:pt x="65" y="26"/>
                </a:lnTo>
                <a:lnTo>
                  <a:pt x="82" y="39"/>
                </a:lnTo>
                <a:lnTo>
                  <a:pt x="98" y="55"/>
                </a:lnTo>
                <a:lnTo>
                  <a:pt x="114" y="72"/>
                </a:lnTo>
                <a:lnTo>
                  <a:pt x="131" y="90"/>
                </a:lnTo>
                <a:lnTo>
                  <a:pt x="147" y="110"/>
                </a:lnTo>
                <a:lnTo>
                  <a:pt x="164" y="131"/>
                </a:lnTo>
                <a:lnTo>
                  <a:pt x="180" y="152"/>
                </a:lnTo>
                <a:lnTo>
                  <a:pt x="196" y="174"/>
                </a:lnTo>
                <a:lnTo>
                  <a:pt x="213" y="196"/>
                </a:lnTo>
                <a:lnTo>
                  <a:pt x="229" y="217"/>
                </a:lnTo>
                <a:lnTo>
                  <a:pt x="246" y="238"/>
                </a:lnTo>
                <a:lnTo>
                  <a:pt x="262" y="257"/>
                </a:lnTo>
                <a:lnTo>
                  <a:pt x="278" y="276"/>
                </a:lnTo>
                <a:lnTo>
                  <a:pt x="295" y="293"/>
                </a:lnTo>
                <a:lnTo>
                  <a:pt x="311" y="309"/>
                </a:lnTo>
                <a:lnTo>
                  <a:pt x="327" y="322"/>
                </a:lnTo>
                <a:lnTo>
                  <a:pt x="344" y="333"/>
                </a:lnTo>
                <a:lnTo>
                  <a:pt x="360" y="341"/>
                </a:lnTo>
                <a:lnTo>
                  <a:pt x="377" y="346"/>
                </a:lnTo>
                <a:lnTo>
                  <a:pt x="393" y="347"/>
                </a:lnTo>
                <a:lnTo>
                  <a:pt x="393" y="350"/>
                </a:lnTo>
                <a:lnTo>
                  <a:pt x="377" y="349"/>
                </a:lnTo>
                <a:lnTo>
                  <a:pt x="360" y="344"/>
                </a:lnTo>
                <a:lnTo>
                  <a:pt x="344" y="336"/>
                </a:lnTo>
                <a:lnTo>
                  <a:pt x="327" y="325"/>
                </a:lnTo>
                <a:lnTo>
                  <a:pt x="311" y="312"/>
                </a:lnTo>
                <a:lnTo>
                  <a:pt x="295" y="296"/>
                </a:lnTo>
                <a:lnTo>
                  <a:pt x="278" y="279"/>
                </a:lnTo>
                <a:lnTo>
                  <a:pt x="262" y="260"/>
                </a:lnTo>
                <a:lnTo>
                  <a:pt x="246" y="241"/>
                </a:lnTo>
                <a:lnTo>
                  <a:pt x="229" y="220"/>
                </a:lnTo>
                <a:lnTo>
                  <a:pt x="213" y="199"/>
                </a:lnTo>
                <a:lnTo>
                  <a:pt x="196" y="177"/>
                </a:lnTo>
                <a:lnTo>
                  <a:pt x="180" y="155"/>
                </a:lnTo>
                <a:lnTo>
                  <a:pt x="164" y="134"/>
                </a:lnTo>
                <a:lnTo>
                  <a:pt x="147" y="113"/>
                </a:lnTo>
                <a:lnTo>
                  <a:pt x="131" y="93"/>
                </a:lnTo>
                <a:lnTo>
                  <a:pt x="114" y="75"/>
                </a:lnTo>
                <a:lnTo>
                  <a:pt x="98" y="58"/>
                </a:lnTo>
                <a:lnTo>
                  <a:pt x="82" y="42"/>
                </a:lnTo>
                <a:lnTo>
                  <a:pt x="65" y="29"/>
                </a:lnTo>
                <a:lnTo>
                  <a:pt x="49" y="18"/>
                </a:lnTo>
                <a:lnTo>
                  <a:pt x="33" y="10"/>
                </a:lnTo>
                <a:lnTo>
                  <a:pt x="16" y="5"/>
                </a:lnTo>
                <a:lnTo>
                  <a:pt x="0" y="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276475"/>
            <a:ext cx="3743325" cy="876300"/>
          </a:xfrm>
          <a:custGeom>
            <a:avLst/>
            <a:gdLst/>
            <a:ahLst/>
            <a:cxnLst/>
            <a:rect l="l" t="t" r="r" b="b"/>
            <a:pathLst>
              <a:path w="393" h="92">
                <a:moveTo>
                  <a:pt x="0" y="65"/>
                </a:moveTo>
                <a:lnTo>
                  <a:pt x="16" y="64"/>
                </a:lnTo>
                <a:lnTo>
                  <a:pt x="33" y="63"/>
                </a:lnTo>
                <a:lnTo>
                  <a:pt x="49" y="62"/>
                </a:lnTo>
                <a:lnTo>
                  <a:pt x="65" y="60"/>
                </a:lnTo>
                <a:lnTo>
                  <a:pt x="82" y="57"/>
                </a:lnTo>
                <a:lnTo>
                  <a:pt x="98" y="54"/>
                </a:lnTo>
                <a:lnTo>
                  <a:pt x="114" y="51"/>
                </a:lnTo>
                <a:lnTo>
                  <a:pt x="131" y="48"/>
                </a:lnTo>
                <a:lnTo>
                  <a:pt x="147" y="44"/>
                </a:lnTo>
                <a:lnTo>
                  <a:pt x="164" y="40"/>
                </a:lnTo>
                <a:lnTo>
                  <a:pt x="180" y="36"/>
                </a:lnTo>
                <a:lnTo>
                  <a:pt x="196" y="32"/>
                </a:lnTo>
                <a:lnTo>
                  <a:pt x="213" y="28"/>
                </a:lnTo>
                <a:lnTo>
                  <a:pt x="229" y="24"/>
                </a:lnTo>
                <a:lnTo>
                  <a:pt x="246" y="21"/>
                </a:lnTo>
                <a:lnTo>
                  <a:pt x="262" y="17"/>
                </a:lnTo>
                <a:lnTo>
                  <a:pt x="278" y="13"/>
                </a:lnTo>
                <a:lnTo>
                  <a:pt x="295" y="10"/>
                </a:lnTo>
                <a:lnTo>
                  <a:pt x="311" y="7"/>
                </a:lnTo>
                <a:lnTo>
                  <a:pt x="327" y="5"/>
                </a:lnTo>
                <a:lnTo>
                  <a:pt x="344" y="3"/>
                </a:lnTo>
                <a:lnTo>
                  <a:pt x="360" y="1"/>
                </a:lnTo>
                <a:lnTo>
                  <a:pt x="377" y="1"/>
                </a:lnTo>
                <a:lnTo>
                  <a:pt x="393" y="0"/>
                </a:lnTo>
                <a:lnTo>
                  <a:pt x="393" y="28"/>
                </a:lnTo>
                <a:lnTo>
                  <a:pt x="377" y="28"/>
                </a:lnTo>
                <a:lnTo>
                  <a:pt x="360" y="29"/>
                </a:lnTo>
                <a:lnTo>
                  <a:pt x="344" y="30"/>
                </a:lnTo>
                <a:lnTo>
                  <a:pt x="327" y="32"/>
                </a:lnTo>
                <a:lnTo>
                  <a:pt x="311" y="35"/>
                </a:lnTo>
                <a:lnTo>
                  <a:pt x="295" y="38"/>
                </a:lnTo>
                <a:lnTo>
                  <a:pt x="278" y="41"/>
                </a:lnTo>
                <a:lnTo>
                  <a:pt x="262" y="44"/>
                </a:lnTo>
                <a:lnTo>
                  <a:pt x="246" y="48"/>
                </a:lnTo>
                <a:lnTo>
                  <a:pt x="229" y="52"/>
                </a:lnTo>
                <a:lnTo>
                  <a:pt x="213" y="56"/>
                </a:lnTo>
                <a:lnTo>
                  <a:pt x="196" y="60"/>
                </a:lnTo>
                <a:lnTo>
                  <a:pt x="180" y="64"/>
                </a:lnTo>
                <a:lnTo>
                  <a:pt x="164" y="68"/>
                </a:lnTo>
                <a:lnTo>
                  <a:pt x="147" y="72"/>
                </a:lnTo>
                <a:lnTo>
                  <a:pt x="131" y="75"/>
                </a:lnTo>
                <a:lnTo>
                  <a:pt x="114" y="79"/>
                </a:lnTo>
                <a:lnTo>
                  <a:pt x="98" y="82"/>
                </a:lnTo>
                <a:lnTo>
                  <a:pt x="82" y="85"/>
                </a:lnTo>
                <a:lnTo>
                  <a:pt x="65" y="87"/>
                </a:lnTo>
                <a:lnTo>
                  <a:pt x="49" y="89"/>
                </a:lnTo>
                <a:lnTo>
                  <a:pt x="33" y="91"/>
                </a:lnTo>
                <a:lnTo>
                  <a:pt x="16" y="92"/>
                </a:lnTo>
                <a:lnTo>
                  <a:pt x="0" y="9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3152775"/>
            <a:ext cx="3743325" cy="1685925"/>
          </a:xfrm>
          <a:custGeom>
            <a:avLst/>
            <a:gdLst/>
            <a:ahLst/>
            <a:cxnLst/>
            <a:rect l="l" t="t" r="r" b="b"/>
            <a:pathLst>
              <a:path w="393" h="177">
                <a:moveTo>
                  <a:pt x="0" y="0"/>
                </a:moveTo>
                <a:lnTo>
                  <a:pt x="16" y="1"/>
                </a:lnTo>
                <a:lnTo>
                  <a:pt x="33" y="3"/>
                </a:lnTo>
                <a:lnTo>
                  <a:pt x="49" y="7"/>
                </a:lnTo>
                <a:lnTo>
                  <a:pt x="65" y="12"/>
                </a:lnTo>
                <a:lnTo>
                  <a:pt x="82" y="18"/>
                </a:lnTo>
                <a:lnTo>
                  <a:pt x="98" y="25"/>
                </a:lnTo>
                <a:lnTo>
                  <a:pt x="114" y="32"/>
                </a:lnTo>
                <a:lnTo>
                  <a:pt x="131" y="41"/>
                </a:lnTo>
                <a:lnTo>
                  <a:pt x="147" y="50"/>
                </a:lnTo>
                <a:lnTo>
                  <a:pt x="164" y="59"/>
                </a:lnTo>
                <a:lnTo>
                  <a:pt x="180" y="69"/>
                </a:lnTo>
                <a:lnTo>
                  <a:pt x="196" y="79"/>
                </a:lnTo>
                <a:lnTo>
                  <a:pt x="213" y="88"/>
                </a:lnTo>
                <a:lnTo>
                  <a:pt x="229" y="98"/>
                </a:lnTo>
                <a:lnTo>
                  <a:pt x="246" y="107"/>
                </a:lnTo>
                <a:lnTo>
                  <a:pt x="262" y="116"/>
                </a:lnTo>
                <a:lnTo>
                  <a:pt x="278" y="125"/>
                </a:lnTo>
                <a:lnTo>
                  <a:pt x="295" y="133"/>
                </a:lnTo>
                <a:lnTo>
                  <a:pt x="311" y="140"/>
                </a:lnTo>
                <a:lnTo>
                  <a:pt x="327" y="146"/>
                </a:lnTo>
                <a:lnTo>
                  <a:pt x="344" y="151"/>
                </a:lnTo>
                <a:lnTo>
                  <a:pt x="360" y="154"/>
                </a:lnTo>
                <a:lnTo>
                  <a:pt x="377" y="156"/>
                </a:lnTo>
                <a:lnTo>
                  <a:pt x="393" y="157"/>
                </a:lnTo>
                <a:lnTo>
                  <a:pt x="393" y="177"/>
                </a:lnTo>
                <a:lnTo>
                  <a:pt x="377" y="176"/>
                </a:lnTo>
                <a:lnTo>
                  <a:pt x="360" y="174"/>
                </a:lnTo>
                <a:lnTo>
                  <a:pt x="344" y="170"/>
                </a:lnTo>
                <a:lnTo>
                  <a:pt x="327" y="165"/>
                </a:lnTo>
                <a:lnTo>
                  <a:pt x="311" y="159"/>
                </a:lnTo>
                <a:lnTo>
                  <a:pt x="295" y="152"/>
                </a:lnTo>
                <a:lnTo>
                  <a:pt x="278" y="145"/>
                </a:lnTo>
                <a:lnTo>
                  <a:pt x="262" y="136"/>
                </a:lnTo>
                <a:lnTo>
                  <a:pt x="246" y="127"/>
                </a:lnTo>
                <a:lnTo>
                  <a:pt x="229" y="118"/>
                </a:lnTo>
                <a:lnTo>
                  <a:pt x="213" y="108"/>
                </a:lnTo>
                <a:lnTo>
                  <a:pt x="196" y="98"/>
                </a:lnTo>
                <a:lnTo>
                  <a:pt x="180" y="89"/>
                </a:lnTo>
                <a:lnTo>
                  <a:pt x="164" y="79"/>
                </a:lnTo>
                <a:lnTo>
                  <a:pt x="147" y="69"/>
                </a:lnTo>
                <a:lnTo>
                  <a:pt x="131" y="60"/>
                </a:lnTo>
                <a:lnTo>
                  <a:pt x="114" y="52"/>
                </a:lnTo>
                <a:lnTo>
                  <a:pt x="98" y="44"/>
                </a:lnTo>
                <a:lnTo>
                  <a:pt x="82" y="37"/>
                </a:lnTo>
                <a:lnTo>
                  <a:pt x="65" y="31"/>
                </a:lnTo>
                <a:lnTo>
                  <a:pt x="49" y="26"/>
                </a:lnTo>
                <a:lnTo>
                  <a:pt x="33" y="23"/>
                </a:lnTo>
                <a:lnTo>
                  <a:pt x="16" y="20"/>
                </a:lnTo>
                <a:lnTo>
                  <a:pt x="0" y="2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3343275"/>
            <a:ext cx="3743325" cy="2819400"/>
          </a:xfrm>
          <a:custGeom>
            <a:avLst/>
            <a:gdLst/>
            <a:ahLst/>
            <a:cxnLst/>
            <a:rect l="l" t="t" r="r" b="b"/>
            <a:pathLst>
              <a:path w="393" h="296">
                <a:moveTo>
                  <a:pt x="0" y="0"/>
                </a:moveTo>
                <a:lnTo>
                  <a:pt x="16" y="1"/>
                </a:lnTo>
                <a:lnTo>
                  <a:pt x="33" y="5"/>
                </a:lnTo>
                <a:lnTo>
                  <a:pt x="49" y="12"/>
                </a:lnTo>
                <a:lnTo>
                  <a:pt x="65" y="21"/>
                </a:lnTo>
                <a:lnTo>
                  <a:pt x="82" y="33"/>
                </a:lnTo>
                <a:lnTo>
                  <a:pt x="98" y="46"/>
                </a:lnTo>
                <a:lnTo>
                  <a:pt x="114" y="60"/>
                </a:lnTo>
                <a:lnTo>
                  <a:pt x="131" y="76"/>
                </a:lnTo>
                <a:lnTo>
                  <a:pt x="147" y="93"/>
                </a:lnTo>
                <a:lnTo>
                  <a:pt x="164" y="110"/>
                </a:lnTo>
                <a:lnTo>
                  <a:pt x="180" y="128"/>
                </a:lnTo>
                <a:lnTo>
                  <a:pt x="196" y="147"/>
                </a:lnTo>
                <a:lnTo>
                  <a:pt x="213" y="165"/>
                </a:lnTo>
                <a:lnTo>
                  <a:pt x="229" y="183"/>
                </a:lnTo>
                <a:lnTo>
                  <a:pt x="246" y="200"/>
                </a:lnTo>
                <a:lnTo>
                  <a:pt x="262" y="217"/>
                </a:lnTo>
                <a:lnTo>
                  <a:pt x="278" y="233"/>
                </a:lnTo>
                <a:lnTo>
                  <a:pt x="295" y="248"/>
                </a:lnTo>
                <a:lnTo>
                  <a:pt x="311" y="260"/>
                </a:lnTo>
                <a:lnTo>
                  <a:pt x="327" y="272"/>
                </a:lnTo>
                <a:lnTo>
                  <a:pt x="344" y="281"/>
                </a:lnTo>
                <a:lnTo>
                  <a:pt x="360" y="288"/>
                </a:lnTo>
                <a:lnTo>
                  <a:pt x="377" y="292"/>
                </a:lnTo>
                <a:lnTo>
                  <a:pt x="393" y="293"/>
                </a:lnTo>
                <a:lnTo>
                  <a:pt x="393" y="296"/>
                </a:lnTo>
                <a:lnTo>
                  <a:pt x="377" y="294"/>
                </a:lnTo>
                <a:lnTo>
                  <a:pt x="360" y="290"/>
                </a:lnTo>
                <a:lnTo>
                  <a:pt x="344" y="283"/>
                </a:lnTo>
                <a:lnTo>
                  <a:pt x="327" y="274"/>
                </a:lnTo>
                <a:lnTo>
                  <a:pt x="311" y="263"/>
                </a:lnTo>
                <a:lnTo>
                  <a:pt x="295" y="250"/>
                </a:lnTo>
                <a:lnTo>
                  <a:pt x="278" y="235"/>
                </a:lnTo>
                <a:lnTo>
                  <a:pt x="262" y="220"/>
                </a:lnTo>
                <a:lnTo>
                  <a:pt x="246" y="203"/>
                </a:lnTo>
                <a:lnTo>
                  <a:pt x="229" y="185"/>
                </a:lnTo>
                <a:lnTo>
                  <a:pt x="213" y="167"/>
                </a:lnTo>
                <a:lnTo>
                  <a:pt x="196" y="149"/>
                </a:lnTo>
                <a:lnTo>
                  <a:pt x="180" y="131"/>
                </a:lnTo>
                <a:lnTo>
                  <a:pt x="164" y="112"/>
                </a:lnTo>
                <a:lnTo>
                  <a:pt x="147" y="95"/>
                </a:lnTo>
                <a:lnTo>
                  <a:pt x="131" y="78"/>
                </a:lnTo>
                <a:lnTo>
                  <a:pt x="114" y="62"/>
                </a:lnTo>
                <a:lnTo>
                  <a:pt x="98" y="48"/>
                </a:lnTo>
                <a:lnTo>
                  <a:pt x="82" y="35"/>
                </a:lnTo>
                <a:lnTo>
                  <a:pt x="65" y="24"/>
                </a:lnTo>
                <a:lnTo>
                  <a:pt x="49" y="15"/>
                </a:lnTo>
                <a:lnTo>
                  <a:pt x="33" y="8"/>
                </a:lnTo>
                <a:lnTo>
                  <a:pt x="16" y="3"/>
                </a:lnTo>
                <a:lnTo>
                  <a:pt x="0" y="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2543175"/>
            <a:ext cx="3743325" cy="1133475"/>
          </a:xfrm>
          <a:custGeom>
            <a:avLst/>
            <a:gdLst/>
            <a:ahLst/>
            <a:cxnLst/>
            <a:rect l="l" t="t" r="r" b="b"/>
            <a:pathLst>
              <a:path w="393" h="119">
                <a:moveTo>
                  <a:pt x="0" y="92"/>
                </a:moveTo>
                <a:lnTo>
                  <a:pt x="16" y="92"/>
                </a:lnTo>
                <a:lnTo>
                  <a:pt x="33" y="90"/>
                </a:lnTo>
                <a:lnTo>
                  <a:pt x="49" y="88"/>
                </a:lnTo>
                <a:lnTo>
                  <a:pt x="65" y="85"/>
                </a:lnTo>
                <a:lnTo>
                  <a:pt x="82" y="82"/>
                </a:lnTo>
                <a:lnTo>
                  <a:pt x="98" y="78"/>
                </a:lnTo>
                <a:lnTo>
                  <a:pt x="114" y="73"/>
                </a:lnTo>
                <a:lnTo>
                  <a:pt x="131" y="68"/>
                </a:lnTo>
                <a:lnTo>
                  <a:pt x="147" y="63"/>
                </a:lnTo>
                <a:lnTo>
                  <a:pt x="164" y="57"/>
                </a:lnTo>
                <a:lnTo>
                  <a:pt x="180" y="52"/>
                </a:lnTo>
                <a:lnTo>
                  <a:pt x="196" y="46"/>
                </a:lnTo>
                <a:lnTo>
                  <a:pt x="213" y="40"/>
                </a:lnTo>
                <a:lnTo>
                  <a:pt x="229" y="34"/>
                </a:lnTo>
                <a:lnTo>
                  <a:pt x="246" y="29"/>
                </a:lnTo>
                <a:lnTo>
                  <a:pt x="262" y="24"/>
                </a:lnTo>
                <a:lnTo>
                  <a:pt x="278" y="19"/>
                </a:lnTo>
                <a:lnTo>
                  <a:pt x="295" y="14"/>
                </a:lnTo>
                <a:lnTo>
                  <a:pt x="311" y="10"/>
                </a:lnTo>
                <a:lnTo>
                  <a:pt x="327" y="6"/>
                </a:lnTo>
                <a:lnTo>
                  <a:pt x="344" y="4"/>
                </a:lnTo>
                <a:lnTo>
                  <a:pt x="360" y="1"/>
                </a:lnTo>
                <a:lnTo>
                  <a:pt x="377" y="0"/>
                </a:lnTo>
                <a:lnTo>
                  <a:pt x="393" y="0"/>
                </a:lnTo>
                <a:lnTo>
                  <a:pt x="393" y="26"/>
                </a:lnTo>
                <a:lnTo>
                  <a:pt x="377" y="27"/>
                </a:lnTo>
                <a:lnTo>
                  <a:pt x="360" y="28"/>
                </a:lnTo>
                <a:lnTo>
                  <a:pt x="344" y="30"/>
                </a:lnTo>
                <a:lnTo>
                  <a:pt x="327" y="33"/>
                </a:lnTo>
                <a:lnTo>
                  <a:pt x="311" y="37"/>
                </a:lnTo>
                <a:lnTo>
                  <a:pt x="295" y="41"/>
                </a:lnTo>
                <a:lnTo>
                  <a:pt x="278" y="45"/>
                </a:lnTo>
                <a:lnTo>
                  <a:pt x="262" y="50"/>
                </a:lnTo>
                <a:lnTo>
                  <a:pt x="246" y="56"/>
                </a:lnTo>
                <a:lnTo>
                  <a:pt x="229" y="61"/>
                </a:lnTo>
                <a:lnTo>
                  <a:pt x="213" y="67"/>
                </a:lnTo>
                <a:lnTo>
                  <a:pt x="196" y="73"/>
                </a:lnTo>
                <a:lnTo>
                  <a:pt x="180" y="78"/>
                </a:lnTo>
                <a:lnTo>
                  <a:pt x="164" y="84"/>
                </a:lnTo>
                <a:lnTo>
                  <a:pt x="147" y="90"/>
                </a:lnTo>
                <a:lnTo>
                  <a:pt x="131" y="95"/>
                </a:lnTo>
                <a:lnTo>
                  <a:pt x="114" y="100"/>
                </a:lnTo>
                <a:lnTo>
                  <a:pt x="98" y="104"/>
                </a:lnTo>
                <a:lnTo>
                  <a:pt x="82" y="108"/>
                </a:lnTo>
                <a:lnTo>
                  <a:pt x="65" y="112"/>
                </a:lnTo>
                <a:lnTo>
                  <a:pt x="49" y="115"/>
                </a:lnTo>
                <a:lnTo>
                  <a:pt x="33" y="117"/>
                </a:lnTo>
                <a:lnTo>
                  <a:pt x="16" y="118"/>
                </a:lnTo>
                <a:lnTo>
                  <a:pt x="0" y="119"/>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3676650"/>
            <a:ext cx="3743325" cy="1343025"/>
          </a:xfrm>
          <a:custGeom>
            <a:avLst/>
            <a:gdLst/>
            <a:ahLst/>
            <a:cxnLst/>
            <a:rect l="l" t="t" r="r" b="b"/>
            <a:pathLst>
              <a:path w="393" h="141">
                <a:moveTo>
                  <a:pt x="0" y="0"/>
                </a:moveTo>
                <a:lnTo>
                  <a:pt x="16" y="0"/>
                </a:lnTo>
                <a:lnTo>
                  <a:pt x="33" y="2"/>
                </a:lnTo>
                <a:lnTo>
                  <a:pt x="49" y="5"/>
                </a:lnTo>
                <a:lnTo>
                  <a:pt x="65" y="9"/>
                </a:lnTo>
                <a:lnTo>
                  <a:pt x="82" y="14"/>
                </a:lnTo>
                <a:lnTo>
                  <a:pt x="98" y="19"/>
                </a:lnTo>
                <a:lnTo>
                  <a:pt x="114" y="25"/>
                </a:lnTo>
                <a:lnTo>
                  <a:pt x="131" y="32"/>
                </a:lnTo>
                <a:lnTo>
                  <a:pt x="147" y="38"/>
                </a:lnTo>
                <a:lnTo>
                  <a:pt x="164" y="46"/>
                </a:lnTo>
                <a:lnTo>
                  <a:pt x="180" y="53"/>
                </a:lnTo>
                <a:lnTo>
                  <a:pt x="196" y="61"/>
                </a:lnTo>
                <a:lnTo>
                  <a:pt x="213" y="69"/>
                </a:lnTo>
                <a:lnTo>
                  <a:pt x="229" y="76"/>
                </a:lnTo>
                <a:lnTo>
                  <a:pt x="246" y="83"/>
                </a:lnTo>
                <a:lnTo>
                  <a:pt x="262" y="90"/>
                </a:lnTo>
                <a:lnTo>
                  <a:pt x="278" y="97"/>
                </a:lnTo>
                <a:lnTo>
                  <a:pt x="295" y="103"/>
                </a:lnTo>
                <a:lnTo>
                  <a:pt x="311" y="108"/>
                </a:lnTo>
                <a:lnTo>
                  <a:pt x="327" y="113"/>
                </a:lnTo>
                <a:lnTo>
                  <a:pt x="344" y="117"/>
                </a:lnTo>
                <a:lnTo>
                  <a:pt x="360" y="120"/>
                </a:lnTo>
                <a:lnTo>
                  <a:pt x="377" y="121"/>
                </a:lnTo>
                <a:lnTo>
                  <a:pt x="393" y="122"/>
                </a:lnTo>
                <a:lnTo>
                  <a:pt x="393" y="141"/>
                </a:lnTo>
                <a:lnTo>
                  <a:pt x="377" y="140"/>
                </a:lnTo>
                <a:lnTo>
                  <a:pt x="360" y="139"/>
                </a:lnTo>
                <a:lnTo>
                  <a:pt x="344" y="136"/>
                </a:lnTo>
                <a:lnTo>
                  <a:pt x="327" y="132"/>
                </a:lnTo>
                <a:lnTo>
                  <a:pt x="311" y="127"/>
                </a:lnTo>
                <a:lnTo>
                  <a:pt x="295" y="122"/>
                </a:lnTo>
                <a:lnTo>
                  <a:pt x="278" y="116"/>
                </a:lnTo>
                <a:lnTo>
                  <a:pt x="262" y="109"/>
                </a:lnTo>
                <a:lnTo>
                  <a:pt x="246" y="102"/>
                </a:lnTo>
                <a:lnTo>
                  <a:pt x="229" y="95"/>
                </a:lnTo>
                <a:lnTo>
                  <a:pt x="213" y="88"/>
                </a:lnTo>
                <a:lnTo>
                  <a:pt x="196" y="80"/>
                </a:lnTo>
                <a:lnTo>
                  <a:pt x="180" y="72"/>
                </a:lnTo>
                <a:lnTo>
                  <a:pt x="164" y="65"/>
                </a:lnTo>
                <a:lnTo>
                  <a:pt x="147" y="58"/>
                </a:lnTo>
                <a:lnTo>
                  <a:pt x="131" y="51"/>
                </a:lnTo>
                <a:lnTo>
                  <a:pt x="114" y="44"/>
                </a:lnTo>
                <a:lnTo>
                  <a:pt x="98" y="38"/>
                </a:lnTo>
                <a:lnTo>
                  <a:pt x="82" y="33"/>
                </a:lnTo>
                <a:lnTo>
                  <a:pt x="65" y="28"/>
                </a:lnTo>
                <a:lnTo>
                  <a:pt x="49" y="24"/>
                </a:lnTo>
                <a:lnTo>
                  <a:pt x="33" y="21"/>
                </a:lnTo>
                <a:lnTo>
                  <a:pt x="16" y="20"/>
                </a:lnTo>
                <a:lnTo>
                  <a:pt x="0" y="19"/>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3857625"/>
            <a:ext cx="3743325" cy="2333625"/>
          </a:xfrm>
          <a:custGeom>
            <a:avLst/>
            <a:gdLst/>
            <a:ahLst/>
            <a:cxnLst/>
            <a:rect l="l" t="t" r="r" b="b"/>
            <a:pathLst>
              <a:path w="393" h="245">
                <a:moveTo>
                  <a:pt x="0" y="0"/>
                </a:moveTo>
                <a:lnTo>
                  <a:pt x="16" y="1"/>
                </a:lnTo>
                <a:lnTo>
                  <a:pt x="33" y="5"/>
                </a:lnTo>
                <a:lnTo>
                  <a:pt x="49" y="10"/>
                </a:lnTo>
                <a:lnTo>
                  <a:pt x="65" y="18"/>
                </a:lnTo>
                <a:lnTo>
                  <a:pt x="82" y="27"/>
                </a:lnTo>
                <a:lnTo>
                  <a:pt x="98" y="38"/>
                </a:lnTo>
                <a:lnTo>
                  <a:pt x="114" y="50"/>
                </a:lnTo>
                <a:lnTo>
                  <a:pt x="131" y="63"/>
                </a:lnTo>
                <a:lnTo>
                  <a:pt x="147" y="76"/>
                </a:lnTo>
                <a:lnTo>
                  <a:pt x="164" y="91"/>
                </a:lnTo>
                <a:lnTo>
                  <a:pt x="180" y="106"/>
                </a:lnTo>
                <a:lnTo>
                  <a:pt x="196" y="121"/>
                </a:lnTo>
                <a:lnTo>
                  <a:pt x="213" y="136"/>
                </a:lnTo>
                <a:lnTo>
                  <a:pt x="229" y="151"/>
                </a:lnTo>
                <a:lnTo>
                  <a:pt x="246" y="165"/>
                </a:lnTo>
                <a:lnTo>
                  <a:pt x="262" y="179"/>
                </a:lnTo>
                <a:lnTo>
                  <a:pt x="278" y="192"/>
                </a:lnTo>
                <a:lnTo>
                  <a:pt x="295" y="204"/>
                </a:lnTo>
                <a:lnTo>
                  <a:pt x="311" y="215"/>
                </a:lnTo>
                <a:lnTo>
                  <a:pt x="327" y="224"/>
                </a:lnTo>
                <a:lnTo>
                  <a:pt x="344" y="231"/>
                </a:lnTo>
                <a:lnTo>
                  <a:pt x="360" y="237"/>
                </a:lnTo>
                <a:lnTo>
                  <a:pt x="377" y="241"/>
                </a:lnTo>
                <a:lnTo>
                  <a:pt x="393" y="242"/>
                </a:lnTo>
                <a:lnTo>
                  <a:pt x="393" y="245"/>
                </a:lnTo>
                <a:lnTo>
                  <a:pt x="377" y="244"/>
                </a:lnTo>
                <a:lnTo>
                  <a:pt x="360" y="241"/>
                </a:lnTo>
                <a:lnTo>
                  <a:pt x="344" y="235"/>
                </a:lnTo>
                <a:lnTo>
                  <a:pt x="327" y="227"/>
                </a:lnTo>
                <a:lnTo>
                  <a:pt x="311" y="218"/>
                </a:lnTo>
                <a:lnTo>
                  <a:pt x="295" y="208"/>
                </a:lnTo>
                <a:lnTo>
                  <a:pt x="278" y="196"/>
                </a:lnTo>
                <a:lnTo>
                  <a:pt x="262" y="183"/>
                </a:lnTo>
                <a:lnTo>
                  <a:pt x="246" y="169"/>
                </a:lnTo>
                <a:lnTo>
                  <a:pt x="229" y="154"/>
                </a:lnTo>
                <a:lnTo>
                  <a:pt x="213" y="140"/>
                </a:lnTo>
                <a:lnTo>
                  <a:pt x="196" y="124"/>
                </a:lnTo>
                <a:lnTo>
                  <a:pt x="180" y="109"/>
                </a:lnTo>
                <a:lnTo>
                  <a:pt x="164" y="94"/>
                </a:lnTo>
                <a:lnTo>
                  <a:pt x="147" y="80"/>
                </a:lnTo>
                <a:lnTo>
                  <a:pt x="131" y="66"/>
                </a:lnTo>
                <a:lnTo>
                  <a:pt x="114" y="53"/>
                </a:lnTo>
                <a:lnTo>
                  <a:pt x="98" y="41"/>
                </a:lnTo>
                <a:lnTo>
                  <a:pt x="82" y="31"/>
                </a:lnTo>
                <a:lnTo>
                  <a:pt x="65" y="21"/>
                </a:lnTo>
                <a:lnTo>
                  <a:pt x="49" y="14"/>
                </a:lnTo>
                <a:lnTo>
                  <a:pt x="33" y="8"/>
                </a:lnTo>
                <a:lnTo>
                  <a:pt x="16" y="5"/>
                </a:lnTo>
                <a:lnTo>
                  <a:pt x="0" y="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2790825"/>
            <a:ext cx="3743325" cy="1390650"/>
          </a:xfrm>
          <a:custGeom>
            <a:avLst/>
            <a:gdLst/>
            <a:ahLst/>
            <a:cxnLst/>
            <a:rect l="l" t="t" r="r" b="b"/>
            <a:pathLst>
              <a:path w="393" h="146">
                <a:moveTo>
                  <a:pt x="0" y="122"/>
                </a:moveTo>
                <a:lnTo>
                  <a:pt x="16" y="121"/>
                </a:lnTo>
                <a:lnTo>
                  <a:pt x="33" y="119"/>
                </a:lnTo>
                <a:lnTo>
                  <a:pt x="49" y="116"/>
                </a:lnTo>
                <a:lnTo>
                  <a:pt x="65" y="113"/>
                </a:lnTo>
                <a:lnTo>
                  <a:pt x="82" y="108"/>
                </a:lnTo>
                <a:lnTo>
                  <a:pt x="98" y="103"/>
                </a:lnTo>
                <a:lnTo>
                  <a:pt x="114" y="97"/>
                </a:lnTo>
                <a:lnTo>
                  <a:pt x="131" y="90"/>
                </a:lnTo>
                <a:lnTo>
                  <a:pt x="147" y="83"/>
                </a:lnTo>
                <a:lnTo>
                  <a:pt x="164" y="76"/>
                </a:lnTo>
                <a:lnTo>
                  <a:pt x="180" y="69"/>
                </a:lnTo>
                <a:lnTo>
                  <a:pt x="196" y="61"/>
                </a:lnTo>
                <a:lnTo>
                  <a:pt x="213" y="53"/>
                </a:lnTo>
                <a:lnTo>
                  <a:pt x="229" y="46"/>
                </a:lnTo>
                <a:lnTo>
                  <a:pt x="246" y="39"/>
                </a:lnTo>
                <a:lnTo>
                  <a:pt x="262" y="32"/>
                </a:lnTo>
                <a:lnTo>
                  <a:pt x="278" y="25"/>
                </a:lnTo>
                <a:lnTo>
                  <a:pt x="295" y="19"/>
                </a:lnTo>
                <a:lnTo>
                  <a:pt x="311" y="14"/>
                </a:lnTo>
                <a:lnTo>
                  <a:pt x="327" y="9"/>
                </a:lnTo>
                <a:lnTo>
                  <a:pt x="344" y="6"/>
                </a:lnTo>
                <a:lnTo>
                  <a:pt x="360" y="3"/>
                </a:lnTo>
                <a:lnTo>
                  <a:pt x="377" y="1"/>
                </a:lnTo>
                <a:lnTo>
                  <a:pt x="393" y="0"/>
                </a:lnTo>
                <a:lnTo>
                  <a:pt x="393" y="25"/>
                </a:lnTo>
                <a:lnTo>
                  <a:pt x="377" y="26"/>
                </a:lnTo>
                <a:lnTo>
                  <a:pt x="360" y="27"/>
                </a:lnTo>
                <a:lnTo>
                  <a:pt x="344" y="30"/>
                </a:lnTo>
                <a:lnTo>
                  <a:pt x="327" y="34"/>
                </a:lnTo>
                <a:lnTo>
                  <a:pt x="311" y="39"/>
                </a:lnTo>
                <a:lnTo>
                  <a:pt x="295" y="44"/>
                </a:lnTo>
                <a:lnTo>
                  <a:pt x="278" y="50"/>
                </a:lnTo>
                <a:lnTo>
                  <a:pt x="262" y="56"/>
                </a:lnTo>
                <a:lnTo>
                  <a:pt x="246" y="63"/>
                </a:lnTo>
                <a:lnTo>
                  <a:pt x="229" y="71"/>
                </a:lnTo>
                <a:lnTo>
                  <a:pt x="213" y="78"/>
                </a:lnTo>
                <a:lnTo>
                  <a:pt x="196" y="86"/>
                </a:lnTo>
                <a:lnTo>
                  <a:pt x="180" y="93"/>
                </a:lnTo>
                <a:lnTo>
                  <a:pt x="164" y="100"/>
                </a:lnTo>
                <a:lnTo>
                  <a:pt x="147" y="108"/>
                </a:lnTo>
                <a:lnTo>
                  <a:pt x="131" y="115"/>
                </a:lnTo>
                <a:lnTo>
                  <a:pt x="114" y="121"/>
                </a:lnTo>
                <a:lnTo>
                  <a:pt x="98" y="127"/>
                </a:lnTo>
                <a:lnTo>
                  <a:pt x="82" y="132"/>
                </a:lnTo>
                <a:lnTo>
                  <a:pt x="65" y="137"/>
                </a:lnTo>
                <a:lnTo>
                  <a:pt x="49" y="141"/>
                </a:lnTo>
                <a:lnTo>
                  <a:pt x="33" y="144"/>
                </a:lnTo>
                <a:lnTo>
                  <a:pt x="16" y="145"/>
                </a:lnTo>
                <a:lnTo>
                  <a:pt x="0" y="146"/>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181475"/>
            <a:ext cx="3743325" cy="1047750"/>
          </a:xfrm>
          <a:custGeom>
            <a:avLst/>
            <a:gdLst/>
            <a:ahLst/>
            <a:cxnLst/>
            <a:rect l="l" t="t" r="r" b="b"/>
            <a:pathLst>
              <a:path w="393" h="110">
                <a:moveTo>
                  <a:pt x="0" y="0"/>
                </a:moveTo>
                <a:lnTo>
                  <a:pt x="16" y="0"/>
                </a:lnTo>
                <a:lnTo>
                  <a:pt x="33" y="2"/>
                </a:lnTo>
                <a:lnTo>
                  <a:pt x="49" y="4"/>
                </a:lnTo>
                <a:lnTo>
                  <a:pt x="65" y="7"/>
                </a:lnTo>
                <a:lnTo>
                  <a:pt x="82" y="10"/>
                </a:lnTo>
                <a:lnTo>
                  <a:pt x="98" y="14"/>
                </a:lnTo>
                <a:lnTo>
                  <a:pt x="114" y="18"/>
                </a:lnTo>
                <a:lnTo>
                  <a:pt x="131" y="23"/>
                </a:lnTo>
                <a:lnTo>
                  <a:pt x="147" y="28"/>
                </a:lnTo>
                <a:lnTo>
                  <a:pt x="164" y="33"/>
                </a:lnTo>
                <a:lnTo>
                  <a:pt x="180" y="39"/>
                </a:lnTo>
                <a:lnTo>
                  <a:pt x="196" y="44"/>
                </a:lnTo>
                <a:lnTo>
                  <a:pt x="213" y="50"/>
                </a:lnTo>
                <a:lnTo>
                  <a:pt x="229" y="55"/>
                </a:lnTo>
                <a:lnTo>
                  <a:pt x="246" y="60"/>
                </a:lnTo>
                <a:lnTo>
                  <a:pt x="262" y="65"/>
                </a:lnTo>
                <a:lnTo>
                  <a:pt x="278" y="70"/>
                </a:lnTo>
                <a:lnTo>
                  <a:pt x="295" y="74"/>
                </a:lnTo>
                <a:lnTo>
                  <a:pt x="311" y="78"/>
                </a:lnTo>
                <a:lnTo>
                  <a:pt x="327" y="82"/>
                </a:lnTo>
                <a:lnTo>
                  <a:pt x="344" y="84"/>
                </a:lnTo>
                <a:lnTo>
                  <a:pt x="360" y="86"/>
                </a:lnTo>
                <a:lnTo>
                  <a:pt x="377" y="88"/>
                </a:lnTo>
                <a:lnTo>
                  <a:pt x="393" y="88"/>
                </a:lnTo>
                <a:lnTo>
                  <a:pt x="393" y="110"/>
                </a:lnTo>
                <a:lnTo>
                  <a:pt x="377" y="110"/>
                </a:lnTo>
                <a:lnTo>
                  <a:pt x="360" y="108"/>
                </a:lnTo>
                <a:lnTo>
                  <a:pt x="344" y="106"/>
                </a:lnTo>
                <a:lnTo>
                  <a:pt x="327" y="104"/>
                </a:lnTo>
                <a:lnTo>
                  <a:pt x="311" y="100"/>
                </a:lnTo>
                <a:lnTo>
                  <a:pt x="295" y="96"/>
                </a:lnTo>
                <a:lnTo>
                  <a:pt x="278" y="92"/>
                </a:lnTo>
                <a:lnTo>
                  <a:pt x="262" y="87"/>
                </a:lnTo>
                <a:lnTo>
                  <a:pt x="246" y="82"/>
                </a:lnTo>
                <a:lnTo>
                  <a:pt x="229" y="77"/>
                </a:lnTo>
                <a:lnTo>
                  <a:pt x="213" y="72"/>
                </a:lnTo>
                <a:lnTo>
                  <a:pt x="196" y="66"/>
                </a:lnTo>
                <a:lnTo>
                  <a:pt x="180" y="61"/>
                </a:lnTo>
                <a:lnTo>
                  <a:pt x="164" y="55"/>
                </a:lnTo>
                <a:lnTo>
                  <a:pt x="147" y="50"/>
                </a:lnTo>
                <a:lnTo>
                  <a:pt x="131" y="45"/>
                </a:lnTo>
                <a:lnTo>
                  <a:pt x="114" y="40"/>
                </a:lnTo>
                <a:lnTo>
                  <a:pt x="98" y="36"/>
                </a:lnTo>
                <a:lnTo>
                  <a:pt x="82" y="32"/>
                </a:lnTo>
                <a:lnTo>
                  <a:pt x="65" y="29"/>
                </a:lnTo>
                <a:lnTo>
                  <a:pt x="49" y="26"/>
                </a:lnTo>
                <a:lnTo>
                  <a:pt x="33" y="24"/>
                </a:lnTo>
                <a:lnTo>
                  <a:pt x="16" y="22"/>
                </a:lnTo>
                <a:lnTo>
                  <a:pt x="0" y="22"/>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4391025"/>
            <a:ext cx="3743325" cy="1828800"/>
          </a:xfrm>
          <a:custGeom>
            <a:avLst/>
            <a:gdLst/>
            <a:ahLst/>
            <a:cxnLst/>
            <a:rect l="l" t="t" r="r" b="b"/>
            <a:pathLst>
              <a:path w="393" h="192">
                <a:moveTo>
                  <a:pt x="0" y="0"/>
                </a:moveTo>
                <a:lnTo>
                  <a:pt x="16" y="1"/>
                </a:lnTo>
                <a:lnTo>
                  <a:pt x="33" y="4"/>
                </a:lnTo>
                <a:lnTo>
                  <a:pt x="49" y="8"/>
                </a:lnTo>
                <a:lnTo>
                  <a:pt x="65" y="14"/>
                </a:lnTo>
                <a:lnTo>
                  <a:pt x="82" y="21"/>
                </a:lnTo>
                <a:lnTo>
                  <a:pt x="98" y="30"/>
                </a:lnTo>
                <a:lnTo>
                  <a:pt x="114" y="39"/>
                </a:lnTo>
                <a:lnTo>
                  <a:pt x="131" y="49"/>
                </a:lnTo>
                <a:lnTo>
                  <a:pt x="147" y="60"/>
                </a:lnTo>
                <a:lnTo>
                  <a:pt x="164" y="71"/>
                </a:lnTo>
                <a:lnTo>
                  <a:pt x="180" y="83"/>
                </a:lnTo>
                <a:lnTo>
                  <a:pt x="196" y="95"/>
                </a:lnTo>
                <a:lnTo>
                  <a:pt x="213" y="106"/>
                </a:lnTo>
                <a:lnTo>
                  <a:pt x="229" y="118"/>
                </a:lnTo>
                <a:lnTo>
                  <a:pt x="246" y="129"/>
                </a:lnTo>
                <a:lnTo>
                  <a:pt x="262" y="140"/>
                </a:lnTo>
                <a:lnTo>
                  <a:pt x="278" y="150"/>
                </a:lnTo>
                <a:lnTo>
                  <a:pt x="295" y="160"/>
                </a:lnTo>
                <a:lnTo>
                  <a:pt x="311" y="168"/>
                </a:lnTo>
                <a:lnTo>
                  <a:pt x="327" y="175"/>
                </a:lnTo>
                <a:lnTo>
                  <a:pt x="344" y="181"/>
                </a:lnTo>
                <a:lnTo>
                  <a:pt x="360" y="186"/>
                </a:lnTo>
                <a:lnTo>
                  <a:pt x="377" y="188"/>
                </a:lnTo>
                <a:lnTo>
                  <a:pt x="393" y="189"/>
                </a:lnTo>
                <a:lnTo>
                  <a:pt x="393" y="192"/>
                </a:lnTo>
                <a:lnTo>
                  <a:pt x="377" y="191"/>
                </a:lnTo>
                <a:lnTo>
                  <a:pt x="360" y="189"/>
                </a:lnTo>
                <a:lnTo>
                  <a:pt x="344" y="184"/>
                </a:lnTo>
                <a:lnTo>
                  <a:pt x="327" y="178"/>
                </a:lnTo>
                <a:lnTo>
                  <a:pt x="311" y="171"/>
                </a:lnTo>
                <a:lnTo>
                  <a:pt x="295" y="163"/>
                </a:lnTo>
                <a:lnTo>
                  <a:pt x="278" y="153"/>
                </a:lnTo>
                <a:lnTo>
                  <a:pt x="262" y="143"/>
                </a:lnTo>
                <a:lnTo>
                  <a:pt x="246" y="132"/>
                </a:lnTo>
                <a:lnTo>
                  <a:pt x="229" y="121"/>
                </a:lnTo>
                <a:lnTo>
                  <a:pt x="213" y="109"/>
                </a:lnTo>
                <a:lnTo>
                  <a:pt x="196" y="98"/>
                </a:lnTo>
                <a:lnTo>
                  <a:pt x="180" y="86"/>
                </a:lnTo>
                <a:lnTo>
                  <a:pt x="164" y="74"/>
                </a:lnTo>
                <a:lnTo>
                  <a:pt x="147" y="63"/>
                </a:lnTo>
                <a:lnTo>
                  <a:pt x="131" y="52"/>
                </a:lnTo>
                <a:lnTo>
                  <a:pt x="114" y="42"/>
                </a:lnTo>
                <a:lnTo>
                  <a:pt x="98" y="33"/>
                </a:lnTo>
                <a:lnTo>
                  <a:pt x="82" y="24"/>
                </a:lnTo>
                <a:lnTo>
                  <a:pt x="65" y="17"/>
                </a:lnTo>
                <a:lnTo>
                  <a:pt x="49" y="11"/>
                </a:lnTo>
                <a:lnTo>
                  <a:pt x="33" y="7"/>
                </a:lnTo>
                <a:lnTo>
                  <a:pt x="16" y="4"/>
                </a:lnTo>
                <a:lnTo>
                  <a:pt x="0" y="3"/>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3028950"/>
            <a:ext cx="3743325" cy="1724025"/>
          </a:xfrm>
          <a:custGeom>
            <a:avLst/>
            <a:gdLst/>
            <a:ahLst/>
            <a:cxnLst/>
            <a:rect l="l" t="t" r="r" b="b"/>
            <a:pathLst>
              <a:path w="393" h="181">
                <a:moveTo>
                  <a:pt x="0" y="152"/>
                </a:moveTo>
                <a:lnTo>
                  <a:pt x="16" y="151"/>
                </a:lnTo>
                <a:lnTo>
                  <a:pt x="33" y="149"/>
                </a:lnTo>
                <a:lnTo>
                  <a:pt x="49" y="145"/>
                </a:lnTo>
                <a:lnTo>
                  <a:pt x="65" y="141"/>
                </a:lnTo>
                <a:lnTo>
                  <a:pt x="82" y="135"/>
                </a:lnTo>
                <a:lnTo>
                  <a:pt x="98" y="128"/>
                </a:lnTo>
                <a:lnTo>
                  <a:pt x="114" y="121"/>
                </a:lnTo>
                <a:lnTo>
                  <a:pt x="131" y="113"/>
                </a:lnTo>
                <a:lnTo>
                  <a:pt x="147" y="104"/>
                </a:lnTo>
                <a:lnTo>
                  <a:pt x="164" y="95"/>
                </a:lnTo>
                <a:lnTo>
                  <a:pt x="180" y="85"/>
                </a:lnTo>
                <a:lnTo>
                  <a:pt x="196" y="76"/>
                </a:lnTo>
                <a:lnTo>
                  <a:pt x="213" y="67"/>
                </a:lnTo>
                <a:lnTo>
                  <a:pt x="229" y="57"/>
                </a:lnTo>
                <a:lnTo>
                  <a:pt x="246" y="48"/>
                </a:lnTo>
                <a:lnTo>
                  <a:pt x="262" y="39"/>
                </a:lnTo>
                <a:lnTo>
                  <a:pt x="278" y="31"/>
                </a:lnTo>
                <a:lnTo>
                  <a:pt x="295" y="24"/>
                </a:lnTo>
                <a:lnTo>
                  <a:pt x="311" y="17"/>
                </a:lnTo>
                <a:lnTo>
                  <a:pt x="327" y="11"/>
                </a:lnTo>
                <a:lnTo>
                  <a:pt x="344" y="7"/>
                </a:lnTo>
                <a:lnTo>
                  <a:pt x="360" y="3"/>
                </a:lnTo>
                <a:lnTo>
                  <a:pt x="377" y="1"/>
                </a:lnTo>
                <a:lnTo>
                  <a:pt x="393" y="0"/>
                </a:lnTo>
                <a:lnTo>
                  <a:pt x="393" y="29"/>
                </a:lnTo>
                <a:lnTo>
                  <a:pt x="377" y="30"/>
                </a:lnTo>
                <a:lnTo>
                  <a:pt x="360" y="32"/>
                </a:lnTo>
                <a:lnTo>
                  <a:pt x="344" y="35"/>
                </a:lnTo>
                <a:lnTo>
                  <a:pt x="327" y="40"/>
                </a:lnTo>
                <a:lnTo>
                  <a:pt x="311" y="46"/>
                </a:lnTo>
                <a:lnTo>
                  <a:pt x="295" y="53"/>
                </a:lnTo>
                <a:lnTo>
                  <a:pt x="278" y="60"/>
                </a:lnTo>
                <a:lnTo>
                  <a:pt x="262" y="68"/>
                </a:lnTo>
                <a:lnTo>
                  <a:pt x="246" y="77"/>
                </a:lnTo>
                <a:lnTo>
                  <a:pt x="229" y="86"/>
                </a:lnTo>
                <a:lnTo>
                  <a:pt x="213" y="95"/>
                </a:lnTo>
                <a:lnTo>
                  <a:pt x="196" y="105"/>
                </a:lnTo>
                <a:lnTo>
                  <a:pt x="180" y="114"/>
                </a:lnTo>
                <a:lnTo>
                  <a:pt x="164" y="124"/>
                </a:lnTo>
                <a:lnTo>
                  <a:pt x="147" y="133"/>
                </a:lnTo>
                <a:lnTo>
                  <a:pt x="131" y="141"/>
                </a:lnTo>
                <a:lnTo>
                  <a:pt x="114" y="150"/>
                </a:lnTo>
                <a:lnTo>
                  <a:pt x="98" y="157"/>
                </a:lnTo>
                <a:lnTo>
                  <a:pt x="82" y="164"/>
                </a:lnTo>
                <a:lnTo>
                  <a:pt x="65" y="170"/>
                </a:lnTo>
                <a:lnTo>
                  <a:pt x="49" y="174"/>
                </a:lnTo>
                <a:lnTo>
                  <a:pt x="33" y="178"/>
                </a:lnTo>
                <a:lnTo>
                  <a:pt x="16" y="180"/>
                </a:lnTo>
                <a:lnTo>
                  <a:pt x="0" y="181"/>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4752975"/>
            <a:ext cx="3743325" cy="638175"/>
          </a:xfrm>
          <a:custGeom>
            <a:avLst/>
            <a:gdLst/>
            <a:ahLst/>
            <a:cxnLst/>
            <a:rect l="l" t="t" r="r" b="b"/>
            <a:pathLst>
              <a:path w="393" h="67">
                <a:moveTo>
                  <a:pt x="0" y="0"/>
                </a:moveTo>
                <a:lnTo>
                  <a:pt x="16" y="0"/>
                </a:lnTo>
                <a:lnTo>
                  <a:pt x="33" y="1"/>
                </a:lnTo>
                <a:lnTo>
                  <a:pt x="49" y="2"/>
                </a:lnTo>
                <a:lnTo>
                  <a:pt x="65" y="4"/>
                </a:lnTo>
                <a:lnTo>
                  <a:pt x="82" y="5"/>
                </a:lnTo>
                <a:lnTo>
                  <a:pt x="98" y="8"/>
                </a:lnTo>
                <a:lnTo>
                  <a:pt x="114" y="10"/>
                </a:lnTo>
                <a:lnTo>
                  <a:pt x="131" y="13"/>
                </a:lnTo>
                <a:lnTo>
                  <a:pt x="147" y="16"/>
                </a:lnTo>
                <a:lnTo>
                  <a:pt x="164" y="19"/>
                </a:lnTo>
                <a:lnTo>
                  <a:pt x="180" y="22"/>
                </a:lnTo>
                <a:lnTo>
                  <a:pt x="196" y="25"/>
                </a:lnTo>
                <a:lnTo>
                  <a:pt x="213" y="28"/>
                </a:lnTo>
                <a:lnTo>
                  <a:pt x="229" y="31"/>
                </a:lnTo>
                <a:lnTo>
                  <a:pt x="246" y="34"/>
                </a:lnTo>
                <a:lnTo>
                  <a:pt x="262" y="37"/>
                </a:lnTo>
                <a:lnTo>
                  <a:pt x="278" y="40"/>
                </a:lnTo>
                <a:lnTo>
                  <a:pt x="295" y="42"/>
                </a:lnTo>
                <a:lnTo>
                  <a:pt x="311" y="44"/>
                </a:lnTo>
                <a:lnTo>
                  <a:pt x="327" y="46"/>
                </a:lnTo>
                <a:lnTo>
                  <a:pt x="344" y="48"/>
                </a:lnTo>
                <a:lnTo>
                  <a:pt x="360" y="49"/>
                </a:lnTo>
                <a:lnTo>
                  <a:pt x="377" y="50"/>
                </a:lnTo>
                <a:lnTo>
                  <a:pt x="393" y="50"/>
                </a:lnTo>
                <a:lnTo>
                  <a:pt x="393" y="67"/>
                </a:lnTo>
                <a:lnTo>
                  <a:pt x="377" y="67"/>
                </a:lnTo>
                <a:lnTo>
                  <a:pt x="360" y="66"/>
                </a:lnTo>
                <a:lnTo>
                  <a:pt x="344" y="65"/>
                </a:lnTo>
                <a:lnTo>
                  <a:pt x="327" y="63"/>
                </a:lnTo>
                <a:lnTo>
                  <a:pt x="311" y="61"/>
                </a:lnTo>
                <a:lnTo>
                  <a:pt x="295" y="59"/>
                </a:lnTo>
                <a:lnTo>
                  <a:pt x="278" y="57"/>
                </a:lnTo>
                <a:lnTo>
                  <a:pt x="262" y="54"/>
                </a:lnTo>
                <a:lnTo>
                  <a:pt x="246" y="51"/>
                </a:lnTo>
                <a:lnTo>
                  <a:pt x="229" y="48"/>
                </a:lnTo>
                <a:lnTo>
                  <a:pt x="213" y="45"/>
                </a:lnTo>
                <a:lnTo>
                  <a:pt x="196" y="42"/>
                </a:lnTo>
                <a:lnTo>
                  <a:pt x="180" y="39"/>
                </a:lnTo>
                <a:lnTo>
                  <a:pt x="164" y="36"/>
                </a:lnTo>
                <a:lnTo>
                  <a:pt x="147" y="33"/>
                </a:lnTo>
                <a:lnTo>
                  <a:pt x="131" y="30"/>
                </a:lnTo>
                <a:lnTo>
                  <a:pt x="114" y="27"/>
                </a:lnTo>
                <a:lnTo>
                  <a:pt x="98" y="25"/>
                </a:lnTo>
                <a:lnTo>
                  <a:pt x="82" y="23"/>
                </a:lnTo>
                <a:lnTo>
                  <a:pt x="65" y="21"/>
                </a:lnTo>
                <a:lnTo>
                  <a:pt x="49" y="19"/>
                </a:lnTo>
                <a:lnTo>
                  <a:pt x="33" y="18"/>
                </a:lnTo>
                <a:lnTo>
                  <a:pt x="16" y="17"/>
                </a:lnTo>
                <a:lnTo>
                  <a:pt x="0" y="17"/>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4914900"/>
            <a:ext cx="3743325" cy="1343025"/>
          </a:xfrm>
          <a:custGeom>
            <a:avLst/>
            <a:gdLst/>
            <a:ahLst/>
            <a:cxnLst/>
            <a:rect l="l" t="t" r="r" b="b"/>
            <a:pathLst>
              <a:path w="393" h="141">
                <a:moveTo>
                  <a:pt x="0" y="0"/>
                </a:moveTo>
                <a:lnTo>
                  <a:pt x="16" y="1"/>
                </a:lnTo>
                <a:lnTo>
                  <a:pt x="33" y="3"/>
                </a:lnTo>
                <a:lnTo>
                  <a:pt x="49" y="6"/>
                </a:lnTo>
                <a:lnTo>
                  <a:pt x="65" y="10"/>
                </a:lnTo>
                <a:lnTo>
                  <a:pt x="82" y="15"/>
                </a:lnTo>
                <a:lnTo>
                  <a:pt x="98" y="21"/>
                </a:lnTo>
                <a:lnTo>
                  <a:pt x="114" y="28"/>
                </a:lnTo>
                <a:lnTo>
                  <a:pt x="131" y="36"/>
                </a:lnTo>
                <a:lnTo>
                  <a:pt x="147" y="43"/>
                </a:lnTo>
                <a:lnTo>
                  <a:pt x="164" y="52"/>
                </a:lnTo>
                <a:lnTo>
                  <a:pt x="180" y="60"/>
                </a:lnTo>
                <a:lnTo>
                  <a:pt x="196" y="69"/>
                </a:lnTo>
                <a:lnTo>
                  <a:pt x="213" y="77"/>
                </a:lnTo>
                <a:lnTo>
                  <a:pt x="229" y="86"/>
                </a:lnTo>
                <a:lnTo>
                  <a:pt x="246" y="94"/>
                </a:lnTo>
                <a:lnTo>
                  <a:pt x="262" y="102"/>
                </a:lnTo>
                <a:lnTo>
                  <a:pt x="278" y="109"/>
                </a:lnTo>
                <a:lnTo>
                  <a:pt x="295" y="116"/>
                </a:lnTo>
                <a:lnTo>
                  <a:pt x="311" y="122"/>
                </a:lnTo>
                <a:lnTo>
                  <a:pt x="327" y="127"/>
                </a:lnTo>
                <a:lnTo>
                  <a:pt x="344" y="131"/>
                </a:lnTo>
                <a:lnTo>
                  <a:pt x="360" y="135"/>
                </a:lnTo>
                <a:lnTo>
                  <a:pt x="377" y="137"/>
                </a:lnTo>
                <a:lnTo>
                  <a:pt x="393" y="137"/>
                </a:lnTo>
                <a:lnTo>
                  <a:pt x="393" y="141"/>
                </a:lnTo>
                <a:lnTo>
                  <a:pt x="377" y="140"/>
                </a:lnTo>
                <a:lnTo>
                  <a:pt x="360" y="138"/>
                </a:lnTo>
                <a:lnTo>
                  <a:pt x="344" y="135"/>
                </a:lnTo>
                <a:lnTo>
                  <a:pt x="327" y="131"/>
                </a:lnTo>
                <a:lnTo>
                  <a:pt x="311" y="126"/>
                </a:lnTo>
                <a:lnTo>
                  <a:pt x="295" y="119"/>
                </a:lnTo>
                <a:lnTo>
                  <a:pt x="278" y="113"/>
                </a:lnTo>
                <a:lnTo>
                  <a:pt x="262" y="105"/>
                </a:lnTo>
                <a:lnTo>
                  <a:pt x="246" y="97"/>
                </a:lnTo>
                <a:lnTo>
                  <a:pt x="229" y="89"/>
                </a:lnTo>
                <a:lnTo>
                  <a:pt x="213" y="81"/>
                </a:lnTo>
                <a:lnTo>
                  <a:pt x="196" y="72"/>
                </a:lnTo>
                <a:lnTo>
                  <a:pt x="180" y="64"/>
                </a:lnTo>
                <a:lnTo>
                  <a:pt x="164" y="55"/>
                </a:lnTo>
                <a:lnTo>
                  <a:pt x="147" y="47"/>
                </a:lnTo>
                <a:lnTo>
                  <a:pt x="131" y="39"/>
                </a:lnTo>
                <a:lnTo>
                  <a:pt x="114" y="32"/>
                </a:lnTo>
                <a:lnTo>
                  <a:pt x="98" y="25"/>
                </a:lnTo>
                <a:lnTo>
                  <a:pt x="82" y="19"/>
                </a:lnTo>
                <a:lnTo>
                  <a:pt x="65" y="14"/>
                </a:lnTo>
                <a:lnTo>
                  <a:pt x="49" y="9"/>
                </a:lnTo>
                <a:lnTo>
                  <a:pt x="33" y="6"/>
                </a:lnTo>
                <a:lnTo>
                  <a:pt x="16" y="4"/>
                </a:lnTo>
                <a:lnTo>
                  <a:pt x="0" y="4"/>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3305175"/>
            <a:ext cx="3743325" cy="1971675"/>
          </a:xfrm>
          <a:custGeom>
            <a:avLst/>
            <a:gdLst/>
            <a:ahLst/>
            <a:cxnLst/>
            <a:rect l="l" t="t" r="r" b="b"/>
            <a:pathLst>
              <a:path w="393" h="207">
                <a:moveTo>
                  <a:pt x="0" y="179"/>
                </a:moveTo>
                <a:lnTo>
                  <a:pt x="16" y="178"/>
                </a:lnTo>
                <a:lnTo>
                  <a:pt x="33" y="175"/>
                </a:lnTo>
                <a:lnTo>
                  <a:pt x="49" y="171"/>
                </a:lnTo>
                <a:lnTo>
                  <a:pt x="65" y="165"/>
                </a:lnTo>
                <a:lnTo>
                  <a:pt x="82" y="158"/>
                </a:lnTo>
                <a:lnTo>
                  <a:pt x="98" y="151"/>
                </a:lnTo>
                <a:lnTo>
                  <a:pt x="114" y="142"/>
                </a:lnTo>
                <a:lnTo>
                  <a:pt x="131" y="132"/>
                </a:lnTo>
                <a:lnTo>
                  <a:pt x="147" y="122"/>
                </a:lnTo>
                <a:lnTo>
                  <a:pt x="164" y="111"/>
                </a:lnTo>
                <a:lnTo>
                  <a:pt x="180" y="100"/>
                </a:lnTo>
                <a:lnTo>
                  <a:pt x="196" y="89"/>
                </a:lnTo>
                <a:lnTo>
                  <a:pt x="213" y="78"/>
                </a:lnTo>
                <a:lnTo>
                  <a:pt x="229" y="67"/>
                </a:lnTo>
                <a:lnTo>
                  <a:pt x="246" y="56"/>
                </a:lnTo>
                <a:lnTo>
                  <a:pt x="262" y="46"/>
                </a:lnTo>
                <a:lnTo>
                  <a:pt x="278" y="37"/>
                </a:lnTo>
                <a:lnTo>
                  <a:pt x="295" y="28"/>
                </a:lnTo>
                <a:lnTo>
                  <a:pt x="311" y="20"/>
                </a:lnTo>
                <a:lnTo>
                  <a:pt x="327" y="13"/>
                </a:lnTo>
                <a:lnTo>
                  <a:pt x="344" y="8"/>
                </a:lnTo>
                <a:lnTo>
                  <a:pt x="360" y="3"/>
                </a:lnTo>
                <a:lnTo>
                  <a:pt x="377" y="1"/>
                </a:lnTo>
                <a:lnTo>
                  <a:pt x="393" y="0"/>
                </a:lnTo>
                <a:lnTo>
                  <a:pt x="393" y="28"/>
                </a:lnTo>
                <a:lnTo>
                  <a:pt x="377" y="29"/>
                </a:lnTo>
                <a:lnTo>
                  <a:pt x="360" y="32"/>
                </a:lnTo>
                <a:lnTo>
                  <a:pt x="344" y="36"/>
                </a:lnTo>
                <a:lnTo>
                  <a:pt x="327" y="41"/>
                </a:lnTo>
                <a:lnTo>
                  <a:pt x="311" y="48"/>
                </a:lnTo>
                <a:lnTo>
                  <a:pt x="295" y="56"/>
                </a:lnTo>
                <a:lnTo>
                  <a:pt x="278" y="65"/>
                </a:lnTo>
                <a:lnTo>
                  <a:pt x="262" y="74"/>
                </a:lnTo>
                <a:lnTo>
                  <a:pt x="246" y="85"/>
                </a:lnTo>
                <a:lnTo>
                  <a:pt x="229" y="95"/>
                </a:lnTo>
                <a:lnTo>
                  <a:pt x="213" y="106"/>
                </a:lnTo>
                <a:lnTo>
                  <a:pt x="196" y="117"/>
                </a:lnTo>
                <a:lnTo>
                  <a:pt x="180" y="129"/>
                </a:lnTo>
                <a:lnTo>
                  <a:pt x="164" y="140"/>
                </a:lnTo>
                <a:lnTo>
                  <a:pt x="147" y="150"/>
                </a:lnTo>
                <a:lnTo>
                  <a:pt x="131" y="160"/>
                </a:lnTo>
                <a:lnTo>
                  <a:pt x="114" y="170"/>
                </a:lnTo>
                <a:lnTo>
                  <a:pt x="98" y="179"/>
                </a:lnTo>
                <a:lnTo>
                  <a:pt x="82" y="187"/>
                </a:lnTo>
                <a:lnTo>
                  <a:pt x="65" y="194"/>
                </a:lnTo>
                <a:lnTo>
                  <a:pt x="49" y="199"/>
                </a:lnTo>
                <a:lnTo>
                  <a:pt x="33" y="203"/>
                </a:lnTo>
                <a:lnTo>
                  <a:pt x="16" y="206"/>
                </a:lnTo>
                <a:lnTo>
                  <a:pt x="0" y="207"/>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5276850"/>
            <a:ext cx="3743325" cy="295275"/>
          </a:xfrm>
          <a:custGeom>
            <a:avLst/>
            <a:gdLst/>
            <a:ahLst/>
            <a:cxnLst/>
            <a:rect l="l" t="t" r="r" b="b"/>
            <a:pathLst>
              <a:path w="393" h="31">
                <a:moveTo>
                  <a:pt x="0" y="0"/>
                </a:moveTo>
                <a:lnTo>
                  <a:pt x="16" y="0"/>
                </a:lnTo>
                <a:lnTo>
                  <a:pt x="33" y="0"/>
                </a:lnTo>
                <a:lnTo>
                  <a:pt x="49" y="0"/>
                </a:lnTo>
                <a:lnTo>
                  <a:pt x="65" y="1"/>
                </a:lnTo>
                <a:lnTo>
                  <a:pt x="82" y="1"/>
                </a:lnTo>
                <a:lnTo>
                  <a:pt x="98" y="2"/>
                </a:lnTo>
                <a:lnTo>
                  <a:pt x="114" y="2"/>
                </a:lnTo>
                <a:lnTo>
                  <a:pt x="131" y="3"/>
                </a:lnTo>
                <a:lnTo>
                  <a:pt x="147" y="4"/>
                </a:lnTo>
                <a:lnTo>
                  <a:pt x="164" y="4"/>
                </a:lnTo>
                <a:lnTo>
                  <a:pt x="180" y="5"/>
                </a:lnTo>
                <a:lnTo>
                  <a:pt x="196" y="6"/>
                </a:lnTo>
                <a:lnTo>
                  <a:pt x="213" y="7"/>
                </a:lnTo>
                <a:lnTo>
                  <a:pt x="229" y="7"/>
                </a:lnTo>
                <a:lnTo>
                  <a:pt x="246" y="8"/>
                </a:lnTo>
                <a:lnTo>
                  <a:pt x="262" y="9"/>
                </a:lnTo>
                <a:lnTo>
                  <a:pt x="278" y="10"/>
                </a:lnTo>
                <a:lnTo>
                  <a:pt x="295" y="10"/>
                </a:lnTo>
                <a:lnTo>
                  <a:pt x="311" y="11"/>
                </a:lnTo>
                <a:lnTo>
                  <a:pt x="327" y="11"/>
                </a:lnTo>
                <a:lnTo>
                  <a:pt x="344" y="12"/>
                </a:lnTo>
                <a:lnTo>
                  <a:pt x="360" y="12"/>
                </a:lnTo>
                <a:lnTo>
                  <a:pt x="377" y="12"/>
                </a:lnTo>
                <a:lnTo>
                  <a:pt x="393" y="12"/>
                </a:lnTo>
                <a:lnTo>
                  <a:pt x="393" y="31"/>
                </a:lnTo>
                <a:lnTo>
                  <a:pt x="377" y="31"/>
                </a:lnTo>
                <a:lnTo>
                  <a:pt x="360" y="31"/>
                </a:lnTo>
                <a:lnTo>
                  <a:pt x="344" y="30"/>
                </a:lnTo>
                <a:lnTo>
                  <a:pt x="327" y="30"/>
                </a:lnTo>
                <a:lnTo>
                  <a:pt x="311" y="30"/>
                </a:lnTo>
                <a:lnTo>
                  <a:pt x="295" y="29"/>
                </a:lnTo>
                <a:lnTo>
                  <a:pt x="278" y="28"/>
                </a:lnTo>
                <a:lnTo>
                  <a:pt x="262" y="28"/>
                </a:lnTo>
                <a:lnTo>
                  <a:pt x="246" y="27"/>
                </a:lnTo>
                <a:lnTo>
                  <a:pt x="229" y="26"/>
                </a:lnTo>
                <a:lnTo>
                  <a:pt x="213" y="26"/>
                </a:lnTo>
                <a:lnTo>
                  <a:pt x="196" y="25"/>
                </a:lnTo>
                <a:lnTo>
                  <a:pt x="180" y="24"/>
                </a:lnTo>
                <a:lnTo>
                  <a:pt x="164" y="23"/>
                </a:lnTo>
                <a:lnTo>
                  <a:pt x="147" y="23"/>
                </a:lnTo>
                <a:lnTo>
                  <a:pt x="131" y="22"/>
                </a:lnTo>
                <a:lnTo>
                  <a:pt x="114" y="21"/>
                </a:lnTo>
                <a:lnTo>
                  <a:pt x="98" y="21"/>
                </a:lnTo>
                <a:lnTo>
                  <a:pt x="82" y="20"/>
                </a:lnTo>
                <a:lnTo>
                  <a:pt x="65" y="20"/>
                </a:lnTo>
                <a:lnTo>
                  <a:pt x="49" y="19"/>
                </a:lnTo>
                <a:lnTo>
                  <a:pt x="33" y="19"/>
                </a:lnTo>
                <a:lnTo>
                  <a:pt x="16" y="19"/>
                </a:lnTo>
                <a:lnTo>
                  <a:pt x="0" y="19"/>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5457825"/>
            <a:ext cx="3743325" cy="819150"/>
          </a:xfrm>
          <a:custGeom>
            <a:avLst/>
            <a:gdLst/>
            <a:ahLst/>
            <a:cxnLst/>
            <a:rect l="l" t="t" r="r" b="b"/>
            <a:pathLst>
              <a:path w="393" h="86">
                <a:moveTo>
                  <a:pt x="0" y="0"/>
                </a:moveTo>
                <a:lnTo>
                  <a:pt x="16" y="0"/>
                </a:lnTo>
                <a:lnTo>
                  <a:pt x="33" y="1"/>
                </a:lnTo>
                <a:lnTo>
                  <a:pt x="49" y="3"/>
                </a:lnTo>
                <a:lnTo>
                  <a:pt x="65" y="6"/>
                </a:lnTo>
                <a:lnTo>
                  <a:pt x="82" y="9"/>
                </a:lnTo>
                <a:lnTo>
                  <a:pt x="98" y="13"/>
                </a:lnTo>
                <a:lnTo>
                  <a:pt x="114" y="17"/>
                </a:lnTo>
                <a:lnTo>
                  <a:pt x="131" y="22"/>
                </a:lnTo>
                <a:lnTo>
                  <a:pt x="147" y="26"/>
                </a:lnTo>
                <a:lnTo>
                  <a:pt x="164" y="31"/>
                </a:lnTo>
                <a:lnTo>
                  <a:pt x="180" y="37"/>
                </a:lnTo>
                <a:lnTo>
                  <a:pt x="196" y="42"/>
                </a:lnTo>
                <a:lnTo>
                  <a:pt x="213" y="47"/>
                </a:lnTo>
                <a:lnTo>
                  <a:pt x="229" y="52"/>
                </a:lnTo>
                <a:lnTo>
                  <a:pt x="246" y="57"/>
                </a:lnTo>
                <a:lnTo>
                  <a:pt x="262" y="62"/>
                </a:lnTo>
                <a:lnTo>
                  <a:pt x="278" y="67"/>
                </a:lnTo>
                <a:lnTo>
                  <a:pt x="295" y="71"/>
                </a:lnTo>
                <a:lnTo>
                  <a:pt x="311" y="74"/>
                </a:lnTo>
                <a:lnTo>
                  <a:pt x="327" y="78"/>
                </a:lnTo>
                <a:lnTo>
                  <a:pt x="344" y="80"/>
                </a:lnTo>
                <a:lnTo>
                  <a:pt x="360" y="82"/>
                </a:lnTo>
                <a:lnTo>
                  <a:pt x="377" y="84"/>
                </a:lnTo>
                <a:lnTo>
                  <a:pt x="393" y="84"/>
                </a:lnTo>
                <a:lnTo>
                  <a:pt x="393" y="86"/>
                </a:lnTo>
                <a:lnTo>
                  <a:pt x="377" y="86"/>
                </a:lnTo>
                <a:lnTo>
                  <a:pt x="360" y="85"/>
                </a:lnTo>
                <a:lnTo>
                  <a:pt x="344" y="83"/>
                </a:lnTo>
                <a:lnTo>
                  <a:pt x="327" y="80"/>
                </a:lnTo>
                <a:lnTo>
                  <a:pt x="311" y="77"/>
                </a:lnTo>
                <a:lnTo>
                  <a:pt x="295" y="73"/>
                </a:lnTo>
                <a:lnTo>
                  <a:pt x="278" y="69"/>
                </a:lnTo>
                <a:lnTo>
                  <a:pt x="262" y="64"/>
                </a:lnTo>
                <a:lnTo>
                  <a:pt x="246" y="60"/>
                </a:lnTo>
                <a:lnTo>
                  <a:pt x="229" y="55"/>
                </a:lnTo>
                <a:lnTo>
                  <a:pt x="213" y="49"/>
                </a:lnTo>
                <a:lnTo>
                  <a:pt x="196" y="44"/>
                </a:lnTo>
                <a:lnTo>
                  <a:pt x="180" y="39"/>
                </a:lnTo>
                <a:lnTo>
                  <a:pt x="164" y="34"/>
                </a:lnTo>
                <a:lnTo>
                  <a:pt x="147" y="29"/>
                </a:lnTo>
                <a:lnTo>
                  <a:pt x="131" y="24"/>
                </a:lnTo>
                <a:lnTo>
                  <a:pt x="114" y="19"/>
                </a:lnTo>
                <a:lnTo>
                  <a:pt x="98" y="15"/>
                </a:lnTo>
                <a:lnTo>
                  <a:pt x="82" y="11"/>
                </a:lnTo>
                <a:lnTo>
                  <a:pt x="65" y="8"/>
                </a:lnTo>
                <a:lnTo>
                  <a:pt x="49" y="6"/>
                </a:lnTo>
                <a:lnTo>
                  <a:pt x="33" y="4"/>
                </a:lnTo>
                <a:lnTo>
                  <a:pt x="16" y="2"/>
                </a:lnTo>
                <a:lnTo>
                  <a:pt x="0" y="2"/>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3571875"/>
            <a:ext cx="3743325" cy="2200275"/>
          </a:xfrm>
          <a:custGeom>
            <a:avLst/>
            <a:gdLst/>
            <a:ahLst/>
            <a:cxnLst/>
            <a:rect l="l" t="t" r="r" b="b"/>
            <a:pathLst>
              <a:path w="393" h="231">
                <a:moveTo>
                  <a:pt x="0" y="206"/>
                </a:moveTo>
                <a:lnTo>
                  <a:pt x="16" y="205"/>
                </a:lnTo>
                <a:lnTo>
                  <a:pt x="33" y="202"/>
                </a:lnTo>
                <a:lnTo>
                  <a:pt x="49" y="197"/>
                </a:lnTo>
                <a:lnTo>
                  <a:pt x="65" y="191"/>
                </a:lnTo>
                <a:lnTo>
                  <a:pt x="82" y="183"/>
                </a:lnTo>
                <a:lnTo>
                  <a:pt x="98" y="174"/>
                </a:lnTo>
                <a:lnTo>
                  <a:pt x="114" y="164"/>
                </a:lnTo>
                <a:lnTo>
                  <a:pt x="131" y="153"/>
                </a:lnTo>
                <a:lnTo>
                  <a:pt x="147" y="141"/>
                </a:lnTo>
                <a:lnTo>
                  <a:pt x="164" y="129"/>
                </a:lnTo>
                <a:lnTo>
                  <a:pt x="180" y="116"/>
                </a:lnTo>
                <a:lnTo>
                  <a:pt x="196" y="103"/>
                </a:lnTo>
                <a:lnTo>
                  <a:pt x="213" y="90"/>
                </a:lnTo>
                <a:lnTo>
                  <a:pt x="229" y="78"/>
                </a:lnTo>
                <a:lnTo>
                  <a:pt x="246" y="65"/>
                </a:lnTo>
                <a:lnTo>
                  <a:pt x="262" y="53"/>
                </a:lnTo>
                <a:lnTo>
                  <a:pt x="278" y="42"/>
                </a:lnTo>
                <a:lnTo>
                  <a:pt x="295" y="32"/>
                </a:lnTo>
                <a:lnTo>
                  <a:pt x="311" y="23"/>
                </a:lnTo>
                <a:lnTo>
                  <a:pt x="327" y="15"/>
                </a:lnTo>
                <a:lnTo>
                  <a:pt x="344" y="9"/>
                </a:lnTo>
                <a:lnTo>
                  <a:pt x="360" y="4"/>
                </a:lnTo>
                <a:lnTo>
                  <a:pt x="377" y="1"/>
                </a:lnTo>
                <a:lnTo>
                  <a:pt x="393" y="0"/>
                </a:lnTo>
                <a:lnTo>
                  <a:pt x="393" y="25"/>
                </a:lnTo>
                <a:lnTo>
                  <a:pt x="377" y="26"/>
                </a:lnTo>
                <a:lnTo>
                  <a:pt x="360" y="29"/>
                </a:lnTo>
                <a:lnTo>
                  <a:pt x="344" y="34"/>
                </a:lnTo>
                <a:lnTo>
                  <a:pt x="327" y="40"/>
                </a:lnTo>
                <a:lnTo>
                  <a:pt x="311" y="48"/>
                </a:lnTo>
                <a:lnTo>
                  <a:pt x="295" y="57"/>
                </a:lnTo>
                <a:lnTo>
                  <a:pt x="278" y="67"/>
                </a:lnTo>
                <a:lnTo>
                  <a:pt x="262" y="78"/>
                </a:lnTo>
                <a:lnTo>
                  <a:pt x="246" y="90"/>
                </a:lnTo>
                <a:lnTo>
                  <a:pt x="229" y="103"/>
                </a:lnTo>
                <a:lnTo>
                  <a:pt x="213" y="115"/>
                </a:lnTo>
                <a:lnTo>
                  <a:pt x="196" y="128"/>
                </a:lnTo>
                <a:lnTo>
                  <a:pt x="180" y="141"/>
                </a:lnTo>
                <a:lnTo>
                  <a:pt x="164" y="154"/>
                </a:lnTo>
                <a:lnTo>
                  <a:pt x="147" y="166"/>
                </a:lnTo>
                <a:lnTo>
                  <a:pt x="131" y="178"/>
                </a:lnTo>
                <a:lnTo>
                  <a:pt x="114" y="189"/>
                </a:lnTo>
                <a:lnTo>
                  <a:pt x="98" y="199"/>
                </a:lnTo>
                <a:lnTo>
                  <a:pt x="82" y="208"/>
                </a:lnTo>
                <a:lnTo>
                  <a:pt x="65" y="216"/>
                </a:lnTo>
                <a:lnTo>
                  <a:pt x="49" y="222"/>
                </a:lnTo>
                <a:lnTo>
                  <a:pt x="33" y="227"/>
                </a:lnTo>
                <a:lnTo>
                  <a:pt x="16" y="230"/>
                </a:lnTo>
                <a:lnTo>
                  <a:pt x="0" y="231"/>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5572125"/>
            <a:ext cx="3743325" cy="409575"/>
          </a:xfrm>
          <a:custGeom>
            <a:avLst/>
            <a:gdLst/>
            <a:ahLst/>
            <a:cxnLst/>
            <a:rect l="l" t="t" r="r" b="b"/>
            <a:pathLst>
              <a:path w="393" h="43">
                <a:moveTo>
                  <a:pt x="0" y="21"/>
                </a:moveTo>
                <a:lnTo>
                  <a:pt x="16" y="21"/>
                </a:lnTo>
                <a:lnTo>
                  <a:pt x="33" y="21"/>
                </a:lnTo>
                <a:lnTo>
                  <a:pt x="49" y="20"/>
                </a:lnTo>
                <a:lnTo>
                  <a:pt x="65" y="19"/>
                </a:lnTo>
                <a:lnTo>
                  <a:pt x="82" y="19"/>
                </a:lnTo>
                <a:lnTo>
                  <a:pt x="98" y="18"/>
                </a:lnTo>
                <a:lnTo>
                  <a:pt x="114" y="17"/>
                </a:lnTo>
                <a:lnTo>
                  <a:pt x="131" y="16"/>
                </a:lnTo>
                <a:lnTo>
                  <a:pt x="147" y="14"/>
                </a:lnTo>
                <a:lnTo>
                  <a:pt x="164" y="13"/>
                </a:lnTo>
                <a:lnTo>
                  <a:pt x="180" y="12"/>
                </a:lnTo>
                <a:lnTo>
                  <a:pt x="196" y="11"/>
                </a:lnTo>
                <a:lnTo>
                  <a:pt x="213" y="9"/>
                </a:lnTo>
                <a:lnTo>
                  <a:pt x="229" y="8"/>
                </a:lnTo>
                <a:lnTo>
                  <a:pt x="246" y="7"/>
                </a:lnTo>
                <a:lnTo>
                  <a:pt x="262" y="5"/>
                </a:lnTo>
                <a:lnTo>
                  <a:pt x="278" y="4"/>
                </a:lnTo>
                <a:lnTo>
                  <a:pt x="295" y="3"/>
                </a:lnTo>
                <a:lnTo>
                  <a:pt x="311" y="2"/>
                </a:lnTo>
                <a:lnTo>
                  <a:pt x="327" y="2"/>
                </a:lnTo>
                <a:lnTo>
                  <a:pt x="344" y="1"/>
                </a:lnTo>
                <a:lnTo>
                  <a:pt x="360" y="0"/>
                </a:lnTo>
                <a:lnTo>
                  <a:pt x="377" y="0"/>
                </a:lnTo>
                <a:lnTo>
                  <a:pt x="393" y="0"/>
                </a:lnTo>
                <a:lnTo>
                  <a:pt x="393" y="22"/>
                </a:lnTo>
                <a:lnTo>
                  <a:pt x="377" y="22"/>
                </a:lnTo>
                <a:lnTo>
                  <a:pt x="360" y="22"/>
                </a:lnTo>
                <a:lnTo>
                  <a:pt x="344" y="22"/>
                </a:lnTo>
                <a:lnTo>
                  <a:pt x="327" y="23"/>
                </a:lnTo>
                <a:lnTo>
                  <a:pt x="311" y="24"/>
                </a:lnTo>
                <a:lnTo>
                  <a:pt x="295" y="25"/>
                </a:lnTo>
                <a:lnTo>
                  <a:pt x="278" y="26"/>
                </a:lnTo>
                <a:lnTo>
                  <a:pt x="262" y="27"/>
                </a:lnTo>
                <a:lnTo>
                  <a:pt x="246" y="28"/>
                </a:lnTo>
                <a:lnTo>
                  <a:pt x="229" y="29"/>
                </a:lnTo>
                <a:lnTo>
                  <a:pt x="213" y="31"/>
                </a:lnTo>
                <a:lnTo>
                  <a:pt x="196" y="32"/>
                </a:lnTo>
                <a:lnTo>
                  <a:pt x="180" y="33"/>
                </a:lnTo>
                <a:lnTo>
                  <a:pt x="164" y="35"/>
                </a:lnTo>
                <a:lnTo>
                  <a:pt x="147" y="36"/>
                </a:lnTo>
                <a:lnTo>
                  <a:pt x="131" y="37"/>
                </a:lnTo>
                <a:lnTo>
                  <a:pt x="114" y="38"/>
                </a:lnTo>
                <a:lnTo>
                  <a:pt x="98" y="39"/>
                </a:lnTo>
                <a:lnTo>
                  <a:pt x="82" y="40"/>
                </a:lnTo>
                <a:lnTo>
                  <a:pt x="65" y="41"/>
                </a:lnTo>
                <a:lnTo>
                  <a:pt x="49" y="42"/>
                </a:lnTo>
                <a:lnTo>
                  <a:pt x="33" y="42"/>
                </a:lnTo>
                <a:lnTo>
                  <a:pt x="16" y="42"/>
                </a:lnTo>
                <a:lnTo>
                  <a:pt x="0" y="43"/>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5981700"/>
            <a:ext cx="3743325" cy="323850"/>
          </a:xfrm>
          <a:custGeom>
            <a:avLst/>
            <a:gdLst/>
            <a:ahLst/>
            <a:cxnLst/>
            <a:rect l="l" t="t" r="r" b="b"/>
            <a:pathLst>
              <a:path w="393" h="34">
                <a:moveTo>
                  <a:pt x="0" y="0"/>
                </a:moveTo>
                <a:lnTo>
                  <a:pt x="16" y="0"/>
                </a:lnTo>
                <a:lnTo>
                  <a:pt x="33" y="0"/>
                </a:lnTo>
                <a:lnTo>
                  <a:pt x="49" y="1"/>
                </a:lnTo>
                <a:lnTo>
                  <a:pt x="65" y="2"/>
                </a:lnTo>
                <a:lnTo>
                  <a:pt x="82" y="3"/>
                </a:lnTo>
                <a:lnTo>
                  <a:pt x="98" y="5"/>
                </a:lnTo>
                <a:lnTo>
                  <a:pt x="114" y="6"/>
                </a:lnTo>
                <a:lnTo>
                  <a:pt x="131" y="8"/>
                </a:lnTo>
                <a:lnTo>
                  <a:pt x="147" y="10"/>
                </a:lnTo>
                <a:lnTo>
                  <a:pt x="164" y="11"/>
                </a:lnTo>
                <a:lnTo>
                  <a:pt x="180" y="13"/>
                </a:lnTo>
                <a:lnTo>
                  <a:pt x="196" y="15"/>
                </a:lnTo>
                <a:lnTo>
                  <a:pt x="213" y="17"/>
                </a:lnTo>
                <a:lnTo>
                  <a:pt x="229" y="19"/>
                </a:lnTo>
                <a:lnTo>
                  <a:pt x="246" y="21"/>
                </a:lnTo>
                <a:lnTo>
                  <a:pt x="262" y="23"/>
                </a:lnTo>
                <a:lnTo>
                  <a:pt x="278" y="25"/>
                </a:lnTo>
                <a:lnTo>
                  <a:pt x="295" y="26"/>
                </a:lnTo>
                <a:lnTo>
                  <a:pt x="311" y="28"/>
                </a:lnTo>
                <a:lnTo>
                  <a:pt x="327" y="29"/>
                </a:lnTo>
                <a:lnTo>
                  <a:pt x="344" y="30"/>
                </a:lnTo>
                <a:lnTo>
                  <a:pt x="360" y="31"/>
                </a:lnTo>
                <a:lnTo>
                  <a:pt x="377" y="31"/>
                </a:lnTo>
                <a:lnTo>
                  <a:pt x="393" y="31"/>
                </a:lnTo>
                <a:lnTo>
                  <a:pt x="393" y="34"/>
                </a:lnTo>
                <a:lnTo>
                  <a:pt x="377" y="34"/>
                </a:lnTo>
                <a:lnTo>
                  <a:pt x="360" y="34"/>
                </a:lnTo>
                <a:lnTo>
                  <a:pt x="344" y="33"/>
                </a:lnTo>
                <a:lnTo>
                  <a:pt x="327" y="32"/>
                </a:lnTo>
                <a:lnTo>
                  <a:pt x="311" y="31"/>
                </a:lnTo>
                <a:lnTo>
                  <a:pt x="295" y="29"/>
                </a:lnTo>
                <a:lnTo>
                  <a:pt x="278" y="28"/>
                </a:lnTo>
                <a:lnTo>
                  <a:pt x="262" y="26"/>
                </a:lnTo>
                <a:lnTo>
                  <a:pt x="246" y="24"/>
                </a:lnTo>
                <a:lnTo>
                  <a:pt x="229" y="22"/>
                </a:lnTo>
                <a:lnTo>
                  <a:pt x="213" y="20"/>
                </a:lnTo>
                <a:lnTo>
                  <a:pt x="196" y="18"/>
                </a:lnTo>
                <a:lnTo>
                  <a:pt x="180" y="16"/>
                </a:lnTo>
                <a:lnTo>
                  <a:pt x="164" y="14"/>
                </a:lnTo>
                <a:lnTo>
                  <a:pt x="147" y="13"/>
                </a:lnTo>
                <a:lnTo>
                  <a:pt x="131" y="11"/>
                </a:lnTo>
                <a:lnTo>
                  <a:pt x="114" y="9"/>
                </a:lnTo>
                <a:lnTo>
                  <a:pt x="98" y="7"/>
                </a:lnTo>
                <a:lnTo>
                  <a:pt x="82" y="6"/>
                </a:lnTo>
                <a:lnTo>
                  <a:pt x="65" y="5"/>
                </a:lnTo>
                <a:lnTo>
                  <a:pt x="49" y="4"/>
                </a:lnTo>
                <a:lnTo>
                  <a:pt x="33" y="3"/>
                </a:lnTo>
                <a:lnTo>
                  <a:pt x="16" y="3"/>
                </a:lnTo>
                <a:lnTo>
                  <a:pt x="0" y="3"/>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3810000"/>
            <a:ext cx="3743325" cy="2466975"/>
          </a:xfrm>
          <a:custGeom>
            <a:avLst/>
            <a:gdLst/>
            <a:ahLst/>
            <a:cxnLst/>
            <a:rect l="l" t="t" r="r" b="b"/>
            <a:pathLst>
              <a:path w="393" h="259">
                <a:moveTo>
                  <a:pt x="0" y="237"/>
                </a:moveTo>
                <a:lnTo>
                  <a:pt x="16" y="235"/>
                </a:lnTo>
                <a:lnTo>
                  <a:pt x="33" y="232"/>
                </a:lnTo>
                <a:lnTo>
                  <a:pt x="49" y="226"/>
                </a:lnTo>
                <a:lnTo>
                  <a:pt x="65" y="219"/>
                </a:lnTo>
                <a:lnTo>
                  <a:pt x="82" y="210"/>
                </a:lnTo>
                <a:lnTo>
                  <a:pt x="98" y="200"/>
                </a:lnTo>
                <a:lnTo>
                  <a:pt x="114" y="188"/>
                </a:lnTo>
                <a:lnTo>
                  <a:pt x="131" y="175"/>
                </a:lnTo>
                <a:lnTo>
                  <a:pt x="147" y="162"/>
                </a:lnTo>
                <a:lnTo>
                  <a:pt x="164" y="148"/>
                </a:lnTo>
                <a:lnTo>
                  <a:pt x="180" y="133"/>
                </a:lnTo>
                <a:lnTo>
                  <a:pt x="196" y="118"/>
                </a:lnTo>
                <a:lnTo>
                  <a:pt x="213" y="104"/>
                </a:lnTo>
                <a:lnTo>
                  <a:pt x="229" y="89"/>
                </a:lnTo>
                <a:lnTo>
                  <a:pt x="246" y="75"/>
                </a:lnTo>
                <a:lnTo>
                  <a:pt x="262" y="61"/>
                </a:lnTo>
                <a:lnTo>
                  <a:pt x="278" y="49"/>
                </a:lnTo>
                <a:lnTo>
                  <a:pt x="295" y="37"/>
                </a:lnTo>
                <a:lnTo>
                  <a:pt x="311" y="27"/>
                </a:lnTo>
                <a:lnTo>
                  <a:pt x="327" y="18"/>
                </a:lnTo>
                <a:lnTo>
                  <a:pt x="344" y="10"/>
                </a:lnTo>
                <a:lnTo>
                  <a:pt x="360" y="5"/>
                </a:lnTo>
                <a:lnTo>
                  <a:pt x="377" y="1"/>
                </a:lnTo>
                <a:lnTo>
                  <a:pt x="393" y="0"/>
                </a:lnTo>
                <a:lnTo>
                  <a:pt x="393" y="23"/>
                </a:lnTo>
                <a:lnTo>
                  <a:pt x="377" y="24"/>
                </a:lnTo>
                <a:lnTo>
                  <a:pt x="360" y="28"/>
                </a:lnTo>
                <a:lnTo>
                  <a:pt x="344" y="33"/>
                </a:lnTo>
                <a:lnTo>
                  <a:pt x="327" y="41"/>
                </a:lnTo>
                <a:lnTo>
                  <a:pt x="311" y="50"/>
                </a:lnTo>
                <a:lnTo>
                  <a:pt x="295" y="60"/>
                </a:lnTo>
                <a:lnTo>
                  <a:pt x="278" y="72"/>
                </a:lnTo>
                <a:lnTo>
                  <a:pt x="262" y="84"/>
                </a:lnTo>
                <a:lnTo>
                  <a:pt x="246" y="98"/>
                </a:lnTo>
                <a:lnTo>
                  <a:pt x="229" y="112"/>
                </a:lnTo>
                <a:lnTo>
                  <a:pt x="213" y="127"/>
                </a:lnTo>
                <a:lnTo>
                  <a:pt x="196" y="141"/>
                </a:lnTo>
                <a:lnTo>
                  <a:pt x="180" y="156"/>
                </a:lnTo>
                <a:lnTo>
                  <a:pt x="164" y="171"/>
                </a:lnTo>
                <a:lnTo>
                  <a:pt x="147" y="185"/>
                </a:lnTo>
                <a:lnTo>
                  <a:pt x="131" y="198"/>
                </a:lnTo>
                <a:lnTo>
                  <a:pt x="114" y="211"/>
                </a:lnTo>
                <a:lnTo>
                  <a:pt x="98" y="223"/>
                </a:lnTo>
                <a:lnTo>
                  <a:pt x="82" y="233"/>
                </a:lnTo>
                <a:lnTo>
                  <a:pt x="65" y="242"/>
                </a:lnTo>
                <a:lnTo>
                  <a:pt x="49" y="249"/>
                </a:lnTo>
                <a:lnTo>
                  <a:pt x="33" y="255"/>
                </a:lnTo>
                <a:lnTo>
                  <a:pt x="16" y="258"/>
                </a:lnTo>
                <a:lnTo>
                  <a:pt x="0" y="259"/>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5781675"/>
            <a:ext cx="3743325" cy="723900"/>
          </a:xfrm>
          <a:custGeom>
            <a:avLst/>
            <a:gdLst/>
            <a:ahLst/>
            <a:cxnLst/>
            <a:rect l="l" t="t" r="r" b="b"/>
            <a:pathLst>
              <a:path w="393" h="76">
                <a:moveTo>
                  <a:pt x="0" y="52"/>
                </a:moveTo>
                <a:lnTo>
                  <a:pt x="16" y="52"/>
                </a:lnTo>
                <a:lnTo>
                  <a:pt x="33" y="51"/>
                </a:lnTo>
                <a:lnTo>
                  <a:pt x="49" y="50"/>
                </a:lnTo>
                <a:lnTo>
                  <a:pt x="65" y="49"/>
                </a:lnTo>
                <a:lnTo>
                  <a:pt x="82" y="47"/>
                </a:lnTo>
                <a:lnTo>
                  <a:pt x="98" y="44"/>
                </a:lnTo>
                <a:lnTo>
                  <a:pt x="114" y="42"/>
                </a:lnTo>
                <a:lnTo>
                  <a:pt x="131" y="39"/>
                </a:lnTo>
                <a:lnTo>
                  <a:pt x="147" y="36"/>
                </a:lnTo>
                <a:lnTo>
                  <a:pt x="164" y="33"/>
                </a:lnTo>
                <a:lnTo>
                  <a:pt x="180" y="29"/>
                </a:lnTo>
                <a:lnTo>
                  <a:pt x="196" y="26"/>
                </a:lnTo>
                <a:lnTo>
                  <a:pt x="213" y="23"/>
                </a:lnTo>
                <a:lnTo>
                  <a:pt x="229" y="19"/>
                </a:lnTo>
                <a:lnTo>
                  <a:pt x="246" y="16"/>
                </a:lnTo>
                <a:lnTo>
                  <a:pt x="262" y="13"/>
                </a:lnTo>
                <a:lnTo>
                  <a:pt x="278" y="10"/>
                </a:lnTo>
                <a:lnTo>
                  <a:pt x="295" y="8"/>
                </a:lnTo>
                <a:lnTo>
                  <a:pt x="311" y="6"/>
                </a:lnTo>
                <a:lnTo>
                  <a:pt x="327" y="4"/>
                </a:lnTo>
                <a:lnTo>
                  <a:pt x="344" y="2"/>
                </a:lnTo>
                <a:lnTo>
                  <a:pt x="360" y="1"/>
                </a:lnTo>
                <a:lnTo>
                  <a:pt x="377" y="0"/>
                </a:lnTo>
                <a:lnTo>
                  <a:pt x="393" y="0"/>
                </a:lnTo>
                <a:lnTo>
                  <a:pt x="393" y="23"/>
                </a:lnTo>
                <a:lnTo>
                  <a:pt x="377" y="24"/>
                </a:lnTo>
                <a:lnTo>
                  <a:pt x="360" y="24"/>
                </a:lnTo>
                <a:lnTo>
                  <a:pt x="344" y="26"/>
                </a:lnTo>
                <a:lnTo>
                  <a:pt x="327" y="27"/>
                </a:lnTo>
                <a:lnTo>
                  <a:pt x="311" y="29"/>
                </a:lnTo>
                <a:lnTo>
                  <a:pt x="295" y="32"/>
                </a:lnTo>
                <a:lnTo>
                  <a:pt x="278" y="34"/>
                </a:lnTo>
                <a:lnTo>
                  <a:pt x="262" y="37"/>
                </a:lnTo>
                <a:lnTo>
                  <a:pt x="246" y="40"/>
                </a:lnTo>
                <a:lnTo>
                  <a:pt x="229" y="43"/>
                </a:lnTo>
                <a:lnTo>
                  <a:pt x="213" y="46"/>
                </a:lnTo>
                <a:lnTo>
                  <a:pt x="196" y="50"/>
                </a:lnTo>
                <a:lnTo>
                  <a:pt x="180" y="53"/>
                </a:lnTo>
                <a:lnTo>
                  <a:pt x="164" y="56"/>
                </a:lnTo>
                <a:lnTo>
                  <a:pt x="147" y="59"/>
                </a:lnTo>
                <a:lnTo>
                  <a:pt x="131" y="62"/>
                </a:lnTo>
                <a:lnTo>
                  <a:pt x="114" y="65"/>
                </a:lnTo>
                <a:lnTo>
                  <a:pt x="98" y="68"/>
                </a:lnTo>
                <a:lnTo>
                  <a:pt x="82" y="70"/>
                </a:lnTo>
                <a:lnTo>
                  <a:pt x="65" y="72"/>
                </a:lnTo>
                <a:lnTo>
                  <a:pt x="49" y="74"/>
                </a:lnTo>
                <a:lnTo>
                  <a:pt x="33" y="75"/>
                </a:lnTo>
                <a:lnTo>
                  <a:pt x="16" y="76"/>
                </a:lnTo>
                <a:lnTo>
                  <a:pt x="0" y="76"/>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6305550"/>
            <a:ext cx="3743325" cy="228600"/>
          </a:xfrm>
          <a:custGeom>
            <a:avLst/>
            <a:gdLst/>
            <a:ahLst/>
            <a:cxnLst/>
            <a:rect l="l" t="t" r="r" b="b"/>
            <a:pathLst>
              <a:path w="393" h="24">
                <a:moveTo>
                  <a:pt x="0" y="21"/>
                </a:moveTo>
                <a:lnTo>
                  <a:pt x="16" y="21"/>
                </a:lnTo>
                <a:lnTo>
                  <a:pt x="33" y="21"/>
                </a:lnTo>
                <a:lnTo>
                  <a:pt x="49" y="20"/>
                </a:lnTo>
                <a:lnTo>
                  <a:pt x="65" y="20"/>
                </a:lnTo>
                <a:lnTo>
                  <a:pt x="82" y="19"/>
                </a:lnTo>
                <a:lnTo>
                  <a:pt x="98" y="18"/>
                </a:lnTo>
                <a:lnTo>
                  <a:pt x="114" y="17"/>
                </a:lnTo>
                <a:lnTo>
                  <a:pt x="131" y="16"/>
                </a:lnTo>
                <a:lnTo>
                  <a:pt x="147" y="15"/>
                </a:lnTo>
                <a:lnTo>
                  <a:pt x="164" y="13"/>
                </a:lnTo>
                <a:lnTo>
                  <a:pt x="180" y="12"/>
                </a:lnTo>
                <a:lnTo>
                  <a:pt x="196" y="11"/>
                </a:lnTo>
                <a:lnTo>
                  <a:pt x="213" y="9"/>
                </a:lnTo>
                <a:lnTo>
                  <a:pt x="229" y="8"/>
                </a:lnTo>
                <a:lnTo>
                  <a:pt x="246" y="7"/>
                </a:lnTo>
                <a:lnTo>
                  <a:pt x="262" y="6"/>
                </a:lnTo>
                <a:lnTo>
                  <a:pt x="278" y="5"/>
                </a:lnTo>
                <a:lnTo>
                  <a:pt x="295" y="3"/>
                </a:lnTo>
                <a:lnTo>
                  <a:pt x="311" y="3"/>
                </a:lnTo>
                <a:lnTo>
                  <a:pt x="327" y="2"/>
                </a:lnTo>
                <a:lnTo>
                  <a:pt x="344" y="1"/>
                </a:lnTo>
                <a:lnTo>
                  <a:pt x="360" y="1"/>
                </a:lnTo>
                <a:lnTo>
                  <a:pt x="377" y="0"/>
                </a:lnTo>
                <a:lnTo>
                  <a:pt x="393" y="0"/>
                </a:lnTo>
                <a:lnTo>
                  <a:pt x="393" y="3"/>
                </a:lnTo>
                <a:lnTo>
                  <a:pt x="377" y="3"/>
                </a:lnTo>
                <a:lnTo>
                  <a:pt x="360" y="3"/>
                </a:lnTo>
                <a:lnTo>
                  <a:pt x="344" y="4"/>
                </a:lnTo>
                <a:lnTo>
                  <a:pt x="327" y="5"/>
                </a:lnTo>
                <a:lnTo>
                  <a:pt x="311" y="5"/>
                </a:lnTo>
                <a:lnTo>
                  <a:pt x="295" y="6"/>
                </a:lnTo>
                <a:lnTo>
                  <a:pt x="278" y="7"/>
                </a:lnTo>
                <a:lnTo>
                  <a:pt x="262" y="8"/>
                </a:lnTo>
                <a:lnTo>
                  <a:pt x="246" y="10"/>
                </a:lnTo>
                <a:lnTo>
                  <a:pt x="229" y="11"/>
                </a:lnTo>
                <a:lnTo>
                  <a:pt x="213" y="12"/>
                </a:lnTo>
                <a:lnTo>
                  <a:pt x="196" y="14"/>
                </a:lnTo>
                <a:lnTo>
                  <a:pt x="180" y="15"/>
                </a:lnTo>
                <a:lnTo>
                  <a:pt x="164" y="16"/>
                </a:lnTo>
                <a:lnTo>
                  <a:pt x="147" y="17"/>
                </a:lnTo>
                <a:lnTo>
                  <a:pt x="131" y="19"/>
                </a:lnTo>
                <a:lnTo>
                  <a:pt x="114" y="20"/>
                </a:lnTo>
                <a:lnTo>
                  <a:pt x="98" y="21"/>
                </a:lnTo>
                <a:lnTo>
                  <a:pt x="82" y="22"/>
                </a:lnTo>
                <a:lnTo>
                  <a:pt x="65" y="22"/>
                </a:lnTo>
                <a:lnTo>
                  <a:pt x="49" y="23"/>
                </a:lnTo>
                <a:lnTo>
                  <a:pt x="33" y="24"/>
                </a:lnTo>
                <a:lnTo>
                  <a:pt x="16" y="24"/>
                </a:lnTo>
                <a:lnTo>
                  <a:pt x="0" y="24"/>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41195" y="1304925"/>
            <a:ext cx="114300" cy="471490"/>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7175" y="1304925"/>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Rectangle 43"/>
          <p:cNvSpPr/>
          <p:nvPr/>
        </p:nvSpPr>
        <p:spPr>
          <a:xfrm>
            <a:off x="1941195" y="1833565"/>
            <a:ext cx="114300" cy="471490"/>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7175" y="1833565"/>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Rectangle 45"/>
          <p:cNvSpPr/>
          <p:nvPr/>
        </p:nvSpPr>
        <p:spPr>
          <a:xfrm>
            <a:off x="1941195" y="2362204"/>
            <a:ext cx="114300" cy="47149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7175" y="2362204"/>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Rectangle 47"/>
          <p:cNvSpPr/>
          <p:nvPr/>
        </p:nvSpPr>
        <p:spPr>
          <a:xfrm>
            <a:off x="1941195" y="2890844"/>
            <a:ext cx="114300" cy="471490"/>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7175" y="2890844"/>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Rectangle 49"/>
          <p:cNvSpPr/>
          <p:nvPr/>
        </p:nvSpPr>
        <p:spPr>
          <a:xfrm>
            <a:off x="1941195" y="3419483"/>
            <a:ext cx="114300" cy="47149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7175" y="3419483"/>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Rectangle 51"/>
          <p:cNvSpPr/>
          <p:nvPr/>
        </p:nvSpPr>
        <p:spPr>
          <a:xfrm>
            <a:off x="1941195" y="3948123"/>
            <a:ext cx="114300" cy="47149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7175" y="3948123"/>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4" name="Rectangle 53"/>
          <p:cNvSpPr/>
          <p:nvPr/>
        </p:nvSpPr>
        <p:spPr>
          <a:xfrm>
            <a:off x="1941195" y="4476763"/>
            <a:ext cx="114300" cy="47149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7175" y="4476763"/>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6" name="Rectangle 55"/>
          <p:cNvSpPr/>
          <p:nvPr/>
        </p:nvSpPr>
        <p:spPr>
          <a:xfrm>
            <a:off x="1941195" y="5005402"/>
            <a:ext cx="114300" cy="47148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7175" y="5005402"/>
            <a:ext cx="1626870" cy="47148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8" name="Rectangle 57"/>
          <p:cNvSpPr/>
          <p:nvPr/>
        </p:nvSpPr>
        <p:spPr>
          <a:xfrm>
            <a:off x="1941195" y="5534038"/>
            <a:ext cx="114300" cy="47148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7175" y="5534038"/>
            <a:ext cx="1626870" cy="47148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0" name="Rectangle 59"/>
          <p:cNvSpPr/>
          <p:nvPr/>
        </p:nvSpPr>
        <p:spPr>
          <a:xfrm>
            <a:off x="1941195" y="6062673"/>
            <a:ext cx="114300" cy="471477"/>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7175" y="6062673"/>
            <a:ext cx="1626870" cy="471477"/>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2" name="Rectangle 61"/>
          <p:cNvSpPr/>
          <p:nvPr/>
        </p:nvSpPr>
        <p:spPr>
          <a:xfrm>
            <a:off x="5800725" y="1504950"/>
            <a:ext cx="114300" cy="252454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72175" y="1504950"/>
            <a:ext cx="1381125" cy="252454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4" name="Rectangle 63"/>
          <p:cNvSpPr/>
          <p:nvPr/>
        </p:nvSpPr>
        <p:spPr>
          <a:xfrm>
            <a:off x="5800725" y="4086640"/>
            <a:ext cx="114300" cy="191727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72175" y="4086640"/>
            <a:ext cx="1381125" cy="1917277"/>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6" name="Rectangle 65"/>
          <p:cNvSpPr/>
          <p:nvPr/>
        </p:nvSpPr>
        <p:spPr>
          <a:xfrm>
            <a:off x="5800725" y="6061066"/>
            <a:ext cx="114300" cy="27305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72175" y="6061066"/>
            <a:ext cx="1381125" cy="273059"/>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8" name="Rounded Rectangle 67"/>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70" name="Rectangle 69"/>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2" name="TextBox 7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73" name="TextBox 72"/>
          <p:cNvSpPr txBox="1"/>
          <p:nvPr/>
        </p:nvSpPr>
        <p:spPr>
          <a:xfrm>
            <a:off x="841934" y="1456850"/>
            <a:ext cx="945232" cy="186689"/>
          </a:xfrm>
          <a:prstGeom prst="rect">
            <a:avLst/>
          </a:prstGeom>
          <a:noFill/>
        </p:spPr>
        <p:txBody>
          <a:bodyPr wrap="none" lIns="0" rIns="0" tIns="0" bIns="0">
            <a:spAutoFit/>
          </a:bodyPr>
          <a:lstStyle/>
          <a:p>
            <a:r>
              <a:rPr sz="1100" b="1">
                <a:solidFill>
                  <a:srgbClr val="2E2E2E"/>
                </a:solidFill>
                <a:latin typeface="Calibri"/>
              </a:rPr>
              <a:t>Inmunotek S.L.</a:t>
            </a:r>
          </a:p>
        </p:txBody>
      </p:sp>
      <p:pic>
        <p:nvPicPr>
          <p:cNvPr id="74" name="Picture 73" descr="lock.png"/>
          <p:cNvPicPr>
            <a:picLocks noChangeAspect="1"/>
          </p:cNvPicPr>
          <p:nvPr/>
        </p:nvPicPr>
        <p:blipFill>
          <a:blip r:embed="rId4"/>
          <a:stretch>
            <a:fillRect/>
          </a:stretch>
        </p:blipFill>
        <p:spPr>
          <a:xfrm>
            <a:off x="1735218" y="1447071"/>
            <a:ext cx="128699" cy="187198"/>
          </a:xfrm>
          <a:prstGeom prst="rect">
            <a:avLst/>
          </a:prstGeom>
        </p:spPr>
      </p:pic>
      <p:sp>
        <p:nvSpPr>
          <p:cNvPr id="75" name="TextBox 74"/>
          <p:cNvSpPr txBox="1"/>
          <p:nvPr/>
        </p:nvSpPr>
        <p:spPr>
          <a:xfrm>
            <a:off x="416971" y="1901670"/>
            <a:ext cx="1448023" cy="186689"/>
          </a:xfrm>
          <a:prstGeom prst="rect">
            <a:avLst/>
          </a:prstGeom>
          <a:noFill/>
        </p:spPr>
        <p:txBody>
          <a:bodyPr wrap="none" lIns="0" rIns="0" tIns="0" bIns="0">
            <a:spAutoFit/>
          </a:bodyPr>
          <a:lstStyle/>
          <a:p>
            <a:r>
              <a:rPr sz="1100" b="1">
                <a:solidFill>
                  <a:srgbClr val="2E2E2E"/>
                </a:solidFill>
                <a:latin typeface="Calibri"/>
              </a:rPr>
              <a:t>Torii Pharmaceutical Co.,</a:t>
            </a:r>
          </a:p>
        </p:txBody>
      </p:sp>
      <p:sp>
        <p:nvSpPr>
          <p:cNvPr id="76" name="TextBox 75"/>
          <p:cNvSpPr txBox="1"/>
          <p:nvPr/>
        </p:nvSpPr>
        <p:spPr>
          <a:xfrm>
            <a:off x="1490818" y="2069309"/>
            <a:ext cx="296348" cy="186689"/>
          </a:xfrm>
          <a:prstGeom prst="rect">
            <a:avLst/>
          </a:prstGeom>
          <a:noFill/>
        </p:spPr>
        <p:txBody>
          <a:bodyPr wrap="none" lIns="0" rIns="0" tIns="0" bIns="0">
            <a:spAutoFit/>
          </a:bodyPr>
          <a:lstStyle/>
          <a:p>
            <a:r>
              <a:rPr sz="1100" b="1">
                <a:solidFill>
                  <a:srgbClr val="2E2E2E"/>
                </a:solidFill>
                <a:latin typeface="Calibri"/>
              </a:rPr>
              <a:t>Ltd.</a:t>
            </a:r>
          </a:p>
        </p:txBody>
      </p:sp>
      <p:pic>
        <p:nvPicPr>
          <p:cNvPr id="77" name="Picture 76" descr="lock.png"/>
          <p:cNvPicPr>
            <a:picLocks noChangeAspect="1"/>
          </p:cNvPicPr>
          <p:nvPr/>
        </p:nvPicPr>
        <p:blipFill>
          <a:blip r:embed="rId4"/>
          <a:stretch>
            <a:fillRect/>
          </a:stretch>
        </p:blipFill>
        <p:spPr>
          <a:xfrm>
            <a:off x="1735218" y="2059531"/>
            <a:ext cx="128699" cy="187198"/>
          </a:xfrm>
          <a:prstGeom prst="rect">
            <a:avLst/>
          </a:prstGeom>
        </p:spPr>
      </p:pic>
      <p:sp>
        <p:nvSpPr>
          <p:cNvPr id="78" name="TextBox 77"/>
          <p:cNvSpPr txBox="1"/>
          <p:nvPr/>
        </p:nvSpPr>
        <p:spPr>
          <a:xfrm>
            <a:off x="522595" y="2514129"/>
            <a:ext cx="1264570" cy="186689"/>
          </a:xfrm>
          <a:prstGeom prst="rect">
            <a:avLst/>
          </a:prstGeom>
          <a:noFill/>
        </p:spPr>
        <p:txBody>
          <a:bodyPr wrap="none" lIns="0" rIns="0" tIns="0" bIns="0">
            <a:spAutoFit/>
          </a:bodyPr>
          <a:lstStyle/>
          <a:p>
            <a:r>
              <a:rPr sz="1100" b="1">
                <a:solidFill>
                  <a:srgbClr val="2E2E2E"/>
                </a:solidFill>
                <a:latin typeface="Calibri"/>
              </a:rPr>
              <a:t>DIATER Laboratories</a:t>
            </a:r>
          </a:p>
        </p:txBody>
      </p:sp>
      <p:pic>
        <p:nvPicPr>
          <p:cNvPr id="79" name="Picture 78" descr="lock.png"/>
          <p:cNvPicPr>
            <a:picLocks noChangeAspect="1"/>
          </p:cNvPicPr>
          <p:nvPr/>
        </p:nvPicPr>
        <p:blipFill>
          <a:blip r:embed="rId4"/>
          <a:stretch>
            <a:fillRect/>
          </a:stretch>
        </p:blipFill>
        <p:spPr>
          <a:xfrm>
            <a:off x="1735218" y="2504350"/>
            <a:ext cx="128699" cy="187198"/>
          </a:xfrm>
          <a:prstGeom prst="rect">
            <a:avLst/>
          </a:prstGeom>
        </p:spPr>
      </p:pic>
      <p:sp>
        <p:nvSpPr>
          <p:cNvPr id="80" name="TextBox 79"/>
          <p:cNvSpPr txBox="1"/>
          <p:nvPr/>
        </p:nvSpPr>
        <p:spPr>
          <a:xfrm>
            <a:off x="794052" y="2958949"/>
            <a:ext cx="1070942" cy="186689"/>
          </a:xfrm>
          <a:prstGeom prst="rect">
            <a:avLst/>
          </a:prstGeom>
          <a:noFill/>
        </p:spPr>
        <p:txBody>
          <a:bodyPr wrap="none" lIns="0" rIns="0" tIns="0" bIns="0">
            <a:spAutoFit/>
          </a:bodyPr>
          <a:lstStyle/>
          <a:p>
            <a:r>
              <a:rPr sz="1100" b="1">
                <a:solidFill>
                  <a:srgbClr val="2E2E2E"/>
                </a:solidFill>
                <a:latin typeface="Calibri"/>
              </a:rPr>
              <a:t>Stallergenes Greer</a:t>
            </a:r>
          </a:p>
        </p:txBody>
      </p:sp>
      <p:sp>
        <p:nvSpPr>
          <p:cNvPr id="81" name="TextBox 80"/>
          <p:cNvSpPr txBox="1"/>
          <p:nvPr/>
        </p:nvSpPr>
        <p:spPr>
          <a:xfrm>
            <a:off x="744279" y="3126589"/>
            <a:ext cx="1042887" cy="186689"/>
          </a:xfrm>
          <a:prstGeom prst="rect">
            <a:avLst/>
          </a:prstGeom>
          <a:noFill/>
        </p:spPr>
        <p:txBody>
          <a:bodyPr wrap="none" lIns="0" rIns="0" tIns="0" bIns="0">
            <a:spAutoFit/>
          </a:bodyPr>
          <a:lstStyle/>
          <a:p>
            <a:r>
              <a:rPr sz="1100" b="1">
                <a:solidFill>
                  <a:srgbClr val="2E2E2E"/>
                </a:solidFill>
                <a:latin typeface="Calibri"/>
              </a:rPr>
              <a:t>International AG</a:t>
            </a:r>
          </a:p>
        </p:txBody>
      </p:sp>
      <p:pic>
        <p:nvPicPr>
          <p:cNvPr id="82" name="Picture 81" descr="lock.png"/>
          <p:cNvPicPr>
            <a:picLocks noChangeAspect="1"/>
          </p:cNvPicPr>
          <p:nvPr/>
        </p:nvPicPr>
        <p:blipFill>
          <a:blip r:embed="rId4"/>
          <a:stretch>
            <a:fillRect/>
          </a:stretch>
        </p:blipFill>
        <p:spPr>
          <a:xfrm>
            <a:off x="1735218" y="3116810"/>
            <a:ext cx="128699" cy="187198"/>
          </a:xfrm>
          <a:prstGeom prst="rect">
            <a:avLst/>
          </a:prstGeom>
        </p:spPr>
      </p:pic>
      <p:sp>
        <p:nvSpPr>
          <p:cNvPr id="83" name="TextBox 82"/>
          <p:cNvSpPr txBox="1"/>
          <p:nvPr/>
        </p:nvSpPr>
        <p:spPr>
          <a:xfrm>
            <a:off x="646026" y="3571408"/>
            <a:ext cx="1141139" cy="186689"/>
          </a:xfrm>
          <a:prstGeom prst="rect">
            <a:avLst/>
          </a:prstGeom>
          <a:noFill/>
        </p:spPr>
        <p:txBody>
          <a:bodyPr wrap="none" lIns="0" rIns="0" tIns="0" bIns="0">
            <a:spAutoFit/>
          </a:bodyPr>
          <a:lstStyle/>
          <a:p>
            <a:r>
              <a:rPr sz="1100" b="1">
                <a:solidFill>
                  <a:srgbClr val="2E2E2E"/>
                </a:solidFill>
                <a:latin typeface="Calibri"/>
              </a:rPr>
              <a:t>HAL Allergy Group</a:t>
            </a:r>
          </a:p>
        </p:txBody>
      </p:sp>
      <p:pic>
        <p:nvPicPr>
          <p:cNvPr id="84" name="Picture 83" descr="lock.png"/>
          <p:cNvPicPr>
            <a:picLocks noChangeAspect="1"/>
          </p:cNvPicPr>
          <p:nvPr/>
        </p:nvPicPr>
        <p:blipFill>
          <a:blip r:embed="rId4"/>
          <a:stretch>
            <a:fillRect/>
          </a:stretch>
        </p:blipFill>
        <p:spPr>
          <a:xfrm>
            <a:off x="1735218" y="3561629"/>
            <a:ext cx="128699" cy="187198"/>
          </a:xfrm>
          <a:prstGeom prst="rect">
            <a:avLst/>
          </a:prstGeom>
        </p:spPr>
      </p:pic>
      <p:sp>
        <p:nvSpPr>
          <p:cNvPr id="85" name="TextBox 84"/>
          <p:cNvSpPr txBox="1"/>
          <p:nvPr/>
        </p:nvSpPr>
        <p:spPr>
          <a:xfrm>
            <a:off x="391894" y="4016228"/>
            <a:ext cx="1473100" cy="186689"/>
          </a:xfrm>
          <a:prstGeom prst="rect">
            <a:avLst/>
          </a:prstGeom>
          <a:noFill/>
        </p:spPr>
        <p:txBody>
          <a:bodyPr wrap="none" lIns="0" rIns="0" tIns="0" bIns="0">
            <a:spAutoFit/>
          </a:bodyPr>
          <a:lstStyle/>
          <a:p>
            <a:r>
              <a:rPr sz="1100" b="1">
                <a:solidFill>
                  <a:srgbClr val="2E2E2E"/>
                </a:solidFill>
                <a:latin typeface="Calibri"/>
              </a:rPr>
              <a:t>Jubilant HollisterStier LLC</a:t>
            </a:r>
          </a:p>
        </p:txBody>
      </p:sp>
      <p:pic>
        <p:nvPicPr>
          <p:cNvPr id="86" name="Picture 85" descr="lock.png"/>
          <p:cNvPicPr>
            <a:picLocks noChangeAspect="1"/>
          </p:cNvPicPr>
          <p:nvPr/>
        </p:nvPicPr>
        <p:blipFill>
          <a:blip r:embed="rId4"/>
          <a:stretch>
            <a:fillRect/>
          </a:stretch>
        </p:blipFill>
        <p:spPr>
          <a:xfrm>
            <a:off x="1735218" y="4174089"/>
            <a:ext cx="128699" cy="187198"/>
          </a:xfrm>
          <a:prstGeom prst="rect">
            <a:avLst/>
          </a:prstGeom>
        </p:spPr>
      </p:pic>
      <p:sp>
        <p:nvSpPr>
          <p:cNvPr id="87" name="TextBox 86"/>
          <p:cNvSpPr txBox="1"/>
          <p:nvPr/>
        </p:nvSpPr>
        <p:spPr>
          <a:xfrm>
            <a:off x="470996" y="4544868"/>
            <a:ext cx="1393998" cy="186689"/>
          </a:xfrm>
          <a:prstGeom prst="rect">
            <a:avLst/>
          </a:prstGeom>
          <a:noFill/>
        </p:spPr>
        <p:txBody>
          <a:bodyPr wrap="none" lIns="0" rIns="0" tIns="0" bIns="0">
            <a:spAutoFit/>
          </a:bodyPr>
          <a:lstStyle/>
          <a:p>
            <a:r>
              <a:rPr sz="1100" b="1">
                <a:solidFill>
                  <a:srgbClr val="2E2E2E"/>
                </a:solidFill>
                <a:latin typeface="Calibri"/>
              </a:rPr>
              <a:t>Allergopharma GmbH &amp;</a:t>
            </a:r>
          </a:p>
        </p:txBody>
      </p:sp>
      <p:sp>
        <p:nvSpPr>
          <p:cNvPr id="88" name="TextBox 87"/>
          <p:cNvSpPr txBox="1"/>
          <p:nvPr/>
        </p:nvSpPr>
        <p:spPr>
          <a:xfrm>
            <a:off x="1327695" y="4712508"/>
            <a:ext cx="459471" cy="186689"/>
          </a:xfrm>
          <a:prstGeom prst="rect">
            <a:avLst/>
          </a:prstGeom>
          <a:noFill/>
        </p:spPr>
        <p:txBody>
          <a:bodyPr wrap="none" lIns="0" rIns="0" tIns="0" bIns="0">
            <a:spAutoFit/>
          </a:bodyPr>
          <a:lstStyle/>
          <a:p>
            <a:r>
              <a:rPr sz="1100" b="1">
                <a:solidFill>
                  <a:srgbClr val="2E2E2E"/>
                </a:solidFill>
                <a:latin typeface="Calibri"/>
              </a:rPr>
              <a:t>Co. KG</a:t>
            </a:r>
          </a:p>
        </p:txBody>
      </p:sp>
      <p:pic>
        <p:nvPicPr>
          <p:cNvPr id="89" name="Picture 88" descr="lock.png"/>
          <p:cNvPicPr>
            <a:picLocks noChangeAspect="1"/>
          </p:cNvPicPr>
          <p:nvPr/>
        </p:nvPicPr>
        <p:blipFill>
          <a:blip r:embed="rId4"/>
          <a:stretch>
            <a:fillRect/>
          </a:stretch>
        </p:blipFill>
        <p:spPr>
          <a:xfrm>
            <a:off x="1735218" y="4702729"/>
            <a:ext cx="128699" cy="187198"/>
          </a:xfrm>
          <a:prstGeom prst="rect">
            <a:avLst/>
          </a:prstGeom>
        </p:spPr>
      </p:pic>
      <p:sp>
        <p:nvSpPr>
          <p:cNvPr id="90" name="TextBox 89"/>
          <p:cNvSpPr txBox="1"/>
          <p:nvPr/>
        </p:nvSpPr>
        <p:spPr>
          <a:xfrm>
            <a:off x="831881" y="5157324"/>
            <a:ext cx="955285" cy="186689"/>
          </a:xfrm>
          <a:prstGeom prst="rect">
            <a:avLst/>
          </a:prstGeom>
          <a:noFill/>
        </p:spPr>
        <p:txBody>
          <a:bodyPr wrap="none" lIns="0" rIns="0" tIns="0" bIns="0">
            <a:spAutoFit/>
          </a:bodyPr>
          <a:lstStyle/>
          <a:p>
            <a:r>
              <a:rPr sz="1100" b="1">
                <a:solidFill>
                  <a:srgbClr val="2E2E2E"/>
                </a:solidFill>
                <a:latin typeface="Calibri"/>
              </a:rPr>
              <a:t>ALK-Abelló A/S</a:t>
            </a:r>
          </a:p>
        </p:txBody>
      </p:sp>
      <p:pic>
        <p:nvPicPr>
          <p:cNvPr id="91" name="Picture 90" descr="lock.png"/>
          <p:cNvPicPr>
            <a:picLocks noChangeAspect="1"/>
          </p:cNvPicPr>
          <p:nvPr/>
        </p:nvPicPr>
        <p:blipFill>
          <a:blip r:embed="rId4"/>
          <a:stretch>
            <a:fillRect/>
          </a:stretch>
        </p:blipFill>
        <p:spPr>
          <a:xfrm>
            <a:off x="1735218" y="5147545"/>
            <a:ext cx="128699" cy="187198"/>
          </a:xfrm>
          <a:prstGeom prst="rect">
            <a:avLst/>
          </a:prstGeom>
        </p:spPr>
      </p:pic>
      <p:sp>
        <p:nvSpPr>
          <p:cNvPr id="92" name="TextBox 91"/>
          <p:cNvSpPr txBox="1"/>
          <p:nvPr/>
        </p:nvSpPr>
        <p:spPr>
          <a:xfrm>
            <a:off x="289550" y="5602140"/>
            <a:ext cx="1575444" cy="186689"/>
          </a:xfrm>
          <a:prstGeom prst="rect">
            <a:avLst/>
          </a:prstGeom>
          <a:noFill/>
        </p:spPr>
        <p:txBody>
          <a:bodyPr wrap="none" lIns="0" rIns="0" tIns="0" bIns="0">
            <a:spAutoFit/>
          </a:bodyPr>
          <a:lstStyle/>
          <a:p>
            <a:r>
              <a:rPr sz="1100" b="1">
                <a:solidFill>
                  <a:srgbClr val="2E2E2E"/>
                </a:solidFill>
                <a:latin typeface="Calibri"/>
              </a:rPr>
              <a:t>LETI Pharma / Laboratorios</a:t>
            </a:r>
          </a:p>
        </p:txBody>
      </p:sp>
      <p:sp>
        <p:nvSpPr>
          <p:cNvPr id="93" name="TextBox 92"/>
          <p:cNvSpPr txBox="1"/>
          <p:nvPr/>
        </p:nvSpPr>
        <p:spPr>
          <a:xfrm>
            <a:off x="1080679" y="5769780"/>
            <a:ext cx="706487" cy="186689"/>
          </a:xfrm>
          <a:prstGeom prst="rect">
            <a:avLst/>
          </a:prstGeom>
          <a:noFill/>
        </p:spPr>
        <p:txBody>
          <a:bodyPr wrap="none" lIns="0" rIns="0" tIns="0" bIns="0">
            <a:spAutoFit/>
          </a:bodyPr>
          <a:lstStyle/>
          <a:p>
            <a:r>
              <a:rPr sz="1100" b="1">
                <a:solidFill>
                  <a:srgbClr val="2E2E2E"/>
                </a:solidFill>
                <a:latin typeface="Calibri"/>
              </a:rPr>
              <a:t>LETI, S.L.U.</a:t>
            </a:r>
          </a:p>
        </p:txBody>
      </p:sp>
      <p:pic>
        <p:nvPicPr>
          <p:cNvPr id="94" name="Picture 93" descr="lock.png"/>
          <p:cNvPicPr>
            <a:picLocks noChangeAspect="1"/>
          </p:cNvPicPr>
          <p:nvPr/>
        </p:nvPicPr>
        <p:blipFill>
          <a:blip r:embed="rId4"/>
          <a:stretch>
            <a:fillRect/>
          </a:stretch>
        </p:blipFill>
        <p:spPr>
          <a:xfrm>
            <a:off x="1735218" y="5760001"/>
            <a:ext cx="128699" cy="187198"/>
          </a:xfrm>
          <a:prstGeom prst="rect">
            <a:avLst/>
          </a:prstGeom>
        </p:spPr>
      </p:pic>
      <p:sp>
        <p:nvSpPr>
          <p:cNvPr id="95" name="TextBox 94"/>
          <p:cNvSpPr txBox="1"/>
          <p:nvPr/>
        </p:nvSpPr>
        <p:spPr>
          <a:xfrm>
            <a:off x="476999" y="6130771"/>
            <a:ext cx="1387995" cy="186689"/>
          </a:xfrm>
          <a:prstGeom prst="rect">
            <a:avLst/>
          </a:prstGeom>
          <a:noFill/>
        </p:spPr>
        <p:txBody>
          <a:bodyPr wrap="none" lIns="0" rIns="0" tIns="0" bIns="0">
            <a:spAutoFit/>
          </a:bodyPr>
          <a:lstStyle/>
          <a:p>
            <a:r>
              <a:rPr sz="1100" b="1">
                <a:solidFill>
                  <a:srgbClr val="2E2E2E"/>
                </a:solidFill>
                <a:latin typeface="Calibri"/>
              </a:rPr>
              <a:t>Allergy Therapeutics plc</a:t>
            </a:r>
          </a:p>
        </p:txBody>
      </p:sp>
      <p:pic>
        <p:nvPicPr>
          <p:cNvPr id="96" name="Picture 95" descr="lock.png"/>
          <p:cNvPicPr>
            <a:picLocks noChangeAspect="1"/>
          </p:cNvPicPr>
          <p:nvPr/>
        </p:nvPicPr>
        <p:blipFill>
          <a:blip r:embed="rId4"/>
          <a:stretch>
            <a:fillRect/>
          </a:stretch>
        </p:blipFill>
        <p:spPr>
          <a:xfrm>
            <a:off x="1735218" y="6288632"/>
            <a:ext cx="128699" cy="187198"/>
          </a:xfrm>
          <a:prstGeom prst="rect">
            <a:avLst/>
          </a:prstGeom>
        </p:spPr>
      </p:pic>
      <p:sp>
        <p:nvSpPr>
          <p:cNvPr id="97" name="TextBox 96"/>
          <p:cNvSpPr txBox="1"/>
          <p:nvPr/>
        </p:nvSpPr>
        <p:spPr>
          <a:xfrm>
            <a:off x="5972175" y="2515760"/>
            <a:ext cx="680839" cy="186689"/>
          </a:xfrm>
          <a:prstGeom prst="rect">
            <a:avLst/>
          </a:prstGeom>
          <a:noFill/>
        </p:spPr>
        <p:txBody>
          <a:bodyPr wrap="none" lIns="0" rIns="0" tIns="0" bIns="0">
            <a:spAutoFit/>
          </a:bodyPr>
          <a:lstStyle/>
          <a:p>
            <a:r>
              <a:rPr sz="1100" b="1">
                <a:solidFill>
                  <a:srgbClr val="2E2E2E"/>
                </a:solidFill>
                <a:latin typeface="Calibri"/>
              </a:rPr>
              <a:t>Sublingual</a:t>
            </a:r>
          </a:p>
        </p:txBody>
      </p:sp>
      <p:sp>
        <p:nvSpPr>
          <p:cNvPr id="98" name="TextBox 97"/>
          <p:cNvSpPr txBox="1"/>
          <p:nvPr/>
        </p:nvSpPr>
        <p:spPr>
          <a:xfrm>
            <a:off x="5972175" y="2683400"/>
            <a:ext cx="1362075" cy="186689"/>
          </a:xfrm>
          <a:prstGeom prst="rect">
            <a:avLst/>
          </a:prstGeom>
          <a:noFill/>
        </p:spPr>
        <p:txBody>
          <a:bodyPr wrap="none" lIns="0" rIns="0" tIns="0" bIns="0">
            <a:spAutoFit/>
          </a:bodyPr>
          <a:lstStyle/>
          <a:p>
            <a:r>
              <a:rPr sz="1100" b="1">
                <a:solidFill>
                  <a:srgbClr val="2E2E2E"/>
                </a:solidFill>
                <a:latin typeface="Calibri"/>
              </a:rPr>
              <a:t>Immunotherapy (SLIT)</a:t>
            </a:r>
          </a:p>
        </p:txBody>
      </p:sp>
      <p:pic>
        <p:nvPicPr>
          <p:cNvPr id="99" name="Picture 98" descr="lock.png"/>
          <p:cNvPicPr>
            <a:picLocks noChangeAspect="1"/>
          </p:cNvPicPr>
          <p:nvPr/>
        </p:nvPicPr>
        <p:blipFill>
          <a:blip r:embed="rId4"/>
          <a:stretch>
            <a:fillRect/>
          </a:stretch>
        </p:blipFill>
        <p:spPr>
          <a:xfrm>
            <a:off x="5958707" y="2841261"/>
            <a:ext cx="128699" cy="187198"/>
          </a:xfrm>
          <a:prstGeom prst="rect">
            <a:avLst/>
          </a:prstGeom>
        </p:spPr>
      </p:pic>
      <p:sp>
        <p:nvSpPr>
          <p:cNvPr id="100" name="TextBox 99"/>
          <p:cNvSpPr txBox="1"/>
          <p:nvPr/>
        </p:nvSpPr>
        <p:spPr>
          <a:xfrm>
            <a:off x="5972175" y="4793818"/>
            <a:ext cx="894481" cy="186689"/>
          </a:xfrm>
          <a:prstGeom prst="rect">
            <a:avLst/>
          </a:prstGeom>
          <a:noFill/>
        </p:spPr>
        <p:txBody>
          <a:bodyPr wrap="none" lIns="0" rIns="0" tIns="0" bIns="0">
            <a:spAutoFit/>
          </a:bodyPr>
          <a:lstStyle/>
          <a:p>
            <a:r>
              <a:rPr sz="1100" b="1">
                <a:solidFill>
                  <a:srgbClr val="2E2E2E"/>
                </a:solidFill>
                <a:latin typeface="Calibri"/>
              </a:rPr>
              <a:t>Subcutaneous</a:t>
            </a:r>
          </a:p>
        </p:txBody>
      </p:sp>
      <p:sp>
        <p:nvSpPr>
          <p:cNvPr id="101" name="TextBox 100"/>
          <p:cNvSpPr txBox="1"/>
          <p:nvPr/>
        </p:nvSpPr>
        <p:spPr>
          <a:xfrm>
            <a:off x="5972175" y="4961458"/>
            <a:ext cx="1362075" cy="186689"/>
          </a:xfrm>
          <a:prstGeom prst="rect">
            <a:avLst/>
          </a:prstGeom>
          <a:noFill/>
        </p:spPr>
        <p:txBody>
          <a:bodyPr wrap="none" lIns="0" rIns="0" tIns="0" bIns="0">
            <a:spAutoFit/>
          </a:bodyPr>
          <a:lstStyle/>
          <a:p>
            <a:r>
              <a:rPr sz="1100" b="1">
                <a:solidFill>
                  <a:srgbClr val="2E2E2E"/>
                </a:solidFill>
                <a:latin typeface="Calibri"/>
              </a:rPr>
              <a:t>Immunotherapy (SCIT)</a:t>
            </a:r>
          </a:p>
        </p:txBody>
      </p:sp>
      <p:pic>
        <p:nvPicPr>
          <p:cNvPr id="102" name="Picture 101" descr="lock.png"/>
          <p:cNvPicPr>
            <a:picLocks noChangeAspect="1"/>
          </p:cNvPicPr>
          <p:nvPr/>
        </p:nvPicPr>
        <p:blipFill>
          <a:blip r:embed="rId4"/>
          <a:stretch>
            <a:fillRect/>
          </a:stretch>
        </p:blipFill>
        <p:spPr>
          <a:xfrm>
            <a:off x="5958707" y="5119319"/>
            <a:ext cx="128699" cy="187198"/>
          </a:xfrm>
          <a:prstGeom prst="rect">
            <a:avLst/>
          </a:prstGeom>
        </p:spPr>
      </p:pic>
      <p:sp>
        <p:nvSpPr>
          <p:cNvPr id="103" name="TextBox 102"/>
          <p:cNvSpPr txBox="1"/>
          <p:nvPr/>
        </p:nvSpPr>
        <p:spPr>
          <a:xfrm>
            <a:off x="5972175" y="6137245"/>
            <a:ext cx="1187338" cy="139750"/>
          </a:xfrm>
          <a:prstGeom prst="rect">
            <a:avLst/>
          </a:prstGeom>
          <a:noFill/>
        </p:spPr>
        <p:txBody>
          <a:bodyPr wrap="none" lIns="0" rIns="0" tIns="0" bIns="0">
            <a:spAutoFit/>
          </a:bodyPr>
          <a:lstStyle/>
          <a:p>
            <a:r>
              <a:rPr sz="791" b="1">
                <a:solidFill>
                  <a:srgbClr val="2E2E2E"/>
                </a:solidFill>
                <a:latin typeface="Calibri"/>
              </a:rPr>
              <a:t>Oral Immunotherapy (OIT)</a:t>
            </a:r>
          </a:p>
        </p:txBody>
      </p:sp>
      <p:pic>
        <p:nvPicPr>
          <p:cNvPr id="104" name="Picture 103" descr="lock.png"/>
          <p:cNvPicPr>
            <a:picLocks noChangeAspect="1"/>
          </p:cNvPicPr>
          <p:nvPr/>
        </p:nvPicPr>
        <p:blipFill>
          <a:blip r:embed="rId4"/>
          <a:stretch>
            <a:fillRect/>
          </a:stretch>
        </p:blipFill>
        <p:spPr>
          <a:xfrm>
            <a:off x="7100775" y="6130204"/>
            <a:ext cx="92663" cy="134782"/>
          </a:xfrm>
          <a:prstGeom prst="rect">
            <a:avLst/>
          </a:prstGeom>
        </p:spPr>
      </p:pic>
      <p:sp>
        <p:nvSpPr>
          <p:cNvPr id="105" name="TextBox 104"/>
          <p:cNvSpPr txBox="1"/>
          <p:nvPr/>
        </p:nvSpPr>
        <p:spPr>
          <a:xfrm>
            <a:off x="7715250" y="1400175"/>
            <a:ext cx="4135648" cy="194310"/>
          </a:xfrm>
          <a:prstGeom prst="rect">
            <a:avLst/>
          </a:prstGeom>
          <a:noFill/>
        </p:spPr>
        <p:txBody>
          <a:bodyPr wrap="none" lIns="0" rIns="0" tIns="0" bIns="0">
            <a:spAutoFit/>
          </a:bodyPr>
          <a:lstStyle/>
          <a:p>
            <a:r>
              <a:rPr sz="1150" b="0">
                <a:solidFill>
                  <a:srgbClr val="2E2E2E"/>
                </a:solidFill>
                <a:latin typeface="Calibri"/>
              </a:rPr>
              <a:t>Inmunotek S.L. segment is projected to account for the largest share</a:t>
            </a:r>
          </a:p>
        </p:txBody>
      </p:sp>
      <p:sp>
        <p:nvSpPr>
          <p:cNvPr id="106" name="TextBox 105"/>
          <p:cNvSpPr txBox="1"/>
          <p:nvPr/>
        </p:nvSpPr>
        <p:spPr>
          <a:xfrm>
            <a:off x="7715250" y="1575435"/>
            <a:ext cx="3643300" cy="194310"/>
          </a:xfrm>
          <a:prstGeom prst="rect">
            <a:avLst/>
          </a:prstGeom>
          <a:noFill/>
        </p:spPr>
        <p:txBody>
          <a:bodyPr wrap="none" lIns="0" rIns="0" tIns="0" bIns="0">
            <a:spAutoFit/>
          </a:bodyPr>
          <a:lstStyle/>
          <a:p>
            <a:r>
              <a:rPr sz="1150" b="0">
                <a:solidFill>
                  <a:srgbClr val="2E2E2E"/>
                </a:solidFill>
                <a:latin typeface="Calibri"/>
              </a:rPr>
              <a:t>of the U.S. allergy immunotherapy market, led by sublingual</a:t>
            </a:r>
          </a:p>
        </p:txBody>
      </p:sp>
      <p:sp>
        <p:nvSpPr>
          <p:cNvPr id="107" name="TextBox 106"/>
          <p:cNvSpPr txBox="1"/>
          <p:nvPr/>
        </p:nvSpPr>
        <p:spPr>
          <a:xfrm>
            <a:off x="7715250" y="1750695"/>
            <a:ext cx="1814252" cy="194310"/>
          </a:xfrm>
          <a:prstGeom prst="rect">
            <a:avLst/>
          </a:prstGeom>
          <a:noFill/>
        </p:spPr>
        <p:txBody>
          <a:bodyPr wrap="none" lIns="0" rIns="0" tIns="0" bIns="0">
            <a:spAutoFit/>
          </a:bodyPr>
          <a:lstStyle/>
          <a:p>
            <a:r>
              <a:rPr sz="1150" b="0">
                <a:solidFill>
                  <a:srgbClr val="2E2E2E"/>
                </a:solidFill>
                <a:latin typeface="Calibri"/>
              </a:rPr>
              <a:t>immunotherapy (SLIT) at US$</a:t>
            </a:r>
          </a:p>
        </p:txBody>
      </p:sp>
      <p:pic>
        <p:nvPicPr>
          <p:cNvPr id="108" name="Picture 107" descr="lock.png"/>
          <p:cNvPicPr>
            <a:picLocks noChangeAspect="1"/>
          </p:cNvPicPr>
          <p:nvPr/>
        </p:nvPicPr>
        <p:blipFill>
          <a:blip r:embed="rId4"/>
          <a:stretch>
            <a:fillRect/>
          </a:stretch>
        </p:blipFill>
        <p:spPr>
          <a:xfrm>
            <a:off x="9478655" y="1740471"/>
            <a:ext cx="134549" cy="195707"/>
          </a:xfrm>
          <a:prstGeom prst="rect">
            <a:avLst/>
          </a:prstGeom>
        </p:spPr>
      </p:pic>
      <p:sp>
        <p:nvSpPr>
          <p:cNvPr id="109" name="TextBox 108"/>
          <p:cNvSpPr txBox="1"/>
          <p:nvPr/>
        </p:nvSpPr>
        <p:spPr>
          <a:xfrm>
            <a:off x="9653765" y="1750695"/>
            <a:ext cx="2145146" cy="194310"/>
          </a:xfrm>
          <a:prstGeom prst="rect">
            <a:avLst/>
          </a:prstGeom>
          <a:noFill/>
        </p:spPr>
        <p:txBody>
          <a:bodyPr wrap="none" lIns="0" rIns="0" tIns="0" bIns="0">
            <a:spAutoFit/>
          </a:bodyPr>
          <a:lstStyle/>
          <a:p>
            <a:r>
              <a:rPr sz="1150" b="0">
                <a:solidFill>
                  <a:srgbClr val="2E2E2E"/>
                </a:solidFill>
                <a:latin typeface="Calibri"/>
              </a:rPr>
              <a:t>Mn in 2036. 'Allergopharma GmbH</a:t>
            </a:r>
          </a:p>
        </p:txBody>
      </p:sp>
      <p:sp>
        <p:nvSpPr>
          <p:cNvPr id="110" name="TextBox 109"/>
          <p:cNvSpPr txBox="1"/>
          <p:nvPr/>
        </p:nvSpPr>
        <p:spPr>
          <a:xfrm>
            <a:off x="7715250" y="1925955"/>
            <a:ext cx="3906785" cy="194310"/>
          </a:xfrm>
          <a:prstGeom prst="rect">
            <a:avLst/>
          </a:prstGeom>
          <a:noFill/>
        </p:spPr>
        <p:txBody>
          <a:bodyPr wrap="none" lIns="0" rIns="0" tIns="0" bIns="0">
            <a:spAutoFit/>
          </a:bodyPr>
          <a:lstStyle/>
          <a:p>
            <a:r>
              <a:rPr sz="1150" b="0">
                <a:solidFill>
                  <a:srgbClr val="2E2E2E"/>
                </a:solidFill>
                <a:latin typeface="Calibri"/>
              </a:rPr>
              <a:t>&amp; Co. KG × Sublingual Immunotherapy (SLIT)' is the single largest</a:t>
            </a:r>
          </a:p>
        </p:txBody>
      </p:sp>
      <p:sp>
        <p:nvSpPr>
          <p:cNvPr id="111" name="TextBox 110"/>
          <p:cNvSpPr txBox="1"/>
          <p:nvPr/>
        </p:nvSpPr>
        <p:spPr>
          <a:xfrm>
            <a:off x="7715250" y="2101215"/>
            <a:ext cx="1269131" cy="194310"/>
          </a:xfrm>
          <a:prstGeom prst="rect">
            <a:avLst/>
          </a:prstGeom>
          <a:noFill/>
        </p:spPr>
        <p:txBody>
          <a:bodyPr wrap="none" lIns="0" rIns="0" tIns="0" bIns="0">
            <a:spAutoFit/>
          </a:bodyPr>
          <a:lstStyle/>
          <a:p>
            <a:r>
              <a:rPr sz="1150" b="0">
                <a:solidFill>
                  <a:srgbClr val="2E2E2E"/>
                </a:solidFill>
                <a:latin typeface="Calibri"/>
              </a:rPr>
              <a:t>cross-sectional cell (</a:t>
            </a:r>
          </a:p>
        </p:txBody>
      </p:sp>
      <p:pic>
        <p:nvPicPr>
          <p:cNvPr id="112" name="Picture 111" descr="lock.png"/>
          <p:cNvPicPr>
            <a:picLocks noChangeAspect="1"/>
          </p:cNvPicPr>
          <p:nvPr/>
        </p:nvPicPr>
        <p:blipFill>
          <a:blip r:embed="rId4"/>
          <a:stretch>
            <a:fillRect/>
          </a:stretch>
        </p:blipFill>
        <p:spPr>
          <a:xfrm>
            <a:off x="8933535" y="2090991"/>
            <a:ext cx="134549" cy="195707"/>
          </a:xfrm>
          <a:prstGeom prst="rect">
            <a:avLst/>
          </a:prstGeom>
        </p:spPr>
      </p:pic>
      <p:sp>
        <p:nvSpPr>
          <p:cNvPr id="113" name="TextBox 112"/>
          <p:cNvSpPr txBox="1"/>
          <p:nvPr/>
        </p:nvSpPr>
        <p:spPr>
          <a:xfrm>
            <a:off x="9108645" y="2101215"/>
            <a:ext cx="2676859" cy="194310"/>
          </a:xfrm>
          <a:prstGeom prst="rect">
            <a:avLst/>
          </a:prstGeom>
          <a:noFill/>
        </p:spPr>
        <p:txBody>
          <a:bodyPr wrap="none" lIns="0" rIns="0" tIns="0" bIns="0">
            <a:spAutoFit/>
          </a:bodyPr>
          <a:lstStyle/>
          <a:p>
            <a:r>
              <a:rPr sz="1150" b="0">
                <a:solidFill>
                  <a:srgbClr val="2E2E2E"/>
                </a:solidFill>
                <a:latin typeface="Calibri"/>
              </a:rPr>
              <a:t>US$ Mn, 2026E), while 'HAL Allergy Group ×</a:t>
            </a:r>
          </a:p>
        </p:txBody>
      </p:sp>
      <p:sp>
        <p:nvSpPr>
          <p:cNvPr id="114" name="TextBox 113"/>
          <p:cNvSpPr txBox="1"/>
          <p:nvPr/>
        </p:nvSpPr>
        <p:spPr>
          <a:xfrm>
            <a:off x="7715250" y="2276475"/>
            <a:ext cx="3935970" cy="194310"/>
          </a:xfrm>
          <a:prstGeom prst="rect">
            <a:avLst/>
          </a:prstGeom>
          <a:noFill/>
        </p:spPr>
        <p:txBody>
          <a:bodyPr wrap="none" lIns="0" rIns="0" tIns="0" bIns="0">
            <a:spAutoFit/>
          </a:bodyPr>
          <a:lstStyle/>
          <a:p>
            <a:r>
              <a:rPr sz="1150" b="0">
                <a:solidFill>
                  <a:srgbClr val="2E2E2E"/>
                </a:solidFill>
                <a:latin typeface="Calibri"/>
              </a:rPr>
              <a:t>Sublingual Immunotherapy (SLIT)' records the fastest growth at a</a:t>
            </a:r>
          </a:p>
        </p:txBody>
      </p:sp>
      <p:sp>
        <p:nvSpPr>
          <p:cNvPr id="115" name="TextBox 114"/>
          <p:cNvSpPr txBox="1"/>
          <p:nvPr/>
        </p:nvSpPr>
        <p:spPr>
          <a:xfrm>
            <a:off x="7715250" y="245173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116" name="Picture 115" descr="lock.png"/>
          <p:cNvPicPr>
            <a:picLocks noChangeAspect="1"/>
          </p:cNvPicPr>
          <p:nvPr/>
        </p:nvPicPr>
        <p:blipFill>
          <a:blip r:embed="rId4"/>
          <a:stretch>
            <a:fillRect/>
          </a:stretch>
        </p:blipFill>
        <p:spPr>
          <a:xfrm>
            <a:off x="8228940" y="2441511"/>
            <a:ext cx="134549" cy="195707"/>
          </a:xfrm>
          <a:prstGeom prst="rect">
            <a:avLst/>
          </a:prstGeom>
        </p:spPr>
      </p:pic>
      <p:sp>
        <p:nvSpPr>
          <p:cNvPr id="117" name="TextBox 116"/>
          <p:cNvSpPr txBox="1"/>
          <p:nvPr/>
        </p:nvSpPr>
        <p:spPr>
          <a:xfrm>
            <a:off x="8404050" y="245173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18" name="TextBox 117"/>
          <p:cNvSpPr txBox="1"/>
          <p:nvPr/>
        </p:nvSpPr>
        <p:spPr>
          <a:xfrm>
            <a:off x="7715250" y="2679573"/>
            <a:ext cx="4171950" cy="194310"/>
          </a:xfrm>
          <a:prstGeom prst="rect">
            <a:avLst/>
          </a:prstGeom>
          <a:noFill/>
        </p:spPr>
        <p:txBody>
          <a:bodyPr wrap="none" lIns="0" rIns="0" tIns="0" bIns="0">
            <a:spAutoFit/>
          </a:bodyPr>
          <a:lstStyle/>
          <a:p>
            <a:r>
              <a:rPr sz="1150" b="0">
                <a:solidFill>
                  <a:srgbClr val="2E2E2E"/>
                </a:solidFill>
                <a:latin typeface="Calibri"/>
              </a:rPr>
              <a:t>Combined, the top three company × therapy format cells generate an</a:t>
            </a:r>
          </a:p>
        </p:txBody>
      </p:sp>
      <p:sp>
        <p:nvSpPr>
          <p:cNvPr id="119" name="TextBox 118"/>
          <p:cNvSpPr txBox="1"/>
          <p:nvPr/>
        </p:nvSpPr>
        <p:spPr>
          <a:xfrm>
            <a:off x="7715250" y="2854832"/>
            <a:ext cx="1594036" cy="194310"/>
          </a:xfrm>
          <a:prstGeom prst="rect">
            <a:avLst/>
          </a:prstGeom>
          <a:noFill/>
        </p:spPr>
        <p:txBody>
          <a:bodyPr wrap="none" lIns="0" rIns="0" tIns="0" bIns="0">
            <a:spAutoFit/>
          </a:bodyPr>
          <a:lstStyle/>
          <a:p>
            <a:r>
              <a:rPr sz="1150" b="0">
                <a:solidFill>
                  <a:srgbClr val="2E2E2E"/>
                </a:solidFill>
                <a:latin typeface="Calibri"/>
              </a:rPr>
              <a:t>absolute $ opportunity of</a:t>
            </a:r>
          </a:p>
        </p:txBody>
      </p:sp>
      <p:pic>
        <p:nvPicPr>
          <p:cNvPr id="120" name="Picture 119" descr="lock.png"/>
          <p:cNvPicPr>
            <a:picLocks noChangeAspect="1"/>
          </p:cNvPicPr>
          <p:nvPr/>
        </p:nvPicPr>
        <p:blipFill>
          <a:blip r:embed="rId4"/>
          <a:stretch>
            <a:fillRect/>
          </a:stretch>
        </p:blipFill>
        <p:spPr>
          <a:xfrm>
            <a:off x="9258439" y="2844609"/>
            <a:ext cx="134549" cy="195707"/>
          </a:xfrm>
          <a:prstGeom prst="rect">
            <a:avLst/>
          </a:prstGeom>
        </p:spPr>
      </p:pic>
      <p:sp>
        <p:nvSpPr>
          <p:cNvPr id="121" name="TextBox 120"/>
          <p:cNvSpPr txBox="1"/>
          <p:nvPr/>
        </p:nvSpPr>
        <p:spPr>
          <a:xfrm>
            <a:off x="9433549" y="285483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Share Analysis: Company × Therapy Format, 2026E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U.S. market value, each row split across all therapy format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Share, Company × Therapy Format, 2026E (% of each row)</a:t>
            </a:r>
          </a:p>
        </p:txBody>
      </p:sp>
      <p:graphicFrame>
        <p:nvGraphicFramePr>
          <p:cNvPr id="13" name="Table 12"/>
          <p:cNvGraphicFramePr>
            <a:graphicFrameLocks noGrp="1"/>
          </p:cNvGraphicFramePr>
          <p:nvPr/>
        </p:nvGraphicFramePr>
        <p:xfrm>
          <a:off x="152400" y="1238250"/>
          <a:ext cx="11887200" cy="3200406"/>
        </p:xfrm>
        <a:graphic>
          <a:graphicData uri="http://schemas.openxmlformats.org/drawingml/2006/table">
            <a:tbl>
              <a:tblPr>
                <a:tableStyleId>{5C22544A-7EE6-4342-B048-85BDC9FD1C3A}</a:tableStyleId>
              </a:tblPr>
              <a:tblGrid>
                <a:gridCol w="3420330"/>
                <a:gridCol w="2785984"/>
                <a:gridCol w="1149858"/>
                <a:gridCol w="1323177"/>
                <a:gridCol w="2439293"/>
                <a:gridCol w="768558"/>
              </a:tblGrid>
              <a:tr h="246126">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Subcutaneous Immunotherapy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Sublingual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Oral Immunotherapy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190">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Subcutaneous Immunotherapy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SLIT Tablets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SLIT Solutions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Food Allergen Oral Powder</a:t>
                      </a:r>
                      <a:endParaRPr sz="1100"/>
                    </a:p>
                  </a:txBody>
                  <a:tcPr marL="47625" marR="38100" marT="19050" marB="19050" anchor="ctr">
                    <a:solidFill>
                      <a:srgbClr val="E0E8EF"/>
                    </a:solidFill>
                  </a:tcPr>
                </a:tc>
                <a:tc>
                  <a:txBody>
                    <a:bodyPr wrap="none"/>
                    <a:lstStyle/>
                    <a:p>
                      <a:pPr algn="ct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619474" y="2817911"/>
            <a:ext cx="366712" cy="533400"/>
          </a:xfrm>
          <a:prstGeom prst="rect">
            <a:avLst/>
          </a:prstGeom>
        </p:spPr>
      </p:pic>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Share Analysis: Company × Therapy Format, 2026E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U.S. market value, each row split across all therapy format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Therapy Format Mix by Company, 2026E (% share)</a:t>
            </a:r>
          </a:p>
        </p:txBody>
      </p:sp>
      <p:graphicFrame>
        <p:nvGraphicFramePr>
          <p:cNvPr id="12" name="Chart 11"/>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5" name="Rectangle 14"/>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816628" y="2804566"/>
            <a:ext cx="230207" cy="334847"/>
          </a:xfrm>
          <a:prstGeom prst="rect">
            <a:avLst/>
          </a:prstGeom>
        </p:spPr>
      </p:pic>
      <p:sp>
        <p:nvSpPr>
          <p:cNvPr id="19" name="TextBox 18"/>
          <p:cNvSpPr txBox="1"/>
          <p:nvPr/>
        </p:nvSpPr>
        <p:spPr>
          <a:xfrm>
            <a:off x="7715250" y="1400175"/>
            <a:ext cx="4003290" cy="194310"/>
          </a:xfrm>
          <a:prstGeom prst="rect">
            <a:avLst/>
          </a:prstGeom>
          <a:noFill/>
        </p:spPr>
        <p:txBody>
          <a:bodyPr wrap="none" lIns="0" rIns="0" tIns="0" bIns="0">
            <a:spAutoFit/>
          </a:bodyPr>
          <a:lstStyle/>
          <a:p>
            <a:r>
              <a:rPr sz="1150" b="0">
                <a:solidFill>
                  <a:srgbClr val="2E2E2E"/>
                </a:solidFill>
                <a:latin typeface="Calibri"/>
              </a:rPr>
              <a:t>▪ 'Subcutaneous Immunotherapy (SCIT)' holds the highest share of</a:t>
            </a:r>
          </a:p>
        </p:txBody>
      </p:sp>
      <p:sp>
        <p:nvSpPr>
          <p:cNvPr id="20" name="TextBox 19"/>
          <p:cNvSpPr txBox="1"/>
          <p:nvPr/>
        </p:nvSpPr>
        <p:spPr>
          <a:xfrm>
            <a:off x="7715250" y="1575435"/>
            <a:ext cx="1711275" cy="194310"/>
          </a:xfrm>
          <a:prstGeom prst="rect">
            <a:avLst/>
          </a:prstGeom>
          <a:noFill/>
        </p:spPr>
        <p:txBody>
          <a:bodyPr wrap="none" lIns="0" rIns="0" tIns="0" bIns="0">
            <a:spAutoFit/>
          </a:bodyPr>
          <a:lstStyle/>
          <a:p>
            <a:r>
              <a:rPr sz="1150" b="0">
                <a:solidFill>
                  <a:srgbClr val="2E2E2E"/>
                </a:solidFill>
                <a:latin typeface="Calibri"/>
              </a:rPr>
              <a:t>'Allergy Therapeutics plc' at</a:t>
            </a:r>
          </a:p>
        </p:txBody>
      </p:sp>
      <p:pic>
        <p:nvPicPr>
          <p:cNvPr id="21" name="Picture 20" descr="lock.png"/>
          <p:cNvPicPr>
            <a:picLocks noChangeAspect="1"/>
          </p:cNvPicPr>
          <p:nvPr/>
        </p:nvPicPr>
        <p:blipFill>
          <a:blip r:embed="rId5"/>
          <a:stretch>
            <a:fillRect/>
          </a:stretch>
        </p:blipFill>
        <p:spPr>
          <a:xfrm>
            <a:off x="9375679" y="1565211"/>
            <a:ext cx="134549" cy="195707"/>
          </a:xfrm>
          <a:prstGeom prst="rect">
            <a:avLst/>
          </a:prstGeom>
        </p:spPr>
      </p:pic>
      <p:sp>
        <p:nvSpPr>
          <p:cNvPr id="22" name="TextBox 21"/>
          <p:cNvSpPr txBox="1"/>
          <p:nvPr/>
        </p:nvSpPr>
        <p:spPr>
          <a:xfrm>
            <a:off x="9550788"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3" name="TextBox 22"/>
          <p:cNvSpPr txBox="1"/>
          <p:nvPr/>
        </p:nvSpPr>
        <p:spPr>
          <a:xfrm>
            <a:off x="7715250" y="1803273"/>
            <a:ext cx="3739145" cy="194310"/>
          </a:xfrm>
          <a:prstGeom prst="rect">
            <a:avLst/>
          </a:prstGeom>
          <a:noFill/>
        </p:spPr>
        <p:txBody>
          <a:bodyPr wrap="none" lIns="0" rIns="0" tIns="0" bIns="0">
            <a:spAutoFit/>
          </a:bodyPr>
          <a:lstStyle/>
          <a:p>
            <a:r>
              <a:rPr sz="1150" b="0">
                <a:solidFill>
                  <a:srgbClr val="2E2E2E"/>
                </a:solidFill>
                <a:latin typeface="Calibri"/>
              </a:rPr>
              <a:t>▪ 'Allergy Therapeutics plc' is the most concentrated company</a:t>
            </a:r>
          </a:p>
        </p:txBody>
      </p:sp>
      <p:sp>
        <p:nvSpPr>
          <p:cNvPr id="24" name="TextBox 23"/>
          <p:cNvSpPr txBox="1"/>
          <p:nvPr/>
        </p:nvSpPr>
        <p:spPr>
          <a:xfrm>
            <a:off x="7715250" y="1978533"/>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5" name="Picture 24" descr="lock.png"/>
          <p:cNvPicPr>
            <a:picLocks noChangeAspect="1"/>
          </p:cNvPicPr>
          <p:nvPr/>
        </p:nvPicPr>
        <p:blipFill>
          <a:blip r:embed="rId5"/>
          <a:stretch>
            <a:fillRect/>
          </a:stretch>
        </p:blipFill>
        <p:spPr>
          <a:xfrm>
            <a:off x="8843110" y="1968309"/>
            <a:ext cx="134549" cy="195707"/>
          </a:xfrm>
          <a:prstGeom prst="rect">
            <a:avLst/>
          </a:prstGeom>
        </p:spPr>
      </p:pic>
      <p:sp>
        <p:nvSpPr>
          <p:cNvPr id="26" name="TextBox 25"/>
          <p:cNvSpPr txBox="1"/>
          <p:nvPr/>
        </p:nvSpPr>
        <p:spPr>
          <a:xfrm>
            <a:off x="9018219" y="1978533"/>
            <a:ext cx="2824906" cy="194310"/>
          </a:xfrm>
          <a:prstGeom prst="rect">
            <a:avLst/>
          </a:prstGeom>
          <a:noFill/>
        </p:spPr>
        <p:txBody>
          <a:bodyPr wrap="none" lIns="0" rIns="0" tIns="0" bIns="0">
            <a:spAutoFit/>
          </a:bodyPr>
          <a:lstStyle/>
          <a:p>
            <a:r>
              <a:rPr sz="1150" b="0">
                <a:solidFill>
                  <a:srgbClr val="2E2E2E"/>
                </a:solidFill>
                <a:latin typeface="Calibri"/>
              </a:rPr>
              <a:t>of its value via 'Subcutaneous Immunotherapy</a:t>
            </a:r>
          </a:p>
        </p:txBody>
      </p:sp>
      <p:sp>
        <p:nvSpPr>
          <p:cNvPr id="27" name="TextBox 26"/>
          <p:cNvSpPr txBox="1"/>
          <p:nvPr/>
        </p:nvSpPr>
        <p:spPr>
          <a:xfrm>
            <a:off x="7715250" y="2153793"/>
            <a:ext cx="486680" cy="194310"/>
          </a:xfrm>
          <a:prstGeom prst="rect">
            <a:avLst/>
          </a:prstGeom>
          <a:noFill/>
        </p:spPr>
        <p:txBody>
          <a:bodyPr wrap="none" lIns="0" rIns="0" tIns="0" bIns="0">
            <a:spAutoFit/>
          </a:bodyPr>
          <a:lstStyle/>
          <a:p>
            <a:r>
              <a:rPr sz="1150" b="0">
                <a:solidFill>
                  <a:srgbClr val="2E2E2E"/>
                </a:solidFill>
                <a:latin typeface="Calibri"/>
              </a:rPr>
              <a:t>(SCIT)'.</a:t>
            </a:r>
          </a:p>
        </p:txBody>
      </p:sp>
      <p:sp>
        <p:nvSpPr>
          <p:cNvPr id="28" name="TextBox 27"/>
          <p:cNvSpPr txBox="1"/>
          <p:nvPr/>
        </p:nvSpPr>
        <p:spPr>
          <a:xfrm>
            <a:off x="7715250" y="2381631"/>
            <a:ext cx="1487921" cy="194310"/>
          </a:xfrm>
          <a:prstGeom prst="rect">
            <a:avLst/>
          </a:prstGeom>
          <a:noFill/>
        </p:spPr>
        <p:txBody>
          <a:bodyPr wrap="none" lIns="0" rIns="0" tIns="0" bIns="0">
            <a:spAutoFit/>
          </a:bodyPr>
          <a:lstStyle/>
          <a:p>
            <a:r>
              <a:rPr sz="1150" b="0">
                <a:solidFill>
                  <a:srgbClr val="2E2E2E"/>
                </a:solidFill>
                <a:latin typeface="Calibri"/>
              </a:rPr>
              <a:t>▪ 'SLIT Solutions' gains +</a:t>
            </a:r>
          </a:p>
        </p:txBody>
      </p:sp>
      <p:pic>
        <p:nvPicPr>
          <p:cNvPr id="29" name="Picture 28" descr="lock.png"/>
          <p:cNvPicPr>
            <a:picLocks noChangeAspect="1"/>
          </p:cNvPicPr>
          <p:nvPr/>
        </p:nvPicPr>
        <p:blipFill>
          <a:blip r:embed="rId5"/>
          <a:stretch>
            <a:fillRect/>
          </a:stretch>
        </p:blipFill>
        <p:spPr>
          <a:xfrm>
            <a:off x="9152325" y="2371407"/>
            <a:ext cx="134549" cy="195707"/>
          </a:xfrm>
          <a:prstGeom prst="rect">
            <a:avLst/>
          </a:prstGeom>
        </p:spPr>
      </p:pic>
      <p:sp>
        <p:nvSpPr>
          <p:cNvPr id="30" name="TextBox 29"/>
          <p:cNvSpPr txBox="1"/>
          <p:nvPr/>
        </p:nvSpPr>
        <p:spPr>
          <a:xfrm>
            <a:off x="9327434" y="2381631"/>
            <a:ext cx="2453506" cy="194310"/>
          </a:xfrm>
          <a:prstGeom prst="rect">
            <a:avLst/>
          </a:prstGeom>
          <a:noFill/>
        </p:spPr>
        <p:txBody>
          <a:bodyPr wrap="none" lIns="0" rIns="0" tIns="0" bIns="0">
            <a:spAutoFit/>
          </a:bodyPr>
          <a:lstStyle/>
          <a:p>
            <a:r>
              <a:rPr sz="1150" b="0">
                <a:solidFill>
                  <a:srgbClr val="2E2E2E"/>
                </a:solidFill>
                <a:latin typeface="Calibri"/>
              </a:rPr>
              <a:t>BPS of share of the U.S. cross-section by</a:t>
            </a:r>
          </a:p>
        </p:txBody>
      </p:sp>
      <p:sp>
        <p:nvSpPr>
          <p:cNvPr id="31" name="TextBox 30"/>
          <p:cNvSpPr txBox="1"/>
          <p:nvPr/>
        </p:nvSpPr>
        <p:spPr>
          <a:xfrm>
            <a:off x="7715250" y="2556891"/>
            <a:ext cx="476482" cy="194310"/>
          </a:xfrm>
          <a:prstGeom prst="rect">
            <a:avLst/>
          </a:prstGeom>
          <a:noFill/>
        </p:spPr>
        <p:txBody>
          <a:bodyPr wrap="none" lIns="0" rIns="0" tIns="0" bIns="0">
            <a:spAutoFit/>
          </a:bodyPr>
          <a:lstStyle/>
          <a:p>
            <a:r>
              <a:rPr sz="1150" b="0">
                <a:solidFill>
                  <a:srgbClr val="2E2E2E"/>
                </a:solidFill>
                <a:latin typeface="Calibri"/>
              </a:rPr>
              <a:t>2036F.</a:t>
            </a:r>
          </a:p>
        </p:txBody>
      </p:sp>
      <p:sp>
        <p:nvSpPr>
          <p:cNvPr id="32" name="lockshield_12"/>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Absolute $ Opportunity &amp; Attractiveness: Company × Therapy Format, 2026E–2036F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Company × Therapy Format, 2026E–2036F</a:t>
            </a:r>
          </a:p>
        </p:txBody>
      </p:sp>
      <p:graphicFrame>
        <p:nvGraphicFramePr>
          <p:cNvPr id="13" name="Table 12"/>
          <p:cNvGraphicFramePr>
            <a:graphicFrameLocks noGrp="1"/>
          </p:cNvGraphicFramePr>
          <p:nvPr/>
        </p:nvGraphicFramePr>
        <p:xfrm>
          <a:off x="152400" y="1238250"/>
          <a:ext cx="11887197" cy="3400428"/>
        </p:xfrm>
        <a:graphic>
          <a:graphicData uri="http://schemas.openxmlformats.org/drawingml/2006/table">
            <a:tbl>
              <a:tblPr>
                <a:tableStyleId>{5C22544A-7EE6-4342-B048-85BDC9FD1C3A}</a:tableStyleId>
              </a:tblPr>
              <a:tblGrid>
                <a:gridCol w="4072021"/>
                <a:gridCol w="976897"/>
                <a:gridCol w="976897"/>
                <a:gridCol w="976897"/>
                <a:gridCol w="976897"/>
                <a:gridCol w="976897"/>
                <a:gridCol w="976897"/>
                <a:gridCol w="976897"/>
                <a:gridCol w="976897"/>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Subcutaneous</a:t>
                      </a:r>
                      <a:endParaRPr sz="1100"/>
                    </a:p>
                    <a:p>
                      <a:pPr algn="ctr"/>
                      <a:r>
                        <a:rPr sz="1100" b="1">
                          <a:solidFill>
                            <a:srgbClr val="0B2E4A"/>
                          </a:solidFill>
                          <a:latin typeface="Calibri"/>
                        </a:rPr>
                        <a:t>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Sublingual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Oral Immunotherapy</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93">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93">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648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945318" y="3014616"/>
            <a:ext cx="366712" cy="533400"/>
          </a:xfrm>
          <a:prstGeom prst="rect">
            <a:avLst/>
          </a:prstGeom>
        </p:spPr>
      </p:pic>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Absolute $ Opportunity &amp; Attractiveness: Company × Therapy Format, 2026E–2036F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5600700" cy="5648325"/>
          </a:xfrm>
          <a:prstGeom prst="roundRect">
            <a:avLst>
              <a:gd name="adj" fmla="val 13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2" name="Rectangle 11"/>
          <p:cNvSpPr/>
          <p:nvPr/>
        </p:nvSpPr>
        <p:spPr>
          <a:xfrm>
            <a:off x="276225" y="13049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334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58959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293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16" name="Rectangle 15"/>
          <p:cNvSpPr/>
          <p:nvPr/>
        </p:nvSpPr>
        <p:spPr>
          <a:xfrm>
            <a:off x="60293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9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79914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48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0" name="Rectangle 19"/>
          <p:cNvSpPr/>
          <p:nvPr/>
        </p:nvSpPr>
        <p:spPr>
          <a:xfrm>
            <a:off x="81248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48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100869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203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4" name="Rectangle 23"/>
          <p:cNvSpPr/>
          <p:nvPr/>
        </p:nvSpPr>
        <p:spPr>
          <a:xfrm>
            <a:off x="102203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20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'HAL Allergy Group × Sublingual Immunotherapy' ranks highest (5/5); 'ALK-Abelló A/S × Oral Immunotherapy' lowest (1/5), a deprioritised cell.</a:t>
            </a: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7" name="TextBox 26"/>
          <p:cNvSpPr txBox="1"/>
          <p:nvPr/>
        </p:nvSpPr>
        <p:spPr>
          <a:xfrm>
            <a:off x="276225" y="1400175"/>
            <a:ext cx="4009762" cy="194310"/>
          </a:xfrm>
          <a:prstGeom prst="rect">
            <a:avLst/>
          </a:prstGeom>
          <a:noFill/>
        </p:spPr>
        <p:txBody>
          <a:bodyPr wrap="none" lIns="0" rIns="0" tIns="0" bIns="0">
            <a:spAutoFit/>
          </a:bodyPr>
          <a:lstStyle/>
          <a:p>
            <a:r>
              <a:rPr sz="1150" b="0">
                <a:solidFill>
                  <a:srgbClr val="2E2E2E"/>
                </a:solidFill>
                <a:latin typeface="Calibri"/>
              </a:rPr>
              <a:t>▪ 1. Allergopharma GmbH &amp; Co. KG × Sublingual Immunotherapy –</a:t>
            </a:r>
          </a:p>
        </p:txBody>
      </p:sp>
      <p:pic>
        <p:nvPicPr>
          <p:cNvPr id="28" name="Picture 27" descr="lock.png"/>
          <p:cNvPicPr>
            <a:picLocks noChangeAspect="1"/>
          </p:cNvPicPr>
          <p:nvPr/>
        </p:nvPicPr>
        <p:blipFill>
          <a:blip r:embed="rId4"/>
          <a:stretch>
            <a:fillRect/>
          </a:stretch>
        </p:blipFill>
        <p:spPr>
          <a:xfrm>
            <a:off x="4235141" y="1389951"/>
            <a:ext cx="134549" cy="195707"/>
          </a:xfrm>
          <a:prstGeom prst="rect">
            <a:avLst/>
          </a:prstGeom>
        </p:spPr>
      </p:pic>
      <p:sp>
        <p:nvSpPr>
          <p:cNvPr id="29" name="TextBox 28"/>
          <p:cNvSpPr txBox="1"/>
          <p:nvPr/>
        </p:nvSpPr>
        <p:spPr>
          <a:xfrm>
            <a:off x="4410250" y="14001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0" name="Picture 29" descr="lock.png"/>
          <p:cNvPicPr>
            <a:picLocks noChangeAspect="1"/>
          </p:cNvPicPr>
          <p:nvPr/>
        </p:nvPicPr>
        <p:blipFill>
          <a:blip r:embed="rId4"/>
          <a:stretch>
            <a:fillRect/>
          </a:stretch>
        </p:blipFill>
        <p:spPr>
          <a:xfrm>
            <a:off x="4472402" y="1389951"/>
            <a:ext cx="134549" cy="195707"/>
          </a:xfrm>
          <a:prstGeom prst="rect">
            <a:avLst/>
          </a:prstGeom>
        </p:spPr>
      </p:pic>
      <p:sp>
        <p:nvSpPr>
          <p:cNvPr id="31" name="TextBox 30"/>
          <p:cNvSpPr txBox="1"/>
          <p:nvPr/>
        </p:nvSpPr>
        <p:spPr>
          <a:xfrm>
            <a:off x="4647511" y="140017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2" name="TextBox 31"/>
          <p:cNvSpPr txBox="1"/>
          <p:nvPr/>
        </p:nvSpPr>
        <p:spPr>
          <a:xfrm>
            <a:off x="276225" y="1628013"/>
            <a:ext cx="3371845" cy="194310"/>
          </a:xfrm>
          <a:prstGeom prst="rect">
            <a:avLst/>
          </a:prstGeom>
          <a:noFill/>
        </p:spPr>
        <p:txBody>
          <a:bodyPr wrap="none" lIns="0" rIns="0" tIns="0" bIns="0">
            <a:spAutoFit/>
          </a:bodyPr>
          <a:lstStyle/>
          <a:p>
            <a:r>
              <a:rPr sz="1150" b="0">
                <a:solidFill>
                  <a:srgbClr val="2E2E2E"/>
                </a:solidFill>
                <a:latin typeface="Calibri"/>
              </a:rPr>
              <a:t>▪ 2. DIATER Laboratories × Sublingual Immunotherapy –</a:t>
            </a:r>
          </a:p>
        </p:txBody>
      </p:sp>
      <p:pic>
        <p:nvPicPr>
          <p:cNvPr id="33" name="Picture 32" descr="lock.png"/>
          <p:cNvPicPr>
            <a:picLocks noChangeAspect="1"/>
          </p:cNvPicPr>
          <p:nvPr/>
        </p:nvPicPr>
        <p:blipFill>
          <a:blip r:embed="rId4"/>
          <a:stretch>
            <a:fillRect/>
          </a:stretch>
        </p:blipFill>
        <p:spPr>
          <a:xfrm>
            <a:off x="3597224" y="1617789"/>
            <a:ext cx="134549" cy="195707"/>
          </a:xfrm>
          <a:prstGeom prst="rect">
            <a:avLst/>
          </a:prstGeom>
        </p:spPr>
      </p:pic>
      <p:sp>
        <p:nvSpPr>
          <p:cNvPr id="34" name="TextBox 33"/>
          <p:cNvSpPr txBox="1"/>
          <p:nvPr/>
        </p:nvSpPr>
        <p:spPr>
          <a:xfrm>
            <a:off x="3772333" y="16280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834485" y="1617789"/>
            <a:ext cx="134549" cy="195707"/>
          </a:xfrm>
          <a:prstGeom prst="rect">
            <a:avLst/>
          </a:prstGeom>
        </p:spPr>
      </p:pic>
      <p:sp>
        <p:nvSpPr>
          <p:cNvPr id="36" name="TextBox 35"/>
          <p:cNvSpPr txBox="1"/>
          <p:nvPr/>
        </p:nvSpPr>
        <p:spPr>
          <a:xfrm>
            <a:off x="4009594" y="162801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1855851"/>
            <a:ext cx="3045086" cy="194310"/>
          </a:xfrm>
          <a:prstGeom prst="rect">
            <a:avLst/>
          </a:prstGeom>
          <a:noFill/>
        </p:spPr>
        <p:txBody>
          <a:bodyPr wrap="none" lIns="0" rIns="0" tIns="0" bIns="0">
            <a:spAutoFit/>
          </a:bodyPr>
          <a:lstStyle/>
          <a:p>
            <a:r>
              <a:rPr sz="1150" b="0">
                <a:solidFill>
                  <a:srgbClr val="2E2E2E"/>
                </a:solidFill>
                <a:latin typeface="Calibri"/>
              </a:rPr>
              <a:t>▪ 3. ALK-Abelló A/S × Sublingual Immunotherapy –</a:t>
            </a:r>
          </a:p>
        </p:txBody>
      </p:sp>
      <p:pic>
        <p:nvPicPr>
          <p:cNvPr id="38" name="Picture 37" descr="lock.png"/>
          <p:cNvPicPr>
            <a:picLocks noChangeAspect="1"/>
          </p:cNvPicPr>
          <p:nvPr/>
        </p:nvPicPr>
        <p:blipFill>
          <a:blip r:embed="rId4"/>
          <a:stretch>
            <a:fillRect/>
          </a:stretch>
        </p:blipFill>
        <p:spPr>
          <a:xfrm>
            <a:off x="3270465" y="1845627"/>
            <a:ext cx="134549" cy="195707"/>
          </a:xfrm>
          <a:prstGeom prst="rect">
            <a:avLst/>
          </a:prstGeom>
        </p:spPr>
      </p:pic>
      <p:sp>
        <p:nvSpPr>
          <p:cNvPr id="39" name="TextBox 38"/>
          <p:cNvSpPr txBox="1"/>
          <p:nvPr/>
        </p:nvSpPr>
        <p:spPr>
          <a:xfrm>
            <a:off x="3445575" y="185585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3507726" y="1845627"/>
            <a:ext cx="134549" cy="195707"/>
          </a:xfrm>
          <a:prstGeom prst="rect">
            <a:avLst/>
          </a:prstGeom>
        </p:spPr>
      </p:pic>
      <p:sp>
        <p:nvSpPr>
          <p:cNvPr id="41" name="TextBox 40"/>
          <p:cNvSpPr txBox="1"/>
          <p:nvPr/>
        </p:nvSpPr>
        <p:spPr>
          <a:xfrm>
            <a:off x="3682836" y="1855851"/>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2" name="TextBox 41"/>
          <p:cNvSpPr txBox="1"/>
          <p:nvPr/>
        </p:nvSpPr>
        <p:spPr>
          <a:xfrm>
            <a:off x="276225" y="2083689"/>
            <a:ext cx="4273122" cy="194310"/>
          </a:xfrm>
          <a:prstGeom prst="rect">
            <a:avLst/>
          </a:prstGeom>
          <a:noFill/>
        </p:spPr>
        <p:txBody>
          <a:bodyPr wrap="none" lIns="0" rIns="0" tIns="0" bIns="0">
            <a:spAutoFit/>
          </a:bodyPr>
          <a:lstStyle/>
          <a:p>
            <a:r>
              <a:rPr sz="1150" b="0">
                <a:solidFill>
                  <a:srgbClr val="2E2E2E"/>
                </a:solidFill>
                <a:latin typeface="Calibri"/>
              </a:rPr>
              <a:t>▪ 4. Stallergenes Greer International AG × Sublingual Immunotherapy –</a:t>
            </a:r>
          </a:p>
        </p:txBody>
      </p:sp>
      <p:pic>
        <p:nvPicPr>
          <p:cNvPr id="43" name="Picture 42" descr="lock.png"/>
          <p:cNvPicPr>
            <a:picLocks noChangeAspect="1"/>
          </p:cNvPicPr>
          <p:nvPr/>
        </p:nvPicPr>
        <p:blipFill>
          <a:blip r:embed="rId4"/>
          <a:stretch>
            <a:fillRect/>
          </a:stretch>
        </p:blipFill>
        <p:spPr>
          <a:xfrm>
            <a:off x="4498501" y="2073465"/>
            <a:ext cx="134549" cy="195707"/>
          </a:xfrm>
          <a:prstGeom prst="rect">
            <a:avLst/>
          </a:prstGeom>
        </p:spPr>
      </p:pic>
      <p:sp>
        <p:nvSpPr>
          <p:cNvPr id="44" name="TextBox 43"/>
          <p:cNvSpPr txBox="1"/>
          <p:nvPr/>
        </p:nvSpPr>
        <p:spPr>
          <a:xfrm>
            <a:off x="4673611" y="2083689"/>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4735762" y="2073465"/>
            <a:ext cx="134549" cy="195707"/>
          </a:xfrm>
          <a:prstGeom prst="rect">
            <a:avLst/>
          </a:prstGeom>
        </p:spPr>
      </p:pic>
      <p:sp>
        <p:nvSpPr>
          <p:cNvPr id="46" name="TextBox 45"/>
          <p:cNvSpPr txBox="1"/>
          <p:nvPr/>
        </p:nvSpPr>
        <p:spPr>
          <a:xfrm>
            <a:off x="4910872" y="2083689"/>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7" name="TextBox 46"/>
          <p:cNvSpPr txBox="1"/>
          <p:nvPr/>
        </p:nvSpPr>
        <p:spPr>
          <a:xfrm>
            <a:off x="276225" y="2311527"/>
            <a:ext cx="3246511" cy="194310"/>
          </a:xfrm>
          <a:prstGeom prst="rect">
            <a:avLst/>
          </a:prstGeom>
          <a:noFill/>
        </p:spPr>
        <p:txBody>
          <a:bodyPr wrap="none" lIns="0" rIns="0" tIns="0" bIns="0">
            <a:spAutoFit/>
          </a:bodyPr>
          <a:lstStyle/>
          <a:p>
            <a:r>
              <a:rPr sz="1150" b="0">
                <a:solidFill>
                  <a:srgbClr val="2E2E2E"/>
                </a:solidFill>
                <a:latin typeface="Calibri"/>
              </a:rPr>
              <a:t>▪ 5. HAL Allergy Group × Sublingual Immunotherapy –</a:t>
            </a:r>
          </a:p>
        </p:txBody>
      </p:sp>
      <p:pic>
        <p:nvPicPr>
          <p:cNvPr id="48" name="Picture 47" descr="lock.png"/>
          <p:cNvPicPr>
            <a:picLocks noChangeAspect="1"/>
          </p:cNvPicPr>
          <p:nvPr/>
        </p:nvPicPr>
        <p:blipFill>
          <a:blip r:embed="rId4"/>
          <a:stretch>
            <a:fillRect/>
          </a:stretch>
        </p:blipFill>
        <p:spPr>
          <a:xfrm>
            <a:off x="3471890" y="2301303"/>
            <a:ext cx="134549" cy="195707"/>
          </a:xfrm>
          <a:prstGeom prst="rect">
            <a:avLst/>
          </a:prstGeom>
        </p:spPr>
      </p:pic>
      <p:sp>
        <p:nvSpPr>
          <p:cNvPr id="49" name="TextBox 48"/>
          <p:cNvSpPr txBox="1"/>
          <p:nvPr/>
        </p:nvSpPr>
        <p:spPr>
          <a:xfrm>
            <a:off x="3647000" y="231152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709151" y="2301303"/>
            <a:ext cx="134549" cy="195707"/>
          </a:xfrm>
          <a:prstGeom prst="rect">
            <a:avLst/>
          </a:prstGeom>
        </p:spPr>
      </p:pic>
      <p:sp>
        <p:nvSpPr>
          <p:cNvPr id="51" name="TextBox 50"/>
          <p:cNvSpPr txBox="1"/>
          <p:nvPr/>
        </p:nvSpPr>
        <p:spPr>
          <a:xfrm>
            <a:off x="3884261" y="2311527"/>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2" name="TextBox 51"/>
          <p:cNvSpPr txBox="1"/>
          <p:nvPr/>
        </p:nvSpPr>
        <p:spPr>
          <a:xfrm>
            <a:off x="6029325" y="1400175"/>
            <a:ext cx="1617712" cy="194310"/>
          </a:xfrm>
          <a:prstGeom prst="rect">
            <a:avLst/>
          </a:prstGeom>
          <a:noFill/>
        </p:spPr>
        <p:txBody>
          <a:bodyPr wrap="none" lIns="0" rIns="0" tIns="0" bIns="0">
            <a:spAutoFit/>
          </a:bodyPr>
          <a:lstStyle/>
          <a:p>
            <a:r>
              <a:rPr sz="1150" b="0">
                <a:solidFill>
                  <a:srgbClr val="2E2E2E"/>
                </a:solidFill>
                <a:latin typeface="Calibri"/>
              </a:rPr>
              <a:t>▪ 'Allergopharma GmbH &amp;</a:t>
            </a:r>
          </a:p>
        </p:txBody>
      </p:sp>
      <p:sp>
        <p:nvSpPr>
          <p:cNvPr id="53" name="TextBox 52"/>
          <p:cNvSpPr txBox="1"/>
          <p:nvPr/>
        </p:nvSpPr>
        <p:spPr>
          <a:xfrm>
            <a:off x="6029325" y="1575435"/>
            <a:ext cx="1221405" cy="194310"/>
          </a:xfrm>
          <a:prstGeom prst="rect">
            <a:avLst/>
          </a:prstGeom>
          <a:noFill/>
        </p:spPr>
        <p:txBody>
          <a:bodyPr wrap="none" lIns="0" rIns="0" tIns="0" bIns="0">
            <a:spAutoFit/>
          </a:bodyPr>
          <a:lstStyle/>
          <a:p>
            <a:r>
              <a:rPr sz="1150" b="0">
                <a:solidFill>
                  <a:srgbClr val="2E2E2E"/>
                </a:solidFill>
                <a:latin typeface="Calibri"/>
              </a:rPr>
              <a:t>Co. KG × Sublingual</a:t>
            </a:r>
          </a:p>
        </p:txBody>
      </p:sp>
      <p:sp>
        <p:nvSpPr>
          <p:cNvPr id="54" name="TextBox 53"/>
          <p:cNvSpPr txBox="1"/>
          <p:nvPr/>
        </p:nvSpPr>
        <p:spPr>
          <a:xfrm>
            <a:off x="6029325" y="1750695"/>
            <a:ext cx="1384944" cy="194310"/>
          </a:xfrm>
          <a:prstGeom prst="rect">
            <a:avLst/>
          </a:prstGeom>
          <a:noFill/>
        </p:spPr>
        <p:txBody>
          <a:bodyPr wrap="none" lIns="0" rIns="0" tIns="0" bIns="0">
            <a:spAutoFit/>
          </a:bodyPr>
          <a:lstStyle/>
          <a:p>
            <a:r>
              <a:rPr sz="1150" b="0">
                <a:solidFill>
                  <a:srgbClr val="2E2E2E"/>
                </a:solidFill>
                <a:latin typeface="Calibri"/>
              </a:rPr>
              <a:t>Immunotherapy' adds</a:t>
            </a:r>
          </a:p>
        </p:txBody>
      </p:sp>
      <p:pic>
        <p:nvPicPr>
          <p:cNvPr id="55" name="Picture 54" descr="lock.png"/>
          <p:cNvPicPr>
            <a:picLocks noChangeAspect="1"/>
          </p:cNvPicPr>
          <p:nvPr/>
        </p:nvPicPr>
        <p:blipFill>
          <a:blip r:embed="rId4"/>
          <a:stretch>
            <a:fillRect/>
          </a:stretch>
        </p:blipFill>
        <p:spPr>
          <a:xfrm>
            <a:off x="7363423" y="1740471"/>
            <a:ext cx="134549" cy="195707"/>
          </a:xfrm>
          <a:prstGeom prst="rect">
            <a:avLst/>
          </a:prstGeom>
        </p:spPr>
      </p:pic>
      <p:sp>
        <p:nvSpPr>
          <p:cNvPr id="56" name="TextBox 55"/>
          <p:cNvSpPr txBox="1"/>
          <p:nvPr/>
        </p:nvSpPr>
        <p:spPr>
          <a:xfrm>
            <a:off x="6029325" y="1925955"/>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57" name="Picture 56" descr="lock.png"/>
          <p:cNvPicPr>
            <a:picLocks noChangeAspect="1"/>
          </p:cNvPicPr>
          <p:nvPr/>
        </p:nvPicPr>
        <p:blipFill>
          <a:blip r:embed="rId4"/>
          <a:stretch>
            <a:fillRect/>
          </a:stretch>
        </p:blipFill>
        <p:spPr>
          <a:xfrm>
            <a:off x="7203111" y="1915731"/>
            <a:ext cx="134549" cy="195707"/>
          </a:xfrm>
          <a:prstGeom prst="rect">
            <a:avLst/>
          </a:prstGeom>
        </p:spPr>
      </p:pic>
      <p:sp>
        <p:nvSpPr>
          <p:cNvPr id="58" name="TextBox 57"/>
          <p:cNvSpPr txBox="1"/>
          <p:nvPr/>
        </p:nvSpPr>
        <p:spPr>
          <a:xfrm>
            <a:off x="7378220" y="1925955"/>
            <a:ext cx="197718" cy="194310"/>
          </a:xfrm>
          <a:prstGeom prst="rect">
            <a:avLst/>
          </a:prstGeom>
          <a:noFill/>
        </p:spPr>
        <p:txBody>
          <a:bodyPr wrap="none" lIns="0" rIns="0" tIns="0" bIns="0">
            <a:spAutoFit/>
          </a:bodyPr>
          <a:lstStyle/>
          <a:p>
            <a:r>
              <a:rPr sz="1150" b="0">
                <a:solidFill>
                  <a:srgbClr val="2E2E2E"/>
                </a:solidFill>
                <a:latin typeface="Calibri"/>
              </a:rPr>
              <a:t>of</a:t>
            </a:r>
          </a:p>
        </p:txBody>
      </p:sp>
      <p:sp>
        <p:nvSpPr>
          <p:cNvPr id="59" name="TextBox 58"/>
          <p:cNvSpPr txBox="1"/>
          <p:nvPr/>
        </p:nvSpPr>
        <p:spPr>
          <a:xfrm>
            <a:off x="6029325" y="2101215"/>
            <a:ext cx="1366403" cy="194310"/>
          </a:xfrm>
          <a:prstGeom prst="rect">
            <a:avLst/>
          </a:prstGeom>
          <a:noFill/>
        </p:spPr>
        <p:txBody>
          <a:bodyPr wrap="none" lIns="0" rIns="0" tIns="0" bIns="0">
            <a:spAutoFit/>
          </a:bodyPr>
          <a:lstStyle/>
          <a:p>
            <a:r>
              <a:rPr sz="1150" b="0">
                <a:solidFill>
                  <a:srgbClr val="2E2E2E"/>
                </a:solidFill>
                <a:latin typeface="Calibri"/>
              </a:rPr>
              <a:t>the total opportunity.</a:t>
            </a:r>
          </a:p>
        </p:txBody>
      </p:sp>
      <p:sp>
        <p:nvSpPr>
          <p:cNvPr id="60" name="TextBox 59"/>
          <p:cNvSpPr txBox="1"/>
          <p:nvPr/>
        </p:nvSpPr>
        <p:spPr>
          <a:xfrm>
            <a:off x="8124825" y="1400175"/>
            <a:ext cx="1386085" cy="194310"/>
          </a:xfrm>
          <a:prstGeom prst="rect">
            <a:avLst/>
          </a:prstGeom>
          <a:noFill/>
        </p:spPr>
        <p:txBody>
          <a:bodyPr wrap="none" lIns="0" rIns="0" tIns="0" bIns="0">
            <a:spAutoFit/>
          </a:bodyPr>
          <a:lstStyle/>
          <a:p>
            <a:r>
              <a:rPr sz="1150" b="0">
                <a:solidFill>
                  <a:srgbClr val="2E2E2E"/>
                </a:solidFill>
                <a:latin typeface="Calibri"/>
              </a:rPr>
              <a:t>▪ 'HAL Allergy Group ×</a:t>
            </a:r>
          </a:p>
        </p:txBody>
      </p:sp>
      <p:sp>
        <p:nvSpPr>
          <p:cNvPr id="61" name="TextBox 60"/>
          <p:cNvSpPr txBox="1"/>
          <p:nvPr/>
        </p:nvSpPr>
        <p:spPr>
          <a:xfrm>
            <a:off x="8124825" y="1575435"/>
            <a:ext cx="1657350" cy="194310"/>
          </a:xfrm>
          <a:prstGeom prst="rect">
            <a:avLst/>
          </a:prstGeom>
          <a:noFill/>
        </p:spPr>
        <p:txBody>
          <a:bodyPr wrap="none" lIns="0" rIns="0" tIns="0" bIns="0">
            <a:spAutoFit/>
          </a:bodyPr>
          <a:lstStyle/>
          <a:p>
            <a:r>
              <a:rPr sz="1150" b="0">
                <a:solidFill>
                  <a:srgbClr val="2E2E2E"/>
                </a:solidFill>
                <a:latin typeface="Calibri"/>
              </a:rPr>
              <a:t>Sublingual Immunotherapy'</a:t>
            </a:r>
          </a:p>
        </p:txBody>
      </p:sp>
      <p:sp>
        <p:nvSpPr>
          <p:cNvPr id="62" name="TextBox 61"/>
          <p:cNvSpPr txBox="1"/>
          <p:nvPr/>
        </p:nvSpPr>
        <p:spPr>
          <a:xfrm>
            <a:off x="8124825" y="1750695"/>
            <a:ext cx="689495" cy="194310"/>
          </a:xfrm>
          <a:prstGeom prst="rect">
            <a:avLst/>
          </a:prstGeom>
          <a:noFill/>
        </p:spPr>
        <p:txBody>
          <a:bodyPr wrap="none" lIns="0" rIns="0" tIns="0" bIns="0">
            <a:spAutoFit/>
          </a:bodyPr>
          <a:lstStyle/>
          <a:p>
            <a:r>
              <a:rPr sz="1150" b="0">
                <a:solidFill>
                  <a:srgbClr val="2E2E2E"/>
                </a:solidFill>
                <a:latin typeface="Calibri"/>
              </a:rPr>
              <a:t>grows at a</a:t>
            </a:r>
          </a:p>
        </p:txBody>
      </p:sp>
      <p:pic>
        <p:nvPicPr>
          <p:cNvPr id="63" name="Picture 62" descr="lock.png"/>
          <p:cNvPicPr>
            <a:picLocks noChangeAspect="1"/>
          </p:cNvPicPr>
          <p:nvPr/>
        </p:nvPicPr>
        <p:blipFill>
          <a:blip r:embed="rId4"/>
          <a:stretch>
            <a:fillRect/>
          </a:stretch>
        </p:blipFill>
        <p:spPr>
          <a:xfrm>
            <a:off x="8763474" y="1740471"/>
            <a:ext cx="134549" cy="195707"/>
          </a:xfrm>
          <a:prstGeom prst="rect">
            <a:avLst/>
          </a:prstGeom>
        </p:spPr>
      </p:pic>
      <p:sp>
        <p:nvSpPr>
          <p:cNvPr id="64" name="TextBox 63"/>
          <p:cNvSpPr txBox="1"/>
          <p:nvPr/>
        </p:nvSpPr>
        <p:spPr>
          <a:xfrm>
            <a:off x="8938584" y="175069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5" name="Picture 64" descr="lock.png"/>
          <p:cNvPicPr>
            <a:picLocks noChangeAspect="1"/>
          </p:cNvPicPr>
          <p:nvPr/>
        </p:nvPicPr>
        <p:blipFill>
          <a:blip r:embed="rId4"/>
          <a:stretch>
            <a:fillRect/>
          </a:stretch>
        </p:blipFill>
        <p:spPr>
          <a:xfrm>
            <a:off x="9334179" y="1740471"/>
            <a:ext cx="134549" cy="195707"/>
          </a:xfrm>
          <a:prstGeom prst="rect">
            <a:avLst/>
          </a:prstGeom>
        </p:spPr>
      </p:pic>
      <p:sp>
        <p:nvSpPr>
          <p:cNvPr id="66" name="TextBox 65"/>
          <p:cNvSpPr txBox="1"/>
          <p:nvPr/>
        </p:nvSpPr>
        <p:spPr>
          <a:xfrm>
            <a:off x="8124825" y="1925955"/>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67" name="TextBox 66"/>
          <p:cNvSpPr txBox="1"/>
          <p:nvPr/>
        </p:nvSpPr>
        <p:spPr>
          <a:xfrm>
            <a:off x="8124825" y="2101215"/>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Company × Allergen Preparation Technology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Snapshot: Company × Allergen Preparation Technology,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market value (US$ Mn) for each company sub-segment across allergen preparation technology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Value, Company × Allergen Preparation Technology, 2026E and 2036F (US$ Mn)</a:t>
            </a:r>
          </a:p>
        </p:txBody>
      </p:sp>
      <p:graphicFrame>
        <p:nvGraphicFramePr>
          <p:cNvPr id="13" name="Table 12"/>
          <p:cNvGraphicFramePr>
            <a:graphicFrameLocks noGrp="1"/>
          </p:cNvGraphicFramePr>
          <p:nvPr/>
        </p:nvGraphicFramePr>
        <p:xfrm>
          <a:off x="152400" y="1238250"/>
          <a:ext cx="11887199" cy="3400428"/>
        </p:xfrm>
        <a:graphic>
          <a:graphicData uri="http://schemas.openxmlformats.org/drawingml/2006/table">
            <a:tbl>
              <a:tblPr>
                <a:tableStyleId>{5C22544A-7EE6-4342-B048-85BDC9FD1C3A}</a:tableStyleId>
              </a:tblPr>
              <a:tblGrid>
                <a:gridCol w="4653631"/>
                <a:gridCol w="904196"/>
                <a:gridCol w="904196"/>
                <a:gridCol w="904196"/>
                <a:gridCol w="904196"/>
                <a:gridCol w="904196"/>
                <a:gridCol w="904196"/>
                <a:gridCol w="904196"/>
                <a:gridCol w="904196"/>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Native Allergen Extracts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Modified Allergen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Molecular Allergen</a:t>
                      </a:r>
                      <a:endParaRPr sz="1100"/>
                    </a:p>
                    <a:p>
                      <a:pPr algn="ctr"/>
                      <a:r>
                        <a:rPr sz="1100" b="1">
                          <a:solidFill>
                            <a:srgbClr val="0B2E4A"/>
                          </a:solidFill>
                          <a:latin typeface="Calibri"/>
                        </a:rPr>
                        <a:t>Preparations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93">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793">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648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8236125" y="3014616"/>
            <a:ext cx="366712" cy="533400"/>
          </a:xfrm>
          <a:prstGeom prst="rect">
            <a:avLst/>
          </a:prstGeom>
        </p:spPr>
      </p:pic>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Snapshot: Company × Allergen Preparation Technology,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market value (US$ Mn) for each company sub-segment across allergen preparation technology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Flow, Company → Allergen Preparation Technology, 2036F (US$ Mn)</a:t>
            </a:r>
          </a:p>
        </p:txBody>
      </p:sp>
      <p:sp>
        <p:nvSpPr>
          <p:cNvPr id="12" name="Freeform 11"/>
          <p:cNvSpPr/>
          <p:nvPr/>
        </p:nvSpPr>
        <p:spPr>
          <a:xfrm>
            <a:off x="2057400" y="1304925"/>
            <a:ext cx="3743325" cy="409575"/>
          </a:xfrm>
          <a:custGeom>
            <a:avLst/>
            <a:gdLst/>
            <a:ahLst/>
            <a:cxnLst/>
            <a:rect l="l" t="t" r="r" b="b"/>
            <a:pathLst>
              <a:path w="393" h="43">
                <a:moveTo>
                  <a:pt x="0" y="0"/>
                </a:moveTo>
                <a:lnTo>
                  <a:pt x="16" y="0"/>
                </a:lnTo>
                <a:lnTo>
                  <a:pt x="33" y="0"/>
                </a:lnTo>
                <a:lnTo>
                  <a:pt x="49" y="1"/>
                </a:lnTo>
                <a:lnTo>
                  <a:pt x="65" y="2"/>
                </a:lnTo>
                <a:lnTo>
                  <a:pt x="82" y="2"/>
                </a:lnTo>
                <a:lnTo>
                  <a:pt x="98" y="3"/>
                </a:lnTo>
                <a:lnTo>
                  <a:pt x="114" y="4"/>
                </a:lnTo>
                <a:lnTo>
                  <a:pt x="131" y="5"/>
                </a:lnTo>
                <a:lnTo>
                  <a:pt x="147" y="7"/>
                </a:lnTo>
                <a:lnTo>
                  <a:pt x="164" y="8"/>
                </a:lnTo>
                <a:lnTo>
                  <a:pt x="180" y="9"/>
                </a:lnTo>
                <a:lnTo>
                  <a:pt x="196" y="11"/>
                </a:lnTo>
                <a:lnTo>
                  <a:pt x="213" y="12"/>
                </a:lnTo>
                <a:lnTo>
                  <a:pt x="229" y="13"/>
                </a:lnTo>
                <a:lnTo>
                  <a:pt x="246" y="14"/>
                </a:lnTo>
                <a:lnTo>
                  <a:pt x="262" y="16"/>
                </a:lnTo>
                <a:lnTo>
                  <a:pt x="278" y="17"/>
                </a:lnTo>
                <a:lnTo>
                  <a:pt x="295" y="18"/>
                </a:lnTo>
                <a:lnTo>
                  <a:pt x="311" y="19"/>
                </a:lnTo>
                <a:lnTo>
                  <a:pt x="327" y="19"/>
                </a:lnTo>
                <a:lnTo>
                  <a:pt x="344" y="20"/>
                </a:lnTo>
                <a:lnTo>
                  <a:pt x="360" y="21"/>
                </a:lnTo>
                <a:lnTo>
                  <a:pt x="377" y="21"/>
                </a:lnTo>
                <a:lnTo>
                  <a:pt x="393" y="21"/>
                </a:lnTo>
                <a:lnTo>
                  <a:pt x="393" y="43"/>
                </a:lnTo>
                <a:lnTo>
                  <a:pt x="377" y="43"/>
                </a:lnTo>
                <a:lnTo>
                  <a:pt x="360" y="43"/>
                </a:lnTo>
                <a:lnTo>
                  <a:pt x="344" y="42"/>
                </a:lnTo>
                <a:lnTo>
                  <a:pt x="327" y="42"/>
                </a:lnTo>
                <a:lnTo>
                  <a:pt x="311" y="41"/>
                </a:lnTo>
                <a:lnTo>
                  <a:pt x="295" y="40"/>
                </a:lnTo>
                <a:lnTo>
                  <a:pt x="278" y="39"/>
                </a:lnTo>
                <a:lnTo>
                  <a:pt x="262" y="38"/>
                </a:lnTo>
                <a:lnTo>
                  <a:pt x="246" y="36"/>
                </a:lnTo>
                <a:lnTo>
                  <a:pt x="229" y="35"/>
                </a:lnTo>
                <a:lnTo>
                  <a:pt x="213" y="34"/>
                </a:lnTo>
                <a:lnTo>
                  <a:pt x="196" y="33"/>
                </a:lnTo>
                <a:lnTo>
                  <a:pt x="180" y="31"/>
                </a:lnTo>
                <a:lnTo>
                  <a:pt x="164" y="30"/>
                </a:lnTo>
                <a:lnTo>
                  <a:pt x="147" y="29"/>
                </a:lnTo>
                <a:lnTo>
                  <a:pt x="131" y="28"/>
                </a:lnTo>
                <a:lnTo>
                  <a:pt x="114" y="26"/>
                </a:lnTo>
                <a:lnTo>
                  <a:pt x="98" y="25"/>
                </a:lnTo>
                <a:lnTo>
                  <a:pt x="82" y="24"/>
                </a:lnTo>
                <a:lnTo>
                  <a:pt x="65" y="24"/>
                </a:lnTo>
                <a:lnTo>
                  <a:pt x="49" y="23"/>
                </a:lnTo>
                <a:lnTo>
                  <a:pt x="33" y="23"/>
                </a:lnTo>
                <a:lnTo>
                  <a:pt x="16" y="22"/>
                </a:lnTo>
                <a:lnTo>
                  <a:pt x="0" y="2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514475"/>
            <a:ext cx="3743325" cy="2124075"/>
          </a:xfrm>
          <a:custGeom>
            <a:avLst/>
            <a:gdLst/>
            <a:ahLst/>
            <a:cxnLst/>
            <a:rect l="l" t="t" r="r" b="b"/>
            <a:pathLst>
              <a:path w="393" h="223">
                <a:moveTo>
                  <a:pt x="0" y="0"/>
                </a:moveTo>
                <a:lnTo>
                  <a:pt x="16" y="1"/>
                </a:lnTo>
                <a:lnTo>
                  <a:pt x="33" y="4"/>
                </a:lnTo>
                <a:lnTo>
                  <a:pt x="49" y="9"/>
                </a:lnTo>
                <a:lnTo>
                  <a:pt x="65" y="15"/>
                </a:lnTo>
                <a:lnTo>
                  <a:pt x="82" y="23"/>
                </a:lnTo>
                <a:lnTo>
                  <a:pt x="98" y="32"/>
                </a:lnTo>
                <a:lnTo>
                  <a:pt x="114" y="42"/>
                </a:lnTo>
                <a:lnTo>
                  <a:pt x="131" y="53"/>
                </a:lnTo>
                <a:lnTo>
                  <a:pt x="147" y="65"/>
                </a:lnTo>
                <a:lnTo>
                  <a:pt x="164" y="77"/>
                </a:lnTo>
                <a:lnTo>
                  <a:pt x="180" y="90"/>
                </a:lnTo>
                <a:lnTo>
                  <a:pt x="196" y="102"/>
                </a:lnTo>
                <a:lnTo>
                  <a:pt x="213" y="115"/>
                </a:lnTo>
                <a:lnTo>
                  <a:pt x="229" y="128"/>
                </a:lnTo>
                <a:lnTo>
                  <a:pt x="246" y="140"/>
                </a:lnTo>
                <a:lnTo>
                  <a:pt x="262" y="152"/>
                </a:lnTo>
                <a:lnTo>
                  <a:pt x="278" y="163"/>
                </a:lnTo>
                <a:lnTo>
                  <a:pt x="295" y="173"/>
                </a:lnTo>
                <a:lnTo>
                  <a:pt x="311" y="182"/>
                </a:lnTo>
                <a:lnTo>
                  <a:pt x="327" y="190"/>
                </a:lnTo>
                <a:lnTo>
                  <a:pt x="344" y="196"/>
                </a:lnTo>
                <a:lnTo>
                  <a:pt x="360" y="201"/>
                </a:lnTo>
                <a:lnTo>
                  <a:pt x="377" y="204"/>
                </a:lnTo>
                <a:lnTo>
                  <a:pt x="393" y="205"/>
                </a:lnTo>
                <a:lnTo>
                  <a:pt x="393" y="223"/>
                </a:lnTo>
                <a:lnTo>
                  <a:pt x="377" y="222"/>
                </a:lnTo>
                <a:lnTo>
                  <a:pt x="360" y="219"/>
                </a:lnTo>
                <a:lnTo>
                  <a:pt x="344" y="214"/>
                </a:lnTo>
                <a:lnTo>
                  <a:pt x="327" y="208"/>
                </a:lnTo>
                <a:lnTo>
                  <a:pt x="311" y="200"/>
                </a:lnTo>
                <a:lnTo>
                  <a:pt x="295" y="191"/>
                </a:lnTo>
                <a:lnTo>
                  <a:pt x="278" y="181"/>
                </a:lnTo>
                <a:lnTo>
                  <a:pt x="262" y="170"/>
                </a:lnTo>
                <a:lnTo>
                  <a:pt x="246" y="158"/>
                </a:lnTo>
                <a:lnTo>
                  <a:pt x="229" y="146"/>
                </a:lnTo>
                <a:lnTo>
                  <a:pt x="213" y="134"/>
                </a:lnTo>
                <a:lnTo>
                  <a:pt x="196" y="121"/>
                </a:lnTo>
                <a:lnTo>
                  <a:pt x="180" y="108"/>
                </a:lnTo>
                <a:lnTo>
                  <a:pt x="164" y="95"/>
                </a:lnTo>
                <a:lnTo>
                  <a:pt x="147" y="83"/>
                </a:lnTo>
                <a:lnTo>
                  <a:pt x="131" y="72"/>
                </a:lnTo>
                <a:lnTo>
                  <a:pt x="114" y="61"/>
                </a:lnTo>
                <a:lnTo>
                  <a:pt x="98" y="50"/>
                </a:lnTo>
                <a:lnTo>
                  <a:pt x="82" y="41"/>
                </a:lnTo>
                <a:lnTo>
                  <a:pt x="65" y="34"/>
                </a:lnTo>
                <a:lnTo>
                  <a:pt x="49" y="27"/>
                </a:lnTo>
                <a:lnTo>
                  <a:pt x="33" y="23"/>
                </a:lnTo>
                <a:lnTo>
                  <a:pt x="16" y="20"/>
                </a:lnTo>
                <a:lnTo>
                  <a:pt x="0" y="1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1685925"/>
            <a:ext cx="3743325" cy="3695700"/>
          </a:xfrm>
          <a:custGeom>
            <a:avLst/>
            <a:gdLst/>
            <a:ahLst/>
            <a:cxnLst/>
            <a:rect l="l" t="t" r="r" b="b"/>
            <a:pathLst>
              <a:path w="393" h="388">
                <a:moveTo>
                  <a:pt x="0" y="0"/>
                </a:moveTo>
                <a:lnTo>
                  <a:pt x="16" y="2"/>
                </a:lnTo>
                <a:lnTo>
                  <a:pt x="33" y="8"/>
                </a:lnTo>
                <a:lnTo>
                  <a:pt x="49" y="17"/>
                </a:lnTo>
                <a:lnTo>
                  <a:pt x="65" y="29"/>
                </a:lnTo>
                <a:lnTo>
                  <a:pt x="82" y="43"/>
                </a:lnTo>
                <a:lnTo>
                  <a:pt x="98" y="60"/>
                </a:lnTo>
                <a:lnTo>
                  <a:pt x="114" y="78"/>
                </a:lnTo>
                <a:lnTo>
                  <a:pt x="131" y="99"/>
                </a:lnTo>
                <a:lnTo>
                  <a:pt x="147" y="120"/>
                </a:lnTo>
                <a:lnTo>
                  <a:pt x="164" y="143"/>
                </a:lnTo>
                <a:lnTo>
                  <a:pt x="180" y="166"/>
                </a:lnTo>
                <a:lnTo>
                  <a:pt x="196" y="190"/>
                </a:lnTo>
                <a:lnTo>
                  <a:pt x="213" y="213"/>
                </a:lnTo>
                <a:lnTo>
                  <a:pt x="229" y="237"/>
                </a:lnTo>
                <a:lnTo>
                  <a:pt x="246" y="259"/>
                </a:lnTo>
                <a:lnTo>
                  <a:pt x="262" y="281"/>
                </a:lnTo>
                <a:lnTo>
                  <a:pt x="278" y="301"/>
                </a:lnTo>
                <a:lnTo>
                  <a:pt x="295" y="320"/>
                </a:lnTo>
                <a:lnTo>
                  <a:pt x="311" y="337"/>
                </a:lnTo>
                <a:lnTo>
                  <a:pt x="327" y="351"/>
                </a:lnTo>
                <a:lnTo>
                  <a:pt x="344" y="363"/>
                </a:lnTo>
                <a:lnTo>
                  <a:pt x="360" y="372"/>
                </a:lnTo>
                <a:lnTo>
                  <a:pt x="377" y="377"/>
                </a:lnTo>
                <a:lnTo>
                  <a:pt x="393" y="379"/>
                </a:lnTo>
                <a:lnTo>
                  <a:pt x="393" y="388"/>
                </a:lnTo>
                <a:lnTo>
                  <a:pt x="377" y="386"/>
                </a:lnTo>
                <a:lnTo>
                  <a:pt x="360" y="381"/>
                </a:lnTo>
                <a:lnTo>
                  <a:pt x="344" y="372"/>
                </a:lnTo>
                <a:lnTo>
                  <a:pt x="327" y="360"/>
                </a:lnTo>
                <a:lnTo>
                  <a:pt x="311" y="346"/>
                </a:lnTo>
                <a:lnTo>
                  <a:pt x="295" y="329"/>
                </a:lnTo>
                <a:lnTo>
                  <a:pt x="278" y="310"/>
                </a:lnTo>
                <a:lnTo>
                  <a:pt x="262" y="290"/>
                </a:lnTo>
                <a:lnTo>
                  <a:pt x="246" y="268"/>
                </a:lnTo>
                <a:lnTo>
                  <a:pt x="229" y="246"/>
                </a:lnTo>
                <a:lnTo>
                  <a:pt x="213" y="222"/>
                </a:lnTo>
                <a:lnTo>
                  <a:pt x="196" y="199"/>
                </a:lnTo>
                <a:lnTo>
                  <a:pt x="180" y="175"/>
                </a:lnTo>
                <a:lnTo>
                  <a:pt x="164" y="152"/>
                </a:lnTo>
                <a:lnTo>
                  <a:pt x="147" y="129"/>
                </a:lnTo>
                <a:lnTo>
                  <a:pt x="131" y="108"/>
                </a:lnTo>
                <a:lnTo>
                  <a:pt x="114" y="87"/>
                </a:lnTo>
                <a:lnTo>
                  <a:pt x="98" y="69"/>
                </a:lnTo>
                <a:lnTo>
                  <a:pt x="82" y="52"/>
                </a:lnTo>
                <a:lnTo>
                  <a:pt x="65" y="38"/>
                </a:lnTo>
                <a:lnTo>
                  <a:pt x="49" y="26"/>
                </a:lnTo>
                <a:lnTo>
                  <a:pt x="33" y="17"/>
                </a:lnTo>
                <a:lnTo>
                  <a:pt x="16" y="11"/>
                </a:lnTo>
                <a:lnTo>
                  <a:pt x="0" y="1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1714500"/>
            <a:ext cx="3743325" cy="285750"/>
          </a:xfrm>
          <a:custGeom>
            <a:avLst/>
            <a:gdLst/>
            <a:ahLst/>
            <a:cxnLst/>
            <a:rect l="l" t="t" r="r" b="b"/>
            <a:pathLst>
              <a:path w="393" h="30">
                <a:moveTo>
                  <a:pt x="0" y="13"/>
                </a:moveTo>
                <a:lnTo>
                  <a:pt x="16" y="12"/>
                </a:lnTo>
                <a:lnTo>
                  <a:pt x="33" y="12"/>
                </a:lnTo>
                <a:lnTo>
                  <a:pt x="49" y="12"/>
                </a:lnTo>
                <a:lnTo>
                  <a:pt x="65" y="12"/>
                </a:lnTo>
                <a:lnTo>
                  <a:pt x="82" y="11"/>
                </a:lnTo>
                <a:lnTo>
                  <a:pt x="98" y="11"/>
                </a:lnTo>
                <a:lnTo>
                  <a:pt x="114" y="10"/>
                </a:lnTo>
                <a:lnTo>
                  <a:pt x="131" y="9"/>
                </a:lnTo>
                <a:lnTo>
                  <a:pt x="147" y="9"/>
                </a:lnTo>
                <a:lnTo>
                  <a:pt x="164" y="8"/>
                </a:lnTo>
                <a:lnTo>
                  <a:pt x="180" y="7"/>
                </a:lnTo>
                <a:lnTo>
                  <a:pt x="196" y="6"/>
                </a:lnTo>
                <a:lnTo>
                  <a:pt x="213" y="6"/>
                </a:lnTo>
                <a:lnTo>
                  <a:pt x="229" y="5"/>
                </a:lnTo>
                <a:lnTo>
                  <a:pt x="246" y="4"/>
                </a:lnTo>
                <a:lnTo>
                  <a:pt x="262" y="3"/>
                </a:lnTo>
                <a:lnTo>
                  <a:pt x="278" y="3"/>
                </a:lnTo>
                <a:lnTo>
                  <a:pt x="295" y="2"/>
                </a:lnTo>
                <a:lnTo>
                  <a:pt x="311" y="1"/>
                </a:lnTo>
                <a:lnTo>
                  <a:pt x="327" y="1"/>
                </a:lnTo>
                <a:lnTo>
                  <a:pt x="344" y="1"/>
                </a:lnTo>
                <a:lnTo>
                  <a:pt x="360" y="0"/>
                </a:lnTo>
                <a:lnTo>
                  <a:pt x="377" y="0"/>
                </a:lnTo>
                <a:lnTo>
                  <a:pt x="393" y="0"/>
                </a:lnTo>
                <a:lnTo>
                  <a:pt x="393" y="17"/>
                </a:lnTo>
                <a:lnTo>
                  <a:pt x="377" y="17"/>
                </a:lnTo>
                <a:lnTo>
                  <a:pt x="360" y="18"/>
                </a:lnTo>
                <a:lnTo>
                  <a:pt x="344" y="18"/>
                </a:lnTo>
                <a:lnTo>
                  <a:pt x="327" y="18"/>
                </a:lnTo>
                <a:lnTo>
                  <a:pt x="311" y="19"/>
                </a:lnTo>
                <a:lnTo>
                  <a:pt x="295" y="19"/>
                </a:lnTo>
                <a:lnTo>
                  <a:pt x="278" y="20"/>
                </a:lnTo>
                <a:lnTo>
                  <a:pt x="262" y="20"/>
                </a:lnTo>
                <a:lnTo>
                  <a:pt x="246" y="21"/>
                </a:lnTo>
                <a:lnTo>
                  <a:pt x="229" y="22"/>
                </a:lnTo>
                <a:lnTo>
                  <a:pt x="213" y="23"/>
                </a:lnTo>
                <a:lnTo>
                  <a:pt x="196" y="23"/>
                </a:lnTo>
                <a:lnTo>
                  <a:pt x="180" y="24"/>
                </a:lnTo>
                <a:lnTo>
                  <a:pt x="164" y="25"/>
                </a:lnTo>
                <a:lnTo>
                  <a:pt x="147" y="26"/>
                </a:lnTo>
                <a:lnTo>
                  <a:pt x="131" y="26"/>
                </a:lnTo>
                <a:lnTo>
                  <a:pt x="114" y="27"/>
                </a:lnTo>
                <a:lnTo>
                  <a:pt x="98" y="28"/>
                </a:lnTo>
                <a:lnTo>
                  <a:pt x="82" y="28"/>
                </a:lnTo>
                <a:lnTo>
                  <a:pt x="65" y="29"/>
                </a:lnTo>
                <a:lnTo>
                  <a:pt x="49" y="29"/>
                </a:lnTo>
                <a:lnTo>
                  <a:pt x="33" y="29"/>
                </a:lnTo>
                <a:lnTo>
                  <a:pt x="16" y="30"/>
                </a:lnTo>
                <a:lnTo>
                  <a:pt x="0" y="3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000250"/>
            <a:ext cx="3743325" cy="1838325"/>
          </a:xfrm>
          <a:custGeom>
            <a:avLst/>
            <a:gdLst/>
            <a:ahLst/>
            <a:cxnLst/>
            <a:rect l="l" t="t" r="r" b="b"/>
            <a:pathLst>
              <a:path w="393" h="193">
                <a:moveTo>
                  <a:pt x="0" y="0"/>
                </a:moveTo>
                <a:lnTo>
                  <a:pt x="16" y="1"/>
                </a:lnTo>
                <a:lnTo>
                  <a:pt x="33" y="3"/>
                </a:lnTo>
                <a:lnTo>
                  <a:pt x="49" y="7"/>
                </a:lnTo>
                <a:lnTo>
                  <a:pt x="65" y="12"/>
                </a:lnTo>
                <a:lnTo>
                  <a:pt x="82" y="19"/>
                </a:lnTo>
                <a:lnTo>
                  <a:pt x="98" y="27"/>
                </a:lnTo>
                <a:lnTo>
                  <a:pt x="114" y="35"/>
                </a:lnTo>
                <a:lnTo>
                  <a:pt x="131" y="44"/>
                </a:lnTo>
                <a:lnTo>
                  <a:pt x="147" y="54"/>
                </a:lnTo>
                <a:lnTo>
                  <a:pt x="164" y="65"/>
                </a:lnTo>
                <a:lnTo>
                  <a:pt x="180" y="75"/>
                </a:lnTo>
                <a:lnTo>
                  <a:pt x="196" y="86"/>
                </a:lnTo>
                <a:lnTo>
                  <a:pt x="213" y="97"/>
                </a:lnTo>
                <a:lnTo>
                  <a:pt x="229" y="107"/>
                </a:lnTo>
                <a:lnTo>
                  <a:pt x="246" y="118"/>
                </a:lnTo>
                <a:lnTo>
                  <a:pt x="262" y="127"/>
                </a:lnTo>
                <a:lnTo>
                  <a:pt x="278" y="137"/>
                </a:lnTo>
                <a:lnTo>
                  <a:pt x="295" y="145"/>
                </a:lnTo>
                <a:lnTo>
                  <a:pt x="311" y="153"/>
                </a:lnTo>
                <a:lnTo>
                  <a:pt x="327" y="159"/>
                </a:lnTo>
                <a:lnTo>
                  <a:pt x="344" y="165"/>
                </a:lnTo>
                <a:lnTo>
                  <a:pt x="360" y="169"/>
                </a:lnTo>
                <a:lnTo>
                  <a:pt x="377" y="171"/>
                </a:lnTo>
                <a:lnTo>
                  <a:pt x="393" y="172"/>
                </a:lnTo>
                <a:lnTo>
                  <a:pt x="393" y="193"/>
                </a:lnTo>
                <a:lnTo>
                  <a:pt x="377" y="192"/>
                </a:lnTo>
                <a:lnTo>
                  <a:pt x="360" y="190"/>
                </a:lnTo>
                <a:lnTo>
                  <a:pt x="344" y="186"/>
                </a:lnTo>
                <a:lnTo>
                  <a:pt x="327" y="180"/>
                </a:lnTo>
                <a:lnTo>
                  <a:pt x="311" y="174"/>
                </a:lnTo>
                <a:lnTo>
                  <a:pt x="295" y="166"/>
                </a:lnTo>
                <a:lnTo>
                  <a:pt x="278" y="157"/>
                </a:lnTo>
                <a:lnTo>
                  <a:pt x="262" y="148"/>
                </a:lnTo>
                <a:lnTo>
                  <a:pt x="246" y="138"/>
                </a:lnTo>
                <a:lnTo>
                  <a:pt x="229" y="128"/>
                </a:lnTo>
                <a:lnTo>
                  <a:pt x="213" y="117"/>
                </a:lnTo>
                <a:lnTo>
                  <a:pt x="196" y="107"/>
                </a:lnTo>
                <a:lnTo>
                  <a:pt x="180" y="96"/>
                </a:lnTo>
                <a:lnTo>
                  <a:pt x="164" y="85"/>
                </a:lnTo>
                <a:lnTo>
                  <a:pt x="147" y="75"/>
                </a:lnTo>
                <a:lnTo>
                  <a:pt x="131" y="65"/>
                </a:lnTo>
                <a:lnTo>
                  <a:pt x="114" y="56"/>
                </a:lnTo>
                <a:lnTo>
                  <a:pt x="98" y="47"/>
                </a:lnTo>
                <a:lnTo>
                  <a:pt x="82" y="40"/>
                </a:lnTo>
                <a:lnTo>
                  <a:pt x="65" y="33"/>
                </a:lnTo>
                <a:lnTo>
                  <a:pt x="49" y="28"/>
                </a:lnTo>
                <a:lnTo>
                  <a:pt x="33" y="24"/>
                </a:lnTo>
                <a:lnTo>
                  <a:pt x="16" y="21"/>
                </a:lnTo>
                <a:lnTo>
                  <a:pt x="0" y="2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2190750"/>
            <a:ext cx="3743325" cy="3305175"/>
          </a:xfrm>
          <a:custGeom>
            <a:avLst/>
            <a:gdLst/>
            <a:ahLst/>
            <a:cxnLst/>
            <a:rect l="l" t="t" r="r" b="b"/>
            <a:pathLst>
              <a:path w="393" h="347">
                <a:moveTo>
                  <a:pt x="0" y="0"/>
                </a:moveTo>
                <a:lnTo>
                  <a:pt x="16" y="2"/>
                </a:lnTo>
                <a:lnTo>
                  <a:pt x="33" y="7"/>
                </a:lnTo>
                <a:lnTo>
                  <a:pt x="49" y="15"/>
                </a:lnTo>
                <a:lnTo>
                  <a:pt x="65" y="25"/>
                </a:lnTo>
                <a:lnTo>
                  <a:pt x="82" y="38"/>
                </a:lnTo>
                <a:lnTo>
                  <a:pt x="98" y="53"/>
                </a:lnTo>
                <a:lnTo>
                  <a:pt x="114" y="69"/>
                </a:lnTo>
                <a:lnTo>
                  <a:pt x="131" y="87"/>
                </a:lnTo>
                <a:lnTo>
                  <a:pt x="147" y="106"/>
                </a:lnTo>
                <a:lnTo>
                  <a:pt x="164" y="126"/>
                </a:lnTo>
                <a:lnTo>
                  <a:pt x="180" y="147"/>
                </a:lnTo>
                <a:lnTo>
                  <a:pt x="196" y="168"/>
                </a:lnTo>
                <a:lnTo>
                  <a:pt x="213" y="189"/>
                </a:lnTo>
                <a:lnTo>
                  <a:pt x="229" y="209"/>
                </a:lnTo>
                <a:lnTo>
                  <a:pt x="246" y="229"/>
                </a:lnTo>
                <a:lnTo>
                  <a:pt x="262" y="248"/>
                </a:lnTo>
                <a:lnTo>
                  <a:pt x="278" y="266"/>
                </a:lnTo>
                <a:lnTo>
                  <a:pt x="295" y="283"/>
                </a:lnTo>
                <a:lnTo>
                  <a:pt x="311" y="298"/>
                </a:lnTo>
                <a:lnTo>
                  <a:pt x="327" y="310"/>
                </a:lnTo>
                <a:lnTo>
                  <a:pt x="344" y="321"/>
                </a:lnTo>
                <a:lnTo>
                  <a:pt x="360" y="329"/>
                </a:lnTo>
                <a:lnTo>
                  <a:pt x="377" y="334"/>
                </a:lnTo>
                <a:lnTo>
                  <a:pt x="393" y="335"/>
                </a:lnTo>
                <a:lnTo>
                  <a:pt x="393" y="347"/>
                </a:lnTo>
                <a:lnTo>
                  <a:pt x="377" y="345"/>
                </a:lnTo>
                <a:lnTo>
                  <a:pt x="360" y="340"/>
                </a:lnTo>
                <a:lnTo>
                  <a:pt x="344" y="332"/>
                </a:lnTo>
                <a:lnTo>
                  <a:pt x="327" y="322"/>
                </a:lnTo>
                <a:lnTo>
                  <a:pt x="311" y="309"/>
                </a:lnTo>
                <a:lnTo>
                  <a:pt x="295" y="295"/>
                </a:lnTo>
                <a:lnTo>
                  <a:pt x="278" y="278"/>
                </a:lnTo>
                <a:lnTo>
                  <a:pt x="262" y="260"/>
                </a:lnTo>
                <a:lnTo>
                  <a:pt x="246" y="241"/>
                </a:lnTo>
                <a:lnTo>
                  <a:pt x="229" y="221"/>
                </a:lnTo>
                <a:lnTo>
                  <a:pt x="213" y="200"/>
                </a:lnTo>
                <a:lnTo>
                  <a:pt x="196" y="179"/>
                </a:lnTo>
                <a:lnTo>
                  <a:pt x="180" y="159"/>
                </a:lnTo>
                <a:lnTo>
                  <a:pt x="164" y="138"/>
                </a:lnTo>
                <a:lnTo>
                  <a:pt x="147" y="118"/>
                </a:lnTo>
                <a:lnTo>
                  <a:pt x="131" y="99"/>
                </a:lnTo>
                <a:lnTo>
                  <a:pt x="114" y="81"/>
                </a:lnTo>
                <a:lnTo>
                  <a:pt x="98" y="64"/>
                </a:lnTo>
                <a:lnTo>
                  <a:pt x="82" y="50"/>
                </a:lnTo>
                <a:lnTo>
                  <a:pt x="65" y="37"/>
                </a:lnTo>
                <a:lnTo>
                  <a:pt x="49" y="26"/>
                </a:lnTo>
                <a:lnTo>
                  <a:pt x="33" y="19"/>
                </a:lnTo>
                <a:lnTo>
                  <a:pt x="16" y="14"/>
                </a:lnTo>
                <a:lnTo>
                  <a:pt x="0" y="1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1876425"/>
            <a:ext cx="3743325" cy="685800"/>
          </a:xfrm>
          <a:custGeom>
            <a:avLst/>
            <a:gdLst/>
            <a:ahLst/>
            <a:cxnLst/>
            <a:rect l="l" t="t" r="r" b="b"/>
            <a:pathLst>
              <a:path w="393" h="72">
                <a:moveTo>
                  <a:pt x="0" y="51"/>
                </a:moveTo>
                <a:lnTo>
                  <a:pt x="16" y="51"/>
                </a:lnTo>
                <a:lnTo>
                  <a:pt x="33" y="50"/>
                </a:lnTo>
                <a:lnTo>
                  <a:pt x="49" y="49"/>
                </a:lnTo>
                <a:lnTo>
                  <a:pt x="65" y="47"/>
                </a:lnTo>
                <a:lnTo>
                  <a:pt x="82" y="45"/>
                </a:lnTo>
                <a:lnTo>
                  <a:pt x="98" y="43"/>
                </a:lnTo>
                <a:lnTo>
                  <a:pt x="114" y="41"/>
                </a:lnTo>
                <a:lnTo>
                  <a:pt x="131" y="38"/>
                </a:lnTo>
                <a:lnTo>
                  <a:pt x="147" y="35"/>
                </a:lnTo>
                <a:lnTo>
                  <a:pt x="164" y="32"/>
                </a:lnTo>
                <a:lnTo>
                  <a:pt x="180" y="29"/>
                </a:lnTo>
                <a:lnTo>
                  <a:pt x="196" y="26"/>
                </a:lnTo>
                <a:lnTo>
                  <a:pt x="213" y="22"/>
                </a:lnTo>
                <a:lnTo>
                  <a:pt x="229" y="19"/>
                </a:lnTo>
                <a:lnTo>
                  <a:pt x="246" y="16"/>
                </a:lnTo>
                <a:lnTo>
                  <a:pt x="262" y="13"/>
                </a:lnTo>
                <a:lnTo>
                  <a:pt x="278" y="11"/>
                </a:lnTo>
                <a:lnTo>
                  <a:pt x="295" y="8"/>
                </a:lnTo>
                <a:lnTo>
                  <a:pt x="311" y="6"/>
                </a:lnTo>
                <a:lnTo>
                  <a:pt x="327" y="4"/>
                </a:lnTo>
                <a:lnTo>
                  <a:pt x="344" y="2"/>
                </a:lnTo>
                <a:lnTo>
                  <a:pt x="360" y="1"/>
                </a:lnTo>
                <a:lnTo>
                  <a:pt x="377" y="1"/>
                </a:lnTo>
                <a:lnTo>
                  <a:pt x="393" y="0"/>
                </a:lnTo>
                <a:lnTo>
                  <a:pt x="393" y="21"/>
                </a:lnTo>
                <a:lnTo>
                  <a:pt x="377" y="21"/>
                </a:lnTo>
                <a:lnTo>
                  <a:pt x="360" y="22"/>
                </a:lnTo>
                <a:lnTo>
                  <a:pt x="344" y="23"/>
                </a:lnTo>
                <a:lnTo>
                  <a:pt x="327" y="25"/>
                </a:lnTo>
                <a:lnTo>
                  <a:pt x="311" y="27"/>
                </a:lnTo>
                <a:lnTo>
                  <a:pt x="295" y="29"/>
                </a:lnTo>
                <a:lnTo>
                  <a:pt x="278" y="31"/>
                </a:lnTo>
                <a:lnTo>
                  <a:pt x="262" y="34"/>
                </a:lnTo>
                <a:lnTo>
                  <a:pt x="246" y="37"/>
                </a:lnTo>
                <a:lnTo>
                  <a:pt x="229" y="40"/>
                </a:lnTo>
                <a:lnTo>
                  <a:pt x="213" y="43"/>
                </a:lnTo>
                <a:lnTo>
                  <a:pt x="196" y="46"/>
                </a:lnTo>
                <a:lnTo>
                  <a:pt x="180" y="49"/>
                </a:lnTo>
                <a:lnTo>
                  <a:pt x="164" y="52"/>
                </a:lnTo>
                <a:lnTo>
                  <a:pt x="147" y="56"/>
                </a:lnTo>
                <a:lnTo>
                  <a:pt x="131" y="58"/>
                </a:lnTo>
                <a:lnTo>
                  <a:pt x="114" y="61"/>
                </a:lnTo>
                <a:lnTo>
                  <a:pt x="98" y="64"/>
                </a:lnTo>
                <a:lnTo>
                  <a:pt x="82" y="66"/>
                </a:lnTo>
                <a:lnTo>
                  <a:pt x="65" y="68"/>
                </a:lnTo>
                <a:lnTo>
                  <a:pt x="49" y="69"/>
                </a:lnTo>
                <a:lnTo>
                  <a:pt x="33" y="71"/>
                </a:lnTo>
                <a:lnTo>
                  <a:pt x="16" y="71"/>
                </a:lnTo>
                <a:lnTo>
                  <a:pt x="0" y="7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2562225"/>
            <a:ext cx="3743325" cy="1457325"/>
          </a:xfrm>
          <a:custGeom>
            <a:avLst/>
            <a:gdLst/>
            <a:ahLst/>
            <a:cxnLst/>
            <a:rect l="l" t="t" r="r" b="b"/>
            <a:pathLst>
              <a:path w="393" h="153">
                <a:moveTo>
                  <a:pt x="0" y="0"/>
                </a:moveTo>
                <a:lnTo>
                  <a:pt x="16" y="0"/>
                </a:lnTo>
                <a:lnTo>
                  <a:pt x="33" y="2"/>
                </a:lnTo>
                <a:lnTo>
                  <a:pt x="49" y="5"/>
                </a:lnTo>
                <a:lnTo>
                  <a:pt x="65" y="10"/>
                </a:lnTo>
                <a:lnTo>
                  <a:pt x="82" y="15"/>
                </a:lnTo>
                <a:lnTo>
                  <a:pt x="98" y="21"/>
                </a:lnTo>
                <a:lnTo>
                  <a:pt x="114" y="27"/>
                </a:lnTo>
                <a:lnTo>
                  <a:pt x="131" y="34"/>
                </a:lnTo>
                <a:lnTo>
                  <a:pt x="147" y="42"/>
                </a:lnTo>
                <a:lnTo>
                  <a:pt x="164" y="50"/>
                </a:lnTo>
                <a:lnTo>
                  <a:pt x="180" y="58"/>
                </a:lnTo>
                <a:lnTo>
                  <a:pt x="196" y="67"/>
                </a:lnTo>
                <a:lnTo>
                  <a:pt x="213" y="75"/>
                </a:lnTo>
                <a:lnTo>
                  <a:pt x="229" y="83"/>
                </a:lnTo>
                <a:lnTo>
                  <a:pt x="246" y="91"/>
                </a:lnTo>
                <a:lnTo>
                  <a:pt x="262" y="99"/>
                </a:lnTo>
                <a:lnTo>
                  <a:pt x="278" y="106"/>
                </a:lnTo>
                <a:lnTo>
                  <a:pt x="295" y="113"/>
                </a:lnTo>
                <a:lnTo>
                  <a:pt x="311" y="119"/>
                </a:lnTo>
                <a:lnTo>
                  <a:pt x="327" y="124"/>
                </a:lnTo>
                <a:lnTo>
                  <a:pt x="344" y="128"/>
                </a:lnTo>
                <a:lnTo>
                  <a:pt x="360" y="131"/>
                </a:lnTo>
                <a:lnTo>
                  <a:pt x="377" y="133"/>
                </a:lnTo>
                <a:lnTo>
                  <a:pt x="393" y="134"/>
                </a:lnTo>
                <a:lnTo>
                  <a:pt x="393" y="153"/>
                </a:lnTo>
                <a:lnTo>
                  <a:pt x="377" y="152"/>
                </a:lnTo>
                <a:lnTo>
                  <a:pt x="360" y="150"/>
                </a:lnTo>
                <a:lnTo>
                  <a:pt x="344" y="147"/>
                </a:lnTo>
                <a:lnTo>
                  <a:pt x="327" y="143"/>
                </a:lnTo>
                <a:lnTo>
                  <a:pt x="311" y="138"/>
                </a:lnTo>
                <a:lnTo>
                  <a:pt x="295" y="132"/>
                </a:lnTo>
                <a:lnTo>
                  <a:pt x="278" y="125"/>
                </a:lnTo>
                <a:lnTo>
                  <a:pt x="262" y="118"/>
                </a:lnTo>
                <a:lnTo>
                  <a:pt x="246" y="110"/>
                </a:lnTo>
                <a:lnTo>
                  <a:pt x="229" y="102"/>
                </a:lnTo>
                <a:lnTo>
                  <a:pt x="213" y="94"/>
                </a:lnTo>
                <a:lnTo>
                  <a:pt x="196" y="86"/>
                </a:lnTo>
                <a:lnTo>
                  <a:pt x="180" y="77"/>
                </a:lnTo>
                <a:lnTo>
                  <a:pt x="164" y="69"/>
                </a:lnTo>
                <a:lnTo>
                  <a:pt x="147" y="61"/>
                </a:lnTo>
                <a:lnTo>
                  <a:pt x="131" y="53"/>
                </a:lnTo>
                <a:lnTo>
                  <a:pt x="114" y="46"/>
                </a:lnTo>
                <a:lnTo>
                  <a:pt x="98" y="39"/>
                </a:lnTo>
                <a:lnTo>
                  <a:pt x="82" y="33"/>
                </a:lnTo>
                <a:lnTo>
                  <a:pt x="65" y="28"/>
                </a:lnTo>
                <a:lnTo>
                  <a:pt x="49" y="24"/>
                </a:lnTo>
                <a:lnTo>
                  <a:pt x="33" y="21"/>
                </a:lnTo>
                <a:lnTo>
                  <a:pt x="16" y="19"/>
                </a:lnTo>
                <a:lnTo>
                  <a:pt x="0" y="18"/>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2733675"/>
            <a:ext cx="3743325" cy="2857500"/>
          </a:xfrm>
          <a:custGeom>
            <a:avLst/>
            <a:gdLst/>
            <a:ahLst/>
            <a:cxnLst/>
            <a:rect l="l" t="t" r="r" b="b"/>
            <a:pathLst>
              <a:path w="393" h="300">
                <a:moveTo>
                  <a:pt x="0" y="0"/>
                </a:moveTo>
                <a:lnTo>
                  <a:pt x="16" y="2"/>
                </a:lnTo>
                <a:lnTo>
                  <a:pt x="33" y="6"/>
                </a:lnTo>
                <a:lnTo>
                  <a:pt x="49" y="13"/>
                </a:lnTo>
                <a:lnTo>
                  <a:pt x="65" y="22"/>
                </a:lnTo>
                <a:lnTo>
                  <a:pt x="82" y="33"/>
                </a:lnTo>
                <a:lnTo>
                  <a:pt x="98" y="46"/>
                </a:lnTo>
                <a:lnTo>
                  <a:pt x="114" y="60"/>
                </a:lnTo>
                <a:lnTo>
                  <a:pt x="131" y="75"/>
                </a:lnTo>
                <a:lnTo>
                  <a:pt x="147" y="92"/>
                </a:lnTo>
                <a:lnTo>
                  <a:pt x="164" y="109"/>
                </a:lnTo>
                <a:lnTo>
                  <a:pt x="180" y="127"/>
                </a:lnTo>
                <a:lnTo>
                  <a:pt x="196" y="145"/>
                </a:lnTo>
                <a:lnTo>
                  <a:pt x="213" y="163"/>
                </a:lnTo>
                <a:lnTo>
                  <a:pt x="229" y="181"/>
                </a:lnTo>
                <a:lnTo>
                  <a:pt x="246" y="198"/>
                </a:lnTo>
                <a:lnTo>
                  <a:pt x="262" y="215"/>
                </a:lnTo>
                <a:lnTo>
                  <a:pt x="278" y="230"/>
                </a:lnTo>
                <a:lnTo>
                  <a:pt x="295" y="245"/>
                </a:lnTo>
                <a:lnTo>
                  <a:pt x="311" y="257"/>
                </a:lnTo>
                <a:lnTo>
                  <a:pt x="327" y="268"/>
                </a:lnTo>
                <a:lnTo>
                  <a:pt x="344" y="277"/>
                </a:lnTo>
                <a:lnTo>
                  <a:pt x="360" y="284"/>
                </a:lnTo>
                <a:lnTo>
                  <a:pt x="377" y="288"/>
                </a:lnTo>
                <a:lnTo>
                  <a:pt x="393" y="290"/>
                </a:lnTo>
                <a:lnTo>
                  <a:pt x="393" y="300"/>
                </a:lnTo>
                <a:lnTo>
                  <a:pt x="377" y="299"/>
                </a:lnTo>
                <a:lnTo>
                  <a:pt x="360" y="294"/>
                </a:lnTo>
                <a:lnTo>
                  <a:pt x="344" y="288"/>
                </a:lnTo>
                <a:lnTo>
                  <a:pt x="327" y="279"/>
                </a:lnTo>
                <a:lnTo>
                  <a:pt x="311" y="268"/>
                </a:lnTo>
                <a:lnTo>
                  <a:pt x="295" y="255"/>
                </a:lnTo>
                <a:lnTo>
                  <a:pt x="278" y="240"/>
                </a:lnTo>
                <a:lnTo>
                  <a:pt x="262" y="225"/>
                </a:lnTo>
                <a:lnTo>
                  <a:pt x="246" y="208"/>
                </a:lnTo>
                <a:lnTo>
                  <a:pt x="229" y="191"/>
                </a:lnTo>
                <a:lnTo>
                  <a:pt x="213" y="173"/>
                </a:lnTo>
                <a:lnTo>
                  <a:pt x="196" y="155"/>
                </a:lnTo>
                <a:lnTo>
                  <a:pt x="180" y="137"/>
                </a:lnTo>
                <a:lnTo>
                  <a:pt x="164" y="119"/>
                </a:lnTo>
                <a:lnTo>
                  <a:pt x="147" y="102"/>
                </a:lnTo>
                <a:lnTo>
                  <a:pt x="131" y="86"/>
                </a:lnTo>
                <a:lnTo>
                  <a:pt x="114" y="70"/>
                </a:lnTo>
                <a:lnTo>
                  <a:pt x="98" y="56"/>
                </a:lnTo>
                <a:lnTo>
                  <a:pt x="82" y="43"/>
                </a:lnTo>
                <a:lnTo>
                  <a:pt x="65" y="32"/>
                </a:lnTo>
                <a:lnTo>
                  <a:pt x="49" y="23"/>
                </a:lnTo>
                <a:lnTo>
                  <a:pt x="33" y="16"/>
                </a:lnTo>
                <a:lnTo>
                  <a:pt x="16" y="12"/>
                </a:lnTo>
                <a:lnTo>
                  <a:pt x="0" y="11"/>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076450"/>
            <a:ext cx="3743325" cy="1019175"/>
          </a:xfrm>
          <a:custGeom>
            <a:avLst/>
            <a:gdLst/>
            <a:ahLst/>
            <a:cxnLst/>
            <a:rect l="l" t="t" r="r" b="b"/>
            <a:pathLst>
              <a:path w="393" h="107">
                <a:moveTo>
                  <a:pt x="0" y="86"/>
                </a:moveTo>
                <a:lnTo>
                  <a:pt x="16" y="85"/>
                </a:lnTo>
                <a:lnTo>
                  <a:pt x="33" y="84"/>
                </a:lnTo>
                <a:lnTo>
                  <a:pt x="49" y="82"/>
                </a:lnTo>
                <a:lnTo>
                  <a:pt x="65" y="79"/>
                </a:lnTo>
                <a:lnTo>
                  <a:pt x="82" y="76"/>
                </a:lnTo>
                <a:lnTo>
                  <a:pt x="98" y="72"/>
                </a:lnTo>
                <a:lnTo>
                  <a:pt x="114" y="68"/>
                </a:lnTo>
                <a:lnTo>
                  <a:pt x="131" y="63"/>
                </a:lnTo>
                <a:lnTo>
                  <a:pt x="147" y="58"/>
                </a:lnTo>
                <a:lnTo>
                  <a:pt x="164" y="53"/>
                </a:lnTo>
                <a:lnTo>
                  <a:pt x="180" y="48"/>
                </a:lnTo>
                <a:lnTo>
                  <a:pt x="196" y="43"/>
                </a:lnTo>
                <a:lnTo>
                  <a:pt x="213" y="37"/>
                </a:lnTo>
                <a:lnTo>
                  <a:pt x="229" y="32"/>
                </a:lnTo>
                <a:lnTo>
                  <a:pt x="246" y="27"/>
                </a:lnTo>
                <a:lnTo>
                  <a:pt x="262" y="22"/>
                </a:lnTo>
                <a:lnTo>
                  <a:pt x="278" y="17"/>
                </a:lnTo>
                <a:lnTo>
                  <a:pt x="295" y="13"/>
                </a:lnTo>
                <a:lnTo>
                  <a:pt x="311" y="9"/>
                </a:lnTo>
                <a:lnTo>
                  <a:pt x="327" y="6"/>
                </a:lnTo>
                <a:lnTo>
                  <a:pt x="344" y="4"/>
                </a:lnTo>
                <a:lnTo>
                  <a:pt x="360" y="2"/>
                </a:lnTo>
                <a:lnTo>
                  <a:pt x="377" y="0"/>
                </a:lnTo>
                <a:lnTo>
                  <a:pt x="393" y="0"/>
                </a:lnTo>
                <a:lnTo>
                  <a:pt x="393" y="21"/>
                </a:lnTo>
                <a:lnTo>
                  <a:pt x="377" y="22"/>
                </a:lnTo>
                <a:lnTo>
                  <a:pt x="360" y="23"/>
                </a:lnTo>
                <a:lnTo>
                  <a:pt x="344" y="25"/>
                </a:lnTo>
                <a:lnTo>
                  <a:pt x="327" y="28"/>
                </a:lnTo>
                <a:lnTo>
                  <a:pt x="311" y="31"/>
                </a:lnTo>
                <a:lnTo>
                  <a:pt x="295" y="35"/>
                </a:lnTo>
                <a:lnTo>
                  <a:pt x="278" y="39"/>
                </a:lnTo>
                <a:lnTo>
                  <a:pt x="262" y="44"/>
                </a:lnTo>
                <a:lnTo>
                  <a:pt x="246" y="48"/>
                </a:lnTo>
                <a:lnTo>
                  <a:pt x="229" y="54"/>
                </a:lnTo>
                <a:lnTo>
                  <a:pt x="213" y="59"/>
                </a:lnTo>
                <a:lnTo>
                  <a:pt x="196" y="64"/>
                </a:lnTo>
                <a:lnTo>
                  <a:pt x="180" y="69"/>
                </a:lnTo>
                <a:lnTo>
                  <a:pt x="164" y="75"/>
                </a:lnTo>
                <a:lnTo>
                  <a:pt x="147" y="80"/>
                </a:lnTo>
                <a:lnTo>
                  <a:pt x="131" y="85"/>
                </a:lnTo>
                <a:lnTo>
                  <a:pt x="114" y="89"/>
                </a:lnTo>
                <a:lnTo>
                  <a:pt x="98" y="94"/>
                </a:lnTo>
                <a:lnTo>
                  <a:pt x="82" y="97"/>
                </a:lnTo>
                <a:lnTo>
                  <a:pt x="65" y="101"/>
                </a:lnTo>
                <a:lnTo>
                  <a:pt x="49" y="103"/>
                </a:lnTo>
                <a:lnTo>
                  <a:pt x="33" y="105"/>
                </a:lnTo>
                <a:lnTo>
                  <a:pt x="16" y="107"/>
                </a:lnTo>
                <a:lnTo>
                  <a:pt x="0" y="10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3095625"/>
            <a:ext cx="3743325" cy="1095375"/>
          </a:xfrm>
          <a:custGeom>
            <a:avLst/>
            <a:gdLst/>
            <a:ahLst/>
            <a:cxnLst/>
            <a:rect l="l" t="t" r="r" b="b"/>
            <a:pathLst>
              <a:path w="393" h="115">
                <a:moveTo>
                  <a:pt x="0" y="0"/>
                </a:moveTo>
                <a:lnTo>
                  <a:pt x="16" y="0"/>
                </a:lnTo>
                <a:lnTo>
                  <a:pt x="33" y="2"/>
                </a:lnTo>
                <a:lnTo>
                  <a:pt x="49" y="4"/>
                </a:lnTo>
                <a:lnTo>
                  <a:pt x="65" y="7"/>
                </a:lnTo>
                <a:lnTo>
                  <a:pt x="82" y="11"/>
                </a:lnTo>
                <a:lnTo>
                  <a:pt x="98" y="15"/>
                </a:lnTo>
                <a:lnTo>
                  <a:pt x="114" y="20"/>
                </a:lnTo>
                <a:lnTo>
                  <a:pt x="131" y="25"/>
                </a:lnTo>
                <a:lnTo>
                  <a:pt x="147" y="31"/>
                </a:lnTo>
                <a:lnTo>
                  <a:pt x="164" y="36"/>
                </a:lnTo>
                <a:lnTo>
                  <a:pt x="180" y="42"/>
                </a:lnTo>
                <a:lnTo>
                  <a:pt x="196" y="48"/>
                </a:lnTo>
                <a:lnTo>
                  <a:pt x="213" y="54"/>
                </a:lnTo>
                <a:lnTo>
                  <a:pt x="229" y="60"/>
                </a:lnTo>
                <a:lnTo>
                  <a:pt x="246" y="66"/>
                </a:lnTo>
                <a:lnTo>
                  <a:pt x="262" y="72"/>
                </a:lnTo>
                <a:lnTo>
                  <a:pt x="278" y="77"/>
                </a:lnTo>
                <a:lnTo>
                  <a:pt x="295" y="82"/>
                </a:lnTo>
                <a:lnTo>
                  <a:pt x="311" y="86"/>
                </a:lnTo>
                <a:lnTo>
                  <a:pt x="327" y="90"/>
                </a:lnTo>
                <a:lnTo>
                  <a:pt x="344" y="93"/>
                </a:lnTo>
                <a:lnTo>
                  <a:pt x="360" y="95"/>
                </a:lnTo>
                <a:lnTo>
                  <a:pt x="377" y="96"/>
                </a:lnTo>
                <a:lnTo>
                  <a:pt x="393" y="97"/>
                </a:lnTo>
                <a:lnTo>
                  <a:pt x="393" y="115"/>
                </a:lnTo>
                <a:lnTo>
                  <a:pt x="377" y="114"/>
                </a:lnTo>
                <a:lnTo>
                  <a:pt x="360" y="113"/>
                </a:lnTo>
                <a:lnTo>
                  <a:pt x="344" y="111"/>
                </a:lnTo>
                <a:lnTo>
                  <a:pt x="327" y="108"/>
                </a:lnTo>
                <a:lnTo>
                  <a:pt x="311" y="104"/>
                </a:lnTo>
                <a:lnTo>
                  <a:pt x="295" y="100"/>
                </a:lnTo>
                <a:lnTo>
                  <a:pt x="278" y="95"/>
                </a:lnTo>
                <a:lnTo>
                  <a:pt x="262" y="90"/>
                </a:lnTo>
                <a:lnTo>
                  <a:pt x="246" y="84"/>
                </a:lnTo>
                <a:lnTo>
                  <a:pt x="229" y="78"/>
                </a:lnTo>
                <a:lnTo>
                  <a:pt x="213" y="72"/>
                </a:lnTo>
                <a:lnTo>
                  <a:pt x="196" y="66"/>
                </a:lnTo>
                <a:lnTo>
                  <a:pt x="180" y="60"/>
                </a:lnTo>
                <a:lnTo>
                  <a:pt x="164" y="54"/>
                </a:lnTo>
                <a:lnTo>
                  <a:pt x="147" y="49"/>
                </a:lnTo>
                <a:lnTo>
                  <a:pt x="131" y="43"/>
                </a:lnTo>
                <a:lnTo>
                  <a:pt x="114" y="38"/>
                </a:lnTo>
                <a:lnTo>
                  <a:pt x="98" y="33"/>
                </a:lnTo>
                <a:lnTo>
                  <a:pt x="82" y="29"/>
                </a:lnTo>
                <a:lnTo>
                  <a:pt x="65" y="25"/>
                </a:lnTo>
                <a:lnTo>
                  <a:pt x="49" y="22"/>
                </a:lnTo>
                <a:lnTo>
                  <a:pt x="33" y="20"/>
                </a:lnTo>
                <a:lnTo>
                  <a:pt x="16" y="19"/>
                </a:lnTo>
                <a:lnTo>
                  <a:pt x="0" y="1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3267075"/>
            <a:ext cx="3743325" cy="2419350"/>
          </a:xfrm>
          <a:custGeom>
            <a:avLst/>
            <a:gdLst/>
            <a:ahLst/>
            <a:cxnLst/>
            <a:rect l="l" t="t" r="r" b="b"/>
            <a:pathLst>
              <a:path w="393" h="254">
                <a:moveTo>
                  <a:pt x="0" y="0"/>
                </a:moveTo>
                <a:lnTo>
                  <a:pt x="16" y="1"/>
                </a:lnTo>
                <a:lnTo>
                  <a:pt x="33" y="5"/>
                </a:lnTo>
                <a:lnTo>
                  <a:pt x="49" y="11"/>
                </a:lnTo>
                <a:lnTo>
                  <a:pt x="65" y="18"/>
                </a:lnTo>
                <a:lnTo>
                  <a:pt x="82" y="27"/>
                </a:lnTo>
                <a:lnTo>
                  <a:pt x="98" y="38"/>
                </a:lnTo>
                <a:lnTo>
                  <a:pt x="114" y="50"/>
                </a:lnTo>
                <a:lnTo>
                  <a:pt x="131" y="63"/>
                </a:lnTo>
                <a:lnTo>
                  <a:pt x="147" y="77"/>
                </a:lnTo>
                <a:lnTo>
                  <a:pt x="164" y="92"/>
                </a:lnTo>
                <a:lnTo>
                  <a:pt x="180" y="107"/>
                </a:lnTo>
                <a:lnTo>
                  <a:pt x="196" y="122"/>
                </a:lnTo>
                <a:lnTo>
                  <a:pt x="213" y="137"/>
                </a:lnTo>
                <a:lnTo>
                  <a:pt x="229" y="152"/>
                </a:lnTo>
                <a:lnTo>
                  <a:pt x="246" y="167"/>
                </a:lnTo>
                <a:lnTo>
                  <a:pt x="262" y="181"/>
                </a:lnTo>
                <a:lnTo>
                  <a:pt x="278" y="194"/>
                </a:lnTo>
                <a:lnTo>
                  <a:pt x="295" y="206"/>
                </a:lnTo>
                <a:lnTo>
                  <a:pt x="311" y="217"/>
                </a:lnTo>
                <a:lnTo>
                  <a:pt x="327" y="226"/>
                </a:lnTo>
                <a:lnTo>
                  <a:pt x="344" y="234"/>
                </a:lnTo>
                <a:lnTo>
                  <a:pt x="360" y="239"/>
                </a:lnTo>
                <a:lnTo>
                  <a:pt x="377" y="243"/>
                </a:lnTo>
                <a:lnTo>
                  <a:pt x="393" y="244"/>
                </a:lnTo>
                <a:lnTo>
                  <a:pt x="393" y="254"/>
                </a:lnTo>
                <a:lnTo>
                  <a:pt x="377" y="253"/>
                </a:lnTo>
                <a:lnTo>
                  <a:pt x="360" y="249"/>
                </a:lnTo>
                <a:lnTo>
                  <a:pt x="344" y="243"/>
                </a:lnTo>
                <a:lnTo>
                  <a:pt x="327" y="236"/>
                </a:lnTo>
                <a:lnTo>
                  <a:pt x="311" y="227"/>
                </a:lnTo>
                <a:lnTo>
                  <a:pt x="295" y="216"/>
                </a:lnTo>
                <a:lnTo>
                  <a:pt x="278" y="204"/>
                </a:lnTo>
                <a:lnTo>
                  <a:pt x="262" y="191"/>
                </a:lnTo>
                <a:lnTo>
                  <a:pt x="246" y="177"/>
                </a:lnTo>
                <a:lnTo>
                  <a:pt x="229" y="162"/>
                </a:lnTo>
                <a:lnTo>
                  <a:pt x="213" y="147"/>
                </a:lnTo>
                <a:lnTo>
                  <a:pt x="196" y="132"/>
                </a:lnTo>
                <a:lnTo>
                  <a:pt x="180" y="117"/>
                </a:lnTo>
                <a:lnTo>
                  <a:pt x="164" y="102"/>
                </a:lnTo>
                <a:lnTo>
                  <a:pt x="147" y="87"/>
                </a:lnTo>
                <a:lnTo>
                  <a:pt x="131" y="73"/>
                </a:lnTo>
                <a:lnTo>
                  <a:pt x="114" y="60"/>
                </a:lnTo>
                <a:lnTo>
                  <a:pt x="98" y="48"/>
                </a:lnTo>
                <a:lnTo>
                  <a:pt x="82" y="37"/>
                </a:lnTo>
                <a:lnTo>
                  <a:pt x="65" y="28"/>
                </a:lnTo>
                <a:lnTo>
                  <a:pt x="49" y="20"/>
                </a:lnTo>
                <a:lnTo>
                  <a:pt x="33" y="15"/>
                </a:lnTo>
                <a:lnTo>
                  <a:pt x="16" y="11"/>
                </a:lnTo>
                <a:lnTo>
                  <a:pt x="0" y="1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2276475"/>
            <a:ext cx="3743325" cy="1343025"/>
          </a:xfrm>
          <a:custGeom>
            <a:avLst/>
            <a:gdLst/>
            <a:ahLst/>
            <a:cxnLst/>
            <a:rect l="l" t="t" r="r" b="b"/>
            <a:pathLst>
              <a:path w="393" h="141">
                <a:moveTo>
                  <a:pt x="0" y="120"/>
                </a:moveTo>
                <a:lnTo>
                  <a:pt x="16" y="119"/>
                </a:lnTo>
                <a:lnTo>
                  <a:pt x="33" y="118"/>
                </a:lnTo>
                <a:lnTo>
                  <a:pt x="49" y="115"/>
                </a:lnTo>
                <a:lnTo>
                  <a:pt x="65" y="111"/>
                </a:lnTo>
                <a:lnTo>
                  <a:pt x="82" y="107"/>
                </a:lnTo>
                <a:lnTo>
                  <a:pt x="98" y="101"/>
                </a:lnTo>
                <a:lnTo>
                  <a:pt x="114" y="95"/>
                </a:lnTo>
                <a:lnTo>
                  <a:pt x="131" y="89"/>
                </a:lnTo>
                <a:lnTo>
                  <a:pt x="147" y="82"/>
                </a:lnTo>
                <a:lnTo>
                  <a:pt x="164" y="75"/>
                </a:lnTo>
                <a:lnTo>
                  <a:pt x="180" y="68"/>
                </a:lnTo>
                <a:lnTo>
                  <a:pt x="196" y="60"/>
                </a:lnTo>
                <a:lnTo>
                  <a:pt x="213" y="53"/>
                </a:lnTo>
                <a:lnTo>
                  <a:pt x="229" y="45"/>
                </a:lnTo>
                <a:lnTo>
                  <a:pt x="246" y="38"/>
                </a:lnTo>
                <a:lnTo>
                  <a:pt x="262" y="31"/>
                </a:lnTo>
                <a:lnTo>
                  <a:pt x="278" y="25"/>
                </a:lnTo>
                <a:lnTo>
                  <a:pt x="295" y="19"/>
                </a:lnTo>
                <a:lnTo>
                  <a:pt x="311" y="14"/>
                </a:lnTo>
                <a:lnTo>
                  <a:pt x="327" y="9"/>
                </a:lnTo>
                <a:lnTo>
                  <a:pt x="344" y="5"/>
                </a:lnTo>
                <a:lnTo>
                  <a:pt x="360" y="3"/>
                </a:lnTo>
                <a:lnTo>
                  <a:pt x="377" y="1"/>
                </a:lnTo>
                <a:lnTo>
                  <a:pt x="393" y="0"/>
                </a:lnTo>
                <a:lnTo>
                  <a:pt x="393" y="21"/>
                </a:lnTo>
                <a:lnTo>
                  <a:pt x="377" y="22"/>
                </a:lnTo>
                <a:lnTo>
                  <a:pt x="360" y="24"/>
                </a:lnTo>
                <a:lnTo>
                  <a:pt x="344" y="27"/>
                </a:lnTo>
                <a:lnTo>
                  <a:pt x="327" y="30"/>
                </a:lnTo>
                <a:lnTo>
                  <a:pt x="311" y="35"/>
                </a:lnTo>
                <a:lnTo>
                  <a:pt x="295" y="40"/>
                </a:lnTo>
                <a:lnTo>
                  <a:pt x="278" y="46"/>
                </a:lnTo>
                <a:lnTo>
                  <a:pt x="262" y="52"/>
                </a:lnTo>
                <a:lnTo>
                  <a:pt x="246" y="59"/>
                </a:lnTo>
                <a:lnTo>
                  <a:pt x="229" y="66"/>
                </a:lnTo>
                <a:lnTo>
                  <a:pt x="213" y="74"/>
                </a:lnTo>
                <a:lnTo>
                  <a:pt x="196" y="81"/>
                </a:lnTo>
                <a:lnTo>
                  <a:pt x="180" y="89"/>
                </a:lnTo>
                <a:lnTo>
                  <a:pt x="164" y="96"/>
                </a:lnTo>
                <a:lnTo>
                  <a:pt x="147" y="103"/>
                </a:lnTo>
                <a:lnTo>
                  <a:pt x="131" y="110"/>
                </a:lnTo>
                <a:lnTo>
                  <a:pt x="114" y="116"/>
                </a:lnTo>
                <a:lnTo>
                  <a:pt x="98" y="122"/>
                </a:lnTo>
                <a:lnTo>
                  <a:pt x="82" y="128"/>
                </a:lnTo>
                <a:lnTo>
                  <a:pt x="65" y="132"/>
                </a:lnTo>
                <a:lnTo>
                  <a:pt x="49" y="136"/>
                </a:lnTo>
                <a:lnTo>
                  <a:pt x="33" y="139"/>
                </a:lnTo>
                <a:lnTo>
                  <a:pt x="16" y="140"/>
                </a:lnTo>
                <a:lnTo>
                  <a:pt x="0" y="141"/>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3619500"/>
            <a:ext cx="3743325" cy="742950"/>
          </a:xfrm>
          <a:custGeom>
            <a:avLst/>
            <a:gdLst/>
            <a:ahLst/>
            <a:cxnLst/>
            <a:rect l="l" t="t" r="r" b="b"/>
            <a:pathLst>
              <a:path w="393" h="78">
                <a:moveTo>
                  <a:pt x="0" y="0"/>
                </a:moveTo>
                <a:lnTo>
                  <a:pt x="16" y="0"/>
                </a:lnTo>
                <a:lnTo>
                  <a:pt x="33" y="1"/>
                </a:lnTo>
                <a:lnTo>
                  <a:pt x="49" y="3"/>
                </a:lnTo>
                <a:lnTo>
                  <a:pt x="65" y="5"/>
                </a:lnTo>
                <a:lnTo>
                  <a:pt x="82" y="7"/>
                </a:lnTo>
                <a:lnTo>
                  <a:pt x="98" y="9"/>
                </a:lnTo>
                <a:lnTo>
                  <a:pt x="114" y="12"/>
                </a:lnTo>
                <a:lnTo>
                  <a:pt x="131" y="16"/>
                </a:lnTo>
                <a:lnTo>
                  <a:pt x="147" y="19"/>
                </a:lnTo>
                <a:lnTo>
                  <a:pt x="164" y="23"/>
                </a:lnTo>
                <a:lnTo>
                  <a:pt x="180" y="26"/>
                </a:lnTo>
                <a:lnTo>
                  <a:pt x="196" y="30"/>
                </a:lnTo>
                <a:lnTo>
                  <a:pt x="213" y="34"/>
                </a:lnTo>
                <a:lnTo>
                  <a:pt x="229" y="37"/>
                </a:lnTo>
                <a:lnTo>
                  <a:pt x="246" y="41"/>
                </a:lnTo>
                <a:lnTo>
                  <a:pt x="262" y="44"/>
                </a:lnTo>
                <a:lnTo>
                  <a:pt x="278" y="48"/>
                </a:lnTo>
                <a:lnTo>
                  <a:pt x="295" y="50"/>
                </a:lnTo>
                <a:lnTo>
                  <a:pt x="311" y="53"/>
                </a:lnTo>
                <a:lnTo>
                  <a:pt x="327" y="55"/>
                </a:lnTo>
                <a:lnTo>
                  <a:pt x="344" y="57"/>
                </a:lnTo>
                <a:lnTo>
                  <a:pt x="360" y="59"/>
                </a:lnTo>
                <a:lnTo>
                  <a:pt x="377" y="59"/>
                </a:lnTo>
                <a:lnTo>
                  <a:pt x="393" y="60"/>
                </a:lnTo>
                <a:lnTo>
                  <a:pt x="393" y="78"/>
                </a:lnTo>
                <a:lnTo>
                  <a:pt x="377" y="77"/>
                </a:lnTo>
                <a:lnTo>
                  <a:pt x="360" y="76"/>
                </a:lnTo>
                <a:lnTo>
                  <a:pt x="344" y="75"/>
                </a:lnTo>
                <a:lnTo>
                  <a:pt x="327" y="73"/>
                </a:lnTo>
                <a:lnTo>
                  <a:pt x="311" y="71"/>
                </a:lnTo>
                <a:lnTo>
                  <a:pt x="295" y="68"/>
                </a:lnTo>
                <a:lnTo>
                  <a:pt x="278" y="65"/>
                </a:lnTo>
                <a:lnTo>
                  <a:pt x="262" y="62"/>
                </a:lnTo>
                <a:lnTo>
                  <a:pt x="246" y="59"/>
                </a:lnTo>
                <a:lnTo>
                  <a:pt x="229" y="55"/>
                </a:lnTo>
                <a:lnTo>
                  <a:pt x="213" y="52"/>
                </a:lnTo>
                <a:lnTo>
                  <a:pt x="196" y="48"/>
                </a:lnTo>
                <a:lnTo>
                  <a:pt x="180" y="44"/>
                </a:lnTo>
                <a:lnTo>
                  <a:pt x="164" y="40"/>
                </a:lnTo>
                <a:lnTo>
                  <a:pt x="147" y="37"/>
                </a:lnTo>
                <a:lnTo>
                  <a:pt x="131" y="33"/>
                </a:lnTo>
                <a:lnTo>
                  <a:pt x="114" y="30"/>
                </a:lnTo>
                <a:lnTo>
                  <a:pt x="98" y="27"/>
                </a:lnTo>
                <a:lnTo>
                  <a:pt x="82" y="25"/>
                </a:lnTo>
                <a:lnTo>
                  <a:pt x="65" y="22"/>
                </a:lnTo>
                <a:lnTo>
                  <a:pt x="49" y="21"/>
                </a:lnTo>
                <a:lnTo>
                  <a:pt x="33" y="19"/>
                </a:lnTo>
                <a:lnTo>
                  <a:pt x="16" y="18"/>
                </a:lnTo>
                <a:lnTo>
                  <a:pt x="0" y="18"/>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3790950"/>
            <a:ext cx="3743325" cy="1990725"/>
          </a:xfrm>
          <a:custGeom>
            <a:avLst/>
            <a:gdLst/>
            <a:ahLst/>
            <a:cxnLst/>
            <a:rect l="l" t="t" r="r" b="b"/>
            <a:pathLst>
              <a:path w="393" h="209">
                <a:moveTo>
                  <a:pt x="0" y="0"/>
                </a:moveTo>
                <a:lnTo>
                  <a:pt x="16" y="1"/>
                </a:lnTo>
                <a:lnTo>
                  <a:pt x="33" y="4"/>
                </a:lnTo>
                <a:lnTo>
                  <a:pt x="49" y="9"/>
                </a:lnTo>
                <a:lnTo>
                  <a:pt x="65" y="15"/>
                </a:lnTo>
                <a:lnTo>
                  <a:pt x="82" y="22"/>
                </a:lnTo>
                <a:lnTo>
                  <a:pt x="98" y="31"/>
                </a:lnTo>
                <a:lnTo>
                  <a:pt x="114" y="41"/>
                </a:lnTo>
                <a:lnTo>
                  <a:pt x="131" y="52"/>
                </a:lnTo>
                <a:lnTo>
                  <a:pt x="147" y="63"/>
                </a:lnTo>
                <a:lnTo>
                  <a:pt x="164" y="75"/>
                </a:lnTo>
                <a:lnTo>
                  <a:pt x="180" y="87"/>
                </a:lnTo>
                <a:lnTo>
                  <a:pt x="196" y="99"/>
                </a:lnTo>
                <a:lnTo>
                  <a:pt x="213" y="112"/>
                </a:lnTo>
                <a:lnTo>
                  <a:pt x="229" y="124"/>
                </a:lnTo>
                <a:lnTo>
                  <a:pt x="246" y="136"/>
                </a:lnTo>
                <a:lnTo>
                  <a:pt x="262" y="147"/>
                </a:lnTo>
                <a:lnTo>
                  <a:pt x="278" y="158"/>
                </a:lnTo>
                <a:lnTo>
                  <a:pt x="295" y="168"/>
                </a:lnTo>
                <a:lnTo>
                  <a:pt x="311" y="177"/>
                </a:lnTo>
                <a:lnTo>
                  <a:pt x="327" y="184"/>
                </a:lnTo>
                <a:lnTo>
                  <a:pt x="344" y="190"/>
                </a:lnTo>
                <a:lnTo>
                  <a:pt x="360" y="195"/>
                </a:lnTo>
                <a:lnTo>
                  <a:pt x="377" y="198"/>
                </a:lnTo>
                <a:lnTo>
                  <a:pt x="393" y="199"/>
                </a:lnTo>
                <a:lnTo>
                  <a:pt x="393" y="209"/>
                </a:lnTo>
                <a:lnTo>
                  <a:pt x="377" y="208"/>
                </a:lnTo>
                <a:lnTo>
                  <a:pt x="360" y="206"/>
                </a:lnTo>
                <a:lnTo>
                  <a:pt x="344" y="201"/>
                </a:lnTo>
                <a:lnTo>
                  <a:pt x="327" y="195"/>
                </a:lnTo>
                <a:lnTo>
                  <a:pt x="311" y="187"/>
                </a:lnTo>
                <a:lnTo>
                  <a:pt x="295" y="178"/>
                </a:lnTo>
                <a:lnTo>
                  <a:pt x="278" y="169"/>
                </a:lnTo>
                <a:lnTo>
                  <a:pt x="262" y="158"/>
                </a:lnTo>
                <a:lnTo>
                  <a:pt x="246" y="147"/>
                </a:lnTo>
                <a:lnTo>
                  <a:pt x="229" y="135"/>
                </a:lnTo>
                <a:lnTo>
                  <a:pt x="213" y="122"/>
                </a:lnTo>
                <a:lnTo>
                  <a:pt x="196" y="110"/>
                </a:lnTo>
                <a:lnTo>
                  <a:pt x="180" y="98"/>
                </a:lnTo>
                <a:lnTo>
                  <a:pt x="164" y="85"/>
                </a:lnTo>
                <a:lnTo>
                  <a:pt x="147" y="73"/>
                </a:lnTo>
                <a:lnTo>
                  <a:pt x="131" y="62"/>
                </a:lnTo>
                <a:lnTo>
                  <a:pt x="114" y="51"/>
                </a:lnTo>
                <a:lnTo>
                  <a:pt x="98" y="42"/>
                </a:lnTo>
                <a:lnTo>
                  <a:pt x="82" y="33"/>
                </a:lnTo>
                <a:lnTo>
                  <a:pt x="65" y="25"/>
                </a:lnTo>
                <a:lnTo>
                  <a:pt x="49" y="19"/>
                </a:lnTo>
                <a:lnTo>
                  <a:pt x="33" y="14"/>
                </a:lnTo>
                <a:lnTo>
                  <a:pt x="16" y="12"/>
                </a:lnTo>
                <a:lnTo>
                  <a:pt x="0" y="11"/>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2476500"/>
            <a:ext cx="3743325" cy="1666875"/>
          </a:xfrm>
          <a:custGeom>
            <a:avLst/>
            <a:gdLst/>
            <a:ahLst/>
            <a:cxnLst/>
            <a:rect l="l" t="t" r="r" b="b"/>
            <a:pathLst>
              <a:path w="393" h="175">
                <a:moveTo>
                  <a:pt x="0" y="155"/>
                </a:moveTo>
                <a:lnTo>
                  <a:pt x="16" y="154"/>
                </a:lnTo>
                <a:lnTo>
                  <a:pt x="33" y="151"/>
                </a:lnTo>
                <a:lnTo>
                  <a:pt x="49" y="148"/>
                </a:lnTo>
                <a:lnTo>
                  <a:pt x="65" y="143"/>
                </a:lnTo>
                <a:lnTo>
                  <a:pt x="82" y="137"/>
                </a:lnTo>
                <a:lnTo>
                  <a:pt x="98" y="130"/>
                </a:lnTo>
                <a:lnTo>
                  <a:pt x="114" y="123"/>
                </a:lnTo>
                <a:lnTo>
                  <a:pt x="131" y="115"/>
                </a:lnTo>
                <a:lnTo>
                  <a:pt x="147" y="106"/>
                </a:lnTo>
                <a:lnTo>
                  <a:pt x="164" y="97"/>
                </a:lnTo>
                <a:lnTo>
                  <a:pt x="180" y="87"/>
                </a:lnTo>
                <a:lnTo>
                  <a:pt x="196" y="77"/>
                </a:lnTo>
                <a:lnTo>
                  <a:pt x="213" y="68"/>
                </a:lnTo>
                <a:lnTo>
                  <a:pt x="229" y="58"/>
                </a:lnTo>
                <a:lnTo>
                  <a:pt x="246" y="49"/>
                </a:lnTo>
                <a:lnTo>
                  <a:pt x="262" y="40"/>
                </a:lnTo>
                <a:lnTo>
                  <a:pt x="278" y="32"/>
                </a:lnTo>
                <a:lnTo>
                  <a:pt x="295" y="24"/>
                </a:lnTo>
                <a:lnTo>
                  <a:pt x="311" y="18"/>
                </a:lnTo>
                <a:lnTo>
                  <a:pt x="327" y="12"/>
                </a:lnTo>
                <a:lnTo>
                  <a:pt x="344" y="7"/>
                </a:lnTo>
                <a:lnTo>
                  <a:pt x="360" y="3"/>
                </a:lnTo>
                <a:lnTo>
                  <a:pt x="377" y="1"/>
                </a:lnTo>
                <a:lnTo>
                  <a:pt x="393" y="0"/>
                </a:lnTo>
                <a:lnTo>
                  <a:pt x="393" y="21"/>
                </a:lnTo>
                <a:lnTo>
                  <a:pt x="377" y="22"/>
                </a:lnTo>
                <a:lnTo>
                  <a:pt x="360" y="24"/>
                </a:lnTo>
                <a:lnTo>
                  <a:pt x="344" y="28"/>
                </a:lnTo>
                <a:lnTo>
                  <a:pt x="327" y="33"/>
                </a:lnTo>
                <a:lnTo>
                  <a:pt x="311" y="39"/>
                </a:lnTo>
                <a:lnTo>
                  <a:pt x="295" y="45"/>
                </a:lnTo>
                <a:lnTo>
                  <a:pt x="278" y="53"/>
                </a:lnTo>
                <a:lnTo>
                  <a:pt x="262" y="61"/>
                </a:lnTo>
                <a:lnTo>
                  <a:pt x="246" y="70"/>
                </a:lnTo>
                <a:lnTo>
                  <a:pt x="229" y="79"/>
                </a:lnTo>
                <a:lnTo>
                  <a:pt x="213" y="89"/>
                </a:lnTo>
                <a:lnTo>
                  <a:pt x="196" y="98"/>
                </a:lnTo>
                <a:lnTo>
                  <a:pt x="180" y="108"/>
                </a:lnTo>
                <a:lnTo>
                  <a:pt x="164" y="117"/>
                </a:lnTo>
                <a:lnTo>
                  <a:pt x="147" y="127"/>
                </a:lnTo>
                <a:lnTo>
                  <a:pt x="131" y="135"/>
                </a:lnTo>
                <a:lnTo>
                  <a:pt x="114" y="144"/>
                </a:lnTo>
                <a:lnTo>
                  <a:pt x="98" y="151"/>
                </a:lnTo>
                <a:lnTo>
                  <a:pt x="82" y="158"/>
                </a:lnTo>
                <a:lnTo>
                  <a:pt x="65" y="164"/>
                </a:lnTo>
                <a:lnTo>
                  <a:pt x="49" y="169"/>
                </a:lnTo>
                <a:lnTo>
                  <a:pt x="33" y="172"/>
                </a:lnTo>
                <a:lnTo>
                  <a:pt x="16" y="175"/>
                </a:lnTo>
                <a:lnTo>
                  <a:pt x="0" y="175"/>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143375"/>
            <a:ext cx="3743325" cy="390525"/>
          </a:xfrm>
          <a:custGeom>
            <a:avLst/>
            <a:gdLst/>
            <a:ahLst/>
            <a:cxnLst/>
            <a:rect l="l" t="t" r="r" b="b"/>
            <a:pathLst>
              <a:path w="393" h="41">
                <a:moveTo>
                  <a:pt x="0" y="0"/>
                </a:moveTo>
                <a:lnTo>
                  <a:pt x="16" y="1"/>
                </a:lnTo>
                <a:lnTo>
                  <a:pt x="33" y="1"/>
                </a:lnTo>
                <a:lnTo>
                  <a:pt x="49" y="1"/>
                </a:lnTo>
                <a:lnTo>
                  <a:pt x="65" y="2"/>
                </a:lnTo>
                <a:lnTo>
                  <a:pt x="82" y="3"/>
                </a:lnTo>
                <a:lnTo>
                  <a:pt x="98" y="4"/>
                </a:lnTo>
                <a:lnTo>
                  <a:pt x="114" y="5"/>
                </a:lnTo>
                <a:lnTo>
                  <a:pt x="131" y="6"/>
                </a:lnTo>
                <a:lnTo>
                  <a:pt x="147" y="7"/>
                </a:lnTo>
                <a:lnTo>
                  <a:pt x="164" y="9"/>
                </a:lnTo>
                <a:lnTo>
                  <a:pt x="180" y="10"/>
                </a:lnTo>
                <a:lnTo>
                  <a:pt x="196" y="12"/>
                </a:lnTo>
                <a:lnTo>
                  <a:pt x="213" y="13"/>
                </a:lnTo>
                <a:lnTo>
                  <a:pt x="229" y="14"/>
                </a:lnTo>
                <a:lnTo>
                  <a:pt x="246" y="16"/>
                </a:lnTo>
                <a:lnTo>
                  <a:pt x="262" y="17"/>
                </a:lnTo>
                <a:lnTo>
                  <a:pt x="278" y="18"/>
                </a:lnTo>
                <a:lnTo>
                  <a:pt x="295" y="19"/>
                </a:lnTo>
                <a:lnTo>
                  <a:pt x="311" y="20"/>
                </a:lnTo>
                <a:lnTo>
                  <a:pt x="327" y="21"/>
                </a:lnTo>
                <a:lnTo>
                  <a:pt x="344" y="22"/>
                </a:lnTo>
                <a:lnTo>
                  <a:pt x="360" y="22"/>
                </a:lnTo>
                <a:lnTo>
                  <a:pt x="377" y="23"/>
                </a:lnTo>
                <a:lnTo>
                  <a:pt x="393" y="23"/>
                </a:lnTo>
                <a:lnTo>
                  <a:pt x="393" y="41"/>
                </a:lnTo>
                <a:lnTo>
                  <a:pt x="377" y="40"/>
                </a:lnTo>
                <a:lnTo>
                  <a:pt x="360" y="40"/>
                </a:lnTo>
                <a:lnTo>
                  <a:pt x="344" y="40"/>
                </a:lnTo>
                <a:lnTo>
                  <a:pt x="327" y="39"/>
                </a:lnTo>
                <a:lnTo>
                  <a:pt x="311" y="38"/>
                </a:lnTo>
                <a:lnTo>
                  <a:pt x="295" y="37"/>
                </a:lnTo>
                <a:lnTo>
                  <a:pt x="278" y="36"/>
                </a:lnTo>
                <a:lnTo>
                  <a:pt x="262" y="35"/>
                </a:lnTo>
                <a:lnTo>
                  <a:pt x="246" y="34"/>
                </a:lnTo>
                <a:lnTo>
                  <a:pt x="229" y="32"/>
                </a:lnTo>
                <a:lnTo>
                  <a:pt x="213" y="31"/>
                </a:lnTo>
                <a:lnTo>
                  <a:pt x="196" y="29"/>
                </a:lnTo>
                <a:lnTo>
                  <a:pt x="180" y="28"/>
                </a:lnTo>
                <a:lnTo>
                  <a:pt x="164" y="27"/>
                </a:lnTo>
                <a:lnTo>
                  <a:pt x="147" y="25"/>
                </a:lnTo>
                <a:lnTo>
                  <a:pt x="131" y="24"/>
                </a:lnTo>
                <a:lnTo>
                  <a:pt x="114" y="23"/>
                </a:lnTo>
                <a:lnTo>
                  <a:pt x="98" y="22"/>
                </a:lnTo>
                <a:lnTo>
                  <a:pt x="82" y="21"/>
                </a:lnTo>
                <a:lnTo>
                  <a:pt x="65" y="20"/>
                </a:lnTo>
                <a:lnTo>
                  <a:pt x="49" y="19"/>
                </a:lnTo>
                <a:lnTo>
                  <a:pt x="33" y="19"/>
                </a:lnTo>
                <a:lnTo>
                  <a:pt x="16" y="18"/>
                </a:lnTo>
                <a:lnTo>
                  <a:pt x="0" y="18"/>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4314825"/>
            <a:ext cx="3743325" cy="1571625"/>
          </a:xfrm>
          <a:custGeom>
            <a:avLst/>
            <a:gdLst/>
            <a:ahLst/>
            <a:cxnLst/>
            <a:rect l="l" t="t" r="r" b="b"/>
            <a:pathLst>
              <a:path w="393" h="165">
                <a:moveTo>
                  <a:pt x="0" y="0"/>
                </a:moveTo>
                <a:lnTo>
                  <a:pt x="16" y="1"/>
                </a:lnTo>
                <a:lnTo>
                  <a:pt x="33" y="3"/>
                </a:lnTo>
                <a:lnTo>
                  <a:pt x="49" y="7"/>
                </a:lnTo>
                <a:lnTo>
                  <a:pt x="65" y="12"/>
                </a:lnTo>
                <a:lnTo>
                  <a:pt x="82" y="18"/>
                </a:lnTo>
                <a:lnTo>
                  <a:pt x="98" y="24"/>
                </a:lnTo>
                <a:lnTo>
                  <a:pt x="114" y="32"/>
                </a:lnTo>
                <a:lnTo>
                  <a:pt x="131" y="40"/>
                </a:lnTo>
                <a:lnTo>
                  <a:pt x="147" y="49"/>
                </a:lnTo>
                <a:lnTo>
                  <a:pt x="164" y="58"/>
                </a:lnTo>
                <a:lnTo>
                  <a:pt x="180" y="68"/>
                </a:lnTo>
                <a:lnTo>
                  <a:pt x="196" y="77"/>
                </a:lnTo>
                <a:lnTo>
                  <a:pt x="213" y="87"/>
                </a:lnTo>
                <a:lnTo>
                  <a:pt x="229" y="96"/>
                </a:lnTo>
                <a:lnTo>
                  <a:pt x="246" y="106"/>
                </a:lnTo>
                <a:lnTo>
                  <a:pt x="262" y="115"/>
                </a:lnTo>
                <a:lnTo>
                  <a:pt x="278" y="123"/>
                </a:lnTo>
                <a:lnTo>
                  <a:pt x="295" y="130"/>
                </a:lnTo>
                <a:lnTo>
                  <a:pt x="311" y="137"/>
                </a:lnTo>
                <a:lnTo>
                  <a:pt x="327" y="143"/>
                </a:lnTo>
                <a:lnTo>
                  <a:pt x="344" y="148"/>
                </a:lnTo>
                <a:lnTo>
                  <a:pt x="360" y="151"/>
                </a:lnTo>
                <a:lnTo>
                  <a:pt x="377" y="154"/>
                </a:lnTo>
                <a:lnTo>
                  <a:pt x="393" y="154"/>
                </a:lnTo>
                <a:lnTo>
                  <a:pt x="393" y="165"/>
                </a:lnTo>
                <a:lnTo>
                  <a:pt x="377" y="164"/>
                </a:lnTo>
                <a:lnTo>
                  <a:pt x="360" y="162"/>
                </a:lnTo>
                <a:lnTo>
                  <a:pt x="344" y="159"/>
                </a:lnTo>
                <a:lnTo>
                  <a:pt x="327" y="154"/>
                </a:lnTo>
                <a:lnTo>
                  <a:pt x="311" y="148"/>
                </a:lnTo>
                <a:lnTo>
                  <a:pt x="295" y="141"/>
                </a:lnTo>
                <a:lnTo>
                  <a:pt x="278" y="133"/>
                </a:lnTo>
                <a:lnTo>
                  <a:pt x="262" y="125"/>
                </a:lnTo>
                <a:lnTo>
                  <a:pt x="246" y="116"/>
                </a:lnTo>
                <a:lnTo>
                  <a:pt x="229" y="107"/>
                </a:lnTo>
                <a:lnTo>
                  <a:pt x="213" y="98"/>
                </a:lnTo>
                <a:lnTo>
                  <a:pt x="196" y="88"/>
                </a:lnTo>
                <a:lnTo>
                  <a:pt x="180" y="78"/>
                </a:lnTo>
                <a:lnTo>
                  <a:pt x="164" y="69"/>
                </a:lnTo>
                <a:lnTo>
                  <a:pt x="147" y="60"/>
                </a:lnTo>
                <a:lnTo>
                  <a:pt x="131" y="51"/>
                </a:lnTo>
                <a:lnTo>
                  <a:pt x="114" y="43"/>
                </a:lnTo>
                <a:lnTo>
                  <a:pt x="98" y="35"/>
                </a:lnTo>
                <a:lnTo>
                  <a:pt x="82" y="28"/>
                </a:lnTo>
                <a:lnTo>
                  <a:pt x="65" y="22"/>
                </a:lnTo>
                <a:lnTo>
                  <a:pt x="49" y="18"/>
                </a:lnTo>
                <a:lnTo>
                  <a:pt x="33" y="14"/>
                </a:lnTo>
                <a:lnTo>
                  <a:pt x="16" y="12"/>
                </a:lnTo>
                <a:lnTo>
                  <a:pt x="0" y="1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2676525"/>
            <a:ext cx="3743325" cy="1971675"/>
          </a:xfrm>
          <a:custGeom>
            <a:avLst/>
            <a:gdLst/>
            <a:ahLst/>
            <a:cxnLst/>
            <a:rect l="l" t="t" r="r" b="b"/>
            <a:pathLst>
              <a:path w="393" h="207">
                <a:moveTo>
                  <a:pt x="0" y="189"/>
                </a:moveTo>
                <a:lnTo>
                  <a:pt x="16" y="188"/>
                </a:lnTo>
                <a:lnTo>
                  <a:pt x="33" y="185"/>
                </a:lnTo>
                <a:lnTo>
                  <a:pt x="49" y="181"/>
                </a:lnTo>
                <a:lnTo>
                  <a:pt x="65" y="175"/>
                </a:lnTo>
                <a:lnTo>
                  <a:pt x="82" y="168"/>
                </a:lnTo>
                <a:lnTo>
                  <a:pt x="98" y="160"/>
                </a:lnTo>
                <a:lnTo>
                  <a:pt x="114" y="150"/>
                </a:lnTo>
                <a:lnTo>
                  <a:pt x="131" y="140"/>
                </a:lnTo>
                <a:lnTo>
                  <a:pt x="147" y="129"/>
                </a:lnTo>
                <a:lnTo>
                  <a:pt x="164" y="118"/>
                </a:lnTo>
                <a:lnTo>
                  <a:pt x="180" y="106"/>
                </a:lnTo>
                <a:lnTo>
                  <a:pt x="196" y="95"/>
                </a:lnTo>
                <a:lnTo>
                  <a:pt x="213" y="83"/>
                </a:lnTo>
                <a:lnTo>
                  <a:pt x="229" y="71"/>
                </a:lnTo>
                <a:lnTo>
                  <a:pt x="246" y="60"/>
                </a:lnTo>
                <a:lnTo>
                  <a:pt x="262" y="49"/>
                </a:lnTo>
                <a:lnTo>
                  <a:pt x="278" y="39"/>
                </a:lnTo>
                <a:lnTo>
                  <a:pt x="295" y="30"/>
                </a:lnTo>
                <a:lnTo>
                  <a:pt x="311" y="21"/>
                </a:lnTo>
                <a:lnTo>
                  <a:pt x="327" y="14"/>
                </a:lnTo>
                <a:lnTo>
                  <a:pt x="344" y="8"/>
                </a:lnTo>
                <a:lnTo>
                  <a:pt x="360" y="4"/>
                </a:lnTo>
                <a:lnTo>
                  <a:pt x="377" y="1"/>
                </a:lnTo>
                <a:lnTo>
                  <a:pt x="393" y="0"/>
                </a:lnTo>
                <a:lnTo>
                  <a:pt x="393" y="18"/>
                </a:lnTo>
                <a:lnTo>
                  <a:pt x="377" y="19"/>
                </a:lnTo>
                <a:lnTo>
                  <a:pt x="360" y="22"/>
                </a:lnTo>
                <a:lnTo>
                  <a:pt x="344" y="26"/>
                </a:lnTo>
                <a:lnTo>
                  <a:pt x="327" y="32"/>
                </a:lnTo>
                <a:lnTo>
                  <a:pt x="311" y="39"/>
                </a:lnTo>
                <a:lnTo>
                  <a:pt x="295" y="48"/>
                </a:lnTo>
                <a:lnTo>
                  <a:pt x="278" y="57"/>
                </a:lnTo>
                <a:lnTo>
                  <a:pt x="262" y="67"/>
                </a:lnTo>
                <a:lnTo>
                  <a:pt x="246" y="78"/>
                </a:lnTo>
                <a:lnTo>
                  <a:pt x="229" y="89"/>
                </a:lnTo>
                <a:lnTo>
                  <a:pt x="213" y="101"/>
                </a:lnTo>
                <a:lnTo>
                  <a:pt x="196" y="113"/>
                </a:lnTo>
                <a:lnTo>
                  <a:pt x="180" y="124"/>
                </a:lnTo>
                <a:lnTo>
                  <a:pt x="164" y="136"/>
                </a:lnTo>
                <a:lnTo>
                  <a:pt x="147" y="147"/>
                </a:lnTo>
                <a:lnTo>
                  <a:pt x="131" y="158"/>
                </a:lnTo>
                <a:lnTo>
                  <a:pt x="114" y="168"/>
                </a:lnTo>
                <a:lnTo>
                  <a:pt x="98" y="177"/>
                </a:lnTo>
                <a:lnTo>
                  <a:pt x="82" y="186"/>
                </a:lnTo>
                <a:lnTo>
                  <a:pt x="65" y="193"/>
                </a:lnTo>
                <a:lnTo>
                  <a:pt x="49" y="199"/>
                </a:lnTo>
                <a:lnTo>
                  <a:pt x="33" y="203"/>
                </a:lnTo>
                <a:lnTo>
                  <a:pt x="16" y="206"/>
                </a:lnTo>
                <a:lnTo>
                  <a:pt x="0" y="207"/>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4533900"/>
            <a:ext cx="3743325" cy="304800"/>
          </a:xfrm>
          <a:custGeom>
            <a:avLst/>
            <a:gdLst/>
            <a:ahLst/>
            <a:cxnLst/>
            <a:rect l="l" t="t" r="r" b="b"/>
            <a:pathLst>
              <a:path w="393" h="32">
                <a:moveTo>
                  <a:pt x="0" y="12"/>
                </a:moveTo>
                <a:lnTo>
                  <a:pt x="16" y="12"/>
                </a:lnTo>
                <a:lnTo>
                  <a:pt x="33" y="12"/>
                </a:lnTo>
                <a:lnTo>
                  <a:pt x="49" y="11"/>
                </a:lnTo>
                <a:lnTo>
                  <a:pt x="65" y="11"/>
                </a:lnTo>
                <a:lnTo>
                  <a:pt x="82" y="11"/>
                </a:lnTo>
                <a:lnTo>
                  <a:pt x="98" y="10"/>
                </a:lnTo>
                <a:lnTo>
                  <a:pt x="114" y="9"/>
                </a:lnTo>
                <a:lnTo>
                  <a:pt x="131" y="9"/>
                </a:lnTo>
                <a:lnTo>
                  <a:pt x="147" y="8"/>
                </a:lnTo>
                <a:lnTo>
                  <a:pt x="164" y="7"/>
                </a:lnTo>
                <a:lnTo>
                  <a:pt x="180" y="7"/>
                </a:lnTo>
                <a:lnTo>
                  <a:pt x="196" y="6"/>
                </a:lnTo>
                <a:lnTo>
                  <a:pt x="213" y="5"/>
                </a:lnTo>
                <a:lnTo>
                  <a:pt x="229" y="4"/>
                </a:lnTo>
                <a:lnTo>
                  <a:pt x="246" y="4"/>
                </a:lnTo>
                <a:lnTo>
                  <a:pt x="262" y="3"/>
                </a:lnTo>
                <a:lnTo>
                  <a:pt x="278" y="2"/>
                </a:lnTo>
                <a:lnTo>
                  <a:pt x="295" y="2"/>
                </a:lnTo>
                <a:lnTo>
                  <a:pt x="311" y="1"/>
                </a:lnTo>
                <a:lnTo>
                  <a:pt x="327" y="1"/>
                </a:lnTo>
                <a:lnTo>
                  <a:pt x="344" y="0"/>
                </a:lnTo>
                <a:lnTo>
                  <a:pt x="360" y="0"/>
                </a:lnTo>
                <a:lnTo>
                  <a:pt x="377" y="0"/>
                </a:lnTo>
                <a:lnTo>
                  <a:pt x="393" y="0"/>
                </a:lnTo>
                <a:lnTo>
                  <a:pt x="393" y="20"/>
                </a:lnTo>
                <a:lnTo>
                  <a:pt x="377" y="20"/>
                </a:lnTo>
                <a:lnTo>
                  <a:pt x="360" y="20"/>
                </a:lnTo>
                <a:lnTo>
                  <a:pt x="344" y="20"/>
                </a:lnTo>
                <a:lnTo>
                  <a:pt x="327" y="21"/>
                </a:lnTo>
                <a:lnTo>
                  <a:pt x="311" y="21"/>
                </a:lnTo>
                <a:lnTo>
                  <a:pt x="295" y="22"/>
                </a:lnTo>
                <a:lnTo>
                  <a:pt x="278" y="22"/>
                </a:lnTo>
                <a:lnTo>
                  <a:pt x="262" y="23"/>
                </a:lnTo>
                <a:lnTo>
                  <a:pt x="246" y="24"/>
                </a:lnTo>
                <a:lnTo>
                  <a:pt x="229" y="25"/>
                </a:lnTo>
                <a:lnTo>
                  <a:pt x="213" y="25"/>
                </a:lnTo>
                <a:lnTo>
                  <a:pt x="196" y="26"/>
                </a:lnTo>
                <a:lnTo>
                  <a:pt x="180" y="27"/>
                </a:lnTo>
                <a:lnTo>
                  <a:pt x="164" y="28"/>
                </a:lnTo>
                <a:lnTo>
                  <a:pt x="147" y="28"/>
                </a:lnTo>
                <a:lnTo>
                  <a:pt x="131" y="29"/>
                </a:lnTo>
                <a:lnTo>
                  <a:pt x="114" y="30"/>
                </a:lnTo>
                <a:lnTo>
                  <a:pt x="98" y="30"/>
                </a:lnTo>
                <a:lnTo>
                  <a:pt x="82" y="31"/>
                </a:lnTo>
                <a:lnTo>
                  <a:pt x="65" y="31"/>
                </a:lnTo>
                <a:lnTo>
                  <a:pt x="49" y="32"/>
                </a:lnTo>
                <a:lnTo>
                  <a:pt x="33" y="32"/>
                </a:lnTo>
                <a:lnTo>
                  <a:pt x="16" y="32"/>
                </a:lnTo>
                <a:lnTo>
                  <a:pt x="0" y="32"/>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4838700"/>
            <a:ext cx="3743325" cy="1152525"/>
          </a:xfrm>
          <a:custGeom>
            <a:avLst/>
            <a:gdLst/>
            <a:ahLst/>
            <a:cxnLst/>
            <a:rect l="l" t="t" r="r" b="b"/>
            <a:pathLst>
              <a:path w="393" h="121">
                <a:moveTo>
                  <a:pt x="0" y="0"/>
                </a:moveTo>
                <a:lnTo>
                  <a:pt x="16" y="1"/>
                </a:lnTo>
                <a:lnTo>
                  <a:pt x="33" y="2"/>
                </a:lnTo>
                <a:lnTo>
                  <a:pt x="49" y="5"/>
                </a:lnTo>
                <a:lnTo>
                  <a:pt x="65" y="8"/>
                </a:lnTo>
                <a:lnTo>
                  <a:pt x="82" y="13"/>
                </a:lnTo>
                <a:lnTo>
                  <a:pt x="98" y="17"/>
                </a:lnTo>
                <a:lnTo>
                  <a:pt x="114" y="23"/>
                </a:lnTo>
                <a:lnTo>
                  <a:pt x="131" y="29"/>
                </a:lnTo>
                <a:lnTo>
                  <a:pt x="147" y="35"/>
                </a:lnTo>
                <a:lnTo>
                  <a:pt x="164" y="42"/>
                </a:lnTo>
                <a:lnTo>
                  <a:pt x="180" y="48"/>
                </a:lnTo>
                <a:lnTo>
                  <a:pt x="196" y="55"/>
                </a:lnTo>
                <a:lnTo>
                  <a:pt x="213" y="62"/>
                </a:lnTo>
                <a:lnTo>
                  <a:pt x="229" y="69"/>
                </a:lnTo>
                <a:lnTo>
                  <a:pt x="246" y="75"/>
                </a:lnTo>
                <a:lnTo>
                  <a:pt x="262" y="82"/>
                </a:lnTo>
                <a:lnTo>
                  <a:pt x="278" y="88"/>
                </a:lnTo>
                <a:lnTo>
                  <a:pt x="295" y="93"/>
                </a:lnTo>
                <a:lnTo>
                  <a:pt x="311" y="98"/>
                </a:lnTo>
                <a:lnTo>
                  <a:pt x="327" y="102"/>
                </a:lnTo>
                <a:lnTo>
                  <a:pt x="344" y="105"/>
                </a:lnTo>
                <a:lnTo>
                  <a:pt x="360" y="108"/>
                </a:lnTo>
                <a:lnTo>
                  <a:pt x="377" y="110"/>
                </a:lnTo>
                <a:lnTo>
                  <a:pt x="393" y="110"/>
                </a:lnTo>
                <a:lnTo>
                  <a:pt x="393" y="121"/>
                </a:lnTo>
                <a:lnTo>
                  <a:pt x="377" y="121"/>
                </a:lnTo>
                <a:lnTo>
                  <a:pt x="360" y="119"/>
                </a:lnTo>
                <a:lnTo>
                  <a:pt x="344" y="117"/>
                </a:lnTo>
                <a:lnTo>
                  <a:pt x="327" y="113"/>
                </a:lnTo>
                <a:lnTo>
                  <a:pt x="311" y="109"/>
                </a:lnTo>
                <a:lnTo>
                  <a:pt x="295" y="104"/>
                </a:lnTo>
                <a:lnTo>
                  <a:pt x="278" y="99"/>
                </a:lnTo>
                <a:lnTo>
                  <a:pt x="262" y="93"/>
                </a:lnTo>
                <a:lnTo>
                  <a:pt x="246" y="87"/>
                </a:lnTo>
                <a:lnTo>
                  <a:pt x="229" y="80"/>
                </a:lnTo>
                <a:lnTo>
                  <a:pt x="213" y="73"/>
                </a:lnTo>
                <a:lnTo>
                  <a:pt x="196" y="66"/>
                </a:lnTo>
                <a:lnTo>
                  <a:pt x="180" y="60"/>
                </a:lnTo>
                <a:lnTo>
                  <a:pt x="164" y="53"/>
                </a:lnTo>
                <a:lnTo>
                  <a:pt x="147" y="46"/>
                </a:lnTo>
                <a:lnTo>
                  <a:pt x="131" y="40"/>
                </a:lnTo>
                <a:lnTo>
                  <a:pt x="114" y="34"/>
                </a:lnTo>
                <a:lnTo>
                  <a:pt x="98" y="29"/>
                </a:lnTo>
                <a:lnTo>
                  <a:pt x="82" y="24"/>
                </a:lnTo>
                <a:lnTo>
                  <a:pt x="65" y="20"/>
                </a:lnTo>
                <a:lnTo>
                  <a:pt x="49" y="16"/>
                </a:lnTo>
                <a:lnTo>
                  <a:pt x="33" y="14"/>
                </a:lnTo>
                <a:lnTo>
                  <a:pt x="16" y="12"/>
                </a:lnTo>
                <a:lnTo>
                  <a:pt x="0" y="12"/>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2847975"/>
            <a:ext cx="3743325" cy="2352675"/>
          </a:xfrm>
          <a:custGeom>
            <a:avLst/>
            <a:gdLst/>
            <a:ahLst/>
            <a:cxnLst/>
            <a:rect l="l" t="t" r="r" b="b"/>
            <a:pathLst>
              <a:path w="393" h="247">
                <a:moveTo>
                  <a:pt x="0" y="227"/>
                </a:moveTo>
                <a:lnTo>
                  <a:pt x="16" y="225"/>
                </a:lnTo>
                <a:lnTo>
                  <a:pt x="33" y="222"/>
                </a:lnTo>
                <a:lnTo>
                  <a:pt x="49" y="217"/>
                </a:lnTo>
                <a:lnTo>
                  <a:pt x="65" y="210"/>
                </a:lnTo>
                <a:lnTo>
                  <a:pt x="82" y="201"/>
                </a:lnTo>
                <a:lnTo>
                  <a:pt x="98" y="191"/>
                </a:lnTo>
                <a:lnTo>
                  <a:pt x="114" y="180"/>
                </a:lnTo>
                <a:lnTo>
                  <a:pt x="131" y="168"/>
                </a:lnTo>
                <a:lnTo>
                  <a:pt x="147" y="155"/>
                </a:lnTo>
                <a:lnTo>
                  <a:pt x="164" y="141"/>
                </a:lnTo>
                <a:lnTo>
                  <a:pt x="180" y="127"/>
                </a:lnTo>
                <a:lnTo>
                  <a:pt x="196" y="113"/>
                </a:lnTo>
                <a:lnTo>
                  <a:pt x="213" y="99"/>
                </a:lnTo>
                <a:lnTo>
                  <a:pt x="229" y="85"/>
                </a:lnTo>
                <a:lnTo>
                  <a:pt x="246" y="72"/>
                </a:lnTo>
                <a:lnTo>
                  <a:pt x="262" y="59"/>
                </a:lnTo>
                <a:lnTo>
                  <a:pt x="278" y="47"/>
                </a:lnTo>
                <a:lnTo>
                  <a:pt x="295" y="36"/>
                </a:lnTo>
                <a:lnTo>
                  <a:pt x="311" y="26"/>
                </a:lnTo>
                <a:lnTo>
                  <a:pt x="327" y="17"/>
                </a:lnTo>
                <a:lnTo>
                  <a:pt x="344" y="10"/>
                </a:lnTo>
                <a:lnTo>
                  <a:pt x="360" y="5"/>
                </a:lnTo>
                <a:lnTo>
                  <a:pt x="377" y="1"/>
                </a:lnTo>
                <a:lnTo>
                  <a:pt x="393" y="0"/>
                </a:lnTo>
                <a:lnTo>
                  <a:pt x="393" y="20"/>
                </a:lnTo>
                <a:lnTo>
                  <a:pt x="377" y="22"/>
                </a:lnTo>
                <a:lnTo>
                  <a:pt x="360" y="25"/>
                </a:lnTo>
                <a:lnTo>
                  <a:pt x="344" y="30"/>
                </a:lnTo>
                <a:lnTo>
                  <a:pt x="327" y="37"/>
                </a:lnTo>
                <a:lnTo>
                  <a:pt x="311" y="46"/>
                </a:lnTo>
                <a:lnTo>
                  <a:pt x="295" y="56"/>
                </a:lnTo>
                <a:lnTo>
                  <a:pt x="278" y="67"/>
                </a:lnTo>
                <a:lnTo>
                  <a:pt x="262" y="79"/>
                </a:lnTo>
                <a:lnTo>
                  <a:pt x="246" y="92"/>
                </a:lnTo>
                <a:lnTo>
                  <a:pt x="229" y="106"/>
                </a:lnTo>
                <a:lnTo>
                  <a:pt x="213" y="119"/>
                </a:lnTo>
                <a:lnTo>
                  <a:pt x="196" y="134"/>
                </a:lnTo>
                <a:lnTo>
                  <a:pt x="180" y="148"/>
                </a:lnTo>
                <a:lnTo>
                  <a:pt x="164" y="162"/>
                </a:lnTo>
                <a:lnTo>
                  <a:pt x="147" y="175"/>
                </a:lnTo>
                <a:lnTo>
                  <a:pt x="131" y="188"/>
                </a:lnTo>
                <a:lnTo>
                  <a:pt x="114" y="200"/>
                </a:lnTo>
                <a:lnTo>
                  <a:pt x="98" y="211"/>
                </a:lnTo>
                <a:lnTo>
                  <a:pt x="82" y="221"/>
                </a:lnTo>
                <a:lnTo>
                  <a:pt x="65" y="230"/>
                </a:lnTo>
                <a:lnTo>
                  <a:pt x="49" y="237"/>
                </a:lnTo>
                <a:lnTo>
                  <a:pt x="33" y="242"/>
                </a:lnTo>
                <a:lnTo>
                  <a:pt x="16" y="246"/>
                </a:lnTo>
                <a:lnTo>
                  <a:pt x="0" y="247"/>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4724400"/>
            <a:ext cx="3743325" cy="638175"/>
          </a:xfrm>
          <a:custGeom>
            <a:avLst/>
            <a:gdLst/>
            <a:ahLst/>
            <a:cxnLst/>
            <a:rect l="l" t="t" r="r" b="b"/>
            <a:pathLst>
              <a:path w="393" h="67">
                <a:moveTo>
                  <a:pt x="0" y="50"/>
                </a:moveTo>
                <a:lnTo>
                  <a:pt x="16" y="49"/>
                </a:lnTo>
                <a:lnTo>
                  <a:pt x="33" y="49"/>
                </a:lnTo>
                <a:lnTo>
                  <a:pt x="49" y="48"/>
                </a:lnTo>
                <a:lnTo>
                  <a:pt x="65" y="46"/>
                </a:lnTo>
                <a:lnTo>
                  <a:pt x="82" y="44"/>
                </a:lnTo>
                <a:lnTo>
                  <a:pt x="98" y="42"/>
                </a:lnTo>
                <a:lnTo>
                  <a:pt x="114" y="39"/>
                </a:lnTo>
                <a:lnTo>
                  <a:pt x="131" y="37"/>
                </a:lnTo>
                <a:lnTo>
                  <a:pt x="147" y="34"/>
                </a:lnTo>
                <a:lnTo>
                  <a:pt x="164" y="31"/>
                </a:lnTo>
                <a:lnTo>
                  <a:pt x="180" y="28"/>
                </a:lnTo>
                <a:lnTo>
                  <a:pt x="196" y="25"/>
                </a:lnTo>
                <a:lnTo>
                  <a:pt x="213" y="22"/>
                </a:lnTo>
                <a:lnTo>
                  <a:pt x="229" y="19"/>
                </a:lnTo>
                <a:lnTo>
                  <a:pt x="246" y="16"/>
                </a:lnTo>
                <a:lnTo>
                  <a:pt x="262" y="13"/>
                </a:lnTo>
                <a:lnTo>
                  <a:pt x="278" y="10"/>
                </a:lnTo>
                <a:lnTo>
                  <a:pt x="295" y="8"/>
                </a:lnTo>
                <a:lnTo>
                  <a:pt x="311" y="5"/>
                </a:lnTo>
                <a:lnTo>
                  <a:pt x="327" y="4"/>
                </a:lnTo>
                <a:lnTo>
                  <a:pt x="344" y="2"/>
                </a:lnTo>
                <a:lnTo>
                  <a:pt x="360" y="1"/>
                </a:lnTo>
                <a:lnTo>
                  <a:pt x="377" y="0"/>
                </a:lnTo>
                <a:lnTo>
                  <a:pt x="393" y="0"/>
                </a:lnTo>
                <a:lnTo>
                  <a:pt x="393" y="18"/>
                </a:lnTo>
                <a:lnTo>
                  <a:pt x="377" y="18"/>
                </a:lnTo>
                <a:lnTo>
                  <a:pt x="360" y="19"/>
                </a:lnTo>
                <a:lnTo>
                  <a:pt x="344" y="20"/>
                </a:lnTo>
                <a:lnTo>
                  <a:pt x="327" y="21"/>
                </a:lnTo>
                <a:lnTo>
                  <a:pt x="311" y="23"/>
                </a:lnTo>
                <a:lnTo>
                  <a:pt x="295" y="25"/>
                </a:lnTo>
                <a:lnTo>
                  <a:pt x="278" y="28"/>
                </a:lnTo>
                <a:lnTo>
                  <a:pt x="262" y="31"/>
                </a:lnTo>
                <a:lnTo>
                  <a:pt x="246" y="33"/>
                </a:lnTo>
                <a:lnTo>
                  <a:pt x="229" y="36"/>
                </a:lnTo>
                <a:lnTo>
                  <a:pt x="213" y="39"/>
                </a:lnTo>
                <a:lnTo>
                  <a:pt x="196" y="42"/>
                </a:lnTo>
                <a:lnTo>
                  <a:pt x="180" y="46"/>
                </a:lnTo>
                <a:lnTo>
                  <a:pt x="164" y="49"/>
                </a:lnTo>
                <a:lnTo>
                  <a:pt x="147" y="52"/>
                </a:lnTo>
                <a:lnTo>
                  <a:pt x="131" y="54"/>
                </a:lnTo>
                <a:lnTo>
                  <a:pt x="114" y="57"/>
                </a:lnTo>
                <a:lnTo>
                  <a:pt x="98" y="60"/>
                </a:lnTo>
                <a:lnTo>
                  <a:pt x="82" y="62"/>
                </a:lnTo>
                <a:lnTo>
                  <a:pt x="65" y="64"/>
                </a:lnTo>
                <a:lnTo>
                  <a:pt x="49" y="65"/>
                </a:lnTo>
                <a:lnTo>
                  <a:pt x="33" y="66"/>
                </a:lnTo>
                <a:lnTo>
                  <a:pt x="16" y="67"/>
                </a:lnTo>
                <a:lnTo>
                  <a:pt x="0" y="67"/>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5362575"/>
            <a:ext cx="3743325" cy="742950"/>
          </a:xfrm>
          <a:custGeom>
            <a:avLst/>
            <a:gdLst/>
            <a:ahLst/>
            <a:cxnLst/>
            <a:rect l="l" t="t" r="r" b="b"/>
            <a:pathLst>
              <a:path w="393" h="78">
                <a:moveTo>
                  <a:pt x="0" y="0"/>
                </a:moveTo>
                <a:lnTo>
                  <a:pt x="16" y="1"/>
                </a:lnTo>
                <a:lnTo>
                  <a:pt x="33" y="2"/>
                </a:lnTo>
                <a:lnTo>
                  <a:pt x="49" y="3"/>
                </a:lnTo>
                <a:lnTo>
                  <a:pt x="65" y="5"/>
                </a:lnTo>
                <a:lnTo>
                  <a:pt x="82" y="8"/>
                </a:lnTo>
                <a:lnTo>
                  <a:pt x="98" y="11"/>
                </a:lnTo>
                <a:lnTo>
                  <a:pt x="114" y="14"/>
                </a:lnTo>
                <a:lnTo>
                  <a:pt x="131" y="18"/>
                </a:lnTo>
                <a:lnTo>
                  <a:pt x="147" y="21"/>
                </a:lnTo>
                <a:lnTo>
                  <a:pt x="164" y="25"/>
                </a:lnTo>
                <a:lnTo>
                  <a:pt x="180" y="29"/>
                </a:lnTo>
                <a:lnTo>
                  <a:pt x="196" y="33"/>
                </a:lnTo>
                <a:lnTo>
                  <a:pt x="213" y="38"/>
                </a:lnTo>
                <a:lnTo>
                  <a:pt x="229" y="42"/>
                </a:lnTo>
                <a:lnTo>
                  <a:pt x="246" y="46"/>
                </a:lnTo>
                <a:lnTo>
                  <a:pt x="262" y="49"/>
                </a:lnTo>
                <a:lnTo>
                  <a:pt x="278" y="53"/>
                </a:lnTo>
                <a:lnTo>
                  <a:pt x="295" y="56"/>
                </a:lnTo>
                <a:lnTo>
                  <a:pt x="311" y="59"/>
                </a:lnTo>
                <a:lnTo>
                  <a:pt x="327" y="62"/>
                </a:lnTo>
                <a:lnTo>
                  <a:pt x="344" y="64"/>
                </a:lnTo>
                <a:lnTo>
                  <a:pt x="360" y="65"/>
                </a:lnTo>
                <a:lnTo>
                  <a:pt x="377" y="66"/>
                </a:lnTo>
                <a:lnTo>
                  <a:pt x="393" y="66"/>
                </a:lnTo>
                <a:lnTo>
                  <a:pt x="393" y="78"/>
                </a:lnTo>
                <a:lnTo>
                  <a:pt x="377" y="78"/>
                </a:lnTo>
                <a:lnTo>
                  <a:pt x="360" y="77"/>
                </a:lnTo>
                <a:lnTo>
                  <a:pt x="344" y="75"/>
                </a:lnTo>
                <a:lnTo>
                  <a:pt x="327" y="73"/>
                </a:lnTo>
                <a:lnTo>
                  <a:pt x="311" y="71"/>
                </a:lnTo>
                <a:lnTo>
                  <a:pt x="295" y="68"/>
                </a:lnTo>
                <a:lnTo>
                  <a:pt x="278" y="64"/>
                </a:lnTo>
                <a:lnTo>
                  <a:pt x="262" y="61"/>
                </a:lnTo>
                <a:lnTo>
                  <a:pt x="246" y="57"/>
                </a:lnTo>
                <a:lnTo>
                  <a:pt x="229" y="53"/>
                </a:lnTo>
                <a:lnTo>
                  <a:pt x="213" y="49"/>
                </a:lnTo>
                <a:lnTo>
                  <a:pt x="196" y="45"/>
                </a:lnTo>
                <a:lnTo>
                  <a:pt x="180" y="41"/>
                </a:lnTo>
                <a:lnTo>
                  <a:pt x="164" y="37"/>
                </a:lnTo>
                <a:lnTo>
                  <a:pt x="147" y="33"/>
                </a:lnTo>
                <a:lnTo>
                  <a:pt x="131" y="29"/>
                </a:lnTo>
                <a:lnTo>
                  <a:pt x="114" y="26"/>
                </a:lnTo>
                <a:lnTo>
                  <a:pt x="98" y="22"/>
                </a:lnTo>
                <a:lnTo>
                  <a:pt x="82" y="19"/>
                </a:lnTo>
                <a:lnTo>
                  <a:pt x="65" y="17"/>
                </a:lnTo>
                <a:lnTo>
                  <a:pt x="49" y="15"/>
                </a:lnTo>
                <a:lnTo>
                  <a:pt x="33" y="13"/>
                </a:lnTo>
                <a:lnTo>
                  <a:pt x="16" y="12"/>
                </a:lnTo>
                <a:lnTo>
                  <a:pt x="0" y="12"/>
                </a:lnTo>
                <a:close/>
              </a:path>
            </a:pathLst>
          </a:custGeom>
          <a:solidFill>
            <a:srgbClr val="A86F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3038475"/>
            <a:ext cx="3743325" cy="2686050"/>
          </a:xfrm>
          <a:custGeom>
            <a:avLst/>
            <a:gdLst/>
            <a:ahLst/>
            <a:cxnLst/>
            <a:rect l="l" t="t" r="r" b="b"/>
            <a:pathLst>
              <a:path w="393" h="282">
                <a:moveTo>
                  <a:pt x="0" y="262"/>
                </a:moveTo>
                <a:lnTo>
                  <a:pt x="16" y="261"/>
                </a:lnTo>
                <a:lnTo>
                  <a:pt x="33" y="257"/>
                </a:lnTo>
                <a:lnTo>
                  <a:pt x="49" y="251"/>
                </a:lnTo>
                <a:lnTo>
                  <a:pt x="65" y="243"/>
                </a:lnTo>
                <a:lnTo>
                  <a:pt x="82" y="233"/>
                </a:lnTo>
                <a:lnTo>
                  <a:pt x="98" y="221"/>
                </a:lnTo>
                <a:lnTo>
                  <a:pt x="114" y="208"/>
                </a:lnTo>
                <a:lnTo>
                  <a:pt x="131" y="194"/>
                </a:lnTo>
                <a:lnTo>
                  <a:pt x="147" y="179"/>
                </a:lnTo>
                <a:lnTo>
                  <a:pt x="164" y="164"/>
                </a:lnTo>
                <a:lnTo>
                  <a:pt x="180" y="148"/>
                </a:lnTo>
                <a:lnTo>
                  <a:pt x="196" y="131"/>
                </a:lnTo>
                <a:lnTo>
                  <a:pt x="213" y="115"/>
                </a:lnTo>
                <a:lnTo>
                  <a:pt x="229" y="99"/>
                </a:lnTo>
                <a:lnTo>
                  <a:pt x="246" y="83"/>
                </a:lnTo>
                <a:lnTo>
                  <a:pt x="262" y="68"/>
                </a:lnTo>
                <a:lnTo>
                  <a:pt x="278" y="54"/>
                </a:lnTo>
                <a:lnTo>
                  <a:pt x="295" y="41"/>
                </a:lnTo>
                <a:lnTo>
                  <a:pt x="311" y="30"/>
                </a:lnTo>
                <a:lnTo>
                  <a:pt x="327" y="20"/>
                </a:lnTo>
                <a:lnTo>
                  <a:pt x="344" y="12"/>
                </a:lnTo>
                <a:lnTo>
                  <a:pt x="360" y="6"/>
                </a:lnTo>
                <a:lnTo>
                  <a:pt x="377" y="2"/>
                </a:lnTo>
                <a:lnTo>
                  <a:pt x="393" y="0"/>
                </a:lnTo>
                <a:lnTo>
                  <a:pt x="393" y="20"/>
                </a:lnTo>
                <a:lnTo>
                  <a:pt x="377" y="22"/>
                </a:lnTo>
                <a:lnTo>
                  <a:pt x="360" y="26"/>
                </a:lnTo>
                <a:lnTo>
                  <a:pt x="344" y="32"/>
                </a:lnTo>
                <a:lnTo>
                  <a:pt x="327" y="40"/>
                </a:lnTo>
                <a:lnTo>
                  <a:pt x="311" y="50"/>
                </a:lnTo>
                <a:lnTo>
                  <a:pt x="295" y="61"/>
                </a:lnTo>
                <a:lnTo>
                  <a:pt x="278" y="74"/>
                </a:lnTo>
                <a:lnTo>
                  <a:pt x="262" y="88"/>
                </a:lnTo>
                <a:lnTo>
                  <a:pt x="246" y="103"/>
                </a:lnTo>
                <a:lnTo>
                  <a:pt x="229" y="119"/>
                </a:lnTo>
                <a:lnTo>
                  <a:pt x="213" y="135"/>
                </a:lnTo>
                <a:lnTo>
                  <a:pt x="196" y="151"/>
                </a:lnTo>
                <a:lnTo>
                  <a:pt x="180" y="168"/>
                </a:lnTo>
                <a:lnTo>
                  <a:pt x="164" y="184"/>
                </a:lnTo>
                <a:lnTo>
                  <a:pt x="147" y="199"/>
                </a:lnTo>
                <a:lnTo>
                  <a:pt x="131" y="214"/>
                </a:lnTo>
                <a:lnTo>
                  <a:pt x="114" y="228"/>
                </a:lnTo>
                <a:lnTo>
                  <a:pt x="98" y="241"/>
                </a:lnTo>
                <a:lnTo>
                  <a:pt x="82" y="253"/>
                </a:lnTo>
                <a:lnTo>
                  <a:pt x="65" y="263"/>
                </a:lnTo>
                <a:lnTo>
                  <a:pt x="49" y="271"/>
                </a:lnTo>
                <a:lnTo>
                  <a:pt x="33" y="277"/>
                </a:lnTo>
                <a:lnTo>
                  <a:pt x="16" y="281"/>
                </a:lnTo>
                <a:lnTo>
                  <a:pt x="0" y="282"/>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4895850"/>
            <a:ext cx="3743325" cy="990600"/>
          </a:xfrm>
          <a:custGeom>
            <a:avLst/>
            <a:gdLst/>
            <a:ahLst/>
            <a:cxnLst/>
            <a:rect l="l" t="t" r="r" b="b"/>
            <a:pathLst>
              <a:path w="393" h="104">
                <a:moveTo>
                  <a:pt x="0" y="87"/>
                </a:moveTo>
                <a:lnTo>
                  <a:pt x="16" y="87"/>
                </a:lnTo>
                <a:lnTo>
                  <a:pt x="33" y="85"/>
                </a:lnTo>
                <a:lnTo>
                  <a:pt x="49" y="83"/>
                </a:lnTo>
                <a:lnTo>
                  <a:pt x="65" y="81"/>
                </a:lnTo>
                <a:lnTo>
                  <a:pt x="82" y="77"/>
                </a:lnTo>
                <a:lnTo>
                  <a:pt x="98" y="73"/>
                </a:lnTo>
                <a:lnTo>
                  <a:pt x="114" y="69"/>
                </a:lnTo>
                <a:lnTo>
                  <a:pt x="131" y="64"/>
                </a:lnTo>
                <a:lnTo>
                  <a:pt x="147" y="59"/>
                </a:lnTo>
                <a:lnTo>
                  <a:pt x="164" y="54"/>
                </a:lnTo>
                <a:lnTo>
                  <a:pt x="180" y="49"/>
                </a:lnTo>
                <a:lnTo>
                  <a:pt x="196" y="43"/>
                </a:lnTo>
                <a:lnTo>
                  <a:pt x="213" y="38"/>
                </a:lnTo>
                <a:lnTo>
                  <a:pt x="229" y="32"/>
                </a:lnTo>
                <a:lnTo>
                  <a:pt x="246" y="27"/>
                </a:lnTo>
                <a:lnTo>
                  <a:pt x="262" y="22"/>
                </a:lnTo>
                <a:lnTo>
                  <a:pt x="278" y="18"/>
                </a:lnTo>
                <a:lnTo>
                  <a:pt x="295" y="13"/>
                </a:lnTo>
                <a:lnTo>
                  <a:pt x="311" y="9"/>
                </a:lnTo>
                <a:lnTo>
                  <a:pt x="327" y="6"/>
                </a:lnTo>
                <a:lnTo>
                  <a:pt x="344" y="3"/>
                </a:lnTo>
                <a:lnTo>
                  <a:pt x="360" y="1"/>
                </a:lnTo>
                <a:lnTo>
                  <a:pt x="377" y="0"/>
                </a:lnTo>
                <a:lnTo>
                  <a:pt x="393" y="0"/>
                </a:lnTo>
                <a:lnTo>
                  <a:pt x="393" y="17"/>
                </a:lnTo>
                <a:lnTo>
                  <a:pt x="377" y="17"/>
                </a:lnTo>
                <a:lnTo>
                  <a:pt x="360" y="19"/>
                </a:lnTo>
                <a:lnTo>
                  <a:pt x="344" y="21"/>
                </a:lnTo>
                <a:lnTo>
                  <a:pt x="327" y="23"/>
                </a:lnTo>
                <a:lnTo>
                  <a:pt x="311" y="27"/>
                </a:lnTo>
                <a:lnTo>
                  <a:pt x="295" y="31"/>
                </a:lnTo>
                <a:lnTo>
                  <a:pt x="278" y="35"/>
                </a:lnTo>
                <a:lnTo>
                  <a:pt x="262" y="40"/>
                </a:lnTo>
                <a:lnTo>
                  <a:pt x="246" y="45"/>
                </a:lnTo>
                <a:lnTo>
                  <a:pt x="229" y="50"/>
                </a:lnTo>
                <a:lnTo>
                  <a:pt x="213" y="55"/>
                </a:lnTo>
                <a:lnTo>
                  <a:pt x="196" y="61"/>
                </a:lnTo>
                <a:lnTo>
                  <a:pt x="180" y="66"/>
                </a:lnTo>
                <a:lnTo>
                  <a:pt x="164" y="71"/>
                </a:lnTo>
                <a:lnTo>
                  <a:pt x="147" y="77"/>
                </a:lnTo>
                <a:lnTo>
                  <a:pt x="131" y="82"/>
                </a:lnTo>
                <a:lnTo>
                  <a:pt x="114" y="86"/>
                </a:lnTo>
                <a:lnTo>
                  <a:pt x="98" y="91"/>
                </a:lnTo>
                <a:lnTo>
                  <a:pt x="82" y="94"/>
                </a:lnTo>
                <a:lnTo>
                  <a:pt x="65" y="98"/>
                </a:lnTo>
                <a:lnTo>
                  <a:pt x="49" y="101"/>
                </a:lnTo>
                <a:lnTo>
                  <a:pt x="33" y="103"/>
                </a:lnTo>
                <a:lnTo>
                  <a:pt x="16" y="104"/>
                </a:lnTo>
                <a:lnTo>
                  <a:pt x="0" y="104"/>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5886450"/>
            <a:ext cx="3743325" cy="333375"/>
          </a:xfrm>
          <a:custGeom>
            <a:avLst/>
            <a:gdLst/>
            <a:ahLst/>
            <a:cxnLst/>
            <a:rect l="l" t="t" r="r" b="b"/>
            <a:pathLst>
              <a:path w="393" h="35">
                <a:moveTo>
                  <a:pt x="0" y="0"/>
                </a:moveTo>
                <a:lnTo>
                  <a:pt x="16" y="0"/>
                </a:lnTo>
                <a:lnTo>
                  <a:pt x="33" y="1"/>
                </a:lnTo>
                <a:lnTo>
                  <a:pt x="49" y="1"/>
                </a:lnTo>
                <a:lnTo>
                  <a:pt x="65" y="2"/>
                </a:lnTo>
                <a:lnTo>
                  <a:pt x="82" y="3"/>
                </a:lnTo>
                <a:lnTo>
                  <a:pt x="98" y="4"/>
                </a:lnTo>
                <a:lnTo>
                  <a:pt x="114" y="5"/>
                </a:lnTo>
                <a:lnTo>
                  <a:pt x="131" y="6"/>
                </a:lnTo>
                <a:lnTo>
                  <a:pt x="147" y="7"/>
                </a:lnTo>
                <a:lnTo>
                  <a:pt x="164" y="9"/>
                </a:lnTo>
                <a:lnTo>
                  <a:pt x="180" y="10"/>
                </a:lnTo>
                <a:lnTo>
                  <a:pt x="196" y="12"/>
                </a:lnTo>
                <a:lnTo>
                  <a:pt x="213" y="13"/>
                </a:lnTo>
                <a:lnTo>
                  <a:pt x="229" y="14"/>
                </a:lnTo>
                <a:lnTo>
                  <a:pt x="246" y="16"/>
                </a:lnTo>
                <a:lnTo>
                  <a:pt x="262" y="17"/>
                </a:lnTo>
                <a:lnTo>
                  <a:pt x="278" y="18"/>
                </a:lnTo>
                <a:lnTo>
                  <a:pt x="295" y="19"/>
                </a:lnTo>
                <a:lnTo>
                  <a:pt x="311" y="20"/>
                </a:lnTo>
                <a:lnTo>
                  <a:pt x="327" y="21"/>
                </a:lnTo>
                <a:lnTo>
                  <a:pt x="344" y="22"/>
                </a:lnTo>
                <a:lnTo>
                  <a:pt x="360" y="23"/>
                </a:lnTo>
                <a:lnTo>
                  <a:pt x="377" y="23"/>
                </a:lnTo>
                <a:lnTo>
                  <a:pt x="393" y="23"/>
                </a:lnTo>
                <a:lnTo>
                  <a:pt x="393" y="35"/>
                </a:lnTo>
                <a:lnTo>
                  <a:pt x="377" y="35"/>
                </a:lnTo>
                <a:lnTo>
                  <a:pt x="360" y="35"/>
                </a:lnTo>
                <a:lnTo>
                  <a:pt x="344" y="34"/>
                </a:lnTo>
                <a:lnTo>
                  <a:pt x="327" y="34"/>
                </a:lnTo>
                <a:lnTo>
                  <a:pt x="311" y="33"/>
                </a:lnTo>
                <a:lnTo>
                  <a:pt x="295" y="32"/>
                </a:lnTo>
                <a:lnTo>
                  <a:pt x="278" y="31"/>
                </a:lnTo>
                <a:lnTo>
                  <a:pt x="262" y="29"/>
                </a:lnTo>
                <a:lnTo>
                  <a:pt x="246" y="28"/>
                </a:lnTo>
                <a:lnTo>
                  <a:pt x="229" y="27"/>
                </a:lnTo>
                <a:lnTo>
                  <a:pt x="213" y="25"/>
                </a:lnTo>
                <a:lnTo>
                  <a:pt x="196" y="24"/>
                </a:lnTo>
                <a:lnTo>
                  <a:pt x="180" y="22"/>
                </a:lnTo>
                <a:lnTo>
                  <a:pt x="164" y="21"/>
                </a:lnTo>
                <a:lnTo>
                  <a:pt x="147" y="20"/>
                </a:lnTo>
                <a:lnTo>
                  <a:pt x="131" y="18"/>
                </a:lnTo>
                <a:lnTo>
                  <a:pt x="114" y="17"/>
                </a:lnTo>
                <a:lnTo>
                  <a:pt x="98" y="16"/>
                </a:lnTo>
                <a:lnTo>
                  <a:pt x="82" y="15"/>
                </a:lnTo>
                <a:lnTo>
                  <a:pt x="65" y="14"/>
                </a:lnTo>
                <a:lnTo>
                  <a:pt x="49" y="13"/>
                </a:lnTo>
                <a:lnTo>
                  <a:pt x="33" y="13"/>
                </a:lnTo>
                <a:lnTo>
                  <a:pt x="16" y="13"/>
                </a:lnTo>
                <a:lnTo>
                  <a:pt x="0" y="13"/>
                </a:lnTo>
                <a:close/>
              </a:path>
            </a:pathLst>
          </a:custGeom>
          <a:solidFill>
            <a:srgbClr val="0B2E4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3228975"/>
            <a:ext cx="3743325" cy="3009900"/>
          </a:xfrm>
          <a:custGeom>
            <a:avLst/>
            <a:gdLst/>
            <a:ahLst/>
            <a:cxnLst/>
            <a:rect l="l" t="t" r="r" b="b"/>
            <a:pathLst>
              <a:path w="393" h="316">
                <a:moveTo>
                  <a:pt x="0" y="298"/>
                </a:moveTo>
                <a:lnTo>
                  <a:pt x="16" y="296"/>
                </a:lnTo>
                <a:lnTo>
                  <a:pt x="33" y="292"/>
                </a:lnTo>
                <a:lnTo>
                  <a:pt x="49" y="285"/>
                </a:lnTo>
                <a:lnTo>
                  <a:pt x="65" y="275"/>
                </a:lnTo>
                <a:lnTo>
                  <a:pt x="82" y="264"/>
                </a:lnTo>
                <a:lnTo>
                  <a:pt x="98" y="251"/>
                </a:lnTo>
                <a:lnTo>
                  <a:pt x="114" y="236"/>
                </a:lnTo>
                <a:lnTo>
                  <a:pt x="131" y="220"/>
                </a:lnTo>
                <a:lnTo>
                  <a:pt x="147" y="203"/>
                </a:lnTo>
                <a:lnTo>
                  <a:pt x="164" y="186"/>
                </a:lnTo>
                <a:lnTo>
                  <a:pt x="180" y="167"/>
                </a:lnTo>
                <a:lnTo>
                  <a:pt x="196" y="149"/>
                </a:lnTo>
                <a:lnTo>
                  <a:pt x="213" y="130"/>
                </a:lnTo>
                <a:lnTo>
                  <a:pt x="229" y="112"/>
                </a:lnTo>
                <a:lnTo>
                  <a:pt x="246" y="94"/>
                </a:lnTo>
                <a:lnTo>
                  <a:pt x="262" y="77"/>
                </a:lnTo>
                <a:lnTo>
                  <a:pt x="278" y="61"/>
                </a:lnTo>
                <a:lnTo>
                  <a:pt x="295" y="47"/>
                </a:lnTo>
                <a:lnTo>
                  <a:pt x="311" y="34"/>
                </a:lnTo>
                <a:lnTo>
                  <a:pt x="327" y="22"/>
                </a:lnTo>
                <a:lnTo>
                  <a:pt x="344" y="13"/>
                </a:lnTo>
                <a:lnTo>
                  <a:pt x="360" y="6"/>
                </a:lnTo>
                <a:lnTo>
                  <a:pt x="377" y="2"/>
                </a:lnTo>
                <a:lnTo>
                  <a:pt x="393" y="0"/>
                </a:lnTo>
                <a:lnTo>
                  <a:pt x="393" y="19"/>
                </a:lnTo>
                <a:lnTo>
                  <a:pt x="377" y="20"/>
                </a:lnTo>
                <a:lnTo>
                  <a:pt x="360" y="25"/>
                </a:lnTo>
                <a:lnTo>
                  <a:pt x="344" y="32"/>
                </a:lnTo>
                <a:lnTo>
                  <a:pt x="327" y="41"/>
                </a:lnTo>
                <a:lnTo>
                  <a:pt x="311" y="52"/>
                </a:lnTo>
                <a:lnTo>
                  <a:pt x="295" y="65"/>
                </a:lnTo>
                <a:lnTo>
                  <a:pt x="278" y="80"/>
                </a:lnTo>
                <a:lnTo>
                  <a:pt x="262" y="96"/>
                </a:lnTo>
                <a:lnTo>
                  <a:pt x="246" y="113"/>
                </a:lnTo>
                <a:lnTo>
                  <a:pt x="229" y="131"/>
                </a:lnTo>
                <a:lnTo>
                  <a:pt x="213" y="149"/>
                </a:lnTo>
                <a:lnTo>
                  <a:pt x="196" y="167"/>
                </a:lnTo>
                <a:lnTo>
                  <a:pt x="180" y="186"/>
                </a:lnTo>
                <a:lnTo>
                  <a:pt x="164" y="204"/>
                </a:lnTo>
                <a:lnTo>
                  <a:pt x="147" y="222"/>
                </a:lnTo>
                <a:lnTo>
                  <a:pt x="131" y="239"/>
                </a:lnTo>
                <a:lnTo>
                  <a:pt x="114" y="255"/>
                </a:lnTo>
                <a:lnTo>
                  <a:pt x="98" y="269"/>
                </a:lnTo>
                <a:lnTo>
                  <a:pt x="82" y="283"/>
                </a:lnTo>
                <a:lnTo>
                  <a:pt x="65" y="294"/>
                </a:lnTo>
                <a:lnTo>
                  <a:pt x="49" y="303"/>
                </a:lnTo>
                <a:lnTo>
                  <a:pt x="33" y="310"/>
                </a:lnTo>
                <a:lnTo>
                  <a:pt x="16" y="314"/>
                </a:lnTo>
                <a:lnTo>
                  <a:pt x="0" y="316"/>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5057775"/>
            <a:ext cx="3743325" cy="1362075"/>
          </a:xfrm>
          <a:custGeom>
            <a:avLst/>
            <a:gdLst/>
            <a:ahLst/>
            <a:cxnLst/>
            <a:rect l="l" t="t" r="r" b="b"/>
            <a:pathLst>
              <a:path w="393" h="143">
                <a:moveTo>
                  <a:pt x="0" y="124"/>
                </a:moveTo>
                <a:lnTo>
                  <a:pt x="16" y="123"/>
                </a:lnTo>
                <a:lnTo>
                  <a:pt x="33" y="121"/>
                </a:lnTo>
                <a:lnTo>
                  <a:pt x="49" y="119"/>
                </a:lnTo>
                <a:lnTo>
                  <a:pt x="65" y="115"/>
                </a:lnTo>
                <a:lnTo>
                  <a:pt x="82" y="110"/>
                </a:lnTo>
                <a:lnTo>
                  <a:pt x="98" y="105"/>
                </a:lnTo>
                <a:lnTo>
                  <a:pt x="114" y="98"/>
                </a:lnTo>
                <a:lnTo>
                  <a:pt x="131" y="92"/>
                </a:lnTo>
                <a:lnTo>
                  <a:pt x="147" y="85"/>
                </a:lnTo>
                <a:lnTo>
                  <a:pt x="164" y="77"/>
                </a:lnTo>
                <a:lnTo>
                  <a:pt x="180" y="70"/>
                </a:lnTo>
                <a:lnTo>
                  <a:pt x="196" y="62"/>
                </a:lnTo>
                <a:lnTo>
                  <a:pt x="213" y="54"/>
                </a:lnTo>
                <a:lnTo>
                  <a:pt x="229" y="47"/>
                </a:lnTo>
                <a:lnTo>
                  <a:pt x="246" y="39"/>
                </a:lnTo>
                <a:lnTo>
                  <a:pt x="262" y="32"/>
                </a:lnTo>
                <a:lnTo>
                  <a:pt x="278" y="25"/>
                </a:lnTo>
                <a:lnTo>
                  <a:pt x="295" y="19"/>
                </a:lnTo>
                <a:lnTo>
                  <a:pt x="311" y="14"/>
                </a:lnTo>
                <a:lnTo>
                  <a:pt x="327" y="9"/>
                </a:lnTo>
                <a:lnTo>
                  <a:pt x="344" y="5"/>
                </a:lnTo>
                <a:lnTo>
                  <a:pt x="360" y="2"/>
                </a:lnTo>
                <a:lnTo>
                  <a:pt x="377" y="0"/>
                </a:lnTo>
                <a:lnTo>
                  <a:pt x="393" y="0"/>
                </a:lnTo>
                <a:lnTo>
                  <a:pt x="393" y="19"/>
                </a:lnTo>
                <a:lnTo>
                  <a:pt x="377" y="20"/>
                </a:lnTo>
                <a:lnTo>
                  <a:pt x="360" y="22"/>
                </a:lnTo>
                <a:lnTo>
                  <a:pt x="344" y="25"/>
                </a:lnTo>
                <a:lnTo>
                  <a:pt x="327" y="28"/>
                </a:lnTo>
                <a:lnTo>
                  <a:pt x="311" y="33"/>
                </a:lnTo>
                <a:lnTo>
                  <a:pt x="295" y="39"/>
                </a:lnTo>
                <a:lnTo>
                  <a:pt x="278" y="45"/>
                </a:lnTo>
                <a:lnTo>
                  <a:pt x="262" y="51"/>
                </a:lnTo>
                <a:lnTo>
                  <a:pt x="246" y="58"/>
                </a:lnTo>
                <a:lnTo>
                  <a:pt x="229" y="66"/>
                </a:lnTo>
                <a:lnTo>
                  <a:pt x="213" y="74"/>
                </a:lnTo>
                <a:lnTo>
                  <a:pt x="196" y="81"/>
                </a:lnTo>
                <a:lnTo>
                  <a:pt x="180" y="89"/>
                </a:lnTo>
                <a:lnTo>
                  <a:pt x="164" y="97"/>
                </a:lnTo>
                <a:lnTo>
                  <a:pt x="147" y="104"/>
                </a:lnTo>
                <a:lnTo>
                  <a:pt x="131" y="111"/>
                </a:lnTo>
                <a:lnTo>
                  <a:pt x="114" y="118"/>
                </a:lnTo>
                <a:lnTo>
                  <a:pt x="98" y="124"/>
                </a:lnTo>
                <a:lnTo>
                  <a:pt x="82" y="129"/>
                </a:lnTo>
                <a:lnTo>
                  <a:pt x="65" y="134"/>
                </a:lnTo>
                <a:lnTo>
                  <a:pt x="49" y="138"/>
                </a:lnTo>
                <a:lnTo>
                  <a:pt x="33" y="141"/>
                </a:lnTo>
                <a:lnTo>
                  <a:pt x="16" y="143"/>
                </a:lnTo>
                <a:lnTo>
                  <a:pt x="0" y="143"/>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6219825"/>
            <a:ext cx="3743325" cy="314325"/>
          </a:xfrm>
          <a:custGeom>
            <a:avLst/>
            <a:gdLst/>
            <a:ahLst/>
            <a:cxnLst/>
            <a:rect l="l" t="t" r="r" b="b"/>
            <a:pathLst>
              <a:path w="393" h="33">
                <a:moveTo>
                  <a:pt x="0" y="21"/>
                </a:moveTo>
                <a:lnTo>
                  <a:pt x="16" y="21"/>
                </a:lnTo>
                <a:lnTo>
                  <a:pt x="33" y="21"/>
                </a:lnTo>
                <a:lnTo>
                  <a:pt x="49" y="20"/>
                </a:lnTo>
                <a:lnTo>
                  <a:pt x="65" y="20"/>
                </a:lnTo>
                <a:lnTo>
                  <a:pt x="82" y="19"/>
                </a:lnTo>
                <a:lnTo>
                  <a:pt x="98" y="18"/>
                </a:lnTo>
                <a:lnTo>
                  <a:pt x="114" y="17"/>
                </a:lnTo>
                <a:lnTo>
                  <a:pt x="131" y="16"/>
                </a:lnTo>
                <a:lnTo>
                  <a:pt x="147" y="15"/>
                </a:lnTo>
                <a:lnTo>
                  <a:pt x="164" y="13"/>
                </a:lnTo>
                <a:lnTo>
                  <a:pt x="180" y="12"/>
                </a:lnTo>
                <a:lnTo>
                  <a:pt x="196" y="11"/>
                </a:lnTo>
                <a:lnTo>
                  <a:pt x="213" y="9"/>
                </a:lnTo>
                <a:lnTo>
                  <a:pt x="229" y="8"/>
                </a:lnTo>
                <a:lnTo>
                  <a:pt x="246" y="7"/>
                </a:lnTo>
                <a:lnTo>
                  <a:pt x="262" y="6"/>
                </a:lnTo>
                <a:lnTo>
                  <a:pt x="278" y="5"/>
                </a:lnTo>
                <a:lnTo>
                  <a:pt x="295" y="4"/>
                </a:lnTo>
                <a:lnTo>
                  <a:pt x="311" y="3"/>
                </a:lnTo>
                <a:lnTo>
                  <a:pt x="327" y="2"/>
                </a:lnTo>
                <a:lnTo>
                  <a:pt x="344" y="1"/>
                </a:lnTo>
                <a:lnTo>
                  <a:pt x="360" y="1"/>
                </a:lnTo>
                <a:lnTo>
                  <a:pt x="377" y="0"/>
                </a:lnTo>
                <a:lnTo>
                  <a:pt x="393" y="0"/>
                </a:lnTo>
                <a:lnTo>
                  <a:pt x="393" y="12"/>
                </a:lnTo>
                <a:lnTo>
                  <a:pt x="377" y="12"/>
                </a:lnTo>
                <a:lnTo>
                  <a:pt x="360" y="12"/>
                </a:lnTo>
                <a:lnTo>
                  <a:pt x="344" y="13"/>
                </a:lnTo>
                <a:lnTo>
                  <a:pt x="327" y="14"/>
                </a:lnTo>
                <a:lnTo>
                  <a:pt x="311" y="14"/>
                </a:lnTo>
                <a:lnTo>
                  <a:pt x="295" y="15"/>
                </a:lnTo>
                <a:lnTo>
                  <a:pt x="278" y="16"/>
                </a:lnTo>
                <a:lnTo>
                  <a:pt x="262" y="17"/>
                </a:lnTo>
                <a:lnTo>
                  <a:pt x="246" y="19"/>
                </a:lnTo>
                <a:lnTo>
                  <a:pt x="229" y="20"/>
                </a:lnTo>
                <a:lnTo>
                  <a:pt x="213" y="21"/>
                </a:lnTo>
                <a:lnTo>
                  <a:pt x="196" y="22"/>
                </a:lnTo>
                <a:lnTo>
                  <a:pt x="180" y="24"/>
                </a:lnTo>
                <a:lnTo>
                  <a:pt x="164" y="25"/>
                </a:lnTo>
                <a:lnTo>
                  <a:pt x="147" y="26"/>
                </a:lnTo>
                <a:lnTo>
                  <a:pt x="131" y="28"/>
                </a:lnTo>
                <a:lnTo>
                  <a:pt x="114" y="29"/>
                </a:lnTo>
                <a:lnTo>
                  <a:pt x="98" y="30"/>
                </a:lnTo>
                <a:lnTo>
                  <a:pt x="82" y="31"/>
                </a:lnTo>
                <a:lnTo>
                  <a:pt x="65" y="31"/>
                </a:lnTo>
                <a:lnTo>
                  <a:pt x="49" y="32"/>
                </a:lnTo>
                <a:lnTo>
                  <a:pt x="33" y="33"/>
                </a:lnTo>
                <a:lnTo>
                  <a:pt x="16" y="33"/>
                </a:lnTo>
                <a:lnTo>
                  <a:pt x="0" y="33"/>
                </a:lnTo>
                <a:close/>
              </a:path>
            </a:pathLst>
          </a:custGeom>
          <a:solidFill>
            <a:srgbClr val="6C7A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41195" y="1304925"/>
            <a:ext cx="114300" cy="471490"/>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7175" y="1304925"/>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Rectangle 43"/>
          <p:cNvSpPr/>
          <p:nvPr/>
        </p:nvSpPr>
        <p:spPr>
          <a:xfrm>
            <a:off x="1941195" y="1833565"/>
            <a:ext cx="114300" cy="471490"/>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7175" y="1833565"/>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6" name="Rectangle 45"/>
          <p:cNvSpPr/>
          <p:nvPr/>
        </p:nvSpPr>
        <p:spPr>
          <a:xfrm>
            <a:off x="1941195" y="2362204"/>
            <a:ext cx="114300" cy="47149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7175" y="2362204"/>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Rectangle 47"/>
          <p:cNvSpPr/>
          <p:nvPr/>
        </p:nvSpPr>
        <p:spPr>
          <a:xfrm>
            <a:off x="1941195" y="2890844"/>
            <a:ext cx="114300" cy="471490"/>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7175" y="2890844"/>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Rectangle 49"/>
          <p:cNvSpPr/>
          <p:nvPr/>
        </p:nvSpPr>
        <p:spPr>
          <a:xfrm>
            <a:off x="1941195" y="3419483"/>
            <a:ext cx="114300" cy="47149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7175" y="3419483"/>
            <a:ext cx="1626870" cy="47149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Rectangle 51"/>
          <p:cNvSpPr/>
          <p:nvPr/>
        </p:nvSpPr>
        <p:spPr>
          <a:xfrm>
            <a:off x="1941195" y="3948123"/>
            <a:ext cx="114300" cy="47148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7175" y="3948123"/>
            <a:ext cx="1626870" cy="47148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4" name="Rectangle 53"/>
          <p:cNvSpPr/>
          <p:nvPr/>
        </p:nvSpPr>
        <p:spPr>
          <a:xfrm>
            <a:off x="1941195" y="4476758"/>
            <a:ext cx="114300" cy="47148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7175" y="4476758"/>
            <a:ext cx="1626870" cy="47148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6" name="Rectangle 55"/>
          <p:cNvSpPr/>
          <p:nvPr/>
        </p:nvSpPr>
        <p:spPr>
          <a:xfrm>
            <a:off x="1941195" y="5005394"/>
            <a:ext cx="114300" cy="47148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7175" y="5005394"/>
            <a:ext cx="1626870" cy="47148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8" name="Rectangle 57"/>
          <p:cNvSpPr/>
          <p:nvPr/>
        </p:nvSpPr>
        <p:spPr>
          <a:xfrm>
            <a:off x="1941195" y="5534029"/>
            <a:ext cx="114300" cy="47148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7175" y="5534029"/>
            <a:ext cx="1626870" cy="47148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0" name="Rectangle 59"/>
          <p:cNvSpPr/>
          <p:nvPr/>
        </p:nvSpPr>
        <p:spPr>
          <a:xfrm>
            <a:off x="1941195" y="6062665"/>
            <a:ext cx="114300" cy="471485"/>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7175" y="6062665"/>
            <a:ext cx="1626870" cy="47148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2" name="Rectangle 61"/>
          <p:cNvSpPr/>
          <p:nvPr/>
        </p:nvSpPr>
        <p:spPr>
          <a:xfrm>
            <a:off x="5800725" y="1504950"/>
            <a:ext cx="114300" cy="190315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72175" y="1504950"/>
            <a:ext cx="1381125" cy="1903153"/>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4" name="Rectangle 63"/>
          <p:cNvSpPr/>
          <p:nvPr/>
        </p:nvSpPr>
        <p:spPr>
          <a:xfrm>
            <a:off x="5800725" y="3465253"/>
            <a:ext cx="114300" cy="177559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72175" y="3465253"/>
            <a:ext cx="1381125" cy="1775591"/>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6" name="Rectangle 65"/>
          <p:cNvSpPr/>
          <p:nvPr/>
        </p:nvSpPr>
        <p:spPr>
          <a:xfrm>
            <a:off x="5800725" y="5297994"/>
            <a:ext cx="114300" cy="103613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72175" y="5297994"/>
            <a:ext cx="1381125" cy="1036131"/>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8" name="Rounded Rectangle 67"/>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70" name="Rectangle 69"/>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72" name="TextBox 7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73" name="TextBox 72"/>
          <p:cNvSpPr txBox="1"/>
          <p:nvPr/>
        </p:nvSpPr>
        <p:spPr>
          <a:xfrm>
            <a:off x="646026" y="1456850"/>
            <a:ext cx="1141139" cy="186689"/>
          </a:xfrm>
          <a:prstGeom prst="rect">
            <a:avLst/>
          </a:prstGeom>
          <a:noFill/>
        </p:spPr>
        <p:txBody>
          <a:bodyPr wrap="none" lIns="0" rIns="0" tIns="0" bIns="0">
            <a:spAutoFit/>
          </a:bodyPr>
          <a:lstStyle/>
          <a:p>
            <a:r>
              <a:rPr sz="1100" b="1">
                <a:solidFill>
                  <a:srgbClr val="2E2E2E"/>
                </a:solidFill>
                <a:latin typeface="Calibri"/>
              </a:rPr>
              <a:t>HAL Allergy Group</a:t>
            </a:r>
          </a:p>
        </p:txBody>
      </p:sp>
      <p:pic>
        <p:nvPicPr>
          <p:cNvPr id="74" name="Picture 73" descr="lock.png"/>
          <p:cNvPicPr>
            <a:picLocks noChangeAspect="1"/>
          </p:cNvPicPr>
          <p:nvPr/>
        </p:nvPicPr>
        <p:blipFill>
          <a:blip r:embed="rId4"/>
          <a:stretch>
            <a:fillRect/>
          </a:stretch>
        </p:blipFill>
        <p:spPr>
          <a:xfrm>
            <a:off x="1735218" y="1447071"/>
            <a:ext cx="128699" cy="187198"/>
          </a:xfrm>
          <a:prstGeom prst="rect">
            <a:avLst/>
          </a:prstGeom>
        </p:spPr>
      </p:pic>
      <p:sp>
        <p:nvSpPr>
          <p:cNvPr id="75" name="TextBox 74"/>
          <p:cNvSpPr txBox="1"/>
          <p:nvPr/>
        </p:nvSpPr>
        <p:spPr>
          <a:xfrm>
            <a:off x="831881" y="1985490"/>
            <a:ext cx="955285" cy="186689"/>
          </a:xfrm>
          <a:prstGeom prst="rect">
            <a:avLst/>
          </a:prstGeom>
          <a:noFill/>
        </p:spPr>
        <p:txBody>
          <a:bodyPr wrap="none" lIns="0" rIns="0" tIns="0" bIns="0">
            <a:spAutoFit/>
          </a:bodyPr>
          <a:lstStyle/>
          <a:p>
            <a:r>
              <a:rPr sz="1100" b="1">
                <a:solidFill>
                  <a:srgbClr val="2E2E2E"/>
                </a:solidFill>
                <a:latin typeface="Calibri"/>
              </a:rPr>
              <a:t>ALK-Abelló A/S</a:t>
            </a:r>
          </a:p>
        </p:txBody>
      </p:sp>
      <p:pic>
        <p:nvPicPr>
          <p:cNvPr id="76" name="Picture 75" descr="lock.png"/>
          <p:cNvPicPr>
            <a:picLocks noChangeAspect="1"/>
          </p:cNvPicPr>
          <p:nvPr/>
        </p:nvPicPr>
        <p:blipFill>
          <a:blip r:embed="rId4"/>
          <a:stretch>
            <a:fillRect/>
          </a:stretch>
        </p:blipFill>
        <p:spPr>
          <a:xfrm>
            <a:off x="1735218" y="1975711"/>
            <a:ext cx="128699" cy="187198"/>
          </a:xfrm>
          <a:prstGeom prst="rect">
            <a:avLst/>
          </a:prstGeom>
        </p:spPr>
      </p:pic>
      <p:sp>
        <p:nvSpPr>
          <p:cNvPr id="77" name="TextBox 76"/>
          <p:cNvSpPr txBox="1"/>
          <p:nvPr/>
        </p:nvSpPr>
        <p:spPr>
          <a:xfrm>
            <a:off x="391894" y="2430309"/>
            <a:ext cx="1473100" cy="186689"/>
          </a:xfrm>
          <a:prstGeom prst="rect">
            <a:avLst/>
          </a:prstGeom>
          <a:noFill/>
        </p:spPr>
        <p:txBody>
          <a:bodyPr wrap="none" lIns="0" rIns="0" tIns="0" bIns="0">
            <a:spAutoFit/>
          </a:bodyPr>
          <a:lstStyle/>
          <a:p>
            <a:r>
              <a:rPr sz="1100" b="1">
                <a:solidFill>
                  <a:srgbClr val="2E2E2E"/>
                </a:solidFill>
                <a:latin typeface="Calibri"/>
              </a:rPr>
              <a:t>Jubilant HollisterStier LLC</a:t>
            </a:r>
          </a:p>
        </p:txBody>
      </p:sp>
      <p:pic>
        <p:nvPicPr>
          <p:cNvPr id="78" name="Picture 77" descr="lock.png"/>
          <p:cNvPicPr>
            <a:picLocks noChangeAspect="1"/>
          </p:cNvPicPr>
          <p:nvPr/>
        </p:nvPicPr>
        <p:blipFill>
          <a:blip r:embed="rId4"/>
          <a:stretch>
            <a:fillRect/>
          </a:stretch>
        </p:blipFill>
        <p:spPr>
          <a:xfrm>
            <a:off x="1735218" y="2588170"/>
            <a:ext cx="128699" cy="187198"/>
          </a:xfrm>
          <a:prstGeom prst="rect">
            <a:avLst/>
          </a:prstGeom>
        </p:spPr>
      </p:pic>
      <p:sp>
        <p:nvSpPr>
          <p:cNvPr id="79" name="TextBox 78"/>
          <p:cNvSpPr txBox="1"/>
          <p:nvPr/>
        </p:nvSpPr>
        <p:spPr>
          <a:xfrm>
            <a:off x="289550" y="2958949"/>
            <a:ext cx="1575444" cy="186689"/>
          </a:xfrm>
          <a:prstGeom prst="rect">
            <a:avLst/>
          </a:prstGeom>
          <a:noFill/>
        </p:spPr>
        <p:txBody>
          <a:bodyPr wrap="none" lIns="0" rIns="0" tIns="0" bIns="0">
            <a:spAutoFit/>
          </a:bodyPr>
          <a:lstStyle/>
          <a:p>
            <a:r>
              <a:rPr sz="1100" b="1">
                <a:solidFill>
                  <a:srgbClr val="2E2E2E"/>
                </a:solidFill>
                <a:latin typeface="Calibri"/>
              </a:rPr>
              <a:t>LETI Pharma / Laboratorios</a:t>
            </a:r>
          </a:p>
        </p:txBody>
      </p:sp>
      <p:sp>
        <p:nvSpPr>
          <p:cNvPr id="80" name="TextBox 79"/>
          <p:cNvSpPr txBox="1"/>
          <p:nvPr/>
        </p:nvSpPr>
        <p:spPr>
          <a:xfrm>
            <a:off x="1080679" y="3126589"/>
            <a:ext cx="706487" cy="186689"/>
          </a:xfrm>
          <a:prstGeom prst="rect">
            <a:avLst/>
          </a:prstGeom>
          <a:noFill/>
        </p:spPr>
        <p:txBody>
          <a:bodyPr wrap="none" lIns="0" rIns="0" tIns="0" bIns="0">
            <a:spAutoFit/>
          </a:bodyPr>
          <a:lstStyle/>
          <a:p>
            <a:r>
              <a:rPr sz="1100" b="1">
                <a:solidFill>
                  <a:srgbClr val="2E2E2E"/>
                </a:solidFill>
                <a:latin typeface="Calibri"/>
              </a:rPr>
              <a:t>LETI, S.L.U.</a:t>
            </a:r>
          </a:p>
        </p:txBody>
      </p:sp>
      <p:pic>
        <p:nvPicPr>
          <p:cNvPr id="81" name="Picture 80" descr="lock.png"/>
          <p:cNvPicPr>
            <a:picLocks noChangeAspect="1"/>
          </p:cNvPicPr>
          <p:nvPr/>
        </p:nvPicPr>
        <p:blipFill>
          <a:blip r:embed="rId4"/>
          <a:stretch>
            <a:fillRect/>
          </a:stretch>
        </p:blipFill>
        <p:spPr>
          <a:xfrm>
            <a:off x="1735218" y="3116810"/>
            <a:ext cx="128699" cy="187198"/>
          </a:xfrm>
          <a:prstGeom prst="rect">
            <a:avLst/>
          </a:prstGeom>
        </p:spPr>
      </p:pic>
      <p:sp>
        <p:nvSpPr>
          <p:cNvPr id="82" name="TextBox 81"/>
          <p:cNvSpPr txBox="1"/>
          <p:nvPr/>
        </p:nvSpPr>
        <p:spPr>
          <a:xfrm>
            <a:off x="522595" y="3571408"/>
            <a:ext cx="1264570" cy="186689"/>
          </a:xfrm>
          <a:prstGeom prst="rect">
            <a:avLst/>
          </a:prstGeom>
          <a:noFill/>
        </p:spPr>
        <p:txBody>
          <a:bodyPr wrap="none" lIns="0" rIns="0" tIns="0" bIns="0">
            <a:spAutoFit/>
          </a:bodyPr>
          <a:lstStyle/>
          <a:p>
            <a:r>
              <a:rPr sz="1100" b="1">
                <a:solidFill>
                  <a:srgbClr val="2E2E2E"/>
                </a:solidFill>
                <a:latin typeface="Calibri"/>
              </a:rPr>
              <a:t>DIATER Laboratories</a:t>
            </a:r>
          </a:p>
        </p:txBody>
      </p:sp>
      <p:pic>
        <p:nvPicPr>
          <p:cNvPr id="83" name="Picture 82" descr="lock.png"/>
          <p:cNvPicPr>
            <a:picLocks noChangeAspect="1"/>
          </p:cNvPicPr>
          <p:nvPr/>
        </p:nvPicPr>
        <p:blipFill>
          <a:blip r:embed="rId4"/>
          <a:stretch>
            <a:fillRect/>
          </a:stretch>
        </p:blipFill>
        <p:spPr>
          <a:xfrm>
            <a:off x="1735218" y="3561629"/>
            <a:ext cx="128699" cy="187198"/>
          </a:xfrm>
          <a:prstGeom prst="rect">
            <a:avLst/>
          </a:prstGeom>
        </p:spPr>
      </p:pic>
      <p:sp>
        <p:nvSpPr>
          <p:cNvPr id="84" name="TextBox 83"/>
          <p:cNvSpPr txBox="1"/>
          <p:nvPr/>
        </p:nvSpPr>
        <p:spPr>
          <a:xfrm>
            <a:off x="841934" y="4100045"/>
            <a:ext cx="945232" cy="186689"/>
          </a:xfrm>
          <a:prstGeom prst="rect">
            <a:avLst/>
          </a:prstGeom>
          <a:noFill/>
        </p:spPr>
        <p:txBody>
          <a:bodyPr wrap="none" lIns="0" rIns="0" tIns="0" bIns="0">
            <a:spAutoFit/>
          </a:bodyPr>
          <a:lstStyle/>
          <a:p>
            <a:r>
              <a:rPr sz="1100" b="1">
                <a:solidFill>
                  <a:srgbClr val="2E2E2E"/>
                </a:solidFill>
                <a:latin typeface="Calibri"/>
              </a:rPr>
              <a:t>Inmunotek S.L.</a:t>
            </a:r>
          </a:p>
        </p:txBody>
      </p:sp>
      <p:pic>
        <p:nvPicPr>
          <p:cNvPr id="85" name="Picture 84" descr="lock.png"/>
          <p:cNvPicPr>
            <a:picLocks noChangeAspect="1"/>
          </p:cNvPicPr>
          <p:nvPr/>
        </p:nvPicPr>
        <p:blipFill>
          <a:blip r:embed="rId4"/>
          <a:stretch>
            <a:fillRect/>
          </a:stretch>
        </p:blipFill>
        <p:spPr>
          <a:xfrm>
            <a:off x="1735218" y="4090266"/>
            <a:ext cx="128699" cy="187198"/>
          </a:xfrm>
          <a:prstGeom prst="rect">
            <a:avLst/>
          </a:prstGeom>
        </p:spPr>
      </p:pic>
      <p:sp>
        <p:nvSpPr>
          <p:cNvPr id="86" name="TextBox 85"/>
          <p:cNvSpPr txBox="1"/>
          <p:nvPr/>
        </p:nvSpPr>
        <p:spPr>
          <a:xfrm>
            <a:off x="794052" y="4544860"/>
            <a:ext cx="1070942" cy="186689"/>
          </a:xfrm>
          <a:prstGeom prst="rect">
            <a:avLst/>
          </a:prstGeom>
          <a:noFill/>
        </p:spPr>
        <p:txBody>
          <a:bodyPr wrap="none" lIns="0" rIns="0" tIns="0" bIns="0">
            <a:spAutoFit/>
          </a:bodyPr>
          <a:lstStyle/>
          <a:p>
            <a:r>
              <a:rPr sz="1100" b="1">
                <a:solidFill>
                  <a:srgbClr val="2E2E2E"/>
                </a:solidFill>
                <a:latin typeface="Calibri"/>
              </a:rPr>
              <a:t>Stallergenes Greer</a:t>
            </a:r>
          </a:p>
        </p:txBody>
      </p:sp>
      <p:sp>
        <p:nvSpPr>
          <p:cNvPr id="87" name="TextBox 86"/>
          <p:cNvSpPr txBox="1"/>
          <p:nvPr/>
        </p:nvSpPr>
        <p:spPr>
          <a:xfrm>
            <a:off x="744279" y="4712500"/>
            <a:ext cx="1042887" cy="186689"/>
          </a:xfrm>
          <a:prstGeom prst="rect">
            <a:avLst/>
          </a:prstGeom>
          <a:noFill/>
        </p:spPr>
        <p:txBody>
          <a:bodyPr wrap="none" lIns="0" rIns="0" tIns="0" bIns="0">
            <a:spAutoFit/>
          </a:bodyPr>
          <a:lstStyle/>
          <a:p>
            <a:r>
              <a:rPr sz="1100" b="1">
                <a:solidFill>
                  <a:srgbClr val="2E2E2E"/>
                </a:solidFill>
                <a:latin typeface="Calibri"/>
              </a:rPr>
              <a:t>International AG</a:t>
            </a:r>
          </a:p>
        </p:txBody>
      </p:sp>
      <p:pic>
        <p:nvPicPr>
          <p:cNvPr id="88" name="Picture 87" descr="lock.png"/>
          <p:cNvPicPr>
            <a:picLocks noChangeAspect="1"/>
          </p:cNvPicPr>
          <p:nvPr/>
        </p:nvPicPr>
        <p:blipFill>
          <a:blip r:embed="rId4"/>
          <a:stretch>
            <a:fillRect/>
          </a:stretch>
        </p:blipFill>
        <p:spPr>
          <a:xfrm>
            <a:off x="1735218" y="4702721"/>
            <a:ext cx="128699" cy="187198"/>
          </a:xfrm>
          <a:prstGeom prst="rect">
            <a:avLst/>
          </a:prstGeom>
        </p:spPr>
      </p:pic>
      <p:sp>
        <p:nvSpPr>
          <p:cNvPr id="89" name="TextBox 88"/>
          <p:cNvSpPr txBox="1"/>
          <p:nvPr/>
        </p:nvSpPr>
        <p:spPr>
          <a:xfrm>
            <a:off x="470996" y="5073496"/>
            <a:ext cx="1393998" cy="186689"/>
          </a:xfrm>
          <a:prstGeom prst="rect">
            <a:avLst/>
          </a:prstGeom>
          <a:noFill/>
        </p:spPr>
        <p:txBody>
          <a:bodyPr wrap="none" lIns="0" rIns="0" tIns="0" bIns="0">
            <a:spAutoFit/>
          </a:bodyPr>
          <a:lstStyle/>
          <a:p>
            <a:r>
              <a:rPr sz="1100" b="1">
                <a:solidFill>
                  <a:srgbClr val="2E2E2E"/>
                </a:solidFill>
                <a:latin typeface="Calibri"/>
              </a:rPr>
              <a:t>Allergopharma GmbH &amp;</a:t>
            </a:r>
          </a:p>
        </p:txBody>
      </p:sp>
      <p:sp>
        <p:nvSpPr>
          <p:cNvPr id="90" name="TextBox 89"/>
          <p:cNvSpPr txBox="1"/>
          <p:nvPr/>
        </p:nvSpPr>
        <p:spPr>
          <a:xfrm>
            <a:off x="1327695" y="5241136"/>
            <a:ext cx="459471" cy="186689"/>
          </a:xfrm>
          <a:prstGeom prst="rect">
            <a:avLst/>
          </a:prstGeom>
          <a:noFill/>
        </p:spPr>
        <p:txBody>
          <a:bodyPr wrap="none" lIns="0" rIns="0" tIns="0" bIns="0">
            <a:spAutoFit/>
          </a:bodyPr>
          <a:lstStyle/>
          <a:p>
            <a:r>
              <a:rPr sz="1100" b="1">
                <a:solidFill>
                  <a:srgbClr val="2E2E2E"/>
                </a:solidFill>
                <a:latin typeface="Calibri"/>
              </a:rPr>
              <a:t>Co. KG</a:t>
            </a:r>
          </a:p>
        </p:txBody>
      </p:sp>
      <p:pic>
        <p:nvPicPr>
          <p:cNvPr id="91" name="Picture 90" descr="lock.png"/>
          <p:cNvPicPr>
            <a:picLocks noChangeAspect="1"/>
          </p:cNvPicPr>
          <p:nvPr/>
        </p:nvPicPr>
        <p:blipFill>
          <a:blip r:embed="rId4"/>
          <a:stretch>
            <a:fillRect/>
          </a:stretch>
        </p:blipFill>
        <p:spPr>
          <a:xfrm>
            <a:off x="1735218" y="5231357"/>
            <a:ext cx="128699" cy="187198"/>
          </a:xfrm>
          <a:prstGeom prst="rect">
            <a:avLst/>
          </a:prstGeom>
        </p:spPr>
      </p:pic>
      <p:sp>
        <p:nvSpPr>
          <p:cNvPr id="92" name="TextBox 91"/>
          <p:cNvSpPr txBox="1"/>
          <p:nvPr/>
        </p:nvSpPr>
        <p:spPr>
          <a:xfrm>
            <a:off x="476999" y="5602131"/>
            <a:ext cx="1387995" cy="186689"/>
          </a:xfrm>
          <a:prstGeom prst="rect">
            <a:avLst/>
          </a:prstGeom>
          <a:noFill/>
        </p:spPr>
        <p:txBody>
          <a:bodyPr wrap="none" lIns="0" rIns="0" tIns="0" bIns="0">
            <a:spAutoFit/>
          </a:bodyPr>
          <a:lstStyle/>
          <a:p>
            <a:r>
              <a:rPr sz="1100" b="1">
                <a:solidFill>
                  <a:srgbClr val="2E2E2E"/>
                </a:solidFill>
                <a:latin typeface="Calibri"/>
              </a:rPr>
              <a:t>Allergy Therapeutics plc</a:t>
            </a:r>
          </a:p>
        </p:txBody>
      </p:sp>
      <p:pic>
        <p:nvPicPr>
          <p:cNvPr id="93" name="Picture 92" descr="lock.png"/>
          <p:cNvPicPr>
            <a:picLocks noChangeAspect="1"/>
          </p:cNvPicPr>
          <p:nvPr/>
        </p:nvPicPr>
        <p:blipFill>
          <a:blip r:embed="rId4"/>
          <a:stretch>
            <a:fillRect/>
          </a:stretch>
        </p:blipFill>
        <p:spPr>
          <a:xfrm>
            <a:off x="1735218" y="5759992"/>
            <a:ext cx="128699" cy="187198"/>
          </a:xfrm>
          <a:prstGeom prst="rect">
            <a:avLst/>
          </a:prstGeom>
        </p:spPr>
      </p:pic>
      <p:sp>
        <p:nvSpPr>
          <p:cNvPr id="94" name="TextBox 93"/>
          <p:cNvSpPr txBox="1"/>
          <p:nvPr/>
        </p:nvSpPr>
        <p:spPr>
          <a:xfrm>
            <a:off x="416971" y="6130767"/>
            <a:ext cx="1448023" cy="186689"/>
          </a:xfrm>
          <a:prstGeom prst="rect">
            <a:avLst/>
          </a:prstGeom>
          <a:noFill/>
        </p:spPr>
        <p:txBody>
          <a:bodyPr wrap="none" lIns="0" rIns="0" tIns="0" bIns="0">
            <a:spAutoFit/>
          </a:bodyPr>
          <a:lstStyle/>
          <a:p>
            <a:r>
              <a:rPr sz="1100" b="1">
                <a:solidFill>
                  <a:srgbClr val="2E2E2E"/>
                </a:solidFill>
                <a:latin typeface="Calibri"/>
              </a:rPr>
              <a:t>Torii Pharmaceutical Co.,</a:t>
            </a:r>
          </a:p>
        </p:txBody>
      </p:sp>
      <p:sp>
        <p:nvSpPr>
          <p:cNvPr id="95" name="TextBox 94"/>
          <p:cNvSpPr txBox="1"/>
          <p:nvPr/>
        </p:nvSpPr>
        <p:spPr>
          <a:xfrm>
            <a:off x="1490818" y="6298407"/>
            <a:ext cx="296348" cy="186689"/>
          </a:xfrm>
          <a:prstGeom prst="rect">
            <a:avLst/>
          </a:prstGeom>
          <a:noFill/>
        </p:spPr>
        <p:txBody>
          <a:bodyPr wrap="none" lIns="0" rIns="0" tIns="0" bIns="0">
            <a:spAutoFit/>
          </a:bodyPr>
          <a:lstStyle/>
          <a:p>
            <a:r>
              <a:rPr sz="1100" b="1">
                <a:solidFill>
                  <a:srgbClr val="2E2E2E"/>
                </a:solidFill>
                <a:latin typeface="Calibri"/>
              </a:rPr>
              <a:t>Ltd.</a:t>
            </a:r>
          </a:p>
        </p:txBody>
      </p:sp>
      <p:pic>
        <p:nvPicPr>
          <p:cNvPr id="96" name="Picture 95" descr="lock.png"/>
          <p:cNvPicPr>
            <a:picLocks noChangeAspect="1"/>
          </p:cNvPicPr>
          <p:nvPr/>
        </p:nvPicPr>
        <p:blipFill>
          <a:blip r:embed="rId4"/>
          <a:stretch>
            <a:fillRect/>
          </a:stretch>
        </p:blipFill>
        <p:spPr>
          <a:xfrm>
            <a:off x="1735218" y="6288628"/>
            <a:ext cx="128699" cy="187198"/>
          </a:xfrm>
          <a:prstGeom prst="rect">
            <a:avLst/>
          </a:prstGeom>
        </p:spPr>
      </p:pic>
      <p:sp>
        <p:nvSpPr>
          <p:cNvPr id="97" name="TextBox 96"/>
          <p:cNvSpPr txBox="1"/>
          <p:nvPr/>
        </p:nvSpPr>
        <p:spPr>
          <a:xfrm>
            <a:off x="5972175" y="2372706"/>
            <a:ext cx="1123677" cy="186689"/>
          </a:xfrm>
          <a:prstGeom prst="rect">
            <a:avLst/>
          </a:prstGeom>
          <a:noFill/>
        </p:spPr>
        <p:txBody>
          <a:bodyPr wrap="none" lIns="0" rIns="0" tIns="0" bIns="0">
            <a:spAutoFit/>
          </a:bodyPr>
          <a:lstStyle/>
          <a:p>
            <a:r>
              <a:rPr sz="1100" b="1">
                <a:solidFill>
                  <a:srgbClr val="2E2E2E"/>
                </a:solidFill>
                <a:latin typeface="Calibri"/>
              </a:rPr>
              <a:t>Modified Allergen</a:t>
            </a:r>
          </a:p>
        </p:txBody>
      </p:sp>
      <p:pic>
        <p:nvPicPr>
          <p:cNvPr id="98" name="Picture 97" descr="lock.png"/>
          <p:cNvPicPr>
            <a:picLocks noChangeAspect="1"/>
          </p:cNvPicPr>
          <p:nvPr/>
        </p:nvPicPr>
        <p:blipFill>
          <a:blip r:embed="rId4"/>
          <a:stretch>
            <a:fillRect/>
          </a:stretch>
        </p:blipFill>
        <p:spPr>
          <a:xfrm>
            <a:off x="7043903" y="2362927"/>
            <a:ext cx="128699" cy="187198"/>
          </a:xfrm>
          <a:prstGeom prst="rect">
            <a:avLst/>
          </a:prstGeom>
        </p:spPr>
      </p:pic>
      <p:sp>
        <p:nvSpPr>
          <p:cNvPr id="99" name="TextBox 98"/>
          <p:cNvSpPr txBox="1"/>
          <p:nvPr/>
        </p:nvSpPr>
        <p:spPr>
          <a:xfrm>
            <a:off x="5972175" y="4185408"/>
            <a:ext cx="973335" cy="186689"/>
          </a:xfrm>
          <a:prstGeom prst="rect">
            <a:avLst/>
          </a:prstGeom>
          <a:noFill/>
        </p:spPr>
        <p:txBody>
          <a:bodyPr wrap="none" lIns="0" rIns="0" tIns="0" bIns="0">
            <a:spAutoFit/>
          </a:bodyPr>
          <a:lstStyle/>
          <a:p>
            <a:r>
              <a:rPr sz="1100" b="1">
                <a:solidFill>
                  <a:srgbClr val="2E2E2E"/>
                </a:solidFill>
                <a:latin typeface="Calibri"/>
              </a:rPr>
              <a:t>Native Allergen</a:t>
            </a:r>
          </a:p>
        </p:txBody>
      </p:sp>
      <p:sp>
        <p:nvSpPr>
          <p:cNvPr id="100" name="TextBox 99"/>
          <p:cNvSpPr txBox="1"/>
          <p:nvPr/>
        </p:nvSpPr>
        <p:spPr>
          <a:xfrm>
            <a:off x="5972175" y="4353048"/>
            <a:ext cx="538410" cy="186689"/>
          </a:xfrm>
          <a:prstGeom prst="rect">
            <a:avLst/>
          </a:prstGeom>
          <a:noFill/>
        </p:spPr>
        <p:txBody>
          <a:bodyPr wrap="none" lIns="0" rIns="0" tIns="0" bIns="0">
            <a:spAutoFit/>
          </a:bodyPr>
          <a:lstStyle/>
          <a:p>
            <a:r>
              <a:rPr sz="1100" b="1">
                <a:solidFill>
                  <a:srgbClr val="2E2E2E"/>
                </a:solidFill>
                <a:latin typeface="Calibri"/>
              </a:rPr>
              <a:t>Extracts</a:t>
            </a:r>
          </a:p>
        </p:txBody>
      </p:sp>
      <p:pic>
        <p:nvPicPr>
          <p:cNvPr id="101" name="Picture 100" descr="lock.png"/>
          <p:cNvPicPr>
            <a:picLocks noChangeAspect="1"/>
          </p:cNvPicPr>
          <p:nvPr/>
        </p:nvPicPr>
        <p:blipFill>
          <a:blip r:embed="rId4"/>
          <a:stretch>
            <a:fillRect/>
          </a:stretch>
        </p:blipFill>
        <p:spPr>
          <a:xfrm>
            <a:off x="6458637" y="4343269"/>
            <a:ext cx="128699" cy="187198"/>
          </a:xfrm>
          <a:prstGeom prst="rect">
            <a:avLst/>
          </a:prstGeom>
        </p:spPr>
      </p:pic>
      <p:sp>
        <p:nvSpPr>
          <p:cNvPr id="102" name="TextBox 101"/>
          <p:cNvSpPr txBox="1"/>
          <p:nvPr/>
        </p:nvSpPr>
        <p:spPr>
          <a:xfrm>
            <a:off x="5972175" y="5648419"/>
            <a:ext cx="1181521" cy="186689"/>
          </a:xfrm>
          <a:prstGeom prst="rect">
            <a:avLst/>
          </a:prstGeom>
          <a:noFill/>
        </p:spPr>
        <p:txBody>
          <a:bodyPr wrap="none" lIns="0" rIns="0" tIns="0" bIns="0">
            <a:spAutoFit/>
          </a:bodyPr>
          <a:lstStyle/>
          <a:p>
            <a:r>
              <a:rPr sz="1100" b="1">
                <a:solidFill>
                  <a:srgbClr val="2E2E2E"/>
                </a:solidFill>
                <a:latin typeface="Calibri"/>
              </a:rPr>
              <a:t>Molecular Allergen</a:t>
            </a:r>
          </a:p>
        </p:txBody>
      </p:sp>
      <p:sp>
        <p:nvSpPr>
          <p:cNvPr id="103" name="TextBox 102"/>
          <p:cNvSpPr txBox="1"/>
          <p:nvPr/>
        </p:nvSpPr>
        <p:spPr>
          <a:xfrm>
            <a:off x="5972175" y="5816059"/>
            <a:ext cx="822176" cy="186689"/>
          </a:xfrm>
          <a:prstGeom prst="rect">
            <a:avLst/>
          </a:prstGeom>
          <a:noFill/>
        </p:spPr>
        <p:txBody>
          <a:bodyPr wrap="none" lIns="0" rIns="0" tIns="0" bIns="0">
            <a:spAutoFit/>
          </a:bodyPr>
          <a:lstStyle/>
          <a:p>
            <a:r>
              <a:rPr sz="1100" b="1">
                <a:solidFill>
                  <a:srgbClr val="2E2E2E"/>
                </a:solidFill>
                <a:latin typeface="Calibri"/>
              </a:rPr>
              <a:t>Preparations</a:t>
            </a:r>
          </a:p>
        </p:txBody>
      </p:sp>
      <p:pic>
        <p:nvPicPr>
          <p:cNvPr id="104" name="Picture 103" descr="lock.png"/>
          <p:cNvPicPr>
            <a:picLocks noChangeAspect="1"/>
          </p:cNvPicPr>
          <p:nvPr/>
        </p:nvPicPr>
        <p:blipFill>
          <a:blip r:embed="rId4"/>
          <a:stretch>
            <a:fillRect/>
          </a:stretch>
        </p:blipFill>
        <p:spPr>
          <a:xfrm>
            <a:off x="6742402" y="5806280"/>
            <a:ext cx="128699" cy="187198"/>
          </a:xfrm>
          <a:prstGeom prst="rect">
            <a:avLst/>
          </a:prstGeom>
        </p:spPr>
      </p:pic>
      <p:sp>
        <p:nvSpPr>
          <p:cNvPr id="105" name="TextBox 104"/>
          <p:cNvSpPr txBox="1"/>
          <p:nvPr/>
        </p:nvSpPr>
        <p:spPr>
          <a:xfrm>
            <a:off x="7715250" y="1400175"/>
            <a:ext cx="3940249" cy="194310"/>
          </a:xfrm>
          <a:prstGeom prst="rect">
            <a:avLst/>
          </a:prstGeom>
          <a:noFill/>
        </p:spPr>
        <p:txBody>
          <a:bodyPr wrap="none" lIns="0" rIns="0" tIns="0" bIns="0">
            <a:spAutoFit/>
          </a:bodyPr>
          <a:lstStyle/>
          <a:p>
            <a:r>
              <a:rPr sz="1150" b="0">
                <a:solidFill>
                  <a:srgbClr val="2E2E2E"/>
                </a:solidFill>
                <a:latin typeface="Calibri"/>
              </a:rPr>
              <a:t>HAL allergy group segment is projected to account for the largest</a:t>
            </a:r>
          </a:p>
        </p:txBody>
      </p:sp>
      <p:sp>
        <p:nvSpPr>
          <p:cNvPr id="106" name="TextBox 105"/>
          <p:cNvSpPr txBox="1"/>
          <p:nvPr/>
        </p:nvSpPr>
        <p:spPr>
          <a:xfrm>
            <a:off x="7715250" y="1575435"/>
            <a:ext cx="3931977" cy="194310"/>
          </a:xfrm>
          <a:prstGeom prst="rect">
            <a:avLst/>
          </a:prstGeom>
          <a:noFill/>
        </p:spPr>
        <p:txBody>
          <a:bodyPr wrap="none" lIns="0" rIns="0" tIns="0" bIns="0">
            <a:spAutoFit/>
          </a:bodyPr>
          <a:lstStyle/>
          <a:p>
            <a:r>
              <a:rPr sz="1150" b="0">
                <a:solidFill>
                  <a:srgbClr val="2E2E2E"/>
                </a:solidFill>
                <a:latin typeface="Calibri"/>
              </a:rPr>
              <a:t>share of the U.S. allergy immunotherapy market, led by modified</a:t>
            </a:r>
          </a:p>
        </p:txBody>
      </p:sp>
      <p:sp>
        <p:nvSpPr>
          <p:cNvPr id="107" name="TextBox 106"/>
          <p:cNvSpPr txBox="1"/>
          <p:nvPr/>
        </p:nvSpPr>
        <p:spPr>
          <a:xfrm>
            <a:off x="7715250" y="1750695"/>
            <a:ext cx="975605" cy="194310"/>
          </a:xfrm>
          <a:prstGeom prst="rect">
            <a:avLst/>
          </a:prstGeom>
          <a:noFill/>
        </p:spPr>
        <p:txBody>
          <a:bodyPr wrap="none" lIns="0" rIns="0" tIns="0" bIns="0">
            <a:spAutoFit/>
          </a:bodyPr>
          <a:lstStyle/>
          <a:p>
            <a:r>
              <a:rPr sz="1150" b="0">
                <a:solidFill>
                  <a:srgbClr val="2E2E2E"/>
                </a:solidFill>
                <a:latin typeface="Calibri"/>
              </a:rPr>
              <a:t>allergen at US$</a:t>
            </a:r>
          </a:p>
        </p:txBody>
      </p:sp>
      <p:pic>
        <p:nvPicPr>
          <p:cNvPr id="108" name="Picture 107" descr="lock.png"/>
          <p:cNvPicPr>
            <a:picLocks noChangeAspect="1"/>
          </p:cNvPicPr>
          <p:nvPr/>
        </p:nvPicPr>
        <p:blipFill>
          <a:blip r:embed="rId4"/>
          <a:stretch>
            <a:fillRect/>
          </a:stretch>
        </p:blipFill>
        <p:spPr>
          <a:xfrm>
            <a:off x="8640009" y="1740471"/>
            <a:ext cx="134549" cy="195707"/>
          </a:xfrm>
          <a:prstGeom prst="rect">
            <a:avLst/>
          </a:prstGeom>
        </p:spPr>
      </p:pic>
      <p:sp>
        <p:nvSpPr>
          <p:cNvPr id="109" name="TextBox 108"/>
          <p:cNvSpPr txBox="1"/>
          <p:nvPr/>
        </p:nvSpPr>
        <p:spPr>
          <a:xfrm>
            <a:off x="8815118" y="1750695"/>
            <a:ext cx="2619238" cy="194310"/>
          </a:xfrm>
          <a:prstGeom prst="rect">
            <a:avLst/>
          </a:prstGeom>
          <a:noFill/>
        </p:spPr>
        <p:txBody>
          <a:bodyPr wrap="none" lIns="0" rIns="0" tIns="0" bIns="0">
            <a:spAutoFit/>
          </a:bodyPr>
          <a:lstStyle/>
          <a:p>
            <a:r>
              <a:rPr sz="1150" b="0">
                <a:solidFill>
                  <a:srgbClr val="2E2E2E"/>
                </a:solidFill>
                <a:latin typeface="Calibri"/>
              </a:rPr>
              <a:t>Mn in 2036. 'HAL Allergy Group × Modified</a:t>
            </a:r>
          </a:p>
        </p:txBody>
      </p:sp>
      <p:sp>
        <p:nvSpPr>
          <p:cNvPr id="110" name="TextBox 109"/>
          <p:cNvSpPr txBox="1"/>
          <p:nvPr/>
        </p:nvSpPr>
        <p:spPr>
          <a:xfrm>
            <a:off x="7715250" y="1925955"/>
            <a:ext cx="2994632" cy="194310"/>
          </a:xfrm>
          <a:prstGeom prst="rect">
            <a:avLst/>
          </a:prstGeom>
          <a:noFill/>
        </p:spPr>
        <p:txBody>
          <a:bodyPr wrap="none" lIns="0" rIns="0" tIns="0" bIns="0">
            <a:spAutoFit/>
          </a:bodyPr>
          <a:lstStyle/>
          <a:p>
            <a:r>
              <a:rPr sz="1150" b="0">
                <a:solidFill>
                  <a:srgbClr val="2E2E2E"/>
                </a:solidFill>
                <a:latin typeface="Calibri"/>
              </a:rPr>
              <a:t>Allergen' is the single largest cross-sectional cell (</a:t>
            </a:r>
          </a:p>
        </p:txBody>
      </p:sp>
      <p:pic>
        <p:nvPicPr>
          <p:cNvPr id="111" name="Picture 110" descr="lock.png"/>
          <p:cNvPicPr>
            <a:picLocks noChangeAspect="1"/>
          </p:cNvPicPr>
          <p:nvPr/>
        </p:nvPicPr>
        <p:blipFill>
          <a:blip r:embed="rId4"/>
          <a:stretch>
            <a:fillRect/>
          </a:stretch>
        </p:blipFill>
        <p:spPr>
          <a:xfrm>
            <a:off x="10659036" y="1915731"/>
            <a:ext cx="134549" cy="195707"/>
          </a:xfrm>
          <a:prstGeom prst="rect">
            <a:avLst/>
          </a:prstGeom>
        </p:spPr>
      </p:pic>
      <p:sp>
        <p:nvSpPr>
          <p:cNvPr id="112" name="TextBox 111"/>
          <p:cNvSpPr txBox="1"/>
          <p:nvPr/>
        </p:nvSpPr>
        <p:spPr>
          <a:xfrm>
            <a:off x="10834145" y="1925955"/>
            <a:ext cx="582525"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113" name="TextBox 112"/>
          <p:cNvSpPr txBox="1"/>
          <p:nvPr/>
        </p:nvSpPr>
        <p:spPr>
          <a:xfrm>
            <a:off x="7715250" y="2101215"/>
            <a:ext cx="4130228" cy="194310"/>
          </a:xfrm>
          <a:prstGeom prst="rect">
            <a:avLst/>
          </a:prstGeom>
          <a:noFill/>
        </p:spPr>
        <p:txBody>
          <a:bodyPr wrap="none" lIns="0" rIns="0" tIns="0" bIns="0">
            <a:spAutoFit/>
          </a:bodyPr>
          <a:lstStyle/>
          <a:p>
            <a:r>
              <a:rPr sz="1150" b="0">
                <a:solidFill>
                  <a:srgbClr val="2E2E2E"/>
                </a:solidFill>
                <a:latin typeface="Calibri"/>
              </a:rPr>
              <a:t>2026E), while 'Inmunotek S.L. × Native Allergen Extracts' records the</a:t>
            </a:r>
          </a:p>
        </p:txBody>
      </p:sp>
      <p:sp>
        <p:nvSpPr>
          <p:cNvPr id="114" name="TextBox 113"/>
          <p:cNvSpPr txBox="1"/>
          <p:nvPr/>
        </p:nvSpPr>
        <p:spPr>
          <a:xfrm>
            <a:off x="7715250" y="2276475"/>
            <a:ext cx="1712113" cy="194310"/>
          </a:xfrm>
          <a:prstGeom prst="rect">
            <a:avLst/>
          </a:prstGeom>
          <a:noFill/>
        </p:spPr>
        <p:txBody>
          <a:bodyPr wrap="none" lIns="0" rIns="0" tIns="0" bIns="0">
            <a:spAutoFit/>
          </a:bodyPr>
          <a:lstStyle/>
          <a:p>
            <a:r>
              <a:rPr sz="1150" b="0">
                <a:solidFill>
                  <a:srgbClr val="2E2E2E"/>
                </a:solidFill>
                <a:latin typeface="Calibri"/>
              </a:rPr>
              <a:t>fastest growth at a CAGR of</a:t>
            </a:r>
          </a:p>
        </p:txBody>
      </p:sp>
      <p:pic>
        <p:nvPicPr>
          <p:cNvPr id="115" name="Picture 114" descr="lock.png"/>
          <p:cNvPicPr>
            <a:picLocks noChangeAspect="1"/>
          </p:cNvPicPr>
          <p:nvPr/>
        </p:nvPicPr>
        <p:blipFill>
          <a:blip r:embed="rId4"/>
          <a:stretch>
            <a:fillRect/>
          </a:stretch>
        </p:blipFill>
        <p:spPr>
          <a:xfrm>
            <a:off x="9376517" y="2266251"/>
            <a:ext cx="134549" cy="195707"/>
          </a:xfrm>
          <a:prstGeom prst="rect">
            <a:avLst/>
          </a:prstGeom>
        </p:spPr>
      </p:pic>
      <p:sp>
        <p:nvSpPr>
          <p:cNvPr id="116" name="TextBox 115"/>
          <p:cNvSpPr txBox="1"/>
          <p:nvPr/>
        </p:nvSpPr>
        <p:spPr>
          <a:xfrm>
            <a:off x="9551626" y="227647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17" name="TextBox 116"/>
          <p:cNvSpPr txBox="1"/>
          <p:nvPr/>
        </p:nvSpPr>
        <p:spPr>
          <a:xfrm>
            <a:off x="7715250" y="2504313"/>
            <a:ext cx="4170734" cy="194310"/>
          </a:xfrm>
          <a:prstGeom prst="rect">
            <a:avLst/>
          </a:prstGeom>
          <a:noFill/>
        </p:spPr>
        <p:txBody>
          <a:bodyPr wrap="none" lIns="0" rIns="0" tIns="0" bIns="0">
            <a:spAutoFit/>
          </a:bodyPr>
          <a:lstStyle/>
          <a:p>
            <a:r>
              <a:rPr sz="1150" b="0">
                <a:solidFill>
                  <a:srgbClr val="2E2E2E"/>
                </a:solidFill>
                <a:latin typeface="Calibri"/>
              </a:rPr>
              <a:t>Combined, the top three company × allergen preparation technology</a:t>
            </a:r>
          </a:p>
        </p:txBody>
      </p:sp>
      <p:sp>
        <p:nvSpPr>
          <p:cNvPr id="118" name="TextBox 117"/>
          <p:cNvSpPr txBox="1"/>
          <p:nvPr/>
        </p:nvSpPr>
        <p:spPr>
          <a:xfrm>
            <a:off x="7715250" y="2679573"/>
            <a:ext cx="2632645" cy="194310"/>
          </a:xfrm>
          <a:prstGeom prst="rect">
            <a:avLst/>
          </a:prstGeom>
          <a:noFill/>
        </p:spPr>
        <p:txBody>
          <a:bodyPr wrap="none" lIns="0" rIns="0" tIns="0" bIns="0">
            <a:spAutoFit/>
          </a:bodyPr>
          <a:lstStyle/>
          <a:p>
            <a:r>
              <a:rPr sz="1150" b="0">
                <a:solidFill>
                  <a:srgbClr val="2E2E2E"/>
                </a:solidFill>
                <a:latin typeface="Calibri"/>
              </a:rPr>
              <a:t>cells generate an absolute $ opportunity of</a:t>
            </a:r>
          </a:p>
        </p:txBody>
      </p:sp>
      <p:pic>
        <p:nvPicPr>
          <p:cNvPr id="119" name="Picture 118" descr="lock.png"/>
          <p:cNvPicPr>
            <a:picLocks noChangeAspect="1"/>
          </p:cNvPicPr>
          <p:nvPr/>
        </p:nvPicPr>
        <p:blipFill>
          <a:blip r:embed="rId4"/>
          <a:stretch>
            <a:fillRect/>
          </a:stretch>
        </p:blipFill>
        <p:spPr>
          <a:xfrm>
            <a:off x="10297049" y="2669349"/>
            <a:ext cx="134549" cy="195707"/>
          </a:xfrm>
          <a:prstGeom prst="rect">
            <a:avLst/>
          </a:prstGeom>
        </p:spPr>
      </p:pic>
      <p:sp>
        <p:nvSpPr>
          <p:cNvPr id="120" name="TextBox 119"/>
          <p:cNvSpPr txBox="1"/>
          <p:nvPr/>
        </p:nvSpPr>
        <p:spPr>
          <a:xfrm>
            <a:off x="10472158" y="2679573"/>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Share Analysis: Company × Allergen Preparation Technology, 2026E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U.S. market value, each row split across all allergen preparation technology sub-segments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11906250" cy="4248150"/>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Share, Company × Allergen Preparation Technology, 2026E (% of each row)</a:t>
            </a:r>
          </a:p>
        </p:txBody>
      </p:sp>
      <p:graphicFrame>
        <p:nvGraphicFramePr>
          <p:cNvPr id="13" name="Table 12"/>
          <p:cNvGraphicFramePr>
            <a:graphicFrameLocks noGrp="1"/>
          </p:cNvGraphicFramePr>
          <p:nvPr/>
        </p:nvGraphicFramePr>
        <p:xfrm>
          <a:off x="152400" y="1238250"/>
          <a:ext cx="11888718" cy="3781427"/>
        </p:xfrm>
        <a:graphic>
          <a:graphicData uri="http://schemas.openxmlformats.org/drawingml/2006/table">
            <a:tbl>
              <a:tblPr>
                <a:tableStyleId>{5C22544A-7EE6-4342-B048-85BDC9FD1C3A}</a:tableStyleId>
              </a:tblPr>
              <a:tblGrid>
                <a:gridCol w="2446564"/>
                <a:gridCol w="1480896"/>
                <a:gridCol w="1638368"/>
                <a:gridCol w="1202200"/>
                <a:gridCol w="1738433"/>
                <a:gridCol w="1300033"/>
                <a:gridCol w="1538418"/>
                <a:gridCol w="543806"/>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Native Allergen Extracts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3">
                  <a:txBody>
                    <a:bodyPr wrap="none"/>
                    <a:lstStyle/>
                    <a:p>
                      <a:pPr algn="ctr"/>
                      <a:r>
                        <a:rPr sz="1100" b="1">
                          <a:solidFill>
                            <a:srgbClr val="0B2E4A"/>
                          </a:solidFill>
                          <a:latin typeface="Calibri"/>
                        </a:rPr>
                        <a:t>Modified Allergen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Molecular Allergen</a:t>
                      </a:r>
                      <a:endParaRPr sz="1100"/>
                    </a:p>
                    <a:p>
                      <a:pPr algn="ctr"/>
                      <a:r>
                        <a:rPr sz="1100" b="1">
                          <a:solidFill>
                            <a:srgbClr val="0B2E4A"/>
                          </a:solidFill>
                          <a:latin typeface="Calibri"/>
                        </a:rPr>
                        <a:t>Preparations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631983">
                <a:tc vMerge="1">
                  <a:txBody>
                    <a:bodyPr wrap="none"/>
                    <a:lstStyle/>
                    <a:p>
                      <a:pPr algn="l"/>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Standardized Allergen Extracts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Non-standardized Allergen Extracts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Polymerized Allergoids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Depigmented-Polymerized Allergoids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Carbamylated Allergoids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Molecular Allergen Preparations</a:t>
                      </a:r>
                      <a:endParaRPr sz="1100"/>
                    </a:p>
                  </a:txBody>
                  <a:tcPr marL="47625" marR="38100" marT="19050" marB="19050" anchor="ctr">
                    <a:solidFill>
                      <a:srgbClr val="E0E8EF"/>
                    </a:solidFill>
                  </a:tcPr>
                </a:tc>
                <a:tc>
                  <a:txBody>
                    <a:bodyPr wrap="none"/>
                    <a:lstStyle/>
                    <a:p>
                      <a:pPr algn="ctr"/>
                      <a:endParaRPr sz="1100"/>
                    </a:p>
                  </a:txBody>
                  <a:tcPr marL="47625" marR="38100" marT="19050" marB="19050" anchor="ctr">
                    <a:solidFill>
                      <a:srgbClr val="E0E8EF"/>
                    </a:solidFill>
                  </a:tcPr>
                </a:tc>
              </a:tr>
              <a:tr h="246412">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12">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1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5029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119365" y="3397712"/>
            <a:ext cx="366712" cy="533400"/>
          </a:xfrm>
          <a:prstGeom prst="rect">
            <a:avLst/>
          </a:prstGeom>
        </p:spPr>
      </p:pic>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Share Analysis: Company × Allergen Preparation Technology, 2026E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U.S. market value, each row split across all allergen preparation technology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Allergen Preparation Technology Mix by Company, 2026E (% share)</a:t>
            </a:r>
          </a:p>
        </p:txBody>
      </p:sp>
      <p:graphicFrame>
        <p:nvGraphicFramePr>
          <p:cNvPr id="12" name="Chart 11"/>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5" name="Rectangle 14"/>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816628" y="2804566"/>
            <a:ext cx="230207" cy="334847"/>
          </a:xfrm>
          <a:prstGeom prst="rect">
            <a:avLst/>
          </a:prstGeom>
        </p:spPr>
      </p:pic>
      <p:sp>
        <p:nvSpPr>
          <p:cNvPr id="19" name="TextBox 18"/>
          <p:cNvSpPr txBox="1"/>
          <p:nvPr/>
        </p:nvSpPr>
        <p:spPr>
          <a:xfrm>
            <a:off x="7715250" y="1400175"/>
            <a:ext cx="4171950" cy="194310"/>
          </a:xfrm>
          <a:prstGeom prst="rect">
            <a:avLst/>
          </a:prstGeom>
          <a:noFill/>
        </p:spPr>
        <p:txBody>
          <a:bodyPr wrap="none" lIns="0" rIns="0" tIns="0" bIns="0">
            <a:spAutoFit/>
          </a:bodyPr>
          <a:lstStyle/>
          <a:p>
            <a:r>
              <a:rPr sz="1150" b="0">
                <a:solidFill>
                  <a:srgbClr val="2E2E2E"/>
                </a:solidFill>
                <a:latin typeface="Calibri"/>
              </a:rPr>
              <a:t>▪ 'Molecular Allergen Preparations' holds the highest share of 'Allergy</a:t>
            </a:r>
          </a:p>
        </p:txBody>
      </p:sp>
      <p:sp>
        <p:nvSpPr>
          <p:cNvPr id="20" name="TextBox 19"/>
          <p:cNvSpPr txBox="1"/>
          <p:nvPr/>
        </p:nvSpPr>
        <p:spPr>
          <a:xfrm>
            <a:off x="7715250" y="1575435"/>
            <a:ext cx="1235471" cy="194310"/>
          </a:xfrm>
          <a:prstGeom prst="rect">
            <a:avLst/>
          </a:prstGeom>
          <a:noFill/>
        </p:spPr>
        <p:txBody>
          <a:bodyPr wrap="none" lIns="0" rIns="0" tIns="0" bIns="0">
            <a:spAutoFit/>
          </a:bodyPr>
          <a:lstStyle/>
          <a:p>
            <a:r>
              <a:rPr sz="1150" b="0">
                <a:solidFill>
                  <a:srgbClr val="2E2E2E"/>
                </a:solidFill>
                <a:latin typeface="Calibri"/>
              </a:rPr>
              <a:t>Therapeutics plc' at</a:t>
            </a:r>
          </a:p>
        </p:txBody>
      </p:sp>
      <p:pic>
        <p:nvPicPr>
          <p:cNvPr id="21" name="Picture 20" descr="lock.png"/>
          <p:cNvPicPr>
            <a:picLocks noChangeAspect="1"/>
          </p:cNvPicPr>
          <p:nvPr/>
        </p:nvPicPr>
        <p:blipFill>
          <a:blip r:embed="rId5"/>
          <a:stretch>
            <a:fillRect/>
          </a:stretch>
        </p:blipFill>
        <p:spPr>
          <a:xfrm>
            <a:off x="8899875" y="1565211"/>
            <a:ext cx="134549" cy="195707"/>
          </a:xfrm>
          <a:prstGeom prst="rect">
            <a:avLst/>
          </a:prstGeom>
        </p:spPr>
      </p:pic>
      <p:sp>
        <p:nvSpPr>
          <p:cNvPr id="22" name="TextBox 21"/>
          <p:cNvSpPr txBox="1"/>
          <p:nvPr/>
        </p:nvSpPr>
        <p:spPr>
          <a:xfrm>
            <a:off x="9074985"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3" name="TextBox 22"/>
          <p:cNvSpPr txBox="1"/>
          <p:nvPr/>
        </p:nvSpPr>
        <p:spPr>
          <a:xfrm>
            <a:off x="7715250" y="1803273"/>
            <a:ext cx="3739145" cy="194310"/>
          </a:xfrm>
          <a:prstGeom prst="rect">
            <a:avLst/>
          </a:prstGeom>
          <a:noFill/>
        </p:spPr>
        <p:txBody>
          <a:bodyPr wrap="none" lIns="0" rIns="0" tIns="0" bIns="0">
            <a:spAutoFit/>
          </a:bodyPr>
          <a:lstStyle/>
          <a:p>
            <a:r>
              <a:rPr sz="1150" b="0">
                <a:solidFill>
                  <a:srgbClr val="2E2E2E"/>
                </a:solidFill>
                <a:latin typeface="Calibri"/>
              </a:rPr>
              <a:t>▪ 'Allergy Therapeutics plc' is the most concentrated company</a:t>
            </a:r>
          </a:p>
        </p:txBody>
      </p:sp>
      <p:sp>
        <p:nvSpPr>
          <p:cNvPr id="24" name="TextBox 23"/>
          <p:cNvSpPr txBox="1"/>
          <p:nvPr/>
        </p:nvSpPr>
        <p:spPr>
          <a:xfrm>
            <a:off x="7715250" y="1978533"/>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5" name="Picture 24" descr="lock.png"/>
          <p:cNvPicPr>
            <a:picLocks noChangeAspect="1"/>
          </p:cNvPicPr>
          <p:nvPr/>
        </p:nvPicPr>
        <p:blipFill>
          <a:blip r:embed="rId5"/>
          <a:stretch>
            <a:fillRect/>
          </a:stretch>
        </p:blipFill>
        <p:spPr>
          <a:xfrm>
            <a:off x="8843110" y="1968309"/>
            <a:ext cx="134549" cy="195707"/>
          </a:xfrm>
          <a:prstGeom prst="rect">
            <a:avLst/>
          </a:prstGeom>
        </p:spPr>
      </p:pic>
      <p:sp>
        <p:nvSpPr>
          <p:cNvPr id="26" name="TextBox 25"/>
          <p:cNvSpPr txBox="1"/>
          <p:nvPr/>
        </p:nvSpPr>
        <p:spPr>
          <a:xfrm>
            <a:off x="9018219" y="1978533"/>
            <a:ext cx="2118903" cy="194310"/>
          </a:xfrm>
          <a:prstGeom prst="rect">
            <a:avLst/>
          </a:prstGeom>
          <a:noFill/>
        </p:spPr>
        <p:txBody>
          <a:bodyPr wrap="none" lIns="0" rIns="0" tIns="0" bIns="0">
            <a:spAutoFit/>
          </a:bodyPr>
          <a:lstStyle/>
          <a:p>
            <a:r>
              <a:rPr sz="1150" b="0">
                <a:solidFill>
                  <a:srgbClr val="2E2E2E"/>
                </a:solidFill>
                <a:latin typeface="Calibri"/>
              </a:rPr>
              <a:t>of its value via 'Molecular Allergen</a:t>
            </a:r>
          </a:p>
        </p:txBody>
      </p:sp>
      <p:sp>
        <p:nvSpPr>
          <p:cNvPr id="27" name="TextBox 26"/>
          <p:cNvSpPr txBox="1"/>
          <p:nvPr/>
        </p:nvSpPr>
        <p:spPr>
          <a:xfrm>
            <a:off x="7715250" y="2153793"/>
            <a:ext cx="905718" cy="194310"/>
          </a:xfrm>
          <a:prstGeom prst="rect">
            <a:avLst/>
          </a:prstGeom>
          <a:noFill/>
        </p:spPr>
        <p:txBody>
          <a:bodyPr wrap="none" lIns="0" rIns="0" tIns="0" bIns="0">
            <a:spAutoFit/>
          </a:bodyPr>
          <a:lstStyle/>
          <a:p>
            <a:r>
              <a:rPr sz="1150" b="0">
                <a:solidFill>
                  <a:srgbClr val="2E2E2E"/>
                </a:solidFill>
                <a:latin typeface="Calibri"/>
              </a:rPr>
              <a:t>Preparations'.</a:t>
            </a:r>
          </a:p>
        </p:txBody>
      </p:sp>
      <p:sp>
        <p:nvSpPr>
          <p:cNvPr id="28" name="TextBox 27"/>
          <p:cNvSpPr txBox="1"/>
          <p:nvPr/>
        </p:nvSpPr>
        <p:spPr>
          <a:xfrm>
            <a:off x="7715250" y="2381631"/>
            <a:ext cx="2763862" cy="194310"/>
          </a:xfrm>
          <a:prstGeom prst="rect">
            <a:avLst/>
          </a:prstGeom>
          <a:noFill/>
        </p:spPr>
        <p:txBody>
          <a:bodyPr wrap="none" lIns="0" rIns="0" tIns="0" bIns="0">
            <a:spAutoFit/>
          </a:bodyPr>
          <a:lstStyle/>
          <a:p>
            <a:r>
              <a:rPr sz="1150" b="0">
                <a:solidFill>
                  <a:srgbClr val="2E2E2E"/>
                </a:solidFill>
                <a:latin typeface="Calibri"/>
              </a:rPr>
              <a:t>▪ 'Non-standardized Allergen Extracts' gains +</a:t>
            </a:r>
          </a:p>
        </p:txBody>
      </p:sp>
      <p:pic>
        <p:nvPicPr>
          <p:cNvPr id="29" name="Picture 28" descr="lock.png"/>
          <p:cNvPicPr>
            <a:picLocks noChangeAspect="1"/>
          </p:cNvPicPr>
          <p:nvPr/>
        </p:nvPicPr>
        <p:blipFill>
          <a:blip r:embed="rId5"/>
          <a:stretch>
            <a:fillRect/>
          </a:stretch>
        </p:blipFill>
        <p:spPr>
          <a:xfrm>
            <a:off x="10428266" y="2371407"/>
            <a:ext cx="134549" cy="195707"/>
          </a:xfrm>
          <a:prstGeom prst="rect">
            <a:avLst/>
          </a:prstGeom>
        </p:spPr>
      </p:pic>
      <p:sp>
        <p:nvSpPr>
          <p:cNvPr id="30" name="TextBox 29"/>
          <p:cNvSpPr txBox="1"/>
          <p:nvPr/>
        </p:nvSpPr>
        <p:spPr>
          <a:xfrm>
            <a:off x="10603375" y="2381631"/>
            <a:ext cx="1199815" cy="194310"/>
          </a:xfrm>
          <a:prstGeom prst="rect">
            <a:avLst/>
          </a:prstGeom>
          <a:noFill/>
        </p:spPr>
        <p:txBody>
          <a:bodyPr wrap="none" lIns="0" rIns="0" tIns="0" bIns="0">
            <a:spAutoFit/>
          </a:bodyPr>
          <a:lstStyle/>
          <a:p>
            <a:r>
              <a:rPr sz="1150" b="0">
                <a:solidFill>
                  <a:srgbClr val="2E2E2E"/>
                </a:solidFill>
                <a:latin typeface="Calibri"/>
              </a:rPr>
              <a:t>BPS of share of the</a:t>
            </a:r>
          </a:p>
        </p:txBody>
      </p:sp>
      <p:sp>
        <p:nvSpPr>
          <p:cNvPr id="31" name="TextBox 30"/>
          <p:cNvSpPr txBox="1"/>
          <p:nvPr/>
        </p:nvSpPr>
        <p:spPr>
          <a:xfrm>
            <a:off x="7715250" y="2556891"/>
            <a:ext cx="1730173" cy="194310"/>
          </a:xfrm>
          <a:prstGeom prst="rect">
            <a:avLst/>
          </a:prstGeom>
          <a:noFill/>
        </p:spPr>
        <p:txBody>
          <a:bodyPr wrap="none" lIns="0" rIns="0" tIns="0" bIns="0">
            <a:spAutoFit/>
          </a:bodyPr>
          <a:lstStyle/>
          <a:p>
            <a:r>
              <a:rPr sz="1150" b="0">
                <a:solidFill>
                  <a:srgbClr val="2E2E2E"/>
                </a:solidFill>
                <a:latin typeface="Calibri"/>
              </a:rPr>
              <a:t>U.S. cross-section by 2036F.</a:t>
            </a:r>
          </a:p>
        </p:txBody>
      </p:sp>
      <p:sp>
        <p:nvSpPr>
          <p:cNvPr id="32" name="lockshield_12"/>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Absolute $ Opportunity &amp; Attractiveness: Company × Allergen Preparation Technology, 2026E–2036F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Company × Allergen Preparation Technology, 2026E–2036F</a:t>
            </a:r>
          </a:p>
        </p:txBody>
      </p:sp>
      <p:graphicFrame>
        <p:nvGraphicFramePr>
          <p:cNvPr id="13" name="Table 12"/>
          <p:cNvGraphicFramePr>
            <a:graphicFrameLocks noGrp="1"/>
          </p:cNvGraphicFramePr>
          <p:nvPr/>
        </p:nvGraphicFramePr>
        <p:xfrm>
          <a:off x="152400" y="1238250"/>
          <a:ext cx="11887197" cy="3400428"/>
        </p:xfrm>
        <a:graphic>
          <a:graphicData uri="http://schemas.openxmlformats.org/drawingml/2006/table">
            <a:tbl>
              <a:tblPr>
                <a:tableStyleId>{5C22544A-7EE6-4342-B048-85BDC9FD1C3A}</a:tableStyleId>
              </a:tblPr>
              <a:tblGrid>
                <a:gridCol w="4072021"/>
                <a:gridCol w="976897"/>
                <a:gridCol w="976897"/>
                <a:gridCol w="976897"/>
                <a:gridCol w="976897"/>
                <a:gridCol w="976897"/>
                <a:gridCol w="976897"/>
                <a:gridCol w="976897"/>
                <a:gridCol w="976897"/>
              </a:tblGrid>
              <a:tr h="438912">
                <a:tc rowSpan="2">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Native Allergen Extracts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Modified Allergen</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Molecular Allergen</a:t>
                      </a:r>
                      <a:endParaRPr sz="1100"/>
                    </a:p>
                    <a:p>
                      <a:pPr algn="ctr"/>
                      <a:r>
                        <a:rPr sz="1100" b="1">
                          <a:solidFill>
                            <a:srgbClr val="0B2E4A"/>
                          </a:solidFill>
                          <a:latin typeface="Calibri"/>
                        </a:rPr>
                        <a:t>Preparations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93">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93">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Inmunotek S.L.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DIATER Laboratories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Torii Pharmaceutical Co., Ltd.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93">
                <a:tc>
                  <a:txBody>
                    <a:bodyPr wrap="none"/>
                    <a:lstStyle/>
                    <a:p>
                      <a:pPr algn="l"/>
                      <a:r>
                        <a:rPr sz="1100" b="1">
                          <a:solidFill>
                            <a:srgbClr val="2E2E2E"/>
                          </a:solidFill>
                          <a:latin typeface="Calibri"/>
                        </a:rPr>
                        <a:t>Allergopharma GmbH &amp; Co. KG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93">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6482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945318" y="3014616"/>
            <a:ext cx="366712" cy="533400"/>
          </a:xfrm>
          <a:prstGeom prst="rect">
            <a:avLst/>
          </a:prstGeom>
        </p:spPr>
      </p:pic>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Absolute $ Opportunity &amp; Attractiveness: Company × Allergen Preparation Technology, 2026E–2036F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5600700" cy="5648325"/>
          </a:xfrm>
          <a:prstGeom prst="roundRect">
            <a:avLst>
              <a:gd name="adj" fmla="val 13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2" name="Rectangle 11"/>
          <p:cNvSpPr/>
          <p:nvPr/>
        </p:nvSpPr>
        <p:spPr>
          <a:xfrm>
            <a:off x="276225" y="13049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334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58959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293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16" name="Rectangle 15"/>
          <p:cNvSpPr/>
          <p:nvPr/>
        </p:nvSpPr>
        <p:spPr>
          <a:xfrm>
            <a:off x="60293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29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79914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48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0" name="Rectangle 19"/>
          <p:cNvSpPr/>
          <p:nvPr/>
        </p:nvSpPr>
        <p:spPr>
          <a:xfrm>
            <a:off x="81248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48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10086975" y="981075"/>
            <a:ext cx="1943100" cy="56483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20325" y="106680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4" name="Rectangle 23"/>
          <p:cNvSpPr/>
          <p:nvPr/>
        </p:nvSpPr>
        <p:spPr>
          <a:xfrm>
            <a:off x="10220325" y="13049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20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'ALK-Abelló A/S × Native Allergen Extracts' ranks highest (5/5); 'HAL Allergy Group × Molecular Allergen Preparations' lowest (1/5), a deprioritised cell.</a:t>
            </a: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7" name="TextBox 26"/>
          <p:cNvSpPr txBox="1"/>
          <p:nvPr/>
        </p:nvSpPr>
        <p:spPr>
          <a:xfrm>
            <a:off x="276225" y="1400175"/>
            <a:ext cx="2853681" cy="194310"/>
          </a:xfrm>
          <a:prstGeom prst="rect">
            <a:avLst/>
          </a:prstGeom>
          <a:noFill/>
        </p:spPr>
        <p:txBody>
          <a:bodyPr wrap="none" lIns="0" rIns="0" tIns="0" bIns="0">
            <a:spAutoFit/>
          </a:bodyPr>
          <a:lstStyle/>
          <a:p>
            <a:r>
              <a:rPr sz="1150" b="0">
                <a:solidFill>
                  <a:srgbClr val="2E2E2E"/>
                </a:solidFill>
                <a:latin typeface="Calibri"/>
              </a:rPr>
              <a:t>▪ 1. ALK-Abelló A/S × Native Allergen Extracts –</a:t>
            </a:r>
          </a:p>
        </p:txBody>
      </p:sp>
      <p:pic>
        <p:nvPicPr>
          <p:cNvPr id="28" name="Picture 27" descr="lock.png"/>
          <p:cNvPicPr>
            <a:picLocks noChangeAspect="1"/>
          </p:cNvPicPr>
          <p:nvPr/>
        </p:nvPicPr>
        <p:blipFill>
          <a:blip r:embed="rId4"/>
          <a:stretch>
            <a:fillRect/>
          </a:stretch>
        </p:blipFill>
        <p:spPr>
          <a:xfrm>
            <a:off x="3079060" y="1389951"/>
            <a:ext cx="134549" cy="195707"/>
          </a:xfrm>
          <a:prstGeom prst="rect">
            <a:avLst/>
          </a:prstGeom>
        </p:spPr>
      </p:pic>
      <p:sp>
        <p:nvSpPr>
          <p:cNvPr id="29" name="TextBox 28"/>
          <p:cNvSpPr txBox="1"/>
          <p:nvPr/>
        </p:nvSpPr>
        <p:spPr>
          <a:xfrm>
            <a:off x="3254169" y="14001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0" name="Picture 29" descr="lock.png"/>
          <p:cNvPicPr>
            <a:picLocks noChangeAspect="1"/>
          </p:cNvPicPr>
          <p:nvPr/>
        </p:nvPicPr>
        <p:blipFill>
          <a:blip r:embed="rId4"/>
          <a:stretch>
            <a:fillRect/>
          </a:stretch>
        </p:blipFill>
        <p:spPr>
          <a:xfrm>
            <a:off x="3316321" y="1389951"/>
            <a:ext cx="134549" cy="195707"/>
          </a:xfrm>
          <a:prstGeom prst="rect">
            <a:avLst/>
          </a:prstGeom>
        </p:spPr>
      </p:pic>
      <p:sp>
        <p:nvSpPr>
          <p:cNvPr id="31" name="TextBox 30"/>
          <p:cNvSpPr txBox="1"/>
          <p:nvPr/>
        </p:nvSpPr>
        <p:spPr>
          <a:xfrm>
            <a:off x="3491430" y="140017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2" name="TextBox 31"/>
          <p:cNvSpPr txBox="1"/>
          <p:nvPr/>
        </p:nvSpPr>
        <p:spPr>
          <a:xfrm>
            <a:off x="276225" y="1628013"/>
            <a:ext cx="4081717" cy="194310"/>
          </a:xfrm>
          <a:prstGeom prst="rect">
            <a:avLst/>
          </a:prstGeom>
          <a:noFill/>
        </p:spPr>
        <p:txBody>
          <a:bodyPr wrap="none" lIns="0" rIns="0" tIns="0" bIns="0">
            <a:spAutoFit/>
          </a:bodyPr>
          <a:lstStyle/>
          <a:p>
            <a:r>
              <a:rPr sz="1150" b="0">
                <a:solidFill>
                  <a:srgbClr val="2E2E2E"/>
                </a:solidFill>
                <a:latin typeface="Calibri"/>
              </a:rPr>
              <a:t>▪ 2. Stallergenes Greer International AG × Native Allergen Extracts –</a:t>
            </a:r>
          </a:p>
        </p:txBody>
      </p:sp>
      <p:pic>
        <p:nvPicPr>
          <p:cNvPr id="33" name="Picture 32" descr="lock.png"/>
          <p:cNvPicPr>
            <a:picLocks noChangeAspect="1"/>
          </p:cNvPicPr>
          <p:nvPr/>
        </p:nvPicPr>
        <p:blipFill>
          <a:blip r:embed="rId4"/>
          <a:stretch>
            <a:fillRect/>
          </a:stretch>
        </p:blipFill>
        <p:spPr>
          <a:xfrm>
            <a:off x="4307096" y="1617789"/>
            <a:ext cx="134549" cy="195707"/>
          </a:xfrm>
          <a:prstGeom prst="rect">
            <a:avLst/>
          </a:prstGeom>
        </p:spPr>
      </p:pic>
      <p:sp>
        <p:nvSpPr>
          <p:cNvPr id="34" name="TextBox 33"/>
          <p:cNvSpPr txBox="1"/>
          <p:nvPr/>
        </p:nvSpPr>
        <p:spPr>
          <a:xfrm>
            <a:off x="4482205" y="16280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4544357" y="1617789"/>
            <a:ext cx="134549" cy="195707"/>
          </a:xfrm>
          <a:prstGeom prst="rect">
            <a:avLst/>
          </a:prstGeom>
        </p:spPr>
      </p:pic>
      <p:sp>
        <p:nvSpPr>
          <p:cNvPr id="36" name="TextBox 35"/>
          <p:cNvSpPr txBox="1"/>
          <p:nvPr/>
        </p:nvSpPr>
        <p:spPr>
          <a:xfrm>
            <a:off x="4719466" y="162801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1855851"/>
            <a:ext cx="3705445" cy="194310"/>
          </a:xfrm>
          <a:prstGeom prst="rect">
            <a:avLst/>
          </a:prstGeom>
          <a:noFill/>
        </p:spPr>
        <p:txBody>
          <a:bodyPr wrap="none" lIns="0" rIns="0" tIns="0" bIns="0">
            <a:spAutoFit/>
          </a:bodyPr>
          <a:lstStyle/>
          <a:p>
            <a:r>
              <a:rPr sz="1150" b="0">
                <a:solidFill>
                  <a:srgbClr val="2E2E2E"/>
                </a:solidFill>
                <a:latin typeface="Calibri"/>
              </a:rPr>
              <a:t>▪ 3. Torii Pharmaceutical Co., Ltd. × Native Allergen Extracts –</a:t>
            </a:r>
          </a:p>
        </p:txBody>
      </p:sp>
      <p:pic>
        <p:nvPicPr>
          <p:cNvPr id="38" name="Picture 37" descr="lock.png"/>
          <p:cNvPicPr>
            <a:picLocks noChangeAspect="1"/>
          </p:cNvPicPr>
          <p:nvPr/>
        </p:nvPicPr>
        <p:blipFill>
          <a:blip r:embed="rId4"/>
          <a:stretch>
            <a:fillRect/>
          </a:stretch>
        </p:blipFill>
        <p:spPr>
          <a:xfrm>
            <a:off x="3930824" y="1845627"/>
            <a:ext cx="134549" cy="195707"/>
          </a:xfrm>
          <a:prstGeom prst="rect">
            <a:avLst/>
          </a:prstGeom>
        </p:spPr>
      </p:pic>
      <p:sp>
        <p:nvSpPr>
          <p:cNvPr id="39" name="TextBox 38"/>
          <p:cNvSpPr txBox="1"/>
          <p:nvPr/>
        </p:nvSpPr>
        <p:spPr>
          <a:xfrm>
            <a:off x="4105933" y="185585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4168085" y="1845627"/>
            <a:ext cx="134549" cy="195707"/>
          </a:xfrm>
          <a:prstGeom prst="rect">
            <a:avLst/>
          </a:prstGeom>
        </p:spPr>
      </p:pic>
      <p:sp>
        <p:nvSpPr>
          <p:cNvPr id="41" name="TextBox 40"/>
          <p:cNvSpPr txBox="1"/>
          <p:nvPr/>
        </p:nvSpPr>
        <p:spPr>
          <a:xfrm>
            <a:off x="4343194" y="1855851"/>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2083689"/>
            <a:ext cx="3470128" cy="194310"/>
          </a:xfrm>
          <a:prstGeom prst="rect">
            <a:avLst/>
          </a:prstGeom>
          <a:noFill/>
        </p:spPr>
        <p:txBody>
          <a:bodyPr wrap="none" lIns="0" rIns="0" tIns="0" bIns="0">
            <a:spAutoFit/>
          </a:bodyPr>
          <a:lstStyle/>
          <a:p>
            <a:r>
              <a:rPr sz="1150" b="0">
                <a:solidFill>
                  <a:srgbClr val="2E2E2E"/>
                </a:solidFill>
                <a:latin typeface="Calibri"/>
              </a:rPr>
              <a:t>▪ 4. Jubilant HollisterStier LLC × Native Allergen Extracts –</a:t>
            </a:r>
          </a:p>
        </p:txBody>
      </p:sp>
      <p:pic>
        <p:nvPicPr>
          <p:cNvPr id="43" name="Picture 42" descr="lock.png"/>
          <p:cNvPicPr>
            <a:picLocks noChangeAspect="1"/>
          </p:cNvPicPr>
          <p:nvPr/>
        </p:nvPicPr>
        <p:blipFill>
          <a:blip r:embed="rId4"/>
          <a:stretch>
            <a:fillRect/>
          </a:stretch>
        </p:blipFill>
        <p:spPr>
          <a:xfrm>
            <a:off x="3695507" y="2073465"/>
            <a:ext cx="134549" cy="195707"/>
          </a:xfrm>
          <a:prstGeom prst="rect">
            <a:avLst/>
          </a:prstGeom>
        </p:spPr>
      </p:pic>
      <p:sp>
        <p:nvSpPr>
          <p:cNvPr id="44" name="TextBox 43"/>
          <p:cNvSpPr txBox="1"/>
          <p:nvPr/>
        </p:nvSpPr>
        <p:spPr>
          <a:xfrm>
            <a:off x="3870616" y="2083689"/>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932768" y="2073465"/>
            <a:ext cx="134549" cy="195707"/>
          </a:xfrm>
          <a:prstGeom prst="rect">
            <a:avLst/>
          </a:prstGeom>
        </p:spPr>
      </p:pic>
      <p:sp>
        <p:nvSpPr>
          <p:cNvPr id="46" name="TextBox 45"/>
          <p:cNvSpPr txBox="1"/>
          <p:nvPr/>
        </p:nvSpPr>
        <p:spPr>
          <a:xfrm>
            <a:off x="4107877" y="2083689"/>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7" name="TextBox 46"/>
          <p:cNvSpPr txBox="1"/>
          <p:nvPr/>
        </p:nvSpPr>
        <p:spPr>
          <a:xfrm>
            <a:off x="276225" y="2311527"/>
            <a:ext cx="2703673" cy="194310"/>
          </a:xfrm>
          <a:prstGeom prst="rect">
            <a:avLst/>
          </a:prstGeom>
          <a:noFill/>
        </p:spPr>
        <p:txBody>
          <a:bodyPr wrap="none" lIns="0" rIns="0" tIns="0" bIns="0">
            <a:spAutoFit/>
          </a:bodyPr>
          <a:lstStyle/>
          <a:p>
            <a:r>
              <a:rPr sz="1150" b="0">
                <a:solidFill>
                  <a:srgbClr val="2E2E2E"/>
                </a:solidFill>
                <a:latin typeface="Calibri"/>
              </a:rPr>
              <a:t>▪ 5. HAL Allergy Group × Modified Allergen –</a:t>
            </a:r>
          </a:p>
        </p:txBody>
      </p:sp>
      <p:pic>
        <p:nvPicPr>
          <p:cNvPr id="48" name="Picture 47" descr="lock.png"/>
          <p:cNvPicPr>
            <a:picLocks noChangeAspect="1"/>
          </p:cNvPicPr>
          <p:nvPr/>
        </p:nvPicPr>
        <p:blipFill>
          <a:blip r:embed="rId4"/>
          <a:stretch>
            <a:fillRect/>
          </a:stretch>
        </p:blipFill>
        <p:spPr>
          <a:xfrm>
            <a:off x="2929052" y="2301303"/>
            <a:ext cx="134549" cy="195707"/>
          </a:xfrm>
          <a:prstGeom prst="rect">
            <a:avLst/>
          </a:prstGeom>
        </p:spPr>
      </p:pic>
      <p:sp>
        <p:nvSpPr>
          <p:cNvPr id="49" name="TextBox 48"/>
          <p:cNvSpPr txBox="1"/>
          <p:nvPr/>
        </p:nvSpPr>
        <p:spPr>
          <a:xfrm>
            <a:off x="3104161" y="231152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166313" y="2301303"/>
            <a:ext cx="134549" cy="195707"/>
          </a:xfrm>
          <a:prstGeom prst="rect">
            <a:avLst/>
          </a:prstGeom>
        </p:spPr>
      </p:pic>
      <p:sp>
        <p:nvSpPr>
          <p:cNvPr id="51" name="TextBox 50"/>
          <p:cNvSpPr txBox="1"/>
          <p:nvPr/>
        </p:nvSpPr>
        <p:spPr>
          <a:xfrm>
            <a:off x="3341422" y="2311527"/>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2" name="TextBox 51"/>
          <p:cNvSpPr txBox="1"/>
          <p:nvPr/>
        </p:nvSpPr>
        <p:spPr>
          <a:xfrm>
            <a:off x="6029325" y="1400175"/>
            <a:ext cx="1603413" cy="194310"/>
          </a:xfrm>
          <a:prstGeom prst="rect">
            <a:avLst/>
          </a:prstGeom>
          <a:noFill/>
        </p:spPr>
        <p:txBody>
          <a:bodyPr wrap="none" lIns="0" rIns="0" tIns="0" bIns="0">
            <a:spAutoFit/>
          </a:bodyPr>
          <a:lstStyle/>
          <a:p>
            <a:r>
              <a:rPr sz="1150" b="0">
                <a:solidFill>
                  <a:srgbClr val="2E2E2E"/>
                </a:solidFill>
                <a:latin typeface="Calibri"/>
              </a:rPr>
              <a:t>▪ 'ALK-Abelló A/S × Native</a:t>
            </a:r>
          </a:p>
        </p:txBody>
      </p:sp>
      <p:sp>
        <p:nvSpPr>
          <p:cNvPr id="53" name="TextBox 52"/>
          <p:cNvSpPr txBox="1"/>
          <p:nvPr/>
        </p:nvSpPr>
        <p:spPr>
          <a:xfrm>
            <a:off x="6029325" y="1575435"/>
            <a:ext cx="1421457" cy="194310"/>
          </a:xfrm>
          <a:prstGeom prst="rect">
            <a:avLst/>
          </a:prstGeom>
          <a:noFill/>
        </p:spPr>
        <p:txBody>
          <a:bodyPr wrap="none" lIns="0" rIns="0" tIns="0" bIns="0">
            <a:spAutoFit/>
          </a:bodyPr>
          <a:lstStyle/>
          <a:p>
            <a:r>
              <a:rPr sz="1150" b="0">
                <a:solidFill>
                  <a:srgbClr val="2E2E2E"/>
                </a:solidFill>
                <a:latin typeface="Calibri"/>
              </a:rPr>
              <a:t>Allergen Extracts' adds</a:t>
            </a:r>
          </a:p>
        </p:txBody>
      </p:sp>
      <p:pic>
        <p:nvPicPr>
          <p:cNvPr id="54" name="Picture 53" descr="lock.png"/>
          <p:cNvPicPr>
            <a:picLocks noChangeAspect="1"/>
          </p:cNvPicPr>
          <p:nvPr/>
        </p:nvPicPr>
        <p:blipFill>
          <a:blip r:embed="rId4"/>
          <a:stretch>
            <a:fillRect/>
          </a:stretch>
        </p:blipFill>
        <p:spPr>
          <a:xfrm>
            <a:off x="7399936" y="1565211"/>
            <a:ext cx="134549" cy="195707"/>
          </a:xfrm>
          <a:prstGeom prst="rect">
            <a:avLst/>
          </a:prstGeom>
        </p:spPr>
      </p:pic>
      <p:sp>
        <p:nvSpPr>
          <p:cNvPr id="55" name="TextBox 54"/>
          <p:cNvSpPr txBox="1"/>
          <p:nvPr/>
        </p:nvSpPr>
        <p:spPr>
          <a:xfrm>
            <a:off x="6029325" y="1750695"/>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56" name="Picture 55" descr="lock.png"/>
          <p:cNvPicPr>
            <a:picLocks noChangeAspect="1"/>
          </p:cNvPicPr>
          <p:nvPr/>
        </p:nvPicPr>
        <p:blipFill>
          <a:blip r:embed="rId4"/>
          <a:stretch>
            <a:fillRect/>
          </a:stretch>
        </p:blipFill>
        <p:spPr>
          <a:xfrm>
            <a:off x="7203111" y="1740471"/>
            <a:ext cx="134549" cy="195707"/>
          </a:xfrm>
          <a:prstGeom prst="rect">
            <a:avLst/>
          </a:prstGeom>
        </p:spPr>
      </p:pic>
      <p:sp>
        <p:nvSpPr>
          <p:cNvPr id="57" name="TextBox 56"/>
          <p:cNvSpPr txBox="1"/>
          <p:nvPr/>
        </p:nvSpPr>
        <p:spPr>
          <a:xfrm>
            <a:off x="7378220" y="1750695"/>
            <a:ext cx="197718" cy="194310"/>
          </a:xfrm>
          <a:prstGeom prst="rect">
            <a:avLst/>
          </a:prstGeom>
          <a:noFill/>
        </p:spPr>
        <p:txBody>
          <a:bodyPr wrap="none" lIns="0" rIns="0" tIns="0" bIns="0">
            <a:spAutoFit/>
          </a:bodyPr>
          <a:lstStyle/>
          <a:p>
            <a:r>
              <a:rPr sz="1150" b="0">
                <a:solidFill>
                  <a:srgbClr val="2E2E2E"/>
                </a:solidFill>
                <a:latin typeface="Calibri"/>
              </a:rPr>
              <a:t>of</a:t>
            </a:r>
          </a:p>
        </p:txBody>
      </p:sp>
      <p:sp>
        <p:nvSpPr>
          <p:cNvPr id="58" name="TextBox 57"/>
          <p:cNvSpPr txBox="1"/>
          <p:nvPr/>
        </p:nvSpPr>
        <p:spPr>
          <a:xfrm>
            <a:off x="6029325" y="1925955"/>
            <a:ext cx="1366403" cy="194310"/>
          </a:xfrm>
          <a:prstGeom prst="rect">
            <a:avLst/>
          </a:prstGeom>
          <a:noFill/>
        </p:spPr>
        <p:txBody>
          <a:bodyPr wrap="none" lIns="0" rIns="0" tIns="0" bIns="0">
            <a:spAutoFit/>
          </a:bodyPr>
          <a:lstStyle/>
          <a:p>
            <a:r>
              <a:rPr sz="1150" b="0">
                <a:solidFill>
                  <a:srgbClr val="2E2E2E"/>
                </a:solidFill>
                <a:latin typeface="Calibri"/>
              </a:rPr>
              <a:t>the total opportunity.</a:t>
            </a:r>
          </a:p>
        </p:txBody>
      </p:sp>
      <p:sp>
        <p:nvSpPr>
          <p:cNvPr id="59" name="TextBox 58"/>
          <p:cNvSpPr txBox="1"/>
          <p:nvPr/>
        </p:nvSpPr>
        <p:spPr>
          <a:xfrm>
            <a:off x="8124825" y="1400175"/>
            <a:ext cx="1601737" cy="194310"/>
          </a:xfrm>
          <a:prstGeom prst="rect">
            <a:avLst/>
          </a:prstGeom>
          <a:noFill/>
        </p:spPr>
        <p:txBody>
          <a:bodyPr wrap="none" lIns="0" rIns="0" tIns="0" bIns="0">
            <a:spAutoFit/>
          </a:bodyPr>
          <a:lstStyle/>
          <a:p>
            <a:r>
              <a:rPr sz="1150" b="0">
                <a:solidFill>
                  <a:srgbClr val="2E2E2E"/>
                </a:solidFill>
                <a:latin typeface="Calibri"/>
              </a:rPr>
              <a:t>▪ 'Inmunotek S.L. × Native</a:t>
            </a:r>
          </a:p>
        </p:txBody>
      </p:sp>
      <p:sp>
        <p:nvSpPr>
          <p:cNvPr id="60" name="TextBox 59"/>
          <p:cNvSpPr txBox="1"/>
          <p:nvPr/>
        </p:nvSpPr>
        <p:spPr>
          <a:xfrm>
            <a:off x="8124825" y="1575435"/>
            <a:ext cx="1651372" cy="194310"/>
          </a:xfrm>
          <a:prstGeom prst="rect">
            <a:avLst/>
          </a:prstGeom>
          <a:noFill/>
        </p:spPr>
        <p:txBody>
          <a:bodyPr wrap="none" lIns="0" rIns="0" tIns="0" bIns="0">
            <a:spAutoFit/>
          </a:bodyPr>
          <a:lstStyle/>
          <a:p>
            <a:r>
              <a:rPr sz="1150" b="0">
                <a:solidFill>
                  <a:srgbClr val="2E2E2E"/>
                </a:solidFill>
                <a:latin typeface="Calibri"/>
              </a:rPr>
              <a:t>Allergen Extracts' grows at</a:t>
            </a:r>
          </a:p>
        </p:txBody>
      </p:sp>
      <p:sp>
        <p:nvSpPr>
          <p:cNvPr id="61" name="TextBox 60"/>
          <p:cNvSpPr txBox="1"/>
          <p:nvPr/>
        </p:nvSpPr>
        <p:spPr>
          <a:xfrm>
            <a:off x="8124825" y="1750695"/>
            <a:ext cx="146087" cy="194310"/>
          </a:xfrm>
          <a:prstGeom prst="rect">
            <a:avLst/>
          </a:prstGeom>
          <a:noFill/>
        </p:spPr>
        <p:txBody>
          <a:bodyPr wrap="none" lIns="0" rIns="0" tIns="0" bIns="0">
            <a:spAutoFit/>
          </a:bodyPr>
          <a:lstStyle/>
          <a:p>
            <a:r>
              <a:rPr sz="1150" b="0">
                <a:solidFill>
                  <a:srgbClr val="2E2E2E"/>
                </a:solidFill>
                <a:latin typeface="Calibri"/>
              </a:rPr>
              <a:t>a</a:t>
            </a:r>
          </a:p>
        </p:txBody>
      </p:sp>
      <p:pic>
        <p:nvPicPr>
          <p:cNvPr id="62" name="Picture 61" descr="lock.png"/>
          <p:cNvPicPr>
            <a:picLocks noChangeAspect="1"/>
          </p:cNvPicPr>
          <p:nvPr/>
        </p:nvPicPr>
        <p:blipFill>
          <a:blip r:embed="rId4"/>
          <a:stretch>
            <a:fillRect/>
          </a:stretch>
        </p:blipFill>
        <p:spPr>
          <a:xfrm>
            <a:off x="8220066" y="1740471"/>
            <a:ext cx="134549" cy="195707"/>
          </a:xfrm>
          <a:prstGeom prst="rect">
            <a:avLst/>
          </a:prstGeom>
        </p:spPr>
      </p:pic>
      <p:sp>
        <p:nvSpPr>
          <p:cNvPr id="63" name="TextBox 62"/>
          <p:cNvSpPr txBox="1"/>
          <p:nvPr/>
        </p:nvSpPr>
        <p:spPr>
          <a:xfrm>
            <a:off x="8395175" y="175069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4" name="Picture 63" descr="lock.png"/>
          <p:cNvPicPr>
            <a:picLocks noChangeAspect="1"/>
          </p:cNvPicPr>
          <p:nvPr/>
        </p:nvPicPr>
        <p:blipFill>
          <a:blip r:embed="rId4"/>
          <a:stretch>
            <a:fillRect/>
          </a:stretch>
        </p:blipFill>
        <p:spPr>
          <a:xfrm>
            <a:off x="8790771" y="1740471"/>
            <a:ext cx="134549" cy="195707"/>
          </a:xfrm>
          <a:prstGeom prst="rect">
            <a:avLst/>
          </a:prstGeom>
        </p:spPr>
      </p:pic>
      <p:sp>
        <p:nvSpPr>
          <p:cNvPr id="65" name="TextBox 64"/>
          <p:cNvSpPr txBox="1"/>
          <p:nvPr/>
        </p:nvSpPr>
        <p:spPr>
          <a:xfrm>
            <a:off x="8965880" y="1750695"/>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66" name="TextBox 65"/>
          <p:cNvSpPr txBox="1"/>
          <p:nvPr/>
        </p:nvSpPr>
        <p:spPr>
          <a:xfrm>
            <a:off x="8124825" y="1925955"/>
            <a:ext cx="1517017" cy="194310"/>
          </a:xfrm>
          <a:prstGeom prst="rect">
            <a:avLst/>
          </a:prstGeom>
          <a:noFill/>
        </p:spPr>
        <p:txBody>
          <a:bodyPr wrap="none" lIns="0" rIns="0" tIns="0" bIns="0">
            <a:spAutoFit/>
          </a:bodyPr>
          <a:lstStyle/>
          <a:p>
            <a:r>
              <a:rPr sz="1150" b="0">
                <a:solidFill>
                  <a:srgbClr val="2E2E2E"/>
                </a:solidFill>
                <a:latin typeface="Calibri"/>
              </a:rPr>
              <a:t>above the cross-section.</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Allergy Immunotherapy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Product Pricing &amp; Regional Price Index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317574"/>
            <a:ext cx="7696200"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219075" y="3471051"/>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t>
            </a:r>
          </a:p>
        </p:txBody>
      </p:sp>
      <p:sp>
        <p:nvSpPr>
          <p:cNvPr id="14" name="TextBox 13"/>
          <p:cNvSpPr txBox="1"/>
          <p:nvPr/>
        </p:nvSpPr>
        <p:spPr>
          <a:xfrm>
            <a:off x="111919" y="256100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 </a:t>
            </a:r>
          </a:p>
        </p:txBody>
      </p:sp>
      <p:sp>
        <p:nvSpPr>
          <p:cNvPr id="15" name="TextBox 14"/>
          <p:cNvSpPr txBox="1"/>
          <p:nvPr/>
        </p:nvSpPr>
        <p:spPr>
          <a:xfrm>
            <a:off x="111919" y="1650949"/>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 </a:t>
            </a:r>
          </a:p>
        </p:txBody>
      </p:sp>
      <p:cxnSp>
        <p:nvCxnSpPr>
          <p:cNvPr id="16" name="Connector 15"/>
          <p:cNvCxnSpPr/>
          <p:nvPr/>
        </p:nvCxnSpPr>
        <p:spPr>
          <a:xfrm>
            <a:off x="1825625" y="1927636"/>
            <a:ext cx="0" cy="35507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606550" y="1927636"/>
            <a:ext cx="438150" cy="355073"/>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225" y="1775236"/>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19" name="TextBox 18"/>
          <p:cNvSpPr txBox="1"/>
          <p:nvPr/>
        </p:nvSpPr>
        <p:spPr>
          <a:xfrm>
            <a:off x="657225" y="3566301"/>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Subcutaneous Immunoth…</a:t>
            </a:r>
          </a:p>
        </p:txBody>
      </p:sp>
      <p:cxnSp>
        <p:nvCxnSpPr>
          <p:cNvPr id="20" name="Connector 19"/>
          <p:cNvCxnSpPr/>
          <p:nvPr/>
        </p:nvCxnSpPr>
        <p:spPr>
          <a:xfrm>
            <a:off x="4162425" y="3044489"/>
            <a:ext cx="0" cy="283225"/>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943350" y="3044489"/>
            <a:ext cx="438150" cy="283225"/>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94025" y="2892089"/>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3" name="TextBox 22"/>
          <p:cNvSpPr txBox="1"/>
          <p:nvPr/>
        </p:nvSpPr>
        <p:spPr>
          <a:xfrm>
            <a:off x="2994025" y="3566301"/>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Sublingual Immunother…</a:t>
            </a:r>
          </a:p>
        </p:txBody>
      </p:sp>
      <p:cxnSp>
        <p:nvCxnSpPr>
          <p:cNvPr id="24" name="Connector 23"/>
          <p:cNvCxnSpPr/>
          <p:nvPr/>
        </p:nvCxnSpPr>
        <p:spPr>
          <a:xfrm>
            <a:off x="6499225" y="2645886"/>
            <a:ext cx="0" cy="273577"/>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280150" y="2645886"/>
            <a:ext cx="438150" cy="273577"/>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30825" y="2493486"/>
            <a:ext cx="23368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7" name="TextBox 26"/>
          <p:cNvSpPr txBox="1"/>
          <p:nvPr/>
        </p:nvSpPr>
        <p:spPr>
          <a:xfrm>
            <a:off x="5330825" y="3566301"/>
            <a:ext cx="2336800" cy="285750"/>
          </a:xfrm>
          <a:prstGeom prst="rect">
            <a:avLst/>
          </a:prstGeom>
          <a:noFill/>
        </p:spPr>
        <p:txBody>
          <a:bodyPr wrap="square" lIns="28575" rIns="28575" tIns="9525" bIns="9525">
            <a:spAutoFit/>
          </a:bodyPr>
          <a:lstStyle/>
          <a:p>
            <a:pPr algn="ctr"/>
            <a:r>
              <a:rPr sz="1100" b="0">
                <a:solidFill>
                  <a:srgbClr val="2E2E2E"/>
                </a:solidFill>
                <a:latin typeface="Calibri"/>
              </a:rPr>
              <a:t>Oral Immunotherapy</a:t>
            </a:r>
          </a:p>
        </p:txBody>
      </p:sp>
      <p:sp>
        <p:nvSpPr>
          <p:cNvPr id="28" name="Rounded Rectangle 27"/>
          <p:cNvSpPr/>
          <p:nvPr/>
        </p:nvSpPr>
        <p:spPr>
          <a:xfrm>
            <a:off x="142875" y="3991741"/>
            <a:ext cx="7696200" cy="2564645"/>
          </a:xfrm>
          <a:prstGeom prst="roundRect">
            <a:avLst>
              <a:gd name="adj" fmla="val 29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30" name="Connector 29"/>
          <p:cNvCxnSpPr/>
          <p:nvPr/>
        </p:nvCxnSpPr>
        <p:spPr>
          <a:xfrm>
            <a:off x="619125" y="452000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19125" y="488465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19125" y="561394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19125" y="597859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19125" y="4520001"/>
            <a:ext cx="0" cy="1458594"/>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90550" y="452000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90550" y="488465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90550" y="561394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90550" y="597859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41" name="FMI Scale tick"/>
          <p:cNvSpPr txBox="1"/>
          <p:nvPr/>
        </p:nvSpPr>
        <p:spPr>
          <a:xfrm>
            <a:off x="219075" y="4453326"/>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sp>
        <p:nvSpPr>
          <p:cNvPr id="42" name="FMI Scale tick"/>
          <p:cNvSpPr txBox="1"/>
          <p:nvPr/>
        </p:nvSpPr>
        <p:spPr>
          <a:xfrm>
            <a:off x="219075" y="4817975"/>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43" name="FMI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4" name="FMI Scale tick"/>
          <p:cNvSpPr txBox="1"/>
          <p:nvPr/>
        </p:nvSpPr>
        <p:spPr>
          <a:xfrm>
            <a:off x="219075" y="5547271"/>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45" name="FMI Scale tick"/>
          <p:cNvSpPr txBox="1"/>
          <p:nvPr/>
        </p:nvSpPr>
        <p:spPr>
          <a:xfrm>
            <a:off x="219075" y="5911920"/>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cxnSp>
        <p:nvCxnSpPr>
          <p:cNvPr id="46" name="Connector 45"/>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977900"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MI Data Label"/>
          <p:cNvSpPr txBox="1"/>
          <p:nvPr/>
        </p:nvSpPr>
        <p:spPr>
          <a:xfrm>
            <a:off x="619125" y="447123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49" name="Rectangle 48"/>
          <p:cNvSpPr/>
          <p:nvPr/>
        </p:nvSpPr>
        <p:spPr>
          <a:xfrm>
            <a:off x="2152650" y="5205145"/>
            <a:ext cx="457200" cy="4415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MI Data Label"/>
          <p:cNvSpPr txBox="1"/>
          <p:nvPr/>
        </p:nvSpPr>
        <p:spPr>
          <a:xfrm>
            <a:off x="1793875" y="506227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1" name="Rectangle 50"/>
          <p:cNvSpPr/>
          <p:nvPr/>
        </p:nvSpPr>
        <p:spPr>
          <a:xfrm>
            <a:off x="3327400" y="4770087"/>
            <a:ext cx="457200" cy="47921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MI Data Label"/>
          <p:cNvSpPr txBox="1"/>
          <p:nvPr/>
        </p:nvSpPr>
        <p:spPr>
          <a:xfrm>
            <a:off x="2968625" y="462721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3" name="Rectangle 52"/>
          <p:cNvSpPr/>
          <p:nvPr/>
        </p:nvSpPr>
        <p:spPr>
          <a:xfrm>
            <a:off x="4502150" y="5249298"/>
            <a:ext cx="457200" cy="38368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MI Data Label"/>
          <p:cNvSpPr txBox="1"/>
          <p:nvPr/>
        </p:nvSpPr>
        <p:spPr>
          <a:xfrm>
            <a:off x="4143375" y="564250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5" name="Rectangle 54"/>
          <p:cNvSpPr/>
          <p:nvPr/>
        </p:nvSpPr>
        <p:spPr>
          <a:xfrm>
            <a:off x="5676900" y="5249298"/>
            <a:ext cx="457200" cy="387607"/>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MI Data Label"/>
          <p:cNvSpPr txBox="1"/>
          <p:nvPr/>
        </p:nvSpPr>
        <p:spPr>
          <a:xfrm>
            <a:off x="5318125" y="564643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7" name="Rectangle 56"/>
          <p:cNvSpPr/>
          <p:nvPr/>
        </p:nvSpPr>
        <p:spPr>
          <a:xfrm>
            <a:off x="6851650" y="5249298"/>
            <a:ext cx="457200" cy="7841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MI Data Label"/>
          <p:cNvSpPr txBox="1"/>
          <p:nvPr/>
        </p:nvSpPr>
        <p:spPr>
          <a:xfrm>
            <a:off x="6492875" y="5337238"/>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9" name="TextBox 58"/>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60" name="TextBox 59"/>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61" name="TextBox 60"/>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62" name="TextBox 61"/>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63" name="TextBox 62"/>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64" name="TextBox 63"/>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65" name="Rounded Rectangle 6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67" name="Rectangle 6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lock.png"/>
          <p:cNvPicPr>
            <a:picLocks noChangeAspect="1"/>
          </p:cNvPicPr>
          <p:nvPr/>
        </p:nvPicPr>
        <p:blipFill>
          <a:blip r:embed="rId4"/>
          <a:stretch>
            <a:fillRect/>
          </a:stretch>
        </p:blipFill>
        <p:spPr>
          <a:xfrm>
            <a:off x="345225" y="3444127"/>
            <a:ext cx="128699" cy="187198"/>
          </a:xfrm>
          <a:prstGeom prst="rect">
            <a:avLst/>
          </a:prstGeom>
        </p:spPr>
      </p:pic>
      <p:pic>
        <p:nvPicPr>
          <p:cNvPr id="71" name="Picture 70" descr="lock.png"/>
          <p:cNvPicPr>
            <a:picLocks noChangeAspect="1"/>
          </p:cNvPicPr>
          <p:nvPr/>
        </p:nvPicPr>
        <p:blipFill>
          <a:blip r:embed="rId4"/>
          <a:stretch>
            <a:fillRect/>
          </a:stretch>
        </p:blipFill>
        <p:spPr>
          <a:xfrm>
            <a:off x="291647" y="2534076"/>
            <a:ext cx="128699" cy="187198"/>
          </a:xfrm>
          <a:prstGeom prst="rect">
            <a:avLst/>
          </a:prstGeom>
        </p:spPr>
      </p:pic>
      <p:pic>
        <p:nvPicPr>
          <p:cNvPr id="72" name="Picture 71" descr="lock.png"/>
          <p:cNvPicPr>
            <a:picLocks noChangeAspect="1"/>
          </p:cNvPicPr>
          <p:nvPr/>
        </p:nvPicPr>
        <p:blipFill>
          <a:blip r:embed="rId4"/>
          <a:stretch>
            <a:fillRect/>
          </a:stretch>
        </p:blipFill>
        <p:spPr>
          <a:xfrm>
            <a:off x="291647" y="1624025"/>
            <a:ext cx="128699" cy="187198"/>
          </a:xfrm>
          <a:prstGeom prst="rect">
            <a:avLst/>
          </a:prstGeom>
        </p:spPr>
      </p:pic>
      <p:pic>
        <p:nvPicPr>
          <p:cNvPr id="73" name="Picture 72" descr="lock.png"/>
          <p:cNvPicPr>
            <a:picLocks noChangeAspect="1"/>
          </p:cNvPicPr>
          <p:nvPr/>
        </p:nvPicPr>
        <p:blipFill>
          <a:blip r:embed="rId4"/>
          <a:stretch>
            <a:fillRect/>
          </a:stretch>
        </p:blipFill>
        <p:spPr>
          <a:xfrm>
            <a:off x="1761275" y="1748312"/>
            <a:ext cx="128699" cy="187198"/>
          </a:xfrm>
          <a:prstGeom prst="rect">
            <a:avLst/>
          </a:prstGeom>
        </p:spPr>
      </p:pic>
      <p:pic>
        <p:nvPicPr>
          <p:cNvPr id="74" name="Picture 73" descr="lock.png"/>
          <p:cNvPicPr>
            <a:picLocks noChangeAspect="1"/>
          </p:cNvPicPr>
          <p:nvPr/>
        </p:nvPicPr>
        <p:blipFill>
          <a:blip r:embed="rId4"/>
          <a:stretch>
            <a:fillRect/>
          </a:stretch>
        </p:blipFill>
        <p:spPr>
          <a:xfrm>
            <a:off x="4098075" y="2865165"/>
            <a:ext cx="128699" cy="187198"/>
          </a:xfrm>
          <a:prstGeom prst="rect">
            <a:avLst/>
          </a:prstGeom>
        </p:spPr>
      </p:pic>
      <p:pic>
        <p:nvPicPr>
          <p:cNvPr id="75" name="Picture 74" descr="lock.png"/>
          <p:cNvPicPr>
            <a:picLocks noChangeAspect="1"/>
          </p:cNvPicPr>
          <p:nvPr/>
        </p:nvPicPr>
        <p:blipFill>
          <a:blip r:embed="rId4"/>
          <a:stretch>
            <a:fillRect/>
          </a:stretch>
        </p:blipFill>
        <p:spPr>
          <a:xfrm>
            <a:off x="6434875" y="2466562"/>
            <a:ext cx="128699" cy="187198"/>
          </a:xfrm>
          <a:prstGeom prst="rect">
            <a:avLst/>
          </a:prstGeom>
        </p:spPr>
      </p:pic>
      <p:pic>
        <p:nvPicPr>
          <p:cNvPr id="76" name="Picture 75" descr="lock.png"/>
          <p:cNvPicPr>
            <a:picLocks noChangeAspect="1"/>
          </p:cNvPicPr>
          <p:nvPr/>
        </p:nvPicPr>
        <p:blipFill>
          <a:blip r:embed="rId4"/>
          <a:stretch>
            <a:fillRect/>
          </a:stretch>
        </p:blipFill>
        <p:spPr>
          <a:xfrm>
            <a:off x="1142150" y="4444308"/>
            <a:ext cx="128699" cy="187198"/>
          </a:xfrm>
          <a:prstGeom prst="rect">
            <a:avLst/>
          </a:prstGeom>
        </p:spPr>
      </p:pic>
      <p:pic>
        <p:nvPicPr>
          <p:cNvPr id="77" name="Picture 76" descr="lock.png"/>
          <p:cNvPicPr>
            <a:picLocks noChangeAspect="1"/>
          </p:cNvPicPr>
          <p:nvPr/>
        </p:nvPicPr>
        <p:blipFill>
          <a:blip r:embed="rId4"/>
          <a:stretch>
            <a:fillRect/>
          </a:stretch>
        </p:blipFill>
        <p:spPr>
          <a:xfrm>
            <a:off x="2316900" y="5035346"/>
            <a:ext cx="128699" cy="187198"/>
          </a:xfrm>
          <a:prstGeom prst="rect">
            <a:avLst/>
          </a:prstGeom>
        </p:spPr>
      </p:pic>
      <p:pic>
        <p:nvPicPr>
          <p:cNvPr id="78" name="Picture 77" descr="lock.png"/>
          <p:cNvPicPr>
            <a:picLocks noChangeAspect="1"/>
          </p:cNvPicPr>
          <p:nvPr/>
        </p:nvPicPr>
        <p:blipFill>
          <a:blip r:embed="rId4"/>
          <a:stretch>
            <a:fillRect/>
          </a:stretch>
        </p:blipFill>
        <p:spPr>
          <a:xfrm>
            <a:off x="3491650" y="4600288"/>
            <a:ext cx="128699" cy="187198"/>
          </a:xfrm>
          <a:prstGeom prst="rect">
            <a:avLst/>
          </a:prstGeom>
        </p:spPr>
      </p:pic>
      <p:pic>
        <p:nvPicPr>
          <p:cNvPr id="79" name="Picture 78" descr="lock.png"/>
          <p:cNvPicPr>
            <a:picLocks noChangeAspect="1"/>
          </p:cNvPicPr>
          <p:nvPr/>
        </p:nvPicPr>
        <p:blipFill>
          <a:blip r:embed="rId4"/>
          <a:stretch>
            <a:fillRect/>
          </a:stretch>
        </p:blipFill>
        <p:spPr>
          <a:xfrm>
            <a:off x="4666400" y="5615579"/>
            <a:ext cx="128699" cy="187198"/>
          </a:xfrm>
          <a:prstGeom prst="rect">
            <a:avLst/>
          </a:prstGeom>
        </p:spPr>
      </p:pic>
      <p:pic>
        <p:nvPicPr>
          <p:cNvPr id="80" name="Picture 79" descr="lock.png"/>
          <p:cNvPicPr>
            <a:picLocks noChangeAspect="1"/>
          </p:cNvPicPr>
          <p:nvPr/>
        </p:nvPicPr>
        <p:blipFill>
          <a:blip r:embed="rId4"/>
          <a:stretch>
            <a:fillRect/>
          </a:stretch>
        </p:blipFill>
        <p:spPr>
          <a:xfrm>
            <a:off x="5841150" y="5619506"/>
            <a:ext cx="128699" cy="187198"/>
          </a:xfrm>
          <a:prstGeom prst="rect">
            <a:avLst/>
          </a:prstGeom>
        </p:spPr>
      </p:pic>
      <p:pic>
        <p:nvPicPr>
          <p:cNvPr id="81" name="Picture 80" descr="lock.png"/>
          <p:cNvPicPr>
            <a:picLocks noChangeAspect="1"/>
          </p:cNvPicPr>
          <p:nvPr/>
        </p:nvPicPr>
        <p:blipFill>
          <a:blip r:embed="rId4"/>
          <a:stretch>
            <a:fillRect/>
          </a:stretch>
        </p:blipFill>
        <p:spPr>
          <a:xfrm>
            <a:off x="7015900" y="5310313"/>
            <a:ext cx="128699" cy="187198"/>
          </a:xfrm>
          <a:prstGeom prst="rect">
            <a:avLst/>
          </a:prstGeom>
        </p:spPr>
      </p:pic>
      <p:sp>
        <p:nvSpPr>
          <p:cNvPr id="82" name="TextBox 81"/>
          <p:cNvSpPr txBox="1"/>
          <p:nvPr/>
        </p:nvSpPr>
        <p:spPr>
          <a:xfrm>
            <a:off x="8048625" y="1736673"/>
            <a:ext cx="3791061"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therapy format</a:t>
            </a:r>
          </a:p>
        </p:txBody>
      </p:sp>
      <p:sp>
        <p:nvSpPr>
          <p:cNvPr id="83" name="TextBox 82"/>
          <p:cNvSpPr txBox="1"/>
          <p:nvPr/>
        </p:nvSpPr>
        <p:spPr>
          <a:xfrm>
            <a:off x="8048625" y="1911934"/>
            <a:ext cx="3848100" cy="194310"/>
          </a:xfrm>
          <a:prstGeom prst="rect">
            <a:avLst/>
          </a:prstGeom>
          <a:noFill/>
        </p:spPr>
        <p:txBody>
          <a:bodyPr wrap="none" lIns="0" rIns="0" tIns="0" bIns="0">
            <a:spAutoFit/>
          </a:bodyPr>
          <a:lstStyle/>
          <a:p>
            <a:r>
              <a:rPr sz="1150" b="0">
                <a:solidFill>
                  <a:srgbClr val="2E2E2E"/>
                </a:solidFill>
                <a:latin typeface="Calibri"/>
              </a:rPr>
              <a:t>types in USD, harmonised across regions. Each candlestick spans</a:t>
            </a:r>
          </a:p>
        </p:txBody>
      </p:sp>
      <p:sp>
        <p:nvSpPr>
          <p:cNvPr id="84" name="TextBox 83"/>
          <p:cNvSpPr txBox="1"/>
          <p:nvPr/>
        </p:nvSpPr>
        <p:spPr>
          <a:xfrm>
            <a:off x="8048625" y="2087194"/>
            <a:ext cx="3848100" cy="194310"/>
          </a:xfrm>
          <a:prstGeom prst="rect">
            <a:avLst/>
          </a:prstGeom>
          <a:noFill/>
        </p:spPr>
        <p:txBody>
          <a:bodyPr wrap="none" lIns="0" rIns="0" tIns="0" bIns="0">
            <a:spAutoFit/>
          </a:bodyPr>
          <a:lstStyle/>
          <a:p>
            <a:r>
              <a:rPr sz="1150" b="0">
                <a:solidFill>
                  <a:srgbClr val="2E2E2E"/>
                </a:solidFill>
                <a:latin typeface="Calibri"/>
              </a:rPr>
              <a:t>the minimum-to-maximum observed price within the base year,</a:t>
            </a:r>
          </a:p>
        </p:txBody>
      </p:sp>
      <p:sp>
        <p:nvSpPr>
          <p:cNvPr id="85" name="TextBox 84"/>
          <p:cNvSpPr txBox="1"/>
          <p:nvPr/>
        </p:nvSpPr>
        <p:spPr>
          <a:xfrm>
            <a:off x="8048625" y="2262454"/>
            <a:ext cx="3406254" cy="194310"/>
          </a:xfrm>
          <a:prstGeom prst="rect">
            <a:avLst/>
          </a:prstGeom>
          <a:noFill/>
        </p:spPr>
        <p:txBody>
          <a:bodyPr wrap="none" lIns="0" rIns="0" tIns="0" bIns="0">
            <a:spAutoFit/>
          </a:bodyPr>
          <a:lstStyle/>
          <a:p>
            <a:r>
              <a:rPr sz="1150" b="0">
                <a:solidFill>
                  <a:srgbClr val="2E2E2E"/>
                </a:solidFill>
                <a:latin typeface="Calibri"/>
              </a:rPr>
              <a:t>giving a clear read of price range and market dispersion.</a:t>
            </a:r>
          </a:p>
        </p:txBody>
      </p:sp>
      <p:sp>
        <p:nvSpPr>
          <p:cNvPr id="86" name="TextBox 85"/>
          <p:cNvSpPr txBox="1"/>
          <p:nvPr/>
        </p:nvSpPr>
        <p:spPr>
          <a:xfrm>
            <a:off x="8048625" y="2490292"/>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87" name="TextBox 86"/>
          <p:cNvSpPr txBox="1"/>
          <p:nvPr/>
        </p:nvSpPr>
        <p:spPr>
          <a:xfrm>
            <a:off x="8048625" y="2665551"/>
            <a:ext cx="3776228" cy="194310"/>
          </a:xfrm>
          <a:prstGeom prst="rect">
            <a:avLst/>
          </a:prstGeom>
          <a:noFill/>
        </p:spPr>
        <p:txBody>
          <a:bodyPr wrap="none" lIns="0" rIns="0" tIns="0" bIns="0">
            <a:spAutoFit/>
          </a:bodyPr>
          <a:lstStyle/>
          <a:p>
            <a:r>
              <a:rPr sz="1150" b="0">
                <a:solidFill>
                  <a:srgbClr val="2E2E2E"/>
                </a:solidFill>
                <a:latin typeface="Calibri"/>
              </a:rPr>
              <a:t>price levels 'Sublingual Immunotherapy (SLIT)' shows the most</a:t>
            </a:r>
          </a:p>
        </p:txBody>
      </p:sp>
      <p:sp>
        <p:nvSpPr>
          <p:cNvPr id="88" name="TextBox 87"/>
          <p:cNvSpPr txBox="1"/>
          <p:nvPr/>
        </p:nvSpPr>
        <p:spPr>
          <a:xfrm>
            <a:off x="8048625" y="2840811"/>
            <a:ext cx="873769" cy="194310"/>
          </a:xfrm>
          <a:prstGeom prst="rect">
            <a:avLst/>
          </a:prstGeom>
          <a:noFill/>
        </p:spPr>
        <p:txBody>
          <a:bodyPr wrap="none" lIns="0" rIns="0" tIns="0" bIns="0">
            <a:spAutoFit/>
          </a:bodyPr>
          <a:lstStyle/>
          <a:p>
            <a:r>
              <a:rPr sz="1150" b="0">
                <a:solidFill>
                  <a:srgbClr val="2E2E2E"/>
                </a:solidFill>
                <a:latin typeface="Calibri"/>
              </a:rPr>
              <a:t>movement (+</a:t>
            </a:r>
          </a:p>
        </p:txBody>
      </p:sp>
      <p:pic>
        <p:nvPicPr>
          <p:cNvPr id="89" name="Picture 88" descr="lock.png"/>
          <p:cNvPicPr>
            <a:picLocks noChangeAspect="1"/>
          </p:cNvPicPr>
          <p:nvPr/>
        </p:nvPicPr>
        <p:blipFill>
          <a:blip r:embed="rId4"/>
          <a:stretch>
            <a:fillRect/>
          </a:stretch>
        </p:blipFill>
        <p:spPr>
          <a:xfrm>
            <a:off x="8871548" y="2830588"/>
            <a:ext cx="134549" cy="195707"/>
          </a:xfrm>
          <a:prstGeom prst="rect">
            <a:avLst/>
          </a:prstGeom>
        </p:spPr>
      </p:pic>
      <p:sp>
        <p:nvSpPr>
          <p:cNvPr id="90" name="TextBox 89"/>
          <p:cNvSpPr txBox="1"/>
          <p:nvPr/>
        </p:nvSpPr>
        <p:spPr>
          <a:xfrm>
            <a:off x="9046658" y="2840811"/>
            <a:ext cx="2595277" cy="194310"/>
          </a:xfrm>
          <a:prstGeom prst="rect">
            <a:avLst/>
          </a:prstGeom>
          <a:noFill/>
        </p:spPr>
        <p:txBody>
          <a:bodyPr wrap="none" lIns="0" rIns="0" tIns="0" bIns="0">
            <a:spAutoFit/>
          </a:bodyPr>
          <a:lstStyle/>
          <a:p>
            <a:r>
              <a:rPr sz="1150" b="0">
                <a:solidFill>
                  <a:srgbClr val="2E2E2E"/>
                </a:solidFill>
                <a:latin typeface="Calibri"/>
              </a:rPr>
              <a:t>) and 'Oral Immunotherapy (OIT)' the least</a:t>
            </a:r>
          </a:p>
        </p:txBody>
      </p:sp>
      <p:sp>
        <p:nvSpPr>
          <p:cNvPr id="91" name="TextBox 90"/>
          <p:cNvSpPr txBox="1"/>
          <p:nvPr/>
        </p:nvSpPr>
        <p:spPr>
          <a:xfrm>
            <a:off x="8048625" y="3016071"/>
            <a:ext cx="19315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92" name="Picture 91" descr="lock.png"/>
          <p:cNvPicPr>
            <a:picLocks noChangeAspect="1"/>
          </p:cNvPicPr>
          <p:nvPr/>
        </p:nvPicPr>
        <p:blipFill>
          <a:blip r:embed="rId4"/>
          <a:stretch>
            <a:fillRect/>
          </a:stretch>
        </p:blipFill>
        <p:spPr>
          <a:xfrm>
            <a:off x="8190933" y="3005848"/>
            <a:ext cx="134549" cy="195707"/>
          </a:xfrm>
          <a:prstGeom prst="rect">
            <a:avLst/>
          </a:prstGeom>
        </p:spPr>
      </p:pic>
      <p:sp>
        <p:nvSpPr>
          <p:cNvPr id="93" name="TextBox 92"/>
          <p:cNvSpPr txBox="1"/>
          <p:nvPr/>
        </p:nvSpPr>
        <p:spPr>
          <a:xfrm>
            <a:off x="8366042" y="3016071"/>
            <a:ext cx="3385145" cy="194310"/>
          </a:xfrm>
          <a:prstGeom prst="rect">
            <a:avLst/>
          </a:prstGeom>
          <a:noFill/>
        </p:spPr>
        <p:txBody>
          <a:bodyPr wrap="none" lIns="0" rIns="0" tIns="0" bIns="0">
            <a:spAutoFit/>
          </a:bodyPr>
          <a:lstStyle/>
          <a:p>
            <a:r>
              <a:rPr sz="1150" b="0">
                <a:solidFill>
                  <a:srgbClr val="2E2E2E"/>
                </a:solidFill>
                <a:latin typeface="Calibri"/>
              </a:rPr>
              <a:t>) variability stakeholders should monitor when planning</a:t>
            </a:r>
          </a:p>
        </p:txBody>
      </p:sp>
      <p:sp>
        <p:nvSpPr>
          <p:cNvPr id="94" name="TextBox 93"/>
          <p:cNvSpPr txBox="1"/>
          <p:nvPr/>
        </p:nvSpPr>
        <p:spPr>
          <a:xfrm>
            <a:off x="8048625" y="3191331"/>
            <a:ext cx="1492200" cy="194310"/>
          </a:xfrm>
          <a:prstGeom prst="rect">
            <a:avLst/>
          </a:prstGeom>
          <a:noFill/>
        </p:spPr>
        <p:txBody>
          <a:bodyPr wrap="none" lIns="0" rIns="0" tIns="0" bIns="0">
            <a:spAutoFit/>
          </a:bodyPr>
          <a:lstStyle/>
          <a:p>
            <a:r>
              <a:rPr sz="1150" b="0">
                <a:solidFill>
                  <a:srgbClr val="2E2E2E"/>
                </a:solidFill>
                <a:latin typeface="Calibri"/>
              </a:rPr>
              <a:t>procurement or pricing.</a:t>
            </a:r>
          </a:p>
        </p:txBody>
      </p:sp>
      <p:sp>
        <p:nvSpPr>
          <p:cNvPr id="95" name="TextBox 94"/>
          <p:cNvSpPr txBox="1"/>
          <p:nvPr/>
        </p:nvSpPr>
        <p:spPr>
          <a:xfrm>
            <a:off x="8048625" y="341916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96" name="TextBox 95"/>
          <p:cNvSpPr txBox="1"/>
          <p:nvPr/>
        </p:nvSpPr>
        <p:spPr>
          <a:xfrm>
            <a:off x="8048625" y="359442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97" name="TextBox 96"/>
          <p:cNvSpPr txBox="1"/>
          <p:nvPr/>
        </p:nvSpPr>
        <p:spPr>
          <a:xfrm>
            <a:off x="8048625" y="376968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98" name="TextBox 97"/>
          <p:cNvSpPr txBox="1"/>
          <p:nvPr/>
        </p:nvSpPr>
        <p:spPr>
          <a:xfrm>
            <a:off x="8048625" y="394494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99" name="TextBox 98"/>
          <p:cNvSpPr txBox="1"/>
          <p:nvPr/>
        </p:nvSpPr>
        <p:spPr>
          <a:xfrm>
            <a:off x="8048625" y="417278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100" name="Picture 99" descr="lock.png"/>
          <p:cNvPicPr>
            <a:picLocks noChangeAspect="1"/>
          </p:cNvPicPr>
          <p:nvPr/>
        </p:nvPicPr>
        <p:blipFill>
          <a:blip r:embed="rId4"/>
          <a:stretch>
            <a:fillRect/>
          </a:stretch>
        </p:blipFill>
        <p:spPr>
          <a:xfrm>
            <a:off x="10338039" y="4162564"/>
            <a:ext cx="134549" cy="195707"/>
          </a:xfrm>
          <a:prstGeom prst="rect">
            <a:avLst/>
          </a:prstGeom>
        </p:spPr>
      </p:pic>
      <p:sp>
        <p:nvSpPr>
          <p:cNvPr id="101" name="TextBox 100"/>
          <p:cNvSpPr txBox="1"/>
          <p:nvPr/>
        </p:nvSpPr>
        <p:spPr>
          <a:xfrm>
            <a:off x="10513148" y="417278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102" name="TextBox 101"/>
          <p:cNvSpPr txBox="1"/>
          <p:nvPr/>
        </p:nvSpPr>
        <p:spPr>
          <a:xfrm>
            <a:off x="8048625" y="434804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103" name="TextBox 102"/>
          <p:cNvSpPr txBox="1"/>
          <p:nvPr/>
        </p:nvSpPr>
        <p:spPr>
          <a:xfrm>
            <a:off x="8048625" y="452330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104" name="TextBox 103"/>
          <p:cNvSpPr txBox="1"/>
          <p:nvPr/>
        </p:nvSpPr>
        <p:spPr>
          <a:xfrm>
            <a:off x="8048625" y="469856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Pricing Assessment: By Therapy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(US$/Patient Treatment Courses) by therapy format, 2021 to 2036, with 2026 price index and growth outlook</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Therapy Format, 2021 to 2036 (US$/Patient Treatment Courses)</a:t>
            </a:r>
          </a:p>
        </p:txBody>
      </p:sp>
      <p:graphicFrame>
        <p:nvGraphicFramePr>
          <p:cNvPr id="13"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4" name="TextBox 13"/>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5" name="Rectangle 14"/>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7"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8" name="Table 17"/>
          <p:cNvGraphicFramePr>
            <a:graphicFrameLocks noGrp="1"/>
          </p:cNvGraphicFramePr>
          <p:nvPr/>
        </p:nvGraphicFramePr>
        <p:xfrm>
          <a:off x="6858000" y="3203067"/>
          <a:ext cx="5056632" cy="1847090"/>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369418">
                <a:tc>
                  <a:txBody>
                    <a:bodyPr wrap="square"/>
                    <a:lstStyle/>
                    <a:p>
                      <a:pPr algn="l"/>
                      <a:r>
                        <a:rPr sz="850" b="1">
                          <a:solidFill>
                            <a:srgbClr val="FFFFFF"/>
                          </a:solidFill>
                          <a:latin typeface="Calibri"/>
                        </a:rPr>
                        <a:t>Therapy Format</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369418">
                <a:tc>
                  <a:txBody>
                    <a:bodyPr wrap="square"/>
                    <a:lstStyle/>
                    <a:p>
                      <a:pPr algn="l"/>
                      <a:r>
                        <a:rPr sz="850" b="1">
                          <a:solidFill>
                            <a:srgbClr val="1F1F1F"/>
                          </a:solidFill>
                          <a:latin typeface="Calibri"/>
                        </a:rPr>
                        <a:t>Subcutaneous Immunotherapy (SCIT)</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369418">
                <a:tc>
                  <a:txBody>
                    <a:bodyPr wrap="square"/>
                    <a:lstStyle/>
                    <a:p>
                      <a:pPr algn="l"/>
                      <a:r>
                        <a:rPr sz="850" b="1">
                          <a:solidFill>
                            <a:srgbClr val="1F1F1F"/>
                          </a:solidFill>
                          <a:latin typeface="Calibri"/>
                        </a:rPr>
                        <a:t>Oral Immunotherapy (OIT)</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7F7F7"/>
                    </a:solidFill>
                  </a:tcPr>
                </a:tc>
              </a:tr>
              <a:tr h="369418">
                <a:tc>
                  <a:txBody>
                    <a:bodyPr wrap="square"/>
                    <a:lstStyle/>
                    <a:p>
                      <a:pPr algn="l"/>
                      <a:r>
                        <a:rPr sz="850" b="1">
                          <a:solidFill>
                            <a:srgbClr val="1F1F1F"/>
                          </a:solidFill>
                          <a:latin typeface="Calibri"/>
                        </a:rPr>
                        <a:t>Sublingual Immunotherapy (SLIT)</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9DC0E0"/>
                    </a:solidFill>
                  </a:tcPr>
                </a:tc>
              </a:tr>
              <a:tr h="369418">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9" name="Rectangle 18"/>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1" name="TextBox 20"/>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22" name="TextBox 21"/>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3" name="Rectangle 22"/>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5" name="TextBox 24"/>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6" name="TextBox 25"/>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7" name="Rectangle 26"/>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8" name="Oval 27"/>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9" name="TextBox 28"/>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30" name="TextBox 29"/>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1" name="TextBox 30"/>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Average price = market value (US$) / market volume (Patient Treatment Courses). 2021 to 2025 historical, 2026 to 2036 forecast.</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6"/>
          <a:stretch>
            <a:fillRect/>
          </a:stretch>
        </p:blipFill>
        <p:spPr>
          <a:xfrm>
            <a:off x="10283571" y="4071291"/>
            <a:ext cx="330041" cy="480060"/>
          </a:xfrm>
          <a:prstGeom prst="rect">
            <a:avLst/>
          </a:prstGeom>
        </p:spPr>
      </p:pic>
      <p:sp>
        <p:nvSpPr>
          <p:cNvPr id="34" name="TextBox 33"/>
          <p:cNvSpPr txBox="1"/>
          <p:nvPr/>
        </p:nvSpPr>
        <p:spPr>
          <a:xfrm>
            <a:off x="411480" y="1114577"/>
            <a:ext cx="5627893" cy="209245"/>
          </a:xfrm>
          <a:prstGeom prst="rect">
            <a:avLst/>
          </a:prstGeom>
          <a:noFill/>
        </p:spPr>
        <p:txBody>
          <a:bodyPr wrap="none" lIns="0" rIns="0" tIns="0" bIns="0">
            <a:spAutoFit/>
          </a:bodyPr>
          <a:lstStyle/>
          <a:p>
            <a:r>
              <a:rPr sz="1248" b="1">
                <a:solidFill>
                  <a:srgbClr val="FFFFFF"/>
                </a:solidFill>
                <a:latin typeface="Calibri"/>
              </a:rPr>
              <a:t>Subcutaneous Immunotherapy (SCIT) commands the highest 2026 price point at US$</a:t>
            </a:r>
          </a:p>
        </p:txBody>
      </p:sp>
      <p:pic>
        <p:nvPicPr>
          <p:cNvPr id="35" name="Picture 34" descr="lock.png"/>
          <p:cNvPicPr>
            <a:picLocks noChangeAspect="1"/>
          </p:cNvPicPr>
          <p:nvPr/>
        </p:nvPicPr>
        <p:blipFill>
          <a:blip r:embed="rId6"/>
          <a:stretch>
            <a:fillRect/>
          </a:stretch>
        </p:blipFill>
        <p:spPr>
          <a:xfrm>
            <a:off x="5990688" y="1103482"/>
            <a:ext cx="146014" cy="212384"/>
          </a:xfrm>
          <a:prstGeom prst="rect">
            <a:avLst/>
          </a:prstGeom>
        </p:spPr>
      </p:pic>
      <p:sp>
        <p:nvSpPr>
          <p:cNvPr id="36" name="TextBox 35"/>
          <p:cNvSpPr txBox="1"/>
          <p:nvPr/>
        </p:nvSpPr>
        <p:spPr>
          <a:xfrm>
            <a:off x="6180720" y="1114577"/>
            <a:ext cx="2062353" cy="209245"/>
          </a:xfrm>
          <a:prstGeom prst="rect">
            <a:avLst/>
          </a:prstGeom>
          <a:noFill/>
        </p:spPr>
        <p:txBody>
          <a:bodyPr wrap="none" lIns="0" rIns="0" tIns="0" bIns="0">
            <a:spAutoFit/>
          </a:bodyPr>
          <a:lstStyle/>
          <a:p>
            <a:r>
              <a:rPr sz="1248" b="1">
                <a:solidFill>
                  <a:srgbClr val="FFFFFF"/>
                </a:solidFill>
                <a:latin typeface="Calibri"/>
              </a:rPr>
              <a:t>/Patient Treatment Courses, a</a:t>
            </a:r>
          </a:p>
        </p:txBody>
      </p:sp>
      <p:pic>
        <p:nvPicPr>
          <p:cNvPr id="37" name="Picture 36" descr="lock.png"/>
          <p:cNvPicPr>
            <a:picLocks noChangeAspect="1"/>
          </p:cNvPicPr>
          <p:nvPr/>
        </p:nvPicPr>
        <p:blipFill>
          <a:blip r:embed="rId6"/>
          <a:stretch>
            <a:fillRect/>
          </a:stretch>
        </p:blipFill>
        <p:spPr>
          <a:xfrm>
            <a:off x="8194387" y="1103482"/>
            <a:ext cx="146014" cy="212384"/>
          </a:xfrm>
          <a:prstGeom prst="rect">
            <a:avLst/>
          </a:prstGeom>
        </p:spPr>
      </p:pic>
      <p:sp>
        <p:nvSpPr>
          <p:cNvPr id="38" name="TextBox 37"/>
          <p:cNvSpPr txBox="1"/>
          <p:nvPr/>
        </p:nvSpPr>
        <p:spPr>
          <a:xfrm>
            <a:off x="8384419" y="1114577"/>
            <a:ext cx="3281410" cy="209245"/>
          </a:xfrm>
          <a:prstGeom prst="rect">
            <a:avLst/>
          </a:prstGeom>
          <a:noFill/>
        </p:spPr>
        <p:txBody>
          <a:bodyPr wrap="none" lIns="0" rIns="0" tIns="0" bIns="0">
            <a:spAutoFit/>
          </a:bodyPr>
          <a:lstStyle/>
          <a:p>
            <a:r>
              <a:rPr sz="1248" b="1">
                <a:solidFill>
                  <a:srgbClr val="FFFFFF"/>
                </a:solidFill>
                <a:latin typeface="Calibri"/>
              </a:rPr>
              <a:t>premium over Sublingual Immunotherapy (SLIT).</a:t>
            </a:r>
          </a:p>
        </p:txBody>
      </p:sp>
      <p:sp>
        <p:nvSpPr>
          <p:cNvPr id="39" name="TextBox 38"/>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40" name="Picture 39" descr="lock.png"/>
          <p:cNvPicPr>
            <a:picLocks noChangeAspect="1"/>
          </p:cNvPicPr>
          <p:nvPr/>
        </p:nvPicPr>
        <p:blipFill>
          <a:blip r:embed="rId6"/>
          <a:stretch>
            <a:fillRect/>
          </a:stretch>
        </p:blipFill>
        <p:spPr>
          <a:xfrm>
            <a:off x="9106620" y="1593461"/>
            <a:ext cx="123784" cy="180050"/>
          </a:xfrm>
          <a:prstGeom prst="rect">
            <a:avLst/>
          </a:prstGeom>
        </p:spPr>
      </p:pic>
      <p:sp>
        <p:nvSpPr>
          <p:cNvPr id="41" name="TextBox 40"/>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2" name="TextBox 41"/>
          <p:cNvSpPr txBox="1"/>
          <p:nvPr/>
        </p:nvSpPr>
        <p:spPr>
          <a:xfrm>
            <a:off x="806576" y="5530976"/>
            <a:ext cx="3009900" cy="179069"/>
          </a:xfrm>
          <a:prstGeom prst="rect">
            <a:avLst/>
          </a:prstGeom>
          <a:noFill/>
        </p:spPr>
        <p:txBody>
          <a:bodyPr wrap="none" lIns="0" rIns="0" tIns="0" bIns="0">
            <a:spAutoFit/>
          </a:bodyPr>
          <a:lstStyle/>
          <a:p>
            <a:r>
              <a:rPr sz="1050" b="0">
                <a:solidFill>
                  <a:srgbClr val="1F1F1F"/>
                </a:solidFill>
                <a:latin typeface="Calibri"/>
              </a:rPr>
              <a:t>Subcutaneous Immunotherapy (SCIT) sits at the top of</a:t>
            </a:r>
          </a:p>
        </p:txBody>
      </p:sp>
      <p:sp>
        <p:nvSpPr>
          <p:cNvPr id="43" name="TextBox 42"/>
          <p:cNvSpPr txBox="1"/>
          <p:nvPr/>
        </p:nvSpPr>
        <p:spPr>
          <a:xfrm>
            <a:off x="806576" y="5690996"/>
            <a:ext cx="2006389" cy="179069"/>
          </a:xfrm>
          <a:prstGeom prst="rect">
            <a:avLst/>
          </a:prstGeom>
          <a:noFill/>
        </p:spPr>
        <p:txBody>
          <a:bodyPr wrap="none" lIns="0" rIns="0" tIns="0" bIns="0">
            <a:spAutoFit/>
          </a:bodyPr>
          <a:lstStyle/>
          <a:p>
            <a:r>
              <a:rPr sz="1050" b="0">
                <a:solidFill>
                  <a:srgbClr val="1F1F1F"/>
                </a:solidFill>
                <a:latin typeface="Calibri"/>
              </a:rPr>
              <a:t>the 2026 price ladder at an index of</a:t>
            </a:r>
          </a:p>
        </p:txBody>
      </p:sp>
      <p:pic>
        <p:nvPicPr>
          <p:cNvPr id="44" name="Picture 43" descr="lock.png"/>
          <p:cNvPicPr>
            <a:picLocks noChangeAspect="1"/>
          </p:cNvPicPr>
          <p:nvPr/>
        </p:nvPicPr>
        <p:blipFill>
          <a:blip r:embed="rId6"/>
          <a:stretch>
            <a:fillRect/>
          </a:stretch>
        </p:blipFill>
        <p:spPr>
          <a:xfrm>
            <a:off x="2759915" y="5681662"/>
            <a:ext cx="122849" cy="178689"/>
          </a:xfrm>
          <a:prstGeom prst="rect">
            <a:avLst/>
          </a:prstGeom>
        </p:spPr>
      </p:pic>
      <p:sp>
        <p:nvSpPr>
          <p:cNvPr id="45" name="TextBox 44"/>
          <p:cNvSpPr txBox="1"/>
          <p:nvPr/>
        </p:nvSpPr>
        <p:spPr>
          <a:xfrm>
            <a:off x="2919797" y="5690996"/>
            <a:ext cx="1023453" cy="179069"/>
          </a:xfrm>
          <a:prstGeom prst="rect">
            <a:avLst/>
          </a:prstGeom>
          <a:noFill/>
        </p:spPr>
        <p:txBody>
          <a:bodyPr wrap="none" lIns="0" rIns="0" tIns="0" bIns="0">
            <a:spAutoFit/>
          </a:bodyPr>
          <a:lstStyle/>
          <a:p>
            <a:r>
              <a:rPr sz="1050" b="0">
                <a:solidFill>
                  <a:srgbClr val="1F1F1F"/>
                </a:solidFill>
                <a:latin typeface="Calibri"/>
              </a:rPr>
              <a:t>, while Sublingual</a:t>
            </a:r>
          </a:p>
        </p:txBody>
      </p:sp>
      <p:sp>
        <p:nvSpPr>
          <p:cNvPr id="46" name="TextBox 45"/>
          <p:cNvSpPr txBox="1"/>
          <p:nvPr/>
        </p:nvSpPr>
        <p:spPr>
          <a:xfrm>
            <a:off x="806576" y="5851016"/>
            <a:ext cx="1795164" cy="179069"/>
          </a:xfrm>
          <a:prstGeom prst="rect">
            <a:avLst/>
          </a:prstGeom>
          <a:noFill/>
        </p:spPr>
        <p:txBody>
          <a:bodyPr wrap="none" lIns="0" rIns="0" tIns="0" bIns="0">
            <a:spAutoFit/>
          </a:bodyPr>
          <a:lstStyle/>
          <a:p>
            <a:r>
              <a:rPr sz="1050" b="0">
                <a:solidFill>
                  <a:srgbClr val="1F1F1F"/>
                </a:solidFill>
                <a:latin typeface="Calibri"/>
              </a:rPr>
              <a:t>Immunotherapy (SLIT) trades at</a:t>
            </a:r>
          </a:p>
        </p:txBody>
      </p:sp>
      <p:pic>
        <p:nvPicPr>
          <p:cNvPr id="47" name="Picture 46" descr="lock.png"/>
          <p:cNvPicPr>
            <a:picLocks noChangeAspect="1"/>
          </p:cNvPicPr>
          <p:nvPr/>
        </p:nvPicPr>
        <p:blipFill>
          <a:blip r:embed="rId6"/>
          <a:stretch>
            <a:fillRect/>
          </a:stretch>
        </p:blipFill>
        <p:spPr>
          <a:xfrm>
            <a:off x="2548691" y="5841682"/>
            <a:ext cx="122849" cy="178689"/>
          </a:xfrm>
          <a:prstGeom prst="rect">
            <a:avLst/>
          </a:prstGeom>
        </p:spPr>
      </p:pic>
      <p:sp>
        <p:nvSpPr>
          <p:cNvPr id="48" name="TextBox 47"/>
          <p:cNvSpPr txBox="1"/>
          <p:nvPr/>
        </p:nvSpPr>
        <p:spPr>
          <a:xfrm>
            <a:off x="2708573" y="5851016"/>
            <a:ext cx="1222176" cy="179069"/>
          </a:xfrm>
          <a:prstGeom prst="rect">
            <a:avLst/>
          </a:prstGeom>
          <a:noFill/>
        </p:spPr>
        <p:txBody>
          <a:bodyPr wrap="none" lIns="0" rIns="0" tIns="0" bIns="0">
            <a:spAutoFit/>
          </a:bodyPr>
          <a:lstStyle/>
          <a:p>
            <a:r>
              <a:rPr sz="1050" b="0">
                <a:solidFill>
                  <a:srgbClr val="1F1F1F"/>
                </a:solidFill>
                <a:latin typeface="Calibri"/>
              </a:rPr>
              <a:t>, which keeps the full</a:t>
            </a:r>
          </a:p>
        </p:txBody>
      </p:sp>
      <p:sp>
        <p:nvSpPr>
          <p:cNvPr id="49" name="TextBox 48"/>
          <p:cNvSpPr txBox="1"/>
          <p:nvPr/>
        </p:nvSpPr>
        <p:spPr>
          <a:xfrm>
            <a:off x="806576" y="6011036"/>
            <a:ext cx="1672493" cy="179069"/>
          </a:xfrm>
          <a:prstGeom prst="rect">
            <a:avLst/>
          </a:prstGeom>
          <a:noFill/>
        </p:spPr>
        <p:txBody>
          <a:bodyPr wrap="none" lIns="0" rIns="0" tIns="0" bIns="0">
            <a:spAutoFit/>
          </a:bodyPr>
          <a:lstStyle/>
          <a:p>
            <a:r>
              <a:rPr sz="1050" b="0">
                <a:solidFill>
                  <a:srgbClr val="1F1F1F"/>
                </a:solidFill>
                <a:latin typeface="Calibri"/>
              </a:rPr>
              <a:t>therapy format spread within</a:t>
            </a:r>
          </a:p>
        </p:txBody>
      </p:sp>
      <p:pic>
        <p:nvPicPr>
          <p:cNvPr id="50" name="Picture 49" descr="lock.png"/>
          <p:cNvPicPr>
            <a:picLocks noChangeAspect="1"/>
          </p:cNvPicPr>
          <p:nvPr/>
        </p:nvPicPr>
        <p:blipFill>
          <a:blip r:embed="rId6"/>
          <a:stretch>
            <a:fillRect/>
          </a:stretch>
        </p:blipFill>
        <p:spPr>
          <a:xfrm>
            <a:off x="2426019" y="6001702"/>
            <a:ext cx="122849" cy="178689"/>
          </a:xfrm>
          <a:prstGeom prst="rect">
            <a:avLst/>
          </a:prstGeom>
        </p:spPr>
      </p:pic>
      <p:sp>
        <p:nvSpPr>
          <p:cNvPr id="51" name="TextBox 50"/>
          <p:cNvSpPr txBox="1"/>
          <p:nvPr/>
        </p:nvSpPr>
        <p:spPr>
          <a:xfrm>
            <a:off x="2585901" y="601103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52" name="TextBox 51"/>
          <p:cNvSpPr txBox="1"/>
          <p:nvPr/>
        </p:nvSpPr>
        <p:spPr>
          <a:xfrm>
            <a:off x="4732401" y="5530976"/>
            <a:ext cx="3099234" cy="179069"/>
          </a:xfrm>
          <a:prstGeom prst="rect">
            <a:avLst/>
          </a:prstGeom>
          <a:noFill/>
        </p:spPr>
        <p:txBody>
          <a:bodyPr wrap="none" lIns="0" rIns="0" tIns="0" bIns="0">
            <a:spAutoFit/>
          </a:bodyPr>
          <a:lstStyle/>
          <a:p>
            <a:r>
              <a:rPr sz="1050" b="0">
                <a:solidFill>
                  <a:srgbClr val="1F1F1F"/>
                </a:solidFill>
                <a:latin typeface="Calibri"/>
              </a:rPr>
              <a:t>Sublingual Immunotherapy (SLIT) posts the fastest price</a:t>
            </a:r>
          </a:p>
        </p:txBody>
      </p:sp>
      <p:sp>
        <p:nvSpPr>
          <p:cNvPr id="53" name="TextBox 52"/>
          <p:cNvSpPr txBox="1"/>
          <p:nvPr/>
        </p:nvSpPr>
        <p:spPr>
          <a:xfrm>
            <a:off x="4732401" y="5690996"/>
            <a:ext cx="698934" cy="179069"/>
          </a:xfrm>
          <a:prstGeom prst="rect">
            <a:avLst/>
          </a:prstGeom>
          <a:noFill/>
        </p:spPr>
        <p:txBody>
          <a:bodyPr wrap="none" lIns="0" rIns="0" tIns="0" bIns="0">
            <a:spAutoFit/>
          </a:bodyPr>
          <a:lstStyle/>
          <a:p>
            <a:r>
              <a:rPr sz="1050" b="0">
                <a:solidFill>
                  <a:srgbClr val="1F1F1F"/>
                </a:solidFill>
                <a:latin typeface="Calibri"/>
              </a:rPr>
              <a:t>growth at a</a:t>
            </a:r>
          </a:p>
        </p:txBody>
      </p:sp>
      <p:pic>
        <p:nvPicPr>
          <p:cNvPr id="54" name="Picture 53" descr="lock.png"/>
          <p:cNvPicPr>
            <a:picLocks noChangeAspect="1"/>
          </p:cNvPicPr>
          <p:nvPr/>
        </p:nvPicPr>
        <p:blipFill>
          <a:blip r:embed="rId6"/>
          <a:stretch>
            <a:fillRect/>
          </a:stretch>
        </p:blipFill>
        <p:spPr>
          <a:xfrm>
            <a:off x="5378284" y="5681662"/>
            <a:ext cx="122849" cy="178689"/>
          </a:xfrm>
          <a:prstGeom prst="rect">
            <a:avLst/>
          </a:prstGeom>
        </p:spPr>
      </p:pic>
      <p:sp>
        <p:nvSpPr>
          <p:cNvPr id="55" name="TextBox 54"/>
          <p:cNvSpPr txBox="1"/>
          <p:nvPr/>
        </p:nvSpPr>
        <p:spPr>
          <a:xfrm>
            <a:off x="5538166" y="5690996"/>
            <a:ext cx="1760248" cy="179069"/>
          </a:xfrm>
          <a:prstGeom prst="rect">
            <a:avLst/>
          </a:prstGeom>
          <a:noFill/>
        </p:spPr>
        <p:txBody>
          <a:bodyPr wrap="none" lIns="0" rIns="0" tIns="0" bIns="0">
            <a:spAutoFit/>
          </a:bodyPr>
          <a:lstStyle/>
          <a:p>
            <a:r>
              <a:rPr sz="1050" b="0">
                <a:solidFill>
                  <a:srgbClr val="1F1F1F"/>
                </a:solidFill>
                <a:latin typeface="Calibri"/>
              </a:rPr>
              <a:t>CAGR between 2026 and 2036,</a:t>
            </a:r>
          </a:p>
        </p:txBody>
      </p:sp>
      <p:sp>
        <p:nvSpPr>
          <p:cNvPr id="56" name="TextBox 55"/>
          <p:cNvSpPr txBox="1"/>
          <p:nvPr/>
        </p:nvSpPr>
        <p:spPr>
          <a:xfrm>
            <a:off x="4732401" y="5851016"/>
            <a:ext cx="897656" cy="179069"/>
          </a:xfrm>
          <a:prstGeom prst="rect">
            <a:avLst/>
          </a:prstGeom>
          <a:noFill/>
        </p:spPr>
        <p:txBody>
          <a:bodyPr wrap="none" lIns="0" rIns="0" tIns="0" bIns="0">
            <a:spAutoFit/>
          </a:bodyPr>
          <a:lstStyle/>
          <a:p>
            <a:r>
              <a:rPr sz="1050" b="0">
                <a:solidFill>
                  <a:srgbClr val="1F1F1F"/>
                </a:solidFill>
                <a:latin typeface="Calibri"/>
              </a:rPr>
              <a:t>compared with</a:t>
            </a:r>
          </a:p>
        </p:txBody>
      </p:sp>
      <p:pic>
        <p:nvPicPr>
          <p:cNvPr id="57" name="Picture 56" descr="lock.png"/>
          <p:cNvPicPr>
            <a:picLocks noChangeAspect="1"/>
          </p:cNvPicPr>
          <p:nvPr/>
        </p:nvPicPr>
        <p:blipFill>
          <a:blip r:embed="rId6"/>
          <a:stretch>
            <a:fillRect/>
          </a:stretch>
        </p:blipFill>
        <p:spPr>
          <a:xfrm>
            <a:off x="5577007" y="5841682"/>
            <a:ext cx="122849" cy="178689"/>
          </a:xfrm>
          <a:prstGeom prst="rect">
            <a:avLst/>
          </a:prstGeom>
        </p:spPr>
      </p:pic>
      <p:sp>
        <p:nvSpPr>
          <p:cNvPr id="58" name="TextBox 57"/>
          <p:cNvSpPr txBox="1"/>
          <p:nvPr/>
        </p:nvSpPr>
        <p:spPr>
          <a:xfrm>
            <a:off x="5736889" y="5851016"/>
            <a:ext cx="1734480" cy="179069"/>
          </a:xfrm>
          <a:prstGeom prst="rect">
            <a:avLst/>
          </a:prstGeom>
          <a:noFill/>
        </p:spPr>
        <p:txBody>
          <a:bodyPr wrap="none" lIns="0" rIns="0" tIns="0" bIns="0">
            <a:spAutoFit/>
          </a:bodyPr>
          <a:lstStyle/>
          <a:p>
            <a:r>
              <a:rPr sz="1050" b="0">
                <a:solidFill>
                  <a:srgbClr val="1F1F1F"/>
                </a:solidFill>
                <a:latin typeface="Calibri"/>
              </a:rPr>
              <a:t>for Oral Immunotherapy (OIT).</a:t>
            </a:r>
          </a:p>
        </p:txBody>
      </p:sp>
      <p:sp>
        <p:nvSpPr>
          <p:cNvPr id="59" name="TextBox 58"/>
          <p:cNvSpPr txBox="1"/>
          <p:nvPr/>
        </p:nvSpPr>
        <p:spPr>
          <a:xfrm>
            <a:off x="8658225" y="5530976"/>
            <a:ext cx="2063073" cy="166268"/>
          </a:xfrm>
          <a:prstGeom prst="rect">
            <a:avLst/>
          </a:prstGeom>
          <a:noFill/>
        </p:spPr>
        <p:txBody>
          <a:bodyPr wrap="none" lIns="0" rIns="0" tIns="0" bIns="0">
            <a:spAutoFit/>
          </a:bodyPr>
          <a:lstStyle/>
          <a:p>
            <a:r>
              <a:rPr sz="966" b="0">
                <a:solidFill>
                  <a:srgbClr val="1F1F1F"/>
                </a:solidFill>
                <a:latin typeface="Calibri"/>
              </a:rPr>
              <a:t>The Global average price rises from US$</a:t>
            </a:r>
          </a:p>
        </p:txBody>
      </p:sp>
      <p:pic>
        <p:nvPicPr>
          <p:cNvPr id="60" name="Picture 59" descr="lock.png"/>
          <p:cNvPicPr>
            <a:picLocks noChangeAspect="1"/>
          </p:cNvPicPr>
          <p:nvPr/>
        </p:nvPicPr>
        <p:blipFill>
          <a:blip r:embed="rId6"/>
          <a:stretch>
            <a:fillRect/>
          </a:stretch>
        </p:blipFill>
        <p:spPr>
          <a:xfrm>
            <a:off x="10666395" y="5522389"/>
            <a:ext cx="113020" cy="164393"/>
          </a:xfrm>
          <a:prstGeom prst="rect">
            <a:avLst/>
          </a:prstGeom>
        </p:spPr>
      </p:pic>
      <p:sp>
        <p:nvSpPr>
          <p:cNvPr id="61" name="TextBox 60"/>
          <p:cNvSpPr txBox="1"/>
          <p:nvPr/>
        </p:nvSpPr>
        <p:spPr>
          <a:xfrm>
            <a:off x="10813487" y="5530976"/>
            <a:ext cx="482104" cy="166268"/>
          </a:xfrm>
          <a:prstGeom prst="rect">
            <a:avLst/>
          </a:prstGeom>
          <a:noFill/>
        </p:spPr>
        <p:txBody>
          <a:bodyPr wrap="none" lIns="0" rIns="0" tIns="0" bIns="0">
            <a:spAutoFit/>
          </a:bodyPr>
          <a:lstStyle/>
          <a:p>
            <a:r>
              <a:rPr sz="966" b="0">
                <a:solidFill>
                  <a:srgbClr val="1F1F1F"/>
                </a:solidFill>
                <a:latin typeface="Calibri"/>
              </a:rPr>
              <a:t>/Patient</a:t>
            </a:r>
          </a:p>
        </p:txBody>
      </p:sp>
      <p:sp>
        <p:nvSpPr>
          <p:cNvPr id="62" name="TextBox 61"/>
          <p:cNvSpPr txBox="1"/>
          <p:nvPr/>
        </p:nvSpPr>
        <p:spPr>
          <a:xfrm>
            <a:off x="8658225" y="5678195"/>
            <a:ext cx="1783444" cy="166268"/>
          </a:xfrm>
          <a:prstGeom prst="rect">
            <a:avLst/>
          </a:prstGeom>
          <a:noFill/>
        </p:spPr>
        <p:txBody>
          <a:bodyPr wrap="none" lIns="0" rIns="0" tIns="0" bIns="0">
            <a:spAutoFit/>
          </a:bodyPr>
          <a:lstStyle/>
          <a:p>
            <a:r>
              <a:rPr sz="966" b="0">
                <a:solidFill>
                  <a:srgbClr val="1F1F1F"/>
                </a:solidFill>
                <a:latin typeface="Calibri"/>
              </a:rPr>
              <a:t>Treatment Courses in 2026 to US$</a:t>
            </a:r>
          </a:p>
        </p:txBody>
      </p:sp>
      <p:pic>
        <p:nvPicPr>
          <p:cNvPr id="63" name="Picture 62" descr="lock.png"/>
          <p:cNvPicPr>
            <a:picLocks noChangeAspect="1"/>
          </p:cNvPicPr>
          <p:nvPr/>
        </p:nvPicPr>
        <p:blipFill>
          <a:blip r:embed="rId6"/>
          <a:stretch>
            <a:fillRect/>
          </a:stretch>
        </p:blipFill>
        <p:spPr>
          <a:xfrm>
            <a:off x="10386766" y="5669607"/>
            <a:ext cx="113020" cy="164393"/>
          </a:xfrm>
          <a:prstGeom prst="rect">
            <a:avLst/>
          </a:prstGeom>
        </p:spPr>
      </p:pic>
      <p:sp>
        <p:nvSpPr>
          <p:cNvPr id="64" name="TextBox 63"/>
          <p:cNvSpPr txBox="1"/>
          <p:nvPr/>
        </p:nvSpPr>
        <p:spPr>
          <a:xfrm>
            <a:off x="10533858" y="5678195"/>
            <a:ext cx="1038486" cy="166268"/>
          </a:xfrm>
          <a:prstGeom prst="rect">
            <a:avLst/>
          </a:prstGeom>
          <a:noFill/>
        </p:spPr>
        <p:txBody>
          <a:bodyPr wrap="none" lIns="0" rIns="0" tIns="0" bIns="0">
            <a:spAutoFit/>
          </a:bodyPr>
          <a:lstStyle/>
          <a:p>
            <a:r>
              <a:rPr sz="966" b="0">
                <a:solidFill>
                  <a:srgbClr val="1F1F1F"/>
                </a:solidFill>
                <a:latin typeface="Calibri"/>
              </a:rPr>
              <a:t>/Patient Treatment</a:t>
            </a:r>
          </a:p>
        </p:txBody>
      </p:sp>
      <p:sp>
        <p:nvSpPr>
          <p:cNvPr id="65" name="TextBox 64"/>
          <p:cNvSpPr txBox="1"/>
          <p:nvPr/>
        </p:nvSpPr>
        <p:spPr>
          <a:xfrm>
            <a:off x="8658225" y="5825413"/>
            <a:ext cx="3143250" cy="166268"/>
          </a:xfrm>
          <a:prstGeom prst="rect">
            <a:avLst/>
          </a:prstGeom>
          <a:noFill/>
        </p:spPr>
        <p:txBody>
          <a:bodyPr wrap="none" lIns="0" rIns="0" tIns="0" bIns="0">
            <a:spAutoFit/>
          </a:bodyPr>
          <a:lstStyle/>
          <a:p>
            <a:r>
              <a:rPr sz="966" b="0">
                <a:solidFill>
                  <a:srgbClr val="1F1F1F"/>
                </a:solidFill>
                <a:latin typeface="Calibri"/>
              </a:rPr>
              <a:t>Courses in 2036, and the gap between the highest and lowest</a:t>
            </a:r>
          </a:p>
        </p:txBody>
      </p:sp>
      <p:sp>
        <p:nvSpPr>
          <p:cNvPr id="66" name="TextBox 65"/>
          <p:cNvSpPr txBox="1"/>
          <p:nvPr/>
        </p:nvSpPr>
        <p:spPr>
          <a:xfrm>
            <a:off x="8658225" y="5972632"/>
            <a:ext cx="1801894" cy="166268"/>
          </a:xfrm>
          <a:prstGeom prst="rect">
            <a:avLst/>
          </a:prstGeom>
          <a:noFill/>
        </p:spPr>
        <p:txBody>
          <a:bodyPr wrap="none" lIns="0" rIns="0" tIns="0" bIns="0">
            <a:spAutoFit/>
          </a:bodyPr>
          <a:lstStyle/>
          <a:p>
            <a:r>
              <a:rPr sz="966" b="0">
                <a:solidFill>
                  <a:srgbClr val="1F1F1F"/>
                </a:solidFill>
                <a:latin typeface="Calibri"/>
              </a:rPr>
              <a:t>priced therapy format moves from</a:t>
            </a:r>
          </a:p>
        </p:txBody>
      </p:sp>
      <p:pic>
        <p:nvPicPr>
          <p:cNvPr id="67" name="Picture 66" descr="lock.png"/>
          <p:cNvPicPr>
            <a:picLocks noChangeAspect="1"/>
          </p:cNvPicPr>
          <p:nvPr/>
        </p:nvPicPr>
        <p:blipFill>
          <a:blip r:embed="rId6"/>
          <a:stretch>
            <a:fillRect/>
          </a:stretch>
        </p:blipFill>
        <p:spPr>
          <a:xfrm>
            <a:off x="10405217" y="5964044"/>
            <a:ext cx="113020" cy="164393"/>
          </a:xfrm>
          <a:prstGeom prst="rect">
            <a:avLst/>
          </a:prstGeom>
        </p:spPr>
      </p:pic>
      <p:sp>
        <p:nvSpPr>
          <p:cNvPr id="68" name="TextBox 67"/>
          <p:cNvSpPr txBox="1"/>
          <p:nvPr/>
        </p:nvSpPr>
        <p:spPr>
          <a:xfrm>
            <a:off x="10552308" y="5972632"/>
            <a:ext cx="579627" cy="166268"/>
          </a:xfrm>
          <a:prstGeom prst="rect">
            <a:avLst/>
          </a:prstGeom>
          <a:noFill/>
        </p:spPr>
        <p:txBody>
          <a:bodyPr wrap="none" lIns="0" rIns="0" tIns="0" bIns="0">
            <a:spAutoFit/>
          </a:bodyPr>
          <a:lstStyle/>
          <a:p>
            <a:r>
              <a:rPr sz="966" b="0">
                <a:solidFill>
                  <a:srgbClr val="1F1F1F"/>
                </a:solidFill>
                <a:latin typeface="Calibri"/>
              </a:rPr>
              <a:t>in 2021 to</a:t>
            </a:r>
          </a:p>
        </p:txBody>
      </p:sp>
      <p:pic>
        <p:nvPicPr>
          <p:cNvPr id="69" name="Picture 68" descr="lock.png"/>
          <p:cNvPicPr>
            <a:picLocks noChangeAspect="1"/>
          </p:cNvPicPr>
          <p:nvPr/>
        </p:nvPicPr>
        <p:blipFill>
          <a:blip r:embed="rId6"/>
          <a:stretch>
            <a:fillRect/>
          </a:stretch>
        </p:blipFill>
        <p:spPr>
          <a:xfrm>
            <a:off x="11077033" y="5964044"/>
            <a:ext cx="113020" cy="164393"/>
          </a:xfrm>
          <a:prstGeom prst="rect">
            <a:avLst/>
          </a:prstGeom>
        </p:spPr>
      </p:pic>
      <p:sp>
        <p:nvSpPr>
          <p:cNvPr id="70" name="TextBox 69"/>
          <p:cNvSpPr txBox="1"/>
          <p:nvPr/>
        </p:nvSpPr>
        <p:spPr>
          <a:xfrm>
            <a:off x="11224125" y="5972632"/>
            <a:ext cx="168930" cy="166268"/>
          </a:xfrm>
          <a:prstGeom prst="rect">
            <a:avLst/>
          </a:prstGeom>
          <a:noFill/>
        </p:spPr>
        <p:txBody>
          <a:bodyPr wrap="none" lIns="0" rIns="0" tIns="0" bIns="0">
            <a:spAutoFit/>
          </a:bodyPr>
          <a:lstStyle/>
          <a:p>
            <a:r>
              <a:rPr sz="966" b="0">
                <a:solidFill>
                  <a:srgbClr val="1F1F1F"/>
                </a:solidFill>
                <a:latin typeface="Calibri"/>
              </a:rPr>
              <a:t>in</a:t>
            </a:r>
          </a:p>
        </p:txBody>
      </p:sp>
      <p:sp>
        <p:nvSpPr>
          <p:cNvPr id="71" name="TextBox 70"/>
          <p:cNvSpPr txBox="1"/>
          <p:nvPr/>
        </p:nvSpPr>
        <p:spPr>
          <a:xfrm>
            <a:off x="8658225" y="6119850"/>
            <a:ext cx="356307" cy="166268"/>
          </a:xfrm>
          <a:prstGeom prst="rect">
            <a:avLst/>
          </a:prstGeom>
          <a:noFill/>
        </p:spPr>
        <p:txBody>
          <a:bodyPr wrap="none" lIns="0" rIns="0" tIns="0" bIns="0">
            <a:spAutoFit/>
          </a:bodyPr>
          <a:lstStyle/>
          <a:p>
            <a:r>
              <a:rPr sz="966" b="0">
                <a:solidFill>
                  <a:srgbClr val="1F1F1F"/>
                </a:solidFill>
                <a:latin typeface="Calibri"/>
              </a:rPr>
              <a:t>2036.</a:t>
            </a:r>
          </a:p>
        </p:txBody>
      </p:sp>
      <p:pic>
        <p:nvPicPr>
          <p:cNvPr id="72" name="Picture 71" descr="lock.png"/>
          <p:cNvPicPr>
            <a:picLocks noChangeAspect="1"/>
          </p:cNvPicPr>
          <p:nvPr/>
        </p:nvPicPr>
        <p:blipFill>
          <a:blip r:embed="rId6"/>
          <a:stretch>
            <a:fillRect/>
          </a:stretch>
        </p:blipFill>
        <p:spPr>
          <a:xfrm>
            <a:off x="3418190" y="3048804"/>
            <a:ext cx="454926" cy="661711"/>
          </a:xfrm>
          <a:prstGeom prst="rect">
            <a:avLst/>
          </a:prstGeom>
        </p:spPr>
      </p:pic>
      <p:pic>
        <p:nvPicPr>
          <p:cNvPr id="73" name="Picture 72" descr="lock.png"/>
          <p:cNvPicPr>
            <a:picLocks noChangeAspect="1"/>
          </p:cNvPicPr>
          <p:nvPr/>
        </p:nvPicPr>
        <p:blipFill>
          <a:blip r:embed="rId6"/>
          <a:stretch>
            <a:fillRect/>
          </a:stretch>
        </p:blipFill>
        <p:spPr>
          <a:xfrm>
            <a:off x="9403270" y="2219134"/>
            <a:ext cx="256698" cy="373379"/>
          </a:xfrm>
          <a:prstGeom prst="rect">
            <a:avLst/>
          </a:prstGeom>
        </p:spPr>
      </p:pic>
      <p:sp>
        <p:nvSpPr>
          <p:cNvPr id="74" name="lockshield_13"/>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lockshield_17"/>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Price Matrix: Company × Allergen Class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(US$/Patient Treatment Courses) for every company and allergen class combination, 2026</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Matrix (US$/Patient Treatment Courses), Shaded by Index vs Global Average</a:t>
            </a:r>
          </a:p>
        </p:txBody>
      </p:sp>
      <p:graphicFrame>
        <p:nvGraphicFramePr>
          <p:cNvPr id="13" name="Table 12"/>
          <p:cNvGraphicFramePr>
            <a:graphicFrameLocks noGrp="1"/>
          </p:cNvGraphicFramePr>
          <p:nvPr/>
        </p:nvGraphicFramePr>
        <p:xfrm>
          <a:off x="365760" y="1868043"/>
          <a:ext cx="7410647" cy="2834640"/>
        </p:xfrm>
        <a:graphic>
          <a:graphicData uri="http://schemas.openxmlformats.org/drawingml/2006/table">
            <a:tbl>
              <a:tblPr firstRow="1" bandRow="1">
                <a:tableStyleId>{5C22544A-7EE6-4342-B048-85BDC9FD1C3A}</a:tableStyleId>
              </a:tblPr>
              <a:tblGrid>
                <a:gridCol w="2032907"/>
                <a:gridCol w="1591412"/>
                <a:gridCol w="1591412"/>
                <a:gridCol w="1591412"/>
                <a:gridCol w="603504"/>
              </a:tblGrid>
              <a:tr h="236220">
                <a:tc>
                  <a:txBody>
                    <a:bodyPr wrap="square"/>
                    <a:lstStyle/>
                    <a:p>
                      <a:pPr algn="l"/>
                      <a:r>
                        <a:rPr sz="800" b="1">
                          <a:solidFill>
                            <a:srgbClr val="FFFFFF"/>
                          </a:solidFill>
                          <a:latin typeface="Calibri"/>
                        </a:rPr>
                        <a:t>Company</a:t>
                      </a:r>
                    </a:p>
                  </a:txBody>
                  <a:tcPr marL="36576" marR="36576" marT="9144" marB="9144" anchor="ctr">
                    <a:solidFill>
                      <a:srgbClr val="0B2E4A"/>
                    </a:solidFill>
                  </a:tcPr>
                </a:tc>
                <a:tc>
                  <a:txBody>
                    <a:bodyPr wrap="square"/>
                    <a:lstStyle/>
                    <a:p>
                      <a:pPr algn="ctr"/>
                      <a:r>
                        <a:rPr sz="800" b="1">
                          <a:solidFill>
                            <a:srgbClr val="FFFFFF"/>
                          </a:solidFill>
                          <a:latin typeface="Calibri"/>
                        </a:rPr>
                        <a:t>Inhalant Allergens</a:t>
                      </a:r>
                    </a:p>
                  </a:txBody>
                  <a:tcPr marL="36576" marR="36576" marT="9144" marB="9144" anchor="ctr">
                    <a:solidFill>
                      <a:srgbClr val="0B2E4A"/>
                    </a:solidFill>
                  </a:tcPr>
                </a:tc>
                <a:tc>
                  <a:txBody>
                    <a:bodyPr wrap="square"/>
                    <a:lstStyle/>
                    <a:p>
                      <a:pPr algn="ctr"/>
                      <a:r>
                        <a:rPr sz="800" b="1">
                          <a:solidFill>
                            <a:srgbClr val="FFFFFF"/>
                          </a:solidFill>
                          <a:latin typeface="Calibri"/>
                        </a:rPr>
                        <a:t>Venom Allergens</a:t>
                      </a:r>
                    </a:p>
                  </a:txBody>
                  <a:tcPr marL="36576" marR="36576" marT="9144" marB="9144" anchor="ctr">
                    <a:solidFill>
                      <a:srgbClr val="0B2E4A"/>
                    </a:solidFill>
                  </a:tcPr>
                </a:tc>
                <a:tc>
                  <a:txBody>
                    <a:bodyPr wrap="square"/>
                    <a:lstStyle/>
                    <a:p>
                      <a:pPr algn="ctr"/>
                      <a:r>
                        <a:rPr sz="800" b="1">
                          <a:solidFill>
                            <a:srgbClr val="FFFFFF"/>
                          </a:solidFill>
                          <a:latin typeface="Calibri"/>
                        </a:rPr>
                        <a:t>Food Allergens</a:t>
                      </a:r>
                    </a:p>
                  </a:txBody>
                  <a:tcPr marL="36576" marR="36576" marT="9144" marB="9144" anchor="ctr">
                    <a:solidFill>
                      <a:srgbClr val="0B2E4A"/>
                    </a:solidFill>
                  </a:tcPr>
                </a:tc>
                <a:tc>
                  <a:txBody>
                    <a:bodyPr wrap="square"/>
                    <a:lstStyle/>
                    <a:p>
                      <a:pPr algn="ctr"/>
                      <a:r>
                        <a:rPr sz="800" b="1">
                          <a:solidFill>
                            <a:srgbClr val="FFFFFF"/>
                          </a:solidFill>
                          <a:latin typeface="Calibri"/>
                        </a:rPr>
                        <a:t>Row Avg.</a:t>
                      </a:r>
                    </a:p>
                  </a:txBody>
                  <a:tcPr marL="36576" marR="36576" marT="9144" marB="9144" anchor="ctr">
                    <a:solidFill>
                      <a:srgbClr val="0B2E4A"/>
                    </a:solidFill>
                  </a:tcPr>
                </a:tc>
              </a:tr>
              <a:tr h="236220">
                <a:tc>
                  <a:txBody>
                    <a:bodyPr wrap="square"/>
                    <a:lstStyle/>
                    <a:p>
                      <a:pPr algn="l"/>
                      <a:r>
                        <a:rPr sz="900" b="1">
                          <a:solidFill>
                            <a:srgbClr val="1F1F1F"/>
                          </a:solidFill>
                          <a:latin typeface="Calibri"/>
                        </a:rPr>
                        <a:t>Stallergenes Greer International AG</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D9E6F2"/>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236220">
                <a:tc>
                  <a:txBody>
                    <a:bodyPr wrap="square"/>
                    <a:lstStyle/>
                    <a:p>
                      <a:pPr algn="l"/>
                      <a:r>
                        <a:rPr sz="900" b="1">
                          <a:solidFill>
                            <a:srgbClr val="1F1F1F"/>
                          </a:solidFill>
                          <a:latin typeface="Calibri"/>
                        </a:rPr>
                        <a:t>Jubilant HollisterStier LLC</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7F7F7"/>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236220">
                <a:tc>
                  <a:txBody>
                    <a:bodyPr wrap="square"/>
                    <a:lstStyle/>
                    <a:p>
                      <a:pPr algn="l"/>
                      <a:r>
                        <a:rPr sz="900" b="1">
                          <a:solidFill>
                            <a:srgbClr val="1F1F1F"/>
                          </a:solidFill>
                          <a:latin typeface="Calibri"/>
                        </a:rPr>
                        <a:t>Allergy Therapeutics plc</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7F7F7"/>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236220">
                <a:tc>
                  <a:txBody>
                    <a:bodyPr wrap="square"/>
                    <a:lstStyle/>
                    <a:p>
                      <a:pPr algn="l"/>
                      <a:r>
                        <a:rPr sz="900" b="1">
                          <a:solidFill>
                            <a:srgbClr val="1F1F1F"/>
                          </a:solidFill>
                          <a:latin typeface="Calibri"/>
                        </a:rPr>
                        <a:t>HAL Allergy Group</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7F7F7"/>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236220">
                <a:tc>
                  <a:txBody>
                    <a:bodyPr wrap="square"/>
                    <a:lstStyle/>
                    <a:p>
                      <a:pPr algn="l"/>
                      <a:r>
                        <a:rPr sz="900" b="1">
                          <a:solidFill>
                            <a:srgbClr val="1F1F1F"/>
                          </a:solidFill>
                          <a:latin typeface="Calibri"/>
                        </a:rPr>
                        <a:t>ALK-Abelló A/S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7F7F7"/>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236220">
                <a:tc>
                  <a:txBody>
                    <a:bodyPr wrap="square"/>
                    <a:lstStyle/>
                    <a:p>
                      <a:pPr algn="l"/>
                      <a:r>
                        <a:rPr sz="900" b="1">
                          <a:solidFill>
                            <a:srgbClr val="1F1F1F"/>
                          </a:solidFill>
                          <a:latin typeface="Calibri"/>
                        </a:rPr>
                        <a:t>Allergopharma GmbH &amp; Co. KG</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7F7F7"/>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236220">
                <a:tc>
                  <a:txBody>
                    <a:bodyPr wrap="square"/>
                    <a:lstStyle/>
                    <a:p>
                      <a:pPr algn="l"/>
                      <a:r>
                        <a:rPr sz="900" b="1">
                          <a:solidFill>
                            <a:srgbClr val="1F1F1F"/>
                          </a:solidFill>
                          <a:latin typeface="Calibri"/>
                        </a:rPr>
                        <a:t>DIATER Laboratories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7F7F7"/>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236220">
                <a:tc>
                  <a:txBody>
                    <a:bodyPr wrap="square"/>
                    <a:lstStyle/>
                    <a:p>
                      <a:pPr algn="l"/>
                      <a:r>
                        <a:rPr sz="900" b="1">
                          <a:solidFill>
                            <a:srgbClr val="1F1F1F"/>
                          </a:solidFill>
                          <a:latin typeface="Calibri"/>
                        </a:rPr>
                        <a:t>LETI Pharma / Laboratorios LETI, S.L.U.</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7F7F7"/>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236220">
                <a:tc>
                  <a:txBody>
                    <a:bodyPr wrap="square"/>
                    <a:lstStyle/>
                    <a:p>
                      <a:pPr algn="l"/>
                      <a:r>
                        <a:rPr sz="900" b="1">
                          <a:solidFill>
                            <a:srgbClr val="1F1F1F"/>
                          </a:solidFill>
                          <a:latin typeface="Calibri"/>
                        </a:rPr>
                        <a:t>Torii Pharmaceutical Co., Ltd.</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7F7F7"/>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236220">
                <a:tc>
                  <a:txBody>
                    <a:bodyPr wrap="square"/>
                    <a:lstStyle/>
                    <a:p>
                      <a:pPr algn="l"/>
                      <a:r>
                        <a:rPr sz="900" b="1">
                          <a:solidFill>
                            <a:srgbClr val="1F1F1F"/>
                          </a:solidFill>
                          <a:latin typeface="Calibri"/>
                        </a:rPr>
                        <a:t>Inmunotek S.L.</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7F7F7"/>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236220">
                <a:tc>
                  <a:txBody>
                    <a:bodyPr wrap="square"/>
                    <a:lstStyle/>
                    <a:p>
                      <a:pPr algn="l"/>
                      <a:r>
                        <a:rPr sz="900" b="1">
                          <a:solidFill>
                            <a:srgbClr val="1F1F1F"/>
                          </a:solidFill>
                          <a:latin typeface="Calibri"/>
                        </a:rPr>
                        <a:t>Column Avg.</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4" name="Rectangle 13"/>
          <p:cNvSpPr/>
          <p:nvPr/>
        </p:nvSpPr>
        <p:spPr>
          <a:xfrm>
            <a:off x="384048" y="4794123"/>
            <a:ext cx="180975" cy="142875"/>
          </a:xfrm>
          <a:prstGeom prst="rect">
            <a:avLst/>
          </a:prstGeom>
          <a:solidFill>
            <a:srgbClr val="9DC0E0"/>
          </a:solidFill>
          <a:ln w="9525">
            <a:solidFill>
              <a:srgbClr val="D9DEE4"/>
            </a:solidFill>
          </a:ln>
          <a:effectLst/>
        </p:spPr>
        <p:txBody>
          <a:bodyPr rtlCol="0" anchor="ctr"/>
          <a:lstStyle/>
          <a:p>
            <a:pPr algn="ctr"/>
          </a:p>
        </p:txBody>
      </p:sp>
      <p:sp>
        <p:nvSpPr>
          <p:cNvPr id="15" name="FMI Scale legend"/>
          <p:cNvSpPr txBox="1"/>
          <p:nvPr/>
        </p:nvSpPr>
        <p:spPr>
          <a:xfrm>
            <a:off x="5935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below 97.5</a:t>
            </a:r>
          </a:p>
        </p:txBody>
      </p:sp>
      <p:sp>
        <p:nvSpPr>
          <p:cNvPr id="16" name="Rectangle 15"/>
          <p:cNvSpPr/>
          <p:nvPr/>
        </p:nvSpPr>
        <p:spPr>
          <a:xfrm>
            <a:off x="1850898" y="4794123"/>
            <a:ext cx="180975" cy="142875"/>
          </a:xfrm>
          <a:prstGeom prst="rect">
            <a:avLst/>
          </a:prstGeom>
          <a:solidFill>
            <a:srgbClr val="D9E6F2"/>
          </a:solidFill>
          <a:ln w="9525">
            <a:solidFill>
              <a:srgbClr val="D9DEE4"/>
            </a:solidFill>
          </a:ln>
          <a:effectLst/>
        </p:spPr>
        <p:txBody>
          <a:bodyPr rtlCol="0" anchor="ctr"/>
          <a:lstStyle/>
          <a:p>
            <a:pPr algn="ctr"/>
          </a:p>
        </p:txBody>
      </p:sp>
      <p:sp>
        <p:nvSpPr>
          <p:cNvPr id="17" name="FMI Scale legend"/>
          <p:cNvSpPr txBox="1"/>
          <p:nvPr/>
        </p:nvSpPr>
        <p:spPr>
          <a:xfrm>
            <a:off x="20604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97.5 to 99</a:t>
            </a:r>
          </a:p>
        </p:txBody>
      </p:sp>
      <p:sp>
        <p:nvSpPr>
          <p:cNvPr id="18" name="Rectangle 17"/>
          <p:cNvSpPr/>
          <p:nvPr/>
        </p:nvSpPr>
        <p:spPr>
          <a:xfrm>
            <a:off x="3317748" y="4794123"/>
            <a:ext cx="180975" cy="142875"/>
          </a:xfrm>
          <a:prstGeom prst="rect">
            <a:avLst/>
          </a:prstGeom>
          <a:solidFill>
            <a:srgbClr val="F7F7F7"/>
          </a:solidFill>
          <a:ln w="9525">
            <a:solidFill>
              <a:srgbClr val="D9DEE4"/>
            </a:solidFill>
          </a:ln>
          <a:effectLst/>
        </p:spPr>
        <p:txBody>
          <a:bodyPr rtlCol="0" anchor="ctr"/>
          <a:lstStyle/>
          <a:p>
            <a:pPr algn="ctr"/>
          </a:p>
        </p:txBody>
      </p:sp>
      <p:sp>
        <p:nvSpPr>
          <p:cNvPr id="19" name="FMI Scale legend"/>
          <p:cNvSpPr txBox="1"/>
          <p:nvPr/>
        </p:nvSpPr>
        <p:spPr>
          <a:xfrm>
            <a:off x="35272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Parity: 99 to 101</a:t>
            </a:r>
          </a:p>
        </p:txBody>
      </p:sp>
      <p:sp>
        <p:nvSpPr>
          <p:cNvPr id="20" name="Rectangle 19"/>
          <p:cNvSpPr/>
          <p:nvPr/>
        </p:nvSpPr>
        <p:spPr>
          <a:xfrm>
            <a:off x="4784598" y="4794123"/>
            <a:ext cx="180975" cy="142875"/>
          </a:xfrm>
          <a:prstGeom prst="rect">
            <a:avLst/>
          </a:prstGeom>
          <a:solidFill>
            <a:srgbClr val="FBE3D3"/>
          </a:solidFill>
          <a:ln w="9525">
            <a:solidFill>
              <a:srgbClr val="D9DEE4"/>
            </a:solidFill>
          </a:ln>
          <a:effectLst/>
        </p:spPr>
        <p:txBody>
          <a:bodyPr rtlCol="0" anchor="ctr"/>
          <a:lstStyle/>
          <a:p>
            <a:pPr algn="ctr"/>
          </a:p>
        </p:txBody>
      </p:sp>
      <p:sp>
        <p:nvSpPr>
          <p:cNvPr id="21" name="FMI Scale legend"/>
          <p:cNvSpPr txBox="1"/>
          <p:nvPr/>
        </p:nvSpPr>
        <p:spPr>
          <a:xfrm>
            <a:off x="49941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101 to 102.5</a:t>
            </a:r>
          </a:p>
        </p:txBody>
      </p:sp>
      <p:sp>
        <p:nvSpPr>
          <p:cNvPr id="22" name="Rectangle 21"/>
          <p:cNvSpPr/>
          <p:nvPr/>
        </p:nvSpPr>
        <p:spPr>
          <a:xfrm>
            <a:off x="6251448" y="4794123"/>
            <a:ext cx="180975" cy="142875"/>
          </a:xfrm>
          <a:prstGeom prst="rect">
            <a:avLst/>
          </a:prstGeom>
          <a:solidFill>
            <a:srgbClr val="F4B183"/>
          </a:solidFill>
          <a:ln w="9525">
            <a:solidFill>
              <a:srgbClr val="D9DEE4"/>
            </a:solidFill>
          </a:ln>
          <a:effectLst/>
        </p:spPr>
        <p:txBody>
          <a:bodyPr rtlCol="0" anchor="ctr"/>
          <a:lstStyle/>
          <a:p>
            <a:pPr algn="ctr"/>
          </a:p>
        </p:txBody>
      </p:sp>
      <p:sp>
        <p:nvSpPr>
          <p:cNvPr id="23" name="FMI Scale legend"/>
          <p:cNvSpPr txBox="1"/>
          <p:nvPr/>
        </p:nvSpPr>
        <p:spPr>
          <a:xfrm>
            <a:off x="64609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above 102.5</a:t>
            </a:r>
          </a:p>
        </p:txBody>
      </p:sp>
      <p:sp>
        <p:nvSpPr>
          <p:cNvPr id="24" name="Rectangle 23"/>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25" name="TextBox 24"/>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Range Across All Allergen Class Sub-Types, 2026</a:t>
            </a:r>
          </a:p>
        </p:txBody>
      </p:sp>
      <p:sp>
        <p:nvSpPr>
          <p:cNvPr id="26" name="TextBox 25"/>
          <p:cNvSpPr txBox="1"/>
          <p:nvPr/>
        </p:nvSpPr>
        <p:spPr>
          <a:xfrm>
            <a:off x="8065008" y="1965579"/>
            <a:ext cx="3749040" cy="219075"/>
          </a:xfrm>
          <a:prstGeom prst="rect">
            <a:avLst/>
          </a:prstGeom>
          <a:noFill/>
        </p:spPr>
        <p:txBody>
          <a:bodyPr wrap="square" anchor="t" lIns="27432" rIns="27432" tIns="27432" bIns="27432">
            <a:spAutoFit/>
          </a:bodyPr>
          <a:lstStyle/>
          <a:p>
            <a:pPr algn="l"/>
            <a:r>
              <a:rPr sz="850" b="0" i="1">
                <a:solidFill>
                  <a:srgbClr val="59636E"/>
                </a:solidFill>
                <a:latin typeface="Calibri"/>
              </a:rPr>
              <a:t>Bar spans lowest to highest price (US$/Patient Treatment Courses) at the finest data level.</a:t>
            </a:r>
          </a:p>
        </p:txBody>
      </p:sp>
      <p:graphicFrame>
        <p:nvGraphicFramePr>
          <p:cNvPr id="27" name="FMI Price Chart"/>
          <p:cNvGraphicFramePr>
            <a:graphicFrameLocks noGrp="1"/>
          </p:cNvGraphicFramePr>
          <p:nvPr/>
        </p:nvGraphicFramePr>
        <p:xfrm>
          <a:off x="8001000" y="2032635"/>
          <a:ext cx="3867912" cy="2971800"/>
        </p:xfrm>
        <a:graphic>
          <a:graphicData uri="http://schemas.openxmlformats.org/drawingml/2006/chart">
            <c:chart xmlns:c="http://schemas.openxmlformats.org/drawingml/2006/chart" r:id="rId3"/>
          </a:graphicData>
        </a:graphic>
      </p:graphicFrame>
      <p:sp>
        <p:nvSpPr>
          <p:cNvPr id="28" name="Rectangle 2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9" name="Oval 2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30" name="TextBox 2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Premium Pockets</a:t>
            </a:r>
          </a:p>
        </p:txBody>
      </p:sp>
      <p:sp>
        <p:nvSpPr>
          <p:cNvPr id="31" name="TextBox 3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2" name="Rectangle 3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33" name="Oval 3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34" name="TextBox 3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Value Pockets</a:t>
            </a:r>
          </a:p>
        </p:txBody>
      </p:sp>
      <p:sp>
        <p:nvSpPr>
          <p:cNvPr id="35" name="TextBox 3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6" name="Rectangle 3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37" name="Oval 3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38" name="TextBox 3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Within-Type Spread</a:t>
            </a:r>
          </a:p>
        </p:txBody>
      </p:sp>
      <p:sp>
        <p:nvSpPr>
          <p:cNvPr id="39" name="TextBox 3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40" name="TextBox 3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4636769" y="3136773"/>
            <a:ext cx="366712" cy="533399"/>
          </a:xfrm>
          <a:prstGeom prst="rect">
            <a:avLst/>
          </a:prstGeom>
        </p:spPr>
      </p:pic>
      <p:sp>
        <p:nvSpPr>
          <p:cNvPr id="43" name="TextBox 42"/>
          <p:cNvSpPr txBox="1"/>
          <p:nvPr/>
        </p:nvSpPr>
        <p:spPr>
          <a:xfrm>
            <a:off x="411480" y="1110615"/>
            <a:ext cx="5971723" cy="217169"/>
          </a:xfrm>
          <a:prstGeom prst="rect">
            <a:avLst/>
          </a:prstGeom>
          <a:noFill/>
        </p:spPr>
        <p:txBody>
          <a:bodyPr wrap="none" lIns="0" rIns="0" tIns="0" bIns="0">
            <a:spAutoFit/>
          </a:bodyPr>
          <a:lstStyle/>
          <a:p>
            <a:r>
              <a:rPr sz="1300" b="1">
                <a:solidFill>
                  <a:srgbClr val="FFFFFF"/>
                </a:solidFill>
                <a:latin typeface="Calibri"/>
              </a:rPr>
              <a:t>HAL Allergy Group for Food Allergens is the highest priced combination in 2026 at US$</a:t>
            </a:r>
          </a:p>
        </p:txBody>
      </p:sp>
      <p:pic>
        <p:nvPicPr>
          <p:cNvPr id="44" name="Picture 43" descr="lock.png"/>
          <p:cNvPicPr>
            <a:picLocks noChangeAspect="1"/>
          </p:cNvPicPr>
          <p:nvPr/>
        </p:nvPicPr>
        <p:blipFill>
          <a:blip r:embed="rId5"/>
          <a:stretch>
            <a:fillRect/>
          </a:stretch>
        </p:blipFill>
        <p:spPr>
          <a:xfrm>
            <a:off x="6335664" y="1099058"/>
            <a:ext cx="152098" cy="221234"/>
          </a:xfrm>
          <a:prstGeom prst="rect">
            <a:avLst/>
          </a:prstGeom>
        </p:spPr>
      </p:pic>
      <p:sp>
        <p:nvSpPr>
          <p:cNvPr id="45" name="TextBox 44"/>
          <p:cNvSpPr txBox="1"/>
          <p:nvPr/>
        </p:nvSpPr>
        <p:spPr>
          <a:xfrm>
            <a:off x="6533613" y="1110615"/>
            <a:ext cx="2145754" cy="217169"/>
          </a:xfrm>
          <a:prstGeom prst="rect">
            <a:avLst/>
          </a:prstGeom>
          <a:noFill/>
        </p:spPr>
        <p:txBody>
          <a:bodyPr wrap="none" lIns="0" rIns="0" tIns="0" bIns="0">
            <a:spAutoFit/>
          </a:bodyPr>
          <a:lstStyle/>
          <a:p>
            <a:r>
              <a:rPr sz="1300" b="1">
                <a:solidFill>
                  <a:srgbClr val="FFFFFF"/>
                </a:solidFill>
                <a:latin typeface="Calibri"/>
              </a:rPr>
              <a:t>/Patient Treatment Courses, +</a:t>
            </a:r>
          </a:p>
        </p:txBody>
      </p:sp>
      <p:pic>
        <p:nvPicPr>
          <p:cNvPr id="46" name="Picture 45" descr="lock.png"/>
          <p:cNvPicPr>
            <a:picLocks noChangeAspect="1"/>
          </p:cNvPicPr>
          <p:nvPr/>
        </p:nvPicPr>
        <p:blipFill>
          <a:blip r:embed="rId5"/>
          <a:stretch>
            <a:fillRect/>
          </a:stretch>
        </p:blipFill>
        <p:spPr>
          <a:xfrm>
            <a:off x="8631828" y="1099058"/>
            <a:ext cx="152098" cy="221234"/>
          </a:xfrm>
          <a:prstGeom prst="rect">
            <a:avLst/>
          </a:prstGeom>
        </p:spPr>
      </p:pic>
      <p:sp>
        <p:nvSpPr>
          <p:cNvPr id="47" name="TextBox 46"/>
          <p:cNvSpPr txBox="1"/>
          <p:nvPr/>
        </p:nvSpPr>
        <p:spPr>
          <a:xfrm>
            <a:off x="8829778" y="1110615"/>
            <a:ext cx="1871984" cy="217169"/>
          </a:xfrm>
          <a:prstGeom prst="rect">
            <a:avLst/>
          </a:prstGeom>
          <a:noFill/>
        </p:spPr>
        <p:txBody>
          <a:bodyPr wrap="none" lIns="0" rIns="0" tIns="0" bIns="0">
            <a:spAutoFit/>
          </a:bodyPr>
          <a:lstStyle/>
          <a:p>
            <a:r>
              <a:rPr sz="1300" b="1">
                <a:solidFill>
                  <a:srgbClr val="FFFFFF"/>
                </a:solidFill>
                <a:latin typeface="Calibri"/>
              </a:rPr>
              <a:t>above the Global average.</a:t>
            </a:r>
          </a:p>
        </p:txBody>
      </p:sp>
      <p:sp>
        <p:nvSpPr>
          <p:cNvPr id="48" name="TextBox 47"/>
          <p:cNvSpPr txBox="1"/>
          <p:nvPr/>
        </p:nvSpPr>
        <p:spPr>
          <a:xfrm>
            <a:off x="806576" y="5530976"/>
            <a:ext cx="3143250" cy="179069"/>
          </a:xfrm>
          <a:prstGeom prst="rect">
            <a:avLst/>
          </a:prstGeom>
          <a:noFill/>
        </p:spPr>
        <p:txBody>
          <a:bodyPr wrap="none" lIns="0" rIns="0" tIns="0" bIns="0">
            <a:spAutoFit/>
          </a:bodyPr>
          <a:lstStyle/>
          <a:p>
            <a:r>
              <a:rPr sz="1050" b="0">
                <a:solidFill>
                  <a:srgbClr val="1F1F1F"/>
                </a:solidFill>
                <a:latin typeface="Calibri"/>
              </a:rPr>
              <a:t>HAL Allergy Group positioned on Food Allergens carry the</a:t>
            </a:r>
          </a:p>
        </p:txBody>
      </p:sp>
      <p:sp>
        <p:nvSpPr>
          <p:cNvPr id="49" name="TextBox 48"/>
          <p:cNvSpPr txBox="1"/>
          <p:nvPr/>
        </p:nvSpPr>
        <p:spPr>
          <a:xfrm>
            <a:off x="806576" y="5690996"/>
            <a:ext cx="1882675" cy="179069"/>
          </a:xfrm>
          <a:prstGeom prst="rect">
            <a:avLst/>
          </a:prstGeom>
          <a:noFill/>
        </p:spPr>
        <p:txBody>
          <a:bodyPr wrap="none" lIns="0" rIns="0" tIns="0" bIns="0">
            <a:spAutoFit/>
          </a:bodyPr>
          <a:lstStyle/>
          <a:p>
            <a:r>
              <a:rPr sz="1050" b="0">
                <a:solidFill>
                  <a:srgbClr val="1F1F1F"/>
                </a:solidFill>
                <a:latin typeface="Calibri"/>
              </a:rPr>
              <a:t>strongest premium at an index of</a:t>
            </a:r>
          </a:p>
        </p:txBody>
      </p:sp>
      <p:pic>
        <p:nvPicPr>
          <p:cNvPr id="50" name="Picture 49" descr="lock.png"/>
          <p:cNvPicPr>
            <a:picLocks noChangeAspect="1"/>
          </p:cNvPicPr>
          <p:nvPr/>
        </p:nvPicPr>
        <p:blipFill>
          <a:blip r:embed="rId5"/>
          <a:stretch>
            <a:fillRect/>
          </a:stretch>
        </p:blipFill>
        <p:spPr>
          <a:xfrm>
            <a:off x="2636202" y="5681662"/>
            <a:ext cx="122849" cy="178689"/>
          </a:xfrm>
          <a:prstGeom prst="rect">
            <a:avLst/>
          </a:prstGeom>
        </p:spPr>
      </p:pic>
      <p:sp>
        <p:nvSpPr>
          <p:cNvPr id="51" name="TextBox 50"/>
          <p:cNvSpPr txBox="1"/>
          <p:nvPr/>
        </p:nvSpPr>
        <p:spPr>
          <a:xfrm>
            <a:off x="2796084" y="5690996"/>
            <a:ext cx="854943" cy="179069"/>
          </a:xfrm>
          <a:prstGeom prst="rect">
            <a:avLst/>
          </a:prstGeom>
          <a:noFill/>
        </p:spPr>
        <p:txBody>
          <a:bodyPr wrap="none" lIns="0" rIns="0" tIns="0" bIns="0">
            <a:spAutoFit/>
          </a:bodyPr>
          <a:lstStyle/>
          <a:p>
            <a:r>
              <a:rPr sz="1050" b="0">
                <a:solidFill>
                  <a:srgbClr val="1F1F1F"/>
                </a:solidFill>
                <a:latin typeface="Calibri"/>
              </a:rPr>
              <a:t>, which signals</a:t>
            </a:r>
          </a:p>
        </p:txBody>
      </p:sp>
      <p:sp>
        <p:nvSpPr>
          <p:cNvPr id="52" name="TextBox 51"/>
          <p:cNvSpPr txBox="1"/>
          <p:nvPr/>
        </p:nvSpPr>
        <p:spPr>
          <a:xfrm>
            <a:off x="806576" y="5851016"/>
            <a:ext cx="2737730" cy="179069"/>
          </a:xfrm>
          <a:prstGeom prst="rect">
            <a:avLst/>
          </a:prstGeom>
          <a:noFill/>
        </p:spPr>
        <p:txBody>
          <a:bodyPr wrap="none" lIns="0" rIns="0" tIns="0" bIns="0">
            <a:spAutoFit/>
          </a:bodyPr>
          <a:lstStyle/>
          <a:p>
            <a:r>
              <a:rPr sz="1050" b="0">
                <a:solidFill>
                  <a:srgbClr val="1F1F1F"/>
                </a:solidFill>
                <a:latin typeface="Calibri"/>
              </a:rPr>
              <a:t>room for value-added claims in this combination.</a:t>
            </a:r>
          </a:p>
        </p:txBody>
      </p:sp>
      <p:sp>
        <p:nvSpPr>
          <p:cNvPr id="53" name="TextBox 52"/>
          <p:cNvSpPr txBox="1"/>
          <p:nvPr/>
        </p:nvSpPr>
        <p:spPr>
          <a:xfrm>
            <a:off x="4732401" y="5530976"/>
            <a:ext cx="2981250" cy="179069"/>
          </a:xfrm>
          <a:prstGeom prst="rect">
            <a:avLst/>
          </a:prstGeom>
          <a:noFill/>
        </p:spPr>
        <p:txBody>
          <a:bodyPr wrap="none" lIns="0" rIns="0" tIns="0" bIns="0">
            <a:spAutoFit/>
          </a:bodyPr>
          <a:lstStyle/>
          <a:p>
            <a:r>
              <a:rPr sz="1050" b="0">
                <a:solidFill>
                  <a:srgbClr val="1F1F1F"/>
                </a:solidFill>
                <a:latin typeface="Calibri"/>
              </a:rPr>
              <a:t>HAL Allergy Group for Inhalant Allergens is the lowest</a:t>
            </a:r>
          </a:p>
        </p:txBody>
      </p:sp>
      <p:sp>
        <p:nvSpPr>
          <p:cNvPr id="54" name="TextBox 53"/>
          <p:cNvSpPr txBox="1"/>
          <p:nvPr/>
        </p:nvSpPr>
        <p:spPr>
          <a:xfrm>
            <a:off x="4732401" y="5690996"/>
            <a:ext cx="1900125" cy="179069"/>
          </a:xfrm>
          <a:prstGeom prst="rect">
            <a:avLst/>
          </a:prstGeom>
          <a:noFill/>
        </p:spPr>
        <p:txBody>
          <a:bodyPr wrap="none" lIns="0" rIns="0" tIns="0" bIns="0">
            <a:spAutoFit/>
          </a:bodyPr>
          <a:lstStyle/>
          <a:p>
            <a:r>
              <a:rPr sz="1050" b="0">
                <a:solidFill>
                  <a:srgbClr val="1F1F1F"/>
                </a:solidFill>
                <a:latin typeface="Calibri"/>
              </a:rPr>
              <a:t>priced combination at an index of</a:t>
            </a:r>
          </a:p>
        </p:txBody>
      </p:sp>
      <p:pic>
        <p:nvPicPr>
          <p:cNvPr id="55" name="Picture 54" descr="lock.png"/>
          <p:cNvPicPr>
            <a:picLocks noChangeAspect="1"/>
          </p:cNvPicPr>
          <p:nvPr/>
        </p:nvPicPr>
        <p:blipFill>
          <a:blip r:embed="rId5"/>
          <a:stretch>
            <a:fillRect/>
          </a:stretch>
        </p:blipFill>
        <p:spPr>
          <a:xfrm>
            <a:off x="6579476" y="5681662"/>
            <a:ext cx="122849" cy="178689"/>
          </a:xfrm>
          <a:prstGeom prst="rect">
            <a:avLst/>
          </a:prstGeom>
        </p:spPr>
      </p:pic>
      <p:sp>
        <p:nvSpPr>
          <p:cNvPr id="56" name="TextBox 55"/>
          <p:cNvSpPr txBox="1"/>
          <p:nvPr/>
        </p:nvSpPr>
        <p:spPr>
          <a:xfrm>
            <a:off x="6739358" y="5690996"/>
            <a:ext cx="475729" cy="179069"/>
          </a:xfrm>
          <a:prstGeom prst="rect">
            <a:avLst/>
          </a:prstGeom>
          <a:noFill/>
        </p:spPr>
        <p:txBody>
          <a:bodyPr wrap="none" lIns="0" rIns="0" tIns="0" bIns="0">
            <a:spAutoFit/>
          </a:bodyPr>
          <a:lstStyle/>
          <a:p>
            <a:r>
              <a:rPr sz="1050" b="0">
                <a:solidFill>
                  <a:srgbClr val="1F1F1F"/>
                </a:solidFill>
                <a:latin typeface="Calibri"/>
              </a:rPr>
              <a:t>, sitting</a:t>
            </a:r>
          </a:p>
        </p:txBody>
      </p:sp>
      <p:pic>
        <p:nvPicPr>
          <p:cNvPr id="57" name="Picture 56" descr="lock.png"/>
          <p:cNvPicPr>
            <a:picLocks noChangeAspect="1"/>
          </p:cNvPicPr>
          <p:nvPr/>
        </p:nvPicPr>
        <p:blipFill>
          <a:blip r:embed="rId5"/>
          <a:stretch>
            <a:fillRect/>
          </a:stretch>
        </p:blipFill>
        <p:spPr>
          <a:xfrm>
            <a:off x="7162036" y="5681662"/>
            <a:ext cx="122849" cy="178689"/>
          </a:xfrm>
          <a:prstGeom prst="rect">
            <a:avLst/>
          </a:prstGeom>
        </p:spPr>
      </p:pic>
      <p:sp>
        <p:nvSpPr>
          <p:cNvPr id="58" name="TextBox 57"/>
          <p:cNvSpPr txBox="1"/>
          <p:nvPr/>
        </p:nvSpPr>
        <p:spPr>
          <a:xfrm>
            <a:off x="7321919" y="5690996"/>
            <a:ext cx="409054" cy="179069"/>
          </a:xfrm>
          <a:prstGeom prst="rect">
            <a:avLst/>
          </a:prstGeom>
          <a:noFill/>
        </p:spPr>
        <p:txBody>
          <a:bodyPr wrap="none" lIns="0" rIns="0" tIns="0" bIns="0">
            <a:spAutoFit/>
          </a:bodyPr>
          <a:lstStyle/>
          <a:p>
            <a:r>
              <a:rPr sz="1050" b="0">
                <a:solidFill>
                  <a:srgbClr val="1F1F1F"/>
                </a:solidFill>
                <a:latin typeface="Calibri"/>
              </a:rPr>
              <a:t>below</a:t>
            </a:r>
          </a:p>
        </p:txBody>
      </p:sp>
      <p:sp>
        <p:nvSpPr>
          <p:cNvPr id="59" name="TextBox 58"/>
          <p:cNvSpPr txBox="1"/>
          <p:nvPr/>
        </p:nvSpPr>
        <p:spPr>
          <a:xfrm>
            <a:off x="4732401" y="5851016"/>
            <a:ext cx="1483667" cy="179069"/>
          </a:xfrm>
          <a:prstGeom prst="rect">
            <a:avLst/>
          </a:prstGeom>
          <a:noFill/>
        </p:spPr>
        <p:txBody>
          <a:bodyPr wrap="none" lIns="0" rIns="0" tIns="0" bIns="0">
            <a:spAutoFit/>
          </a:bodyPr>
          <a:lstStyle/>
          <a:p>
            <a:r>
              <a:rPr sz="1050" b="0">
                <a:solidFill>
                  <a:srgbClr val="1F1F1F"/>
                </a:solidFill>
                <a:latin typeface="Calibri"/>
              </a:rPr>
              <a:t>the Global average of US$</a:t>
            </a:r>
          </a:p>
        </p:txBody>
      </p:sp>
      <p:pic>
        <p:nvPicPr>
          <p:cNvPr id="60" name="Picture 59" descr="lock.png"/>
          <p:cNvPicPr>
            <a:picLocks noChangeAspect="1"/>
          </p:cNvPicPr>
          <p:nvPr/>
        </p:nvPicPr>
        <p:blipFill>
          <a:blip r:embed="rId5"/>
          <a:stretch>
            <a:fillRect/>
          </a:stretch>
        </p:blipFill>
        <p:spPr>
          <a:xfrm>
            <a:off x="6163017" y="5841682"/>
            <a:ext cx="122849" cy="178689"/>
          </a:xfrm>
          <a:prstGeom prst="rect">
            <a:avLst/>
          </a:prstGeom>
        </p:spPr>
      </p:pic>
      <p:sp>
        <p:nvSpPr>
          <p:cNvPr id="61" name="TextBox 60"/>
          <p:cNvSpPr txBox="1"/>
          <p:nvPr/>
        </p:nvSpPr>
        <p:spPr>
          <a:xfrm>
            <a:off x="6322900" y="5851016"/>
            <a:ext cx="1122164" cy="179069"/>
          </a:xfrm>
          <a:prstGeom prst="rect">
            <a:avLst/>
          </a:prstGeom>
          <a:noFill/>
        </p:spPr>
        <p:txBody>
          <a:bodyPr wrap="none" lIns="0" rIns="0" tIns="0" bIns="0">
            <a:spAutoFit/>
          </a:bodyPr>
          <a:lstStyle/>
          <a:p>
            <a:r>
              <a:rPr sz="1050" b="0">
                <a:solidFill>
                  <a:srgbClr val="1F1F1F"/>
                </a:solidFill>
                <a:latin typeface="Calibri"/>
              </a:rPr>
              <a:t>/Patient Treatment</a:t>
            </a:r>
          </a:p>
        </p:txBody>
      </p:sp>
      <p:sp>
        <p:nvSpPr>
          <p:cNvPr id="62" name="TextBox 61"/>
          <p:cNvSpPr txBox="1"/>
          <p:nvPr/>
        </p:nvSpPr>
        <p:spPr>
          <a:xfrm>
            <a:off x="4732401" y="6011036"/>
            <a:ext cx="538497" cy="179069"/>
          </a:xfrm>
          <a:prstGeom prst="rect">
            <a:avLst/>
          </a:prstGeom>
          <a:noFill/>
        </p:spPr>
        <p:txBody>
          <a:bodyPr wrap="none" lIns="0" rIns="0" tIns="0" bIns="0">
            <a:spAutoFit/>
          </a:bodyPr>
          <a:lstStyle/>
          <a:p>
            <a:r>
              <a:rPr sz="1050" b="0">
                <a:solidFill>
                  <a:srgbClr val="1F1F1F"/>
                </a:solidFill>
                <a:latin typeface="Calibri"/>
              </a:rPr>
              <a:t>Courses.</a:t>
            </a:r>
          </a:p>
        </p:txBody>
      </p:sp>
      <p:sp>
        <p:nvSpPr>
          <p:cNvPr id="63" name="TextBox 62"/>
          <p:cNvSpPr txBox="1"/>
          <p:nvPr/>
        </p:nvSpPr>
        <p:spPr>
          <a:xfrm>
            <a:off x="8658225" y="5530976"/>
            <a:ext cx="3035126" cy="179069"/>
          </a:xfrm>
          <a:prstGeom prst="rect">
            <a:avLst/>
          </a:prstGeom>
          <a:noFill/>
        </p:spPr>
        <p:txBody>
          <a:bodyPr wrap="none" lIns="0" rIns="0" tIns="0" bIns="0">
            <a:spAutoFit/>
          </a:bodyPr>
          <a:lstStyle/>
          <a:p>
            <a:r>
              <a:rPr sz="1050" b="0">
                <a:solidFill>
                  <a:srgbClr val="1F1F1F"/>
                </a:solidFill>
                <a:latin typeface="Calibri"/>
              </a:rPr>
              <a:t>Torii Pharmaceutical Co., Ltd. show the widest internal</a:t>
            </a:r>
          </a:p>
        </p:txBody>
      </p:sp>
      <p:sp>
        <p:nvSpPr>
          <p:cNvPr id="64" name="TextBox 63"/>
          <p:cNvSpPr txBox="1"/>
          <p:nvPr/>
        </p:nvSpPr>
        <p:spPr>
          <a:xfrm>
            <a:off x="8658225" y="5690996"/>
            <a:ext cx="884634" cy="179069"/>
          </a:xfrm>
          <a:prstGeom prst="rect">
            <a:avLst/>
          </a:prstGeom>
          <a:noFill/>
        </p:spPr>
        <p:txBody>
          <a:bodyPr wrap="none" lIns="0" rIns="0" tIns="0" bIns="0">
            <a:spAutoFit/>
          </a:bodyPr>
          <a:lstStyle/>
          <a:p>
            <a:r>
              <a:rPr sz="1050" b="0">
                <a:solidFill>
                  <a:srgbClr val="1F1F1F"/>
                </a:solidFill>
                <a:latin typeface="Calibri"/>
              </a:rPr>
              <a:t>price spread at</a:t>
            </a:r>
          </a:p>
        </p:txBody>
      </p:sp>
      <p:pic>
        <p:nvPicPr>
          <p:cNvPr id="65" name="Picture 64" descr="lock.png"/>
          <p:cNvPicPr>
            <a:picLocks noChangeAspect="1"/>
          </p:cNvPicPr>
          <p:nvPr/>
        </p:nvPicPr>
        <p:blipFill>
          <a:blip r:embed="rId5"/>
          <a:stretch>
            <a:fillRect/>
          </a:stretch>
        </p:blipFill>
        <p:spPr>
          <a:xfrm>
            <a:off x="9489808" y="5681662"/>
            <a:ext cx="122849" cy="178689"/>
          </a:xfrm>
          <a:prstGeom prst="rect">
            <a:avLst/>
          </a:prstGeom>
        </p:spPr>
      </p:pic>
      <p:sp>
        <p:nvSpPr>
          <p:cNvPr id="66" name="TextBox 65"/>
          <p:cNvSpPr txBox="1"/>
          <p:nvPr/>
        </p:nvSpPr>
        <p:spPr>
          <a:xfrm>
            <a:off x="9649690" y="5690996"/>
            <a:ext cx="1085701" cy="179069"/>
          </a:xfrm>
          <a:prstGeom prst="rect">
            <a:avLst/>
          </a:prstGeom>
          <a:noFill/>
        </p:spPr>
        <p:txBody>
          <a:bodyPr wrap="none" lIns="0" rIns="0" tIns="0" bIns="0">
            <a:spAutoFit/>
          </a:bodyPr>
          <a:lstStyle/>
          <a:p>
            <a:r>
              <a:rPr sz="1050" b="0">
                <a:solidFill>
                  <a:srgbClr val="1F1F1F"/>
                </a:solidFill>
                <a:latin typeface="Calibri"/>
              </a:rPr>
              <a:t>, ranging from US$</a:t>
            </a:r>
          </a:p>
        </p:txBody>
      </p:sp>
      <p:pic>
        <p:nvPicPr>
          <p:cNvPr id="67" name="Picture 66" descr="lock.png"/>
          <p:cNvPicPr>
            <a:picLocks noChangeAspect="1"/>
          </p:cNvPicPr>
          <p:nvPr/>
        </p:nvPicPr>
        <p:blipFill>
          <a:blip r:embed="rId5"/>
          <a:stretch>
            <a:fillRect/>
          </a:stretch>
        </p:blipFill>
        <p:spPr>
          <a:xfrm>
            <a:off x="10682341" y="5681662"/>
            <a:ext cx="122849" cy="178689"/>
          </a:xfrm>
          <a:prstGeom prst="rect">
            <a:avLst/>
          </a:prstGeom>
        </p:spPr>
      </p:pic>
      <p:sp>
        <p:nvSpPr>
          <p:cNvPr id="68" name="TextBox 67"/>
          <p:cNvSpPr txBox="1"/>
          <p:nvPr/>
        </p:nvSpPr>
        <p:spPr>
          <a:xfrm>
            <a:off x="10842223" y="5690996"/>
            <a:ext cx="517400" cy="179069"/>
          </a:xfrm>
          <a:prstGeom prst="rect">
            <a:avLst/>
          </a:prstGeom>
          <a:noFill/>
        </p:spPr>
        <p:txBody>
          <a:bodyPr wrap="none" lIns="0" rIns="0" tIns="0" bIns="0">
            <a:spAutoFit/>
          </a:bodyPr>
          <a:lstStyle/>
          <a:p>
            <a:r>
              <a:rPr sz="1050" b="0">
                <a:solidFill>
                  <a:srgbClr val="1F1F1F"/>
                </a:solidFill>
                <a:latin typeface="Calibri"/>
              </a:rPr>
              <a:t>/Patient</a:t>
            </a:r>
          </a:p>
        </p:txBody>
      </p:sp>
      <p:sp>
        <p:nvSpPr>
          <p:cNvPr id="69" name="TextBox 68"/>
          <p:cNvSpPr txBox="1"/>
          <p:nvPr/>
        </p:nvSpPr>
        <p:spPr>
          <a:xfrm>
            <a:off x="8658225" y="5851016"/>
            <a:ext cx="1499815" cy="179069"/>
          </a:xfrm>
          <a:prstGeom prst="rect">
            <a:avLst/>
          </a:prstGeom>
          <a:noFill/>
        </p:spPr>
        <p:txBody>
          <a:bodyPr wrap="none" lIns="0" rIns="0" tIns="0" bIns="0">
            <a:spAutoFit/>
          </a:bodyPr>
          <a:lstStyle/>
          <a:p>
            <a:r>
              <a:rPr sz="1050" b="0">
                <a:solidFill>
                  <a:srgbClr val="1F1F1F"/>
                </a:solidFill>
                <a:latin typeface="Calibri"/>
              </a:rPr>
              <a:t>Treatment Courses to US$</a:t>
            </a:r>
          </a:p>
        </p:txBody>
      </p:sp>
      <p:pic>
        <p:nvPicPr>
          <p:cNvPr id="70" name="Picture 69" descr="lock.png"/>
          <p:cNvPicPr>
            <a:picLocks noChangeAspect="1"/>
          </p:cNvPicPr>
          <p:nvPr/>
        </p:nvPicPr>
        <p:blipFill>
          <a:blip r:embed="rId5"/>
          <a:stretch>
            <a:fillRect/>
          </a:stretch>
        </p:blipFill>
        <p:spPr>
          <a:xfrm>
            <a:off x="10104989" y="5841682"/>
            <a:ext cx="122849" cy="178689"/>
          </a:xfrm>
          <a:prstGeom prst="rect">
            <a:avLst/>
          </a:prstGeom>
        </p:spPr>
      </p:pic>
      <p:sp>
        <p:nvSpPr>
          <p:cNvPr id="71" name="TextBox 70"/>
          <p:cNvSpPr txBox="1"/>
          <p:nvPr/>
        </p:nvSpPr>
        <p:spPr>
          <a:xfrm>
            <a:off x="10264872" y="5851016"/>
            <a:ext cx="1122164" cy="179069"/>
          </a:xfrm>
          <a:prstGeom prst="rect">
            <a:avLst/>
          </a:prstGeom>
          <a:noFill/>
        </p:spPr>
        <p:txBody>
          <a:bodyPr wrap="none" lIns="0" rIns="0" tIns="0" bIns="0">
            <a:spAutoFit/>
          </a:bodyPr>
          <a:lstStyle/>
          <a:p>
            <a:r>
              <a:rPr sz="1050" b="0">
                <a:solidFill>
                  <a:srgbClr val="1F1F1F"/>
                </a:solidFill>
                <a:latin typeface="Calibri"/>
              </a:rPr>
              <a:t>/Patient Treatment</a:t>
            </a:r>
          </a:p>
        </p:txBody>
      </p:sp>
      <p:sp>
        <p:nvSpPr>
          <p:cNvPr id="72" name="TextBox 71"/>
          <p:cNvSpPr txBox="1"/>
          <p:nvPr/>
        </p:nvSpPr>
        <p:spPr>
          <a:xfrm>
            <a:off x="8658225" y="6011036"/>
            <a:ext cx="1467259" cy="179069"/>
          </a:xfrm>
          <a:prstGeom prst="rect">
            <a:avLst/>
          </a:prstGeom>
          <a:noFill/>
        </p:spPr>
        <p:txBody>
          <a:bodyPr wrap="none" lIns="0" rIns="0" tIns="0" bIns="0">
            <a:spAutoFit/>
          </a:bodyPr>
          <a:lstStyle/>
          <a:p>
            <a:r>
              <a:rPr sz="1050" b="0">
                <a:solidFill>
                  <a:srgbClr val="1F1F1F"/>
                </a:solidFill>
                <a:latin typeface="Calibri"/>
              </a:rPr>
              <a:t>Courses across sub-types.</a:t>
            </a:r>
          </a:p>
        </p:txBody>
      </p:sp>
      <p:sp>
        <p:nvSpPr>
          <p:cNvPr id="73" name="TextBox 72"/>
          <p:cNvSpPr txBox="1"/>
          <p:nvPr/>
        </p:nvSpPr>
        <p:spPr>
          <a:xfrm>
            <a:off x="301752" y="6391275"/>
            <a:ext cx="6760868" cy="143408"/>
          </a:xfrm>
          <a:prstGeom prst="rect">
            <a:avLst/>
          </a:prstGeom>
          <a:noFill/>
        </p:spPr>
        <p:txBody>
          <a:bodyPr wrap="none" lIns="0" rIns="0" tIns="0" bIns="0">
            <a:spAutoFit/>
          </a:bodyPr>
          <a:lstStyle/>
          <a:p>
            <a:r>
              <a:rPr sz="816" b="0">
                <a:solidFill>
                  <a:srgbClr val="59636E"/>
                </a:solidFill>
                <a:latin typeface="Calibri"/>
              </a:rPr>
              <a:t>Source: FMI analysis. Cell price = combined value (US$) / combined volume (Patient Treatment Courses); shading shows the index vs the Global average of US$</a:t>
            </a:r>
          </a:p>
        </p:txBody>
      </p:sp>
      <p:pic>
        <p:nvPicPr>
          <p:cNvPr id="74" name="Picture 73" descr="lock.png"/>
          <p:cNvPicPr>
            <a:picLocks noChangeAspect="1"/>
          </p:cNvPicPr>
          <p:nvPr/>
        </p:nvPicPr>
        <p:blipFill>
          <a:blip r:embed="rId5"/>
          <a:stretch>
            <a:fillRect/>
          </a:stretch>
        </p:blipFill>
        <p:spPr>
          <a:xfrm>
            <a:off x="7004411" y="6384020"/>
            <a:ext cx="95470" cy="138866"/>
          </a:xfrm>
          <a:prstGeom prst="rect">
            <a:avLst/>
          </a:prstGeom>
        </p:spPr>
      </p:pic>
      <p:sp>
        <p:nvSpPr>
          <p:cNvPr id="75" name="TextBox 74"/>
          <p:cNvSpPr txBox="1"/>
          <p:nvPr/>
        </p:nvSpPr>
        <p:spPr>
          <a:xfrm>
            <a:off x="7128662" y="6391275"/>
            <a:ext cx="1271813" cy="143408"/>
          </a:xfrm>
          <a:prstGeom prst="rect">
            <a:avLst/>
          </a:prstGeom>
          <a:noFill/>
        </p:spPr>
        <p:txBody>
          <a:bodyPr wrap="none" lIns="0" rIns="0" tIns="0" bIns="0">
            <a:spAutoFit/>
          </a:bodyPr>
          <a:lstStyle/>
          <a:p>
            <a:r>
              <a:rPr sz="816" b="0">
                <a:solidFill>
                  <a:srgbClr val="59636E"/>
                </a:solidFill>
                <a:latin typeface="Calibri"/>
              </a:rPr>
              <a:t>/Patient Treatment Courses.</a:t>
            </a:r>
          </a:p>
        </p:txBody>
      </p:sp>
      <p:pic>
        <p:nvPicPr>
          <p:cNvPr id="76" name="Picture 75" descr="lock.png"/>
          <p:cNvPicPr>
            <a:picLocks noChangeAspect="1"/>
          </p:cNvPicPr>
          <p:nvPr/>
        </p:nvPicPr>
        <p:blipFill>
          <a:blip r:embed="rId5"/>
          <a:stretch>
            <a:fillRect/>
          </a:stretch>
        </p:blipFill>
        <p:spPr>
          <a:xfrm>
            <a:off x="9913437" y="3234020"/>
            <a:ext cx="332271" cy="483303"/>
          </a:xfrm>
          <a:prstGeom prst="rect">
            <a:avLst/>
          </a:prstGeom>
        </p:spPr>
      </p:pic>
      <p:sp>
        <p:nvSpPr>
          <p:cNvPr id="77" name="lockshield_27"/>
          <p:cNvSpPr/>
          <p:nvPr/>
        </p:nvSpPr>
        <p:spPr>
          <a:xfrm>
            <a:off x="8001000" y="2032635"/>
            <a:ext cx="3867912" cy="2971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Pricing Assessment: Region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therapy formats, 2026 (US$/Patient Treatment Courses)</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Therapy Formats by Region (US$/Patient Treatment Courses), Ranked by Average</a:t>
            </a:r>
          </a:p>
        </p:txBody>
      </p:sp>
      <p:graphicFrame>
        <p:nvGraphicFramePr>
          <p:cNvPr id="13"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4" name="TextBox 13"/>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5" name="Rectangle 14"/>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7" name="Table 16"/>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Latin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8" name="Rectangle 1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9" name="Oval 1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0" name="TextBox 1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21" name="TextBox 2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2" name="Rectangle 2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3" name="Oval 2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4" name="TextBox 2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5" name="TextBox 2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6" name="Rectangle 2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7" name="Oval 2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8" name="TextBox 2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9" name="TextBox 2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0" name="TextBox 2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Range = lowest to highest therapy format price in each region; ranked by average price. Other geographies grouped as 'Other' are excluded from the ranking.</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10462494" y="3375398"/>
            <a:ext cx="355774" cy="517489"/>
          </a:xfrm>
          <a:prstGeom prst="rect">
            <a:avLst/>
          </a:prstGeom>
        </p:spPr>
      </p:pic>
      <p:sp>
        <p:nvSpPr>
          <p:cNvPr id="33" name="TextBox 32"/>
          <p:cNvSpPr txBox="1"/>
          <p:nvPr/>
        </p:nvSpPr>
        <p:spPr>
          <a:xfrm>
            <a:off x="411480" y="1118539"/>
            <a:ext cx="3672658" cy="201320"/>
          </a:xfrm>
          <a:prstGeom prst="rect">
            <a:avLst/>
          </a:prstGeom>
          <a:noFill/>
        </p:spPr>
        <p:txBody>
          <a:bodyPr wrap="none" lIns="0" rIns="0" tIns="0" bIns="0">
            <a:spAutoFit/>
          </a:bodyPr>
          <a:lstStyle/>
          <a:p>
            <a:r>
              <a:rPr sz="1196" b="1">
                <a:solidFill>
                  <a:srgbClr val="FFFFFF"/>
                </a:solidFill>
                <a:latin typeface="Calibri"/>
              </a:rPr>
              <a:t>North America is the most premium Global region at US$</a:t>
            </a:r>
          </a:p>
        </p:txBody>
      </p:sp>
      <p:pic>
        <p:nvPicPr>
          <p:cNvPr id="34" name="Picture 33" descr="lock.png"/>
          <p:cNvPicPr>
            <a:picLocks noChangeAspect="1"/>
          </p:cNvPicPr>
          <p:nvPr/>
        </p:nvPicPr>
        <p:blipFill>
          <a:blip r:embed="rId5"/>
          <a:stretch>
            <a:fillRect/>
          </a:stretch>
        </p:blipFill>
        <p:spPr>
          <a:xfrm>
            <a:off x="4034306" y="1107907"/>
            <a:ext cx="139930" cy="203535"/>
          </a:xfrm>
          <a:prstGeom prst="rect">
            <a:avLst/>
          </a:prstGeom>
        </p:spPr>
      </p:pic>
      <p:sp>
        <p:nvSpPr>
          <p:cNvPr id="35" name="TextBox 34"/>
          <p:cNvSpPr txBox="1"/>
          <p:nvPr/>
        </p:nvSpPr>
        <p:spPr>
          <a:xfrm>
            <a:off x="4216420" y="1118539"/>
            <a:ext cx="2476508" cy="201320"/>
          </a:xfrm>
          <a:prstGeom prst="rect">
            <a:avLst/>
          </a:prstGeom>
          <a:noFill/>
        </p:spPr>
        <p:txBody>
          <a:bodyPr wrap="none" lIns="0" rIns="0" tIns="0" bIns="0">
            <a:spAutoFit/>
          </a:bodyPr>
          <a:lstStyle/>
          <a:p>
            <a:r>
              <a:rPr sz="1196" b="1">
                <a:solidFill>
                  <a:srgbClr val="FFFFFF"/>
                </a:solidFill>
                <a:latin typeface="Calibri"/>
              </a:rPr>
              <a:t>/Patient Treatment Courses in 2026, +</a:t>
            </a:r>
          </a:p>
        </p:txBody>
      </p:sp>
      <p:pic>
        <p:nvPicPr>
          <p:cNvPr id="36" name="Picture 35" descr="lock.png"/>
          <p:cNvPicPr>
            <a:picLocks noChangeAspect="1"/>
          </p:cNvPicPr>
          <p:nvPr/>
        </p:nvPicPr>
        <p:blipFill>
          <a:blip r:embed="rId5"/>
          <a:stretch>
            <a:fillRect/>
          </a:stretch>
        </p:blipFill>
        <p:spPr>
          <a:xfrm>
            <a:off x="6643097" y="1107907"/>
            <a:ext cx="139930" cy="203535"/>
          </a:xfrm>
          <a:prstGeom prst="rect">
            <a:avLst/>
          </a:prstGeom>
        </p:spPr>
      </p:pic>
      <p:sp>
        <p:nvSpPr>
          <p:cNvPr id="37" name="TextBox 36"/>
          <p:cNvSpPr txBox="1"/>
          <p:nvPr/>
        </p:nvSpPr>
        <p:spPr>
          <a:xfrm>
            <a:off x="6825210" y="1118539"/>
            <a:ext cx="4671526" cy="201320"/>
          </a:xfrm>
          <a:prstGeom prst="rect">
            <a:avLst/>
          </a:prstGeom>
          <a:noFill/>
        </p:spPr>
        <p:txBody>
          <a:bodyPr wrap="none" lIns="0" rIns="0" tIns="0" bIns="0">
            <a:spAutoFit/>
          </a:bodyPr>
          <a:lstStyle/>
          <a:p>
            <a:r>
              <a:rPr sz="1196" b="1">
                <a:solidFill>
                  <a:srgbClr val="FFFFFF"/>
                </a:solidFill>
                <a:latin typeface="Calibri"/>
              </a:rPr>
              <a:t>above the global average, while South Asia &amp; Pacific is the lowest priced.</a:t>
            </a:r>
          </a:p>
        </p:txBody>
      </p:sp>
      <p:sp>
        <p:nvSpPr>
          <p:cNvPr id="38" name="TextBox 37"/>
          <p:cNvSpPr txBox="1"/>
          <p:nvPr/>
        </p:nvSpPr>
        <p:spPr>
          <a:xfrm>
            <a:off x="411480" y="1831467"/>
            <a:ext cx="4876264" cy="143408"/>
          </a:xfrm>
          <a:prstGeom prst="rect">
            <a:avLst/>
          </a:prstGeom>
          <a:noFill/>
        </p:spPr>
        <p:txBody>
          <a:bodyPr wrap="none" lIns="0" rIns="0" tIns="0" bIns="0">
            <a:spAutoFit/>
          </a:bodyPr>
          <a:lstStyle/>
          <a:p>
            <a:r>
              <a:rPr sz="816" b="0">
                <a:solidFill>
                  <a:srgbClr val="59636E"/>
                </a:solidFill>
                <a:latin typeface="Calibri"/>
              </a:rPr>
              <a:t>Bar spans the lowest to highest therapy format price in each region, read on the price index axis (Global average =</a:t>
            </a:r>
          </a:p>
        </p:txBody>
      </p:sp>
      <p:pic>
        <p:nvPicPr>
          <p:cNvPr id="39" name="Picture 38" descr="lock.png"/>
          <p:cNvPicPr>
            <a:picLocks noChangeAspect="1"/>
          </p:cNvPicPr>
          <p:nvPr/>
        </p:nvPicPr>
        <p:blipFill>
          <a:blip r:embed="rId5"/>
          <a:stretch>
            <a:fillRect/>
          </a:stretch>
        </p:blipFill>
        <p:spPr>
          <a:xfrm>
            <a:off x="5229534" y="1824212"/>
            <a:ext cx="95470" cy="138866"/>
          </a:xfrm>
          <a:prstGeom prst="rect">
            <a:avLst/>
          </a:prstGeom>
        </p:spPr>
      </p:pic>
      <p:sp>
        <p:nvSpPr>
          <p:cNvPr id="40" name="TextBox 39"/>
          <p:cNvSpPr txBox="1"/>
          <p:nvPr/>
        </p:nvSpPr>
        <p:spPr>
          <a:xfrm>
            <a:off x="5353785" y="1831467"/>
            <a:ext cx="1958578" cy="143408"/>
          </a:xfrm>
          <a:prstGeom prst="rect">
            <a:avLst/>
          </a:prstGeom>
          <a:noFill/>
        </p:spPr>
        <p:txBody>
          <a:bodyPr wrap="none" lIns="0" rIns="0" tIns="0" bIns="0">
            <a:spAutoFit/>
          </a:bodyPr>
          <a:lstStyle/>
          <a:p>
            <a:r>
              <a:rPr sz="816" b="0">
                <a:solidFill>
                  <a:srgbClr val="59636E"/>
                </a:solidFill>
                <a:latin typeface="Calibri"/>
              </a:rPr>
              <a:t>). Teal = above Global average, blue = below.</a:t>
            </a:r>
          </a:p>
        </p:txBody>
      </p:sp>
      <p:sp>
        <p:nvSpPr>
          <p:cNvPr id="41" name="TextBox 40"/>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2" name="Picture 41" descr="lock.png"/>
          <p:cNvPicPr>
            <a:picLocks noChangeAspect="1"/>
          </p:cNvPicPr>
          <p:nvPr/>
        </p:nvPicPr>
        <p:blipFill>
          <a:blip r:embed="rId5"/>
          <a:stretch>
            <a:fillRect/>
          </a:stretch>
        </p:blipFill>
        <p:spPr>
          <a:xfrm>
            <a:off x="3531850" y="5521642"/>
            <a:ext cx="122849" cy="178689"/>
          </a:xfrm>
          <a:prstGeom prst="rect">
            <a:avLst/>
          </a:prstGeom>
        </p:spPr>
      </p:pic>
      <p:sp>
        <p:nvSpPr>
          <p:cNvPr id="43" name="TextBox 42"/>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4" name="TextBox 43"/>
          <p:cNvSpPr txBox="1"/>
          <p:nvPr/>
        </p:nvSpPr>
        <p:spPr>
          <a:xfrm>
            <a:off x="806576" y="5690996"/>
            <a:ext cx="919534" cy="179069"/>
          </a:xfrm>
          <a:prstGeom prst="rect">
            <a:avLst/>
          </a:prstGeom>
          <a:noFill/>
        </p:spPr>
        <p:txBody>
          <a:bodyPr wrap="none" lIns="0" rIns="0" tIns="0" bIns="0">
            <a:spAutoFit/>
          </a:bodyPr>
          <a:lstStyle/>
          <a:p>
            <a:r>
              <a:rPr sz="1050" b="0">
                <a:solidFill>
                  <a:srgbClr val="1F1F1F"/>
                </a:solidFill>
                <a:latin typeface="Calibri"/>
              </a:rPr>
              <a:t>2026, from US$</a:t>
            </a:r>
          </a:p>
        </p:txBody>
      </p:sp>
      <p:pic>
        <p:nvPicPr>
          <p:cNvPr id="45" name="Picture 44" descr="lock.png"/>
          <p:cNvPicPr>
            <a:picLocks noChangeAspect="1"/>
          </p:cNvPicPr>
          <p:nvPr/>
        </p:nvPicPr>
        <p:blipFill>
          <a:blip r:embed="rId5"/>
          <a:stretch>
            <a:fillRect/>
          </a:stretch>
        </p:blipFill>
        <p:spPr>
          <a:xfrm>
            <a:off x="1673060" y="5681662"/>
            <a:ext cx="122849" cy="178689"/>
          </a:xfrm>
          <a:prstGeom prst="rect">
            <a:avLst/>
          </a:prstGeom>
        </p:spPr>
      </p:pic>
      <p:sp>
        <p:nvSpPr>
          <p:cNvPr id="46" name="TextBox 45"/>
          <p:cNvSpPr txBox="1"/>
          <p:nvPr/>
        </p:nvSpPr>
        <p:spPr>
          <a:xfrm>
            <a:off x="1832943" y="5690996"/>
            <a:ext cx="2058739" cy="179069"/>
          </a:xfrm>
          <a:prstGeom prst="rect">
            <a:avLst/>
          </a:prstGeom>
          <a:noFill/>
        </p:spPr>
        <p:txBody>
          <a:bodyPr wrap="none" lIns="0" rIns="0" tIns="0" bIns="0">
            <a:spAutoFit/>
          </a:bodyPr>
          <a:lstStyle/>
          <a:p>
            <a:r>
              <a:rPr sz="1050" b="0">
                <a:solidFill>
                  <a:srgbClr val="1F1F1F"/>
                </a:solidFill>
                <a:latin typeface="Calibri"/>
              </a:rPr>
              <a:t>/Patient Treatment Courses in South</a:t>
            </a:r>
          </a:p>
        </p:txBody>
      </p:sp>
      <p:sp>
        <p:nvSpPr>
          <p:cNvPr id="47" name="TextBox 46"/>
          <p:cNvSpPr txBox="1"/>
          <p:nvPr/>
        </p:nvSpPr>
        <p:spPr>
          <a:xfrm>
            <a:off x="806576" y="5851016"/>
            <a:ext cx="1189359" cy="179069"/>
          </a:xfrm>
          <a:prstGeom prst="rect">
            <a:avLst/>
          </a:prstGeom>
          <a:noFill/>
        </p:spPr>
        <p:txBody>
          <a:bodyPr wrap="none" lIns="0" rIns="0" tIns="0" bIns="0">
            <a:spAutoFit/>
          </a:bodyPr>
          <a:lstStyle/>
          <a:p>
            <a:r>
              <a:rPr sz="1050" b="0">
                <a:solidFill>
                  <a:srgbClr val="1F1F1F"/>
                </a:solidFill>
                <a:latin typeface="Calibri"/>
              </a:rPr>
              <a:t>Asia &amp; Pacific to US$</a:t>
            </a:r>
          </a:p>
        </p:txBody>
      </p:sp>
      <p:pic>
        <p:nvPicPr>
          <p:cNvPr id="48" name="Picture 47" descr="lock.png"/>
          <p:cNvPicPr>
            <a:picLocks noChangeAspect="1"/>
          </p:cNvPicPr>
          <p:nvPr/>
        </p:nvPicPr>
        <p:blipFill>
          <a:blip r:embed="rId5"/>
          <a:stretch>
            <a:fillRect/>
          </a:stretch>
        </p:blipFill>
        <p:spPr>
          <a:xfrm>
            <a:off x="1942886" y="5841682"/>
            <a:ext cx="122849" cy="178689"/>
          </a:xfrm>
          <a:prstGeom prst="rect">
            <a:avLst/>
          </a:prstGeom>
        </p:spPr>
      </p:pic>
      <p:sp>
        <p:nvSpPr>
          <p:cNvPr id="49" name="TextBox 48"/>
          <p:cNvSpPr txBox="1"/>
          <p:nvPr/>
        </p:nvSpPr>
        <p:spPr>
          <a:xfrm>
            <a:off x="2102768" y="5851016"/>
            <a:ext cx="1712081" cy="179069"/>
          </a:xfrm>
          <a:prstGeom prst="rect">
            <a:avLst/>
          </a:prstGeom>
          <a:noFill/>
        </p:spPr>
        <p:txBody>
          <a:bodyPr wrap="none" lIns="0" rIns="0" tIns="0" bIns="0">
            <a:spAutoFit/>
          </a:bodyPr>
          <a:lstStyle/>
          <a:p>
            <a:r>
              <a:rPr sz="1050" b="0">
                <a:solidFill>
                  <a:srgbClr val="1F1F1F"/>
                </a:solidFill>
                <a:latin typeface="Calibri"/>
              </a:rPr>
              <a:t>/Patient Treatment Courses in</a:t>
            </a:r>
          </a:p>
        </p:txBody>
      </p:sp>
      <p:sp>
        <p:nvSpPr>
          <p:cNvPr id="50" name="TextBox 49"/>
          <p:cNvSpPr txBox="1"/>
          <p:nvPr/>
        </p:nvSpPr>
        <p:spPr>
          <a:xfrm>
            <a:off x="806576" y="6011036"/>
            <a:ext cx="905730" cy="179069"/>
          </a:xfrm>
          <a:prstGeom prst="rect">
            <a:avLst/>
          </a:prstGeom>
          <a:noFill/>
        </p:spPr>
        <p:txBody>
          <a:bodyPr wrap="none" lIns="0" rIns="0" tIns="0" bIns="0">
            <a:spAutoFit/>
          </a:bodyPr>
          <a:lstStyle/>
          <a:p>
            <a:r>
              <a:rPr sz="1050" b="0">
                <a:solidFill>
                  <a:srgbClr val="1F1F1F"/>
                </a:solidFill>
                <a:latin typeface="Calibri"/>
              </a:rPr>
              <a:t>North America.</a:t>
            </a:r>
          </a:p>
        </p:txBody>
      </p:sp>
      <p:sp>
        <p:nvSpPr>
          <p:cNvPr id="51" name="TextBox 50"/>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52" name="TextBox 51"/>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53" name="Picture 52" descr="lock.png"/>
          <p:cNvPicPr>
            <a:picLocks noChangeAspect="1"/>
          </p:cNvPicPr>
          <p:nvPr/>
        </p:nvPicPr>
        <p:blipFill>
          <a:blip r:embed="rId5"/>
          <a:stretch>
            <a:fillRect/>
          </a:stretch>
        </p:blipFill>
        <p:spPr>
          <a:xfrm>
            <a:off x="4958179" y="5681662"/>
            <a:ext cx="122849" cy="178689"/>
          </a:xfrm>
          <a:prstGeom prst="rect">
            <a:avLst/>
          </a:prstGeom>
        </p:spPr>
      </p:pic>
      <p:sp>
        <p:nvSpPr>
          <p:cNvPr id="54" name="TextBox 53"/>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55" name="Picture 54" descr="lock.png"/>
          <p:cNvPicPr>
            <a:picLocks noChangeAspect="1"/>
          </p:cNvPicPr>
          <p:nvPr/>
        </p:nvPicPr>
        <p:blipFill>
          <a:blip r:embed="rId5"/>
          <a:stretch>
            <a:fillRect/>
          </a:stretch>
        </p:blipFill>
        <p:spPr>
          <a:xfrm>
            <a:off x="7243541" y="5681662"/>
            <a:ext cx="122849" cy="178689"/>
          </a:xfrm>
          <a:prstGeom prst="rect">
            <a:avLst/>
          </a:prstGeom>
        </p:spPr>
      </p:pic>
      <p:sp>
        <p:nvSpPr>
          <p:cNvPr id="56" name="TextBox 55"/>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7" name="TextBox 56"/>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8" name="TextBox 57"/>
          <p:cNvSpPr txBox="1"/>
          <p:nvPr/>
        </p:nvSpPr>
        <p:spPr>
          <a:xfrm>
            <a:off x="8658225" y="5530976"/>
            <a:ext cx="2737730" cy="179069"/>
          </a:xfrm>
          <a:prstGeom prst="rect">
            <a:avLst/>
          </a:prstGeom>
          <a:noFill/>
        </p:spPr>
        <p:txBody>
          <a:bodyPr wrap="none" lIns="0" rIns="0" tIns="0" bIns="0">
            <a:spAutoFit/>
          </a:bodyPr>
          <a:lstStyle/>
          <a:p>
            <a:r>
              <a:rPr sz="1050" b="0">
                <a:solidFill>
                  <a:srgbClr val="1F1F1F"/>
                </a:solidFill>
                <a:latin typeface="Calibri"/>
              </a:rPr>
              <a:t>North America shows the widest gap between its</a:t>
            </a:r>
          </a:p>
        </p:txBody>
      </p:sp>
      <p:sp>
        <p:nvSpPr>
          <p:cNvPr id="59" name="TextBox 58"/>
          <p:cNvSpPr txBox="1"/>
          <p:nvPr/>
        </p:nvSpPr>
        <p:spPr>
          <a:xfrm>
            <a:off x="8658225" y="5690996"/>
            <a:ext cx="2668971" cy="179069"/>
          </a:xfrm>
          <a:prstGeom prst="rect">
            <a:avLst/>
          </a:prstGeom>
          <a:noFill/>
        </p:spPr>
        <p:txBody>
          <a:bodyPr wrap="none" lIns="0" rIns="0" tIns="0" bIns="0">
            <a:spAutoFit/>
          </a:bodyPr>
          <a:lstStyle/>
          <a:p>
            <a:r>
              <a:rPr sz="1050" b="0">
                <a:solidFill>
                  <a:srgbClr val="1F1F1F"/>
                </a:solidFill>
                <a:latin typeface="Calibri"/>
              </a:rPr>
              <a:t>cheapest and most expensive therapy format at</a:t>
            </a:r>
          </a:p>
        </p:txBody>
      </p:sp>
      <p:pic>
        <p:nvPicPr>
          <p:cNvPr id="60" name="Picture 59" descr="lock.png"/>
          <p:cNvPicPr>
            <a:picLocks noChangeAspect="1"/>
          </p:cNvPicPr>
          <p:nvPr/>
        </p:nvPicPr>
        <p:blipFill>
          <a:blip r:embed="rId5"/>
          <a:stretch>
            <a:fillRect/>
          </a:stretch>
        </p:blipFill>
        <p:spPr>
          <a:xfrm>
            <a:off x="11274146" y="5681662"/>
            <a:ext cx="122849" cy="178689"/>
          </a:xfrm>
          <a:prstGeom prst="rect">
            <a:avLst/>
          </a:prstGeom>
        </p:spPr>
      </p:pic>
      <p:sp>
        <p:nvSpPr>
          <p:cNvPr id="61" name="TextBox 60"/>
          <p:cNvSpPr txBox="1"/>
          <p:nvPr/>
        </p:nvSpPr>
        <p:spPr>
          <a:xfrm>
            <a:off x="11434028" y="5690996"/>
            <a:ext cx="262160" cy="179069"/>
          </a:xfrm>
          <a:prstGeom prst="rect">
            <a:avLst/>
          </a:prstGeom>
          <a:noFill/>
        </p:spPr>
        <p:txBody>
          <a:bodyPr wrap="none" lIns="0" rIns="0" tIns="0" bIns="0">
            <a:spAutoFit/>
          </a:bodyPr>
          <a:lstStyle/>
          <a:p>
            <a:r>
              <a:rPr sz="1050" b="0">
                <a:solidFill>
                  <a:srgbClr val="1F1F1F"/>
                </a:solidFill>
                <a:latin typeface="Calibri"/>
              </a:rPr>
              <a:t>, so</a:t>
            </a:r>
          </a:p>
        </p:txBody>
      </p:sp>
      <p:sp>
        <p:nvSpPr>
          <p:cNvPr id="62" name="TextBox 61"/>
          <p:cNvSpPr txBox="1"/>
          <p:nvPr/>
        </p:nvSpPr>
        <p:spPr>
          <a:xfrm>
            <a:off x="8658225" y="5851016"/>
            <a:ext cx="2851807" cy="179069"/>
          </a:xfrm>
          <a:prstGeom prst="rect">
            <a:avLst/>
          </a:prstGeom>
          <a:noFill/>
        </p:spPr>
        <p:txBody>
          <a:bodyPr wrap="none" lIns="0" rIns="0" tIns="0" bIns="0">
            <a:spAutoFit/>
          </a:bodyPr>
          <a:lstStyle/>
          <a:p>
            <a:r>
              <a:rPr sz="1050" b="0">
                <a:solidFill>
                  <a:srgbClr val="1F1F1F"/>
                </a:solidFill>
                <a:latin typeface="Calibri"/>
              </a:rPr>
              <a:t>product mix shifts move its average price the most.</a:t>
            </a:r>
          </a:p>
        </p:txBody>
      </p:sp>
      <p:pic>
        <p:nvPicPr>
          <p:cNvPr id="63" name="Picture 62" descr="lock.png"/>
          <p:cNvPicPr>
            <a:picLocks noChangeAspect="1"/>
          </p:cNvPicPr>
          <p:nvPr/>
        </p:nvPicPr>
        <p:blipFill>
          <a:blip r:embed="rId5"/>
          <a:stretch>
            <a:fillRect/>
          </a:stretch>
        </p:blipFill>
        <p:spPr>
          <a:xfrm>
            <a:off x="3952821" y="3129375"/>
            <a:ext cx="482444" cy="701737"/>
          </a:xfrm>
          <a:prstGeom prst="rect">
            <a:avLst/>
          </a:prstGeom>
        </p:spPr>
      </p:pic>
      <p:sp>
        <p:nvSpPr>
          <p:cNvPr id="64" name="lockshield_13"/>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Price Positioning &amp; Key Findings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FMI's key findings on where premiums and discounts sit</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(US$/Patient Treatment Courses).</a:t>
            </a:r>
          </a:p>
        </p:txBody>
      </p:sp>
      <p:sp>
        <p:nvSpPr>
          <p:cNvPr id="11" name="Rounded Rectangle 10"/>
          <p:cNvSpPr/>
          <p:nvPr/>
        </p:nvSpPr>
        <p:spPr>
          <a:xfrm>
            <a:off x="142875" y="1317574"/>
            <a:ext cx="769620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289685"/>
            <a:ext cx="495300" cy="114300"/>
          </a:xfrm>
          <a:prstGeom prst="rect">
            <a:avLst/>
          </a:prstGeom>
          <a:noFill/>
        </p:spPr>
        <p:txBody>
          <a:bodyPr wrap="none" lIns="0" rIns="0" tIns="0" bIns="0">
            <a:spAutoFit/>
          </a:bodyPr>
          <a:lstStyle/>
          <a:p>
            <a:pPr algn="ctr"/>
            <a:r>
              <a:rPr sz="1100" b="0">
                <a:solidFill>
                  <a:srgbClr val="6C7A89"/>
                </a:solidFill>
                <a:latin typeface="Calibri"/>
              </a:rPr>
              <a:t>431</a:t>
            </a:r>
          </a:p>
        </p:txBody>
      </p:sp>
      <p:cxnSp>
        <p:nvCxnSpPr>
          <p:cNvPr id="15" name="Connector 14"/>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289685"/>
            <a:ext cx="495300" cy="114300"/>
          </a:xfrm>
          <a:prstGeom prst="rect">
            <a:avLst/>
          </a:prstGeom>
          <a:noFill/>
        </p:spPr>
        <p:txBody>
          <a:bodyPr wrap="none" lIns="0" rIns="0" tIns="0" bIns="0">
            <a:spAutoFit/>
          </a:bodyPr>
          <a:lstStyle/>
          <a:p>
            <a:pPr algn="ctr"/>
            <a:r>
              <a:rPr sz="1100" b="0">
                <a:solidFill>
                  <a:srgbClr val="6C7A89"/>
                </a:solidFill>
                <a:latin typeface="Calibri"/>
              </a:rPr>
              <a:t>738</a:t>
            </a:r>
          </a:p>
        </p:txBody>
      </p:sp>
      <p:cxnSp>
        <p:nvCxnSpPr>
          <p:cNvPr id="17" name="Connector 16"/>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1,045</a:t>
            </a:r>
          </a:p>
        </p:txBody>
      </p:sp>
      <p:cxnSp>
        <p:nvCxnSpPr>
          <p:cNvPr id="19" name="Connector 18"/>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1,352</a:t>
            </a:r>
          </a:p>
        </p:txBody>
      </p:sp>
      <p:cxnSp>
        <p:nvCxnSpPr>
          <p:cNvPr id="21" name="Connector 20"/>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1,659</a:t>
            </a:r>
          </a:p>
        </p:txBody>
      </p:sp>
      <p:cxnSp>
        <p:nvCxnSpPr>
          <p:cNvPr id="23" name="Connector 22"/>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1,966</a:t>
            </a:r>
          </a:p>
        </p:txBody>
      </p:sp>
      <p:sp>
        <p:nvSpPr>
          <p:cNvPr id="25" name="TextBox 24"/>
          <p:cNvSpPr txBox="1"/>
          <p:nvPr/>
        </p:nvSpPr>
        <p:spPr>
          <a:xfrm>
            <a:off x="238125" y="220340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North America</a:t>
            </a:r>
          </a:p>
        </p:txBody>
      </p:sp>
      <p:sp>
        <p:nvSpPr>
          <p:cNvPr id="26" name="Rectangle 25"/>
          <p:cNvSpPr/>
          <p:nvPr/>
        </p:nvSpPr>
        <p:spPr>
          <a:xfrm>
            <a:off x="4993095" y="2100912"/>
            <a:ext cx="1933962"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52509" y="222721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292731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Latin America</a:t>
            </a:r>
          </a:p>
        </p:txBody>
      </p:sp>
      <p:sp>
        <p:nvSpPr>
          <p:cNvPr id="29" name="Rectangle 28"/>
          <p:cNvSpPr/>
          <p:nvPr/>
        </p:nvSpPr>
        <p:spPr>
          <a:xfrm>
            <a:off x="3321358" y="2824823"/>
            <a:ext cx="1322513"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885144" y="295112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5122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Europe</a:t>
            </a:r>
          </a:p>
        </p:txBody>
      </p:sp>
      <p:sp>
        <p:nvSpPr>
          <p:cNvPr id="32" name="Rectangle 31"/>
          <p:cNvSpPr/>
          <p:nvPr/>
        </p:nvSpPr>
        <p:spPr>
          <a:xfrm>
            <a:off x="4316208" y="3548733"/>
            <a:ext cx="1661536"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039044" y="367503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37513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East Asia</a:t>
            </a:r>
          </a:p>
        </p:txBody>
      </p:sp>
      <p:sp>
        <p:nvSpPr>
          <p:cNvPr id="35" name="Rectangle 34"/>
          <p:cNvSpPr/>
          <p:nvPr/>
        </p:nvSpPr>
        <p:spPr>
          <a:xfrm>
            <a:off x="2376841" y="4272643"/>
            <a:ext cx="993652"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793668" y="439894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09904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South Asia &amp; Pacific</a:t>
            </a:r>
          </a:p>
        </p:txBody>
      </p:sp>
      <p:sp>
        <p:nvSpPr>
          <p:cNvPr id="38" name="Rectangle 37"/>
          <p:cNvSpPr/>
          <p:nvPr/>
        </p:nvSpPr>
        <p:spPr>
          <a:xfrm>
            <a:off x="2045494" y="4996553"/>
            <a:ext cx="855247"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391757" y="512285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82295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Middle East &amp; Africa</a:t>
            </a:r>
          </a:p>
        </p:txBody>
      </p:sp>
      <p:sp>
        <p:nvSpPr>
          <p:cNvPr id="41" name="Rectangle 40"/>
          <p:cNvSpPr/>
          <p:nvPr/>
        </p:nvSpPr>
        <p:spPr>
          <a:xfrm>
            <a:off x="3185340" y="5720463"/>
            <a:ext cx="1250728"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717787" y="584676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5" name="Rectangle 44"/>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47" name="Rounded Rectangle 46"/>
          <p:cNvSpPr/>
          <p:nvPr/>
        </p:nvSpPr>
        <p:spPr>
          <a:xfrm>
            <a:off x="7915275" y="1317574"/>
            <a:ext cx="413385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9" name="Rectangle 4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Rounded Rectangle 50"/>
          <p:cNvSpPr/>
          <p:nvPr/>
        </p:nvSpPr>
        <p:spPr>
          <a:xfrm>
            <a:off x="7915275" y="5351641"/>
            <a:ext cx="4133850" cy="1204744"/>
          </a:xfrm>
          <a:prstGeom prst="roundRect">
            <a:avLst>
              <a:gd name="adj" fmla="val 6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3" name="TextBox 52"/>
          <p:cNvSpPr txBox="1"/>
          <p:nvPr/>
        </p:nvSpPr>
        <p:spPr>
          <a:xfrm>
            <a:off x="8048625" y="1736673"/>
            <a:ext cx="3690937" cy="194310"/>
          </a:xfrm>
          <a:prstGeom prst="rect">
            <a:avLst/>
          </a:prstGeom>
          <a:noFill/>
        </p:spPr>
        <p:txBody>
          <a:bodyPr wrap="none" lIns="0" rIns="0" tIns="0" bIns="0">
            <a:spAutoFit/>
          </a:bodyPr>
          <a:lstStyle/>
          <a:p>
            <a:r>
              <a:rPr sz="1150" b="0">
                <a:solidFill>
                  <a:srgbClr val="2E2E2E"/>
                </a:solidFill>
                <a:latin typeface="Calibri"/>
              </a:rPr>
              <a:t>Subcutaneous immunotherapy (SCIT) segment is expected to</a:t>
            </a:r>
          </a:p>
        </p:txBody>
      </p:sp>
      <p:sp>
        <p:nvSpPr>
          <p:cNvPr id="54" name="TextBox 53"/>
          <p:cNvSpPr txBox="1"/>
          <p:nvPr/>
        </p:nvSpPr>
        <p:spPr>
          <a:xfrm>
            <a:off x="8048625" y="1911934"/>
            <a:ext cx="2627225" cy="194310"/>
          </a:xfrm>
          <a:prstGeom prst="rect">
            <a:avLst/>
          </a:prstGeom>
          <a:noFill/>
        </p:spPr>
        <p:txBody>
          <a:bodyPr wrap="none" lIns="0" rIns="0" tIns="0" bIns="0">
            <a:spAutoFit/>
          </a:bodyPr>
          <a:lstStyle/>
          <a:p>
            <a:r>
              <a:rPr sz="1150" b="0">
                <a:solidFill>
                  <a:srgbClr val="2E2E2E"/>
                </a:solidFill>
                <a:latin typeface="Calibri"/>
              </a:rPr>
              <a:t>command the highest average price of US$</a:t>
            </a:r>
          </a:p>
        </p:txBody>
      </p:sp>
      <p:pic>
        <p:nvPicPr>
          <p:cNvPr id="55" name="Picture 54" descr="lock.png"/>
          <p:cNvPicPr>
            <a:picLocks noChangeAspect="1"/>
          </p:cNvPicPr>
          <p:nvPr/>
        </p:nvPicPr>
        <p:blipFill>
          <a:blip r:embed="rId4"/>
          <a:stretch>
            <a:fillRect/>
          </a:stretch>
        </p:blipFill>
        <p:spPr>
          <a:xfrm>
            <a:off x="10625004" y="1901710"/>
            <a:ext cx="134549" cy="195707"/>
          </a:xfrm>
          <a:prstGeom prst="rect">
            <a:avLst/>
          </a:prstGeom>
        </p:spPr>
      </p:pic>
      <p:sp>
        <p:nvSpPr>
          <p:cNvPr id="56" name="TextBox 55"/>
          <p:cNvSpPr txBox="1"/>
          <p:nvPr/>
        </p:nvSpPr>
        <p:spPr>
          <a:xfrm>
            <a:off x="10800113" y="1911934"/>
            <a:ext cx="736562" cy="194310"/>
          </a:xfrm>
          <a:prstGeom prst="rect">
            <a:avLst/>
          </a:prstGeom>
          <a:noFill/>
        </p:spPr>
        <p:txBody>
          <a:bodyPr wrap="none" lIns="0" rIns="0" tIns="0" bIns="0">
            <a:spAutoFit/>
          </a:bodyPr>
          <a:lstStyle/>
          <a:p>
            <a:r>
              <a:rPr sz="1150" b="0">
                <a:solidFill>
                  <a:srgbClr val="2E2E2E"/>
                </a:solidFill>
                <a:latin typeface="Calibri"/>
              </a:rPr>
              <a:t>per Patient</a:t>
            </a:r>
          </a:p>
        </p:txBody>
      </p:sp>
      <p:sp>
        <p:nvSpPr>
          <p:cNvPr id="57" name="TextBox 56"/>
          <p:cNvSpPr txBox="1"/>
          <p:nvPr/>
        </p:nvSpPr>
        <p:spPr>
          <a:xfrm>
            <a:off x="8048625" y="2087194"/>
            <a:ext cx="3501774" cy="194310"/>
          </a:xfrm>
          <a:prstGeom prst="rect">
            <a:avLst/>
          </a:prstGeom>
          <a:noFill/>
        </p:spPr>
        <p:txBody>
          <a:bodyPr wrap="none" lIns="0" rIns="0" tIns="0" bIns="0">
            <a:spAutoFit/>
          </a:bodyPr>
          <a:lstStyle/>
          <a:p>
            <a:r>
              <a:rPr sz="1150" b="0">
                <a:solidFill>
                  <a:srgbClr val="2E2E2E"/>
                </a:solidFill>
                <a:latin typeface="Calibri"/>
              </a:rPr>
              <a:t>Treatment Course in 2036. Average selling price of allergy</a:t>
            </a:r>
          </a:p>
        </p:txBody>
      </p:sp>
      <p:sp>
        <p:nvSpPr>
          <p:cNvPr id="58" name="TextBox 57"/>
          <p:cNvSpPr txBox="1"/>
          <p:nvPr/>
        </p:nvSpPr>
        <p:spPr>
          <a:xfrm>
            <a:off x="8048625" y="2262454"/>
            <a:ext cx="2210754" cy="194310"/>
          </a:xfrm>
          <a:prstGeom prst="rect">
            <a:avLst/>
          </a:prstGeom>
          <a:noFill/>
        </p:spPr>
        <p:txBody>
          <a:bodyPr wrap="none" lIns="0" rIns="0" tIns="0" bIns="0">
            <a:spAutoFit/>
          </a:bodyPr>
          <a:lstStyle/>
          <a:p>
            <a:r>
              <a:rPr sz="1150" b="0">
                <a:solidFill>
                  <a:srgbClr val="2E2E2E"/>
                </a:solidFill>
                <a:latin typeface="Calibri"/>
              </a:rPr>
              <a:t>immunotherapy is estimated at US$</a:t>
            </a:r>
          </a:p>
        </p:txBody>
      </p:sp>
      <p:pic>
        <p:nvPicPr>
          <p:cNvPr id="59" name="Picture 58" descr="lock.png"/>
          <p:cNvPicPr>
            <a:picLocks noChangeAspect="1"/>
          </p:cNvPicPr>
          <p:nvPr/>
        </p:nvPicPr>
        <p:blipFill>
          <a:blip r:embed="rId4"/>
          <a:stretch>
            <a:fillRect/>
          </a:stretch>
        </p:blipFill>
        <p:spPr>
          <a:xfrm>
            <a:off x="10208533" y="2252230"/>
            <a:ext cx="134549" cy="195707"/>
          </a:xfrm>
          <a:prstGeom prst="rect">
            <a:avLst/>
          </a:prstGeom>
        </p:spPr>
      </p:pic>
      <p:sp>
        <p:nvSpPr>
          <p:cNvPr id="60" name="TextBox 59"/>
          <p:cNvSpPr txBox="1"/>
          <p:nvPr/>
        </p:nvSpPr>
        <p:spPr>
          <a:xfrm>
            <a:off x="10383643" y="2262454"/>
            <a:ext cx="1398922" cy="194310"/>
          </a:xfrm>
          <a:prstGeom prst="rect">
            <a:avLst/>
          </a:prstGeom>
          <a:noFill/>
        </p:spPr>
        <p:txBody>
          <a:bodyPr wrap="none" lIns="0" rIns="0" tIns="0" bIns="0">
            <a:spAutoFit/>
          </a:bodyPr>
          <a:lstStyle/>
          <a:p>
            <a:r>
              <a:rPr sz="1150" b="0">
                <a:solidFill>
                  <a:srgbClr val="2E2E2E"/>
                </a:solidFill>
                <a:latin typeface="Calibri"/>
              </a:rPr>
              <a:t>per Patient Treatment</a:t>
            </a:r>
          </a:p>
        </p:txBody>
      </p:sp>
      <p:sp>
        <p:nvSpPr>
          <p:cNvPr id="61" name="TextBox 60"/>
          <p:cNvSpPr txBox="1"/>
          <p:nvPr/>
        </p:nvSpPr>
        <p:spPr>
          <a:xfrm>
            <a:off x="8048625" y="2437714"/>
            <a:ext cx="3063664" cy="194310"/>
          </a:xfrm>
          <a:prstGeom prst="rect">
            <a:avLst/>
          </a:prstGeom>
          <a:noFill/>
        </p:spPr>
        <p:txBody>
          <a:bodyPr wrap="none" lIns="0" rIns="0" tIns="0" bIns="0">
            <a:spAutoFit/>
          </a:bodyPr>
          <a:lstStyle/>
          <a:p>
            <a:r>
              <a:rPr sz="1150" b="0">
                <a:solidFill>
                  <a:srgbClr val="2E2E2E"/>
                </a:solidFill>
                <a:latin typeface="Calibri"/>
              </a:rPr>
              <a:t>Course in 2025 and is projected to increase to US$</a:t>
            </a:r>
          </a:p>
        </p:txBody>
      </p:sp>
      <p:pic>
        <p:nvPicPr>
          <p:cNvPr id="62" name="Picture 61" descr="lock.png"/>
          <p:cNvPicPr>
            <a:picLocks noChangeAspect="1"/>
          </p:cNvPicPr>
          <p:nvPr/>
        </p:nvPicPr>
        <p:blipFill>
          <a:blip r:embed="rId4"/>
          <a:stretch>
            <a:fillRect/>
          </a:stretch>
        </p:blipFill>
        <p:spPr>
          <a:xfrm>
            <a:off x="11061443" y="2427490"/>
            <a:ext cx="134549" cy="195707"/>
          </a:xfrm>
          <a:prstGeom prst="rect">
            <a:avLst/>
          </a:prstGeom>
        </p:spPr>
      </p:pic>
      <p:sp>
        <p:nvSpPr>
          <p:cNvPr id="63" name="TextBox 62"/>
          <p:cNvSpPr txBox="1"/>
          <p:nvPr/>
        </p:nvSpPr>
        <p:spPr>
          <a:xfrm>
            <a:off x="11236552" y="2437714"/>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64" name="TextBox 63"/>
          <p:cNvSpPr txBox="1"/>
          <p:nvPr/>
        </p:nvSpPr>
        <p:spPr>
          <a:xfrm>
            <a:off x="8048625" y="2612974"/>
            <a:ext cx="2153418" cy="194310"/>
          </a:xfrm>
          <a:prstGeom prst="rect">
            <a:avLst/>
          </a:prstGeom>
          <a:noFill/>
        </p:spPr>
        <p:txBody>
          <a:bodyPr wrap="none" lIns="0" rIns="0" tIns="0" bIns="0">
            <a:spAutoFit/>
          </a:bodyPr>
          <a:lstStyle/>
          <a:p>
            <a:r>
              <a:rPr sz="1150" b="0">
                <a:solidFill>
                  <a:srgbClr val="2E2E2E"/>
                </a:solidFill>
                <a:latin typeface="Calibri"/>
              </a:rPr>
              <a:t>Patient Treatment Course by 2036.</a:t>
            </a:r>
          </a:p>
        </p:txBody>
      </p:sp>
      <p:sp>
        <p:nvSpPr>
          <p:cNvPr id="65" name="TextBox 64"/>
          <p:cNvSpPr txBox="1"/>
          <p:nvPr/>
        </p:nvSpPr>
        <p:spPr>
          <a:xfrm>
            <a:off x="8048625" y="2840811"/>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66" name="TextBox 65"/>
          <p:cNvSpPr txBox="1"/>
          <p:nvPr/>
        </p:nvSpPr>
        <p:spPr>
          <a:xfrm>
            <a:off x="8048625" y="301607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67" name="TextBox 66"/>
          <p:cNvSpPr txBox="1"/>
          <p:nvPr/>
        </p:nvSpPr>
        <p:spPr>
          <a:xfrm>
            <a:off x="8048625" y="319133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68" name="TextBox 67"/>
          <p:cNvSpPr txBox="1"/>
          <p:nvPr/>
        </p:nvSpPr>
        <p:spPr>
          <a:xfrm>
            <a:off x="8048625" y="336659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69" name="TextBox 68"/>
          <p:cNvSpPr txBox="1"/>
          <p:nvPr/>
        </p:nvSpPr>
        <p:spPr>
          <a:xfrm>
            <a:off x="8048625" y="359442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70" name="TextBox 69"/>
          <p:cNvSpPr txBox="1"/>
          <p:nvPr/>
        </p:nvSpPr>
        <p:spPr>
          <a:xfrm>
            <a:off x="8048625" y="376968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71" name="TextBox 70"/>
          <p:cNvSpPr txBox="1"/>
          <p:nvPr/>
        </p:nvSpPr>
        <p:spPr>
          <a:xfrm>
            <a:off x="8048625" y="394494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Allergy Immunotherapy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12" name="Rounded Rectangle 11"/>
          <p:cNvSpPr/>
          <p:nvPr/>
        </p:nvSpPr>
        <p:spPr>
          <a:xfrm>
            <a:off x="142875" y="1354081"/>
            <a:ext cx="702945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411231"/>
            <a:ext cx="6838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4" name="Freeform 13"/>
          <p:cNvSpPr/>
          <p:nvPr/>
        </p:nvSpPr>
        <p:spPr>
          <a:xfrm>
            <a:off x="3295650"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943225"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581275"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219325"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866900"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3657600"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57600"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657600"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57600"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57600"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657600"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548814"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863547"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1863547"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548814"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2495550"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24262"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00412"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790397"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969802"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566730"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24262"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958991"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637533"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458128"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125309"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86175"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41" name="TextBox 40"/>
          <p:cNvSpPr txBox="1"/>
          <p:nvPr/>
        </p:nvSpPr>
        <p:spPr>
          <a:xfrm>
            <a:off x="3686175"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42" name="TextBox 41"/>
          <p:cNvSpPr txBox="1"/>
          <p:nvPr/>
        </p:nvSpPr>
        <p:spPr>
          <a:xfrm>
            <a:off x="3686175"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43" name="TextBox 42"/>
          <p:cNvSpPr txBox="1"/>
          <p:nvPr/>
        </p:nvSpPr>
        <p:spPr>
          <a:xfrm>
            <a:off x="3686175"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4" name="TextBox 43"/>
          <p:cNvSpPr txBox="1"/>
          <p:nvPr/>
        </p:nvSpPr>
        <p:spPr>
          <a:xfrm>
            <a:off x="3686175"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5" name="TextBox 44"/>
          <p:cNvSpPr txBox="1"/>
          <p:nvPr/>
        </p:nvSpPr>
        <p:spPr>
          <a:xfrm>
            <a:off x="3000375"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4232331"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4993722"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4993722"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4232331"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3000375"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TextBox 50"/>
          <p:cNvSpPr txBox="1"/>
          <p:nvPr/>
        </p:nvSpPr>
        <p:spPr>
          <a:xfrm>
            <a:off x="1768419"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2" name="TextBox 51"/>
          <p:cNvSpPr txBox="1"/>
          <p:nvPr/>
        </p:nvSpPr>
        <p:spPr>
          <a:xfrm>
            <a:off x="1007028"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3" name="TextBox 52"/>
          <p:cNvSpPr txBox="1"/>
          <p:nvPr/>
        </p:nvSpPr>
        <p:spPr>
          <a:xfrm>
            <a:off x="1007028"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4" name="TextBox 53"/>
          <p:cNvSpPr txBox="1"/>
          <p:nvPr/>
        </p:nvSpPr>
        <p:spPr>
          <a:xfrm>
            <a:off x="1768419"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5" name="Rounded Rectangle 54"/>
          <p:cNvSpPr/>
          <p:nvPr/>
        </p:nvSpPr>
        <p:spPr>
          <a:xfrm>
            <a:off x="7248525" y="1354081"/>
            <a:ext cx="4800600" cy="3479443"/>
          </a:xfrm>
          <a:prstGeom prst="roundRect">
            <a:avLst>
              <a:gd name="adj" fmla="val 219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81875" y="1439806"/>
            <a:ext cx="453390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7" name="Rectangle 56"/>
          <p:cNvSpPr/>
          <p:nvPr/>
        </p:nvSpPr>
        <p:spPr>
          <a:xfrm>
            <a:off x="7381875" y="1677931"/>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381875" y="1763656"/>
            <a:ext cx="453390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Pricing across the Allergy Immunotherapy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strength, competitive intensity and supply-chain reliability together define the ceiling on pricing power across the Allergy Immunotherapy Market.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9" name="Rounded Rectangle 58"/>
          <p:cNvSpPr/>
          <p:nvPr/>
        </p:nvSpPr>
        <p:spPr>
          <a:xfrm>
            <a:off x="7248525" y="4943046"/>
            <a:ext cx="4800600" cy="1686354"/>
          </a:xfrm>
          <a:prstGeom prst="roundRect">
            <a:avLst>
              <a:gd name="adj" fmla="val 45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81875" y="5028771"/>
            <a:ext cx="4533900" cy="209550"/>
          </a:xfrm>
          <a:prstGeom prst="rect">
            <a:avLst/>
          </a:prstGeom>
          <a:noFill/>
        </p:spPr>
        <p:txBody>
          <a:bodyPr wrap="square" lIns="0" rIns="19050" tIns="9525" bIns="9525">
            <a:spAutoFit/>
          </a:bodyPr>
          <a:lstStyle/>
          <a:p>
            <a:pPr algn="l"/>
            <a:r>
              <a:rPr sz="1300" b="1">
                <a:solidFill>
                  <a:srgbClr val="0B2E4A"/>
                </a:solidFill>
                <a:latin typeface="Calibri"/>
              </a:rPr>
              <a:t>Highest-Impact Drivers</a:t>
            </a:r>
          </a:p>
        </p:txBody>
      </p:sp>
      <p:sp>
        <p:nvSpPr>
          <p:cNvPr id="61" name="Rectangle 60"/>
          <p:cNvSpPr/>
          <p:nvPr/>
        </p:nvSpPr>
        <p:spPr>
          <a:xfrm>
            <a:off x="7381875" y="5266896"/>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81875" y="5352621"/>
            <a:ext cx="453390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4" name="TextBox 63"/>
          <p:cNvSpPr txBox="1"/>
          <p:nvPr/>
        </p:nvSpPr>
        <p:spPr>
          <a:xfrm>
            <a:off x="3288771"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5" name="Picture 64" descr="lock.png"/>
          <p:cNvPicPr>
            <a:picLocks noChangeAspect="1"/>
          </p:cNvPicPr>
          <p:nvPr/>
        </p:nvPicPr>
        <p:blipFill>
          <a:blip r:embed="rId4"/>
          <a:stretch>
            <a:fillRect/>
          </a:stretch>
        </p:blipFill>
        <p:spPr>
          <a:xfrm>
            <a:off x="3896652" y="1889132"/>
            <a:ext cx="128699" cy="187198"/>
          </a:xfrm>
          <a:prstGeom prst="rect">
            <a:avLst/>
          </a:prstGeom>
        </p:spPr>
      </p:pic>
      <p:sp>
        <p:nvSpPr>
          <p:cNvPr id="66" name="TextBox 65"/>
          <p:cNvSpPr txBox="1"/>
          <p:nvPr/>
        </p:nvSpPr>
        <p:spPr>
          <a:xfrm>
            <a:off x="4314683"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7" name="Picture 66" descr="lock.png"/>
          <p:cNvPicPr>
            <a:picLocks noChangeAspect="1"/>
          </p:cNvPicPr>
          <p:nvPr/>
        </p:nvPicPr>
        <p:blipFill>
          <a:blip r:embed="rId4"/>
          <a:stretch>
            <a:fillRect/>
          </a:stretch>
        </p:blipFill>
        <p:spPr>
          <a:xfrm>
            <a:off x="5370988" y="2315626"/>
            <a:ext cx="92663" cy="134782"/>
          </a:xfrm>
          <a:prstGeom prst="rect">
            <a:avLst/>
          </a:prstGeom>
        </p:spPr>
      </p:pic>
      <p:sp>
        <p:nvSpPr>
          <p:cNvPr id="68" name="TextBox 67"/>
          <p:cNvSpPr txBox="1"/>
          <p:nvPr/>
        </p:nvSpPr>
        <p:spPr>
          <a:xfrm>
            <a:off x="5083343"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9" name="Picture 68" descr="lock.png"/>
          <p:cNvPicPr>
            <a:picLocks noChangeAspect="1"/>
          </p:cNvPicPr>
          <p:nvPr/>
        </p:nvPicPr>
        <p:blipFill>
          <a:blip r:embed="rId4"/>
          <a:stretch>
            <a:fillRect/>
          </a:stretch>
        </p:blipFill>
        <p:spPr>
          <a:xfrm>
            <a:off x="6125111" y="3363591"/>
            <a:ext cx="92663" cy="134782"/>
          </a:xfrm>
          <a:prstGeom prst="rect">
            <a:avLst/>
          </a:prstGeom>
        </p:spPr>
      </p:pic>
      <p:sp>
        <p:nvSpPr>
          <p:cNvPr id="70" name="TextBox 69"/>
          <p:cNvSpPr txBox="1"/>
          <p:nvPr/>
        </p:nvSpPr>
        <p:spPr>
          <a:xfrm>
            <a:off x="5072546"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71" name="Picture 70" descr="lock.png"/>
          <p:cNvPicPr>
            <a:picLocks noChangeAspect="1"/>
          </p:cNvPicPr>
          <p:nvPr/>
        </p:nvPicPr>
        <p:blipFill>
          <a:blip r:embed="rId4"/>
          <a:stretch>
            <a:fillRect/>
          </a:stretch>
        </p:blipFill>
        <p:spPr>
          <a:xfrm>
            <a:off x="6130716" y="4655202"/>
            <a:ext cx="97811" cy="142270"/>
          </a:xfrm>
          <a:prstGeom prst="rect">
            <a:avLst/>
          </a:prstGeom>
        </p:spPr>
      </p:pic>
      <p:sp>
        <p:nvSpPr>
          <p:cNvPr id="72" name="TextBox 71"/>
          <p:cNvSpPr txBox="1"/>
          <p:nvPr/>
        </p:nvSpPr>
        <p:spPr>
          <a:xfrm>
            <a:off x="4279667"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3" name="Picture 72" descr="lock.png"/>
          <p:cNvPicPr>
            <a:picLocks noChangeAspect="1"/>
          </p:cNvPicPr>
          <p:nvPr/>
        </p:nvPicPr>
        <p:blipFill>
          <a:blip r:embed="rId4"/>
          <a:stretch>
            <a:fillRect/>
          </a:stretch>
        </p:blipFill>
        <p:spPr>
          <a:xfrm>
            <a:off x="4837988" y="5767261"/>
            <a:ext cx="92663" cy="134782"/>
          </a:xfrm>
          <a:prstGeom prst="rect">
            <a:avLst/>
          </a:prstGeom>
        </p:spPr>
      </p:pic>
      <p:sp>
        <p:nvSpPr>
          <p:cNvPr id="74" name="TextBox 73"/>
          <p:cNvSpPr txBox="1"/>
          <p:nvPr/>
        </p:nvSpPr>
        <p:spPr>
          <a:xfrm>
            <a:off x="3097033"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5" name="Picture 74" descr="lock.png"/>
          <p:cNvPicPr>
            <a:picLocks noChangeAspect="1"/>
          </p:cNvPicPr>
          <p:nvPr/>
        </p:nvPicPr>
        <p:blipFill>
          <a:blip r:embed="rId4"/>
          <a:stretch>
            <a:fillRect/>
          </a:stretch>
        </p:blipFill>
        <p:spPr>
          <a:xfrm>
            <a:off x="4119536" y="6103453"/>
            <a:ext cx="97811" cy="142270"/>
          </a:xfrm>
          <a:prstGeom prst="rect">
            <a:avLst/>
          </a:prstGeom>
        </p:spPr>
      </p:pic>
      <p:sp>
        <p:nvSpPr>
          <p:cNvPr id="76" name="TextBox 75"/>
          <p:cNvSpPr txBox="1"/>
          <p:nvPr/>
        </p:nvSpPr>
        <p:spPr>
          <a:xfrm>
            <a:off x="1906713"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7" name="TextBox 76"/>
          <p:cNvSpPr txBox="1"/>
          <p:nvPr/>
        </p:nvSpPr>
        <p:spPr>
          <a:xfrm>
            <a:off x="2260671"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8" name="Picture 77" descr="lock.png"/>
          <p:cNvPicPr>
            <a:picLocks noChangeAspect="1"/>
          </p:cNvPicPr>
          <p:nvPr/>
        </p:nvPicPr>
        <p:blipFill>
          <a:blip r:embed="rId4"/>
          <a:stretch>
            <a:fillRect/>
          </a:stretch>
        </p:blipFill>
        <p:spPr>
          <a:xfrm>
            <a:off x="2497177" y="5767261"/>
            <a:ext cx="92663" cy="134782"/>
          </a:xfrm>
          <a:prstGeom prst="rect">
            <a:avLst/>
          </a:prstGeom>
        </p:spPr>
      </p:pic>
      <p:sp>
        <p:nvSpPr>
          <p:cNvPr id="79" name="TextBox 78"/>
          <p:cNvSpPr txBox="1"/>
          <p:nvPr/>
        </p:nvSpPr>
        <p:spPr>
          <a:xfrm>
            <a:off x="1097191"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80" name="Picture 79" descr="lock.png"/>
          <p:cNvPicPr>
            <a:picLocks noChangeAspect="1"/>
          </p:cNvPicPr>
          <p:nvPr/>
        </p:nvPicPr>
        <p:blipFill>
          <a:blip r:embed="rId4"/>
          <a:stretch>
            <a:fillRect/>
          </a:stretch>
        </p:blipFill>
        <p:spPr>
          <a:xfrm>
            <a:off x="1612685" y="4719297"/>
            <a:ext cx="92663" cy="134782"/>
          </a:xfrm>
          <a:prstGeom prst="rect">
            <a:avLst/>
          </a:prstGeom>
        </p:spPr>
      </p:pic>
      <p:sp>
        <p:nvSpPr>
          <p:cNvPr id="81" name="TextBox 80"/>
          <p:cNvSpPr txBox="1"/>
          <p:nvPr/>
        </p:nvSpPr>
        <p:spPr>
          <a:xfrm>
            <a:off x="1079852"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82" name="Picture 81" descr="lock.png"/>
          <p:cNvPicPr>
            <a:picLocks noChangeAspect="1"/>
          </p:cNvPicPr>
          <p:nvPr/>
        </p:nvPicPr>
        <p:blipFill>
          <a:blip r:embed="rId4"/>
          <a:stretch>
            <a:fillRect/>
          </a:stretch>
        </p:blipFill>
        <p:spPr>
          <a:xfrm>
            <a:off x="2155213" y="3363591"/>
            <a:ext cx="92663" cy="134782"/>
          </a:xfrm>
          <a:prstGeom prst="rect">
            <a:avLst/>
          </a:prstGeom>
        </p:spPr>
      </p:pic>
      <p:sp>
        <p:nvSpPr>
          <p:cNvPr id="83" name="TextBox 82"/>
          <p:cNvSpPr txBox="1"/>
          <p:nvPr/>
        </p:nvSpPr>
        <p:spPr>
          <a:xfrm>
            <a:off x="1850723"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4" name="Picture 83" descr="lock.png"/>
          <p:cNvPicPr>
            <a:picLocks noChangeAspect="1"/>
          </p:cNvPicPr>
          <p:nvPr/>
        </p:nvPicPr>
        <p:blipFill>
          <a:blip r:embed="rId4"/>
          <a:stretch>
            <a:fillRect/>
          </a:stretch>
        </p:blipFill>
        <p:spPr>
          <a:xfrm>
            <a:off x="2374076" y="2375977"/>
            <a:ext cx="92663" cy="134782"/>
          </a:xfrm>
          <a:prstGeom prst="rect">
            <a:avLst/>
          </a:prstGeom>
        </p:spPr>
      </p:pic>
      <p:sp>
        <p:nvSpPr>
          <p:cNvPr id="85" name="TextBox 84"/>
          <p:cNvSpPr txBox="1"/>
          <p:nvPr/>
        </p:nvSpPr>
        <p:spPr>
          <a:xfrm>
            <a:off x="738187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6" name="Picture 85" descr="lock.png"/>
          <p:cNvPicPr>
            <a:picLocks noChangeAspect="1"/>
          </p:cNvPicPr>
          <p:nvPr/>
        </p:nvPicPr>
        <p:blipFill>
          <a:blip r:embed="rId4"/>
          <a:stretch>
            <a:fillRect/>
          </a:stretch>
        </p:blipFill>
        <p:spPr>
          <a:xfrm>
            <a:off x="8070793" y="5352366"/>
            <a:ext cx="128699" cy="187198"/>
          </a:xfrm>
          <a:prstGeom prst="rect">
            <a:avLst/>
          </a:prstGeom>
        </p:spPr>
      </p:pic>
      <p:sp>
        <p:nvSpPr>
          <p:cNvPr id="87" name="TextBox 86"/>
          <p:cNvSpPr txBox="1"/>
          <p:nvPr/>
        </p:nvSpPr>
        <p:spPr>
          <a:xfrm>
            <a:off x="823828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8" name="TextBox 87"/>
          <p:cNvSpPr txBox="1"/>
          <p:nvPr/>
        </p:nvSpPr>
        <p:spPr>
          <a:xfrm>
            <a:off x="738187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9" name="Picture 88" descr="lock.png"/>
          <p:cNvPicPr>
            <a:picLocks noChangeAspect="1"/>
          </p:cNvPicPr>
          <p:nvPr/>
        </p:nvPicPr>
        <p:blipFill>
          <a:blip r:embed="rId4"/>
          <a:stretch>
            <a:fillRect/>
          </a:stretch>
        </p:blipFill>
        <p:spPr>
          <a:xfrm>
            <a:off x="9181298" y="5570298"/>
            <a:ext cx="128699" cy="187198"/>
          </a:xfrm>
          <a:prstGeom prst="rect">
            <a:avLst/>
          </a:prstGeom>
        </p:spPr>
      </p:pic>
      <p:sp>
        <p:nvSpPr>
          <p:cNvPr id="90" name="TextBox 89"/>
          <p:cNvSpPr txBox="1"/>
          <p:nvPr/>
        </p:nvSpPr>
        <p:spPr>
          <a:xfrm>
            <a:off x="934879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91" name="TextBox 90"/>
          <p:cNvSpPr txBox="1"/>
          <p:nvPr/>
        </p:nvSpPr>
        <p:spPr>
          <a:xfrm>
            <a:off x="738187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92" name="Picture 91" descr="lock.png"/>
          <p:cNvPicPr>
            <a:picLocks noChangeAspect="1"/>
          </p:cNvPicPr>
          <p:nvPr/>
        </p:nvPicPr>
        <p:blipFill>
          <a:blip r:embed="rId4"/>
          <a:stretch>
            <a:fillRect/>
          </a:stretch>
        </p:blipFill>
        <p:spPr>
          <a:xfrm>
            <a:off x="8808310" y="5788230"/>
            <a:ext cx="128699" cy="187198"/>
          </a:xfrm>
          <a:prstGeom prst="rect">
            <a:avLst/>
          </a:prstGeom>
        </p:spPr>
      </p:pic>
      <p:sp>
        <p:nvSpPr>
          <p:cNvPr id="93" name="TextBox 92"/>
          <p:cNvSpPr txBox="1"/>
          <p:nvPr/>
        </p:nvSpPr>
        <p:spPr>
          <a:xfrm>
            <a:off x="897580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4" name="TextBox 93"/>
          <p:cNvSpPr txBox="1"/>
          <p:nvPr/>
        </p:nvSpPr>
        <p:spPr>
          <a:xfrm>
            <a:off x="738187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5" name="Picture 94" descr="lock.png"/>
          <p:cNvPicPr>
            <a:picLocks noChangeAspect="1"/>
          </p:cNvPicPr>
          <p:nvPr/>
        </p:nvPicPr>
        <p:blipFill>
          <a:blip r:embed="rId4"/>
          <a:stretch>
            <a:fillRect/>
          </a:stretch>
        </p:blipFill>
        <p:spPr>
          <a:xfrm>
            <a:off x="8855241" y="6006162"/>
            <a:ext cx="128699" cy="187198"/>
          </a:xfrm>
          <a:prstGeom prst="rect">
            <a:avLst/>
          </a:prstGeom>
        </p:spPr>
      </p:pic>
      <p:sp>
        <p:nvSpPr>
          <p:cNvPr id="96" name="TextBox 95"/>
          <p:cNvSpPr txBox="1"/>
          <p:nvPr/>
        </p:nvSpPr>
        <p:spPr>
          <a:xfrm>
            <a:off x="902273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7" name="TextBox 96"/>
          <p:cNvSpPr txBox="1"/>
          <p:nvPr/>
        </p:nvSpPr>
        <p:spPr>
          <a:xfrm>
            <a:off x="738187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8" name="Picture 97" descr="lock.png"/>
          <p:cNvPicPr>
            <a:picLocks noChangeAspect="1"/>
          </p:cNvPicPr>
          <p:nvPr/>
        </p:nvPicPr>
        <p:blipFill>
          <a:blip r:embed="rId4"/>
          <a:stretch>
            <a:fillRect/>
          </a:stretch>
        </p:blipFill>
        <p:spPr>
          <a:xfrm>
            <a:off x="8930002" y="6224094"/>
            <a:ext cx="128699" cy="187198"/>
          </a:xfrm>
          <a:prstGeom prst="rect">
            <a:avLst/>
          </a:prstGeom>
        </p:spPr>
      </p:pic>
      <p:sp>
        <p:nvSpPr>
          <p:cNvPr id="99" name="TextBox 98"/>
          <p:cNvSpPr txBox="1"/>
          <p:nvPr/>
        </p:nvSpPr>
        <p:spPr>
          <a:xfrm>
            <a:off x="909749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Factors Impacting Pricing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314450"/>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B2E4A"/>
                          </a:solidFill>
                          <a:latin typeface="Calibri"/>
                        </a:rPr>
                        <a:t>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Impact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Score (0–10)</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How It Shapes Price</a:t>
                      </a:r>
                      <a:endParaRPr sz="1100"/>
                    </a:p>
                  </a:txBody>
                  <a:tcPr marL="47625" marR="38100" marT="19050" marB="19050" anchor="ctr">
                    <a:solidFill>
                      <a:srgbClr val="E0E8EF"/>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529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the Factors Imply</a:t>
            </a:r>
          </a:p>
        </p:txBody>
      </p:sp>
      <p:sp>
        <p:nvSpPr>
          <p:cNvPr id="16" name="Rectangle 15"/>
          <p:cNvSpPr/>
          <p:nvPr/>
        </p:nvSpPr>
        <p:spPr>
          <a:xfrm>
            <a:off x="276225" y="50768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102155" y="2764346"/>
            <a:ext cx="330041" cy="480060"/>
          </a:xfrm>
          <a:prstGeom prst="rect">
            <a:avLst/>
          </a:prstGeom>
        </p:spPr>
      </p:pic>
      <p:sp>
        <p:nvSpPr>
          <p:cNvPr id="20" name="TextBox 19"/>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21" name="Picture 20" descr="lock.png"/>
          <p:cNvPicPr>
            <a:picLocks noChangeAspect="1"/>
          </p:cNvPicPr>
          <p:nvPr/>
        </p:nvPicPr>
        <p:blipFill>
          <a:blip r:embed="rId4"/>
          <a:stretch>
            <a:fillRect/>
          </a:stretch>
        </p:blipFill>
        <p:spPr>
          <a:xfrm>
            <a:off x="5650945" y="5161851"/>
            <a:ext cx="134549" cy="195707"/>
          </a:xfrm>
          <a:prstGeom prst="rect">
            <a:avLst/>
          </a:prstGeom>
        </p:spPr>
      </p:pic>
      <p:sp>
        <p:nvSpPr>
          <p:cNvPr id="22" name="TextBox 21"/>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3" name="Picture 22" descr="lock.png"/>
          <p:cNvPicPr>
            <a:picLocks noChangeAspect="1"/>
          </p:cNvPicPr>
          <p:nvPr/>
        </p:nvPicPr>
        <p:blipFill>
          <a:blip r:embed="rId4"/>
          <a:stretch>
            <a:fillRect/>
          </a:stretch>
        </p:blipFill>
        <p:spPr>
          <a:xfrm>
            <a:off x="6074762" y="5161851"/>
            <a:ext cx="134549" cy="195707"/>
          </a:xfrm>
          <a:prstGeom prst="rect">
            <a:avLst/>
          </a:prstGeom>
        </p:spPr>
      </p:pic>
      <p:sp>
        <p:nvSpPr>
          <p:cNvPr id="24" name="TextBox 23"/>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5" name="TextBox 24"/>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6" name="TextBox 25"/>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7" name="TextBox 26"/>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Regional Price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(US$/Patient Treatment Courses) and price trajectory to 2036.</a:t>
            </a:r>
          </a:p>
        </p:txBody>
      </p:sp>
      <p:sp>
        <p:nvSpPr>
          <p:cNvPr id="11" name="Rounded Rectangle 10"/>
          <p:cNvSpPr/>
          <p:nvPr/>
        </p:nvSpPr>
        <p:spPr>
          <a:xfrm>
            <a:off x="142875" y="1317574"/>
            <a:ext cx="590550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(US$/Patient Treatment Courses)</a:t>
            </a:r>
          </a:p>
        </p:txBody>
      </p:sp>
      <p:graphicFrame>
        <p:nvGraphicFramePr>
          <p:cNvPr id="13" name="Table 12"/>
          <p:cNvGraphicFramePr>
            <a:graphicFrameLocks noGrp="1"/>
          </p:cNvGraphicFramePr>
          <p:nvPr/>
        </p:nvGraphicFramePr>
        <p:xfrm>
          <a:off x="152400" y="1574749"/>
          <a:ext cx="5886452" cy="2271330"/>
        </p:xfrm>
        <a:graphic>
          <a:graphicData uri="http://schemas.openxmlformats.org/drawingml/2006/table">
            <a:tbl>
              <a:tblPr>
                <a:tableStyleId>{5C22544A-7EE6-4342-B048-85BDC9FD1C3A}</a:tableStyleId>
              </a:tblPr>
              <a:tblGrid>
                <a:gridCol w="1370904"/>
                <a:gridCol w="1128887"/>
                <a:gridCol w="1128887"/>
                <a:gridCol w="1128887"/>
                <a:gridCol w="1128887"/>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Manufacturer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Distribution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Retail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 Margin (%)</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6200775" y="1317574"/>
            <a:ext cx="584835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(US$/Patient Treatment Courses)</a:t>
            </a:r>
          </a:p>
        </p:txBody>
      </p:sp>
      <p:graphicFrame>
        <p:nvGraphicFramePr>
          <p:cNvPr id="17" name="Table 16"/>
          <p:cNvGraphicFramePr>
            <a:graphicFrameLocks noGrp="1"/>
          </p:cNvGraphicFramePr>
          <p:nvPr/>
        </p:nvGraphicFramePr>
        <p:xfrm>
          <a:off x="6210300" y="1574749"/>
          <a:ext cx="5829299" cy="2271330"/>
        </p:xfrm>
        <a:graphic>
          <a:graphicData uri="http://schemas.openxmlformats.org/drawingml/2006/table">
            <a:tbl>
              <a:tblPr>
                <a:tableStyleId>{5C22544A-7EE6-4342-B048-85BDC9FD1C3A}</a:tableStyleId>
              </a:tblPr>
              <a:tblGrid>
                <a:gridCol w="2038759"/>
                <a:gridCol w="947635"/>
                <a:gridCol w="947635"/>
                <a:gridCol w="947635"/>
                <a:gridCol w="947635"/>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8" name="TextBox 17"/>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142875" y="4201658"/>
            <a:ext cx="119062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This Section Covers</a:t>
            </a:r>
          </a:p>
        </p:txBody>
      </p:sp>
      <p:sp>
        <p:nvSpPr>
          <p:cNvPr id="21" name="Rectangle 20"/>
          <p:cNvSpPr/>
          <p:nvPr/>
        </p:nvSpPr>
        <p:spPr>
          <a:xfrm>
            <a:off x="276225" y="4525508"/>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3594387" y="2566777"/>
            <a:ext cx="366712" cy="533399"/>
          </a:xfrm>
          <a:prstGeom prst="rect">
            <a:avLst/>
          </a:prstGeom>
        </p:spPr>
      </p:pic>
      <p:pic>
        <p:nvPicPr>
          <p:cNvPr id="25" name="Picture 24" descr="lock.png"/>
          <p:cNvPicPr>
            <a:picLocks noChangeAspect="1"/>
          </p:cNvPicPr>
          <p:nvPr/>
        </p:nvPicPr>
        <p:blipFill>
          <a:blip r:embed="rId4"/>
          <a:stretch>
            <a:fillRect/>
          </a:stretch>
        </p:blipFill>
        <p:spPr>
          <a:xfrm>
            <a:off x="9957639" y="2566777"/>
            <a:ext cx="366712" cy="533400"/>
          </a:xfrm>
          <a:prstGeom prst="rect">
            <a:avLst/>
          </a:prstGeom>
        </p:spPr>
      </p:pic>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Global Pricing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therapy format type and region (US$/Patient Treatment Courses).</a:t>
            </a:r>
          </a:p>
        </p:txBody>
      </p:sp>
      <p:sp>
        <p:nvSpPr>
          <p:cNvPr id="11" name="Rounded Rectangle 10"/>
          <p:cNvSpPr/>
          <p:nvPr/>
        </p:nvSpPr>
        <p:spPr>
          <a:xfrm>
            <a:off x="142875" y="1314450"/>
            <a:ext cx="11906250" cy="2781300"/>
          </a:xfrm>
          <a:prstGeom prst="roundRect">
            <a:avLst>
              <a:gd name="adj" fmla="val 27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Therapy Format (US$/Patient Treatment Courses)</a:t>
            </a:r>
          </a:p>
        </p:txBody>
      </p:sp>
      <p:graphicFrame>
        <p:nvGraphicFramePr>
          <p:cNvPr id="13" name="Table 12"/>
          <p:cNvGraphicFramePr>
            <a:graphicFrameLocks noGrp="1"/>
          </p:cNvGraphicFramePr>
          <p:nvPr/>
        </p:nvGraphicFramePr>
        <p:xfrm>
          <a:off x="152400" y="1571625"/>
          <a:ext cx="11887200" cy="2314578"/>
        </p:xfrm>
        <a:graphic>
          <a:graphicData uri="http://schemas.openxmlformats.org/drawingml/2006/table">
            <a:tbl>
              <a:tblPr>
                <a:tableStyleId>{5C22544A-7EE6-4342-B048-85BDC9FD1C3A}</a:tableStyleId>
              </a:tblPr>
              <a:tblGrid>
                <a:gridCol w="1478776"/>
                <a:gridCol w="2602106"/>
                <a:gridCol w="2602106"/>
                <a:gridCol w="2602106"/>
                <a:gridCol w="2602106"/>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Subcutaneous Immunotherapy (SCIT)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Sublingual Immunotherapy (SLIT)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Oral Immunotherapy (OIT)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Weighted Avg</a:t>
                      </a:r>
                      <a:endParaRPr sz="1100"/>
                    </a:p>
                  </a:txBody>
                  <a:tcPr marL="47625" marR="38100" marT="19050" marB="19050" anchor="ctr">
                    <a:solidFill>
                      <a:srgbClr val="E0E8EF"/>
                    </a:solidFill>
                  </a:tcPr>
                </a:tc>
              </a:tr>
              <a:tr h="344742">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44742">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44742">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44742">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44742">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44742">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8957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248150"/>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333875"/>
            <a:ext cx="11639550" cy="209550"/>
          </a:xfrm>
          <a:prstGeom prst="rect">
            <a:avLst/>
          </a:prstGeom>
          <a:noFill/>
        </p:spPr>
        <p:txBody>
          <a:bodyPr wrap="square" lIns="0" rIns="19050" tIns="9525" bIns="9525">
            <a:spAutoFit/>
          </a:bodyPr>
          <a:lstStyle/>
          <a:p>
            <a:pPr algn="l"/>
            <a:r>
              <a:rPr sz="1300" b="1">
                <a:solidFill>
                  <a:srgbClr val="0B2E4A"/>
                </a:solidFill>
                <a:latin typeface="Calibri"/>
              </a:rPr>
              <a:t>Benchmarking Insights</a:t>
            </a:r>
          </a:p>
        </p:txBody>
      </p:sp>
      <p:sp>
        <p:nvSpPr>
          <p:cNvPr id="17" name="Rectangle 16"/>
          <p:cNvSpPr/>
          <p:nvPr/>
        </p:nvSpPr>
        <p:spPr>
          <a:xfrm>
            <a:off x="276225" y="45720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57725"/>
            <a:ext cx="11639550" cy="18097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48698" y="2585277"/>
            <a:ext cx="366712" cy="533400"/>
          </a:xfrm>
          <a:prstGeom prst="rect">
            <a:avLst/>
          </a:prstGeom>
        </p:spPr>
      </p:pic>
      <p:sp>
        <p:nvSpPr>
          <p:cNvPr id="21" name="TextBox 20"/>
          <p:cNvSpPr txBox="1"/>
          <p:nvPr/>
        </p:nvSpPr>
        <p:spPr>
          <a:xfrm>
            <a:off x="276225" y="4667250"/>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2" name="Picture 21" descr="lock.png"/>
          <p:cNvPicPr>
            <a:picLocks noChangeAspect="1"/>
          </p:cNvPicPr>
          <p:nvPr/>
        </p:nvPicPr>
        <p:blipFill>
          <a:blip r:embed="rId4"/>
          <a:stretch>
            <a:fillRect/>
          </a:stretch>
        </p:blipFill>
        <p:spPr>
          <a:xfrm>
            <a:off x="4867067" y="4657026"/>
            <a:ext cx="134549" cy="195707"/>
          </a:xfrm>
          <a:prstGeom prst="rect">
            <a:avLst/>
          </a:prstGeom>
        </p:spPr>
      </p:pic>
      <p:sp>
        <p:nvSpPr>
          <p:cNvPr id="23" name="TextBox 22"/>
          <p:cNvSpPr txBox="1"/>
          <p:nvPr/>
        </p:nvSpPr>
        <p:spPr>
          <a:xfrm>
            <a:off x="5042176" y="4667250"/>
            <a:ext cx="4985990" cy="194310"/>
          </a:xfrm>
          <a:prstGeom prst="rect">
            <a:avLst/>
          </a:prstGeom>
          <a:noFill/>
        </p:spPr>
        <p:txBody>
          <a:bodyPr wrap="none" lIns="0" rIns="0" tIns="0" bIns="0">
            <a:spAutoFit/>
          </a:bodyPr>
          <a:lstStyle/>
          <a:p>
            <a:r>
              <a:rPr sz="1150" b="0">
                <a:solidFill>
                  <a:srgbClr val="2E2E2E"/>
                </a:solidFill>
                <a:latin typeface="Calibri"/>
              </a:rPr>
              <a:t>US$/Patient Treatment Courses) and 'South Asia &amp; Pacific' the most competitive (~</a:t>
            </a:r>
          </a:p>
        </p:txBody>
      </p:sp>
      <p:pic>
        <p:nvPicPr>
          <p:cNvPr id="24" name="Picture 23" descr="lock.png"/>
          <p:cNvPicPr>
            <a:picLocks noChangeAspect="1"/>
          </p:cNvPicPr>
          <p:nvPr/>
        </p:nvPicPr>
        <p:blipFill>
          <a:blip r:embed="rId4"/>
          <a:stretch>
            <a:fillRect/>
          </a:stretch>
        </p:blipFill>
        <p:spPr>
          <a:xfrm>
            <a:off x="9977321" y="4657026"/>
            <a:ext cx="134549" cy="195707"/>
          </a:xfrm>
          <a:prstGeom prst="rect">
            <a:avLst/>
          </a:prstGeom>
        </p:spPr>
      </p:pic>
      <p:sp>
        <p:nvSpPr>
          <p:cNvPr id="25" name="TextBox 24"/>
          <p:cNvSpPr txBox="1"/>
          <p:nvPr/>
        </p:nvSpPr>
        <p:spPr>
          <a:xfrm>
            <a:off x="10152430" y="4667250"/>
            <a:ext cx="1456828" cy="194310"/>
          </a:xfrm>
          <a:prstGeom prst="rect">
            <a:avLst/>
          </a:prstGeom>
          <a:noFill/>
        </p:spPr>
        <p:txBody>
          <a:bodyPr wrap="none" lIns="0" rIns="0" tIns="0" bIns="0">
            <a:spAutoFit/>
          </a:bodyPr>
          <a:lstStyle/>
          <a:p>
            <a:r>
              <a:rPr sz="1150" b="0">
                <a:solidFill>
                  <a:srgbClr val="2E2E2E"/>
                </a:solidFill>
                <a:latin typeface="Calibri"/>
              </a:rPr>
              <a:t>US$/Patient Treatment</a:t>
            </a:r>
          </a:p>
        </p:txBody>
      </p:sp>
      <p:sp>
        <p:nvSpPr>
          <p:cNvPr id="26" name="TextBox 25"/>
          <p:cNvSpPr txBox="1"/>
          <p:nvPr/>
        </p:nvSpPr>
        <p:spPr>
          <a:xfrm>
            <a:off x="276225" y="4842510"/>
            <a:ext cx="626740" cy="194310"/>
          </a:xfrm>
          <a:prstGeom prst="rect">
            <a:avLst/>
          </a:prstGeom>
          <a:noFill/>
        </p:spPr>
        <p:txBody>
          <a:bodyPr wrap="none" lIns="0" rIns="0" tIns="0" bIns="0">
            <a:spAutoFit/>
          </a:bodyPr>
          <a:lstStyle/>
          <a:p>
            <a:r>
              <a:rPr sz="1150" b="0">
                <a:solidFill>
                  <a:srgbClr val="2E2E2E"/>
                </a:solidFill>
                <a:latin typeface="Calibri"/>
              </a:rPr>
              <a:t>Courses).</a:t>
            </a:r>
          </a:p>
        </p:txBody>
      </p:sp>
      <p:sp>
        <p:nvSpPr>
          <p:cNvPr id="27" name="TextBox 26"/>
          <p:cNvSpPr txBox="1"/>
          <p:nvPr/>
        </p:nvSpPr>
        <p:spPr>
          <a:xfrm>
            <a:off x="276225" y="5070347"/>
            <a:ext cx="6066246" cy="194310"/>
          </a:xfrm>
          <a:prstGeom prst="rect">
            <a:avLst/>
          </a:prstGeom>
          <a:noFill/>
        </p:spPr>
        <p:txBody>
          <a:bodyPr wrap="none" lIns="0" rIns="0" tIns="0" bIns="0">
            <a:spAutoFit/>
          </a:bodyPr>
          <a:lstStyle/>
          <a:p>
            <a:r>
              <a:rPr sz="1150" b="0">
                <a:solidFill>
                  <a:srgbClr val="2E2E2E"/>
                </a:solidFill>
                <a:latin typeface="Calibri"/>
              </a:rPr>
              <a:t>▪ Price ranges are benchmarked per therapy format type at 2026, derived as Value ÷ Volume with a ±</a:t>
            </a:r>
          </a:p>
        </p:txBody>
      </p:sp>
      <p:pic>
        <p:nvPicPr>
          <p:cNvPr id="28" name="Picture 27" descr="lock.png"/>
          <p:cNvPicPr>
            <a:picLocks noChangeAspect="1"/>
          </p:cNvPicPr>
          <p:nvPr/>
        </p:nvPicPr>
        <p:blipFill>
          <a:blip r:embed="rId4"/>
          <a:stretch>
            <a:fillRect/>
          </a:stretch>
        </p:blipFill>
        <p:spPr>
          <a:xfrm>
            <a:off x="6291625" y="5060124"/>
            <a:ext cx="134549" cy="195707"/>
          </a:xfrm>
          <a:prstGeom prst="rect">
            <a:avLst/>
          </a:prstGeom>
        </p:spPr>
      </p:pic>
      <p:sp>
        <p:nvSpPr>
          <p:cNvPr id="29" name="TextBox 28"/>
          <p:cNvSpPr txBox="1"/>
          <p:nvPr/>
        </p:nvSpPr>
        <p:spPr>
          <a:xfrm>
            <a:off x="6466734" y="5070347"/>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30" name="TextBox 29"/>
          <p:cNvSpPr txBox="1"/>
          <p:nvPr/>
        </p:nvSpPr>
        <p:spPr>
          <a:xfrm>
            <a:off x="276225" y="5298185"/>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31" name="Picture 30" descr="lock.png"/>
          <p:cNvPicPr>
            <a:picLocks noChangeAspect="1"/>
          </p:cNvPicPr>
          <p:nvPr/>
        </p:nvPicPr>
        <p:blipFill>
          <a:blip r:embed="rId4"/>
          <a:stretch>
            <a:fillRect/>
          </a:stretch>
        </p:blipFill>
        <p:spPr>
          <a:xfrm>
            <a:off x="2366246" y="5287962"/>
            <a:ext cx="134549" cy="195707"/>
          </a:xfrm>
          <a:prstGeom prst="rect">
            <a:avLst/>
          </a:prstGeom>
        </p:spPr>
      </p:pic>
      <p:sp>
        <p:nvSpPr>
          <p:cNvPr id="32" name="TextBox 31"/>
          <p:cNvSpPr txBox="1"/>
          <p:nvPr/>
        </p:nvSpPr>
        <p:spPr>
          <a:xfrm>
            <a:off x="2541355" y="5298185"/>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3" name="TextBox 32"/>
          <p:cNvSpPr txBox="1"/>
          <p:nvPr/>
        </p:nvSpPr>
        <p:spPr>
          <a:xfrm>
            <a:off x="276225" y="5526023"/>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Price Forecast &amp; Dynamics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therapy format type and the structural factors shaping it (US$/Patient Treatment Courses).</a:t>
            </a:r>
          </a:p>
        </p:txBody>
      </p:sp>
      <p:sp>
        <p:nvSpPr>
          <p:cNvPr id="11" name="Rounded Rectangle 10"/>
          <p:cNvSpPr/>
          <p:nvPr/>
        </p:nvSpPr>
        <p:spPr>
          <a:xfrm>
            <a:off x="142875" y="1317574"/>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Therapy Format (US$/Patient Treatment Courses)</a:t>
            </a:r>
          </a:p>
        </p:txBody>
      </p:sp>
      <p:graphicFrame>
        <p:nvGraphicFramePr>
          <p:cNvPr id="13" name="Table 12"/>
          <p:cNvGraphicFramePr>
            <a:graphicFrameLocks noGrp="1"/>
          </p:cNvGraphicFramePr>
          <p:nvPr/>
        </p:nvGraphicFramePr>
        <p:xfrm>
          <a:off x="152400" y="1574749"/>
          <a:ext cx="11887201" cy="1504674"/>
        </p:xfrm>
        <a:graphic>
          <a:graphicData uri="http://schemas.openxmlformats.org/drawingml/2006/table">
            <a:tbl>
              <a:tblPr>
                <a:tableStyleId>{5C22544A-7EE6-4342-B048-85BDC9FD1C3A}</a:tableStyleId>
              </a:tblPr>
              <a:tblGrid>
                <a:gridCol w="4118035"/>
                <a:gridCol w="1294861"/>
                <a:gridCol w="1294861"/>
                <a:gridCol w="1294861"/>
                <a:gridCol w="1294861"/>
                <a:gridCol w="1294861"/>
                <a:gridCol w="1294861"/>
              </a:tblGrid>
              <a:tr h="246126">
                <a:tc>
                  <a:txBody>
                    <a:bodyPr wrap="none"/>
                    <a:lstStyle/>
                    <a:p>
                      <a:pPr algn="l"/>
                      <a:r>
                        <a:rPr sz="1100" b="1">
                          <a:solidFill>
                            <a:srgbClr val="0B2E4A"/>
                          </a:solidFill>
                          <a:latin typeface="Calibri"/>
                        </a:rPr>
                        <a:t>Therapy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419516">
                <a:tc>
                  <a:txBody>
                    <a:bodyPr wrap="none"/>
                    <a:lstStyle/>
                    <a:p>
                      <a:pPr algn="l"/>
                      <a:r>
                        <a:rPr sz="1100" b="1">
                          <a:solidFill>
                            <a:srgbClr val="2E2E2E"/>
                          </a:solidFill>
                          <a:latin typeface="Calibri"/>
                        </a:rPr>
                        <a:t>Subcutaneous Immunotherapy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19516">
                <a:tc>
                  <a:txBody>
                    <a:bodyPr wrap="none"/>
                    <a:lstStyle/>
                    <a:p>
                      <a:pPr algn="l"/>
                      <a:r>
                        <a:rPr sz="1100" b="1">
                          <a:solidFill>
                            <a:srgbClr val="2E2E2E"/>
                          </a:solidFill>
                          <a:latin typeface="Calibri"/>
                        </a:rPr>
                        <a:t>Sublingual Immunotherapy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19516">
                <a:tc>
                  <a:txBody>
                    <a:bodyPr wrap="none"/>
                    <a:lstStyle/>
                    <a:p>
                      <a:pPr algn="l"/>
                      <a:r>
                        <a:rPr sz="1100" b="1">
                          <a:solidFill>
                            <a:srgbClr val="2E2E2E"/>
                          </a:solidFill>
                          <a:latin typeface="Calibri"/>
                        </a:rPr>
                        <a:t>Oral Immunotherapy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B2E4A"/>
                          </a:solidFill>
                          <a:latin typeface="Calibri"/>
                        </a:rPr>
                        <a:t>Pricing 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Impact (H/M/L)</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8FA"/>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bl>
          </a:graphicData>
        </a:graphic>
      </p:graphicFrame>
      <p:sp>
        <p:nvSpPr>
          <p:cNvPr id="18" name="TextBox 17"/>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3398495"/>
            <a:ext cx="584835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722345"/>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7968328" y="2183449"/>
            <a:ext cx="366712" cy="533400"/>
          </a:xfrm>
          <a:prstGeom prst="rect">
            <a:avLst/>
          </a:prstGeom>
        </p:spPr>
      </p:pic>
      <p:sp>
        <p:nvSpPr>
          <p:cNvPr id="25" name="TextBox 24"/>
          <p:cNvSpPr txBox="1"/>
          <p:nvPr/>
        </p:nvSpPr>
        <p:spPr>
          <a:xfrm>
            <a:off x="6334125" y="3817595"/>
            <a:ext cx="3477242" cy="194310"/>
          </a:xfrm>
          <a:prstGeom prst="rect">
            <a:avLst/>
          </a:prstGeom>
          <a:noFill/>
        </p:spPr>
        <p:txBody>
          <a:bodyPr wrap="none" lIns="0" rIns="0" tIns="0" bIns="0">
            <a:spAutoFit/>
          </a:bodyPr>
          <a:lstStyle/>
          <a:p>
            <a:r>
              <a:rPr sz="1150" b="0">
                <a:solidFill>
                  <a:srgbClr val="2E2E2E"/>
                </a:solidFill>
                <a:latin typeface="Calibri"/>
              </a:rPr>
              <a:t>▪ Average therapy format price is projected to rise from ~</a:t>
            </a:r>
          </a:p>
        </p:txBody>
      </p:sp>
      <p:pic>
        <p:nvPicPr>
          <p:cNvPr id="26" name="Picture 25" descr="lock.png"/>
          <p:cNvPicPr>
            <a:picLocks noChangeAspect="1"/>
          </p:cNvPicPr>
          <p:nvPr/>
        </p:nvPicPr>
        <p:blipFill>
          <a:blip r:embed="rId4"/>
          <a:stretch>
            <a:fillRect/>
          </a:stretch>
        </p:blipFill>
        <p:spPr>
          <a:xfrm>
            <a:off x="9760521" y="3807371"/>
            <a:ext cx="134549" cy="195707"/>
          </a:xfrm>
          <a:prstGeom prst="rect">
            <a:avLst/>
          </a:prstGeom>
        </p:spPr>
      </p:pic>
      <p:sp>
        <p:nvSpPr>
          <p:cNvPr id="27" name="TextBox 26"/>
          <p:cNvSpPr txBox="1"/>
          <p:nvPr/>
        </p:nvSpPr>
        <p:spPr>
          <a:xfrm>
            <a:off x="9935630"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8" name="Picture 27" descr="lock.png"/>
          <p:cNvPicPr>
            <a:picLocks noChangeAspect="1"/>
          </p:cNvPicPr>
          <p:nvPr/>
        </p:nvPicPr>
        <p:blipFill>
          <a:blip r:embed="rId4"/>
          <a:stretch>
            <a:fillRect/>
          </a:stretch>
        </p:blipFill>
        <p:spPr>
          <a:xfrm>
            <a:off x="10192895" y="3807371"/>
            <a:ext cx="134549" cy="195707"/>
          </a:xfrm>
          <a:prstGeom prst="rect">
            <a:avLst/>
          </a:prstGeom>
        </p:spPr>
      </p:pic>
      <p:sp>
        <p:nvSpPr>
          <p:cNvPr id="29" name="TextBox 28"/>
          <p:cNvSpPr txBox="1"/>
          <p:nvPr/>
        </p:nvSpPr>
        <p:spPr>
          <a:xfrm>
            <a:off x="10368005" y="3817595"/>
            <a:ext cx="794469" cy="194310"/>
          </a:xfrm>
          <a:prstGeom prst="rect">
            <a:avLst/>
          </a:prstGeom>
          <a:noFill/>
        </p:spPr>
        <p:txBody>
          <a:bodyPr wrap="none" lIns="0" rIns="0" tIns="0" bIns="0">
            <a:spAutoFit/>
          </a:bodyPr>
          <a:lstStyle/>
          <a:p>
            <a:r>
              <a:rPr sz="1150" b="0">
                <a:solidFill>
                  <a:srgbClr val="2E2E2E"/>
                </a:solidFill>
                <a:latin typeface="Calibri"/>
              </a:rPr>
              <a:t>US$/Patient</a:t>
            </a:r>
          </a:p>
        </p:txBody>
      </p:sp>
      <p:sp>
        <p:nvSpPr>
          <p:cNvPr id="30" name="TextBox 29"/>
          <p:cNvSpPr txBox="1"/>
          <p:nvPr/>
        </p:nvSpPr>
        <p:spPr>
          <a:xfrm>
            <a:off x="6334125" y="3992855"/>
            <a:ext cx="1922648" cy="194310"/>
          </a:xfrm>
          <a:prstGeom prst="rect">
            <a:avLst/>
          </a:prstGeom>
          <a:noFill/>
        </p:spPr>
        <p:txBody>
          <a:bodyPr wrap="none" lIns="0" rIns="0" tIns="0" bIns="0">
            <a:spAutoFit/>
          </a:bodyPr>
          <a:lstStyle/>
          <a:p>
            <a:r>
              <a:rPr sz="1150" b="0">
                <a:solidFill>
                  <a:srgbClr val="2E2E2E"/>
                </a:solidFill>
                <a:latin typeface="Calibri"/>
              </a:rPr>
              <a:t>Treatment Courses by 2036 a +</a:t>
            </a:r>
          </a:p>
        </p:txBody>
      </p:sp>
      <p:pic>
        <p:nvPicPr>
          <p:cNvPr id="31" name="Picture 30" descr="lock.png"/>
          <p:cNvPicPr>
            <a:picLocks noChangeAspect="1"/>
          </p:cNvPicPr>
          <p:nvPr/>
        </p:nvPicPr>
        <p:blipFill>
          <a:blip r:embed="rId4"/>
          <a:stretch>
            <a:fillRect/>
          </a:stretch>
        </p:blipFill>
        <p:spPr>
          <a:xfrm>
            <a:off x="8205927" y="3982631"/>
            <a:ext cx="134549" cy="195707"/>
          </a:xfrm>
          <a:prstGeom prst="rect">
            <a:avLst/>
          </a:prstGeom>
        </p:spPr>
      </p:pic>
      <p:sp>
        <p:nvSpPr>
          <p:cNvPr id="32" name="TextBox 31"/>
          <p:cNvSpPr txBox="1"/>
          <p:nvPr/>
        </p:nvSpPr>
        <p:spPr>
          <a:xfrm>
            <a:off x="8381036"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3" name="TextBox 32"/>
          <p:cNvSpPr txBox="1"/>
          <p:nvPr/>
        </p:nvSpPr>
        <p:spPr>
          <a:xfrm>
            <a:off x="6334125" y="4220692"/>
            <a:ext cx="4841366" cy="194310"/>
          </a:xfrm>
          <a:prstGeom prst="rect">
            <a:avLst/>
          </a:prstGeom>
          <a:noFill/>
        </p:spPr>
        <p:txBody>
          <a:bodyPr wrap="none" lIns="0" rIns="0" tIns="0" bIns="0">
            <a:spAutoFit/>
          </a:bodyPr>
          <a:lstStyle/>
          <a:p>
            <a:r>
              <a:rPr sz="1150" b="0">
                <a:solidFill>
                  <a:srgbClr val="2E2E2E"/>
                </a:solidFill>
                <a:latin typeface="Calibri"/>
              </a:rPr>
              <a:t>▪ 'Sublingual Immunotherapy' shows the strongest forecast price appreciation (+</a:t>
            </a:r>
          </a:p>
        </p:txBody>
      </p:sp>
      <p:pic>
        <p:nvPicPr>
          <p:cNvPr id="34" name="Picture 33" descr="lock.png"/>
          <p:cNvPicPr>
            <a:picLocks noChangeAspect="1"/>
          </p:cNvPicPr>
          <p:nvPr/>
        </p:nvPicPr>
        <p:blipFill>
          <a:blip r:embed="rId4"/>
          <a:stretch>
            <a:fillRect/>
          </a:stretch>
        </p:blipFill>
        <p:spPr>
          <a:xfrm>
            <a:off x="11124645" y="4210469"/>
            <a:ext cx="134549" cy="195707"/>
          </a:xfrm>
          <a:prstGeom prst="rect">
            <a:avLst/>
          </a:prstGeom>
        </p:spPr>
      </p:pic>
      <p:sp>
        <p:nvSpPr>
          <p:cNvPr id="35" name="TextBox 34"/>
          <p:cNvSpPr txBox="1"/>
          <p:nvPr/>
        </p:nvSpPr>
        <p:spPr>
          <a:xfrm>
            <a:off x="11299754" y="4220692"/>
            <a:ext cx="420216" cy="194310"/>
          </a:xfrm>
          <a:prstGeom prst="rect">
            <a:avLst/>
          </a:prstGeom>
          <a:noFill/>
        </p:spPr>
        <p:txBody>
          <a:bodyPr wrap="none" lIns="0" rIns="0" tIns="0" bIns="0">
            <a:spAutoFit/>
          </a:bodyPr>
          <a:lstStyle/>
          <a:p>
            <a:r>
              <a:rPr sz="1150" b="0">
                <a:solidFill>
                  <a:srgbClr val="2E2E2E"/>
                </a:solidFill>
                <a:latin typeface="Calibri"/>
              </a:rPr>
              <a:t>) over</a:t>
            </a:r>
          </a:p>
        </p:txBody>
      </p:sp>
      <p:sp>
        <p:nvSpPr>
          <p:cNvPr id="36" name="TextBox 35"/>
          <p:cNvSpPr txBox="1"/>
          <p:nvPr/>
        </p:nvSpPr>
        <p:spPr>
          <a:xfrm>
            <a:off x="6334125" y="4395952"/>
            <a:ext cx="794469" cy="194310"/>
          </a:xfrm>
          <a:prstGeom prst="rect">
            <a:avLst/>
          </a:prstGeom>
          <a:noFill/>
        </p:spPr>
        <p:txBody>
          <a:bodyPr wrap="none" lIns="0" rIns="0" tIns="0" bIns="0">
            <a:spAutoFit/>
          </a:bodyPr>
          <a:lstStyle/>
          <a:p>
            <a:r>
              <a:rPr sz="1150" b="0">
                <a:solidFill>
                  <a:srgbClr val="2E2E2E"/>
                </a:solidFill>
                <a:latin typeface="Calibri"/>
              </a:rPr>
              <a:t>the horizon.</a:t>
            </a:r>
          </a:p>
        </p:txBody>
      </p:sp>
      <p:sp>
        <p:nvSpPr>
          <p:cNvPr id="37" name="TextBox 36"/>
          <p:cNvSpPr txBox="1"/>
          <p:nvPr/>
        </p:nvSpPr>
        <p:spPr>
          <a:xfrm>
            <a:off x="6334125" y="462379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8" name="TextBox 37"/>
          <p:cNvSpPr txBox="1"/>
          <p:nvPr/>
        </p:nvSpPr>
        <p:spPr>
          <a:xfrm>
            <a:off x="6334125" y="479905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9" name="TextBox 38"/>
          <p:cNvSpPr txBox="1"/>
          <p:nvPr/>
        </p:nvSpPr>
        <p:spPr>
          <a:xfrm>
            <a:off x="6334125" y="502688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40" name="TextBox 39"/>
          <p:cNvSpPr txBox="1"/>
          <p:nvPr/>
        </p:nvSpPr>
        <p:spPr>
          <a:xfrm>
            <a:off x="6334125" y="520214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Competitor Pricing Strategies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10" name="Rounded Rectangle 9"/>
          <p:cNvSpPr/>
          <p:nvPr/>
        </p:nvSpPr>
        <p:spPr>
          <a:xfrm>
            <a:off x="142875" y="1007261"/>
            <a:ext cx="769620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11" name="Rounded Rectangle 10"/>
          <p:cNvSpPr/>
          <p:nvPr/>
        </p:nvSpPr>
        <p:spPr>
          <a:xfrm>
            <a:off x="142875" y="1317574"/>
            <a:ext cx="769620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3774"/>
          <a:ext cx="7677151" cy="3619746"/>
        </p:xfrm>
        <a:graphic>
          <a:graphicData uri="http://schemas.openxmlformats.org/drawingml/2006/table">
            <a:tbl>
              <a:tblPr>
                <a:tableStyleId>{5C22544A-7EE6-4342-B048-85BDC9FD1C3A}</a:tableStyleId>
              </a:tblPr>
              <a:tblGrid>
                <a:gridCol w="2752019"/>
                <a:gridCol w="498457"/>
                <a:gridCol w="1047902"/>
                <a:gridCol w="980965"/>
                <a:gridCol w="2397808"/>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Tier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ASP vs Peers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Strategy Focus</a:t>
                      </a:r>
                      <a:endParaRPr sz="1100"/>
                    </a:p>
                  </a:txBody>
                  <a:tcPr marL="47625" marR="38100" marT="19050" marB="19050" anchor="ctr">
                    <a:solidFill>
                      <a:srgbClr val="E0E8EF"/>
                    </a:solidFill>
                  </a:tcPr>
                </a:tc>
              </a:tr>
              <a:tr h="562270">
                <a:tc>
                  <a:txBody>
                    <a:bodyPr wrap="none"/>
                    <a:lstStyle/>
                    <a:p>
                      <a:pPr algn="l"/>
                      <a:r>
                        <a:rPr sz="1100" b="1">
                          <a:solidFill>
                            <a:srgbClr val="2E2E2E"/>
                          </a:solidFill>
                          <a:latin typeface="Calibri"/>
                        </a:rPr>
                        <a:t>ALK-Abelló A/S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Stallergenes Greer International AG</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Allergy Therapeutics plc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HAL Allergy Group</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LETI Pharma / Laboratorios LETI, S.L.U.</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Jubilant HollisterStier LLC</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351641"/>
            <a:ext cx="7696200" cy="365074"/>
          </a:xfrm>
          <a:prstGeom prst="roundRect">
            <a:avLst>
              <a:gd name="adj" fmla="val 208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5" name="Rounded Rectangle 1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Competitive Pricing Themes</a:t>
            </a:r>
          </a:p>
        </p:txBody>
      </p:sp>
      <p:sp>
        <p:nvSpPr>
          <p:cNvPr id="17" name="Rectangle 1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4773239" y="3086680"/>
            <a:ext cx="330041" cy="480060"/>
          </a:xfrm>
          <a:prstGeom prst="rect">
            <a:avLst/>
          </a:prstGeom>
        </p:spPr>
      </p:pic>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Allergy Immunotherapy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Value Chain &amp; Stakeholder Mapping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10" name="TextBox 9"/>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22" name="Rounded Rectangle 21"/>
          <p:cNvSpPr/>
          <p:nvPr/>
        </p:nvSpPr>
        <p:spPr>
          <a:xfrm>
            <a:off x="457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6" name="TextBox 25"/>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5" name="Rounded Rectangle 34"/>
          <p:cNvSpPr/>
          <p:nvPr/>
        </p:nvSpPr>
        <p:spPr>
          <a:xfrm>
            <a:off x="2743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9" name="TextBox 38"/>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40" name="TextBox 39"/>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41" name="Oval 40"/>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8" name="Rounded Rectangle 47"/>
          <p:cNvSpPr/>
          <p:nvPr/>
        </p:nvSpPr>
        <p:spPr>
          <a:xfrm>
            <a:off x="5029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51" name="TextBox 50"/>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52" name="TextBox 51"/>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3" name="TextBox 52"/>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4" name="Oval 53"/>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0" name="Rounded Rectangle 59"/>
          <p:cNvSpPr/>
          <p:nvPr/>
        </p:nvSpPr>
        <p:spPr>
          <a:xfrm>
            <a:off x="7315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3" name="TextBox 62"/>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4" name="TextBox 63"/>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5" name="TextBox 64"/>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6" name="Oval 65"/>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71" name="Rounded Rectangle 70"/>
          <p:cNvSpPr/>
          <p:nvPr/>
        </p:nvSpPr>
        <p:spPr>
          <a:xfrm>
            <a:off x="9601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4" name="TextBox 73"/>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5" name="TextBox 74"/>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6" name="Rounded Rectangle 75"/>
          <p:cNvSpPr/>
          <p:nvPr/>
        </p:nvSpPr>
        <p:spPr>
          <a:xfrm>
            <a:off x="381000" y="5315134"/>
            <a:ext cx="11430000" cy="1204744"/>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B2E4A"/>
                </a:solidFill>
                <a:latin typeface="Calibri"/>
              </a:rPr>
              <a:t>Value-Added Read-out</a:t>
            </a:r>
          </a:p>
        </p:txBody>
      </p:sp>
      <p:sp>
        <p:nvSpPr>
          <p:cNvPr id="78" name="Rectangle 77"/>
          <p:cNvSpPr/>
          <p:nvPr/>
        </p:nvSpPr>
        <p:spPr>
          <a:xfrm>
            <a:off x="514350" y="5625447"/>
            <a:ext cx="111633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80" name="TextBox 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1459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3745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6031650" y="2611256"/>
            <a:ext cx="128699" cy="187198"/>
          </a:xfrm>
          <a:prstGeom prst="rect">
            <a:avLst/>
          </a:prstGeom>
        </p:spPr>
      </p:pic>
      <p:pic>
        <p:nvPicPr>
          <p:cNvPr id="84" name="Picture 83" descr="lock.png"/>
          <p:cNvPicPr>
            <a:picLocks noChangeAspect="1"/>
          </p:cNvPicPr>
          <p:nvPr/>
        </p:nvPicPr>
        <p:blipFill>
          <a:blip r:embed="rId4"/>
          <a:stretch>
            <a:fillRect/>
          </a:stretch>
        </p:blipFill>
        <p:spPr>
          <a:xfrm>
            <a:off x="8317650" y="2611256"/>
            <a:ext cx="128699" cy="187198"/>
          </a:xfrm>
          <a:prstGeom prst="rect">
            <a:avLst/>
          </a:prstGeom>
        </p:spPr>
      </p:pic>
      <p:pic>
        <p:nvPicPr>
          <p:cNvPr id="85" name="Picture 84" descr="lock.png"/>
          <p:cNvPicPr>
            <a:picLocks noChangeAspect="1"/>
          </p:cNvPicPr>
          <p:nvPr/>
        </p:nvPicPr>
        <p:blipFill>
          <a:blip r:embed="rId4"/>
          <a:stretch>
            <a:fillRect/>
          </a:stretch>
        </p:blipFill>
        <p:spPr>
          <a:xfrm>
            <a:off x="10603650" y="2611256"/>
            <a:ext cx="128699" cy="187198"/>
          </a:xfrm>
          <a:prstGeom prst="rect">
            <a:avLst/>
          </a:prstGeom>
        </p:spPr>
      </p:pic>
      <p:sp>
        <p:nvSpPr>
          <p:cNvPr id="86" name="TextBox 85"/>
          <p:cNvSpPr txBox="1"/>
          <p:nvPr/>
        </p:nvSpPr>
        <p:spPr>
          <a:xfrm>
            <a:off x="514350" y="5717113"/>
            <a:ext cx="6703000" cy="153161"/>
          </a:xfrm>
          <a:prstGeom prst="rect">
            <a:avLst/>
          </a:prstGeom>
          <a:noFill/>
        </p:spPr>
        <p:txBody>
          <a:bodyPr wrap="none" lIns="0" rIns="0" tIns="0" bIns="0">
            <a:spAutoFit/>
          </a:bodyPr>
          <a:lstStyle/>
          <a:p>
            <a:r>
              <a:rPr sz="879" b="0">
                <a:solidFill>
                  <a:srgbClr val="2E2E2E"/>
                </a:solidFill>
                <a:latin typeface="Calibri"/>
              </a:rPr>
              <a:t>▪ The Allergy Immunotherapy Market value chain runs from raw-material suppliers through manufacturers, distributors and retailers to end users.</a:t>
            </a:r>
          </a:p>
        </p:txBody>
      </p:sp>
      <p:sp>
        <p:nvSpPr>
          <p:cNvPr id="87" name="TextBox 86"/>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8" name="Picture 87" descr="lock.png"/>
          <p:cNvPicPr>
            <a:picLocks noChangeAspect="1"/>
          </p:cNvPicPr>
          <p:nvPr/>
        </p:nvPicPr>
        <p:blipFill>
          <a:blip r:embed="rId4"/>
          <a:stretch>
            <a:fillRect/>
          </a:stretch>
        </p:blipFill>
        <p:spPr>
          <a:xfrm>
            <a:off x="3566114" y="5883635"/>
            <a:ext cx="102959" cy="149758"/>
          </a:xfrm>
          <a:prstGeom prst="rect">
            <a:avLst/>
          </a:prstGeom>
        </p:spPr>
      </p:pic>
      <p:sp>
        <p:nvSpPr>
          <p:cNvPr id="89" name="TextBox 88"/>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90" name="TextBox 89"/>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91" name="TextBox 90"/>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Industry-Wide Operating Margin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10" name="Rounded Rectangle 9"/>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Allergy Immunotherapy Market Operating Margin by Region &amp; Node</a:t>
            </a:r>
          </a:p>
        </p:txBody>
      </p:sp>
      <p:graphicFrame>
        <p:nvGraphicFramePr>
          <p:cNvPr id="12" name="Table 11"/>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gridCol w="2669700"/>
                <a:gridCol w="2669700"/>
                <a:gridCol w="2669700"/>
                <a:gridCol w="266970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Node of Supply Chain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Operating Margin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Comparison to Parent Market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Notes</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81550"/>
            <a:ext cx="1190625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How to Read This</a:t>
            </a:r>
          </a:p>
        </p:txBody>
      </p:sp>
      <p:sp>
        <p:nvSpPr>
          <p:cNvPr id="16" name="Rectangle 15"/>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Buyers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10" name="Rounded Rectangle 9"/>
          <p:cNvSpPr/>
          <p:nvPr/>
        </p:nvSpPr>
        <p:spPr>
          <a:xfrm>
            <a:off x="142875" y="981075"/>
            <a:ext cx="11906250" cy="3752850"/>
          </a:xfrm>
          <a:prstGeom prst="roundRect">
            <a:avLst>
              <a:gd name="adj" fmla="val 20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Allergy Immunotherapy Market Buyers / End-User Assessment</a:t>
            </a:r>
          </a:p>
        </p:txBody>
      </p:sp>
      <p:graphicFrame>
        <p:nvGraphicFramePr>
          <p:cNvPr id="12" name="Table 11"/>
          <p:cNvGraphicFramePr>
            <a:graphicFrameLocks noGrp="1"/>
          </p:cNvGraphicFramePr>
          <p:nvPr/>
        </p:nvGraphicFramePr>
        <p:xfrm>
          <a:off x="152400" y="1238250"/>
          <a:ext cx="11896233" cy="3286124"/>
        </p:xfrm>
        <a:graphic>
          <a:graphicData uri="http://schemas.openxmlformats.org/drawingml/2006/table">
            <a:tbl>
              <a:tblPr>
                <a:tableStyleId>{5C22544A-7EE6-4342-B048-85BDC9FD1C3A}</a:tableStyleId>
              </a:tblPr>
              <a:tblGrid>
                <a:gridCol w="2446564"/>
                <a:gridCol w="1303726"/>
                <a:gridCol w="923705"/>
                <a:gridCol w="882384"/>
                <a:gridCol w="1139401"/>
                <a:gridCol w="2134413"/>
                <a:gridCol w="920962"/>
                <a:gridCol w="815269"/>
                <a:gridCol w="1329809"/>
              </a:tblGrid>
              <a:tr h="824484">
                <a:tc>
                  <a:txBody>
                    <a:bodyPr wrap="none"/>
                    <a:lstStyle/>
                    <a:p>
                      <a:pPr algn="l"/>
                      <a:r>
                        <a:rPr sz="1100" b="1">
                          <a:solidFill>
                            <a:srgbClr val="0B2E4A"/>
                          </a:solidFill>
                          <a:latin typeface="Calibri"/>
                        </a:rPr>
                        <a:t>Company</a:t>
                      </a:r>
                      <a:endParaRPr sz="1100"/>
                    </a:p>
                  </a:txBody>
                  <a:tcPr marL="28575" marR="19050" marT="19050" marB="19050" anchor="ctr">
                    <a:solidFill>
                      <a:srgbClr val="E0E8EF"/>
                    </a:solidFill>
                  </a:tcPr>
                </a:tc>
                <a:tc>
                  <a:txBody>
                    <a:bodyPr wrap="none"/>
                    <a:lstStyle/>
                    <a:p>
                      <a:pPr algn="l"/>
                      <a:r>
                        <a:rPr sz="1100" b="1">
                          <a:solidFill>
                            <a:srgbClr val="0B2E4A"/>
                          </a:solidFill>
                          <a:latin typeface="Calibri"/>
                        </a:rPr>
                        <a:t>Country</a:t>
                      </a:r>
                      <a:endParaRPr sz="1100"/>
                    </a:p>
                  </a:txBody>
                  <a:tcPr marL="28575" marR="19050" marT="19050" marB="19050" anchor="ctr">
                    <a:solidFill>
                      <a:srgbClr val="E0E8EF"/>
                    </a:solidFill>
                  </a:tcPr>
                </a:tc>
                <a:tc>
                  <a:txBody>
                    <a:bodyPr wrap="none"/>
                    <a:lstStyle/>
                    <a:p>
                      <a:pPr algn="l"/>
                      <a:r>
                        <a:rPr sz="1100" b="1">
                          <a:solidFill>
                            <a:srgbClr val="0B2E4A"/>
                          </a:solidFill>
                          <a:latin typeface="Calibri"/>
                        </a:rPr>
                        <a:t>Region</a:t>
                      </a:r>
                      <a:endParaRPr sz="1100"/>
                    </a:p>
                  </a:txBody>
                  <a:tcPr marL="28575" marR="19050" marT="19050" marB="19050" anchor="ctr">
                    <a:solidFill>
                      <a:srgbClr val="E0E8EF"/>
                    </a:solidFill>
                  </a:tcPr>
                </a:tc>
                <a:tc>
                  <a:txBody>
                    <a:bodyPr wrap="square"/>
                    <a:lstStyle/>
                    <a:p>
                      <a:pPr algn="l"/>
                      <a:r>
                        <a:rPr sz="1100" b="1">
                          <a:solidFill>
                            <a:srgbClr val="0B2E4A"/>
                          </a:solidFill>
                          <a:latin typeface="Calibri"/>
                        </a:rPr>
                        <a:t>Buyer Category</a:t>
                      </a:r>
                      <a:endParaRPr sz="1100"/>
                    </a:p>
                  </a:txBody>
                  <a:tcPr marL="28575" marR="19050" marT="19050" marB="19050" anchor="ctr">
                    <a:solidFill>
                      <a:srgbClr val="E0E8EF"/>
                    </a:solidFill>
                  </a:tcPr>
                </a:tc>
                <a:tc>
                  <a:txBody>
                    <a:bodyPr wrap="square"/>
                    <a:lstStyle/>
                    <a:p>
                      <a:pPr algn="l"/>
                      <a:r>
                        <a:rPr sz="1100" b="1">
                          <a:solidFill>
                            <a:srgbClr val="0B2E4A"/>
                          </a:solidFill>
                          <a:latin typeface="Calibri"/>
                        </a:rPr>
                        <a:t>Buyer / End-User Type</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Procurement Vol.</a:t>
                      </a:r>
                      <a:endParaRPr sz="1100"/>
                    </a:p>
                  </a:txBody>
                  <a:tcPr marL="28575" marR="19050" marT="19050" marB="19050" anchor="ctr">
                    <a:solidFill>
                      <a:srgbClr val="E0E8EF"/>
                    </a:solidFill>
                  </a:tcPr>
                </a:tc>
                <a:tc>
                  <a:txBody>
                    <a:bodyPr wrap="square"/>
                    <a:lstStyle/>
                    <a:p>
                      <a:pPr algn="ctr"/>
                      <a:r>
                        <a:rPr sz="1100" b="1">
                          <a:solidFill>
                            <a:srgbClr val="0B2E4A"/>
                          </a:solidFill>
                          <a:latin typeface="Calibri"/>
                        </a:rPr>
                        <a:t>Avg Price (US$/Patient Treatment Courses)</a:t>
                      </a:r>
                      <a:endParaRPr sz="1100"/>
                    </a:p>
                  </a:txBody>
                  <a:tcPr marL="28575" marR="19050" marT="19050" marB="19050" anchor="ctr">
                    <a:solidFill>
                      <a:srgbClr val="E0E8EF"/>
                    </a:solidFill>
                  </a:tcPr>
                </a:tc>
                <a:tc>
                  <a:txBody>
                    <a:bodyPr wrap="square"/>
                    <a:lstStyle/>
                    <a:p>
                      <a:pPr algn="ctr"/>
                      <a:r>
                        <a:rPr sz="1100" b="1">
                          <a:solidFill>
                            <a:srgbClr val="0B2E4A"/>
                          </a:solidFill>
                          <a:latin typeface="Calibri"/>
                        </a:rPr>
                        <a:t>Revenue (US$ Mn)</a:t>
                      </a:r>
                      <a:endParaRPr sz="1100"/>
                    </a:p>
                  </a:txBody>
                  <a:tcPr marL="28575" marR="19050" marT="19050" marB="19050" anchor="ctr">
                    <a:solidFill>
                      <a:srgbClr val="E0E8EF"/>
                    </a:solidFill>
                  </a:tcPr>
                </a:tc>
                <a:tc>
                  <a:txBody>
                    <a:bodyPr wrap="none"/>
                    <a:lstStyle/>
                    <a:p>
                      <a:pPr algn="l"/>
                      <a:r>
                        <a:rPr sz="1100" b="1">
                          <a:solidFill>
                            <a:srgbClr val="0B2E4A"/>
                          </a:solidFill>
                          <a:latin typeface="Calibri"/>
                        </a:rPr>
                        <a:t>Key Selection Factor</a:t>
                      </a:r>
                      <a:endParaRPr sz="1100"/>
                    </a:p>
                  </a:txBody>
                  <a:tcPr marL="28575" marR="19050" marT="19050" marB="19050" anchor="ctr">
                    <a:solidFill>
                      <a:srgbClr val="E0E8EF"/>
                    </a:solidFill>
                  </a:tcPr>
                </a:tc>
              </a:tr>
              <a:tr h="246164">
                <a:tc>
                  <a:txBody>
                    <a:bodyPr wrap="none"/>
                    <a:lstStyle/>
                    <a:p>
                      <a:pPr algn="l"/>
                      <a:r>
                        <a:rPr sz="1100" b="1">
                          <a:solidFill>
                            <a:srgbClr val="2E2E2E"/>
                          </a:solidFill>
                          <a:latin typeface="Calibri"/>
                        </a:rPr>
                        <a:t>ALK-Abelló A/S</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U.S.</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28575" marR="19050" marT="19050" marB="19050" anchor="ctr">
                    <a:solidFill>
                      <a:srgbClr val="FFFFFF"/>
                    </a:solidFill>
                  </a:tcPr>
                </a:tc>
              </a:tr>
              <a:tr h="246164">
                <a:tc>
                  <a:txBody>
                    <a:bodyPr wrap="none"/>
                    <a:lstStyle/>
                    <a:p>
                      <a:pPr algn="l"/>
                      <a:r>
                        <a:rPr sz="1100" b="1">
                          <a:solidFill>
                            <a:srgbClr val="2E2E2E"/>
                          </a:solidFill>
                          <a:latin typeface="Calibri"/>
                        </a:rPr>
                        <a:t>Stallergenes Greer International AG</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Canada</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North America</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Quality &amp; compliance</a:t>
                      </a:r>
                      <a:endParaRPr sz="1100"/>
                    </a:p>
                  </a:txBody>
                  <a:tcPr marL="28575" marR="19050" marT="19050" marB="19050" anchor="ctr">
                    <a:solidFill>
                      <a:srgbClr val="F5F8FA"/>
                    </a:solidFill>
                  </a:tcPr>
                </a:tc>
              </a:tr>
              <a:tr h="246164">
                <a:tc>
                  <a:txBody>
                    <a:bodyPr wrap="none"/>
                    <a:lstStyle/>
                    <a:p>
                      <a:pPr algn="l"/>
                      <a:r>
                        <a:rPr sz="1100" b="1">
                          <a:solidFill>
                            <a:srgbClr val="2E2E2E"/>
                          </a:solidFill>
                          <a:latin typeface="Calibri"/>
                        </a:rPr>
                        <a:t>Allergy Therapeutics plc</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Brazil</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Retailer</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28575" marR="19050" marT="19050" marB="19050" anchor="ctr">
                    <a:solidFill>
                      <a:srgbClr val="FFFFFF"/>
                    </a:solidFill>
                  </a:tcPr>
                </a:tc>
              </a:tr>
              <a:tr h="246164">
                <a:tc>
                  <a:txBody>
                    <a:bodyPr wrap="none"/>
                    <a:lstStyle/>
                    <a:p>
                      <a:pPr algn="l"/>
                      <a:r>
                        <a:rPr sz="1100" b="1">
                          <a:solidFill>
                            <a:srgbClr val="2E2E2E"/>
                          </a:solidFill>
                          <a:latin typeface="Calibri"/>
                        </a:rPr>
                        <a:t>HAL Allergy Group</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Mexico</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Others</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Capacity &amp; scale</a:t>
                      </a:r>
                      <a:endParaRPr sz="1100"/>
                    </a:p>
                  </a:txBody>
                  <a:tcPr marL="28575" marR="19050" marT="19050" marB="19050" anchor="ctr">
                    <a:solidFill>
                      <a:srgbClr val="F5F8FA"/>
                    </a:solidFill>
                  </a:tcPr>
                </a:tc>
              </a:tr>
              <a:tr h="246164">
                <a:tc>
                  <a:txBody>
                    <a:bodyPr wrap="none"/>
                    <a:lstStyle/>
                    <a:p>
                      <a:pPr algn="l"/>
                      <a:r>
                        <a:rPr sz="1100" b="1">
                          <a:solidFill>
                            <a:srgbClr val="2E2E2E"/>
                          </a:solidFill>
                          <a:latin typeface="Calibri"/>
                        </a:rPr>
                        <a:t>LETI Pharma / Laboratorios LETI, S.L.U.</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Colombia</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28575" marR="19050" marT="19050" marB="19050" anchor="ctr">
                    <a:solidFill>
                      <a:srgbClr val="FFFFFF"/>
                    </a:solidFill>
                  </a:tcPr>
                </a:tc>
              </a:tr>
              <a:tr h="246164">
                <a:tc>
                  <a:txBody>
                    <a:bodyPr wrap="none"/>
                    <a:lstStyle/>
                    <a:p>
                      <a:pPr algn="l"/>
                      <a:r>
                        <a:rPr sz="1100" b="1">
                          <a:solidFill>
                            <a:srgbClr val="2E2E2E"/>
                          </a:solidFill>
                          <a:latin typeface="Calibri"/>
                        </a:rPr>
                        <a:t>Jubilant HollisterStier LLC</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Rest of Latin America</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Price &amp; reliability</a:t>
                      </a:r>
                      <a:endParaRPr sz="1100"/>
                    </a:p>
                  </a:txBody>
                  <a:tcPr marL="28575" marR="19050" marT="19050" marB="19050" anchor="ctr">
                    <a:solidFill>
                      <a:srgbClr val="F5F8FA"/>
                    </a:solidFill>
                  </a:tcPr>
                </a:tc>
              </a:tr>
              <a:tr h="246164">
                <a:tc>
                  <a:txBody>
                    <a:bodyPr wrap="none"/>
                    <a:lstStyle/>
                    <a:p>
                      <a:pPr algn="l"/>
                      <a:r>
                        <a:rPr sz="1100" b="1">
                          <a:solidFill>
                            <a:srgbClr val="2E2E2E"/>
                          </a:solidFill>
                          <a:latin typeface="Calibri"/>
                        </a:rPr>
                        <a:t>Inmunotek S.L.</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Germany</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Europe</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Retailer</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28575" marR="19050" marT="19050" marB="19050" anchor="ctr">
                    <a:solidFill>
                      <a:srgbClr val="FFFFFF"/>
                    </a:solidFill>
                  </a:tcPr>
                </a:tc>
              </a:tr>
              <a:tr h="246164">
                <a:tc>
                  <a:txBody>
                    <a:bodyPr wrap="none"/>
                    <a:lstStyle/>
                    <a:p>
                      <a:pPr algn="l"/>
                      <a:r>
                        <a:rPr sz="1100" b="1">
                          <a:solidFill>
                            <a:srgbClr val="2E2E2E"/>
                          </a:solidFill>
                          <a:latin typeface="Calibri"/>
                        </a:rPr>
                        <a:t>DIATER Laboratories</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U.K.</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Europe</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Others</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Lead time &amp; service</a:t>
                      </a:r>
                      <a:endParaRPr sz="1100"/>
                    </a:p>
                  </a:txBody>
                  <a:tcPr marL="28575" marR="19050" marT="19050" marB="19050" anchor="ctr">
                    <a:solidFill>
                      <a:srgbClr val="F5F8FA"/>
                    </a:solidFill>
                  </a:tcPr>
                </a:tc>
              </a:tr>
              <a:tr h="246164">
                <a:tc>
                  <a:txBody>
                    <a:bodyPr wrap="none"/>
                    <a:lstStyle/>
                    <a:p>
                      <a:pPr algn="l"/>
                      <a:r>
                        <a:rPr sz="1100" b="1">
                          <a:solidFill>
                            <a:srgbClr val="2E2E2E"/>
                          </a:solidFill>
                          <a:latin typeface="Calibri"/>
                        </a:rPr>
                        <a:t>Torii Pharmaceutical Co., Ltd.</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France</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Europe</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28575" marR="19050" marT="19050" marB="19050" anchor="ctr">
                    <a:solidFill>
                      <a:srgbClr val="FFFFFF"/>
                    </a:solidFill>
                  </a:tcPr>
                </a:tc>
              </a:tr>
              <a:tr h="246164">
                <a:tc>
                  <a:txBody>
                    <a:bodyPr wrap="none"/>
                    <a:lstStyle/>
                    <a:p>
                      <a:pPr algn="l"/>
                      <a:r>
                        <a:rPr sz="1100" b="1">
                          <a:solidFill>
                            <a:srgbClr val="2E2E2E"/>
                          </a:solidFill>
                          <a:latin typeface="Calibri"/>
                        </a:rPr>
                        <a:t>Allergopharma GmbH &amp; Co. KG</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Italy</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Europe</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l"/>
                      <a:r>
                        <a:rPr sz="1100" b="0">
                          <a:solidFill>
                            <a:srgbClr val="2E2E2E"/>
                          </a:solidFill>
                          <a:latin typeface="Calibri"/>
                        </a:rPr>
                        <a:t>Brand &amp; support</a:t>
                      </a:r>
                      <a:endParaRPr sz="1100"/>
                    </a:p>
                  </a:txBody>
                  <a:tcPr marL="28575" marR="19050" marT="19050" marB="19050" anchor="ctr">
                    <a:solidFill>
                      <a:srgbClr val="F5F8FA"/>
                    </a:solidFill>
                  </a:tcPr>
                </a:tc>
              </a:tr>
            </a:tbl>
          </a:graphicData>
        </a:graphic>
      </p:graphicFrame>
      <p:sp>
        <p:nvSpPr>
          <p:cNvPr id="13" name="TextBox 12"/>
          <p:cNvSpPr txBox="1"/>
          <p:nvPr/>
        </p:nvSpPr>
        <p:spPr>
          <a:xfrm>
            <a:off x="219075" y="45339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867275"/>
            <a:ext cx="11906250" cy="1762125"/>
          </a:xfrm>
          <a:prstGeom prst="roundRect">
            <a:avLst>
              <a:gd name="adj" fmla="val 4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953000"/>
            <a:ext cx="11639550" cy="209550"/>
          </a:xfrm>
          <a:prstGeom prst="rect">
            <a:avLst/>
          </a:prstGeom>
          <a:noFill/>
        </p:spPr>
        <p:txBody>
          <a:bodyPr wrap="square" lIns="0" rIns="19050" tIns="9525" bIns="9525">
            <a:spAutoFit/>
          </a:bodyPr>
          <a:lstStyle/>
          <a:p>
            <a:pPr algn="l"/>
            <a:r>
              <a:rPr sz="1300" b="1">
                <a:solidFill>
                  <a:srgbClr val="0B2E4A"/>
                </a:solidFill>
                <a:latin typeface="Calibri"/>
              </a:rPr>
              <a:t>Notes</a:t>
            </a:r>
          </a:p>
        </p:txBody>
      </p:sp>
      <p:sp>
        <p:nvSpPr>
          <p:cNvPr id="16" name="Rectangle 15"/>
          <p:cNvSpPr/>
          <p:nvPr/>
        </p:nvSpPr>
        <p:spPr>
          <a:xfrm>
            <a:off x="276225" y="51911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276850"/>
            <a:ext cx="11639550" cy="12763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574547" y="3026854"/>
            <a:ext cx="366712" cy="533400"/>
          </a:xfrm>
          <a:prstGeom prst="rect">
            <a:avLst/>
          </a:prstGeom>
        </p:spPr>
      </p:pic>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Allergy Immunotherapy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Dynamics by Region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180975" y="876300"/>
            <a:ext cx="8572500" cy="228600"/>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12" name="Rectangle 11"/>
          <p:cNvSpPr/>
          <p:nvPr/>
        </p:nvSpPr>
        <p:spPr>
          <a:xfrm>
            <a:off x="142875" y="1123950"/>
            <a:ext cx="11906250" cy="266700"/>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025" y="1123950"/>
            <a:ext cx="1428750" cy="266700"/>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4" name="TextBox 13"/>
          <p:cNvSpPr txBox="1"/>
          <p:nvPr/>
        </p:nvSpPr>
        <p:spPr>
          <a:xfrm>
            <a:off x="1724025" y="1123950"/>
            <a:ext cx="3714750" cy="266700"/>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5" name="TextBox 14"/>
          <p:cNvSpPr txBox="1"/>
          <p:nvPr/>
        </p:nvSpPr>
        <p:spPr>
          <a:xfrm>
            <a:off x="5534025" y="1123950"/>
            <a:ext cx="2762250" cy="266700"/>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6" name="TextBox 15"/>
          <p:cNvSpPr txBox="1"/>
          <p:nvPr/>
        </p:nvSpPr>
        <p:spPr>
          <a:xfrm>
            <a:off x="8391525" y="1123950"/>
            <a:ext cx="3619500" cy="266700"/>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7" name="Rectangle 16"/>
          <p:cNvSpPr/>
          <p:nvPr/>
        </p:nvSpPr>
        <p:spPr>
          <a:xfrm>
            <a:off x="142875" y="1390650"/>
            <a:ext cx="11906250" cy="7334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0025" y="1390650"/>
            <a:ext cx="1428750" cy="733425"/>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19" name="TextBox 18"/>
          <p:cNvSpPr txBox="1"/>
          <p:nvPr/>
        </p:nvSpPr>
        <p:spPr>
          <a:xfrm>
            <a:off x="1724025" y="1419225"/>
            <a:ext cx="36766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Large diagnosed allergy population, strong allergist network, FDA-registered SLIT tablets and broad awareness of disease-modifying treatment</a:t>
            </a:r>
          </a:p>
        </p:txBody>
      </p:sp>
      <p:sp>
        <p:nvSpPr>
          <p:cNvPr id="20" name="TextBox 19"/>
          <p:cNvSpPr txBox="1"/>
          <p:nvPr/>
        </p:nvSpPr>
        <p:spPr>
          <a:xfrm>
            <a:off x="5534025" y="1419225"/>
            <a:ext cx="27241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Subcutaneous therapy needs supervised clinic visits; co-pay burden and variable payer coverage</a:t>
            </a:r>
          </a:p>
        </p:txBody>
      </p:sp>
      <p:sp>
        <p:nvSpPr>
          <p:cNvPr id="21" name="TextBox 20"/>
          <p:cNvSpPr txBox="1"/>
          <p:nvPr/>
        </p:nvSpPr>
        <p:spPr>
          <a:xfrm>
            <a:off x="8391525" y="1419225"/>
            <a:ext cx="358140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Home-based SLIT tablets, paediatric initiation and peanut oral immunotherapy</a:t>
            </a:r>
          </a:p>
        </p:txBody>
      </p:sp>
      <p:sp>
        <p:nvSpPr>
          <p:cNvPr id="22" name="Rectangle 21"/>
          <p:cNvSpPr/>
          <p:nvPr/>
        </p:nvSpPr>
        <p:spPr>
          <a:xfrm>
            <a:off x="142875" y="2124075"/>
            <a:ext cx="11906250" cy="73342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0025" y="2124075"/>
            <a:ext cx="1428750" cy="733425"/>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24" name="TextBox 23"/>
          <p:cNvSpPr txBox="1"/>
          <p:nvPr/>
        </p:nvSpPr>
        <p:spPr>
          <a:xfrm>
            <a:off x="1724025" y="2152650"/>
            <a:ext cx="36766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Rising urban allergy prevalence and growing private-sector specialist care</a:t>
            </a:r>
          </a:p>
        </p:txBody>
      </p:sp>
      <p:sp>
        <p:nvSpPr>
          <p:cNvPr id="25" name="TextBox 24"/>
          <p:cNvSpPr txBox="1"/>
          <p:nvPr/>
        </p:nvSpPr>
        <p:spPr>
          <a:xfrm>
            <a:off x="5534025" y="2152650"/>
            <a:ext cx="27241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Limited reimbursement, uneven allergist coverage and import dependence for registered products</a:t>
            </a:r>
          </a:p>
        </p:txBody>
      </p:sp>
      <p:sp>
        <p:nvSpPr>
          <p:cNvPr id="26" name="TextBox 25"/>
          <p:cNvSpPr txBox="1"/>
          <p:nvPr/>
        </p:nvSpPr>
        <p:spPr>
          <a:xfrm>
            <a:off x="8391525" y="2152650"/>
            <a:ext cx="358140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Hospital and private-clinic programmes in Brazil and Mexico; locally produced extracts</a:t>
            </a:r>
          </a:p>
        </p:txBody>
      </p:sp>
      <p:sp>
        <p:nvSpPr>
          <p:cNvPr id="27" name="Rectangle 26"/>
          <p:cNvSpPr/>
          <p:nvPr/>
        </p:nvSpPr>
        <p:spPr>
          <a:xfrm>
            <a:off x="142875" y="2857500"/>
            <a:ext cx="11906250" cy="7334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0025" y="2857500"/>
            <a:ext cx="1428750" cy="733425"/>
          </a:xfrm>
          <a:prstGeom prst="rect">
            <a:avLst/>
          </a:prstGeom>
          <a:noFill/>
        </p:spPr>
        <p:txBody>
          <a:bodyPr wrap="square" lIns="28575" rIns="28575" tIns="9525" bIns="9525" anchor="ctr">
            <a:spAutoFit/>
          </a:bodyPr>
          <a:lstStyle/>
          <a:p>
            <a:pPr algn="l"/>
            <a:r>
              <a:rPr sz="1100" b="1">
                <a:solidFill>
                  <a:srgbClr val="2E2E2E"/>
                </a:solidFill>
                <a:latin typeface="Calibri"/>
              </a:rPr>
              <a:t>Europe</a:t>
            </a:r>
          </a:p>
        </p:txBody>
      </p:sp>
      <p:sp>
        <p:nvSpPr>
          <p:cNvPr id="29" name="TextBox 28"/>
          <p:cNvSpPr txBox="1"/>
          <p:nvPr/>
        </p:nvSpPr>
        <p:spPr>
          <a:xfrm>
            <a:off x="1724025" y="2886075"/>
            <a:ext cx="36766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Long-standing immunotherapy tradition, strong guideline support and tablet registrations across several allergen classes</a:t>
            </a:r>
          </a:p>
        </p:txBody>
      </p:sp>
      <p:sp>
        <p:nvSpPr>
          <p:cNvPr id="30" name="TextBox 29"/>
          <p:cNvSpPr txBox="1"/>
          <p:nvPr/>
        </p:nvSpPr>
        <p:spPr>
          <a:xfrm>
            <a:off x="5534025" y="2886075"/>
            <a:ext cx="27241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and tender pressure; heterogeneous national reimbursement</a:t>
            </a:r>
          </a:p>
        </p:txBody>
      </p:sp>
      <p:sp>
        <p:nvSpPr>
          <p:cNvPr id="31" name="TextBox 30"/>
          <p:cNvSpPr txBox="1"/>
          <p:nvPr/>
        </p:nvSpPr>
        <p:spPr>
          <a:xfrm>
            <a:off x="8391525" y="2886075"/>
            <a:ext cx="358140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Allergoid and molecular products, paediatric label extensions and tree-pollen indications</a:t>
            </a:r>
          </a:p>
        </p:txBody>
      </p:sp>
      <p:sp>
        <p:nvSpPr>
          <p:cNvPr id="32" name="Rectangle 31"/>
          <p:cNvSpPr/>
          <p:nvPr/>
        </p:nvSpPr>
        <p:spPr>
          <a:xfrm>
            <a:off x="142875" y="3590925"/>
            <a:ext cx="11906250" cy="92392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0025" y="3590925"/>
            <a:ext cx="1428750" cy="923925"/>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34" name="TextBox 33"/>
          <p:cNvSpPr txBox="1"/>
          <p:nvPr/>
        </p:nvSpPr>
        <p:spPr>
          <a:xfrm>
            <a:off x="1724025" y="3619500"/>
            <a:ext cx="3676650" cy="8667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Growing awareness of allergic rhinitis and asthma, high urban pollution exposure and expanding specialist care in China, Japan and South Korea</a:t>
            </a:r>
          </a:p>
        </p:txBody>
      </p:sp>
      <p:sp>
        <p:nvSpPr>
          <p:cNvPr id="35" name="TextBox 34"/>
          <p:cNvSpPr txBox="1"/>
          <p:nvPr/>
        </p:nvSpPr>
        <p:spPr>
          <a:xfrm>
            <a:off x="5534025" y="3619500"/>
            <a:ext cx="2724150" cy="8667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Strict local registration, limited reimbursement outside Japan and a low share of patients on disease-modifying therapy</a:t>
            </a:r>
          </a:p>
        </p:txBody>
      </p:sp>
      <p:sp>
        <p:nvSpPr>
          <p:cNvPr id="36" name="TextBox 35"/>
          <p:cNvSpPr txBox="1"/>
          <p:nvPr/>
        </p:nvSpPr>
        <p:spPr>
          <a:xfrm>
            <a:off x="8391525" y="3619500"/>
            <a:ext cx="3581400" cy="8667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Local registrations of house dust mite and cedar-pollen products; paediatric programmes</a:t>
            </a:r>
          </a:p>
        </p:txBody>
      </p:sp>
      <p:sp>
        <p:nvSpPr>
          <p:cNvPr id="37" name="Rectangle 36"/>
          <p:cNvSpPr/>
          <p:nvPr/>
        </p:nvSpPr>
        <p:spPr>
          <a:xfrm>
            <a:off x="142875" y="4514850"/>
            <a:ext cx="11906250" cy="7334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0025" y="4514850"/>
            <a:ext cx="1428750" cy="733425"/>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39" name="TextBox 38"/>
          <p:cNvSpPr txBox="1"/>
          <p:nvPr/>
        </p:nvSpPr>
        <p:spPr>
          <a:xfrm>
            <a:off x="1724025" y="4543425"/>
            <a:ext cx="36766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Large addressable allergic population, increasing private healthcare spending and Australasian allergen specialisation</a:t>
            </a:r>
          </a:p>
        </p:txBody>
      </p:sp>
      <p:sp>
        <p:nvSpPr>
          <p:cNvPr id="40" name="TextBox 39"/>
          <p:cNvSpPr txBox="1"/>
          <p:nvPr/>
        </p:nvSpPr>
        <p:spPr>
          <a:xfrm>
            <a:off x="5534025" y="4543425"/>
            <a:ext cx="27241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Low diagnosis rates, out-of-pocket payment and limited access to trained allergists</a:t>
            </a:r>
          </a:p>
        </p:txBody>
      </p:sp>
      <p:sp>
        <p:nvSpPr>
          <p:cNvPr id="41" name="TextBox 40"/>
          <p:cNvSpPr txBox="1"/>
          <p:nvPr/>
        </p:nvSpPr>
        <p:spPr>
          <a:xfrm>
            <a:off x="8391525" y="4543425"/>
            <a:ext cx="358140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Affordable standardised extracts, tele-allergy services and regional manufacturing</a:t>
            </a:r>
          </a:p>
        </p:txBody>
      </p:sp>
      <p:sp>
        <p:nvSpPr>
          <p:cNvPr id="42" name="Rectangle 41"/>
          <p:cNvSpPr/>
          <p:nvPr/>
        </p:nvSpPr>
        <p:spPr>
          <a:xfrm>
            <a:off x="142875" y="5248275"/>
            <a:ext cx="11906250" cy="73342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00025" y="5248275"/>
            <a:ext cx="1428750" cy="733425"/>
          </a:xfrm>
          <a:prstGeom prst="rect">
            <a:avLst/>
          </a:prstGeom>
          <a:noFill/>
        </p:spPr>
        <p:txBody>
          <a:bodyPr wrap="square" lIns="28575" rIns="28575" tIns="9525" bIns="9525" anchor="ctr">
            <a:spAutoFit/>
          </a:bodyPr>
          <a:lstStyle/>
          <a:p>
            <a:pPr algn="l"/>
            <a:r>
              <a:rPr sz="1100" b="1">
                <a:solidFill>
                  <a:srgbClr val="2E2E2E"/>
                </a:solidFill>
                <a:latin typeface="Calibri"/>
              </a:rPr>
              <a:t>Middle East &amp; Africa</a:t>
            </a:r>
          </a:p>
        </p:txBody>
      </p:sp>
      <p:sp>
        <p:nvSpPr>
          <p:cNvPr id="44" name="TextBox 43"/>
          <p:cNvSpPr txBox="1"/>
          <p:nvPr/>
        </p:nvSpPr>
        <p:spPr>
          <a:xfrm>
            <a:off x="1724025" y="5276850"/>
            <a:ext cx="36766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Rising prevalence in Gulf countries and investment in specialist hospitals</a:t>
            </a:r>
          </a:p>
        </p:txBody>
      </p:sp>
      <p:sp>
        <p:nvSpPr>
          <p:cNvPr id="45" name="TextBox 44"/>
          <p:cNvSpPr txBox="1"/>
          <p:nvPr/>
        </p:nvSpPr>
        <p:spPr>
          <a:xfrm>
            <a:off x="5534025" y="5276850"/>
            <a:ext cx="27241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Limited local manufacturing, import registration lead times and few trained prescribers</a:t>
            </a:r>
          </a:p>
        </p:txBody>
      </p:sp>
      <p:sp>
        <p:nvSpPr>
          <p:cNvPr id="46" name="TextBox 45"/>
          <p:cNvSpPr txBox="1"/>
          <p:nvPr/>
        </p:nvSpPr>
        <p:spPr>
          <a:xfrm>
            <a:off x="8391525" y="5276850"/>
            <a:ext cx="358140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Specialist centres in the GCC and South Africa; distributor-led market entry</a:t>
            </a:r>
          </a:p>
        </p:txBody>
      </p:sp>
      <p:cxnSp>
        <p:nvCxnSpPr>
          <p:cNvPr id="47" name="Connector 46"/>
          <p:cNvCxnSpPr/>
          <p:nvPr/>
        </p:nvCxnSpPr>
        <p:spPr>
          <a:xfrm>
            <a:off x="142875" y="5981700"/>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00025" y="6000750"/>
            <a:ext cx="3810000" cy="190500"/>
          </a:xfrm>
          <a:prstGeom prst="rect">
            <a:avLst/>
          </a:prstGeom>
          <a:noFill/>
        </p:spPr>
        <p:txBody>
          <a:bodyPr wrap="square" lIns="28575" rIns="28575" tIns="9525" bIns="9525" anchor="ctr">
            <a:spAutoFit/>
          </a:bodyPr>
          <a:lstStyle/>
          <a:p>
            <a:pPr algn="l"/>
            <a:r>
              <a:rPr sz="1100" b="0">
                <a:solidFill>
                  <a:srgbClr val="6C7A89"/>
                </a:solidFill>
                <a:latin typeface="Calibri"/>
              </a:rPr>
              <a:t>Source: FMI Analysis, 2026</a:t>
            </a:r>
          </a:p>
        </p:txBody>
      </p:sp>
      <p:sp>
        <p:nvSpPr>
          <p:cNvPr id="49" name="TextBox 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Dynamics by Region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Rounded Rectangle 9"/>
          <p:cNvSpPr/>
          <p:nvPr/>
        </p:nvSpPr>
        <p:spPr>
          <a:xfrm>
            <a:off x="142875" y="876300"/>
            <a:ext cx="11906250" cy="838200"/>
          </a:xfrm>
          <a:prstGeom prst="roundRect">
            <a:avLst>
              <a:gd name="adj" fmla="val 479"/>
            </a:avLst>
          </a:prstGeom>
          <a:solidFill>
            <a:srgbClr val="FFFFFF"/>
          </a:solidFill>
          <a:ln w="1270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914400"/>
            <a:ext cx="3810000" cy="228600"/>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12" name="Connector 11"/>
          <p:cNvCxnSpPr/>
          <p:nvPr/>
        </p:nvCxnSpPr>
        <p:spPr>
          <a:xfrm>
            <a:off x="276225" y="1162050"/>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6225" y="1219200"/>
            <a:ext cx="11525250" cy="41910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North America and Europe anchor the market through registered products and established prescribing, while Asia and the emerging regions add the fastest volume growth from a smaller base.</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Global Driving Factors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Oval 10"/>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3078702" y="2277931"/>
            <a:ext cx="1683798" cy="161341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381250" y="3891345"/>
            <a:ext cx="2381250" cy="0"/>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3078702" y="3891345"/>
            <a:ext cx="1683798" cy="161341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3095625" y="2412796"/>
            <a:ext cx="1666875" cy="3194397"/>
          </a:xfrm>
          <a:custGeom>
            <a:avLst/>
            <a:gdLst/>
            <a:ahLst/>
            <a:cxnLst/>
            <a:rect l="l" t="t" r="r" b="b"/>
            <a:pathLst>
              <a:path w="175" h="350">
                <a:moveTo>
                  <a:pt x="175" y="0"/>
                </a:moveTo>
                <a:lnTo>
                  <a:pt x="42" y="29"/>
                </a:lnTo>
                <a:lnTo>
                  <a:pt x="0" y="162"/>
                </a:lnTo>
                <a:lnTo>
                  <a:pt x="69" y="268"/>
                </a:lnTo>
                <a:lnTo>
                  <a:pt x="175" y="350"/>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29" name="Oval 28"/>
          <p:cNvSpPr/>
          <p:nvPr/>
        </p:nvSpPr>
        <p:spPr>
          <a:xfrm>
            <a:off x="3031077" y="223229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409" y="206893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1" name="Oval 30"/>
          <p:cNvSpPr/>
          <p:nvPr/>
        </p:nvSpPr>
        <p:spPr>
          <a:xfrm>
            <a:off x="2333625" y="3845711"/>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9050" y="3772696"/>
            <a:ext cx="222885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3" name="Oval 32"/>
          <p:cNvSpPr/>
          <p:nvPr/>
        </p:nvSpPr>
        <p:spPr>
          <a:xfrm>
            <a:off x="3031077" y="545912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8409" y="5476462"/>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5" name="Oval 34"/>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7" name="Rectangle 36"/>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MI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39" name="FMI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0" name="FMI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41" name="FMI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42" name="FMI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43" name="FMI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44" name="FMI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45" name="FMI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46" name="FMI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47" name="FMI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48" name="FMI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49" name="Connector 48"/>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51" name="Connector 50"/>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Pollen, mite and venom sources are seasonal and biologically variable, so secure and traceable sourcing is a differentiator.</a:t>
            </a:r>
          </a:p>
        </p:txBody>
      </p:sp>
      <p:sp>
        <p:nvSpPr>
          <p:cNvPr id="53" name="TextBox 52"/>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Few producers can run validated, standardised extract and tablet manufacturing at scale, which concentrates supply.</a:t>
            </a:r>
          </a:p>
        </p:txBody>
      </p:sp>
      <p:sp>
        <p:nvSpPr>
          <p:cNvPr id="54" name="TextBox 53"/>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Product-level licensure raises the cost of entry but rewards registered, evidence-backed products.</a:t>
            </a:r>
          </a:p>
        </p:txBody>
      </p:sp>
      <p:sp>
        <p:nvSpPr>
          <p:cNvPr id="55" name="TextBox 54"/>
          <p:cNvSpPr txBox="1"/>
          <p:nvPr/>
        </p:nvSpPr>
        <p:spPr>
          <a:xfrm>
            <a:off x="4972050" y="2613586"/>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Extracts and vaccines need controlled storage and specialist distribution into clinics and pharmacies.</a:t>
            </a:r>
          </a:p>
        </p:txBody>
      </p:sp>
      <p:sp>
        <p:nvSpPr>
          <p:cNvPr id="56" name="TextBox 55"/>
          <p:cNvSpPr txBox="1"/>
          <p:nvPr/>
        </p:nvSpPr>
        <p:spPr>
          <a:xfrm>
            <a:off x="4972050" y="2887392"/>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Allergoids, recombinant allergens and new tablets keep renewing the portfolio of leading players.</a:t>
            </a:r>
          </a:p>
        </p:txBody>
      </p:sp>
      <p:sp>
        <p:nvSpPr>
          <p:cNvPr id="57" name="TextBox 5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8" name="TextBox 57"/>
          <p:cNvSpPr txBox="1"/>
          <p:nvPr/>
        </p:nvSpPr>
        <p:spPr>
          <a:xfrm>
            <a:off x="2608415" y="1336012"/>
            <a:ext cx="2008447" cy="146456"/>
          </a:xfrm>
          <a:prstGeom prst="rect">
            <a:avLst/>
          </a:prstGeom>
          <a:noFill/>
        </p:spPr>
        <p:txBody>
          <a:bodyPr wrap="none" lIns="0" rIns="0" tIns="0" bIns="0">
            <a:spAutoFit/>
          </a:bodyPr>
          <a:lstStyle/>
          <a:p>
            <a:r>
              <a:rPr sz="835" b="0">
                <a:solidFill>
                  <a:srgbClr val="2E2E2E"/>
                </a:solidFill>
                <a:latin typeface="Calibri"/>
              </a:rPr>
              <a:t>Allergen raw-material availability and quality</a:t>
            </a:r>
          </a:p>
        </p:txBody>
      </p:sp>
      <p:pic>
        <p:nvPicPr>
          <p:cNvPr id="59" name="Picture 58" descr="lock.png"/>
          <p:cNvPicPr>
            <a:picLocks noChangeAspect="1"/>
          </p:cNvPicPr>
          <p:nvPr/>
        </p:nvPicPr>
        <p:blipFill>
          <a:blip r:embed="rId4"/>
          <a:stretch>
            <a:fillRect/>
          </a:stretch>
        </p:blipFill>
        <p:spPr>
          <a:xfrm>
            <a:off x="4559094" y="1328580"/>
            <a:ext cx="97811" cy="142270"/>
          </a:xfrm>
          <a:prstGeom prst="rect">
            <a:avLst/>
          </a:prstGeom>
        </p:spPr>
      </p:pic>
      <p:sp>
        <p:nvSpPr>
          <p:cNvPr id="60" name="TextBox 59"/>
          <p:cNvSpPr txBox="1"/>
          <p:nvPr/>
        </p:nvSpPr>
        <p:spPr>
          <a:xfrm>
            <a:off x="837084" y="2120524"/>
            <a:ext cx="2071727" cy="153161"/>
          </a:xfrm>
          <a:prstGeom prst="rect">
            <a:avLst/>
          </a:prstGeom>
          <a:noFill/>
        </p:spPr>
        <p:txBody>
          <a:bodyPr wrap="none" lIns="0" rIns="0" tIns="0" bIns="0">
            <a:spAutoFit/>
          </a:bodyPr>
          <a:lstStyle/>
          <a:p>
            <a:r>
              <a:rPr sz="879" b="0">
                <a:solidFill>
                  <a:srgbClr val="2E2E2E"/>
                </a:solidFill>
                <a:latin typeface="Calibri"/>
              </a:rPr>
              <a:t>Manufacturing and potency standardisation</a:t>
            </a:r>
          </a:p>
        </p:txBody>
      </p:sp>
      <p:pic>
        <p:nvPicPr>
          <p:cNvPr id="61" name="Picture 60" descr="lock.png"/>
          <p:cNvPicPr>
            <a:picLocks noChangeAspect="1"/>
          </p:cNvPicPr>
          <p:nvPr/>
        </p:nvPicPr>
        <p:blipFill>
          <a:blip r:embed="rId4"/>
          <a:stretch>
            <a:fillRect/>
          </a:stretch>
        </p:blipFill>
        <p:spPr>
          <a:xfrm>
            <a:off x="2852012" y="2112700"/>
            <a:ext cx="102959" cy="149758"/>
          </a:xfrm>
          <a:prstGeom prst="rect">
            <a:avLst/>
          </a:prstGeom>
        </p:spPr>
      </p:pic>
      <p:sp>
        <p:nvSpPr>
          <p:cNvPr id="62" name="TextBox 61"/>
          <p:cNvSpPr txBox="1"/>
          <p:nvPr/>
        </p:nvSpPr>
        <p:spPr>
          <a:xfrm>
            <a:off x="542610" y="3814230"/>
            <a:ext cx="1611208" cy="173278"/>
          </a:xfrm>
          <a:prstGeom prst="rect">
            <a:avLst/>
          </a:prstGeom>
          <a:noFill/>
        </p:spPr>
        <p:txBody>
          <a:bodyPr wrap="none" lIns="0" rIns="0" tIns="0" bIns="0">
            <a:spAutoFit/>
          </a:bodyPr>
          <a:lstStyle/>
          <a:p>
            <a:r>
              <a:rPr sz="1011" b="0">
                <a:solidFill>
                  <a:srgbClr val="2E2E2E"/>
                </a:solidFill>
                <a:latin typeface="Calibri"/>
              </a:rPr>
              <a:t>Regulatory approval pathway</a:t>
            </a:r>
          </a:p>
        </p:txBody>
      </p:sp>
      <p:pic>
        <p:nvPicPr>
          <p:cNvPr id="63" name="Picture 62" descr="lock.png"/>
          <p:cNvPicPr>
            <a:picLocks noChangeAspect="1"/>
          </p:cNvPicPr>
          <p:nvPr/>
        </p:nvPicPr>
        <p:blipFill>
          <a:blip r:embed="rId4"/>
          <a:stretch>
            <a:fillRect/>
          </a:stretch>
        </p:blipFill>
        <p:spPr>
          <a:xfrm>
            <a:off x="2099930" y="3805233"/>
            <a:ext cx="118403" cy="172222"/>
          </a:xfrm>
          <a:prstGeom prst="rect">
            <a:avLst/>
          </a:prstGeom>
        </p:spPr>
      </p:pic>
      <p:sp>
        <p:nvSpPr>
          <p:cNvPr id="64" name="TextBox 63"/>
          <p:cNvSpPr txBox="1"/>
          <p:nvPr/>
        </p:nvSpPr>
        <p:spPr>
          <a:xfrm>
            <a:off x="1076041" y="5517996"/>
            <a:ext cx="1814286" cy="173278"/>
          </a:xfrm>
          <a:prstGeom prst="rect">
            <a:avLst/>
          </a:prstGeom>
          <a:noFill/>
        </p:spPr>
        <p:txBody>
          <a:bodyPr wrap="none" lIns="0" rIns="0" tIns="0" bIns="0">
            <a:spAutoFit/>
          </a:bodyPr>
          <a:lstStyle/>
          <a:p>
            <a:r>
              <a:rPr sz="1011" b="0">
                <a:solidFill>
                  <a:srgbClr val="2E2E2E"/>
                </a:solidFill>
                <a:latin typeface="Calibri"/>
              </a:rPr>
              <a:t>Cold-chain and distribution reach</a:t>
            </a:r>
          </a:p>
        </p:txBody>
      </p:sp>
      <p:pic>
        <p:nvPicPr>
          <p:cNvPr id="65" name="Picture 64" descr="lock.png"/>
          <p:cNvPicPr>
            <a:picLocks noChangeAspect="1"/>
          </p:cNvPicPr>
          <p:nvPr/>
        </p:nvPicPr>
        <p:blipFill>
          <a:blip r:embed="rId4"/>
          <a:stretch>
            <a:fillRect/>
          </a:stretch>
        </p:blipFill>
        <p:spPr>
          <a:xfrm>
            <a:off x="2836439" y="5508999"/>
            <a:ext cx="118403" cy="172222"/>
          </a:xfrm>
          <a:prstGeom prst="rect">
            <a:avLst/>
          </a:prstGeom>
        </p:spPr>
      </p:pic>
      <p:sp>
        <p:nvSpPr>
          <p:cNvPr id="66" name="TextBox 65"/>
          <p:cNvSpPr txBox="1"/>
          <p:nvPr/>
        </p:nvSpPr>
        <p:spPr>
          <a:xfrm>
            <a:off x="2726472" y="6305860"/>
            <a:ext cx="1865746" cy="173278"/>
          </a:xfrm>
          <a:prstGeom prst="rect">
            <a:avLst/>
          </a:prstGeom>
          <a:noFill/>
        </p:spPr>
        <p:txBody>
          <a:bodyPr wrap="none" lIns="0" rIns="0" tIns="0" bIns="0">
            <a:spAutoFit/>
          </a:bodyPr>
          <a:lstStyle/>
          <a:p>
            <a:r>
              <a:rPr sz="1011" b="0">
                <a:solidFill>
                  <a:srgbClr val="2E2E2E"/>
                </a:solidFill>
                <a:latin typeface="Calibri"/>
              </a:rPr>
              <a:t>Pipeline and technology platforms</a:t>
            </a:r>
          </a:p>
        </p:txBody>
      </p:sp>
      <p:pic>
        <p:nvPicPr>
          <p:cNvPr id="67" name="Picture 66" descr="lock.png"/>
          <p:cNvPicPr>
            <a:picLocks noChangeAspect="1"/>
          </p:cNvPicPr>
          <p:nvPr/>
        </p:nvPicPr>
        <p:blipFill>
          <a:blip r:embed="rId4"/>
          <a:stretch>
            <a:fillRect/>
          </a:stretch>
        </p:blipFill>
        <p:spPr>
          <a:xfrm>
            <a:off x="4538330" y="6296863"/>
            <a:ext cx="118403" cy="172222"/>
          </a:xfrm>
          <a:prstGeom prst="rect">
            <a:avLst/>
          </a:prstGeom>
        </p:spPr>
      </p:pic>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Global Driving Factors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Oval 10"/>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429500" y="2277931"/>
            <a:ext cx="1683798" cy="161341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29500" y="3891345"/>
            <a:ext cx="2381250" cy="0"/>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1683798" cy="161341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7429500" y="1837804"/>
            <a:ext cx="1666875" cy="3422568"/>
          </a:xfrm>
          <a:custGeom>
            <a:avLst/>
            <a:gdLst/>
            <a:ahLst/>
            <a:cxnLst/>
            <a:rect l="l" t="t" r="r" b="b"/>
            <a:pathLst>
              <a:path w="175" h="375">
                <a:moveTo>
                  <a:pt x="0" y="0"/>
                </a:moveTo>
                <a:lnTo>
                  <a:pt x="133" y="92"/>
                </a:lnTo>
                <a:lnTo>
                  <a:pt x="175" y="225"/>
                </a:lnTo>
                <a:lnTo>
                  <a:pt x="115" y="340"/>
                </a:lnTo>
                <a:lnTo>
                  <a:pt x="0" y="375"/>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29" name="Oval 28"/>
          <p:cNvSpPr/>
          <p:nvPr/>
        </p:nvSpPr>
        <p:spPr>
          <a:xfrm>
            <a:off x="9065673" y="223229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07591" y="206893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1" name="Oval 30"/>
          <p:cNvSpPr/>
          <p:nvPr/>
        </p:nvSpPr>
        <p:spPr>
          <a:xfrm>
            <a:off x="9763125" y="3845711"/>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44100" y="3772696"/>
            <a:ext cx="2105025"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3" name="Oval 32"/>
          <p:cNvSpPr/>
          <p:nvPr/>
        </p:nvSpPr>
        <p:spPr>
          <a:xfrm>
            <a:off x="9065673" y="545912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07591" y="5476462"/>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5" name="Oval 34"/>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7" name="Rectangle 36"/>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MI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39" name="FMI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0" name="FMI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41" name="FMI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42" name="FMI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43" name="FMI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44" name="FMI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45" name="FMI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46" name="FMI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47" name="FMI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48" name="FMI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49" name="Connector 48"/>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51" name="Connector 50"/>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180975" y="1427096"/>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 rising allergic population is the primary volume driver across every region.</a:t>
            </a:r>
          </a:p>
        </p:txBody>
      </p:sp>
      <p:sp>
        <p:nvSpPr>
          <p:cNvPr id="53" name="TextBox 52"/>
          <p:cNvSpPr txBox="1"/>
          <p:nvPr/>
        </p:nvSpPr>
        <p:spPr>
          <a:xfrm>
            <a:off x="180975" y="1700902"/>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Specialist guidelines and prescriber familiarity with sublingual products raise initiation rates.</a:t>
            </a:r>
          </a:p>
        </p:txBody>
      </p:sp>
      <p:sp>
        <p:nvSpPr>
          <p:cNvPr id="54" name="TextBox 53"/>
          <p:cNvSpPr txBox="1"/>
          <p:nvPr/>
        </p:nvSpPr>
        <p:spPr>
          <a:xfrm>
            <a:off x="180975" y="1974707"/>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Convenience and fewer clinic visits support uptake and persistence.</a:t>
            </a:r>
          </a:p>
        </p:txBody>
      </p:sp>
      <p:sp>
        <p:nvSpPr>
          <p:cNvPr id="55" name="TextBox 54"/>
          <p:cNvSpPr txBox="1"/>
          <p:nvPr/>
        </p:nvSpPr>
        <p:spPr>
          <a:xfrm>
            <a:off x="180975" y="2248513"/>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Earlier intervention extends the treatment period per patient.</a:t>
            </a:r>
          </a:p>
        </p:txBody>
      </p:sp>
      <p:sp>
        <p:nvSpPr>
          <p:cNvPr id="56" name="TextBox 55"/>
          <p:cNvSpPr txBox="1"/>
          <p:nvPr/>
        </p:nvSpPr>
        <p:spPr>
          <a:xfrm>
            <a:off x="180975" y="2522318"/>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Coverage determines whether patients complete a multi-year course.</a:t>
            </a:r>
          </a:p>
        </p:txBody>
      </p:sp>
      <p:sp>
        <p:nvSpPr>
          <p:cNvPr id="57" name="TextBox 5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8" name="TextBox 57"/>
          <p:cNvSpPr txBox="1"/>
          <p:nvPr/>
        </p:nvSpPr>
        <p:spPr>
          <a:xfrm>
            <a:off x="7534275" y="1322601"/>
            <a:ext cx="1484190" cy="173278"/>
          </a:xfrm>
          <a:prstGeom prst="rect">
            <a:avLst/>
          </a:prstGeom>
          <a:noFill/>
        </p:spPr>
        <p:txBody>
          <a:bodyPr wrap="none" lIns="0" rIns="0" tIns="0" bIns="0">
            <a:spAutoFit/>
          </a:bodyPr>
          <a:lstStyle/>
          <a:p>
            <a:r>
              <a:rPr sz="1011" b="0">
                <a:solidFill>
                  <a:srgbClr val="2E2E2E"/>
                </a:solidFill>
                <a:latin typeface="Calibri"/>
              </a:rPr>
              <a:t>Allergic disease prevalence</a:t>
            </a:r>
          </a:p>
        </p:txBody>
      </p:sp>
      <p:pic>
        <p:nvPicPr>
          <p:cNvPr id="59" name="Picture 58" descr="lock.png"/>
          <p:cNvPicPr>
            <a:picLocks noChangeAspect="1"/>
          </p:cNvPicPr>
          <p:nvPr/>
        </p:nvPicPr>
        <p:blipFill>
          <a:blip r:embed="rId4"/>
          <a:stretch>
            <a:fillRect/>
          </a:stretch>
        </p:blipFill>
        <p:spPr>
          <a:xfrm>
            <a:off x="8964576" y="1313604"/>
            <a:ext cx="118403" cy="172222"/>
          </a:xfrm>
          <a:prstGeom prst="rect">
            <a:avLst/>
          </a:prstGeom>
        </p:spPr>
      </p:pic>
      <p:sp>
        <p:nvSpPr>
          <p:cNvPr id="60" name="TextBox 59"/>
          <p:cNvSpPr txBox="1"/>
          <p:nvPr/>
        </p:nvSpPr>
        <p:spPr>
          <a:xfrm>
            <a:off x="9236166" y="2110465"/>
            <a:ext cx="1801484" cy="173278"/>
          </a:xfrm>
          <a:prstGeom prst="rect">
            <a:avLst/>
          </a:prstGeom>
          <a:noFill/>
        </p:spPr>
        <p:txBody>
          <a:bodyPr wrap="none" lIns="0" rIns="0" tIns="0" bIns="0">
            <a:spAutoFit/>
          </a:bodyPr>
          <a:lstStyle/>
          <a:p>
            <a:r>
              <a:rPr sz="1011" b="0">
                <a:solidFill>
                  <a:srgbClr val="2E2E2E"/>
                </a:solidFill>
                <a:latin typeface="Calibri"/>
              </a:rPr>
              <a:t>Guideline and prescriber support</a:t>
            </a:r>
          </a:p>
        </p:txBody>
      </p:sp>
      <p:pic>
        <p:nvPicPr>
          <p:cNvPr id="61" name="Picture 60" descr="lock.png"/>
          <p:cNvPicPr>
            <a:picLocks noChangeAspect="1"/>
          </p:cNvPicPr>
          <p:nvPr/>
        </p:nvPicPr>
        <p:blipFill>
          <a:blip r:embed="rId4"/>
          <a:stretch>
            <a:fillRect/>
          </a:stretch>
        </p:blipFill>
        <p:spPr>
          <a:xfrm>
            <a:off x="10983761" y="2101468"/>
            <a:ext cx="118403" cy="172222"/>
          </a:xfrm>
          <a:prstGeom prst="rect">
            <a:avLst/>
          </a:prstGeom>
        </p:spPr>
      </p:pic>
      <p:sp>
        <p:nvSpPr>
          <p:cNvPr id="62" name="TextBox 61"/>
          <p:cNvSpPr txBox="1"/>
          <p:nvPr/>
        </p:nvSpPr>
        <p:spPr>
          <a:xfrm>
            <a:off x="9972675" y="3830994"/>
            <a:ext cx="1858619" cy="139750"/>
          </a:xfrm>
          <a:prstGeom prst="rect">
            <a:avLst/>
          </a:prstGeom>
          <a:noFill/>
        </p:spPr>
        <p:txBody>
          <a:bodyPr wrap="none" lIns="0" rIns="0" tIns="0" bIns="0">
            <a:spAutoFit/>
          </a:bodyPr>
          <a:lstStyle/>
          <a:p>
            <a:r>
              <a:rPr sz="791" b="0">
                <a:solidFill>
                  <a:srgbClr val="2E2E2E"/>
                </a:solidFill>
                <a:latin typeface="Calibri"/>
              </a:rPr>
              <a:t>Patient preference for home-based therapy</a:t>
            </a:r>
          </a:p>
        </p:txBody>
      </p:sp>
      <p:pic>
        <p:nvPicPr>
          <p:cNvPr id="63" name="Picture 62" descr="lock.png"/>
          <p:cNvPicPr>
            <a:picLocks noChangeAspect="1"/>
          </p:cNvPicPr>
          <p:nvPr/>
        </p:nvPicPr>
        <p:blipFill>
          <a:blip r:embed="rId4"/>
          <a:stretch>
            <a:fillRect/>
          </a:stretch>
        </p:blipFill>
        <p:spPr>
          <a:xfrm>
            <a:off x="11772555" y="3823953"/>
            <a:ext cx="92663" cy="134782"/>
          </a:xfrm>
          <a:prstGeom prst="rect">
            <a:avLst/>
          </a:prstGeom>
        </p:spPr>
      </p:pic>
      <p:sp>
        <p:nvSpPr>
          <p:cNvPr id="64" name="TextBox 63"/>
          <p:cNvSpPr txBox="1"/>
          <p:nvPr/>
        </p:nvSpPr>
        <p:spPr>
          <a:xfrm>
            <a:off x="9236166" y="5521349"/>
            <a:ext cx="1990111" cy="166573"/>
          </a:xfrm>
          <a:prstGeom prst="rect">
            <a:avLst/>
          </a:prstGeom>
          <a:noFill/>
        </p:spPr>
        <p:txBody>
          <a:bodyPr wrap="none" lIns="0" rIns="0" tIns="0" bIns="0">
            <a:spAutoFit/>
          </a:bodyPr>
          <a:lstStyle/>
          <a:p>
            <a:r>
              <a:rPr sz="968" b="0">
                <a:solidFill>
                  <a:srgbClr val="2E2E2E"/>
                </a:solidFill>
                <a:latin typeface="Calibri"/>
              </a:rPr>
              <a:t>Paediatric and early-treatment uptake</a:t>
            </a:r>
          </a:p>
        </p:txBody>
      </p:sp>
      <p:pic>
        <p:nvPicPr>
          <p:cNvPr id="65" name="Picture 64" descr="lock.png"/>
          <p:cNvPicPr>
            <a:picLocks noChangeAspect="1"/>
          </p:cNvPicPr>
          <p:nvPr/>
        </p:nvPicPr>
        <p:blipFill>
          <a:blip r:embed="rId4"/>
          <a:stretch>
            <a:fillRect/>
          </a:stretch>
        </p:blipFill>
        <p:spPr>
          <a:xfrm>
            <a:off x="11171419" y="5512743"/>
            <a:ext cx="113255" cy="164734"/>
          </a:xfrm>
          <a:prstGeom prst="rect">
            <a:avLst/>
          </a:prstGeom>
        </p:spPr>
      </p:pic>
      <p:sp>
        <p:nvSpPr>
          <p:cNvPr id="66" name="TextBox 65"/>
          <p:cNvSpPr txBox="1"/>
          <p:nvPr/>
        </p:nvSpPr>
        <p:spPr>
          <a:xfrm>
            <a:off x="7534275" y="6312566"/>
            <a:ext cx="1977145" cy="159867"/>
          </a:xfrm>
          <a:prstGeom prst="rect">
            <a:avLst/>
          </a:prstGeom>
          <a:noFill/>
        </p:spPr>
        <p:txBody>
          <a:bodyPr wrap="none" lIns="0" rIns="0" tIns="0" bIns="0">
            <a:spAutoFit/>
          </a:bodyPr>
          <a:lstStyle/>
          <a:p>
            <a:r>
              <a:rPr sz="923" b="0">
                <a:solidFill>
                  <a:srgbClr val="2E2E2E"/>
                </a:solidFill>
                <a:latin typeface="Calibri"/>
              </a:rPr>
              <a:t>Insurance and reimbursement coverage</a:t>
            </a:r>
          </a:p>
        </p:txBody>
      </p:sp>
      <p:pic>
        <p:nvPicPr>
          <p:cNvPr id="67" name="Picture 66" descr="lock.png"/>
          <p:cNvPicPr>
            <a:picLocks noChangeAspect="1"/>
          </p:cNvPicPr>
          <p:nvPr/>
        </p:nvPicPr>
        <p:blipFill>
          <a:blip r:embed="rId4"/>
          <a:stretch>
            <a:fillRect/>
          </a:stretch>
        </p:blipFill>
        <p:spPr>
          <a:xfrm>
            <a:off x="9455592" y="6304351"/>
            <a:ext cx="108107" cy="157246"/>
          </a:xfrm>
          <a:prstGeom prst="rect">
            <a:avLst/>
          </a:prstGeom>
        </p:spPr>
      </p:pic>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Restraints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13" name="Rectangle 12"/>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Long treatment duration and adherence</a:t>
            </a:r>
          </a:p>
        </p:txBody>
      </p:sp>
      <p:sp>
        <p:nvSpPr>
          <p:cNvPr id="15" name="TextBox 14"/>
          <p:cNvSpPr txBox="1"/>
          <p:nvPr/>
        </p:nvSpPr>
        <p:spPr>
          <a:xfrm>
            <a:off x="161925" y="1700902"/>
            <a:ext cx="9439275"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A course typically runs for several years, and discontinuation before completion limits the realised benefit and the revenue per patient.</a:t>
            </a:r>
          </a:p>
        </p:txBody>
      </p:sp>
      <p:sp>
        <p:nvSpPr>
          <p:cNvPr id="16" name="TextBox 15"/>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7" name="TextBox 16"/>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8" name="Rectangle 17"/>
          <p:cNvSpPr/>
          <p:nvPr/>
        </p:nvSpPr>
        <p:spPr>
          <a:xfrm>
            <a:off x="9810750" y="193820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20" name="TextBox 19"/>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1" name="Rectangle 20"/>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23" name="TextBox 22"/>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4" name="Rectangle 23"/>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26" name="TextBox 25"/>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7" name="Rectangle 26"/>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29" name="Connector 28"/>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Safety management and supervised administration</a:t>
            </a:r>
          </a:p>
        </p:txBody>
      </p:sp>
      <p:sp>
        <p:nvSpPr>
          <p:cNvPr id="32" name="TextBox 31"/>
          <p:cNvSpPr txBox="1"/>
          <p:nvPr/>
        </p:nvSpPr>
        <p:spPr>
          <a:xfrm>
            <a:off x="161925" y="3453257"/>
            <a:ext cx="9439275"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Injection-based therapy needs clinic supervision and preparedness for systemic reactions, which limits capacity and patient convenience.</a:t>
            </a:r>
          </a:p>
        </p:txBody>
      </p:sp>
      <p:sp>
        <p:nvSpPr>
          <p:cNvPr id="33" name="TextBox 32"/>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4" name="TextBox 33"/>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5" name="Rectangle 34"/>
          <p:cNvSpPr/>
          <p:nvPr/>
        </p:nvSpPr>
        <p:spPr>
          <a:xfrm>
            <a:off x="9810750" y="3690555"/>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37" name="TextBox 36"/>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8" name="Rectangle 37"/>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40" name="TextBox 39"/>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1" name="Rectangle 40"/>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43" name="TextBox 42"/>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4" name="Rectangle 43"/>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6" name="Connector 45"/>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Reimbursement gaps and out-of-pocket cost</a:t>
            </a:r>
          </a:p>
        </p:txBody>
      </p:sp>
      <p:sp>
        <p:nvSpPr>
          <p:cNvPr id="49" name="TextBox 48"/>
          <p:cNvSpPr txBox="1"/>
          <p:nvPr/>
        </p:nvSpPr>
        <p:spPr>
          <a:xfrm>
            <a:off x="161925" y="5205612"/>
            <a:ext cx="9439275"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Coverage varies by country and product, and patients may carry a large share of a multi-year course cost, especially in emerging markets.</a:t>
            </a:r>
          </a:p>
        </p:txBody>
      </p:sp>
      <p:sp>
        <p:nvSpPr>
          <p:cNvPr id="50" name="TextBox 49"/>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1" name="TextBox 50"/>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2" name="Rectangle 51"/>
          <p:cNvSpPr/>
          <p:nvPr/>
        </p:nvSpPr>
        <p:spPr>
          <a:xfrm>
            <a:off x="9810750" y="544291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4" name="TextBox 53"/>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5" name="Rectangle 54"/>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7" name="TextBox 56"/>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8" name="Rectangle 57"/>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60" name="TextBox 59"/>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1" name="Rectangle 60"/>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Opportunities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13" name="Rectangle 12"/>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Recombinant and molecular allergen preparations</a:t>
            </a:r>
          </a:p>
        </p:txBody>
      </p:sp>
      <p:sp>
        <p:nvSpPr>
          <p:cNvPr id="15" name="TextBox 14"/>
          <p:cNvSpPr txBox="1"/>
          <p:nvPr/>
        </p:nvSpPr>
        <p:spPr>
          <a:xfrm>
            <a:off x="161925" y="1700902"/>
            <a:ext cx="9439275"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Better-defined, standardised preparations promise consistent potency and component-resolved treatment selection, opening a premium segment.</a:t>
            </a:r>
          </a:p>
        </p:txBody>
      </p:sp>
      <p:sp>
        <p:nvSpPr>
          <p:cNvPr id="16" name="TextBox 15"/>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7" name="TextBox 16"/>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8" name="Rectangle 17"/>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0" name="TextBox 19"/>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1" name="Rectangle 20"/>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3" name="TextBox 22"/>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4" name="Rectangle 23"/>
          <p:cNvSpPr/>
          <p:nvPr/>
        </p:nvSpPr>
        <p:spPr>
          <a:xfrm>
            <a:off x="9810750" y="245843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26" name="TextBox 25"/>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7" name="Rectangle 26"/>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cxnSp>
        <p:nvCxnSpPr>
          <p:cNvPr id="29" name="Connector 28"/>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Emerging-market expansion in Asia Pacific and Latin America</a:t>
            </a:r>
          </a:p>
        </p:txBody>
      </p:sp>
      <p:sp>
        <p:nvSpPr>
          <p:cNvPr id="32" name="TextBox 31"/>
          <p:cNvSpPr txBox="1"/>
          <p:nvPr/>
        </p:nvSpPr>
        <p:spPr>
          <a:xfrm>
            <a:off x="161925" y="3453257"/>
            <a:ext cx="94392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Growing private healthcare spending and increasing allergist capacity create room for registered, affordable immunotherapy outside the established markets.</a:t>
            </a:r>
          </a:p>
        </p:txBody>
      </p:sp>
      <p:sp>
        <p:nvSpPr>
          <p:cNvPr id="33" name="TextBox 32"/>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4" name="TextBox 33"/>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5" name="Rectangle 34"/>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7" name="TextBox 36"/>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8" name="Rectangle 37"/>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40" name="TextBox 39"/>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1" name="Rectangle 40"/>
          <p:cNvSpPr/>
          <p:nvPr/>
        </p:nvSpPr>
        <p:spPr>
          <a:xfrm>
            <a:off x="9810750" y="4210785"/>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43" name="TextBox 42"/>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4" name="Rectangle 43"/>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cxnSp>
        <p:nvCxnSpPr>
          <p:cNvPr id="46" name="Connector 45"/>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Paediatric and food-allergy immunotherapy</a:t>
            </a:r>
          </a:p>
        </p:txBody>
      </p:sp>
      <p:sp>
        <p:nvSpPr>
          <p:cNvPr id="49" name="TextBox 48"/>
          <p:cNvSpPr txBox="1"/>
          <p:nvPr/>
        </p:nvSpPr>
        <p:spPr>
          <a:xfrm>
            <a:off x="161925" y="5205612"/>
            <a:ext cx="94392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Earlier intervention in children and registered oral immunotherapy for peanut allergy extend the treated population and the length of the commercial opportunity.</a:t>
            </a:r>
          </a:p>
        </p:txBody>
      </p:sp>
      <p:sp>
        <p:nvSpPr>
          <p:cNvPr id="50" name="TextBox 49"/>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1" name="TextBox 50"/>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2" name="Rectangle 51"/>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4" name="TextBox 53"/>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5" name="Rectangle 54"/>
          <p:cNvSpPr/>
          <p:nvPr/>
        </p:nvSpPr>
        <p:spPr>
          <a:xfrm>
            <a:off x="10896600" y="544291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7" name="TextBox 56"/>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8" name="Rectangle 57"/>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0" name="TextBox 59"/>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1" name="Rectangle 60"/>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Allergy Immunotherapy Market Recent Developments &amp; Milestones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ectangle 10"/>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13" name="TextBox 12"/>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4" name="Rectangle 13"/>
          <p:cNvSpPr/>
          <p:nvPr/>
        </p:nvSpPr>
        <p:spPr>
          <a:xfrm>
            <a:off x="142875" y="1317574"/>
            <a:ext cx="11906250" cy="1168237"/>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875" y="1317574"/>
            <a:ext cx="1428750" cy="1168237"/>
          </a:xfrm>
          <a:prstGeom prst="rect">
            <a:avLst/>
          </a:prstGeom>
          <a:noFill/>
        </p:spPr>
        <p:txBody>
          <a:bodyPr wrap="square" lIns="28575" rIns="28575" tIns="9525" bIns="9525" anchor="ctr">
            <a:spAutoFit/>
          </a:bodyPr>
          <a:lstStyle/>
          <a:p>
            <a:pPr algn="ctr"/>
            <a:r>
              <a:rPr sz="1250" b="1">
                <a:solidFill>
                  <a:srgbClr val="0B2E4A"/>
                </a:solidFill>
                <a:latin typeface="Calibri"/>
              </a:rPr>
              <a:t>2014</a:t>
            </a:r>
          </a:p>
        </p:txBody>
      </p:sp>
      <p:cxnSp>
        <p:nvCxnSpPr>
          <p:cNvPr id="16" name="Connector 15"/>
          <p:cNvCxnSpPr/>
          <p:nvPr/>
        </p:nvCxnSpPr>
        <p:spPr>
          <a:xfrm>
            <a:off x="1571625" y="1317574"/>
            <a:ext cx="0" cy="1168237"/>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714500" y="1700902"/>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The U.S. FDA approved the first sublingual immunotherapy tablets for grass and ragweed pollen allergy, opening the home-administration segment in North America.</a:t>
            </a:r>
          </a:p>
        </p:txBody>
      </p:sp>
      <p:sp>
        <p:nvSpPr>
          <p:cNvPr id="18" name="Rectangle 17"/>
          <p:cNvSpPr/>
          <p:nvPr/>
        </p:nvSpPr>
        <p:spPr>
          <a:xfrm>
            <a:off x="142875" y="2485811"/>
            <a:ext cx="11906250" cy="81229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2875" y="2485811"/>
            <a:ext cx="1428750" cy="812290"/>
          </a:xfrm>
          <a:prstGeom prst="rect">
            <a:avLst/>
          </a:prstGeom>
          <a:noFill/>
        </p:spPr>
        <p:txBody>
          <a:bodyPr wrap="square" lIns="28575" rIns="28575" tIns="9525" bIns="9525" anchor="ctr">
            <a:spAutoFit/>
          </a:bodyPr>
          <a:lstStyle/>
          <a:p>
            <a:pPr algn="ctr"/>
            <a:r>
              <a:rPr sz="1250" b="1">
                <a:solidFill>
                  <a:srgbClr val="0B2E4A"/>
                </a:solidFill>
                <a:latin typeface="Calibri"/>
              </a:rPr>
              <a:t>2017</a:t>
            </a:r>
          </a:p>
        </p:txBody>
      </p:sp>
      <p:cxnSp>
        <p:nvCxnSpPr>
          <p:cNvPr id="20" name="Connector 19"/>
          <p:cNvCxnSpPr/>
          <p:nvPr/>
        </p:nvCxnSpPr>
        <p:spPr>
          <a:xfrm>
            <a:off x="1571625" y="2485811"/>
            <a:ext cx="0" cy="81229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14500" y="2782433"/>
            <a:ext cx="1021080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The U.S. FDA approved the first sublingual tablet for house dust mite allergy.</a:t>
            </a:r>
          </a:p>
        </p:txBody>
      </p:sp>
      <p:sp>
        <p:nvSpPr>
          <p:cNvPr id="22" name="Rectangle 21"/>
          <p:cNvSpPr/>
          <p:nvPr/>
        </p:nvSpPr>
        <p:spPr>
          <a:xfrm>
            <a:off x="142875" y="3298100"/>
            <a:ext cx="11906250" cy="81229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2875" y="3298100"/>
            <a:ext cx="1428750" cy="812290"/>
          </a:xfrm>
          <a:prstGeom prst="rect">
            <a:avLst/>
          </a:prstGeom>
          <a:noFill/>
        </p:spPr>
        <p:txBody>
          <a:bodyPr wrap="square" lIns="28575" rIns="28575" tIns="9525" bIns="9525" anchor="ctr">
            <a:spAutoFit/>
          </a:bodyPr>
          <a:lstStyle/>
          <a:p>
            <a:pPr algn="ctr"/>
            <a:r>
              <a:rPr sz="1250" b="1">
                <a:solidFill>
                  <a:srgbClr val="0B2E4A"/>
                </a:solidFill>
                <a:latin typeface="Calibri"/>
              </a:rPr>
              <a:t>2018</a:t>
            </a:r>
          </a:p>
        </p:txBody>
      </p:sp>
      <p:cxnSp>
        <p:nvCxnSpPr>
          <p:cNvPr id="24" name="Connector 23"/>
          <p:cNvCxnSpPr/>
          <p:nvPr/>
        </p:nvCxnSpPr>
        <p:spPr>
          <a:xfrm>
            <a:off x="1571625" y="3298100"/>
            <a:ext cx="0" cy="81229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714500" y="3594723"/>
            <a:ext cx="1021080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Stallergenes and Greer Laboratories combined to form Stallergenes Greer, joining a European sublingual specialist with a U.S. extract manufacturer.</a:t>
            </a:r>
          </a:p>
        </p:txBody>
      </p:sp>
      <p:sp>
        <p:nvSpPr>
          <p:cNvPr id="26" name="Rectangle 25"/>
          <p:cNvSpPr/>
          <p:nvPr/>
        </p:nvSpPr>
        <p:spPr>
          <a:xfrm>
            <a:off x="142875" y="4110390"/>
            <a:ext cx="11906250" cy="81229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2875" y="4110390"/>
            <a:ext cx="1428750" cy="812290"/>
          </a:xfrm>
          <a:prstGeom prst="rect">
            <a:avLst/>
          </a:prstGeom>
          <a:noFill/>
        </p:spPr>
        <p:txBody>
          <a:bodyPr wrap="square" lIns="28575" rIns="28575" tIns="9525" bIns="9525" anchor="ctr">
            <a:spAutoFit/>
          </a:bodyPr>
          <a:lstStyle/>
          <a:p>
            <a:pPr algn="ctr"/>
            <a:r>
              <a:rPr sz="1250" b="1">
                <a:solidFill>
                  <a:srgbClr val="0B2E4A"/>
                </a:solidFill>
                <a:latin typeface="Calibri"/>
              </a:rPr>
              <a:t>2019</a:t>
            </a:r>
          </a:p>
        </p:txBody>
      </p:sp>
      <p:cxnSp>
        <p:nvCxnSpPr>
          <p:cNvPr id="28" name="Connector 27"/>
          <p:cNvCxnSpPr/>
          <p:nvPr/>
        </p:nvCxnSpPr>
        <p:spPr>
          <a:xfrm>
            <a:off x="1571625" y="4110390"/>
            <a:ext cx="0" cy="81229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714500" y="4407012"/>
            <a:ext cx="1021080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A tree-pollen sublingual tablet for birch-related allergy received European approval, widening tablet use in Europe.</a:t>
            </a:r>
          </a:p>
        </p:txBody>
      </p:sp>
      <p:sp>
        <p:nvSpPr>
          <p:cNvPr id="30" name="Rectangle 29"/>
          <p:cNvSpPr/>
          <p:nvPr/>
        </p:nvSpPr>
        <p:spPr>
          <a:xfrm>
            <a:off x="142875" y="4922679"/>
            <a:ext cx="11906250" cy="81229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2875" y="4922679"/>
            <a:ext cx="1428750" cy="812290"/>
          </a:xfrm>
          <a:prstGeom prst="rect">
            <a:avLst/>
          </a:prstGeom>
          <a:noFill/>
        </p:spPr>
        <p:txBody>
          <a:bodyPr wrap="square" lIns="28575" rIns="28575" tIns="9525" bIns="9525" anchor="ctr">
            <a:spAutoFit/>
          </a:bodyPr>
          <a:lstStyle/>
          <a:p>
            <a:pPr algn="ctr"/>
            <a:r>
              <a:rPr sz="1250" b="1">
                <a:solidFill>
                  <a:srgbClr val="0B2E4A"/>
                </a:solidFill>
                <a:latin typeface="Calibri"/>
              </a:rPr>
              <a:t>2020</a:t>
            </a:r>
          </a:p>
        </p:txBody>
      </p:sp>
      <p:cxnSp>
        <p:nvCxnSpPr>
          <p:cNvPr id="32" name="Connector 31"/>
          <p:cNvCxnSpPr/>
          <p:nvPr/>
        </p:nvCxnSpPr>
        <p:spPr>
          <a:xfrm>
            <a:off x="1571625" y="4922679"/>
            <a:ext cx="0" cy="81229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714500" y="5219302"/>
            <a:ext cx="1021080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The U.S. FDA approved the first oral immunotherapy for peanut allergy in children, creating a registered food-allergy immunotherapy category.</a:t>
            </a:r>
          </a:p>
        </p:txBody>
      </p:sp>
      <p:sp>
        <p:nvSpPr>
          <p:cNvPr id="34" name="Rectangle 33"/>
          <p:cNvSpPr/>
          <p:nvPr/>
        </p:nvSpPr>
        <p:spPr>
          <a:xfrm>
            <a:off x="142875" y="5734969"/>
            <a:ext cx="11906250" cy="81229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2875" y="5734969"/>
            <a:ext cx="1428750" cy="812290"/>
          </a:xfrm>
          <a:prstGeom prst="rect">
            <a:avLst/>
          </a:prstGeom>
          <a:noFill/>
        </p:spPr>
        <p:txBody>
          <a:bodyPr wrap="square" lIns="28575" rIns="28575" tIns="9525" bIns="9525" anchor="ctr">
            <a:spAutoFit/>
          </a:bodyPr>
          <a:lstStyle/>
          <a:p>
            <a:pPr algn="ctr"/>
            <a:r>
              <a:rPr sz="1250" b="1">
                <a:solidFill>
                  <a:srgbClr val="0B2E4A"/>
                </a:solidFill>
                <a:latin typeface="Calibri"/>
              </a:rPr>
              <a:t>2020</a:t>
            </a:r>
          </a:p>
        </p:txBody>
      </p:sp>
      <p:cxnSp>
        <p:nvCxnSpPr>
          <p:cNvPr id="36" name="Connector 35"/>
          <p:cNvCxnSpPr/>
          <p:nvPr/>
        </p:nvCxnSpPr>
        <p:spPr>
          <a:xfrm>
            <a:off x="1571625" y="5734969"/>
            <a:ext cx="0" cy="81229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714500" y="6031591"/>
            <a:ext cx="1021080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Nestlé Health Science completed its acquisition of the maker of the peanut oral immunotherapy product.</a:t>
            </a:r>
          </a:p>
        </p:txBody>
      </p:sp>
      <p:sp>
        <p:nvSpPr>
          <p:cNvPr id="38" name="TextBox 3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Allergy Immunotherapy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Oval 10"/>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3" name="TextBox 12"/>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Supplier Power</a:t>
            </a:r>
          </a:p>
        </p:txBody>
      </p:sp>
      <p:sp>
        <p:nvSpPr>
          <p:cNvPr id="14" name="TextBox 13"/>
          <p:cNvSpPr txBox="1"/>
          <p:nvPr/>
        </p:nvSpPr>
        <p:spPr>
          <a:xfrm>
            <a:off x="24765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Assessed moderate. Allergen source material and standardised-extract capability are specialised and held by a limited number of suppliers.</a:t>
            </a:r>
          </a:p>
        </p:txBody>
      </p:sp>
      <p:sp>
        <p:nvSpPr>
          <p:cNvPr id="15" name="TextBox 14"/>
          <p:cNvSpPr txBox="1"/>
          <p:nvPr/>
        </p:nvSpPr>
        <p:spPr>
          <a:xfrm>
            <a:off x="247650" y="3854838"/>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Biological variability and regulatory qualification of raw-material sources make supplier switching slow.</a:t>
            </a:r>
          </a:p>
        </p:txBody>
      </p:sp>
      <p:sp>
        <p:nvSpPr>
          <p:cNvPr id="16" name="Oval 15"/>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Buyer Power</a:t>
            </a:r>
          </a:p>
        </p:txBody>
      </p:sp>
      <p:sp>
        <p:nvSpPr>
          <p:cNvPr id="22" name="TextBox 21"/>
          <p:cNvSpPr txBox="1"/>
          <p:nvPr/>
        </p:nvSpPr>
        <p:spPr>
          <a:xfrm>
            <a:off x="2628900" y="2796123"/>
            <a:ext cx="2171700" cy="1149983"/>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Assessed moderate. Hospitals, allergy clinics and specialty pharmacies purchase through tenders and distributors, which gives institutional buyers some leverage.</a:t>
            </a:r>
          </a:p>
        </p:txBody>
      </p:sp>
      <p:sp>
        <p:nvSpPr>
          <p:cNvPr id="23" name="TextBox 22"/>
          <p:cNvSpPr txBox="1"/>
          <p:nvPr/>
        </p:nvSpPr>
        <p:spPr>
          <a:xfrm>
            <a:off x="2628900" y="403737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Prescribers, not patients, choose the therapy, and registered products limit easy substitution on price alone.</a:t>
            </a:r>
          </a:p>
        </p:txBody>
      </p:sp>
      <p:sp>
        <p:nvSpPr>
          <p:cNvPr id="24" name="Oval 23"/>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Competitive Rivalry</a:t>
            </a:r>
          </a:p>
        </p:txBody>
      </p:sp>
      <p:sp>
        <p:nvSpPr>
          <p:cNvPr id="32" name="TextBox 31"/>
          <p:cNvSpPr txBox="1"/>
          <p:nvPr/>
        </p:nvSpPr>
        <p:spPr>
          <a:xfrm>
            <a:off x="501015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Assessed moderate. A small set of specialist players leads the market, and competition centres on registered products, evidence and prescriber relationships.</a:t>
            </a:r>
          </a:p>
        </p:txBody>
      </p:sp>
      <p:sp>
        <p:nvSpPr>
          <p:cNvPr id="33" name="TextBox 32"/>
          <p:cNvSpPr txBox="1"/>
          <p:nvPr/>
        </p:nvSpPr>
        <p:spPr>
          <a:xfrm>
            <a:off x="5010150" y="3854838"/>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Local and regional extract producers compete mainly on price and relationships within their home markets.</a:t>
            </a:r>
          </a:p>
        </p:txBody>
      </p:sp>
      <p:sp>
        <p:nvSpPr>
          <p:cNvPr id="34" name="Oval 33"/>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39" name="TextBox 38"/>
          <p:cNvSpPr txBox="1"/>
          <p:nvPr/>
        </p:nvSpPr>
        <p:spPr>
          <a:xfrm>
            <a:off x="73914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Assessed moderate. Symptomatic pharmacotherapy and, in selected indications, biologic treatments offer alternatives to immunotherapy.</a:t>
            </a:r>
          </a:p>
        </p:txBody>
      </p:sp>
      <p:sp>
        <p:nvSpPr>
          <p:cNvPr id="40" name="TextBox 39"/>
          <p:cNvSpPr txBox="1"/>
          <p:nvPr/>
        </p:nvSpPr>
        <p:spPr>
          <a:xfrm>
            <a:off x="7391400" y="3854838"/>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Immunotherapy keeps an advantage as a course that targets the underlying disease rather than controlling symptoms.</a:t>
            </a:r>
          </a:p>
        </p:txBody>
      </p:sp>
      <p:sp>
        <p:nvSpPr>
          <p:cNvPr id="41" name="Oval 40"/>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49" name="TextBox 48"/>
          <p:cNvSpPr txBox="1"/>
          <p:nvPr/>
        </p:nvSpPr>
        <p:spPr>
          <a:xfrm>
            <a:off x="977265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Assessed low. Biologic manufacturing, potency standardisation and product-level licensure create high capital and regulatory barriers.</a:t>
            </a:r>
          </a:p>
        </p:txBody>
      </p:sp>
      <p:sp>
        <p:nvSpPr>
          <p:cNvPr id="50" name="TextBox 49"/>
          <p:cNvSpPr txBox="1"/>
          <p:nvPr/>
        </p:nvSpPr>
        <p:spPr>
          <a:xfrm>
            <a:off x="9772650" y="385483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Clinical evidence requirements and prescriber trust take years to build.</a:t>
            </a:r>
          </a:p>
        </p:txBody>
      </p:sp>
      <p:sp>
        <p:nvSpPr>
          <p:cNvPr id="51" name="TextBox 5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Allergy Immunotherapy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Competitive Landscape at a Glance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10" name="Connector 9"/>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2" name="TextBox 11"/>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 </a:t>
            </a:r>
          </a:p>
        </p:txBody>
      </p:sp>
      <p:cxnSp>
        <p:nvCxnSpPr>
          <p:cNvPr id="13" name="Connector 12"/>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5" name="TextBox 14"/>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8" name="TextBox 17"/>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9" name="Connector 18"/>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21" name="TextBox 20"/>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22" name="Connector 21"/>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4" name="TextBox 23"/>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10</a:t>
            </a:r>
          </a:p>
        </p:txBody>
      </p:sp>
      <p:cxnSp>
        <p:nvCxnSpPr>
          <p:cNvPr id="25" name="Connector 24"/>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7" name="TextBox 26"/>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50</a:t>
            </a:r>
          </a:p>
        </p:txBody>
      </p:sp>
      <p:cxnSp>
        <p:nvCxnSpPr>
          <p:cNvPr id="28" name="Connector 27"/>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30" name="TextBox 29"/>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ALK-Abelló A/S</a:t>
            </a:r>
          </a:p>
        </p:txBody>
      </p:sp>
      <p:cxnSp>
        <p:nvCxnSpPr>
          <p:cNvPr id="31" name="Connector 30"/>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3" name="TextBox 32"/>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4" name="Connector 33"/>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7" name="TextBox 36"/>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8" name="TextBox 37"/>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9" name="Rectangle 38"/>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TextBox 40"/>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42" name="TextBox 41"/>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3" name="Rectangle 42"/>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5" name="TextBox 44"/>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6" name="TextBox 45"/>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7" name="Rectangle 46"/>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9" name="TextBox 48"/>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50" name="TextBox 49"/>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4 in one market or niche.</a:t>
            </a:r>
          </a:p>
        </p:txBody>
      </p:sp>
      <p:sp>
        <p:nvSpPr>
          <p:cNvPr id="51" name="Rectangle 50"/>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3" name="TextBox 52"/>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4" name="TextBox 53"/>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5 of 10 named players; the independent target list is shrinking.</a:t>
            </a:r>
          </a:p>
        </p:txBody>
      </p:sp>
      <p:sp>
        <p:nvSpPr>
          <p:cNvPr id="55" name="Rectangle 54"/>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7" name="TextBox 56"/>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8" name="TextBox 57"/>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ALK-Abelló A/S, Stallergenes Greer International AG, HAL Allergy Group.</a:t>
            </a:r>
          </a:p>
        </p:txBody>
      </p:sp>
      <p:cxnSp>
        <p:nvCxnSpPr>
          <p:cNvPr id="59" name="Connector 58"/>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61" name="TextBox 60"/>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lock.png"/>
          <p:cNvPicPr>
            <a:picLocks noChangeAspect="1"/>
          </p:cNvPicPr>
          <p:nvPr/>
        </p:nvPicPr>
        <p:blipFill>
          <a:blip r:embed="rId4"/>
          <a:stretch>
            <a:fillRect/>
          </a:stretch>
        </p:blipFill>
        <p:spPr>
          <a:xfrm>
            <a:off x="87386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2350238" y="1401826"/>
            <a:ext cx="128699" cy="187198"/>
          </a:xfrm>
          <a:prstGeom prst="rect">
            <a:avLst/>
          </a:prstGeom>
        </p:spPr>
      </p:pic>
      <p:pic>
        <p:nvPicPr>
          <p:cNvPr id="65" name="Picture 64" descr="lock.png"/>
          <p:cNvPicPr>
            <a:picLocks noChangeAspect="1"/>
          </p:cNvPicPr>
          <p:nvPr/>
        </p:nvPicPr>
        <p:blipFill>
          <a:blip r:embed="rId4"/>
          <a:stretch>
            <a:fillRect/>
          </a:stretch>
        </p:blipFill>
        <p:spPr>
          <a:xfrm>
            <a:off x="3826613" y="1401826"/>
            <a:ext cx="128699" cy="187198"/>
          </a:xfrm>
          <a:prstGeom prst="rect">
            <a:avLst/>
          </a:prstGeom>
        </p:spPr>
      </p:pic>
      <p:pic>
        <p:nvPicPr>
          <p:cNvPr id="66" name="Picture 65" descr="lock.png"/>
          <p:cNvPicPr>
            <a:picLocks noChangeAspect="1"/>
          </p:cNvPicPr>
          <p:nvPr/>
        </p:nvPicPr>
        <p:blipFill>
          <a:blip r:embed="rId4"/>
          <a:stretch>
            <a:fillRect/>
          </a:stretch>
        </p:blipFill>
        <p:spPr>
          <a:xfrm>
            <a:off x="11208488" y="1401826"/>
            <a:ext cx="128699" cy="187198"/>
          </a:xfrm>
          <a:prstGeom prst="rect">
            <a:avLst/>
          </a:prstGeom>
        </p:spPr>
      </p:pic>
      <p:sp>
        <p:nvSpPr>
          <p:cNvPr id="67" name="TextBox 66"/>
          <p:cNvSpPr txBox="1"/>
          <p:nvPr/>
        </p:nvSpPr>
        <p:spPr>
          <a:xfrm>
            <a:off x="4705350" y="1304925"/>
            <a:ext cx="1002411" cy="179984"/>
          </a:xfrm>
          <a:prstGeom prst="rect">
            <a:avLst/>
          </a:prstGeom>
          <a:noFill/>
        </p:spPr>
        <p:txBody>
          <a:bodyPr wrap="none" lIns="0" rIns="0" tIns="0" bIns="0">
            <a:spAutoFit/>
          </a:bodyPr>
          <a:lstStyle/>
          <a:p>
            <a:r>
              <a:rPr sz="1055" b="1">
                <a:solidFill>
                  <a:srgbClr val="0F2D52"/>
                </a:solidFill>
                <a:latin typeface="Calibri"/>
              </a:rPr>
              <a:t>Direct-to-Allergy</a:t>
            </a:r>
          </a:p>
        </p:txBody>
      </p:sp>
      <p:sp>
        <p:nvSpPr>
          <p:cNvPr id="68" name="TextBox 67"/>
          <p:cNvSpPr txBox="1"/>
          <p:nvPr/>
        </p:nvSpPr>
        <p:spPr>
          <a:xfrm>
            <a:off x="4705350" y="1465859"/>
            <a:ext cx="462295" cy="179984"/>
          </a:xfrm>
          <a:prstGeom prst="rect">
            <a:avLst/>
          </a:prstGeom>
          <a:noFill/>
        </p:spPr>
        <p:txBody>
          <a:bodyPr wrap="none" lIns="0" rIns="0" tIns="0" bIns="0">
            <a:spAutoFit/>
          </a:bodyPr>
          <a:lstStyle/>
          <a:p>
            <a:r>
              <a:rPr sz="1055" b="1">
                <a:solidFill>
                  <a:srgbClr val="0F2D52"/>
                </a:solidFill>
                <a:latin typeface="Calibri"/>
              </a:rPr>
              <a:t>Clinics,</a:t>
            </a:r>
          </a:p>
        </p:txBody>
      </p:sp>
      <p:pic>
        <p:nvPicPr>
          <p:cNvPr id="69" name="Picture 68" descr="lock.png"/>
          <p:cNvPicPr>
            <a:picLocks noChangeAspect="1"/>
          </p:cNvPicPr>
          <p:nvPr/>
        </p:nvPicPr>
        <p:blipFill>
          <a:blip r:embed="rId4"/>
          <a:stretch>
            <a:fillRect/>
          </a:stretch>
        </p:blipFill>
        <p:spPr>
          <a:xfrm>
            <a:off x="5114727" y="1456471"/>
            <a:ext cx="123551" cy="179710"/>
          </a:xfrm>
          <a:prstGeom prst="rect">
            <a:avLst/>
          </a:prstGeom>
        </p:spPr>
      </p:pic>
      <p:sp>
        <p:nvSpPr>
          <p:cNvPr id="70" name="TextBox 69"/>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71" name="Picture 70" descr="lock.png"/>
          <p:cNvPicPr>
            <a:picLocks noChangeAspect="1"/>
          </p:cNvPicPr>
          <p:nvPr/>
        </p:nvPicPr>
        <p:blipFill>
          <a:blip r:embed="rId4"/>
          <a:stretch>
            <a:fillRect/>
          </a:stretch>
        </p:blipFill>
        <p:spPr>
          <a:xfrm>
            <a:off x="1609246" y="2114296"/>
            <a:ext cx="128699" cy="187198"/>
          </a:xfrm>
          <a:prstGeom prst="rect">
            <a:avLst/>
          </a:prstGeom>
        </p:spPr>
      </p:pic>
      <p:sp>
        <p:nvSpPr>
          <p:cNvPr id="72" name="TextBox 71"/>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3 companies lead the 7 sub-segments tracked; no</a:t>
            </a:r>
          </a:p>
        </p:txBody>
      </p:sp>
      <p:sp>
        <p:nvSpPr>
          <p:cNvPr id="73" name="TextBox 72"/>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4.</a:t>
            </a:r>
          </a:p>
        </p:txBody>
      </p:sp>
      <p:sp>
        <p:nvSpPr>
          <p:cNvPr id="74" name="TextBox 73"/>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5" name="Picture 74" descr="lock.png"/>
          <p:cNvPicPr>
            <a:picLocks noChangeAspect="1"/>
          </p:cNvPicPr>
          <p:nvPr/>
        </p:nvPicPr>
        <p:blipFill>
          <a:blip r:embed="rId4"/>
          <a:stretch>
            <a:fillRect/>
          </a:stretch>
        </p:blipFill>
        <p:spPr>
          <a:xfrm>
            <a:off x="1835985" y="3219196"/>
            <a:ext cx="128699" cy="187198"/>
          </a:xfrm>
          <a:prstGeom prst="rect">
            <a:avLst/>
          </a:prstGeom>
        </p:spPr>
      </p:pic>
      <p:sp>
        <p:nvSpPr>
          <p:cNvPr id="76" name="TextBox 75"/>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7" name="Picture 76" descr="lock.png"/>
          <p:cNvPicPr>
            <a:picLocks noChangeAspect="1"/>
          </p:cNvPicPr>
          <p:nvPr/>
        </p:nvPicPr>
        <p:blipFill>
          <a:blip r:embed="rId4"/>
          <a:stretch>
            <a:fillRect/>
          </a:stretch>
        </p:blipFill>
        <p:spPr>
          <a:xfrm>
            <a:off x="3827189" y="3219196"/>
            <a:ext cx="128699" cy="187198"/>
          </a:xfrm>
          <a:prstGeom prst="rect">
            <a:avLst/>
          </a:prstGeom>
        </p:spPr>
      </p:pic>
      <p:sp>
        <p:nvSpPr>
          <p:cNvPr id="78" name="TextBox 77"/>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79" name="TextBox 78"/>
          <p:cNvSpPr txBox="1"/>
          <p:nvPr/>
        </p:nvSpPr>
        <p:spPr>
          <a:xfrm>
            <a:off x="523875" y="4333875"/>
            <a:ext cx="5041279" cy="186689"/>
          </a:xfrm>
          <a:prstGeom prst="rect">
            <a:avLst/>
          </a:prstGeom>
          <a:noFill/>
        </p:spPr>
        <p:txBody>
          <a:bodyPr wrap="none" lIns="0" rIns="0" tIns="0" bIns="0">
            <a:spAutoFit/>
          </a:bodyPr>
          <a:lstStyle/>
          <a:p>
            <a:r>
              <a:rPr sz="1100" b="0">
                <a:solidFill>
                  <a:srgbClr val="1F2933"/>
                </a:solidFill>
                <a:latin typeface="Calibri"/>
              </a:rPr>
              <a:t>'Sublingual Immunotherapy' is the largest line; 'Sublingual Immunotherapy' compounds</a:t>
            </a:r>
          </a:p>
        </p:txBody>
      </p:sp>
      <p:sp>
        <p:nvSpPr>
          <p:cNvPr id="80" name="TextBox 79"/>
          <p:cNvSpPr txBox="1"/>
          <p:nvPr/>
        </p:nvSpPr>
        <p:spPr>
          <a:xfrm>
            <a:off x="523875" y="4501515"/>
            <a:ext cx="603622" cy="186689"/>
          </a:xfrm>
          <a:prstGeom prst="rect">
            <a:avLst/>
          </a:prstGeom>
          <a:noFill/>
        </p:spPr>
        <p:txBody>
          <a:bodyPr wrap="none" lIns="0" rIns="0" tIns="0" bIns="0">
            <a:spAutoFit/>
          </a:bodyPr>
          <a:lstStyle/>
          <a:p>
            <a:r>
              <a:rPr sz="1100" b="0">
                <a:solidFill>
                  <a:srgbClr val="1F2933"/>
                </a:solidFill>
                <a:latin typeface="Calibri"/>
              </a:rPr>
              <a:t>fastest at</a:t>
            </a:r>
          </a:p>
        </p:txBody>
      </p:sp>
      <p:pic>
        <p:nvPicPr>
          <p:cNvPr id="81" name="Picture 80" descr="lock.png"/>
          <p:cNvPicPr>
            <a:picLocks noChangeAspect="1"/>
          </p:cNvPicPr>
          <p:nvPr/>
        </p:nvPicPr>
        <p:blipFill>
          <a:blip r:embed="rId4"/>
          <a:stretch>
            <a:fillRect/>
          </a:stretch>
        </p:blipFill>
        <p:spPr>
          <a:xfrm>
            <a:off x="1075548" y="4491736"/>
            <a:ext cx="128699" cy="187198"/>
          </a:xfrm>
          <a:prstGeom prst="rect">
            <a:avLst/>
          </a:prstGeom>
        </p:spPr>
      </p:pic>
      <p:sp>
        <p:nvSpPr>
          <p:cNvPr id="82" name="TextBox 81"/>
          <p:cNvSpPr txBox="1"/>
          <p:nvPr/>
        </p:nvSpPr>
        <p:spPr>
          <a:xfrm>
            <a:off x="1243044" y="450151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Segment Leadership Map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10" name="TextBox 9"/>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11" name="Rectangle 10"/>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3" name="Rectangle 12"/>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5" name="Rectangle 14"/>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7" name="Rectangle 16"/>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9" name="Rectangle 18"/>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ALK-Abelló A/S, Stallergenes Greer International AG, Allergy Therapeutics plc</a:t>
            </a:r>
          </a:p>
        </p:txBody>
      </p:sp>
      <p:sp>
        <p:nvSpPr>
          <p:cNvPr id="21" name="Rectangle 20"/>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HAL Allergy Group, LETI Pharma / Laboratorios LETI, S.L.U.</a:t>
            </a:r>
          </a:p>
        </p:txBody>
      </p:sp>
      <p:sp>
        <p:nvSpPr>
          <p:cNvPr id="23" name="Rectangle 22"/>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Jubilant HollisterStier LLC, Inmunotek S.L., DIATER Laboratories, Torii Pharmaceutical Co., Ltd., Allergopharma GmbH &amp; Co. KG</a:t>
            </a:r>
          </a:p>
        </p:txBody>
      </p:sp>
      <p:sp>
        <p:nvSpPr>
          <p:cNvPr id="25" name="Rectangle 24"/>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7" name="Connector 26"/>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9" name="TextBox 28"/>
          <p:cNvSpPr txBox="1"/>
          <p:nvPr/>
        </p:nvSpPr>
        <p:spPr>
          <a:xfrm>
            <a:off x="2961483" y="2114550"/>
            <a:ext cx="125605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Sublingual Immunotherapy</a:t>
            </a:r>
          </a:p>
        </p:txBody>
      </p:sp>
      <p:sp>
        <p:nvSpPr>
          <p:cNvPr id="30" name="TextBox 29"/>
          <p:cNvSpPr txBox="1"/>
          <p:nvPr/>
        </p:nvSpPr>
        <p:spPr>
          <a:xfrm>
            <a:off x="4255635" y="2114550"/>
            <a:ext cx="125605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Subcutaneous Immunotherapy</a:t>
            </a:r>
          </a:p>
        </p:txBody>
      </p:sp>
      <p:sp>
        <p:nvSpPr>
          <p:cNvPr id="31" name="TextBox 30"/>
          <p:cNvSpPr txBox="1"/>
          <p:nvPr/>
        </p:nvSpPr>
        <p:spPr>
          <a:xfrm>
            <a:off x="5549788" y="2114550"/>
            <a:ext cx="125605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Oral Immunotherapy</a:t>
            </a:r>
          </a:p>
        </p:txBody>
      </p:sp>
      <p:sp>
        <p:nvSpPr>
          <p:cNvPr id="32" name="TextBox 31"/>
          <p:cNvSpPr txBox="1"/>
          <p:nvPr/>
        </p:nvSpPr>
        <p:spPr>
          <a:xfrm>
            <a:off x="6843940" y="2114550"/>
            <a:ext cx="125605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Direct-to-Allergy Clinics</a:t>
            </a:r>
          </a:p>
        </p:txBody>
      </p:sp>
      <p:sp>
        <p:nvSpPr>
          <p:cNvPr id="33" name="TextBox 32"/>
          <p:cNvSpPr txBox="1"/>
          <p:nvPr/>
        </p:nvSpPr>
        <p:spPr>
          <a:xfrm>
            <a:off x="8138093" y="2114550"/>
            <a:ext cx="125605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Hospital Procurement</a:t>
            </a:r>
          </a:p>
        </p:txBody>
      </p:sp>
      <p:sp>
        <p:nvSpPr>
          <p:cNvPr id="34" name="TextBox 33"/>
          <p:cNvSpPr txBox="1"/>
          <p:nvPr/>
        </p:nvSpPr>
        <p:spPr>
          <a:xfrm>
            <a:off x="9432245" y="2114550"/>
            <a:ext cx="125605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Mail-order Pharmacy</a:t>
            </a:r>
          </a:p>
        </p:txBody>
      </p:sp>
      <p:sp>
        <p:nvSpPr>
          <p:cNvPr id="35" name="TextBox 34"/>
          <p:cNvSpPr txBox="1"/>
          <p:nvPr/>
        </p:nvSpPr>
        <p:spPr>
          <a:xfrm>
            <a:off x="10726398" y="2114550"/>
            <a:ext cx="125605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Pharmaceutical Distributor</a:t>
            </a:r>
          </a:p>
        </p:txBody>
      </p:sp>
      <p:cxnSp>
        <p:nvCxnSpPr>
          <p:cNvPr id="36" name="Connector 35"/>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5750" y="26289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ALK-Abelló A/S</a:t>
            </a:r>
          </a:p>
        </p:txBody>
      </p:sp>
      <p:sp>
        <p:nvSpPr>
          <p:cNvPr id="39" name="TextBox 38"/>
          <p:cNvSpPr txBox="1"/>
          <p:nvPr/>
        </p:nvSpPr>
        <p:spPr>
          <a:xfrm>
            <a:off x="285750" y="27908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0" name="Oval 39"/>
          <p:cNvSpPr/>
          <p:nvPr/>
        </p:nvSpPr>
        <p:spPr>
          <a:xfrm>
            <a:off x="3513309"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359092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807461"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101614"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395766"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689919"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8763000" y="2705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984071"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278224"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5750" y="29718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Stallergenes Greer International AG</a:t>
            </a:r>
          </a:p>
        </p:txBody>
      </p:sp>
      <p:sp>
        <p:nvSpPr>
          <p:cNvPr id="52" name="TextBox 51"/>
          <p:cNvSpPr txBox="1"/>
          <p:nvPr/>
        </p:nvSpPr>
        <p:spPr>
          <a:xfrm>
            <a:off x="285750" y="31337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3" name="Oval 52"/>
          <p:cNvSpPr/>
          <p:nvPr/>
        </p:nvSpPr>
        <p:spPr>
          <a:xfrm>
            <a:off x="3513309"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35909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807461"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4886325"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101614"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395766"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7467600" y="30480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689919"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984071"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1278224"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11353800"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5750" y="33147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Allergy Therapeutics plc</a:t>
            </a:r>
          </a:p>
        </p:txBody>
      </p:sp>
      <p:sp>
        <p:nvSpPr>
          <p:cNvPr id="67" name="TextBox 66"/>
          <p:cNvSpPr txBox="1"/>
          <p:nvPr/>
        </p:nvSpPr>
        <p:spPr>
          <a:xfrm>
            <a:off x="285750" y="34766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8" name="Oval 67"/>
          <p:cNvSpPr/>
          <p:nvPr/>
        </p:nvSpPr>
        <p:spPr>
          <a:xfrm>
            <a:off x="3513309"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807461"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6101614"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6181725" y="3390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7395766"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8689919"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9984071"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10058400"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1278224"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11353800"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5750" y="36576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HAL Allergy Group</a:t>
            </a:r>
          </a:p>
        </p:txBody>
      </p:sp>
      <p:sp>
        <p:nvSpPr>
          <p:cNvPr id="81" name="TextBox 80"/>
          <p:cNvSpPr txBox="1"/>
          <p:nvPr/>
        </p:nvSpPr>
        <p:spPr>
          <a:xfrm>
            <a:off x="285750" y="38195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82" name="Oval 81"/>
          <p:cNvSpPr/>
          <p:nvPr/>
        </p:nvSpPr>
        <p:spPr>
          <a:xfrm>
            <a:off x="3513309"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4807461"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4886325"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6101614"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6181725"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395766"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7467600" y="37338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689919"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876300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984071"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1278224"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3" name="Connector 92"/>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85750" y="40005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LETI Pharma / Laboratorios LETI, S.L.U.</a:t>
            </a:r>
          </a:p>
        </p:txBody>
      </p:sp>
      <p:sp>
        <p:nvSpPr>
          <p:cNvPr id="96" name="TextBox 95"/>
          <p:cNvSpPr txBox="1"/>
          <p:nvPr/>
        </p:nvSpPr>
        <p:spPr>
          <a:xfrm>
            <a:off x="285750" y="41624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7" name="Oval 96"/>
          <p:cNvSpPr/>
          <p:nvPr/>
        </p:nvSpPr>
        <p:spPr>
          <a:xfrm>
            <a:off x="3513309"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35909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4807461"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4886325"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101614"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6181725"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395766"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7467600" y="4076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689919"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984071"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0058400" y="4076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1278224"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9" name="Connector 108"/>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0" name="Rectangle 109"/>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85750" y="43434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Jubilant HollisterStier LLC</a:t>
            </a:r>
          </a:p>
        </p:txBody>
      </p:sp>
      <p:sp>
        <p:nvSpPr>
          <p:cNvPr id="112" name="TextBox 111"/>
          <p:cNvSpPr txBox="1"/>
          <p:nvPr/>
        </p:nvSpPr>
        <p:spPr>
          <a:xfrm>
            <a:off x="285750" y="45053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13" name="Oval 112"/>
          <p:cNvSpPr/>
          <p:nvPr/>
        </p:nvSpPr>
        <p:spPr>
          <a:xfrm>
            <a:off x="3513309"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35909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807461"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4886325" y="4419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101614"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7395766"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8689919"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8763000" y="4419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9984071"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10058400" y="4419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11278224"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4" name="Connector 123"/>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5" name="Rectangle 124"/>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85750" y="46863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Inmunotek S.L.</a:t>
            </a:r>
          </a:p>
        </p:txBody>
      </p:sp>
      <p:sp>
        <p:nvSpPr>
          <p:cNvPr id="127" name="TextBox 126"/>
          <p:cNvSpPr txBox="1"/>
          <p:nvPr/>
        </p:nvSpPr>
        <p:spPr>
          <a:xfrm>
            <a:off x="285750" y="48482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8" name="Oval 127"/>
          <p:cNvSpPr/>
          <p:nvPr/>
        </p:nvSpPr>
        <p:spPr>
          <a:xfrm>
            <a:off x="3513309"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35909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4807461"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6101614"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6181725" y="4762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7395766"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7467600" y="4762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8689919"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8763000"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9984071"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1278224"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9" name="Connector 138"/>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0" name="Rectangle 139"/>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85750" y="50292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DIATER Laboratories</a:t>
            </a:r>
          </a:p>
        </p:txBody>
      </p:sp>
      <p:sp>
        <p:nvSpPr>
          <p:cNvPr id="142" name="TextBox 141"/>
          <p:cNvSpPr txBox="1"/>
          <p:nvPr/>
        </p:nvSpPr>
        <p:spPr>
          <a:xfrm>
            <a:off x="285750" y="51911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3" name="Oval 142"/>
          <p:cNvSpPr/>
          <p:nvPr/>
        </p:nvSpPr>
        <p:spPr>
          <a:xfrm>
            <a:off x="3513309"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4807461"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4886325"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6101614"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6181725"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7395766"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7467600" y="51054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8689919"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9984071"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10058400" y="5105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11278224"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4" name="Connector 153"/>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5" name="Rectangle 154"/>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85750" y="53721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Torii Pharmaceutical Co., Ltd.</a:t>
            </a:r>
          </a:p>
        </p:txBody>
      </p:sp>
      <p:sp>
        <p:nvSpPr>
          <p:cNvPr id="157" name="TextBox 156"/>
          <p:cNvSpPr txBox="1"/>
          <p:nvPr/>
        </p:nvSpPr>
        <p:spPr>
          <a:xfrm>
            <a:off x="285750" y="55340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58" name="Oval 157"/>
          <p:cNvSpPr/>
          <p:nvPr/>
        </p:nvSpPr>
        <p:spPr>
          <a:xfrm>
            <a:off x="3513309"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Freeform 158"/>
          <p:cNvSpPr/>
          <p:nvPr/>
        </p:nvSpPr>
        <p:spPr>
          <a:xfrm>
            <a:off x="35909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807461"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Freeform 160"/>
          <p:cNvSpPr/>
          <p:nvPr/>
        </p:nvSpPr>
        <p:spPr>
          <a:xfrm>
            <a:off x="4886325"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6101614"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reeform 162"/>
          <p:cNvSpPr/>
          <p:nvPr/>
        </p:nvSpPr>
        <p:spPr>
          <a:xfrm>
            <a:off x="6181725"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7395766"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8689919"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8763000"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9984071"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reeform 167"/>
          <p:cNvSpPr/>
          <p:nvPr/>
        </p:nvSpPr>
        <p:spPr>
          <a:xfrm>
            <a:off x="10058400"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11278224"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0" name="Connector 169"/>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1" name="Rectangle 170"/>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285750" y="57150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Allergopharma GmbH &amp; Co. KG</a:t>
            </a:r>
          </a:p>
        </p:txBody>
      </p:sp>
      <p:sp>
        <p:nvSpPr>
          <p:cNvPr id="173" name="TextBox 172"/>
          <p:cNvSpPr txBox="1"/>
          <p:nvPr/>
        </p:nvSpPr>
        <p:spPr>
          <a:xfrm>
            <a:off x="285750" y="58769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74" name="Oval 173"/>
          <p:cNvSpPr/>
          <p:nvPr/>
        </p:nvSpPr>
        <p:spPr>
          <a:xfrm>
            <a:off x="3513309"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Freeform 174"/>
          <p:cNvSpPr/>
          <p:nvPr/>
        </p:nvSpPr>
        <p:spPr>
          <a:xfrm>
            <a:off x="359092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4807461"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Freeform 176"/>
          <p:cNvSpPr/>
          <p:nvPr/>
        </p:nvSpPr>
        <p:spPr>
          <a:xfrm>
            <a:off x="4886325" y="5791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6101614"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7395766"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Freeform 179"/>
          <p:cNvSpPr/>
          <p:nvPr/>
        </p:nvSpPr>
        <p:spPr>
          <a:xfrm>
            <a:off x="7467600" y="57912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8689919"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Freeform 181"/>
          <p:cNvSpPr/>
          <p:nvPr/>
        </p:nvSpPr>
        <p:spPr>
          <a:xfrm>
            <a:off x="8763000" y="5791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9984071"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11278224"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5" name="Connector 184"/>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86" name="Rectangle 185"/>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188" name="Rectangle 187"/>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190" name="Rectangle 189"/>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192" name="TextBox 191"/>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93" name="TextBox 192"/>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'Sublingual Immunotherapy' is the most contested column (8 players active); 'Pharmaceutical Distributor' is the most open (3).</a:t>
            </a:r>
          </a:p>
        </p:txBody>
      </p:sp>
      <p:sp>
        <p:nvSpPr>
          <p:cNvPr id="194" name="TextBox 19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95" name="TextBox 194"/>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196" name="Picture 195" descr="lock.png"/>
          <p:cNvPicPr>
            <a:picLocks noChangeAspect="1"/>
          </p:cNvPicPr>
          <p:nvPr/>
        </p:nvPicPr>
        <p:blipFill>
          <a:blip r:embed="rId4"/>
          <a:stretch>
            <a:fillRect/>
          </a:stretch>
        </p:blipFill>
        <p:spPr>
          <a:xfrm>
            <a:off x="622441" y="1297051"/>
            <a:ext cx="128699" cy="187198"/>
          </a:xfrm>
          <a:prstGeom prst="rect">
            <a:avLst/>
          </a:prstGeom>
        </p:spPr>
      </p:pic>
      <p:sp>
        <p:nvSpPr>
          <p:cNvPr id="197" name="TextBox 196"/>
          <p:cNvSpPr txBox="1"/>
          <p:nvPr/>
        </p:nvSpPr>
        <p:spPr>
          <a:xfrm>
            <a:off x="4786109"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198" name="Picture 197" descr="lock.png"/>
          <p:cNvPicPr>
            <a:picLocks noChangeAspect="1"/>
          </p:cNvPicPr>
          <p:nvPr/>
        </p:nvPicPr>
        <p:blipFill>
          <a:blip r:embed="rId4"/>
          <a:stretch>
            <a:fillRect/>
          </a:stretch>
        </p:blipFill>
        <p:spPr>
          <a:xfrm>
            <a:off x="5547332" y="1297051"/>
            <a:ext cx="128699" cy="187198"/>
          </a:xfrm>
          <a:prstGeom prst="rect">
            <a:avLst/>
          </a:prstGeom>
        </p:spPr>
      </p:pic>
      <p:sp>
        <p:nvSpPr>
          <p:cNvPr id="199" name="TextBox 198"/>
          <p:cNvSpPr txBox="1"/>
          <p:nvPr/>
        </p:nvSpPr>
        <p:spPr>
          <a:xfrm>
            <a:off x="632227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200" name="Picture 199" descr="lock.png"/>
          <p:cNvPicPr>
            <a:picLocks noChangeAspect="1"/>
          </p:cNvPicPr>
          <p:nvPr/>
        </p:nvPicPr>
        <p:blipFill>
          <a:blip r:embed="rId4"/>
          <a:stretch>
            <a:fillRect/>
          </a:stretch>
        </p:blipFill>
        <p:spPr>
          <a:xfrm>
            <a:off x="6890588" y="1297051"/>
            <a:ext cx="128699" cy="187198"/>
          </a:xfrm>
          <a:prstGeom prst="rect">
            <a:avLst/>
          </a:prstGeom>
        </p:spPr>
      </p:pic>
      <p:sp>
        <p:nvSpPr>
          <p:cNvPr id="201" name="TextBox 200"/>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202" name="Picture 201"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Value Chain Positioning of Leading Players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10" name="TextBox 9"/>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1" name="TextBox 10"/>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12" name="Connector 11"/>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4" name="TextBox 13"/>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Sublingual Immunotherapy, share</a:t>
            </a:r>
          </a:p>
        </p:txBody>
      </p:sp>
      <p:sp>
        <p:nvSpPr>
          <p:cNvPr id="17" name="TextBox 16"/>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Subcutaneous Immunotherapy, share</a:t>
            </a:r>
          </a:p>
        </p:txBody>
      </p:sp>
      <p:sp>
        <p:nvSpPr>
          <p:cNvPr id="20" name="TextBox 19"/>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Oral Immunotherapy, share</a:t>
            </a:r>
          </a:p>
        </p:txBody>
      </p:sp>
      <p:sp>
        <p:nvSpPr>
          <p:cNvPr id="23" name="TextBox 22"/>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4" name="Connector 23"/>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1. Sublingual Immunotherapy</a:t>
            </a:r>
          </a:p>
        </p:txBody>
      </p:sp>
      <p:sp>
        <p:nvSpPr>
          <p:cNvPr id="28" name="TextBox 27"/>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29" name="TextBox 28"/>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30" name="TextBox 29"/>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31" name="TextBox 30"/>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32" name="Connector 31"/>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4" name="TextBox 33"/>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Allergy Therapeutics plc</a:t>
            </a:r>
          </a:p>
        </p:txBody>
      </p:sp>
      <p:sp>
        <p:nvSpPr>
          <p:cNvPr id="35" name="TextBox 34"/>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6" name="TextBox 35"/>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ALK-Abelló A/S</a:t>
            </a:r>
          </a:p>
        </p:txBody>
      </p:sp>
      <p:sp>
        <p:nvSpPr>
          <p:cNvPr id="37" name="TextBox 36"/>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Stallergenes Greer International AG</a:t>
            </a:r>
          </a:p>
        </p:txBody>
      </p:sp>
      <p:sp>
        <p:nvSpPr>
          <p:cNvPr id="38" name="TextBox 37"/>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LETI Pharma / Laboratorios LETI, S.L.U.</a:t>
            </a:r>
          </a:p>
        </p:txBody>
      </p:sp>
      <p:sp>
        <p:nvSpPr>
          <p:cNvPr id="39" name="TextBox 38"/>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Jubilant HollisterStier LLC</a:t>
            </a:r>
          </a:p>
        </p:txBody>
      </p:sp>
      <p:cxnSp>
        <p:nvCxnSpPr>
          <p:cNvPr id="40" name="Connector 39"/>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42" name="TextBox 41"/>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3" name="Connector 42"/>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2. Subcutaneous Immunotherapy</a:t>
            </a:r>
          </a:p>
        </p:txBody>
      </p:sp>
      <p:sp>
        <p:nvSpPr>
          <p:cNvPr id="48" name="TextBox 47"/>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49" name="TextBox 48"/>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50" name="TextBox 49"/>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51" name="TextBox 50"/>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52" name="Connector 51"/>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4" name="TextBox 53"/>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ALK-Abelló A/S</a:t>
            </a:r>
          </a:p>
        </p:txBody>
      </p:sp>
      <p:sp>
        <p:nvSpPr>
          <p:cNvPr id="55" name="TextBox 54"/>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6" name="TextBox 55"/>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Stallergenes Greer International AG</a:t>
            </a:r>
          </a:p>
        </p:txBody>
      </p:sp>
      <p:sp>
        <p:nvSpPr>
          <p:cNvPr id="57" name="TextBox 56"/>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HAL Allergy Group</a:t>
            </a:r>
          </a:p>
        </p:txBody>
      </p:sp>
      <p:sp>
        <p:nvSpPr>
          <p:cNvPr id="58" name="TextBox 57"/>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LETI Pharma / Laboratorios LETI, S.L.U.</a:t>
            </a:r>
          </a:p>
        </p:txBody>
      </p:sp>
      <p:sp>
        <p:nvSpPr>
          <p:cNvPr id="59" name="TextBox 58"/>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Jubilant HollisterStier LLC</a:t>
            </a:r>
          </a:p>
        </p:txBody>
      </p:sp>
      <p:cxnSp>
        <p:nvCxnSpPr>
          <p:cNvPr id="60" name="Connector 59"/>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62" name="TextBox 61"/>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3" name="Connector 62"/>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3. Oral Immunotherapy</a:t>
            </a:r>
          </a:p>
        </p:txBody>
      </p:sp>
      <p:sp>
        <p:nvSpPr>
          <p:cNvPr id="68" name="TextBox 67"/>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69" name="TextBox 68"/>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70" name="TextBox 69"/>
          <p:cNvSpPr txBox="1"/>
          <p:nvPr/>
        </p:nvSpPr>
        <p:spPr>
          <a:xfrm>
            <a:off x="6315075"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71" name="TextBox 70"/>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72" name="Connector 71"/>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74" name="TextBox 73"/>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ALK-Abelló A/S</a:t>
            </a:r>
          </a:p>
        </p:txBody>
      </p:sp>
      <p:sp>
        <p:nvSpPr>
          <p:cNvPr id="75" name="TextBox 74"/>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76" name="TextBox 75"/>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Allergy Therapeutics plc</a:t>
            </a:r>
          </a:p>
        </p:txBody>
      </p:sp>
      <p:sp>
        <p:nvSpPr>
          <p:cNvPr id="77" name="TextBox 76"/>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HAL Allergy Group</a:t>
            </a:r>
          </a:p>
        </p:txBody>
      </p:sp>
      <p:sp>
        <p:nvSpPr>
          <p:cNvPr id="78" name="TextBox 77"/>
          <p:cNvSpPr txBox="1"/>
          <p:nvPr/>
        </p:nvSpPr>
        <p:spPr>
          <a:xfrm>
            <a:off x="6315075"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LETI Pharma / Laboratorios LETI, S.L.U.</a:t>
            </a:r>
          </a:p>
        </p:txBody>
      </p:sp>
      <p:sp>
        <p:nvSpPr>
          <p:cNvPr id="79" name="TextBox 78"/>
          <p:cNvSpPr txBox="1"/>
          <p:nvPr/>
        </p:nvSpPr>
        <p:spPr>
          <a:xfrm>
            <a:off x="6315075"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Inmunotek S.L.</a:t>
            </a:r>
          </a:p>
        </p:txBody>
      </p:sp>
      <p:cxnSp>
        <p:nvCxnSpPr>
          <p:cNvPr id="80" name="Connector 79"/>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82" name="TextBox 81"/>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83" name="Connector 82"/>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4" name="Freeform 83"/>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4. Sales / Procurement Channel</a:t>
            </a:r>
          </a:p>
        </p:txBody>
      </p:sp>
      <p:sp>
        <p:nvSpPr>
          <p:cNvPr id="88" name="TextBox 87"/>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89" name="TextBox 88"/>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90" name="Connector 89"/>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Direct-to-Allergy Clinics</a:t>
            </a:r>
          </a:p>
        </p:txBody>
      </p:sp>
      <p:sp>
        <p:nvSpPr>
          <p:cNvPr id="92" name="Rectangle 91"/>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4" name="TextBox 93"/>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Hospital Procurement</a:t>
            </a:r>
          </a:p>
        </p:txBody>
      </p:sp>
      <p:sp>
        <p:nvSpPr>
          <p:cNvPr id="95" name="Rectangle 94"/>
          <p:cNvSpPr/>
          <p:nvPr/>
        </p:nvSpPr>
        <p:spPr>
          <a:xfrm>
            <a:off x="10682288" y="2847975"/>
            <a:ext cx="362307"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082695"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7" name="TextBox 96"/>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Mail-order Pharmacy</a:t>
            </a:r>
          </a:p>
        </p:txBody>
      </p:sp>
      <p:sp>
        <p:nvSpPr>
          <p:cNvPr id="98" name="Rectangle 97"/>
          <p:cNvSpPr/>
          <p:nvPr/>
        </p:nvSpPr>
        <p:spPr>
          <a:xfrm>
            <a:off x="10682288" y="3171825"/>
            <a:ext cx="336234"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056622" y="31337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0" name="TextBox 99"/>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Pharmaceutical Distributor</a:t>
            </a:r>
          </a:p>
        </p:txBody>
      </p:sp>
      <p:sp>
        <p:nvSpPr>
          <p:cNvPr id="101" name="Rectangle 100"/>
          <p:cNvSpPr/>
          <p:nvPr/>
        </p:nvSpPr>
        <p:spPr>
          <a:xfrm>
            <a:off x="10682288" y="3495675"/>
            <a:ext cx="184326"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904713" y="34575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3" name="TextBox 102"/>
          <p:cNvSpPr txBox="1"/>
          <p:nvPr/>
        </p:nvSpPr>
        <p:spPr>
          <a:xfrm>
            <a:off x="9329738" y="37147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Retail Pharmacy</a:t>
            </a:r>
          </a:p>
        </p:txBody>
      </p:sp>
      <p:sp>
        <p:nvSpPr>
          <p:cNvPr id="104" name="Rectangle 103"/>
          <p:cNvSpPr/>
          <p:nvPr/>
        </p:nvSpPr>
        <p:spPr>
          <a:xfrm>
            <a:off x="10682288" y="3819525"/>
            <a:ext cx="134951"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855338" y="37814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6" name="Connector 105"/>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108" name="TextBox 107"/>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109" name="Rectangle 108"/>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112" name="TextBox 111"/>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Licensed Finished AIT Products Compounds Fastest Across the Commercial Product Model Mix  |  South Asia &amp; Pacific Emerges as the Growth Engine Among Regions  |  Premiumisation Lifts Average Realisation</a:t>
            </a:r>
          </a:p>
        </p:txBody>
      </p:sp>
      <p:sp>
        <p:nvSpPr>
          <p:cNvPr id="113" name="Rectangle 112"/>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116" name="TextBox 115"/>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Individual-Prescription Products Lags the Category and Dilutes Blended Growth  |  Uneven Region Performance Caps the Blended Rate  |  Concentration Risk Limits Pricing and Sourcing Flexibility</a:t>
            </a:r>
          </a:p>
        </p:txBody>
      </p:sp>
      <p:sp>
        <p:nvSpPr>
          <p:cNvPr id="117" name="TextBox 1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8" name="Picture 117" descr="lock.png"/>
          <p:cNvPicPr>
            <a:picLocks noChangeAspect="1"/>
          </p:cNvPicPr>
          <p:nvPr/>
        </p:nvPicPr>
        <p:blipFill>
          <a:blip r:embed="rId4"/>
          <a:stretch>
            <a:fillRect/>
          </a:stretch>
        </p:blipFill>
        <p:spPr>
          <a:xfrm>
            <a:off x="1316775" y="1258951"/>
            <a:ext cx="128699" cy="187198"/>
          </a:xfrm>
          <a:prstGeom prst="rect">
            <a:avLst/>
          </a:prstGeom>
        </p:spPr>
      </p:pic>
      <p:pic>
        <p:nvPicPr>
          <p:cNvPr id="119" name="Picture 118" descr="lock.png"/>
          <p:cNvPicPr>
            <a:picLocks noChangeAspect="1"/>
          </p:cNvPicPr>
          <p:nvPr/>
        </p:nvPicPr>
        <p:blipFill>
          <a:blip r:embed="rId4"/>
          <a:stretch>
            <a:fillRect/>
          </a:stretch>
        </p:blipFill>
        <p:spPr>
          <a:xfrm>
            <a:off x="3678975" y="1258951"/>
            <a:ext cx="128699" cy="187198"/>
          </a:xfrm>
          <a:prstGeom prst="rect">
            <a:avLst/>
          </a:prstGeom>
        </p:spPr>
      </p:pic>
      <p:pic>
        <p:nvPicPr>
          <p:cNvPr id="120" name="Picture 119" descr="lock.png"/>
          <p:cNvPicPr>
            <a:picLocks noChangeAspect="1"/>
          </p:cNvPicPr>
          <p:nvPr/>
        </p:nvPicPr>
        <p:blipFill>
          <a:blip r:embed="rId4"/>
          <a:stretch>
            <a:fillRect/>
          </a:stretch>
        </p:blipFill>
        <p:spPr>
          <a:xfrm>
            <a:off x="6041175" y="1258951"/>
            <a:ext cx="128699" cy="187198"/>
          </a:xfrm>
          <a:prstGeom prst="rect">
            <a:avLst/>
          </a:prstGeom>
        </p:spPr>
      </p:pic>
      <p:pic>
        <p:nvPicPr>
          <p:cNvPr id="121" name="Picture 120" descr="lock.png"/>
          <p:cNvPicPr>
            <a:picLocks noChangeAspect="1"/>
          </p:cNvPicPr>
          <p:nvPr/>
        </p:nvPicPr>
        <p:blipFill>
          <a:blip r:embed="rId4"/>
          <a:stretch>
            <a:fillRect/>
          </a:stretch>
        </p:blipFill>
        <p:spPr>
          <a:xfrm>
            <a:off x="8403375" y="1258951"/>
            <a:ext cx="128699" cy="187198"/>
          </a:xfrm>
          <a:prstGeom prst="rect">
            <a:avLst/>
          </a:prstGeom>
        </p:spPr>
      </p:pic>
      <p:pic>
        <p:nvPicPr>
          <p:cNvPr id="122" name="Picture 121" descr="lock.png"/>
          <p:cNvPicPr>
            <a:picLocks noChangeAspect="1"/>
          </p:cNvPicPr>
          <p:nvPr/>
        </p:nvPicPr>
        <p:blipFill>
          <a:blip r:embed="rId4"/>
          <a:stretch>
            <a:fillRect/>
          </a:stretch>
        </p:blipFill>
        <p:spPr>
          <a:xfrm>
            <a:off x="10765575" y="1258951"/>
            <a:ext cx="128699" cy="187198"/>
          </a:xfrm>
          <a:prstGeom prst="rect">
            <a:avLst/>
          </a:prstGeom>
        </p:spPr>
      </p:pic>
      <p:pic>
        <p:nvPicPr>
          <p:cNvPr id="123" name="Picture 122" descr="lock.png"/>
          <p:cNvPicPr>
            <a:picLocks noChangeAspect="1"/>
          </p:cNvPicPr>
          <p:nvPr/>
        </p:nvPicPr>
        <p:blipFill>
          <a:blip r:embed="rId4"/>
          <a:stretch>
            <a:fillRect/>
          </a:stretch>
        </p:blipFill>
        <p:spPr>
          <a:xfrm>
            <a:off x="554775" y="1925701"/>
            <a:ext cx="128699" cy="187198"/>
          </a:xfrm>
          <a:prstGeom prst="rect">
            <a:avLst/>
          </a:prstGeom>
        </p:spPr>
      </p:pic>
      <p:pic>
        <p:nvPicPr>
          <p:cNvPr id="124" name="Picture 123" descr="lock.png"/>
          <p:cNvPicPr>
            <a:picLocks noChangeAspect="1"/>
          </p:cNvPicPr>
          <p:nvPr/>
        </p:nvPicPr>
        <p:blipFill>
          <a:blip r:embed="rId4"/>
          <a:stretch>
            <a:fillRect/>
          </a:stretch>
        </p:blipFill>
        <p:spPr>
          <a:xfrm>
            <a:off x="554775" y="2135251"/>
            <a:ext cx="128699" cy="187198"/>
          </a:xfrm>
          <a:prstGeom prst="rect">
            <a:avLst/>
          </a:prstGeom>
        </p:spPr>
      </p:pic>
      <p:pic>
        <p:nvPicPr>
          <p:cNvPr id="125" name="Picture 124" descr="lock.png"/>
          <p:cNvPicPr>
            <a:picLocks noChangeAspect="1"/>
          </p:cNvPicPr>
          <p:nvPr/>
        </p:nvPicPr>
        <p:blipFill>
          <a:blip r:embed="rId4"/>
          <a:stretch>
            <a:fillRect/>
          </a:stretch>
        </p:blipFill>
        <p:spPr>
          <a:xfrm>
            <a:off x="3569437" y="1925701"/>
            <a:ext cx="128699" cy="187198"/>
          </a:xfrm>
          <a:prstGeom prst="rect">
            <a:avLst/>
          </a:prstGeom>
        </p:spPr>
      </p:pic>
      <p:pic>
        <p:nvPicPr>
          <p:cNvPr id="126" name="Picture 125" descr="lock.png"/>
          <p:cNvPicPr>
            <a:picLocks noChangeAspect="1"/>
          </p:cNvPicPr>
          <p:nvPr/>
        </p:nvPicPr>
        <p:blipFill>
          <a:blip r:embed="rId4"/>
          <a:stretch>
            <a:fillRect/>
          </a:stretch>
        </p:blipFill>
        <p:spPr>
          <a:xfrm>
            <a:off x="3569437" y="2135251"/>
            <a:ext cx="128699" cy="187198"/>
          </a:xfrm>
          <a:prstGeom prst="rect">
            <a:avLst/>
          </a:prstGeom>
        </p:spPr>
      </p:pic>
      <p:pic>
        <p:nvPicPr>
          <p:cNvPr id="127" name="Picture 126" descr="lock.png"/>
          <p:cNvPicPr>
            <a:picLocks noChangeAspect="1"/>
          </p:cNvPicPr>
          <p:nvPr/>
        </p:nvPicPr>
        <p:blipFill>
          <a:blip r:embed="rId4"/>
          <a:stretch>
            <a:fillRect/>
          </a:stretch>
        </p:blipFill>
        <p:spPr>
          <a:xfrm>
            <a:off x="6584100" y="1925701"/>
            <a:ext cx="128699" cy="187198"/>
          </a:xfrm>
          <a:prstGeom prst="rect">
            <a:avLst/>
          </a:prstGeom>
        </p:spPr>
      </p:pic>
      <p:pic>
        <p:nvPicPr>
          <p:cNvPr id="128" name="Picture 127" descr="lock.png"/>
          <p:cNvPicPr>
            <a:picLocks noChangeAspect="1"/>
          </p:cNvPicPr>
          <p:nvPr/>
        </p:nvPicPr>
        <p:blipFill>
          <a:blip r:embed="rId4"/>
          <a:stretch>
            <a:fillRect/>
          </a:stretch>
        </p:blipFill>
        <p:spPr>
          <a:xfrm>
            <a:off x="6584100" y="2135251"/>
            <a:ext cx="128699" cy="187198"/>
          </a:xfrm>
          <a:prstGeom prst="rect">
            <a:avLst/>
          </a:prstGeom>
        </p:spPr>
      </p:pic>
      <p:pic>
        <p:nvPicPr>
          <p:cNvPr id="129" name="Picture 128" descr="lock.png"/>
          <p:cNvPicPr>
            <a:picLocks noChangeAspect="1"/>
          </p:cNvPicPr>
          <p:nvPr/>
        </p:nvPicPr>
        <p:blipFill>
          <a:blip r:embed="rId4"/>
          <a:stretch>
            <a:fillRect/>
          </a:stretch>
        </p:blipFill>
        <p:spPr>
          <a:xfrm>
            <a:off x="11660925" y="2487676"/>
            <a:ext cx="128699" cy="187198"/>
          </a:xfrm>
          <a:prstGeom prst="rect">
            <a:avLst/>
          </a:prstGeom>
        </p:spPr>
      </p:pic>
      <p:pic>
        <p:nvPicPr>
          <p:cNvPr id="130" name="Picture 129" descr="lock.png"/>
          <p:cNvPicPr>
            <a:picLocks noChangeAspect="1"/>
          </p:cNvPicPr>
          <p:nvPr/>
        </p:nvPicPr>
        <p:blipFill>
          <a:blip r:embed="rId4"/>
          <a:stretch>
            <a:fillRect/>
          </a:stretch>
        </p:blipFill>
        <p:spPr>
          <a:xfrm>
            <a:off x="11256470" y="2811526"/>
            <a:ext cx="128699" cy="187198"/>
          </a:xfrm>
          <a:prstGeom prst="rect">
            <a:avLst/>
          </a:prstGeom>
        </p:spPr>
      </p:pic>
      <p:pic>
        <p:nvPicPr>
          <p:cNvPr id="131" name="Picture 130" descr="lock.png"/>
          <p:cNvPicPr>
            <a:picLocks noChangeAspect="1"/>
          </p:cNvPicPr>
          <p:nvPr/>
        </p:nvPicPr>
        <p:blipFill>
          <a:blip r:embed="rId4"/>
          <a:stretch>
            <a:fillRect/>
          </a:stretch>
        </p:blipFill>
        <p:spPr>
          <a:xfrm>
            <a:off x="11230397" y="3135376"/>
            <a:ext cx="128699" cy="187198"/>
          </a:xfrm>
          <a:prstGeom prst="rect">
            <a:avLst/>
          </a:prstGeom>
        </p:spPr>
      </p:pic>
      <p:pic>
        <p:nvPicPr>
          <p:cNvPr id="132" name="Picture 131" descr="lock.png"/>
          <p:cNvPicPr>
            <a:picLocks noChangeAspect="1"/>
          </p:cNvPicPr>
          <p:nvPr/>
        </p:nvPicPr>
        <p:blipFill>
          <a:blip r:embed="rId4"/>
          <a:stretch>
            <a:fillRect/>
          </a:stretch>
        </p:blipFill>
        <p:spPr>
          <a:xfrm>
            <a:off x="11078488" y="3459226"/>
            <a:ext cx="128699" cy="187198"/>
          </a:xfrm>
          <a:prstGeom prst="rect">
            <a:avLst/>
          </a:prstGeom>
        </p:spPr>
      </p:pic>
      <p:pic>
        <p:nvPicPr>
          <p:cNvPr id="133" name="Picture 132" descr="lock.png"/>
          <p:cNvPicPr>
            <a:picLocks noChangeAspect="1"/>
          </p:cNvPicPr>
          <p:nvPr/>
        </p:nvPicPr>
        <p:blipFill>
          <a:blip r:embed="rId4"/>
          <a:stretch>
            <a:fillRect/>
          </a:stretch>
        </p:blipFill>
        <p:spPr>
          <a:xfrm>
            <a:off x="11029113" y="3783076"/>
            <a:ext cx="128699" cy="187198"/>
          </a:xfrm>
          <a:prstGeom prst="rect">
            <a:avLst/>
          </a:prstGeom>
        </p:spPr>
      </p:pic>
      <p:sp>
        <p:nvSpPr>
          <p:cNvPr id="134" name="TextBox 133"/>
          <p:cNvSpPr txBox="1"/>
          <p:nvPr/>
        </p:nvSpPr>
        <p:spPr>
          <a:xfrm>
            <a:off x="314325" y="4676775"/>
            <a:ext cx="2519362" cy="186689"/>
          </a:xfrm>
          <a:prstGeom prst="rect">
            <a:avLst/>
          </a:prstGeom>
          <a:noFill/>
        </p:spPr>
        <p:txBody>
          <a:bodyPr wrap="none" lIns="0" rIns="0" tIns="0" bIns="0">
            <a:spAutoFit/>
          </a:bodyPr>
          <a:lstStyle/>
          <a:p>
            <a:r>
              <a:rPr sz="1100" b="0">
                <a:solidFill>
                  <a:srgbClr val="1F2933"/>
                </a:solidFill>
                <a:latin typeface="Calibri"/>
              </a:rPr>
              <a:t>5 named players compete here; 'Sublingual</a:t>
            </a:r>
          </a:p>
        </p:txBody>
      </p:sp>
      <p:sp>
        <p:nvSpPr>
          <p:cNvPr id="135" name="TextBox 134"/>
          <p:cNvSpPr txBox="1"/>
          <p:nvPr/>
        </p:nvSpPr>
        <p:spPr>
          <a:xfrm>
            <a:off x="314325" y="4844415"/>
            <a:ext cx="1328042" cy="186689"/>
          </a:xfrm>
          <a:prstGeom prst="rect">
            <a:avLst/>
          </a:prstGeom>
          <a:noFill/>
        </p:spPr>
        <p:txBody>
          <a:bodyPr wrap="none" lIns="0" rIns="0" tIns="0" bIns="0">
            <a:spAutoFit/>
          </a:bodyPr>
          <a:lstStyle/>
          <a:p>
            <a:r>
              <a:rPr sz="1100" b="0">
                <a:solidFill>
                  <a:srgbClr val="1F2933"/>
                </a:solidFill>
                <a:latin typeface="Calibri"/>
              </a:rPr>
              <a:t>Immunotherapy' adds</a:t>
            </a:r>
          </a:p>
        </p:txBody>
      </p:sp>
      <p:pic>
        <p:nvPicPr>
          <p:cNvPr id="136" name="Picture 135" descr="lock.png"/>
          <p:cNvPicPr>
            <a:picLocks noChangeAspect="1"/>
          </p:cNvPicPr>
          <p:nvPr/>
        </p:nvPicPr>
        <p:blipFill>
          <a:blip r:embed="rId4"/>
          <a:stretch>
            <a:fillRect/>
          </a:stretch>
        </p:blipFill>
        <p:spPr>
          <a:xfrm>
            <a:off x="1590419" y="4834636"/>
            <a:ext cx="128699" cy="187198"/>
          </a:xfrm>
          <a:prstGeom prst="rect">
            <a:avLst/>
          </a:prstGeom>
        </p:spPr>
      </p:pic>
      <p:sp>
        <p:nvSpPr>
          <p:cNvPr id="137" name="TextBox 136"/>
          <p:cNvSpPr txBox="1"/>
          <p:nvPr/>
        </p:nvSpPr>
        <p:spPr>
          <a:xfrm>
            <a:off x="1757915" y="4844415"/>
            <a:ext cx="693935" cy="186689"/>
          </a:xfrm>
          <a:prstGeom prst="rect">
            <a:avLst/>
          </a:prstGeom>
          <a:noFill/>
        </p:spPr>
        <p:txBody>
          <a:bodyPr wrap="none" lIns="0" rIns="0" tIns="0" bIns="0">
            <a:spAutoFit/>
          </a:bodyPr>
          <a:lstStyle/>
          <a:p>
            <a:r>
              <a:rPr sz="1100" b="0">
                <a:solidFill>
                  <a:srgbClr val="1F2933"/>
                </a:solidFill>
                <a:latin typeface="Calibri"/>
              </a:rPr>
              <a:t>US$ Mn by</a:t>
            </a:r>
          </a:p>
        </p:txBody>
      </p:sp>
      <p:sp>
        <p:nvSpPr>
          <p:cNvPr id="138" name="TextBox 137"/>
          <p:cNvSpPr txBox="1"/>
          <p:nvPr/>
        </p:nvSpPr>
        <p:spPr>
          <a:xfrm>
            <a:off x="314325" y="5012055"/>
            <a:ext cx="395163" cy="186689"/>
          </a:xfrm>
          <a:prstGeom prst="rect">
            <a:avLst/>
          </a:prstGeom>
          <a:noFill/>
        </p:spPr>
        <p:txBody>
          <a:bodyPr wrap="none" lIns="0" rIns="0" tIns="0" bIns="0">
            <a:spAutoFit/>
          </a:bodyPr>
          <a:lstStyle/>
          <a:p>
            <a:r>
              <a:rPr sz="1100" b="0">
                <a:solidFill>
                  <a:srgbClr val="1F2933"/>
                </a:solidFill>
                <a:latin typeface="Calibri"/>
              </a:rPr>
              <a:t>2036.</a:t>
            </a:r>
          </a:p>
        </p:txBody>
      </p:sp>
      <p:sp>
        <p:nvSpPr>
          <p:cNvPr id="139" name="TextBox 138"/>
          <p:cNvSpPr txBox="1"/>
          <p:nvPr/>
        </p:nvSpPr>
        <p:spPr>
          <a:xfrm>
            <a:off x="3328987" y="4676775"/>
            <a:ext cx="1880021" cy="186689"/>
          </a:xfrm>
          <a:prstGeom prst="rect">
            <a:avLst/>
          </a:prstGeom>
          <a:noFill/>
        </p:spPr>
        <p:txBody>
          <a:bodyPr wrap="none" lIns="0" rIns="0" tIns="0" bIns="0">
            <a:spAutoFit/>
          </a:bodyPr>
          <a:lstStyle/>
          <a:p>
            <a:r>
              <a:rPr sz="1100" b="0">
                <a:solidFill>
                  <a:srgbClr val="1F2933"/>
                </a:solidFill>
                <a:latin typeface="Calibri"/>
              </a:rPr>
              <a:t>5 named players compete here;</a:t>
            </a:r>
          </a:p>
        </p:txBody>
      </p:sp>
      <p:sp>
        <p:nvSpPr>
          <p:cNvPr id="140" name="TextBox 139"/>
          <p:cNvSpPr txBox="1"/>
          <p:nvPr/>
        </p:nvSpPr>
        <p:spPr>
          <a:xfrm>
            <a:off x="3328987" y="4844415"/>
            <a:ext cx="2192436" cy="186689"/>
          </a:xfrm>
          <a:prstGeom prst="rect">
            <a:avLst/>
          </a:prstGeom>
          <a:noFill/>
        </p:spPr>
        <p:txBody>
          <a:bodyPr wrap="none" lIns="0" rIns="0" tIns="0" bIns="0">
            <a:spAutoFit/>
          </a:bodyPr>
          <a:lstStyle/>
          <a:p>
            <a:r>
              <a:rPr sz="1100" b="0">
                <a:solidFill>
                  <a:srgbClr val="1F2933"/>
                </a:solidFill>
                <a:latin typeface="Calibri"/>
              </a:rPr>
              <a:t>'Subcutaneous Immunotherapy' adds</a:t>
            </a:r>
          </a:p>
        </p:txBody>
      </p:sp>
      <p:pic>
        <p:nvPicPr>
          <p:cNvPr id="141" name="Picture 140" descr="lock.png"/>
          <p:cNvPicPr>
            <a:picLocks noChangeAspect="1"/>
          </p:cNvPicPr>
          <p:nvPr/>
        </p:nvPicPr>
        <p:blipFill>
          <a:blip r:embed="rId4"/>
          <a:stretch>
            <a:fillRect/>
          </a:stretch>
        </p:blipFill>
        <p:spPr>
          <a:xfrm>
            <a:off x="5469475" y="4834636"/>
            <a:ext cx="128699" cy="187198"/>
          </a:xfrm>
          <a:prstGeom prst="rect">
            <a:avLst/>
          </a:prstGeom>
        </p:spPr>
      </p:pic>
      <p:sp>
        <p:nvSpPr>
          <p:cNvPr id="142" name="TextBox 141"/>
          <p:cNvSpPr txBox="1"/>
          <p:nvPr/>
        </p:nvSpPr>
        <p:spPr>
          <a:xfrm>
            <a:off x="3328987" y="501205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43" name="TextBox 142"/>
          <p:cNvSpPr txBox="1"/>
          <p:nvPr/>
        </p:nvSpPr>
        <p:spPr>
          <a:xfrm>
            <a:off x="6343650" y="4676775"/>
            <a:ext cx="2182886" cy="186689"/>
          </a:xfrm>
          <a:prstGeom prst="rect">
            <a:avLst/>
          </a:prstGeom>
          <a:noFill/>
        </p:spPr>
        <p:txBody>
          <a:bodyPr wrap="none" lIns="0" rIns="0" tIns="0" bIns="0">
            <a:spAutoFit/>
          </a:bodyPr>
          <a:lstStyle/>
          <a:p>
            <a:r>
              <a:rPr sz="1100" b="0">
                <a:solidFill>
                  <a:srgbClr val="1F2933"/>
                </a:solidFill>
                <a:latin typeface="Calibri"/>
              </a:rPr>
              <a:t>5 named players compete here; 'Oral</a:t>
            </a:r>
          </a:p>
        </p:txBody>
      </p:sp>
      <p:sp>
        <p:nvSpPr>
          <p:cNvPr id="144" name="TextBox 143"/>
          <p:cNvSpPr txBox="1"/>
          <p:nvPr/>
        </p:nvSpPr>
        <p:spPr>
          <a:xfrm>
            <a:off x="6343650" y="4844415"/>
            <a:ext cx="1328042" cy="186689"/>
          </a:xfrm>
          <a:prstGeom prst="rect">
            <a:avLst/>
          </a:prstGeom>
          <a:noFill/>
        </p:spPr>
        <p:txBody>
          <a:bodyPr wrap="none" lIns="0" rIns="0" tIns="0" bIns="0">
            <a:spAutoFit/>
          </a:bodyPr>
          <a:lstStyle/>
          <a:p>
            <a:r>
              <a:rPr sz="1100" b="0">
                <a:solidFill>
                  <a:srgbClr val="1F2933"/>
                </a:solidFill>
                <a:latin typeface="Calibri"/>
              </a:rPr>
              <a:t>Immunotherapy' adds</a:t>
            </a:r>
          </a:p>
        </p:txBody>
      </p:sp>
      <p:pic>
        <p:nvPicPr>
          <p:cNvPr id="145" name="Picture 144" descr="lock.png"/>
          <p:cNvPicPr>
            <a:picLocks noChangeAspect="1"/>
          </p:cNvPicPr>
          <p:nvPr/>
        </p:nvPicPr>
        <p:blipFill>
          <a:blip r:embed="rId4"/>
          <a:stretch>
            <a:fillRect/>
          </a:stretch>
        </p:blipFill>
        <p:spPr>
          <a:xfrm>
            <a:off x="7619744" y="4834636"/>
            <a:ext cx="128699" cy="187198"/>
          </a:xfrm>
          <a:prstGeom prst="rect">
            <a:avLst/>
          </a:prstGeom>
        </p:spPr>
      </p:pic>
      <p:sp>
        <p:nvSpPr>
          <p:cNvPr id="146" name="TextBox 145"/>
          <p:cNvSpPr txBox="1"/>
          <p:nvPr/>
        </p:nvSpPr>
        <p:spPr>
          <a:xfrm>
            <a:off x="7787240" y="4844415"/>
            <a:ext cx="693935" cy="186689"/>
          </a:xfrm>
          <a:prstGeom prst="rect">
            <a:avLst/>
          </a:prstGeom>
          <a:noFill/>
        </p:spPr>
        <p:txBody>
          <a:bodyPr wrap="none" lIns="0" rIns="0" tIns="0" bIns="0">
            <a:spAutoFit/>
          </a:bodyPr>
          <a:lstStyle/>
          <a:p>
            <a:r>
              <a:rPr sz="1100" b="0">
                <a:solidFill>
                  <a:srgbClr val="1F2933"/>
                </a:solidFill>
                <a:latin typeface="Calibri"/>
              </a:rPr>
              <a:t>US$ Mn by</a:t>
            </a:r>
          </a:p>
        </p:txBody>
      </p:sp>
      <p:sp>
        <p:nvSpPr>
          <p:cNvPr id="147" name="TextBox 146"/>
          <p:cNvSpPr txBox="1"/>
          <p:nvPr/>
        </p:nvSpPr>
        <p:spPr>
          <a:xfrm>
            <a:off x="6343650" y="5012055"/>
            <a:ext cx="395163" cy="186689"/>
          </a:xfrm>
          <a:prstGeom prst="rect">
            <a:avLst/>
          </a:prstGeom>
          <a:noFill/>
        </p:spPr>
        <p:txBody>
          <a:bodyPr wrap="none" lIns="0" rIns="0" tIns="0" bIns="0">
            <a:spAutoFit/>
          </a:bodyPr>
          <a:lstStyle/>
          <a:p>
            <a:r>
              <a:rPr sz="1100" b="0">
                <a:solidFill>
                  <a:srgbClr val="1F2933"/>
                </a:solidFill>
                <a:latin typeface="Calibri"/>
              </a:rPr>
              <a:t>2036.</a:t>
            </a:r>
          </a:p>
        </p:txBody>
      </p:sp>
      <p:sp>
        <p:nvSpPr>
          <p:cNvPr id="148" name="TextBox 147"/>
          <p:cNvSpPr txBox="1"/>
          <p:nvPr/>
        </p:nvSpPr>
        <p:spPr>
          <a:xfrm>
            <a:off x="9358313" y="4676775"/>
            <a:ext cx="1728861" cy="186689"/>
          </a:xfrm>
          <a:prstGeom prst="rect">
            <a:avLst/>
          </a:prstGeom>
          <a:noFill/>
        </p:spPr>
        <p:txBody>
          <a:bodyPr wrap="none" lIns="0" rIns="0" tIns="0" bIns="0">
            <a:spAutoFit/>
          </a:bodyPr>
          <a:lstStyle/>
          <a:p>
            <a:r>
              <a:rPr sz="1100" b="0">
                <a:solidFill>
                  <a:srgbClr val="1F2933"/>
                </a:solidFill>
                <a:latin typeface="Calibri"/>
              </a:rPr>
              <a:t>The top two end uses pay for</a:t>
            </a:r>
          </a:p>
        </p:txBody>
      </p:sp>
      <p:pic>
        <p:nvPicPr>
          <p:cNvPr id="149" name="Picture 148" descr="lock.png"/>
          <p:cNvPicPr>
            <a:picLocks noChangeAspect="1"/>
          </p:cNvPicPr>
          <p:nvPr/>
        </p:nvPicPr>
        <p:blipFill>
          <a:blip r:embed="rId4"/>
          <a:stretch>
            <a:fillRect/>
          </a:stretch>
        </p:blipFill>
        <p:spPr>
          <a:xfrm>
            <a:off x="11035226" y="4666996"/>
            <a:ext cx="128699" cy="187198"/>
          </a:xfrm>
          <a:prstGeom prst="rect">
            <a:avLst/>
          </a:prstGeom>
        </p:spPr>
      </p:pic>
      <p:sp>
        <p:nvSpPr>
          <p:cNvPr id="150" name="TextBox 149"/>
          <p:cNvSpPr txBox="1"/>
          <p:nvPr/>
        </p:nvSpPr>
        <p:spPr>
          <a:xfrm>
            <a:off x="11202722" y="4676775"/>
            <a:ext cx="413990" cy="186689"/>
          </a:xfrm>
          <a:prstGeom prst="rect">
            <a:avLst/>
          </a:prstGeom>
          <a:noFill/>
        </p:spPr>
        <p:txBody>
          <a:bodyPr wrap="none" lIns="0" rIns="0" tIns="0" bIns="0">
            <a:spAutoFit/>
          </a:bodyPr>
          <a:lstStyle/>
          <a:p>
            <a:r>
              <a:rPr sz="1100" b="0">
                <a:solidFill>
                  <a:srgbClr val="1F2933"/>
                </a:solidFill>
                <a:latin typeface="Calibri"/>
              </a:rPr>
              <a:t>of the</a:t>
            </a:r>
          </a:p>
        </p:txBody>
      </p:sp>
      <p:sp>
        <p:nvSpPr>
          <p:cNvPr id="151" name="TextBox 150"/>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Calibri"/>
              </a:rPr>
              <a:t>market; vendors package for one vertical at</a:t>
            </a:r>
          </a:p>
        </p:txBody>
      </p:sp>
      <p:sp>
        <p:nvSpPr>
          <p:cNvPr id="152" name="TextBox 151"/>
          <p:cNvSpPr txBox="1"/>
          <p:nvPr/>
        </p:nvSpPr>
        <p:spPr>
          <a:xfrm>
            <a:off x="9358313" y="5012055"/>
            <a:ext cx="470197" cy="186689"/>
          </a:xfrm>
          <a:prstGeom prst="rect">
            <a:avLst/>
          </a:prstGeom>
          <a:noFill/>
        </p:spPr>
        <p:txBody>
          <a:bodyPr wrap="none" lIns="0" rIns="0" tIns="0" bIns="0">
            <a:spAutoFit/>
          </a:bodyPr>
          <a:lstStyle/>
          <a:p>
            <a:r>
              <a:rPr sz="1100" b="0">
                <a:solidFill>
                  <a:srgbClr val="1F2933"/>
                </a:solidFill>
                <a:latin typeface="Calibri"/>
              </a:rPr>
              <a:t>a time.</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Player Landscape by Business Type and Reach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10" name="Rectangle 9"/>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12" name="Rectangle 11"/>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4" name="Rectangle 13"/>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(4)</a:t>
            </a:r>
          </a:p>
        </p:txBody>
      </p:sp>
      <p:sp>
        <p:nvSpPr>
          <p:cNvPr id="16" name="TextBox 15"/>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7" name="TextBox 16"/>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8" name="Connector 17"/>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ALK-Abelló A/S</a:t>
            </a:r>
          </a:p>
        </p:txBody>
      </p:sp>
      <p:sp>
        <p:nvSpPr>
          <p:cNvPr id="22" name="Rectangle 21"/>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Stallergenes Greer International AG</a:t>
            </a:r>
          </a:p>
        </p:txBody>
      </p:sp>
      <p:sp>
        <p:nvSpPr>
          <p:cNvPr id="25" name="Rectangle 24"/>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Allergy Therapeutics plc</a:t>
            </a:r>
          </a:p>
        </p:txBody>
      </p:sp>
      <p:sp>
        <p:nvSpPr>
          <p:cNvPr id="28" name="Rectangle 27"/>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0" name="TextBox 29"/>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HAL Allergy Group</a:t>
            </a:r>
          </a:p>
        </p:txBody>
      </p:sp>
      <p:cxnSp>
        <p:nvCxnSpPr>
          <p:cNvPr id="31" name="Connector 30"/>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4" name="TextBox 33"/>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5" name="Connector 34"/>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LETI Pharma / Laboratorios LETI, S.L.U.</a:t>
            </a:r>
          </a:p>
        </p:txBody>
      </p:sp>
      <p:sp>
        <p:nvSpPr>
          <p:cNvPr id="41" name="Rectangle 40"/>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3" name="TextBox 42"/>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Jubilant HollisterStier LLC</a:t>
            </a:r>
          </a:p>
        </p:txBody>
      </p:sp>
      <p:cxnSp>
        <p:nvCxnSpPr>
          <p:cNvPr id="44" name="Connector 43"/>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(4)</a:t>
            </a:r>
          </a:p>
        </p:txBody>
      </p:sp>
      <p:sp>
        <p:nvSpPr>
          <p:cNvPr id="46" name="TextBox 45"/>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7" name="Connector 46"/>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Inmunotek S.L.</a:t>
            </a:r>
          </a:p>
        </p:txBody>
      </p:sp>
      <p:sp>
        <p:nvSpPr>
          <p:cNvPr id="54" name="Rectangle 53"/>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DIATER Laboratories</a:t>
            </a:r>
          </a:p>
        </p:txBody>
      </p:sp>
      <p:sp>
        <p:nvSpPr>
          <p:cNvPr id="57" name="Rectangle 56"/>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9" name="TextBox 58"/>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Torii Pharmaceutical Co., Ltd.</a:t>
            </a:r>
          </a:p>
        </p:txBody>
      </p:sp>
      <p:sp>
        <p:nvSpPr>
          <p:cNvPr id="60" name="Rectangle 59"/>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62" name="TextBox 61"/>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Allergopharma GmbH &amp; Co. KG</a:t>
            </a:r>
          </a:p>
        </p:txBody>
      </p:sp>
      <p:sp>
        <p:nvSpPr>
          <p:cNvPr id="63" name="Rectangle 62"/>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65" name="TextBox 64"/>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6" name="TextBox 65"/>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7" name="Rectangle 66"/>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9" name="TextBox 68"/>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0" name="TextBox 69"/>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1" name="Rectangle 70"/>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73" name="TextBox 72"/>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4" name="TextBox 73"/>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5" name="TextBox 74"/>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4      BY REACH   Global 4   |   Regional 2   |   Local or niche 4</a:t>
            </a:r>
          </a:p>
        </p:txBody>
      </p:sp>
      <p:sp>
        <p:nvSpPr>
          <p:cNvPr id="76" name="Rectangle 75"/>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8" name="TextBox 77"/>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9" name="TextBox 78"/>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80" name="TextBox 79"/>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1" name="TextBox 80"/>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2" name="Rectangle 81"/>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84" name="TextBox 83"/>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5" name="TextBox 84"/>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6" name="TextBox 85"/>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7" name="TextBox 86"/>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8" name="Rectangle 87"/>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90" name="TextBox 89"/>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91" name="TextBox 90"/>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92" name="TextBox 91"/>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93" name="TextBox 92"/>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94" name="TextBox 9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95" name="Picture 94" descr="lock.png"/>
          <p:cNvPicPr>
            <a:picLocks noChangeAspect="1"/>
          </p:cNvPicPr>
          <p:nvPr/>
        </p:nvPicPr>
        <p:blipFill>
          <a:blip r:embed="rId4"/>
          <a:stretch>
            <a:fillRect/>
          </a:stretch>
        </p:blipFill>
        <p:spPr>
          <a:xfrm>
            <a:off x="1059600" y="4487926"/>
            <a:ext cx="128699" cy="187198"/>
          </a:xfrm>
          <a:prstGeom prst="rect">
            <a:avLst/>
          </a:prstGeom>
        </p:spPr>
      </p:pic>
      <p:pic>
        <p:nvPicPr>
          <p:cNvPr id="96" name="Picture 95" descr="lock.png"/>
          <p:cNvPicPr>
            <a:picLocks noChangeAspect="1"/>
          </p:cNvPicPr>
          <p:nvPr/>
        </p:nvPicPr>
        <p:blipFill>
          <a:blip r:embed="rId4"/>
          <a:stretch>
            <a:fillRect/>
          </a:stretch>
        </p:blipFill>
        <p:spPr>
          <a:xfrm>
            <a:off x="3821850" y="4487926"/>
            <a:ext cx="128699" cy="187198"/>
          </a:xfrm>
          <a:prstGeom prst="rect">
            <a:avLst/>
          </a:prstGeom>
        </p:spPr>
      </p:pic>
      <p:pic>
        <p:nvPicPr>
          <p:cNvPr id="97" name="Picture 96" descr="lock.png"/>
          <p:cNvPicPr>
            <a:picLocks noChangeAspect="1"/>
          </p:cNvPicPr>
          <p:nvPr/>
        </p:nvPicPr>
        <p:blipFill>
          <a:blip r:embed="rId4"/>
          <a:stretch>
            <a:fillRect/>
          </a:stretch>
        </p:blipFill>
        <p:spPr>
          <a:xfrm>
            <a:off x="6584100" y="4487926"/>
            <a:ext cx="128699" cy="187198"/>
          </a:xfrm>
          <a:prstGeom prst="rect">
            <a:avLst/>
          </a:prstGeom>
        </p:spPr>
      </p:pic>
      <p:sp>
        <p:nvSpPr>
          <p:cNvPr id="98" name="TextBox 97"/>
          <p:cNvSpPr txBox="1"/>
          <p:nvPr/>
        </p:nvSpPr>
        <p:spPr>
          <a:xfrm>
            <a:off x="21907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99" name="Picture 98" descr="lock.png"/>
          <p:cNvPicPr>
            <a:picLocks noChangeAspect="1"/>
          </p:cNvPicPr>
          <p:nvPr/>
        </p:nvPicPr>
        <p:blipFill>
          <a:blip r:embed="rId4"/>
          <a:stretch>
            <a:fillRect/>
          </a:stretch>
        </p:blipFill>
        <p:spPr>
          <a:xfrm>
            <a:off x="1343736" y="5867145"/>
            <a:ext cx="128699" cy="187198"/>
          </a:xfrm>
          <a:prstGeom prst="rect">
            <a:avLst/>
          </a:prstGeom>
        </p:spPr>
      </p:pic>
      <p:sp>
        <p:nvSpPr>
          <p:cNvPr id="100" name="TextBox 99"/>
          <p:cNvSpPr txBox="1"/>
          <p:nvPr/>
        </p:nvSpPr>
        <p:spPr>
          <a:xfrm>
            <a:off x="151123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1" name="TextBox 100"/>
          <p:cNvSpPr txBox="1"/>
          <p:nvPr/>
        </p:nvSpPr>
        <p:spPr>
          <a:xfrm>
            <a:off x="3219450"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2" name="Picture 101" descr="lock.png"/>
          <p:cNvPicPr>
            <a:picLocks noChangeAspect="1"/>
          </p:cNvPicPr>
          <p:nvPr/>
        </p:nvPicPr>
        <p:blipFill>
          <a:blip r:embed="rId4"/>
          <a:stretch>
            <a:fillRect/>
          </a:stretch>
        </p:blipFill>
        <p:spPr>
          <a:xfrm>
            <a:off x="4344111" y="5867145"/>
            <a:ext cx="128699" cy="187198"/>
          </a:xfrm>
          <a:prstGeom prst="rect">
            <a:avLst/>
          </a:prstGeom>
        </p:spPr>
      </p:pic>
      <p:sp>
        <p:nvSpPr>
          <p:cNvPr id="103" name="TextBox 102"/>
          <p:cNvSpPr txBox="1"/>
          <p:nvPr/>
        </p:nvSpPr>
        <p:spPr>
          <a:xfrm>
            <a:off x="4511607"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4" name="TextBox 103"/>
          <p:cNvSpPr txBox="1"/>
          <p:nvPr/>
        </p:nvSpPr>
        <p:spPr>
          <a:xfrm>
            <a:off x="621982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5" name="Picture 104" descr="lock.png"/>
          <p:cNvPicPr>
            <a:picLocks noChangeAspect="1"/>
          </p:cNvPicPr>
          <p:nvPr/>
        </p:nvPicPr>
        <p:blipFill>
          <a:blip r:embed="rId4"/>
          <a:stretch>
            <a:fillRect/>
          </a:stretch>
        </p:blipFill>
        <p:spPr>
          <a:xfrm>
            <a:off x="7344486" y="5867145"/>
            <a:ext cx="128699" cy="187198"/>
          </a:xfrm>
          <a:prstGeom prst="rect">
            <a:avLst/>
          </a:prstGeom>
        </p:spPr>
      </p:pic>
      <p:sp>
        <p:nvSpPr>
          <p:cNvPr id="106" name="TextBox 105"/>
          <p:cNvSpPr txBox="1"/>
          <p:nvPr/>
        </p:nvSpPr>
        <p:spPr>
          <a:xfrm>
            <a:off x="751198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Corporate Scorecard: Who They Are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12" name="TextBox 11"/>
          <p:cNvSpPr txBox="1"/>
          <p:nvPr/>
        </p:nvSpPr>
        <p:spPr>
          <a:xfrm>
            <a:off x="2980533" y="1295400"/>
            <a:ext cx="208072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3" name="TextBox 12"/>
          <p:cNvSpPr txBox="1"/>
          <p:nvPr/>
        </p:nvSpPr>
        <p:spPr>
          <a:xfrm>
            <a:off x="2980533" y="1657350"/>
            <a:ext cx="208072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4" name="TextBox 13"/>
          <p:cNvSpPr txBox="1"/>
          <p:nvPr/>
        </p:nvSpPr>
        <p:spPr>
          <a:xfrm>
            <a:off x="5137453" y="1295400"/>
            <a:ext cx="1074158"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5" name="TextBox 14"/>
          <p:cNvSpPr txBox="1"/>
          <p:nvPr/>
        </p:nvSpPr>
        <p:spPr>
          <a:xfrm>
            <a:off x="5137453" y="1657350"/>
            <a:ext cx="1074158"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6" name="TextBox 15"/>
          <p:cNvSpPr txBox="1"/>
          <p:nvPr/>
        </p:nvSpPr>
        <p:spPr>
          <a:xfrm>
            <a:off x="6287811" y="1295400"/>
            <a:ext cx="88243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7" name="TextBox 16"/>
          <p:cNvSpPr txBox="1"/>
          <p:nvPr/>
        </p:nvSpPr>
        <p:spPr>
          <a:xfrm>
            <a:off x="6287811" y="1657350"/>
            <a:ext cx="88243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8" name="TextBox 17"/>
          <p:cNvSpPr txBox="1"/>
          <p:nvPr/>
        </p:nvSpPr>
        <p:spPr>
          <a:xfrm>
            <a:off x="7246443" y="1295400"/>
            <a:ext cx="88243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9" name="TextBox 18"/>
          <p:cNvSpPr txBox="1"/>
          <p:nvPr/>
        </p:nvSpPr>
        <p:spPr>
          <a:xfrm>
            <a:off x="7246443" y="1657350"/>
            <a:ext cx="88243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20" name="TextBox 19"/>
          <p:cNvSpPr txBox="1"/>
          <p:nvPr/>
        </p:nvSpPr>
        <p:spPr>
          <a:xfrm>
            <a:off x="8205074" y="1295400"/>
            <a:ext cx="88243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21" name="TextBox 20"/>
          <p:cNvSpPr txBox="1"/>
          <p:nvPr/>
        </p:nvSpPr>
        <p:spPr>
          <a:xfrm>
            <a:off x="8205074" y="1657350"/>
            <a:ext cx="88243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22" name="TextBox 21"/>
          <p:cNvSpPr txBox="1"/>
          <p:nvPr/>
        </p:nvSpPr>
        <p:spPr>
          <a:xfrm>
            <a:off x="9163706" y="1295400"/>
            <a:ext cx="88243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3" name="TextBox 22"/>
          <p:cNvSpPr txBox="1"/>
          <p:nvPr/>
        </p:nvSpPr>
        <p:spPr>
          <a:xfrm>
            <a:off x="9163706" y="1657350"/>
            <a:ext cx="88243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4" name="TextBox 23"/>
          <p:cNvSpPr txBox="1"/>
          <p:nvPr/>
        </p:nvSpPr>
        <p:spPr>
          <a:xfrm>
            <a:off x="10122337" y="1295400"/>
            <a:ext cx="88243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5" name="TextBox 24"/>
          <p:cNvSpPr txBox="1"/>
          <p:nvPr/>
        </p:nvSpPr>
        <p:spPr>
          <a:xfrm>
            <a:off x="10122337" y="1657350"/>
            <a:ext cx="88243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6" name="TextBox 25"/>
          <p:cNvSpPr txBox="1"/>
          <p:nvPr/>
        </p:nvSpPr>
        <p:spPr>
          <a:xfrm>
            <a:off x="11080969" y="1295400"/>
            <a:ext cx="88243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7" name="TextBox 26"/>
          <p:cNvSpPr txBox="1"/>
          <p:nvPr/>
        </p:nvSpPr>
        <p:spPr>
          <a:xfrm>
            <a:off x="11080969" y="1657350"/>
            <a:ext cx="88243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8" name="Connector 27"/>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5750" y="22479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ALK-Abelló A/S</a:t>
            </a:r>
          </a:p>
        </p:txBody>
      </p:sp>
      <p:sp>
        <p:nvSpPr>
          <p:cNvPr id="31" name="TextBox 30"/>
          <p:cNvSpPr txBox="1"/>
          <p:nvPr/>
        </p:nvSpPr>
        <p:spPr>
          <a:xfrm>
            <a:off x="285750" y="24098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2" name="TextBox 31"/>
          <p:cNvSpPr txBox="1"/>
          <p:nvPr/>
        </p:nvSpPr>
        <p:spPr>
          <a:xfrm>
            <a:off x="2942433" y="2228850"/>
            <a:ext cx="215692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TextBox 32"/>
          <p:cNvSpPr txBox="1"/>
          <p:nvPr/>
        </p:nvSpPr>
        <p:spPr>
          <a:xfrm>
            <a:off x="5137453" y="2228850"/>
            <a:ext cx="1074158"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4" name="Oval 33"/>
          <p:cNvSpPr/>
          <p:nvPr/>
        </p:nvSpPr>
        <p:spPr>
          <a:xfrm>
            <a:off x="665282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11458"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570090"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528721"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84237" y="22288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9" name="TextBox 38"/>
          <p:cNvSpPr txBox="1"/>
          <p:nvPr/>
        </p:nvSpPr>
        <p:spPr>
          <a:xfrm>
            <a:off x="11042869" y="22288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0" name="Connector 39"/>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5750" y="25908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Stallergenes Greer International AG</a:t>
            </a:r>
          </a:p>
        </p:txBody>
      </p:sp>
      <p:sp>
        <p:nvSpPr>
          <p:cNvPr id="43" name="TextBox 42"/>
          <p:cNvSpPr txBox="1"/>
          <p:nvPr/>
        </p:nvSpPr>
        <p:spPr>
          <a:xfrm>
            <a:off x="285750" y="27527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4" name="TextBox 43"/>
          <p:cNvSpPr txBox="1"/>
          <p:nvPr/>
        </p:nvSpPr>
        <p:spPr>
          <a:xfrm>
            <a:off x="2942433" y="2571750"/>
            <a:ext cx="215692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5137453" y="2571750"/>
            <a:ext cx="1074158"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6" name="Oval 45"/>
          <p:cNvSpPr/>
          <p:nvPr/>
        </p:nvSpPr>
        <p:spPr>
          <a:xfrm>
            <a:off x="6652827"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6724650" y="26670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61145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570090"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528721"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084237" y="25717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2" name="TextBox 51"/>
          <p:cNvSpPr txBox="1"/>
          <p:nvPr/>
        </p:nvSpPr>
        <p:spPr>
          <a:xfrm>
            <a:off x="11042869" y="25717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3" name="Connector 52"/>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5750" y="29337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Allergy Therapeutics plc</a:t>
            </a:r>
          </a:p>
        </p:txBody>
      </p:sp>
      <p:sp>
        <p:nvSpPr>
          <p:cNvPr id="56" name="TextBox 55"/>
          <p:cNvSpPr txBox="1"/>
          <p:nvPr/>
        </p:nvSpPr>
        <p:spPr>
          <a:xfrm>
            <a:off x="285750" y="30956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7" name="TextBox 56"/>
          <p:cNvSpPr txBox="1"/>
          <p:nvPr/>
        </p:nvSpPr>
        <p:spPr>
          <a:xfrm>
            <a:off x="2942433" y="2914650"/>
            <a:ext cx="215692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8" name="TextBox 57"/>
          <p:cNvSpPr txBox="1"/>
          <p:nvPr/>
        </p:nvSpPr>
        <p:spPr>
          <a:xfrm>
            <a:off x="5137453" y="2914650"/>
            <a:ext cx="1074158"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59" name="Oval 58"/>
          <p:cNvSpPr/>
          <p:nvPr/>
        </p:nvSpPr>
        <p:spPr>
          <a:xfrm>
            <a:off x="6652827"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6724650" y="30099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611458"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570090"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9528721"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9601200" y="30099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084237" y="29146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6" name="TextBox 65"/>
          <p:cNvSpPr txBox="1"/>
          <p:nvPr/>
        </p:nvSpPr>
        <p:spPr>
          <a:xfrm>
            <a:off x="11042869" y="29146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7" name="Connector 66"/>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5750" y="32766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HAL Allergy Group</a:t>
            </a:r>
          </a:p>
        </p:txBody>
      </p:sp>
      <p:sp>
        <p:nvSpPr>
          <p:cNvPr id="70" name="TextBox 69"/>
          <p:cNvSpPr txBox="1"/>
          <p:nvPr/>
        </p:nvSpPr>
        <p:spPr>
          <a:xfrm>
            <a:off x="285750" y="34385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1" name="TextBox 70"/>
          <p:cNvSpPr txBox="1"/>
          <p:nvPr/>
        </p:nvSpPr>
        <p:spPr>
          <a:xfrm>
            <a:off x="2942433" y="3257550"/>
            <a:ext cx="215692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2" name="TextBox 71"/>
          <p:cNvSpPr txBox="1"/>
          <p:nvPr/>
        </p:nvSpPr>
        <p:spPr>
          <a:xfrm>
            <a:off x="5137453" y="3257550"/>
            <a:ext cx="1074158"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73" name="Oval 72"/>
          <p:cNvSpPr/>
          <p:nvPr/>
        </p:nvSpPr>
        <p:spPr>
          <a:xfrm>
            <a:off x="6652827"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6724650" y="33528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761145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8570090"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528721"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9601200" y="33528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084237" y="32575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0" name="TextBox 79"/>
          <p:cNvSpPr txBox="1"/>
          <p:nvPr/>
        </p:nvSpPr>
        <p:spPr>
          <a:xfrm>
            <a:off x="11042869" y="32575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1" name="Connector 80"/>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85750" y="36195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LETI Pharma / Laboratorios LETI, S.L.U.</a:t>
            </a:r>
          </a:p>
        </p:txBody>
      </p:sp>
      <p:sp>
        <p:nvSpPr>
          <p:cNvPr id="84" name="TextBox 83"/>
          <p:cNvSpPr txBox="1"/>
          <p:nvPr/>
        </p:nvSpPr>
        <p:spPr>
          <a:xfrm>
            <a:off x="285750" y="37814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5" name="TextBox 84"/>
          <p:cNvSpPr txBox="1"/>
          <p:nvPr/>
        </p:nvSpPr>
        <p:spPr>
          <a:xfrm>
            <a:off x="2942433" y="3600450"/>
            <a:ext cx="215692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6" name="TextBox 85"/>
          <p:cNvSpPr txBox="1"/>
          <p:nvPr/>
        </p:nvSpPr>
        <p:spPr>
          <a:xfrm>
            <a:off x="5137453" y="3600450"/>
            <a:ext cx="1074158"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7" name="Oval 86"/>
          <p:cNvSpPr/>
          <p:nvPr/>
        </p:nvSpPr>
        <p:spPr>
          <a:xfrm>
            <a:off x="665282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6724650" y="3695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761145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768667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570090"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8648700"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528721"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9601200" y="3695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084237" y="36004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6" name="TextBox 95"/>
          <p:cNvSpPr txBox="1"/>
          <p:nvPr/>
        </p:nvSpPr>
        <p:spPr>
          <a:xfrm>
            <a:off x="11042869" y="36004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7" name="Connector 96"/>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39624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Jubilant HollisterStier LLC</a:t>
            </a:r>
          </a:p>
        </p:txBody>
      </p:sp>
      <p:sp>
        <p:nvSpPr>
          <p:cNvPr id="100" name="TextBox 99"/>
          <p:cNvSpPr txBox="1"/>
          <p:nvPr/>
        </p:nvSpPr>
        <p:spPr>
          <a:xfrm>
            <a:off x="285750" y="41243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1" name="TextBox 100"/>
          <p:cNvSpPr txBox="1"/>
          <p:nvPr/>
        </p:nvSpPr>
        <p:spPr>
          <a:xfrm>
            <a:off x="2942433" y="3943350"/>
            <a:ext cx="215692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2" name="TextBox 101"/>
          <p:cNvSpPr txBox="1"/>
          <p:nvPr/>
        </p:nvSpPr>
        <p:spPr>
          <a:xfrm>
            <a:off x="5137453" y="3943350"/>
            <a:ext cx="1074158"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03" name="Oval 102"/>
          <p:cNvSpPr/>
          <p:nvPr/>
        </p:nvSpPr>
        <p:spPr>
          <a:xfrm>
            <a:off x="665282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6724650" y="4038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7611458"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76866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8570090"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8648700"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528721"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reeform 109"/>
          <p:cNvSpPr/>
          <p:nvPr/>
        </p:nvSpPr>
        <p:spPr>
          <a:xfrm>
            <a:off x="9601200" y="4038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0084237" y="39433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2" name="TextBox 111"/>
          <p:cNvSpPr txBox="1"/>
          <p:nvPr/>
        </p:nvSpPr>
        <p:spPr>
          <a:xfrm>
            <a:off x="11042869" y="39433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3" name="Connector 112"/>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4" name="Rectangle 113"/>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85750" y="43053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Inmunotek S.L.</a:t>
            </a:r>
          </a:p>
        </p:txBody>
      </p:sp>
      <p:sp>
        <p:nvSpPr>
          <p:cNvPr id="116" name="TextBox 115"/>
          <p:cNvSpPr txBox="1"/>
          <p:nvPr/>
        </p:nvSpPr>
        <p:spPr>
          <a:xfrm>
            <a:off x="285750" y="44672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7" name="TextBox 116"/>
          <p:cNvSpPr txBox="1"/>
          <p:nvPr/>
        </p:nvSpPr>
        <p:spPr>
          <a:xfrm>
            <a:off x="2942433" y="4286250"/>
            <a:ext cx="215692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8" name="TextBox 117"/>
          <p:cNvSpPr txBox="1"/>
          <p:nvPr/>
        </p:nvSpPr>
        <p:spPr>
          <a:xfrm>
            <a:off x="5137453" y="4286250"/>
            <a:ext cx="1074158"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19" name="Oval 118"/>
          <p:cNvSpPr/>
          <p:nvPr/>
        </p:nvSpPr>
        <p:spPr>
          <a:xfrm>
            <a:off x="665282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6724650" y="4381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61145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7686675"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8570090"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8648700" y="43815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9528721"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Freeform 125"/>
          <p:cNvSpPr/>
          <p:nvPr/>
        </p:nvSpPr>
        <p:spPr>
          <a:xfrm>
            <a:off x="9601200" y="4381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084237" y="42862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8" name="TextBox 127"/>
          <p:cNvSpPr txBox="1"/>
          <p:nvPr/>
        </p:nvSpPr>
        <p:spPr>
          <a:xfrm>
            <a:off x="11042869" y="42862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9" name="Connector 128"/>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0" name="Rectangle 129"/>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85750" y="46482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DIATER Laboratories</a:t>
            </a:r>
          </a:p>
        </p:txBody>
      </p:sp>
      <p:sp>
        <p:nvSpPr>
          <p:cNvPr id="132" name="TextBox 131"/>
          <p:cNvSpPr txBox="1"/>
          <p:nvPr/>
        </p:nvSpPr>
        <p:spPr>
          <a:xfrm>
            <a:off x="285750" y="48101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3" name="TextBox 132"/>
          <p:cNvSpPr txBox="1"/>
          <p:nvPr/>
        </p:nvSpPr>
        <p:spPr>
          <a:xfrm>
            <a:off x="2942433" y="4629150"/>
            <a:ext cx="215692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4" name="TextBox 133"/>
          <p:cNvSpPr txBox="1"/>
          <p:nvPr/>
        </p:nvSpPr>
        <p:spPr>
          <a:xfrm>
            <a:off x="5137453" y="4629150"/>
            <a:ext cx="1074158"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5" name="Oval 134"/>
          <p:cNvSpPr/>
          <p:nvPr/>
        </p:nvSpPr>
        <p:spPr>
          <a:xfrm>
            <a:off x="665282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6724650" y="47244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7611458"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7686675"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8570090"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8648700" y="47244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9528721"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Freeform 141"/>
          <p:cNvSpPr/>
          <p:nvPr/>
        </p:nvSpPr>
        <p:spPr>
          <a:xfrm>
            <a:off x="9601200" y="47244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0084237" y="46291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4" name="TextBox 143"/>
          <p:cNvSpPr txBox="1"/>
          <p:nvPr/>
        </p:nvSpPr>
        <p:spPr>
          <a:xfrm>
            <a:off x="11042869" y="46291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5" name="Connector 144"/>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6" name="Rectangle 145"/>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285750" y="49911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Torii Pharmaceutical Co., Ltd.</a:t>
            </a:r>
          </a:p>
        </p:txBody>
      </p:sp>
      <p:sp>
        <p:nvSpPr>
          <p:cNvPr id="148" name="TextBox 147"/>
          <p:cNvSpPr txBox="1"/>
          <p:nvPr/>
        </p:nvSpPr>
        <p:spPr>
          <a:xfrm>
            <a:off x="285750" y="51530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9" name="TextBox 148"/>
          <p:cNvSpPr txBox="1"/>
          <p:nvPr/>
        </p:nvSpPr>
        <p:spPr>
          <a:xfrm>
            <a:off x="2942433" y="4972050"/>
            <a:ext cx="215692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50" name="TextBox 149"/>
          <p:cNvSpPr txBox="1"/>
          <p:nvPr/>
        </p:nvSpPr>
        <p:spPr>
          <a:xfrm>
            <a:off x="5137453" y="4972050"/>
            <a:ext cx="1074158"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51" name="Oval 150"/>
          <p:cNvSpPr/>
          <p:nvPr/>
        </p:nvSpPr>
        <p:spPr>
          <a:xfrm>
            <a:off x="665282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6724650" y="50673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7611458"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Freeform 153"/>
          <p:cNvSpPr/>
          <p:nvPr/>
        </p:nvSpPr>
        <p:spPr>
          <a:xfrm>
            <a:off x="7686675"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8570090"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Freeform 155"/>
          <p:cNvSpPr/>
          <p:nvPr/>
        </p:nvSpPr>
        <p:spPr>
          <a:xfrm>
            <a:off x="8648700" y="50673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9528721"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9601200" y="50673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0084237" y="49720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0" name="TextBox 159"/>
          <p:cNvSpPr txBox="1"/>
          <p:nvPr/>
        </p:nvSpPr>
        <p:spPr>
          <a:xfrm>
            <a:off x="11042869" y="49720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61" name="Connector 160"/>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2" name="Rectangle 161"/>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285750" y="53340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Allergopharma GmbH &amp; Co. KG</a:t>
            </a:r>
          </a:p>
        </p:txBody>
      </p:sp>
      <p:sp>
        <p:nvSpPr>
          <p:cNvPr id="164" name="TextBox 163"/>
          <p:cNvSpPr txBox="1"/>
          <p:nvPr/>
        </p:nvSpPr>
        <p:spPr>
          <a:xfrm>
            <a:off x="285750" y="54959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5" name="TextBox 164"/>
          <p:cNvSpPr txBox="1"/>
          <p:nvPr/>
        </p:nvSpPr>
        <p:spPr>
          <a:xfrm>
            <a:off x="2942433" y="5314950"/>
            <a:ext cx="215692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6" name="TextBox 165"/>
          <p:cNvSpPr txBox="1"/>
          <p:nvPr/>
        </p:nvSpPr>
        <p:spPr>
          <a:xfrm>
            <a:off x="5137453" y="5314950"/>
            <a:ext cx="1074158"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67" name="Oval 166"/>
          <p:cNvSpPr/>
          <p:nvPr/>
        </p:nvSpPr>
        <p:spPr>
          <a:xfrm>
            <a:off x="665282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reeform 167"/>
          <p:cNvSpPr/>
          <p:nvPr/>
        </p:nvSpPr>
        <p:spPr>
          <a:xfrm>
            <a:off x="6724650" y="54102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7611458"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Freeform 169"/>
          <p:cNvSpPr/>
          <p:nvPr/>
        </p:nvSpPr>
        <p:spPr>
          <a:xfrm>
            <a:off x="7686675"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8570090"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Freeform 171"/>
          <p:cNvSpPr/>
          <p:nvPr/>
        </p:nvSpPr>
        <p:spPr>
          <a:xfrm>
            <a:off x="8648700" y="54102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9528721"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Freeform 173"/>
          <p:cNvSpPr/>
          <p:nvPr/>
        </p:nvSpPr>
        <p:spPr>
          <a:xfrm>
            <a:off x="9601200" y="54102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084237" y="53149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76" name="TextBox 175"/>
          <p:cNvSpPr txBox="1"/>
          <p:nvPr/>
        </p:nvSpPr>
        <p:spPr>
          <a:xfrm>
            <a:off x="11042869" y="5314950"/>
            <a:ext cx="958631"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77" name="Connector 176"/>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8" name="Oval 177"/>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80" name="Oval 179"/>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Freeform 180"/>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83" name="Oval 182"/>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Freeform 183"/>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86" name="Oval 185"/>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88" name="TextBox 187"/>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89" name="TextBox 188"/>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10 named players compete globally; scale and share follow the tier structure.</a:t>
            </a:r>
          </a:p>
        </p:txBody>
      </p:sp>
      <p:sp>
        <p:nvSpPr>
          <p:cNvPr id="190" name="TextBox 18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91" name="TextBox 190"/>
          <p:cNvSpPr txBox="1"/>
          <p:nvPr/>
        </p:nvSpPr>
        <p:spPr>
          <a:xfrm>
            <a:off x="9192281" y="1666875"/>
            <a:ext cx="360249" cy="166573"/>
          </a:xfrm>
          <a:prstGeom prst="rect">
            <a:avLst/>
          </a:prstGeom>
          <a:noFill/>
        </p:spPr>
        <p:txBody>
          <a:bodyPr wrap="none" lIns="0" rIns="0" tIns="0" bIns="0">
            <a:spAutoFit/>
          </a:bodyPr>
          <a:lstStyle/>
          <a:p>
            <a:r>
              <a:rPr sz="968" b="0">
                <a:solidFill>
                  <a:srgbClr val="5F6B7A"/>
                </a:solidFill>
                <a:latin typeface="Calibri"/>
              </a:rPr>
              <a:t>Share</a:t>
            </a:r>
          </a:p>
        </p:txBody>
      </p:sp>
      <p:pic>
        <p:nvPicPr>
          <p:cNvPr id="192" name="Picture 191" descr="lock.png"/>
          <p:cNvPicPr>
            <a:picLocks noChangeAspect="1"/>
          </p:cNvPicPr>
          <p:nvPr/>
        </p:nvPicPr>
        <p:blipFill>
          <a:blip r:embed="rId4"/>
          <a:stretch>
            <a:fillRect/>
          </a:stretch>
        </p:blipFill>
        <p:spPr>
          <a:xfrm>
            <a:off x="9497671" y="1658269"/>
            <a:ext cx="113255" cy="164734"/>
          </a:xfrm>
          <a:prstGeom prst="rect">
            <a:avLst/>
          </a:prstGeom>
        </p:spPr>
      </p:pic>
      <p:sp>
        <p:nvSpPr>
          <p:cNvPr id="193" name="TextBox 192"/>
          <p:cNvSpPr txBox="1"/>
          <p:nvPr/>
        </p:nvSpPr>
        <p:spPr>
          <a:xfrm>
            <a:off x="9645068" y="1666875"/>
            <a:ext cx="347523" cy="166573"/>
          </a:xfrm>
          <a:prstGeom prst="rect">
            <a:avLst/>
          </a:prstGeom>
          <a:noFill/>
        </p:spPr>
        <p:txBody>
          <a:bodyPr wrap="none" lIns="0" rIns="0" tIns="0" bIns="0">
            <a:spAutoFit/>
          </a:bodyPr>
          <a:lstStyle/>
          <a:p>
            <a:r>
              <a:rPr sz="968" b="0">
                <a:solidFill>
                  <a:srgbClr val="5F6B7A"/>
                </a:solidFill>
                <a:latin typeface="Calibri"/>
              </a:rPr>
              <a:t>+ = 3,</a:t>
            </a:r>
          </a:p>
        </p:txBody>
      </p:sp>
      <p:pic>
        <p:nvPicPr>
          <p:cNvPr id="194" name="Picture 193" descr="lock.png"/>
          <p:cNvPicPr>
            <a:picLocks noChangeAspect="1"/>
          </p:cNvPicPr>
          <p:nvPr/>
        </p:nvPicPr>
        <p:blipFill>
          <a:blip r:embed="rId4"/>
          <a:stretch>
            <a:fillRect/>
          </a:stretch>
        </p:blipFill>
        <p:spPr>
          <a:xfrm>
            <a:off x="9180429" y="1805792"/>
            <a:ext cx="113255" cy="164734"/>
          </a:xfrm>
          <a:prstGeom prst="rect">
            <a:avLst/>
          </a:prstGeom>
        </p:spPr>
      </p:pic>
      <p:sp>
        <p:nvSpPr>
          <p:cNvPr id="195" name="TextBox 194"/>
          <p:cNvSpPr txBox="1"/>
          <p:nvPr/>
        </p:nvSpPr>
        <p:spPr>
          <a:xfrm>
            <a:off x="9327826" y="1814398"/>
            <a:ext cx="575387" cy="166573"/>
          </a:xfrm>
          <a:prstGeom prst="rect">
            <a:avLst/>
          </a:prstGeom>
          <a:noFill/>
        </p:spPr>
        <p:txBody>
          <a:bodyPr wrap="none" lIns="0" rIns="0" tIns="0" bIns="0">
            <a:spAutoFit/>
          </a:bodyPr>
          <a:lstStyle/>
          <a:p>
            <a:r>
              <a:rPr sz="968" b="0">
                <a:solidFill>
                  <a:srgbClr val="5F6B7A"/>
                </a:solidFill>
                <a:latin typeface="Calibri"/>
              </a:rPr>
              <a:t>= 2, else 1</a:t>
            </a:r>
          </a:p>
        </p:txBody>
      </p:sp>
      <p:pic>
        <p:nvPicPr>
          <p:cNvPr id="196" name="Picture 195" descr="lock.png"/>
          <p:cNvPicPr>
            <a:picLocks noChangeAspect="1"/>
          </p:cNvPicPr>
          <p:nvPr/>
        </p:nvPicPr>
        <p:blipFill>
          <a:blip r:embed="rId4"/>
          <a:stretch>
            <a:fillRect/>
          </a:stretch>
        </p:blipFill>
        <p:spPr>
          <a:xfrm>
            <a:off x="3956544" y="2306701"/>
            <a:ext cx="128699" cy="187198"/>
          </a:xfrm>
          <a:prstGeom prst="rect">
            <a:avLst/>
          </a:prstGeom>
        </p:spPr>
      </p:pic>
      <p:pic>
        <p:nvPicPr>
          <p:cNvPr id="197" name="Picture 196" descr="lock.png"/>
          <p:cNvPicPr>
            <a:picLocks noChangeAspect="1"/>
          </p:cNvPicPr>
          <p:nvPr/>
        </p:nvPicPr>
        <p:blipFill>
          <a:blip r:embed="rId4"/>
          <a:stretch>
            <a:fillRect/>
          </a:stretch>
        </p:blipFill>
        <p:spPr>
          <a:xfrm>
            <a:off x="10499203" y="2306701"/>
            <a:ext cx="128699" cy="187198"/>
          </a:xfrm>
          <a:prstGeom prst="rect">
            <a:avLst/>
          </a:prstGeom>
        </p:spPr>
      </p:pic>
      <p:pic>
        <p:nvPicPr>
          <p:cNvPr id="198" name="Picture 197" descr="lock.png"/>
          <p:cNvPicPr>
            <a:picLocks noChangeAspect="1"/>
          </p:cNvPicPr>
          <p:nvPr/>
        </p:nvPicPr>
        <p:blipFill>
          <a:blip r:embed="rId4"/>
          <a:stretch>
            <a:fillRect/>
          </a:stretch>
        </p:blipFill>
        <p:spPr>
          <a:xfrm>
            <a:off x="11457835" y="2306701"/>
            <a:ext cx="128699" cy="187198"/>
          </a:xfrm>
          <a:prstGeom prst="rect">
            <a:avLst/>
          </a:prstGeom>
        </p:spPr>
      </p:pic>
      <p:pic>
        <p:nvPicPr>
          <p:cNvPr id="199" name="Picture 198" descr="lock.png"/>
          <p:cNvPicPr>
            <a:picLocks noChangeAspect="1"/>
          </p:cNvPicPr>
          <p:nvPr/>
        </p:nvPicPr>
        <p:blipFill>
          <a:blip r:embed="rId4"/>
          <a:stretch>
            <a:fillRect/>
          </a:stretch>
        </p:blipFill>
        <p:spPr>
          <a:xfrm>
            <a:off x="3956544" y="2649601"/>
            <a:ext cx="128699" cy="187198"/>
          </a:xfrm>
          <a:prstGeom prst="rect">
            <a:avLst/>
          </a:prstGeom>
        </p:spPr>
      </p:pic>
      <p:pic>
        <p:nvPicPr>
          <p:cNvPr id="200" name="Picture 199" descr="lock.png"/>
          <p:cNvPicPr>
            <a:picLocks noChangeAspect="1"/>
          </p:cNvPicPr>
          <p:nvPr/>
        </p:nvPicPr>
        <p:blipFill>
          <a:blip r:embed="rId4"/>
          <a:stretch>
            <a:fillRect/>
          </a:stretch>
        </p:blipFill>
        <p:spPr>
          <a:xfrm>
            <a:off x="10499203" y="2649601"/>
            <a:ext cx="128699" cy="187198"/>
          </a:xfrm>
          <a:prstGeom prst="rect">
            <a:avLst/>
          </a:prstGeom>
        </p:spPr>
      </p:pic>
      <p:pic>
        <p:nvPicPr>
          <p:cNvPr id="201" name="Picture 200" descr="lock.png"/>
          <p:cNvPicPr>
            <a:picLocks noChangeAspect="1"/>
          </p:cNvPicPr>
          <p:nvPr/>
        </p:nvPicPr>
        <p:blipFill>
          <a:blip r:embed="rId4"/>
          <a:stretch>
            <a:fillRect/>
          </a:stretch>
        </p:blipFill>
        <p:spPr>
          <a:xfrm>
            <a:off x="11457835" y="2649601"/>
            <a:ext cx="128699" cy="187198"/>
          </a:xfrm>
          <a:prstGeom prst="rect">
            <a:avLst/>
          </a:prstGeom>
        </p:spPr>
      </p:pic>
      <p:pic>
        <p:nvPicPr>
          <p:cNvPr id="202" name="Picture 201" descr="lock.png"/>
          <p:cNvPicPr>
            <a:picLocks noChangeAspect="1"/>
          </p:cNvPicPr>
          <p:nvPr/>
        </p:nvPicPr>
        <p:blipFill>
          <a:blip r:embed="rId4"/>
          <a:stretch>
            <a:fillRect/>
          </a:stretch>
        </p:blipFill>
        <p:spPr>
          <a:xfrm>
            <a:off x="3956544" y="2992501"/>
            <a:ext cx="128699" cy="187198"/>
          </a:xfrm>
          <a:prstGeom prst="rect">
            <a:avLst/>
          </a:prstGeom>
        </p:spPr>
      </p:pic>
      <p:pic>
        <p:nvPicPr>
          <p:cNvPr id="203" name="Picture 202" descr="lock.png"/>
          <p:cNvPicPr>
            <a:picLocks noChangeAspect="1"/>
          </p:cNvPicPr>
          <p:nvPr/>
        </p:nvPicPr>
        <p:blipFill>
          <a:blip r:embed="rId4"/>
          <a:stretch>
            <a:fillRect/>
          </a:stretch>
        </p:blipFill>
        <p:spPr>
          <a:xfrm>
            <a:off x="10499203" y="2992501"/>
            <a:ext cx="128699" cy="187198"/>
          </a:xfrm>
          <a:prstGeom prst="rect">
            <a:avLst/>
          </a:prstGeom>
        </p:spPr>
      </p:pic>
      <p:pic>
        <p:nvPicPr>
          <p:cNvPr id="204" name="Picture 203" descr="lock.png"/>
          <p:cNvPicPr>
            <a:picLocks noChangeAspect="1"/>
          </p:cNvPicPr>
          <p:nvPr/>
        </p:nvPicPr>
        <p:blipFill>
          <a:blip r:embed="rId4"/>
          <a:stretch>
            <a:fillRect/>
          </a:stretch>
        </p:blipFill>
        <p:spPr>
          <a:xfrm>
            <a:off x="11457835" y="2992501"/>
            <a:ext cx="128699" cy="187198"/>
          </a:xfrm>
          <a:prstGeom prst="rect">
            <a:avLst/>
          </a:prstGeom>
        </p:spPr>
      </p:pic>
      <p:pic>
        <p:nvPicPr>
          <p:cNvPr id="205" name="Picture 204" descr="lock.png"/>
          <p:cNvPicPr>
            <a:picLocks noChangeAspect="1"/>
          </p:cNvPicPr>
          <p:nvPr/>
        </p:nvPicPr>
        <p:blipFill>
          <a:blip r:embed="rId4"/>
          <a:stretch>
            <a:fillRect/>
          </a:stretch>
        </p:blipFill>
        <p:spPr>
          <a:xfrm>
            <a:off x="3956544" y="3335401"/>
            <a:ext cx="128699" cy="187198"/>
          </a:xfrm>
          <a:prstGeom prst="rect">
            <a:avLst/>
          </a:prstGeom>
        </p:spPr>
      </p:pic>
      <p:pic>
        <p:nvPicPr>
          <p:cNvPr id="206" name="Picture 205" descr="lock.png"/>
          <p:cNvPicPr>
            <a:picLocks noChangeAspect="1"/>
          </p:cNvPicPr>
          <p:nvPr/>
        </p:nvPicPr>
        <p:blipFill>
          <a:blip r:embed="rId4"/>
          <a:stretch>
            <a:fillRect/>
          </a:stretch>
        </p:blipFill>
        <p:spPr>
          <a:xfrm>
            <a:off x="10499203" y="3335401"/>
            <a:ext cx="128699" cy="187198"/>
          </a:xfrm>
          <a:prstGeom prst="rect">
            <a:avLst/>
          </a:prstGeom>
        </p:spPr>
      </p:pic>
      <p:pic>
        <p:nvPicPr>
          <p:cNvPr id="207" name="Picture 206" descr="lock.png"/>
          <p:cNvPicPr>
            <a:picLocks noChangeAspect="1"/>
          </p:cNvPicPr>
          <p:nvPr/>
        </p:nvPicPr>
        <p:blipFill>
          <a:blip r:embed="rId4"/>
          <a:stretch>
            <a:fillRect/>
          </a:stretch>
        </p:blipFill>
        <p:spPr>
          <a:xfrm>
            <a:off x="11457835" y="3335401"/>
            <a:ext cx="128699" cy="187198"/>
          </a:xfrm>
          <a:prstGeom prst="rect">
            <a:avLst/>
          </a:prstGeom>
        </p:spPr>
      </p:pic>
      <p:pic>
        <p:nvPicPr>
          <p:cNvPr id="208" name="Picture 207" descr="lock.png"/>
          <p:cNvPicPr>
            <a:picLocks noChangeAspect="1"/>
          </p:cNvPicPr>
          <p:nvPr/>
        </p:nvPicPr>
        <p:blipFill>
          <a:blip r:embed="rId4"/>
          <a:stretch>
            <a:fillRect/>
          </a:stretch>
        </p:blipFill>
        <p:spPr>
          <a:xfrm>
            <a:off x="3956544" y="3678301"/>
            <a:ext cx="128699" cy="187198"/>
          </a:xfrm>
          <a:prstGeom prst="rect">
            <a:avLst/>
          </a:prstGeom>
        </p:spPr>
      </p:pic>
      <p:pic>
        <p:nvPicPr>
          <p:cNvPr id="209" name="Picture 208" descr="lock.png"/>
          <p:cNvPicPr>
            <a:picLocks noChangeAspect="1"/>
          </p:cNvPicPr>
          <p:nvPr/>
        </p:nvPicPr>
        <p:blipFill>
          <a:blip r:embed="rId4"/>
          <a:stretch>
            <a:fillRect/>
          </a:stretch>
        </p:blipFill>
        <p:spPr>
          <a:xfrm>
            <a:off x="10499203" y="3678301"/>
            <a:ext cx="128699" cy="187198"/>
          </a:xfrm>
          <a:prstGeom prst="rect">
            <a:avLst/>
          </a:prstGeom>
        </p:spPr>
      </p:pic>
      <p:pic>
        <p:nvPicPr>
          <p:cNvPr id="210" name="Picture 209" descr="lock.png"/>
          <p:cNvPicPr>
            <a:picLocks noChangeAspect="1"/>
          </p:cNvPicPr>
          <p:nvPr/>
        </p:nvPicPr>
        <p:blipFill>
          <a:blip r:embed="rId4"/>
          <a:stretch>
            <a:fillRect/>
          </a:stretch>
        </p:blipFill>
        <p:spPr>
          <a:xfrm>
            <a:off x="11457835" y="3678301"/>
            <a:ext cx="128699" cy="187198"/>
          </a:xfrm>
          <a:prstGeom prst="rect">
            <a:avLst/>
          </a:prstGeom>
        </p:spPr>
      </p:pic>
      <p:pic>
        <p:nvPicPr>
          <p:cNvPr id="211" name="Picture 210" descr="lock.png"/>
          <p:cNvPicPr>
            <a:picLocks noChangeAspect="1"/>
          </p:cNvPicPr>
          <p:nvPr/>
        </p:nvPicPr>
        <p:blipFill>
          <a:blip r:embed="rId4"/>
          <a:stretch>
            <a:fillRect/>
          </a:stretch>
        </p:blipFill>
        <p:spPr>
          <a:xfrm>
            <a:off x="3956544" y="4021201"/>
            <a:ext cx="128699" cy="187198"/>
          </a:xfrm>
          <a:prstGeom prst="rect">
            <a:avLst/>
          </a:prstGeom>
        </p:spPr>
      </p:pic>
      <p:pic>
        <p:nvPicPr>
          <p:cNvPr id="212" name="Picture 211" descr="lock.png"/>
          <p:cNvPicPr>
            <a:picLocks noChangeAspect="1"/>
          </p:cNvPicPr>
          <p:nvPr/>
        </p:nvPicPr>
        <p:blipFill>
          <a:blip r:embed="rId4"/>
          <a:stretch>
            <a:fillRect/>
          </a:stretch>
        </p:blipFill>
        <p:spPr>
          <a:xfrm>
            <a:off x="10499203" y="4021201"/>
            <a:ext cx="128699" cy="187198"/>
          </a:xfrm>
          <a:prstGeom prst="rect">
            <a:avLst/>
          </a:prstGeom>
        </p:spPr>
      </p:pic>
      <p:pic>
        <p:nvPicPr>
          <p:cNvPr id="213" name="Picture 212" descr="lock.png"/>
          <p:cNvPicPr>
            <a:picLocks noChangeAspect="1"/>
          </p:cNvPicPr>
          <p:nvPr/>
        </p:nvPicPr>
        <p:blipFill>
          <a:blip r:embed="rId4"/>
          <a:stretch>
            <a:fillRect/>
          </a:stretch>
        </p:blipFill>
        <p:spPr>
          <a:xfrm>
            <a:off x="11457835" y="4021201"/>
            <a:ext cx="128699" cy="187198"/>
          </a:xfrm>
          <a:prstGeom prst="rect">
            <a:avLst/>
          </a:prstGeom>
        </p:spPr>
      </p:pic>
      <p:pic>
        <p:nvPicPr>
          <p:cNvPr id="214" name="Picture 213" descr="lock.png"/>
          <p:cNvPicPr>
            <a:picLocks noChangeAspect="1"/>
          </p:cNvPicPr>
          <p:nvPr/>
        </p:nvPicPr>
        <p:blipFill>
          <a:blip r:embed="rId4"/>
          <a:stretch>
            <a:fillRect/>
          </a:stretch>
        </p:blipFill>
        <p:spPr>
          <a:xfrm>
            <a:off x="3956544" y="4364101"/>
            <a:ext cx="128699" cy="187198"/>
          </a:xfrm>
          <a:prstGeom prst="rect">
            <a:avLst/>
          </a:prstGeom>
        </p:spPr>
      </p:pic>
      <p:pic>
        <p:nvPicPr>
          <p:cNvPr id="215" name="Picture 214" descr="lock.png"/>
          <p:cNvPicPr>
            <a:picLocks noChangeAspect="1"/>
          </p:cNvPicPr>
          <p:nvPr/>
        </p:nvPicPr>
        <p:blipFill>
          <a:blip r:embed="rId4"/>
          <a:stretch>
            <a:fillRect/>
          </a:stretch>
        </p:blipFill>
        <p:spPr>
          <a:xfrm>
            <a:off x="10499203" y="4364101"/>
            <a:ext cx="128699" cy="187198"/>
          </a:xfrm>
          <a:prstGeom prst="rect">
            <a:avLst/>
          </a:prstGeom>
        </p:spPr>
      </p:pic>
      <p:pic>
        <p:nvPicPr>
          <p:cNvPr id="216" name="Picture 215" descr="lock.png"/>
          <p:cNvPicPr>
            <a:picLocks noChangeAspect="1"/>
          </p:cNvPicPr>
          <p:nvPr/>
        </p:nvPicPr>
        <p:blipFill>
          <a:blip r:embed="rId4"/>
          <a:stretch>
            <a:fillRect/>
          </a:stretch>
        </p:blipFill>
        <p:spPr>
          <a:xfrm>
            <a:off x="11457835" y="4364101"/>
            <a:ext cx="128699" cy="187198"/>
          </a:xfrm>
          <a:prstGeom prst="rect">
            <a:avLst/>
          </a:prstGeom>
        </p:spPr>
      </p:pic>
      <p:pic>
        <p:nvPicPr>
          <p:cNvPr id="217" name="Picture 216" descr="lock.png"/>
          <p:cNvPicPr>
            <a:picLocks noChangeAspect="1"/>
          </p:cNvPicPr>
          <p:nvPr/>
        </p:nvPicPr>
        <p:blipFill>
          <a:blip r:embed="rId4"/>
          <a:stretch>
            <a:fillRect/>
          </a:stretch>
        </p:blipFill>
        <p:spPr>
          <a:xfrm>
            <a:off x="3956544" y="4707001"/>
            <a:ext cx="128699" cy="187198"/>
          </a:xfrm>
          <a:prstGeom prst="rect">
            <a:avLst/>
          </a:prstGeom>
        </p:spPr>
      </p:pic>
      <p:pic>
        <p:nvPicPr>
          <p:cNvPr id="218" name="Picture 217" descr="lock.png"/>
          <p:cNvPicPr>
            <a:picLocks noChangeAspect="1"/>
          </p:cNvPicPr>
          <p:nvPr/>
        </p:nvPicPr>
        <p:blipFill>
          <a:blip r:embed="rId4"/>
          <a:stretch>
            <a:fillRect/>
          </a:stretch>
        </p:blipFill>
        <p:spPr>
          <a:xfrm>
            <a:off x="10499203" y="4707001"/>
            <a:ext cx="128699" cy="187198"/>
          </a:xfrm>
          <a:prstGeom prst="rect">
            <a:avLst/>
          </a:prstGeom>
        </p:spPr>
      </p:pic>
      <p:pic>
        <p:nvPicPr>
          <p:cNvPr id="219" name="Picture 218" descr="lock.png"/>
          <p:cNvPicPr>
            <a:picLocks noChangeAspect="1"/>
          </p:cNvPicPr>
          <p:nvPr/>
        </p:nvPicPr>
        <p:blipFill>
          <a:blip r:embed="rId4"/>
          <a:stretch>
            <a:fillRect/>
          </a:stretch>
        </p:blipFill>
        <p:spPr>
          <a:xfrm>
            <a:off x="11457835" y="4707001"/>
            <a:ext cx="128699" cy="187198"/>
          </a:xfrm>
          <a:prstGeom prst="rect">
            <a:avLst/>
          </a:prstGeom>
        </p:spPr>
      </p:pic>
      <p:pic>
        <p:nvPicPr>
          <p:cNvPr id="220" name="Picture 219" descr="lock.png"/>
          <p:cNvPicPr>
            <a:picLocks noChangeAspect="1"/>
          </p:cNvPicPr>
          <p:nvPr/>
        </p:nvPicPr>
        <p:blipFill>
          <a:blip r:embed="rId4"/>
          <a:stretch>
            <a:fillRect/>
          </a:stretch>
        </p:blipFill>
        <p:spPr>
          <a:xfrm>
            <a:off x="3956544" y="5049901"/>
            <a:ext cx="128699" cy="187198"/>
          </a:xfrm>
          <a:prstGeom prst="rect">
            <a:avLst/>
          </a:prstGeom>
        </p:spPr>
      </p:pic>
      <p:pic>
        <p:nvPicPr>
          <p:cNvPr id="221" name="Picture 220" descr="lock.png"/>
          <p:cNvPicPr>
            <a:picLocks noChangeAspect="1"/>
          </p:cNvPicPr>
          <p:nvPr/>
        </p:nvPicPr>
        <p:blipFill>
          <a:blip r:embed="rId4"/>
          <a:stretch>
            <a:fillRect/>
          </a:stretch>
        </p:blipFill>
        <p:spPr>
          <a:xfrm>
            <a:off x="10499203" y="5049901"/>
            <a:ext cx="128699" cy="187198"/>
          </a:xfrm>
          <a:prstGeom prst="rect">
            <a:avLst/>
          </a:prstGeom>
        </p:spPr>
      </p:pic>
      <p:pic>
        <p:nvPicPr>
          <p:cNvPr id="222" name="Picture 221" descr="lock.png"/>
          <p:cNvPicPr>
            <a:picLocks noChangeAspect="1"/>
          </p:cNvPicPr>
          <p:nvPr/>
        </p:nvPicPr>
        <p:blipFill>
          <a:blip r:embed="rId4"/>
          <a:stretch>
            <a:fillRect/>
          </a:stretch>
        </p:blipFill>
        <p:spPr>
          <a:xfrm>
            <a:off x="11457835" y="5049901"/>
            <a:ext cx="128699" cy="187198"/>
          </a:xfrm>
          <a:prstGeom prst="rect">
            <a:avLst/>
          </a:prstGeom>
        </p:spPr>
      </p:pic>
      <p:pic>
        <p:nvPicPr>
          <p:cNvPr id="223" name="Picture 222" descr="lock.png"/>
          <p:cNvPicPr>
            <a:picLocks noChangeAspect="1"/>
          </p:cNvPicPr>
          <p:nvPr/>
        </p:nvPicPr>
        <p:blipFill>
          <a:blip r:embed="rId4"/>
          <a:stretch>
            <a:fillRect/>
          </a:stretch>
        </p:blipFill>
        <p:spPr>
          <a:xfrm>
            <a:off x="3956544" y="5392801"/>
            <a:ext cx="128699" cy="187198"/>
          </a:xfrm>
          <a:prstGeom prst="rect">
            <a:avLst/>
          </a:prstGeom>
        </p:spPr>
      </p:pic>
      <p:pic>
        <p:nvPicPr>
          <p:cNvPr id="224" name="Picture 223" descr="lock.png"/>
          <p:cNvPicPr>
            <a:picLocks noChangeAspect="1"/>
          </p:cNvPicPr>
          <p:nvPr/>
        </p:nvPicPr>
        <p:blipFill>
          <a:blip r:embed="rId4"/>
          <a:stretch>
            <a:fillRect/>
          </a:stretch>
        </p:blipFill>
        <p:spPr>
          <a:xfrm>
            <a:off x="10499203" y="5392801"/>
            <a:ext cx="128699" cy="187198"/>
          </a:xfrm>
          <a:prstGeom prst="rect">
            <a:avLst/>
          </a:prstGeom>
        </p:spPr>
      </p:pic>
      <p:pic>
        <p:nvPicPr>
          <p:cNvPr id="225" name="Picture 224" descr="lock.png"/>
          <p:cNvPicPr>
            <a:picLocks noChangeAspect="1"/>
          </p:cNvPicPr>
          <p:nvPr/>
        </p:nvPicPr>
        <p:blipFill>
          <a:blip r:embed="rId4"/>
          <a:stretch>
            <a:fillRect/>
          </a:stretch>
        </p:blipFill>
        <p:spPr>
          <a:xfrm>
            <a:off x="11457835" y="5392801"/>
            <a:ext cx="128699" cy="187198"/>
          </a:xfrm>
          <a:prstGeom prst="rect">
            <a:avLst/>
          </a:prstGeom>
        </p:spPr>
      </p:pic>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Offering Scorecard: What They Sell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12" name="TextBox 11"/>
          <p:cNvSpPr txBox="1"/>
          <p:nvPr/>
        </p:nvSpPr>
        <p:spPr>
          <a:xfrm>
            <a:off x="2980533" y="1295400"/>
            <a:ext cx="125601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3" name="TextBox 12"/>
          <p:cNvSpPr txBox="1"/>
          <p:nvPr/>
        </p:nvSpPr>
        <p:spPr>
          <a:xfrm>
            <a:off x="2980533" y="1657350"/>
            <a:ext cx="125601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4" name="TextBox 13"/>
          <p:cNvSpPr txBox="1"/>
          <p:nvPr/>
        </p:nvSpPr>
        <p:spPr>
          <a:xfrm>
            <a:off x="4312748" y="1295400"/>
            <a:ext cx="125601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5" name="TextBox 14"/>
          <p:cNvSpPr txBox="1"/>
          <p:nvPr/>
        </p:nvSpPr>
        <p:spPr>
          <a:xfrm>
            <a:off x="4312748" y="1657350"/>
            <a:ext cx="125601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6" name="TextBox 15"/>
          <p:cNvSpPr txBox="1"/>
          <p:nvPr/>
        </p:nvSpPr>
        <p:spPr>
          <a:xfrm>
            <a:off x="5644964" y="1295400"/>
            <a:ext cx="152245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7" name="TextBox 16"/>
          <p:cNvSpPr txBox="1"/>
          <p:nvPr/>
        </p:nvSpPr>
        <p:spPr>
          <a:xfrm>
            <a:off x="5644964" y="1657350"/>
            <a:ext cx="152245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8" name="TextBox 17"/>
          <p:cNvSpPr txBox="1"/>
          <p:nvPr/>
        </p:nvSpPr>
        <p:spPr>
          <a:xfrm>
            <a:off x="7243623" y="1295400"/>
            <a:ext cx="152245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9" name="TextBox 18"/>
          <p:cNvSpPr txBox="1"/>
          <p:nvPr/>
        </p:nvSpPr>
        <p:spPr>
          <a:xfrm>
            <a:off x="7243623" y="1657350"/>
            <a:ext cx="152245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20" name="TextBox 19"/>
          <p:cNvSpPr txBox="1"/>
          <p:nvPr/>
        </p:nvSpPr>
        <p:spPr>
          <a:xfrm>
            <a:off x="8842282" y="1295400"/>
            <a:ext cx="152245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21" name="TextBox 20"/>
          <p:cNvSpPr txBox="1"/>
          <p:nvPr/>
        </p:nvSpPr>
        <p:spPr>
          <a:xfrm>
            <a:off x="8842282" y="1657350"/>
            <a:ext cx="152245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22" name="TextBox 21"/>
          <p:cNvSpPr txBox="1"/>
          <p:nvPr/>
        </p:nvSpPr>
        <p:spPr>
          <a:xfrm>
            <a:off x="10440941" y="1295400"/>
            <a:ext cx="152245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3" name="TextBox 22"/>
          <p:cNvSpPr txBox="1"/>
          <p:nvPr/>
        </p:nvSpPr>
        <p:spPr>
          <a:xfrm>
            <a:off x="10440941" y="1657350"/>
            <a:ext cx="152245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ALK-Abelló A/S</a:t>
            </a:r>
          </a:p>
        </p:txBody>
      </p:sp>
      <p:sp>
        <p:nvSpPr>
          <p:cNvPr id="27" name="TextBox 26"/>
          <p:cNvSpPr txBox="1"/>
          <p:nvPr/>
        </p:nvSpPr>
        <p:spPr>
          <a:xfrm>
            <a:off x="285750" y="24098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Oval 27"/>
          <p:cNvSpPr/>
          <p:nvPr/>
        </p:nvSpPr>
        <p:spPr>
          <a:xfrm>
            <a:off x="3532341"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864556"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943475" y="23241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44964" y="22288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32" name="TextBox 31"/>
          <p:cNvSpPr txBox="1"/>
          <p:nvPr/>
        </p:nvSpPr>
        <p:spPr>
          <a:xfrm>
            <a:off x="7243623" y="22288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Direct-to-Allergy Clinics, Hospital Procurement</a:t>
            </a:r>
          </a:p>
        </p:txBody>
      </p:sp>
      <p:sp>
        <p:nvSpPr>
          <p:cNvPr id="33" name="TextBox 32"/>
          <p:cNvSpPr txBox="1"/>
          <p:nvPr/>
        </p:nvSpPr>
        <p:spPr>
          <a:xfrm>
            <a:off x="8804182" y="22288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4" name="TextBox 33"/>
          <p:cNvSpPr txBox="1"/>
          <p:nvPr/>
        </p:nvSpPr>
        <p:spPr>
          <a:xfrm>
            <a:off x="10440941" y="22288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35" name="Connector 34"/>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750" y="25908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Stallergenes Greer International AG</a:t>
            </a:r>
          </a:p>
        </p:txBody>
      </p:sp>
      <p:sp>
        <p:nvSpPr>
          <p:cNvPr id="38" name="TextBox 37"/>
          <p:cNvSpPr txBox="1"/>
          <p:nvPr/>
        </p:nvSpPr>
        <p:spPr>
          <a:xfrm>
            <a:off x="285750" y="27527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9" name="Oval 38"/>
          <p:cNvSpPr/>
          <p:nvPr/>
        </p:nvSpPr>
        <p:spPr>
          <a:xfrm>
            <a:off x="3532341"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3609975" y="2667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864556"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44964" y="25717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3" name="TextBox 42"/>
          <p:cNvSpPr txBox="1"/>
          <p:nvPr/>
        </p:nvSpPr>
        <p:spPr>
          <a:xfrm>
            <a:off x="7243623" y="25717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Direct-to-Allergy Clinics, Mail-order Pharmacy</a:t>
            </a:r>
          </a:p>
        </p:txBody>
      </p:sp>
      <p:sp>
        <p:nvSpPr>
          <p:cNvPr id="44" name="TextBox 43"/>
          <p:cNvSpPr txBox="1"/>
          <p:nvPr/>
        </p:nvSpPr>
        <p:spPr>
          <a:xfrm>
            <a:off x="8804182" y="25717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10440941" y="25717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46" name="Connector 45"/>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5750" y="29337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Allergy Therapeutics plc</a:t>
            </a:r>
          </a:p>
        </p:txBody>
      </p:sp>
      <p:sp>
        <p:nvSpPr>
          <p:cNvPr id="49" name="TextBox 48"/>
          <p:cNvSpPr txBox="1"/>
          <p:nvPr/>
        </p:nvSpPr>
        <p:spPr>
          <a:xfrm>
            <a:off x="285750" y="30956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0" name="Oval 49"/>
          <p:cNvSpPr/>
          <p:nvPr/>
        </p:nvSpPr>
        <p:spPr>
          <a:xfrm>
            <a:off x="3532341"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3609975"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864556"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4943475" y="3009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44964" y="29146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5" name="TextBox 54"/>
          <p:cNvSpPr txBox="1"/>
          <p:nvPr/>
        </p:nvSpPr>
        <p:spPr>
          <a:xfrm>
            <a:off x="7243623" y="29146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Hospital Procurement, Mail-order Pharmacy</a:t>
            </a:r>
          </a:p>
        </p:txBody>
      </p:sp>
      <p:sp>
        <p:nvSpPr>
          <p:cNvPr id="56" name="TextBox 55"/>
          <p:cNvSpPr txBox="1"/>
          <p:nvPr/>
        </p:nvSpPr>
        <p:spPr>
          <a:xfrm>
            <a:off x="8804182" y="29146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10440941" y="29146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58" name="Connector 57"/>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5750" y="32766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HAL Allergy Group</a:t>
            </a:r>
          </a:p>
        </p:txBody>
      </p:sp>
      <p:sp>
        <p:nvSpPr>
          <p:cNvPr id="61" name="TextBox 60"/>
          <p:cNvSpPr txBox="1"/>
          <p:nvPr/>
        </p:nvSpPr>
        <p:spPr>
          <a:xfrm>
            <a:off x="285750" y="34385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2" name="Oval 61"/>
          <p:cNvSpPr/>
          <p:nvPr/>
        </p:nvSpPr>
        <p:spPr>
          <a:xfrm>
            <a:off x="3532341"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3609975"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864556"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44964" y="32575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6" name="TextBox 65"/>
          <p:cNvSpPr txBox="1"/>
          <p:nvPr/>
        </p:nvSpPr>
        <p:spPr>
          <a:xfrm>
            <a:off x="7243623" y="32575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Direct-to-Allergy Clinics, Hospital Procurement</a:t>
            </a:r>
          </a:p>
        </p:txBody>
      </p:sp>
      <p:sp>
        <p:nvSpPr>
          <p:cNvPr id="67" name="TextBox 66"/>
          <p:cNvSpPr txBox="1"/>
          <p:nvPr/>
        </p:nvSpPr>
        <p:spPr>
          <a:xfrm>
            <a:off x="8804182" y="32575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8" name="TextBox 67"/>
          <p:cNvSpPr txBox="1"/>
          <p:nvPr/>
        </p:nvSpPr>
        <p:spPr>
          <a:xfrm>
            <a:off x="10440941" y="32575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69" name="Connector 6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5750" y="36195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LETI Pharma / Laboratorios LETI, S.L.U.</a:t>
            </a:r>
          </a:p>
        </p:txBody>
      </p:sp>
      <p:sp>
        <p:nvSpPr>
          <p:cNvPr id="72" name="TextBox 71"/>
          <p:cNvSpPr txBox="1"/>
          <p:nvPr/>
        </p:nvSpPr>
        <p:spPr>
          <a:xfrm>
            <a:off x="285750" y="37814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3" name="Oval 72"/>
          <p:cNvSpPr/>
          <p:nvPr/>
        </p:nvSpPr>
        <p:spPr>
          <a:xfrm>
            <a:off x="3532341"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864556"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4943475"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644964" y="36004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7" name="TextBox 76"/>
          <p:cNvSpPr txBox="1"/>
          <p:nvPr/>
        </p:nvSpPr>
        <p:spPr>
          <a:xfrm>
            <a:off x="7243623" y="36004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Direct-to-Allergy Clinics, Mail-order Pharmacy</a:t>
            </a:r>
          </a:p>
        </p:txBody>
      </p:sp>
      <p:sp>
        <p:nvSpPr>
          <p:cNvPr id="78" name="TextBox 77"/>
          <p:cNvSpPr txBox="1"/>
          <p:nvPr/>
        </p:nvSpPr>
        <p:spPr>
          <a:xfrm>
            <a:off x="8804182" y="36004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9" name="TextBox 78"/>
          <p:cNvSpPr txBox="1"/>
          <p:nvPr/>
        </p:nvSpPr>
        <p:spPr>
          <a:xfrm>
            <a:off x="10440941" y="36004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80" name="Connector 7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9624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Jubilant HollisterStier LLC</a:t>
            </a:r>
          </a:p>
        </p:txBody>
      </p:sp>
      <p:sp>
        <p:nvSpPr>
          <p:cNvPr id="83" name="TextBox 82"/>
          <p:cNvSpPr txBox="1"/>
          <p:nvPr/>
        </p:nvSpPr>
        <p:spPr>
          <a:xfrm>
            <a:off x="285750" y="41243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4" name="Oval 83"/>
          <p:cNvSpPr/>
          <p:nvPr/>
        </p:nvSpPr>
        <p:spPr>
          <a:xfrm>
            <a:off x="3532341"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36099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864556"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644964" y="39433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8" name="TextBox 87"/>
          <p:cNvSpPr txBox="1"/>
          <p:nvPr/>
        </p:nvSpPr>
        <p:spPr>
          <a:xfrm>
            <a:off x="7243623" y="39433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Hospital Procurement, Mail-order Pharmacy</a:t>
            </a:r>
          </a:p>
        </p:txBody>
      </p:sp>
      <p:sp>
        <p:nvSpPr>
          <p:cNvPr id="89" name="TextBox 88"/>
          <p:cNvSpPr txBox="1"/>
          <p:nvPr/>
        </p:nvSpPr>
        <p:spPr>
          <a:xfrm>
            <a:off x="8804182" y="39433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0" name="TextBox 89"/>
          <p:cNvSpPr txBox="1"/>
          <p:nvPr/>
        </p:nvSpPr>
        <p:spPr>
          <a:xfrm>
            <a:off x="10440941" y="39433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91" name="Connector 9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5750" y="43053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Inmunotek S.L.</a:t>
            </a:r>
          </a:p>
        </p:txBody>
      </p:sp>
      <p:sp>
        <p:nvSpPr>
          <p:cNvPr id="94" name="TextBox 93"/>
          <p:cNvSpPr txBox="1"/>
          <p:nvPr/>
        </p:nvSpPr>
        <p:spPr>
          <a:xfrm>
            <a:off x="285750" y="44672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5" name="Oval 94"/>
          <p:cNvSpPr/>
          <p:nvPr/>
        </p:nvSpPr>
        <p:spPr>
          <a:xfrm>
            <a:off x="3532341"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360997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864556"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4943475"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644964" y="42862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0" name="TextBox 99"/>
          <p:cNvSpPr txBox="1"/>
          <p:nvPr/>
        </p:nvSpPr>
        <p:spPr>
          <a:xfrm>
            <a:off x="7243623" y="42862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Direct-to-Allergy Clinics, Hospital Procurement</a:t>
            </a:r>
          </a:p>
        </p:txBody>
      </p:sp>
      <p:sp>
        <p:nvSpPr>
          <p:cNvPr id="101" name="TextBox 100"/>
          <p:cNvSpPr txBox="1"/>
          <p:nvPr/>
        </p:nvSpPr>
        <p:spPr>
          <a:xfrm>
            <a:off x="8804182" y="42862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2" name="TextBox 101"/>
          <p:cNvSpPr txBox="1"/>
          <p:nvPr/>
        </p:nvSpPr>
        <p:spPr>
          <a:xfrm>
            <a:off x="10440941" y="42862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103" name="Connector 102"/>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6482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DIATER Laboratories</a:t>
            </a:r>
          </a:p>
        </p:txBody>
      </p:sp>
      <p:sp>
        <p:nvSpPr>
          <p:cNvPr id="106" name="TextBox 105"/>
          <p:cNvSpPr txBox="1"/>
          <p:nvPr/>
        </p:nvSpPr>
        <p:spPr>
          <a:xfrm>
            <a:off x="285750" y="48101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7" name="Oval 106"/>
          <p:cNvSpPr/>
          <p:nvPr/>
        </p:nvSpPr>
        <p:spPr>
          <a:xfrm>
            <a:off x="3532341"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360997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864556"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644964" y="46291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1" name="TextBox 110"/>
          <p:cNvSpPr txBox="1"/>
          <p:nvPr/>
        </p:nvSpPr>
        <p:spPr>
          <a:xfrm>
            <a:off x="7243623" y="46291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Direct-to-Allergy Clinics, Mail-order Pharmacy</a:t>
            </a:r>
          </a:p>
        </p:txBody>
      </p:sp>
      <p:sp>
        <p:nvSpPr>
          <p:cNvPr id="112" name="TextBox 111"/>
          <p:cNvSpPr txBox="1"/>
          <p:nvPr/>
        </p:nvSpPr>
        <p:spPr>
          <a:xfrm>
            <a:off x="8804182" y="46291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10440941" y="46291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114" name="Connector 113"/>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85750" y="49911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Torii Pharmaceutical Co., Ltd.</a:t>
            </a:r>
          </a:p>
        </p:txBody>
      </p:sp>
      <p:sp>
        <p:nvSpPr>
          <p:cNvPr id="117" name="TextBox 116"/>
          <p:cNvSpPr txBox="1"/>
          <p:nvPr/>
        </p:nvSpPr>
        <p:spPr>
          <a:xfrm>
            <a:off x="285750" y="51530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8" name="Oval 117"/>
          <p:cNvSpPr/>
          <p:nvPr/>
        </p:nvSpPr>
        <p:spPr>
          <a:xfrm>
            <a:off x="3532341"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864556"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4943475" y="5067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644964" y="49720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22" name="TextBox 121"/>
          <p:cNvSpPr txBox="1"/>
          <p:nvPr/>
        </p:nvSpPr>
        <p:spPr>
          <a:xfrm>
            <a:off x="7243623" y="49720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Hospital Procurement, Mail-order Pharmacy</a:t>
            </a:r>
          </a:p>
        </p:txBody>
      </p:sp>
      <p:sp>
        <p:nvSpPr>
          <p:cNvPr id="123" name="TextBox 122"/>
          <p:cNvSpPr txBox="1"/>
          <p:nvPr/>
        </p:nvSpPr>
        <p:spPr>
          <a:xfrm>
            <a:off x="8804182" y="49720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4" name="TextBox 123"/>
          <p:cNvSpPr txBox="1"/>
          <p:nvPr/>
        </p:nvSpPr>
        <p:spPr>
          <a:xfrm>
            <a:off x="10440941" y="49720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125" name="Connector 124"/>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5750" y="53340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Allergopharma GmbH &amp; Co. KG</a:t>
            </a:r>
          </a:p>
        </p:txBody>
      </p:sp>
      <p:sp>
        <p:nvSpPr>
          <p:cNvPr id="128" name="TextBox 127"/>
          <p:cNvSpPr txBox="1"/>
          <p:nvPr/>
        </p:nvSpPr>
        <p:spPr>
          <a:xfrm>
            <a:off x="285750" y="54959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9" name="Oval 128"/>
          <p:cNvSpPr/>
          <p:nvPr/>
        </p:nvSpPr>
        <p:spPr>
          <a:xfrm>
            <a:off x="3532341"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360997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4864556"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5644964" y="53149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33" name="TextBox 132"/>
          <p:cNvSpPr txBox="1"/>
          <p:nvPr/>
        </p:nvSpPr>
        <p:spPr>
          <a:xfrm>
            <a:off x="7243623" y="53149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Direct-to-Allergy Clinics, Hospital Procurement</a:t>
            </a:r>
          </a:p>
        </p:txBody>
      </p:sp>
      <p:sp>
        <p:nvSpPr>
          <p:cNvPr id="134" name="TextBox 133"/>
          <p:cNvSpPr txBox="1"/>
          <p:nvPr/>
        </p:nvSpPr>
        <p:spPr>
          <a:xfrm>
            <a:off x="8804182" y="53149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5" name="TextBox 134"/>
          <p:cNvSpPr txBox="1"/>
          <p:nvPr/>
        </p:nvSpPr>
        <p:spPr>
          <a:xfrm>
            <a:off x="10440941" y="53149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136" name="Connector 135"/>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Oval 136"/>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9" name="Oval 138"/>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42" name="Oval 141"/>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45" name="Oval 144"/>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7" name="TextBox 146"/>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8" name="TextBox 147"/>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49" name="TextBox 1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0" name="Picture 149" descr="lock.png"/>
          <p:cNvPicPr>
            <a:picLocks noChangeAspect="1"/>
          </p:cNvPicPr>
          <p:nvPr/>
        </p:nvPicPr>
        <p:blipFill>
          <a:blip r:embed="rId4"/>
          <a:stretch>
            <a:fillRect/>
          </a:stretch>
        </p:blipFill>
        <p:spPr>
          <a:xfrm>
            <a:off x="9539162" y="23067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539162" y="2649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539162" y="2992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9539162" y="33354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539162"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9539162" y="40212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539162" y="4364101"/>
            <a:ext cx="128699" cy="187198"/>
          </a:xfrm>
          <a:prstGeom prst="rect">
            <a:avLst/>
          </a:prstGeom>
        </p:spPr>
      </p:pic>
      <p:pic>
        <p:nvPicPr>
          <p:cNvPr id="157" name="Picture 156" descr="lock.png"/>
          <p:cNvPicPr>
            <a:picLocks noChangeAspect="1"/>
          </p:cNvPicPr>
          <p:nvPr/>
        </p:nvPicPr>
        <p:blipFill>
          <a:blip r:embed="rId4"/>
          <a:stretch>
            <a:fillRect/>
          </a:stretch>
        </p:blipFill>
        <p:spPr>
          <a:xfrm>
            <a:off x="9539162" y="47070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539162" y="5049901"/>
            <a:ext cx="128699" cy="187198"/>
          </a:xfrm>
          <a:prstGeom prst="rect">
            <a:avLst/>
          </a:prstGeom>
        </p:spPr>
      </p:pic>
      <p:pic>
        <p:nvPicPr>
          <p:cNvPr id="159" name="Picture 158" descr="lock.png"/>
          <p:cNvPicPr>
            <a:picLocks noChangeAspect="1"/>
          </p:cNvPicPr>
          <p:nvPr/>
        </p:nvPicPr>
        <p:blipFill>
          <a:blip r:embed="rId4"/>
          <a:stretch>
            <a:fillRect/>
          </a:stretch>
        </p:blipFill>
        <p:spPr>
          <a:xfrm>
            <a:off x="9539162" y="5392801"/>
            <a:ext cx="128699" cy="187198"/>
          </a:xfrm>
          <a:prstGeom prst="rect">
            <a:avLst/>
          </a:prstGeom>
        </p:spPr>
      </p:pic>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Execution Scorecard: How They Win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12" name="TextBox 11"/>
          <p:cNvSpPr txBox="1"/>
          <p:nvPr/>
        </p:nvSpPr>
        <p:spPr>
          <a:xfrm>
            <a:off x="2980533" y="1295400"/>
            <a:ext cx="152245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3" name="TextBox 12"/>
          <p:cNvSpPr txBox="1"/>
          <p:nvPr/>
        </p:nvSpPr>
        <p:spPr>
          <a:xfrm>
            <a:off x="2980533" y="1657350"/>
            <a:ext cx="152245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4" name="TextBox 13"/>
          <p:cNvSpPr txBox="1"/>
          <p:nvPr/>
        </p:nvSpPr>
        <p:spPr>
          <a:xfrm>
            <a:off x="4579192" y="1295400"/>
            <a:ext cx="152245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5" name="TextBox 14"/>
          <p:cNvSpPr txBox="1"/>
          <p:nvPr/>
        </p:nvSpPr>
        <p:spPr>
          <a:xfrm>
            <a:off x="4579192" y="1657350"/>
            <a:ext cx="152245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6" name="TextBox 15"/>
          <p:cNvSpPr txBox="1"/>
          <p:nvPr/>
        </p:nvSpPr>
        <p:spPr>
          <a:xfrm>
            <a:off x="6177851" y="1295400"/>
            <a:ext cx="125601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7" name="TextBox 16"/>
          <p:cNvSpPr txBox="1"/>
          <p:nvPr/>
        </p:nvSpPr>
        <p:spPr>
          <a:xfrm>
            <a:off x="6177851" y="1657350"/>
            <a:ext cx="125601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8" name="TextBox 17"/>
          <p:cNvSpPr txBox="1"/>
          <p:nvPr/>
        </p:nvSpPr>
        <p:spPr>
          <a:xfrm>
            <a:off x="7510066" y="1295400"/>
            <a:ext cx="152245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9" name="TextBox 18"/>
          <p:cNvSpPr txBox="1"/>
          <p:nvPr/>
        </p:nvSpPr>
        <p:spPr>
          <a:xfrm>
            <a:off x="7510066" y="1657350"/>
            <a:ext cx="152245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20" name="TextBox 19"/>
          <p:cNvSpPr txBox="1"/>
          <p:nvPr/>
        </p:nvSpPr>
        <p:spPr>
          <a:xfrm>
            <a:off x="9108725" y="1295400"/>
            <a:ext cx="152245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21" name="TextBox 20"/>
          <p:cNvSpPr txBox="1"/>
          <p:nvPr/>
        </p:nvSpPr>
        <p:spPr>
          <a:xfrm>
            <a:off x="9108725" y="1657350"/>
            <a:ext cx="152245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22" name="TextBox 21"/>
          <p:cNvSpPr txBox="1"/>
          <p:nvPr/>
        </p:nvSpPr>
        <p:spPr>
          <a:xfrm>
            <a:off x="10707384" y="1295400"/>
            <a:ext cx="125601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3" name="TextBox 22"/>
          <p:cNvSpPr txBox="1"/>
          <p:nvPr/>
        </p:nvSpPr>
        <p:spPr>
          <a:xfrm>
            <a:off x="10707384" y="1657350"/>
            <a:ext cx="125601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ALK-Abelló A/S</a:t>
            </a:r>
          </a:p>
        </p:txBody>
      </p:sp>
      <p:sp>
        <p:nvSpPr>
          <p:cNvPr id="27" name="TextBox 26"/>
          <p:cNvSpPr txBox="1"/>
          <p:nvPr/>
        </p:nvSpPr>
        <p:spPr>
          <a:xfrm>
            <a:off x="285750" y="24098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TextBox 27"/>
          <p:cNvSpPr txBox="1"/>
          <p:nvPr/>
        </p:nvSpPr>
        <p:spPr>
          <a:xfrm>
            <a:off x="2980533" y="22288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9" name="TextBox 28"/>
          <p:cNvSpPr txBox="1"/>
          <p:nvPr/>
        </p:nvSpPr>
        <p:spPr>
          <a:xfrm>
            <a:off x="4541092" y="22288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6729658"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71966" y="22288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2" name="TextBox 31"/>
          <p:cNvSpPr txBox="1"/>
          <p:nvPr/>
        </p:nvSpPr>
        <p:spPr>
          <a:xfrm>
            <a:off x="9070625" y="22288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Oval 32"/>
          <p:cNvSpPr/>
          <p:nvPr/>
        </p:nvSpPr>
        <p:spPr>
          <a:xfrm>
            <a:off x="11259192"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5908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Stallergenes Greer International AG</a:t>
            </a:r>
          </a:p>
        </p:txBody>
      </p:sp>
      <p:sp>
        <p:nvSpPr>
          <p:cNvPr id="37" name="TextBox 36"/>
          <p:cNvSpPr txBox="1"/>
          <p:nvPr/>
        </p:nvSpPr>
        <p:spPr>
          <a:xfrm>
            <a:off x="285750" y="27527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8" name="TextBox 37"/>
          <p:cNvSpPr txBox="1"/>
          <p:nvPr/>
        </p:nvSpPr>
        <p:spPr>
          <a:xfrm>
            <a:off x="2980533" y="25717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9" name="TextBox 38"/>
          <p:cNvSpPr txBox="1"/>
          <p:nvPr/>
        </p:nvSpPr>
        <p:spPr>
          <a:xfrm>
            <a:off x="4541092" y="25717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672965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10066" y="25717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42" name="TextBox 41"/>
          <p:cNvSpPr txBox="1"/>
          <p:nvPr/>
        </p:nvSpPr>
        <p:spPr>
          <a:xfrm>
            <a:off x="9070625" y="25717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3" name="Oval 42"/>
          <p:cNvSpPr/>
          <p:nvPr/>
        </p:nvSpPr>
        <p:spPr>
          <a:xfrm>
            <a:off x="11259192"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5750" y="29337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Allergy Therapeutics plc</a:t>
            </a:r>
          </a:p>
        </p:txBody>
      </p:sp>
      <p:sp>
        <p:nvSpPr>
          <p:cNvPr id="47" name="TextBox 46"/>
          <p:cNvSpPr txBox="1"/>
          <p:nvPr/>
        </p:nvSpPr>
        <p:spPr>
          <a:xfrm>
            <a:off x="285750" y="30956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8" name="TextBox 47"/>
          <p:cNvSpPr txBox="1"/>
          <p:nvPr/>
        </p:nvSpPr>
        <p:spPr>
          <a:xfrm>
            <a:off x="2980533" y="29146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9" name="TextBox 48"/>
          <p:cNvSpPr txBox="1"/>
          <p:nvPr/>
        </p:nvSpPr>
        <p:spPr>
          <a:xfrm>
            <a:off x="4541092" y="29146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6729658"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71966" y="29146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2" name="TextBox 51"/>
          <p:cNvSpPr txBox="1"/>
          <p:nvPr/>
        </p:nvSpPr>
        <p:spPr>
          <a:xfrm>
            <a:off x="9070625" y="29146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3" name="Oval 52"/>
          <p:cNvSpPr/>
          <p:nvPr/>
        </p:nvSpPr>
        <p:spPr>
          <a:xfrm>
            <a:off x="11259192"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5750" y="32766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HAL Allergy Group</a:t>
            </a:r>
          </a:p>
        </p:txBody>
      </p:sp>
      <p:sp>
        <p:nvSpPr>
          <p:cNvPr id="57" name="TextBox 56"/>
          <p:cNvSpPr txBox="1"/>
          <p:nvPr/>
        </p:nvSpPr>
        <p:spPr>
          <a:xfrm>
            <a:off x="285750" y="34385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8" name="TextBox 57"/>
          <p:cNvSpPr txBox="1"/>
          <p:nvPr/>
        </p:nvSpPr>
        <p:spPr>
          <a:xfrm>
            <a:off x="2980533" y="32575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9" name="TextBox 58"/>
          <p:cNvSpPr txBox="1"/>
          <p:nvPr/>
        </p:nvSpPr>
        <p:spPr>
          <a:xfrm>
            <a:off x="4541092" y="32575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672965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510066" y="32575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62" name="TextBox 61"/>
          <p:cNvSpPr txBox="1"/>
          <p:nvPr/>
        </p:nvSpPr>
        <p:spPr>
          <a:xfrm>
            <a:off x="9070625" y="32575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3" name="Oval 62"/>
          <p:cNvSpPr/>
          <p:nvPr/>
        </p:nvSpPr>
        <p:spPr>
          <a:xfrm>
            <a:off x="11259192"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5750" y="36195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LETI Pharma / Laboratorios LETI, S.L.U.</a:t>
            </a:r>
          </a:p>
        </p:txBody>
      </p:sp>
      <p:sp>
        <p:nvSpPr>
          <p:cNvPr id="67" name="TextBox 66"/>
          <p:cNvSpPr txBox="1"/>
          <p:nvPr/>
        </p:nvSpPr>
        <p:spPr>
          <a:xfrm>
            <a:off x="285750" y="37814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8" name="TextBox 67"/>
          <p:cNvSpPr txBox="1"/>
          <p:nvPr/>
        </p:nvSpPr>
        <p:spPr>
          <a:xfrm>
            <a:off x="2980533" y="36004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9" name="TextBox 68"/>
          <p:cNvSpPr txBox="1"/>
          <p:nvPr/>
        </p:nvSpPr>
        <p:spPr>
          <a:xfrm>
            <a:off x="4541092" y="36004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6729658"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71966" y="36004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2" name="TextBox 71"/>
          <p:cNvSpPr txBox="1"/>
          <p:nvPr/>
        </p:nvSpPr>
        <p:spPr>
          <a:xfrm>
            <a:off x="9070625" y="36004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3" name="Oval 72"/>
          <p:cNvSpPr/>
          <p:nvPr/>
        </p:nvSpPr>
        <p:spPr>
          <a:xfrm>
            <a:off x="11259192"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133475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5750" y="39624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Jubilant HollisterStier LLC</a:t>
            </a:r>
          </a:p>
        </p:txBody>
      </p:sp>
      <p:sp>
        <p:nvSpPr>
          <p:cNvPr id="78" name="TextBox 77"/>
          <p:cNvSpPr txBox="1"/>
          <p:nvPr/>
        </p:nvSpPr>
        <p:spPr>
          <a:xfrm>
            <a:off x="285750" y="41243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9" name="TextBox 78"/>
          <p:cNvSpPr txBox="1"/>
          <p:nvPr/>
        </p:nvSpPr>
        <p:spPr>
          <a:xfrm>
            <a:off x="2980533" y="39433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80" name="TextBox 79"/>
          <p:cNvSpPr txBox="1"/>
          <p:nvPr/>
        </p:nvSpPr>
        <p:spPr>
          <a:xfrm>
            <a:off x="4541092" y="39433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6729658"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510066" y="39433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3" name="TextBox 82"/>
          <p:cNvSpPr txBox="1"/>
          <p:nvPr/>
        </p:nvSpPr>
        <p:spPr>
          <a:xfrm>
            <a:off x="9070625" y="39433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Oval 83"/>
          <p:cNvSpPr/>
          <p:nvPr/>
        </p:nvSpPr>
        <p:spPr>
          <a:xfrm>
            <a:off x="11259192"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33475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43053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Inmunotek S.L.</a:t>
            </a:r>
          </a:p>
        </p:txBody>
      </p:sp>
      <p:sp>
        <p:nvSpPr>
          <p:cNvPr id="89" name="TextBox 88"/>
          <p:cNvSpPr txBox="1"/>
          <p:nvPr/>
        </p:nvSpPr>
        <p:spPr>
          <a:xfrm>
            <a:off x="285750" y="44672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0" name="TextBox 89"/>
          <p:cNvSpPr txBox="1"/>
          <p:nvPr/>
        </p:nvSpPr>
        <p:spPr>
          <a:xfrm>
            <a:off x="2980533" y="42862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1" name="TextBox 90"/>
          <p:cNvSpPr txBox="1"/>
          <p:nvPr/>
        </p:nvSpPr>
        <p:spPr>
          <a:xfrm>
            <a:off x="4541092" y="42862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6729658"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471966" y="42862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9070625" y="42862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5" name="Oval 94"/>
          <p:cNvSpPr/>
          <p:nvPr/>
        </p:nvSpPr>
        <p:spPr>
          <a:xfrm>
            <a:off x="11259192"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11334750"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Connector 9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46482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DIATER Laboratories</a:t>
            </a:r>
          </a:p>
        </p:txBody>
      </p:sp>
      <p:sp>
        <p:nvSpPr>
          <p:cNvPr id="100" name="TextBox 99"/>
          <p:cNvSpPr txBox="1"/>
          <p:nvPr/>
        </p:nvSpPr>
        <p:spPr>
          <a:xfrm>
            <a:off x="285750" y="48101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1" name="TextBox 100"/>
          <p:cNvSpPr txBox="1"/>
          <p:nvPr/>
        </p:nvSpPr>
        <p:spPr>
          <a:xfrm>
            <a:off x="2980533" y="46291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02" name="TextBox 101"/>
          <p:cNvSpPr txBox="1"/>
          <p:nvPr/>
        </p:nvSpPr>
        <p:spPr>
          <a:xfrm>
            <a:off x="4541092" y="46291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6729658"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510066" y="46291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5" name="TextBox 104"/>
          <p:cNvSpPr txBox="1"/>
          <p:nvPr/>
        </p:nvSpPr>
        <p:spPr>
          <a:xfrm>
            <a:off x="9070625" y="46291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6" name="Oval 105"/>
          <p:cNvSpPr/>
          <p:nvPr/>
        </p:nvSpPr>
        <p:spPr>
          <a:xfrm>
            <a:off x="11259192"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1334750"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Connector 107"/>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5750" y="49911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Torii Pharmaceutical Co., Ltd.</a:t>
            </a:r>
          </a:p>
        </p:txBody>
      </p:sp>
      <p:sp>
        <p:nvSpPr>
          <p:cNvPr id="111" name="TextBox 110"/>
          <p:cNvSpPr txBox="1"/>
          <p:nvPr/>
        </p:nvSpPr>
        <p:spPr>
          <a:xfrm>
            <a:off x="285750" y="51530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2" name="TextBox 111"/>
          <p:cNvSpPr txBox="1"/>
          <p:nvPr/>
        </p:nvSpPr>
        <p:spPr>
          <a:xfrm>
            <a:off x="2980533" y="49720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13" name="TextBox 112"/>
          <p:cNvSpPr txBox="1"/>
          <p:nvPr/>
        </p:nvSpPr>
        <p:spPr>
          <a:xfrm>
            <a:off x="4541092" y="49720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4" name="Oval 113"/>
          <p:cNvSpPr/>
          <p:nvPr/>
        </p:nvSpPr>
        <p:spPr>
          <a:xfrm>
            <a:off x="6729658"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471966" y="49720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9070625" y="49720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7" name="Oval 116"/>
          <p:cNvSpPr/>
          <p:nvPr/>
        </p:nvSpPr>
        <p:spPr>
          <a:xfrm>
            <a:off x="11259192"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1334750"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0" name="Rectangle 11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85750" y="5334000"/>
            <a:ext cx="2637633" cy="171450"/>
          </a:xfrm>
          <a:prstGeom prst="rect">
            <a:avLst/>
          </a:prstGeom>
          <a:noFill/>
        </p:spPr>
        <p:txBody>
          <a:bodyPr wrap="square" lIns="28575" rIns="28575" tIns="9525" bIns="9525" anchor="t">
            <a:spAutoFit/>
          </a:bodyPr>
          <a:lstStyle/>
          <a:p>
            <a:pPr algn="l"/>
            <a:r>
              <a:rPr sz="1100" b="1">
                <a:solidFill>
                  <a:srgbClr val="1F2933"/>
                </a:solidFill>
                <a:latin typeface="Calibri"/>
              </a:rPr>
              <a:t>Allergopharma GmbH &amp; Co. KG</a:t>
            </a:r>
          </a:p>
        </p:txBody>
      </p:sp>
      <p:sp>
        <p:nvSpPr>
          <p:cNvPr id="122" name="TextBox 121"/>
          <p:cNvSpPr txBox="1"/>
          <p:nvPr/>
        </p:nvSpPr>
        <p:spPr>
          <a:xfrm>
            <a:off x="285750" y="5495925"/>
            <a:ext cx="2637633"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3" name="TextBox 122"/>
          <p:cNvSpPr txBox="1"/>
          <p:nvPr/>
        </p:nvSpPr>
        <p:spPr>
          <a:xfrm>
            <a:off x="2980533" y="53149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24" name="TextBox 123"/>
          <p:cNvSpPr txBox="1"/>
          <p:nvPr/>
        </p:nvSpPr>
        <p:spPr>
          <a:xfrm>
            <a:off x="4541092" y="53149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5" name="Oval 124"/>
          <p:cNvSpPr/>
          <p:nvPr/>
        </p:nvSpPr>
        <p:spPr>
          <a:xfrm>
            <a:off x="6729658"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510066" y="5314950"/>
            <a:ext cx="152245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27" name="TextBox 126"/>
          <p:cNvSpPr txBox="1"/>
          <p:nvPr/>
        </p:nvSpPr>
        <p:spPr>
          <a:xfrm>
            <a:off x="9070625" y="5314950"/>
            <a:ext cx="159865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8" name="Oval 127"/>
          <p:cNvSpPr/>
          <p:nvPr/>
        </p:nvSpPr>
        <p:spPr>
          <a:xfrm>
            <a:off x="11259192"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11334750"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0" name="Connector 129"/>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1" name="Oval 130"/>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3" name="Oval 132"/>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6" name="Oval 135"/>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9" name="Oval 138"/>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1" name="TextBox 140"/>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2" name="TextBox 141"/>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43" name="TextBox 1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4" name="Picture 143" descr="lock.png"/>
          <p:cNvPicPr>
            <a:picLocks noChangeAspect="1"/>
          </p:cNvPicPr>
          <p:nvPr/>
        </p:nvPicPr>
        <p:blipFill>
          <a:blip r:embed="rId4"/>
          <a:stretch>
            <a:fillRect/>
          </a:stretch>
        </p:blipFill>
        <p:spPr>
          <a:xfrm>
            <a:off x="5276072"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8206946" y="23067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805605" y="2306701"/>
            <a:ext cx="128699" cy="187198"/>
          </a:xfrm>
          <a:prstGeom prst="rect">
            <a:avLst/>
          </a:prstGeom>
        </p:spPr>
      </p:pic>
      <p:pic>
        <p:nvPicPr>
          <p:cNvPr id="147" name="Picture 146" descr="lock.png"/>
          <p:cNvPicPr>
            <a:picLocks noChangeAspect="1"/>
          </p:cNvPicPr>
          <p:nvPr/>
        </p:nvPicPr>
        <p:blipFill>
          <a:blip r:embed="rId4"/>
          <a:stretch>
            <a:fillRect/>
          </a:stretch>
        </p:blipFill>
        <p:spPr>
          <a:xfrm>
            <a:off x="5276072" y="2649601"/>
            <a:ext cx="128699" cy="187198"/>
          </a:xfrm>
          <a:prstGeom prst="rect">
            <a:avLst/>
          </a:prstGeom>
        </p:spPr>
      </p:pic>
      <p:pic>
        <p:nvPicPr>
          <p:cNvPr id="148" name="Picture 147" descr="lock.png"/>
          <p:cNvPicPr>
            <a:picLocks noChangeAspect="1"/>
          </p:cNvPicPr>
          <p:nvPr/>
        </p:nvPicPr>
        <p:blipFill>
          <a:blip r:embed="rId4"/>
          <a:stretch>
            <a:fillRect/>
          </a:stretch>
        </p:blipFill>
        <p:spPr>
          <a:xfrm>
            <a:off x="9805605" y="2649601"/>
            <a:ext cx="128699" cy="187198"/>
          </a:xfrm>
          <a:prstGeom prst="rect">
            <a:avLst/>
          </a:prstGeom>
        </p:spPr>
      </p:pic>
      <p:pic>
        <p:nvPicPr>
          <p:cNvPr id="149" name="Picture 148" descr="lock.png"/>
          <p:cNvPicPr>
            <a:picLocks noChangeAspect="1"/>
          </p:cNvPicPr>
          <p:nvPr/>
        </p:nvPicPr>
        <p:blipFill>
          <a:blip r:embed="rId4"/>
          <a:stretch>
            <a:fillRect/>
          </a:stretch>
        </p:blipFill>
        <p:spPr>
          <a:xfrm>
            <a:off x="5276072"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8206946" y="29925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805605" y="2992501"/>
            <a:ext cx="128699" cy="187198"/>
          </a:xfrm>
          <a:prstGeom prst="rect">
            <a:avLst/>
          </a:prstGeom>
        </p:spPr>
      </p:pic>
      <p:pic>
        <p:nvPicPr>
          <p:cNvPr id="152" name="Picture 151" descr="lock.png"/>
          <p:cNvPicPr>
            <a:picLocks noChangeAspect="1"/>
          </p:cNvPicPr>
          <p:nvPr/>
        </p:nvPicPr>
        <p:blipFill>
          <a:blip r:embed="rId4"/>
          <a:stretch>
            <a:fillRect/>
          </a:stretch>
        </p:blipFill>
        <p:spPr>
          <a:xfrm>
            <a:off x="5276072" y="3335401"/>
            <a:ext cx="128699" cy="187198"/>
          </a:xfrm>
          <a:prstGeom prst="rect">
            <a:avLst/>
          </a:prstGeom>
        </p:spPr>
      </p:pic>
      <p:pic>
        <p:nvPicPr>
          <p:cNvPr id="153" name="Picture 152" descr="lock.png"/>
          <p:cNvPicPr>
            <a:picLocks noChangeAspect="1"/>
          </p:cNvPicPr>
          <p:nvPr/>
        </p:nvPicPr>
        <p:blipFill>
          <a:blip r:embed="rId4"/>
          <a:stretch>
            <a:fillRect/>
          </a:stretch>
        </p:blipFill>
        <p:spPr>
          <a:xfrm>
            <a:off x="9805605" y="3335401"/>
            <a:ext cx="128699" cy="187198"/>
          </a:xfrm>
          <a:prstGeom prst="rect">
            <a:avLst/>
          </a:prstGeom>
        </p:spPr>
      </p:pic>
      <p:pic>
        <p:nvPicPr>
          <p:cNvPr id="154" name="Picture 153" descr="lock.png"/>
          <p:cNvPicPr>
            <a:picLocks noChangeAspect="1"/>
          </p:cNvPicPr>
          <p:nvPr/>
        </p:nvPicPr>
        <p:blipFill>
          <a:blip r:embed="rId4"/>
          <a:stretch>
            <a:fillRect/>
          </a:stretch>
        </p:blipFill>
        <p:spPr>
          <a:xfrm>
            <a:off x="5276072"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8206946" y="36783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805605"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5276072" y="40212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805605"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5276072"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8206946"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805605"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5276072"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9805605"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5276072"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8206946"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805605"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5276072" y="53928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805605" y="5392801"/>
            <a:ext cx="128699" cy="187198"/>
          </a:xfrm>
          <a:prstGeom prst="rect">
            <a:avLst/>
          </a:prstGeom>
        </p:spPr>
      </p:pic>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Success Factors and Composite Ranking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10" name="TextBox 9"/>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11" name="TextBox 10"/>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3" name="TextBox 12"/>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4" name="TextBox 13"/>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6" name="TextBox 15"/>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7" name="TextBox 16"/>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9" name="TextBox 18"/>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20" name="TextBox 19"/>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22" name="TextBox 21"/>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3" name="TextBox 22"/>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4" name="TextBox 23"/>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5" name="TextBox 24"/>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6" name="TextBox 25"/>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7" name="Connector 26"/>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ALK-Abelló A/S</a:t>
            </a:r>
          </a:p>
        </p:txBody>
      </p:sp>
      <p:sp>
        <p:nvSpPr>
          <p:cNvPr id="30" name="Oval 29"/>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20025" y="1885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7896225" y="1885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420350" y="18954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54430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8" name="Connector 37"/>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Stallergenes Greer International AG</a:t>
            </a:r>
          </a:p>
        </p:txBody>
      </p:sp>
      <p:sp>
        <p:nvSpPr>
          <p:cNvPr id="41" name="Oval 40"/>
          <p:cNvSpPr/>
          <p:nvPr/>
        </p:nvSpPr>
        <p:spPr>
          <a:xfrm>
            <a:off x="284797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92417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8200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420350" y="22002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48715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49" name="Connector 48"/>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HAL Allergy Group</a:t>
            </a:r>
          </a:p>
        </p:txBody>
      </p:sp>
      <p:sp>
        <p:nvSpPr>
          <p:cNvPr id="52" name="Oval 51"/>
          <p:cNvSpPr/>
          <p:nvPr/>
        </p:nvSpPr>
        <p:spPr>
          <a:xfrm>
            <a:off x="284797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292417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8200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420350" y="25050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48715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60" name="Connector 59"/>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Allergy Therapeutics plc</a:t>
            </a:r>
          </a:p>
        </p:txBody>
      </p:sp>
      <p:sp>
        <p:nvSpPr>
          <p:cNvPr id="63" name="Oval 62"/>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782002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789622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0420350" y="2809875"/>
            <a:ext cx="9715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43000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72" name="Connector 71"/>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Jubilant HollisterStier LLC</a:t>
            </a:r>
          </a:p>
        </p:txBody>
      </p:sp>
      <p:sp>
        <p:nvSpPr>
          <p:cNvPr id="75" name="Oval 74"/>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5" name="Connector 84"/>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6" name="Rectangle 85"/>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LETI Pharma / Laboratorios LETI, S.L.U.</a:t>
            </a:r>
          </a:p>
        </p:txBody>
      </p:sp>
      <p:sp>
        <p:nvSpPr>
          <p:cNvPr id="88" name="Oval 87"/>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reeform 94"/>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9" name="Connector 98"/>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0" name="Rectangle 99"/>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DIATER Laboratories</a:t>
            </a:r>
          </a:p>
        </p:txBody>
      </p:sp>
      <p:sp>
        <p:nvSpPr>
          <p:cNvPr id="102" name="Oval 101"/>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12" name="Connector 111"/>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3" name="Rectangle 112"/>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Allergopharma GmbH &amp; Co. KG</a:t>
            </a:r>
          </a:p>
        </p:txBody>
      </p:sp>
      <p:sp>
        <p:nvSpPr>
          <p:cNvPr id="115" name="Oval 114"/>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82002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0420350" y="40290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118235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5" name="Connector 124"/>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Inmunotek S.L.</a:t>
            </a:r>
          </a:p>
        </p:txBody>
      </p:sp>
      <p:sp>
        <p:nvSpPr>
          <p:cNvPr id="128" name="Oval 127"/>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292417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Freeform 132"/>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Freeform 134"/>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420350" y="43338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125200" y="4248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39" name="Connector 138"/>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0" name="Rectangle 139"/>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Torii Pharmaceutical Co., Ltd.</a:t>
            </a:r>
          </a:p>
        </p:txBody>
      </p:sp>
      <p:sp>
        <p:nvSpPr>
          <p:cNvPr id="142" name="Oval 141"/>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292417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10420350" y="46386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1125200" y="4552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53" name="Connector 152"/>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4" name="Oval 153"/>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56" name="Oval 155"/>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Freeform 156"/>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59" name="Oval 158"/>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Freeform 159"/>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62" name="Oval 161"/>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64" name="TextBox 163"/>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65" name="Rectangle 164"/>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67" name="TextBox 166"/>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ALK-Abelló A/S, Stallergenes Greer International AG, HAL Allergy Group, Allergy Therapeutics plc</a:t>
            </a:r>
          </a:p>
        </p:txBody>
      </p:sp>
      <p:sp>
        <p:nvSpPr>
          <p:cNvPr id="168" name="TextBox 167"/>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segment breadth.</a:t>
            </a:r>
          </a:p>
        </p:txBody>
      </p:sp>
      <p:sp>
        <p:nvSpPr>
          <p:cNvPr id="169" name="Rectangle 168"/>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71" name="TextBox 170"/>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Jubilant HollisterStier LLC, LETI Pharma / Laboratorios LETI, S.L.U.</a:t>
            </a:r>
          </a:p>
        </p:txBody>
      </p:sp>
      <p:sp>
        <p:nvSpPr>
          <p:cNvPr id="172" name="TextBox 171"/>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73" name="Rectangle 172"/>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75" name="TextBox 174"/>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DIATER Laboratories, Allergopharma GmbH &amp; Co. KG, Inmunotek S.L., Torii Pharmaceutical Co., Ltd.</a:t>
            </a:r>
          </a:p>
        </p:txBody>
      </p:sp>
      <p:sp>
        <p:nvSpPr>
          <p:cNvPr id="176" name="TextBox 175"/>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77" name="TextBox 17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8" name="Picture 177" descr="lock.png"/>
          <p:cNvPicPr>
            <a:picLocks noChangeAspect="1"/>
          </p:cNvPicPr>
          <p:nvPr/>
        </p:nvPicPr>
        <p:blipFill>
          <a:blip r:embed="rId4"/>
          <a:stretch>
            <a:fillRect/>
          </a:stretch>
        </p:blipFill>
        <p:spPr>
          <a:xfrm>
            <a:off x="11689500" y="18685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632350" y="21733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632350" y="24781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575200" y="27829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479950" y="30877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422800" y="3392551"/>
            <a:ext cx="128699" cy="187198"/>
          </a:xfrm>
          <a:prstGeom prst="rect">
            <a:avLst/>
          </a:prstGeom>
        </p:spPr>
      </p:pic>
      <p:pic>
        <p:nvPicPr>
          <p:cNvPr id="184" name="Picture 183" descr="lock.png"/>
          <p:cNvPicPr>
            <a:picLocks noChangeAspect="1"/>
          </p:cNvPicPr>
          <p:nvPr/>
        </p:nvPicPr>
        <p:blipFill>
          <a:blip r:embed="rId4"/>
          <a:stretch>
            <a:fillRect/>
          </a:stretch>
        </p:blipFill>
        <p:spPr>
          <a:xfrm>
            <a:off x="11327550" y="3697351"/>
            <a:ext cx="128699" cy="187198"/>
          </a:xfrm>
          <a:prstGeom prst="rect">
            <a:avLst/>
          </a:prstGeom>
        </p:spPr>
      </p:pic>
      <p:pic>
        <p:nvPicPr>
          <p:cNvPr id="185" name="Picture 184" descr="lock.png"/>
          <p:cNvPicPr>
            <a:picLocks noChangeAspect="1"/>
          </p:cNvPicPr>
          <p:nvPr/>
        </p:nvPicPr>
        <p:blipFill>
          <a:blip r:embed="rId4"/>
          <a:stretch>
            <a:fillRect/>
          </a:stretch>
        </p:blipFill>
        <p:spPr>
          <a:xfrm>
            <a:off x="11327550" y="4002151"/>
            <a:ext cx="128699" cy="187198"/>
          </a:xfrm>
          <a:prstGeom prst="rect">
            <a:avLst/>
          </a:prstGeom>
        </p:spPr>
      </p:pic>
      <p:pic>
        <p:nvPicPr>
          <p:cNvPr id="186" name="Picture 185" descr="lock.png"/>
          <p:cNvPicPr>
            <a:picLocks noChangeAspect="1"/>
          </p:cNvPicPr>
          <p:nvPr/>
        </p:nvPicPr>
        <p:blipFill>
          <a:blip r:embed="rId4"/>
          <a:stretch>
            <a:fillRect/>
          </a:stretch>
        </p:blipFill>
        <p:spPr>
          <a:xfrm>
            <a:off x="11270400" y="4306951"/>
            <a:ext cx="128699" cy="187198"/>
          </a:xfrm>
          <a:prstGeom prst="rect">
            <a:avLst/>
          </a:prstGeom>
        </p:spPr>
      </p:pic>
      <p:pic>
        <p:nvPicPr>
          <p:cNvPr id="187" name="Picture 186" descr="lock.png"/>
          <p:cNvPicPr>
            <a:picLocks noChangeAspect="1"/>
          </p:cNvPicPr>
          <p:nvPr/>
        </p:nvPicPr>
        <p:blipFill>
          <a:blip r:embed="rId4"/>
          <a:stretch>
            <a:fillRect/>
          </a:stretch>
        </p:blipFill>
        <p:spPr>
          <a:xfrm>
            <a:off x="11270400" y="4611751"/>
            <a:ext cx="128699" cy="187198"/>
          </a:xfrm>
          <a:prstGeom prst="rect">
            <a:avLst/>
          </a:prstGeom>
        </p:spPr>
      </p:pic>
      <p:sp>
        <p:nvSpPr>
          <p:cNvPr id="188" name="TextBox 187"/>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9" name="Picture 188" descr="lock.png"/>
          <p:cNvPicPr>
            <a:picLocks noChangeAspect="1"/>
          </p:cNvPicPr>
          <p:nvPr/>
        </p:nvPicPr>
        <p:blipFill>
          <a:blip r:embed="rId4"/>
          <a:stretch>
            <a:fillRect/>
          </a:stretch>
        </p:blipFill>
        <p:spPr>
          <a:xfrm>
            <a:off x="2482959" y="1212159"/>
            <a:ext cx="92663" cy="134782"/>
          </a:xfrm>
          <a:prstGeom prst="rect">
            <a:avLst/>
          </a:prstGeom>
        </p:spPr>
      </p:pic>
      <p:sp>
        <p:nvSpPr>
          <p:cNvPr id="190" name="TextBox 189"/>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1" name="Picture 190" descr="lock.png"/>
          <p:cNvPicPr>
            <a:picLocks noChangeAspect="1"/>
          </p:cNvPicPr>
          <p:nvPr/>
        </p:nvPicPr>
        <p:blipFill>
          <a:blip r:embed="rId4"/>
          <a:stretch>
            <a:fillRect/>
          </a:stretch>
        </p:blipFill>
        <p:spPr>
          <a:xfrm>
            <a:off x="4140309" y="1212159"/>
            <a:ext cx="92663" cy="134782"/>
          </a:xfrm>
          <a:prstGeom prst="rect">
            <a:avLst/>
          </a:prstGeom>
        </p:spPr>
      </p:pic>
      <p:sp>
        <p:nvSpPr>
          <p:cNvPr id="192" name="TextBox 191"/>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3" name="Picture 192" descr="lock.png"/>
          <p:cNvPicPr>
            <a:picLocks noChangeAspect="1"/>
          </p:cNvPicPr>
          <p:nvPr/>
        </p:nvPicPr>
        <p:blipFill>
          <a:blip r:embed="rId4"/>
          <a:stretch>
            <a:fillRect/>
          </a:stretch>
        </p:blipFill>
        <p:spPr>
          <a:xfrm>
            <a:off x="5797659" y="1212159"/>
            <a:ext cx="92663" cy="134782"/>
          </a:xfrm>
          <a:prstGeom prst="rect">
            <a:avLst/>
          </a:prstGeom>
        </p:spPr>
      </p:pic>
      <p:sp>
        <p:nvSpPr>
          <p:cNvPr id="194" name="TextBox 193"/>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5" name="Picture 194" descr="lock.png"/>
          <p:cNvPicPr>
            <a:picLocks noChangeAspect="1"/>
          </p:cNvPicPr>
          <p:nvPr/>
        </p:nvPicPr>
        <p:blipFill>
          <a:blip r:embed="rId4"/>
          <a:stretch>
            <a:fillRect/>
          </a:stretch>
        </p:blipFill>
        <p:spPr>
          <a:xfrm>
            <a:off x="7455009" y="1212159"/>
            <a:ext cx="92663" cy="134782"/>
          </a:xfrm>
          <a:prstGeom prst="rect">
            <a:avLst/>
          </a:prstGeom>
        </p:spPr>
      </p:pic>
      <p:sp>
        <p:nvSpPr>
          <p:cNvPr id="196" name="TextBox 195"/>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7" name="Picture 196"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Strategic Activity Tracker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10" name="TextBox 9"/>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11" name="TextBox 10"/>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12" name="TextBox 11"/>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3" name="TextBox 12"/>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4" name="TextBox 13"/>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5" name="TextBox 14"/>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6" name="TextBox 15"/>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7" name="TextBox 16"/>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8" name="Connector 17"/>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ALK-Abelló A/S</a:t>
            </a:r>
          </a:p>
        </p:txBody>
      </p:sp>
      <p:sp>
        <p:nvSpPr>
          <p:cNvPr id="21" name="TextBox 20"/>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22" name="TextBox 21"/>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3" name="Rectangle 22"/>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5" name="TextBox 24"/>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6" name="TextBox 25"/>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27" name="TextBox 26"/>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8" name="TextBox 27"/>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9" name="Connector 28"/>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Stallergenes Greer International AG</a:t>
            </a:r>
          </a:p>
        </p:txBody>
      </p:sp>
      <p:sp>
        <p:nvSpPr>
          <p:cNvPr id="32" name="TextBox 31"/>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Sublingual Immunotherapy (SLIT)</a:t>
            </a:r>
          </a:p>
        </p:txBody>
      </p:sp>
      <p:sp>
        <p:nvSpPr>
          <p:cNvPr id="33" name="TextBox 32"/>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4" name="Rectangle 33"/>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6" name="TextBox 35"/>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7" name="TextBox 36"/>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38" name="TextBox 37"/>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9" name="TextBox 38"/>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40" name="Connector 39"/>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Allergy Therapeutics plc</a:t>
            </a:r>
          </a:p>
        </p:txBody>
      </p:sp>
      <p:sp>
        <p:nvSpPr>
          <p:cNvPr id="43" name="TextBox 42"/>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44" name="TextBox 43"/>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5" name="Rectangle 44"/>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7" name="TextBox 46"/>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8" name="TextBox 47"/>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49" name="TextBox 48"/>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50" name="TextBox 49"/>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51" name="Connector 50"/>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HAL Allergy Group</a:t>
            </a:r>
          </a:p>
        </p:txBody>
      </p:sp>
      <p:sp>
        <p:nvSpPr>
          <p:cNvPr id="54" name="TextBox 53"/>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Subcutaneous Immunotherapy (SCIT)</a:t>
            </a:r>
          </a:p>
        </p:txBody>
      </p:sp>
      <p:sp>
        <p:nvSpPr>
          <p:cNvPr id="55" name="TextBox 54"/>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6" name="Rectangle 55"/>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8" name="TextBox 57"/>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9" name="TextBox 58"/>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60" name="TextBox 59"/>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61" name="TextBox 60"/>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62" name="Connector 61"/>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LETI Pharma / Laboratorios LETI, S.L.U.</a:t>
            </a:r>
          </a:p>
        </p:txBody>
      </p:sp>
      <p:sp>
        <p:nvSpPr>
          <p:cNvPr id="65" name="TextBox 64"/>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Latin America</a:t>
            </a:r>
          </a:p>
        </p:txBody>
      </p:sp>
      <p:sp>
        <p:nvSpPr>
          <p:cNvPr id="66" name="TextBox 65"/>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7" name="Rectangle 66"/>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9" name="TextBox 68"/>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70" name="TextBox 69"/>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71" name="TextBox 70"/>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72" name="TextBox 71"/>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3" name="Connector 72"/>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Jubilant HollisterStier LLC</a:t>
            </a:r>
          </a:p>
        </p:txBody>
      </p:sp>
      <p:sp>
        <p:nvSpPr>
          <p:cNvPr id="76" name="TextBox 75"/>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Sublingual Immunotherapy (SLIT)</a:t>
            </a:r>
          </a:p>
        </p:txBody>
      </p:sp>
      <p:sp>
        <p:nvSpPr>
          <p:cNvPr id="77" name="TextBox 76"/>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8" name="Rectangle 77"/>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80" name="TextBox 79"/>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81" name="TextBox 80"/>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82" name="TextBox 81"/>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3" name="TextBox 82"/>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4" name="Connector 83"/>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Inmunotek S.L.</a:t>
            </a:r>
          </a:p>
        </p:txBody>
      </p:sp>
      <p:sp>
        <p:nvSpPr>
          <p:cNvPr id="87" name="TextBox 86"/>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88" name="TextBox 87"/>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9" name="Rectangle 88"/>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91" name="TextBox 90"/>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92" name="TextBox 91"/>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93" name="TextBox 92"/>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4" name="TextBox 93"/>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5" name="Connector 94"/>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DIATER Laboratories</a:t>
            </a:r>
          </a:p>
        </p:txBody>
      </p:sp>
      <p:sp>
        <p:nvSpPr>
          <p:cNvPr id="98" name="TextBox 97"/>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Subcutaneous Immunotherapy (SCIT)</a:t>
            </a:r>
          </a:p>
        </p:txBody>
      </p:sp>
      <p:sp>
        <p:nvSpPr>
          <p:cNvPr id="99" name="TextBox 98"/>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0" name="Rectangle 99"/>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02" name="TextBox 101"/>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3" name="TextBox 102"/>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04" name="TextBox 103"/>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5" name="TextBox 104"/>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6" name="Connector 105"/>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Torii Pharmaceutical Co., Ltd.</a:t>
            </a:r>
          </a:p>
        </p:txBody>
      </p:sp>
      <p:sp>
        <p:nvSpPr>
          <p:cNvPr id="109" name="TextBox 108"/>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110" name="TextBox 109"/>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11" name="Rectangle 110"/>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13" name="TextBox 112"/>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114" name="TextBox 113"/>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15" name="TextBox 114"/>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116" name="TextBox 115"/>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117" name="Connector 116"/>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Allergopharma GmbH &amp; Co. KG</a:t>
            </a:r>
          </a:p>
        </p:txBody>
      </p:sp>
      <p:sp>
        <p:nvSpPr>
          <p:cNvPr id="120" name="TextBox 119"/>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Sublingual Immunotherapy (SLIT)</a:t>
            </a:r>
          </a:p>
        </p:txBody>
      </p:sp>
      <p:sp>
        <p:nvSpPr>
          <p:cNvPr id="121" name="TextBox 120"/>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22" name="Rectangle 121"/>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24" name="TextBox 123"/>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25" name="TextBox 124"/>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26" name="TextBox 125"/>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27" name="TextBox 126"/>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28" name="Connector 127"/>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9" name="Rectangle 128"/>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31" name="TextBox 130"/>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32" name="Rectangle 131"/>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34" name="TextBox 133"/>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35" name="Rectangle 134"/>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37" name="TextBox 136"/>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38" name="Rectangle 137"/>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40" name="TextBox 139"/>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41" name="Rectangle 140"/>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43" name="TextBox 142"/>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44" name="Rectangle 143"/>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46" name="TextBox 145"/>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47" name="TextBox 146"/>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48" name="TextBox 1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9" name="Picture 148" descr="lock.png"/>
          <p:cNvPicPr>
            <a:picLocks noChangeAspect="1"/>
          </p:cNvPicPr>
          <p:nvPr/>
        </p:nvPicPr>
        <p:blipFill>
          <a:blip r:embed="rId4"/>
          <a:stretch>
            <a:fillRect/>
          </a:stretch>
        </p:blipFill>
        <p:spPr>
          <a:xfrm>
            <a:off x="4126650" y="12780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17733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2268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27639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32592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3754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42498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47451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126650" y="5240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Strategic Activity by Function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10" name="Rectangle 9"/>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ALK-Abelló A/S</a:t>
            </a:r>
          </a:p>
        </p:txBody>
      </p:sp>
      <p:sp>
        <p:nvSpPr>
          <p:cNvPr id="12" name="Rectangle 11"/>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Stallergenes Greer International AG</a:t>
            </a:r>
          </a:p>
        </p:txBody>
      </p:sp>
      <p:sp>
        <p:nvSpPr>
          <p:cNvPr id="14" name="Rectangle 13"/>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Allergy Therapeutics plc</a:t>
            </a:r>
          </a:p>
        </p:txBody>
      </p:sp>
      <p:sp>
        <p:nvSpPr>
          <p:cNvPr id="16" name="Rectangle 15"/>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HAL Allergy Group</a:t>
            </a:r>
          </a:p>
        </p:txBody>
      </p:sp>
      <p:sp>
        <p:nvSpPr>
          <p:cNvPr id="18" name="Rectangle 17"/>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LETI Pharma / Laboratorios LETI, S.L.U.</a:t>
            </a:r>
          </a:p>
        </p:txBody>
      </p:sp>
      <p:sp>
        <p:nvSpPr>
          <p:cNvPr id="20" name="Rectangle 19"/>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Jubilant HollisterStier LLC</a:t>
            </a:r>
          </a:p>
        </p:txBody>
      </p:sp>
      <p:sp>
        <p:nvSpPr>
          <p:cNvPr id="22" name="Rectangle 21"/>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Inmunotek S.L.</a:t>
            </a:r>
          </a:p>
        </p:txBody>
      </p:sp>
      <p:sp>
        <p:nvSpPr>
          <p:cNvPr id="24" name="Rectangle 23"/>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DIATER Laboratories</a:t>
            </a:r>
          </a:p>
        </p:txBody>
      </p:sp>
      <p:sp>
        <p:nvSpPr>
          <p:cNvPr id="26" name="Rectangle 25"/>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Torii Pharmaceutical Co., Ltd.</a:t>
            </a:r>
          </a:p>
        </p:txBody>
      </p:sp>
      <p:sp>
        <p:nvSpPr>
          <p:cNvPr id="28" name="Rectangle 27"/>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Allergopharma GmbH &amp; Co. KG</a:t>
            </a:r>
          </a:p>
        </p:txBody>
      </p:sp>
      <p:sp>
        <p:nvSpPr>
          <p:cNvPr id="30" name="TextBox 29"/>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31" name="TextBox 30"/>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32" name="TextBox 31"/>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33" name="TextBox 32"/>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4" name="TextBox 33"/>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5" name="TextBox 34"/>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6" name="TextBox 35"/>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7" name="Rectangle 36"/>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9" name="Rectangle 38"/>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2" name="Rectangle 41"/>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4" name="Rectangle 43"/>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6" name="Rectangle 45"/>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8" name="Rectangle 47"/>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51" name="Rectangle 50"/>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3" name="Rectangle 52"/>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5" name="Rectangle 54"/>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8" name="Rectangle 57"/>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0" name="Rectangle 59"/>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3" name="Rectangle 62"/>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5" name="Rectangle 64"/>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7" name="Rectangle 66"/>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9" name="Rectangle 68"/>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72" name="Rectangle 71"/>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4" name="Rectangle 73"/>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6" name="Rectangle 75"/>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9" name="Rectangle 78"/>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1" name="Rectangle 80"/>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4" name="Rectangle 83"/>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6" name="Rectangle 85"/>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8" name="Rectangle 87"/>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0" name="Rectangle 89"/>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93" name="Rectangle 92"/>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5" name="Rectangle 94"/>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7" name="Rectangle 96"/>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0" name="Rectangle 99"/>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2" name="Rectangle 101"/>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5" name="Rectangle 104"/>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7" name="Rectangle 106"/>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9" name="Rectangle 108"/>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1" name="Rectangle 110"/>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4" name="Rectangle 113"/>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6" name="Rectangle 115"/>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8" name="Rectangle 117"/>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1" name="Rectangle 120"/>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3" name="Rectangle 122"/>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6" name="Rectangle 125"/>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8" name="Rectangle 127"/>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0" name="Rectangle 129"/>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2" name="Rectangle 131"/>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35" name="Rectangle 134"/>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7" name="Rectangle 136"/>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9" name="Rectangle 138"/>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42" name="TextBox 141"/>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43" name="TextBox 142"/>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44" name="TextBox 143"/>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45" name="TextBox 144"/>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46" name="TextBox 145"/>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47" name="Rectangle 146"/>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9" name="Rectangle 148"/>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1" name="Rectangle 150"/>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3" name="Rectangle 152"/>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5" name="Rectangle 154"/>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57" name="Rectangle 156"/>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0" name="Rectangle 159"/>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3" name="Rectangle 162"/>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5" name="Rectangle 164"/>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7" name="Rectangle 166"/>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9" name="Rectangle 168"/>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71" name="Rectangle 170"/>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4" name="Rectangle 173"/>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7" name="Rectangle 176"/>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9" name="Rectangle 178"/>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1" name="Rectangle 180"/>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3" name="Rectangle 182"/>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85" name="Rectangle 184"/>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8" name="Rectangle 187"/>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1" name="Rectangle 190"/>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3" name="Rectangle 192"/>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5" name="Rectangle 194"/>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7" name="Rectangle 196"/>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99" name="Rectangle 198"/>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2" name="Rectangle 201"/>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5" name="Rectangle 204"/>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7" name="Rectangle 206"/>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9" name="Rectangle 208"/>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1" name="Rectangle 210"/>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213" name="Rectangle 212"/>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6" name="Rectangle 215"/>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218" name="TextBox 217"/>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219" name="TextBox 218"/>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Europe</a:t>
            </a:r>
          </a:p>
        </p:txBody>
      </p:sp>
      <p:sp>
        <p:nvSpPr>
          <p:cNvPr id="220" name="TextBox 219"/>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221" name="TextBox 220"/>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222" name="TextBox 221"/>
          <p:cNvSpPr txBox="1"/>
          <p:nvPr/>
        </p:nvSpPr>
        <p:spPr>
          <a:xfrm>
            <a:off x="10900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223" name="TextBox 222"/>
          <p:cNvSpPr txBox="1"/>
          <p:nvPr/>
        </p:nvSpPr>
        <p:spPr>
          <a:xfrm>
            <a:off x="11451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224" name="Rectangle 223"/>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6" name="Rectangle 225"/>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8" name="Rectangle 227"/>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0" name="Rectangle 229"/>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6" name="Rectangle 235"/>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8" name="Rectangle 237"/>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0" name="Rectangle 239"/>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6" name="Rectangle 245"/>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8" name="Rectangle 247"/>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0" name="Rectangle 249"/>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6" name="Rectangle 255"/>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8" name="Rectangle 257"/>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0" name="Rectangle 259"/>
          <p:cNvSpPr/>
          <p:nvPr/>
        </p:nvSpPr>
        <p:spPr>
          <a:xfrm>
            <a:off x="8709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699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2" name="Rectangle 261"/>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67" name="Rectangle 266"/>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9" name="Rectangle 268"/>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1" name="Rectangle 270"/>
          <p:cNvSpPr/>
          <p:nvPr/>
        </p:nvSpPr>
        <p:spPr>
          <a:xfrm>
            <a:off x="9259358"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9249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3" name="Rectangle 272"/>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8" name="Rectangle 277"/>
          <p:cNvSpPr/>
          <p:nvPr/>
        </p:nvSpPr>
        <p:spPr>
          <a:xfrm>
            <a:off x="8709025" y="30956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80" name="Rectangle 279"/>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2" name="Rectangle 281"/>
          <p:cNvSpPr/>
          <p:nvPr/>
        </p:nvSpPr>
        <p:spPr>
          <a:xfrm>
            <a:off x="9809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9800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4" name="Rectangle 283"/>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8709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9259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90" name="Rectangle 289"/>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2" name="Rectangle 291"/>
          <p:cNvSpPr/>
          <p:nvPr/>
        </p:nvSpPr>
        <p:spPr>
          <a:xfrm>
            <a:off x="10360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10350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4" name="Rectangle 293"/>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9259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9809692"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00" name="Rectangle 299"/>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TextBox 300"/>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2" name="Rectangle 301"/>
          <p:cNvSpPr/>
          <p:nvPr/>
        </p:nvSpPr>
        <p:spPr>
          <a:xfrm>
            <a:off x="10910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10900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4" name="Rectangle 303"/>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9809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0360025"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10" name="Rectangle 309"/>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2" name="Rectangle 311"/>
          <p:cNvSpPr/>
          <p:nvPr/>
        </p:nvSpPr>
        <p:spPr>
          <a:xfrm>
            <a:off x="11460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11451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4" name="Rectangle 313"/>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TextBox 314"/>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316" name="Rectangle 315"/>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318" name="Rectangle 317"/>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320" name="TextBox 319"/>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321" name="Connector 320"/>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22" name="TextBox 321"/>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323" name="Rectangle 322"/>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325" name="TextBox 324"/>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10 expansion moves target new regions and volume tiers: defend key accounts where rivals expand.</a:t>
            </a:r>
          </a:p>
        </p:txBody>
      </p:sp>
      <p:sp>
        <p:nvSpPr>
          <p:cNvPr id="326" name="Rectangle 325"/>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328" name="TextBox 327"/>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329" name="Rectangle 328"/>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331" name="TextBox 330"/>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20 product and R&amp;D moves: benchmark launches and the technology roadmap.</a:t>
            </a:r>
          </a:p>
        </p:txBody>
      </p:sp>
      <p:sp>
        <p:nvSpPr>
          <p:cNvPr id="332" name="Rectangle 331"/>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334" name="TextBox 333"/>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are acquiring; the independent target list is shrinking.</a:t>
            </a:r>
          </a:p>
        </p:txBody>
      </p:sp>
      <p:sp>
        <p:nvSpPr>
          <p:cNvPr id="335" name="Rectangle 334"/>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337" name="TextBox 336"/>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338" name="Rectangle 337"/>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TextBox 338"/>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340" name="TextBox 339"/>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lean on certification; audit your own compliance position.</a:t>
            </a:r>
          </a:p>
        </p:txBody>
      </p:sp>
      <p:sp>
        <p:nvSpPr>
          <p:cNvPr id="341" name="TextBox 3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Allergy Immunotherapy Market, Global 2026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5810250" cy="400050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12" name="TextBox 11"/>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3" name="TextBox 12"/>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4" name="TextBox 13"/>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5" name="Rectangle 14"/>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7" name="TextBox 16"/>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8" name="TextBox 17"/>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ALK-Abelló A/S · Stallergenes Greer International AG · Allergy Therapeutics plc · HAL Allergy Group</a:t>
            </a:r>
          </a:p>
        </p:txBody>
      </p:sp>
      <p:sp>
        <p:nvSpPr>
          <p:cNvPr id="19" name="TextBox 18"/>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20" name="TextBox 19"/>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21" name="Rectangle 20"/>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3" name="TextBox 22"/>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4" name="TextBox 23"/>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LETI Pharma / Laboratorios LETI, S.L.U. · Jubilant HollisterStier LLC</a:t>
            </a:r>
          </a:p>
        </p:txBody>
      </p:sp>
      <p:sp>
        <p:nvSpPr>
          <p:cNvPr id="25" name="TextBox 24"/>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6" name="TextBox 25"/>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7" name="Rectangle 26"/>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9" name="TextBox 28"/>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30" name="TextBox 29"/>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Inmunotek S.L. · DIATER Laboratories · Torii Pharmaceutical Co., Ltd. · Allergopharma GmbH &amp; Co. KG</a:t>
            </a:r>
          </a:p>
        </p:txBody>
      </p:sp>
      <p:sp>
        <p:nvSpPr>
          <p:cNvPr id="31" name="TextBox 30"/>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32" name="TextBox 31"/>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3" name="Rectangle 32"/>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5" name="TextBox 34"/>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6" name="TextBox 35"/>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7" name="Rounded Rectangle 36"/>
          <p:cNvSpPr/>
          <p:nvPr/>
        </p:nvSpPr>
        <p:spPr>
          <a:xfrm>
            <a:off x="142875" y="5162550"/>
            <a:ext cx="5810250" cy="146685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9" name="Rectangle 38"/>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41" name="Rectangle 40"/>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3" name="Rectangle 42"/>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5" name="TextBox 44"/>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6" name="TextBox 45"/>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7" name="Rounded Rectangle 46"/>
          <p:cNvSpPr/>
          <p:nvPr/>
        </p:nvSpPr>
        <p:spPr>
          <a:xfrm>
            <a:off x="6096000" y="1047750"/>
            <a:ext cx="5953125" cy="400050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9" name="TextBox 48"/>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50" name="Rectangle 49"/>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52" name="Rectangle 51"/>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4" name="Rectangle 53"/>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6" name="Rectangle 55"/>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8" name="Rectangle 57"/>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60" name="Rectangle 59"/>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62" name="Rectangle 61"/>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4" name="Rectangle 63"/>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6" name="Rectangle 65"/>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8" name="Rectangle 67"/>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70" name="Rectangle 69"/>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72" name="Rectangle 71"/>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4" name="Rectangle 73"/>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6" name="Rectangle 75"/>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8" name="Rectangle 77"/>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0" name="Rectangle 79"/>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2" name="Rectangle 81"/>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4" name="Rectangle 83"/>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2,428</a:t>
            </a:r>
          </a:p>
        </p:txBody>
      </p:sp>
      <p:sp>
        <p:nvSpPr>
          <p:cNvPr id="86" name="Rectangle 85"/>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8" name="Rectangle 87"/>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9" name="TextBox 98"/>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0" name="Rectangle 99"/>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02" name="Rectangle 101"/>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4" name="Rectangle 103"/>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5" name="TextBox 114"/>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6" name="Rectangle 115"/>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8" name="Rectangle 117"/>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20" name="Rectangle 119"/>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31" name="TextBox 130"/>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2" name="Rectangle 131"/>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4" name="Rectangle 133"/>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6" name="Rectangle 135"/>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7" name="TextBox 146"/>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8" name="Rectangle 147"/>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50" name="TextBox 149"/>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51" name="Rectangle 150"/>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3" name="Rectangle 152"/>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5" name="Rectangle 154"/>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7" name="Rectangle 156"/>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9" name="Rectangle 158"/>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61" name="Rectangle 160"/>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3" name="Rectangle 162"/>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5" name="Rectangle 164"/>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6" name="TextBox 175"/>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7" name="Rectangle 176"/>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9" name="Rectangle 178"/>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81" name="Rectangle 180"/>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3" name="Rectangle 182"/>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5" name="Rectangle 184"/>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7" name="Rectangle 186"/>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9" name="Rectangle 188"/>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91" name="Rectangle 190"/>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3" name="Rectangle 192"/>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5" name="Rectangle 194"/>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7" name="Rectangle 196"/>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9" name="Rectangle 198"/>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201" name="Rectangle 200"/>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3" name="Rectangle 202"/>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5" name="Rectangle 204"/>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7" name="Rectangle 206"/>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9" name="Rectangle 208"/>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11" name="Rectangle 210"/>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3" name="Rectangle 212"/>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5" name="Rectangle 214"/>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7" name="Rectangle 216"/>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9" name="Rectangle 218"/>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21" name="Rectangle 220"/>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3" name="Rectangle 222"/>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5" name="Rectangle 224"/>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7" name="Rounded Rectangle 226"/>
          <p:cNvSpPr/>
          <p:nvPr/>
        </p:nvSpPr>
        <p:spPr>
          <a:xfrm>
            <a:off x="6096000" y="5162550"/>
            <a:ext cx="5953125" cy="146685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9" name="TextBox 228"/>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0" name="TextBox 229"/>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1" name="TextBox 230"/>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2" name="TextBox 231"/>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3" name="TextBox 232"/>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4" name="TextBox 233"/>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5" name="TextBox 2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6" name="Picture 235" descr="lock.png"/>
          <p:cNvPicPr>
            <a:picLocks noChangeAspect="1"/>
          </p:cNvPicPr>
          <p:nvPr/>
        </p:nvPicPr>
        <p:blipFill>
          <a:blip r:embed="rId4"/>
          <a:stretch>
            <a:fillRect/>
          </a:stretch>
        </p:blipFill>
        <p:spPr>
          <a:xfrm>
            <a:off x="1631100" y="16209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24781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631100" y="3335401"/>
            <a:ext cx="128699" cy="187198"/>
          </a:xfrm>
          <a:prstGeom prst="rect">
            <a:avLst/>
          </a:prstGeom>
        </p:spPr>
      </p:pic>
      <p:pic>
        <p:nvPicPr>
          <p:cNvPr id="239" name="Picture 238" descr="lock.png"/>
          <p:cNvPicPr>
            <a:picLocks noChangeAspect="1"/>
          </p:cNvPicPr>
          <p:nvPr/>
        </p:nvPicPr>
        <p:blipFill>
          <a:blip r:embed="rId4"/>
          <a:stretch>
            <a:fillRect/>
          </a:stretch>
        </p:blipFill>
        <p:spPr>
          <a:xfrm>
            <a:off x="1631100" y="4192651"/>
            <a:ext cx="128699" cy="187198"/>
          </a:xfrm>
          <a:prstGeom prst="rect">
            <a:avLst/>
          </a:prstGeom>
        </p:spPr>
      </p:pic>
      <p:pic>
        <p:nvPicPr>
          <p:cNvPr id="240" name="Picture 239" descr="lock.png"/>
          <p:cNvPicPr>
            <a:picLocks noChangeAspect="1"/>
          </p:cNvPicPr>
          <p:nvPr/>
        </p:nvPicPr>
        <p:blipFill>
          <a:blip r:embed="rId4"/>
          <a:stretch>
            <a:fillRect/>
          </a:stretch>
        </p:blipFill>
        <p:spPr>
          <a:xfrm>
            <a:off x="11475188" y="1830451"/>
            <a:ext cx="128699" cy="187198"/>
          </a:xfrm>
          <a:prstGeom prst="rect">
            <a:avLst/>
          </a:prstGeom>
        </p:spPr>
      </p:pic>
      <p:pic>
        <p:nvPicPr>
          <p:cNvPr id="241" name="Picture 240" descr="lock.png"/>
          <p:cNvPicPr>
            <a:picLocks noChangeAspect="1"/>
          </p:cNvPicPr>
          <p:nvPr/>
        </p:nvPicPr>
        <p:blipFill>
          <a:blip r:embed="rId4"/>
          <a:stretch>
            <a:fillRect/>
          </a:stretch>
        </p:blipFill>
        <p:spPr>
          <a:xfrm>
            <a:off x="816048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898916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981783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10646513" y="2059051"/>
            <a:ext cx="128699" cy="187198"/>
          </a:xfrm>
          <a:prstGeom prst="rect">
            <a:avLst/>
          </a:prstGeom>
        </p:spPr>
      </p:pic>
      <p:pic>
        <p:nvPicPr>
          <p:cNvPr id="245" name="Picture 244" descr="lock.png"/>
          <p:cNvPicPr>
            <a:picLocks noChangeAspect="1"/>
          </p:cNvPicPr>
          <p:nvPr/>
        </p:nvPicPr>
        <p:blipFill>
          <a:blip r:embed="rId4"/>
          <a:stretch>
            <a:fillRect/>
          </a:stretch>
        </p:blipFill>
        <p:spPr>
          <a:xfrm>
            <a:off x="8160488" y="2287651"/>
            <a:ext cx="128699" cy="187198"/>
          </a:xfrm>
          <a:prstGeom prst="rect">
            <a:avLst/>
          </a:prstGeom>
        </p:spPr>
      </p:pic>
      <p:pic>
        <p:nvPicPr>
          <p:cNvPr id="246" name="Picture 245" descr="lock.png"/>
          <p:cNvPicPr>
            <a:picLocks noChangeAspect="1"/>
          </p:cNvPicPr>
          <p:nvPr/>
        </p:nvPicPr>
        <p:blipFill>
          <a:blip r:embed="rId4"/>
          <a:stretch>
            <a:fillRect/>
          </a:stretch>
        </p:blipFill>
        <p:spPr>
          <a:xfrm>
            <a:off x="8989162"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9817838"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10646512" y="2287651"/>
            <a:ext cx="128699" cy="187198"/>
          </a:xfrm>
          <a:prstGeom prst="rect">
            <a:avLst/>
          </a:prstGeom>
        </p:spPr>
      </p:pic>
      <p:pic>
        <p:nvPicPr>
          <p:cNvPr id="249" name="Picture 248" descr="lock.png"/>
          <p:cNvPicPr>
            <a:picLocks noChangeAspect="1"/>
          </p:cNvPicPr>
          <p:nvPr/>
        </p:nvPicPr>
        <p:blipFill>
          <a:blip r:embed="rId4"/>
          <a:stretch>
            <a:fillRect/>
          </a:stretch>
        </p:blipFill>
        <p:spPr>
          <a:xfrm>
            <a:off x="8160488" y="2516251"/>
            <a:ext cx="128699" cy="187198"/>
          </a:xfrm>
          <a:prstGeom prst="rect">
            <a:avLst/>
          </a:prstGeom>
        </p:spPr>
      </p:pic>
      <p:pic>
        <p:nvPicPr>
          <p:cNvPr id="250" name="Picture 249" descr="lock.png"/>
          <p:cNvPicPr>
            <a:picLocks noChangeAspect="1"/>
          </p:cNvPicPr>
          <p:nvPr/>
        </p:nvPicPr>
        <p:blipFill>
          <a:blip r:embed="rId4"/>
          <a:stretch>
            <a:fillRect/>
          </a:stretch>
        </p:blipFill>
        <p:spPr>
          <a:xfrm>
            <a:off x="8989162"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9817838"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10646512" y="2516251"/>
            <a:ext cx="128699" cy="187198"/>
          </a:xfrm>
          <a:prstGeom prst="rect">
            <a:avLst/>
          </a:prstGeom>
        </p:spPr>
      </p:pic>
      <p:pic>
        <p:nvPicPr>
          <p:cNvPr id="253" name="Picture 252" descr="lock.png"/>
          <p:cNvPicPr>
            <a:picLocks noChangeAspect="1"/>
          </p:cNvPicPr>
          <p:nvPr/>
        </p:nvPicPr>
        <p:blipFill>
          <a:blip r:embed="rId4"/>
          <a:stretch>
            <a:fillRect/>
          </a:stretch>
        </p:blipFill>
        <p:spPr>
          <a:xfrm>
            <a:off x="8160487" y="2744851"/>
            <a:ext cx="128699" cy="187198"/>
          </a:xfrm>
          <a:prstGeom prst="rect">
            <a:avLst/>
          </a:prstGeom>
        </p:spPr>
      </p:pic>
      <p:pic>
        <p:nvPicPr>
          <p:cNvPr id="254" name="Picture 253" descr="lock.png"/>
          <p:cNvPicPr>
            <a:picLocks noChangeAspect="1"/>
          </p:cNvPicPr>
          <p:nvPr/>
        </p:nvPicPr>
        <p:blipFill>
          <a:blip r:embed="rId4"/>
          <a:stretch>
            <a:fillRect/>
          </a:stretch>
        </p:blipFill>
        <p:spPr>
          <a:xfrm>
            <a:off x="8989163"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9817837"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10646513" y="2744851"/>
            <a:ext cx="128699" cy="187198"/>
          </a:xfrm>
          <a:prstGeom prst="rect">
            <a:avLst/>
          </a:prstGeom>
        </p:spPr>
      </p:pic>
      <p:pic>
        <p:nvPicPr>
          <p:cNvPr id="257" name="Picture 256" descr="lock.png"/>
          <p:cNvPicPr>
            <a:picLocks noChangeAspect="1"/>
          </p:cNvPicPr>
          <p:nvPr/>
        </p:nvPicPr>
        <p:blipFill>
          <a:blip r:embed="rId4"/>
          <a:stretch>
            <a:fillRect/>
          </a:stretch>
        </p:blipFill>
        <p:spPr>
          <a:xfrm>
            <a:off x="8160487" y="2973451"/>
            <a:ext cx="128699" cy="187198"/>
          </a:xfrm>
          <a:prstGeom prst="rect">
            <a:avLst/>
          </a:prstGeom>
        </p:spPr>
      </p:pic>
      <p:pic>
        <p:nvPicPr>
          <p:cNvPr id="258" name="Picture 257" descr="lock.png"/>
          <p:cNvPicPr>
            <a:picLocks noChangeAspect="1"/>
          </p:cNvPicPr>
          <p:nvPr/>
        </p:nvPicPr>
        <p:blipFill>
          <a:blip r:embed="rId4"/>
          <a:stretch>
            <a:fillRect/>
          </a:stretch>
        </p:blipFill>
        <p:spPr>
          <a:xfrm>
            <a:off x="8989163"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9817837"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10646513"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11475187" y="2973451"/>
            <a:ext cx="128699" cy="187198"/>
          </a:xfrm>
          <a:prstGeom prst="rect">
            <a:avLst/>
          </a:prstGeom>
        </p:spPr>
      </p:pic>
      <p:pic>
        <p:nvPicPr>
          <p:cNvPr id="262" name="Picture 261" descr="lock.png"/>
          <p:cNvPicPr>
            <a:picLocks noChangeAspect="1"/>
          </p:cNvPicPr>
          <p:nvPr/>
        </p:nvPicPr>
        <p:blipFill>
          <a:blip r:embed="rId4"/>
          <a:stretch>
            <a:fillRect/>
          </a:stretch>
        </p:blipFill>
        <p:spPr>
          <a:xfrm>
            <a:off x="8160488" y="3202051"/>
            <a:ext cx="128699" cy="187198"/>
          </a:xfrm>
          <a:prstGeom prst="rect">
            <a:avLst/>
          </a:prstGeom>
        </p:spPr>
      </p:pic>
      <p:pic>
        <p:nvPicPr>
          <p:cNvPr id="263" name="Picture 262" descr="lock.png"/>
          <p:cNvPicPr>
            <a:picLocks noChangeAspect="1"/>
          </p:cNvPicPr>
          <p:nvPr/>
        </p:nvPicPr>
        <p:blipFill>
          <a:blip r:embed="rId4"/>
          <a:stretch>
            <a:fillRect/>
          </a:stretch>
        </p:blipFill>
        <p:spPr>
          <a:xfrm>
            <a:off x="8989163"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9817838" y="3202051"/>
            <a:ext cx="128699" cy="187198"/>
          </a:xfrm>
          <a:prstGeom prst="rect">
            <a:avLst/>
          </a:prstGeom>
        </p:spPr>
      </p:pic>
      <p:pic>
        <p:nvPicPr>
          <p:cNvPr id="265" name="Picture 264" descr="lock.png"/>
          <p:cNvPicPr>
            <a:picLocks noChangeAspect="1"/>
          </p:cNvPicPr>
          <p:nvPr/>
        </p:nvPicPr>
        <p:blipFill>
          <a:blip r:embed="rId4"/>
          <a:stretch>
            <a:fillRect/>
          </a:stretch>
        </p:blipFill>
        <p:spPr>
          <a:xfrm>
            <a:off x="8160488" y="3478276"/>
            <a:ext cx="128699" cy="187198"/>
          </a:xfrm>
          <a:prstGeom prst="rect">
            <a:avLst/>
          </a:prstGeom>
        </p:spPr>
      </p:pic>
      <p:pic>
        <p:nvPicPr>
          <p:cNvPr id="266" name="Picture 265" descr="lock.png"/>
          <p:cNvPicPr>
            <a:picLocks noChangeAspect="1"/>
          </p:cNvPicPr>
          <p:nvPr/>
        </p:nvPicPr>
        <p:blipFill>
          <a:blip r:embed="rId4"/>
          <a:stretch>
            <a:fillRect/>
          </a:stretch>
        </p:blipFill>
        <p:spPr>
          <a:xfrm>
            <a:off x="8989162"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9817838" y="3478276"/>
            <a:ext cx="128699" cy="187198"/>
          </a:xfrm>
          <a:prstGeom prst="rect">
            <a:avLst/>
          </a:prstGeom>
        </p:spPr>
      </p:pic>
      <p:pic>
        <p:nvPicPr>
          <p:cNvPr id="268" name="Picture 267" descr="lock.png"/>
          <p:cNvPicPr>
            <a:picLocks noChangeAspect="1"/>
          </p:cNvPicPr>
          <p:nvPr/>
        </p:nvPicPr>
        <p:blipFill>
          <a:blip r:embed="rId4"/>
          <a:stretch>
            <a:fillRect/>
          </a:stretch>
        </p:blipFill>
        <p:spPr>
          <a:xfrm>
            <a:off x="10646512" y="3478276"/>
            <a:ext cx="128699" cy="187198"/>
          </a:xfrm>
          <a:prstGeom prst="rect">
            <a:avLst/>
          </a:prstGeom>
        </p:spPr>
      </p:pic>
      <p:sp>
        <p:nvSpPr>
          <p:cNvPr id="269" name="TextBox 268"/>
          <p:cNvSpPr txBox="1"/>
          <p:nvPr/>
        </p:nvSpPr>
        <p:spPr>
          <a:xfrm>
            <a:off x="266700" y="1344930"/>
            <a:ext cx="491480" cy="186689"/>
          </a:xfrm>
          <a:prstGeom prst="rect">
            <a:avLst/>
          </a:prstGeom>
          <a:noFill/>
        </p:spPr>
        <p:txBody>
          <a:bodyPr wrap="none" lIns="0" rIns="0" tIns="0" bIns="0">
            <a:spAutoFit/>
          </a:bodyPr>
          <a:lstStyle/>
          <a:p>
            <a:r>
              <a:rPr sz="1100" b="0">
                <a:solidFill>
                  <a:srgbClr val="6B7280"/>
                </a:solidFill>
                <a:latin typeface="Calibri"/>
              </a:rPr>
              <a:t>Market</a:t>
            </a:r>
          </a:p>
        </p:txBody>
      </p:sp>
      <p:pic>
        <p:nvPicPr>
          <p:cNvPr id="270" name="Picture 269" descr="lock.png"/>
          <p:cNvPicPr>
            <a:picLocks noChangeAspect="1"/>
          </p:cNvPicPr>
          <p:nvPr/>
        </p:nvPicPr>
        <p:blipFill>
          <a:blip r:embed="rId4"/>
          <a:stretch>
            <a:fillRect/>
          </a:stretch>
        </p:blipFill>
        <p:spPr>
          <a:xfrm>
            <a:off x="706231" y="1335151"/>
            <a:ext cx="128699" cy="187198"/>
          </a:xfrm>
          <a:prstGeom prst="rect">
            <a:avLst/>
          </a:prstGeom>
        </p:spPr>
      </p:pic>
      <p:sp>
        <p:nvSpPr>
          <p:cNvPr id="271" name="TextBox 270"/>
          <p:cNvSpPr txBox="1"/>
          <p:nvPr/>
        </p:nvSpPr>
        <p:spPr>
          <a:xfrm>
            <a:off x="873727" y="1344930"/>
            <a:ext cx="1290389" cy="186689"/>
          </a:xfrm>
          <a:prstGeom prst="rect">
            <a:avLst/>
          </a:prstGeom>
          <a:noFill/>
        </p:spPr>
        <p:txBody>
          <a:bodyPr wrap="none" lIns="0" rIns="0" tIns="0" bIns="0">
            <a:spAutoFit/>
          </a:bodyPr>
          <a:lstStyle/>
          <a:p>
            <a:r>
              <a:rPr sz="1100" b="0">
                <a:solidFill>
                  <a:srgbClr val="6B7280"/>
                </a:solidFill>
                <a:latin typeface="Calibri"/>
              </a:rPr>
              <a:t>US$ Mn · Tier 1 share</a:t>
            </a:r>
          </a:p>
        </p:txBody>
      </p:sp>
      <p:pic>
        <p:nvPicPr>
          <p:cNvPr id="272" name="Picture 271" descr="lock.png"/>
          <p:cNvPicPr>
            <a:picLocks noChangeAspect="1"/>
          </p:cNvPicPr>
          <p:nvPr/>
        </p:nvPicPr>
        <p:blipFill>
          <a:blip r:embed="rId4"/>
          <a:stretch>
            <a:fillRect/>
          </a:stretch>
        </p:blipFill>
        <p:spPr>
          <a:xfrm>
            <a:off x="2112168" y="1335151"/>
            <a:ext cx="128699" cy="187198"/>
          </a:xfrm>
          <a:prstGeom prst="rect">
            <a:avLst/>
          </a:prstGeom>
        </p:spPr>
      </p:pic>
      <p:sp>
        <p:nvSpPr>
          <p:cNvPr id="273" name="TextBox 272"/>
          <p:cNvSpPr txBox="1"/>
          <p:nvPr/>
        </p:nvSpPr>
        <p:spPr>
          <a:xfrm>
            <a:off x="2279664"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4" name="Picture 273" descr="lock.png"/>
          <p:cNvPicPr>
            <a:picLocks noChangeAspect="1"/>
          </p:cNvPicPr>
          <p:nvPr/>
        </p:nvPicPr>
        <p:blipFill>
          <a:blip r:embed="rId4"/>
          <a:stretch>
            <a:fillRect/>
          </a:stretch>
        </p:blipFill>
        <p:spPr>
          <a:xfrm>
            <a:off x="2430519" y="1335151"/>
            <a:ext cx="128699" cy="187198"/>
          </a:xfrm>
          <a:prstGeom prst="rect">
            <a:avLst/>
          </a:prstGeom>
        </p:spPr>
      </p:pic>
      <p:sp>
        <p:nvSpPr>
          <p:cNvPr id="275" name="TextBox 274"/>
          <p:cNvSpPr txBox="1"/>
          <p:nvPr/>
        </p:nvSpPr>
        <p:spPr>
          <a:xfrm>
            <a:off x="2598014"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6" name="Picture 275" descr="lock.png"/>
          <p:cNvPicPr>
            <a:picLocks noChangeAspect="1"/>
          </p:cNvPicPr>
          <p:nvPr/>
        </p:nvPicPr>
        <p:blipFill>
          <a:blip r:embed="rId4"/>
          <a:stretch>
            <a:fillRect/>
          </a:stretch>
        </p:blipFill>
        <p:spPr>
          <a:xfrm>
            <a:off x="1377182" y="1839976"/>
            <a:ext cx="128699" cy="187198"/>
          </a:xfrm>
          <a:prstGeom prst="rect">
            <a:avLst/>
          </a:prstGeom>
        </p:spPr>
      </p:pic>
      <p:sp>
        <p:nvSpPr>
          <p:cNvPr id="277" name="TextBox 276"/>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8" name="Picture 277" descr="lock.png"/>
          <p:cNvPicPr>
            <a:picLocks noChangeAspect="1"/>
          </p:cNvPicPr>
          <p:nvPr/>
        </p:nvPicPr>
        <p:blipFill>
          <a:blip r:embed="rId4"/>
          <a:stretch>
            <a:fillRect/>
          </a:stretch>
        </p:blipFill>
        <p:spPr>
          <a:xfrm>
            <a:off x="2922273" y="1839976"/>
            <a:ext cx="128699" cy="187198"/>
          </a:xfrm>
          <a:prstGeom prst="rect">
            <a:avLst/>
          </a:prstGeom>
        </p:spPr>
      </p:pic>
      <p:sp>
        <p:nvSpPr>
          <p:cNvPr id="279" name="TextBox 278"/>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0" name="Picture 279" descr="lock.png"/>
          <p:cNvPicPr>
            <a:picLocks noChangeAspect="1"/>
          </p:cNvPicPr>
          <p:nvPr/>
        </p:nvPicPr>
        <p:blipFill>
          <a:blip r:embed="rId4"/>
          <a:stretch>
            <a:fillRect/>
          </a:stretch>
        </p:blipFill>
        <p:spPr>
          <a:xfrm>
            <a:off x="1377182" y="2697226"/>
            <a:ext cx="128699" cy="187198"/>
          </a:xfrm>
          <a:prstGeom prst="rect">
            <a:avLst/>
          </a:prstGeom>
        </p:spPr>
      </p:pic>
      <p:sp>
        <p:nvSpPr>
          <p:cNvPr id="281" name="TextBox 280"/>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2" name="Picture 281" descr="lock.png"/>
          <p:cNvPicPr>
            <a:picLocks noChangeAspect="1"/>
          </p:cNvPicPr>
          <p:nvPr/>
        </p:nvPicPr>
        <p:blipFill>
          <a:blip r:embed="rId4"/>
          <a:stretch>
            <a:fillRect/>
          </a:stretch>
        </p:blipFill>
        <p:spPr>
          <a:xfrm>
            <a:off x="2922273" y="2697226"/>
            <a:ext cx="128699" cy="187198"/>
          </a:xfrm>
          <a:prstGeom prst="rect">
            <a:avLst/>
          </a:prstGeom>
        </p:spPr>
      </p:pic>
      <p:sp>
        <p:nvSpPr>
          <p:cNvPr id="283" name="TextBox 282"/>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4" name="Picture 283" descr="lock.png"/>
          <p:cNvPicPr>
            <a:picLocks noChangeAspect="1"/>
          </p:cNvPicPr>
          <p:nvPr/>
        </p:nvPicPr>
        <p:blipFill>
          <a:blip r:embed="rId4"/>
          <a:stretch>
            <a:fillRect/>
          </a:stretch>
        </p:blipFill>
        <p:spPr>
          <a:xfrm>
            <a:off x="1377182" y="3554476"/>
            <a:ext cx="128699" cy="187198"/>
          </a:xfrm>
          <a:prstGeom prst="rect">
            <a:avLst/>
          </a:prstGeom>
        </p:spPr>
      </p:pic>
      <p:sp>
        <p:nvSpPr>
          <p:cNvPr id="285" name="TextBox 284"/>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86" name="Picture 285" descr="lock.png"/>
          <p:cNvPicPr>
            <a:picLocks noChangeAspect="1"/>
          </p:cNvPicPr>
          <p:nvPr/>
        </p:nvPicPr>
        <p:blipFill>
          <a:blip r:embed="rId4"/>
          <a:stretch>
            <a:fillRect/>
          </a:stretch>
        </p:blipFill>
        <p:spPr>
          <a:xfrm>
            <a:off x="2922273" y="3554476"/>
            <a:ext cx="128699" cy="187198"/>
          </a:xfrm>
          <a:prstGeom prst="rect">
            <a:avLst/>
          </a:prstGeom>
        </p:spPr>
      </p:pic>
      <p:sp>
        <p:nvSpPr>
          <p:cNvPr id="287" name="TextBox 286"/>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8" name="Picture 287" descr="lock.png"/>
          <p:cNvPicPr>
            <a:picLocks noChangeAspect="1"/>
          </p:cNvPicPr>
          <p:nvPr/>
        </p:nvPicPr>
        <p:blipFill>
          <a:blip r:embed="rId4"/>
          <a:stretch>
            <a:fillRect/>
          </a:stretch>
        </p:blipFill>
        <p:spPr>
          <a:xfrm>
            <a:off x="1377182" y="4411726"/>
            <a:ext cx="128699" cy="187198"/>
          </a:xfrm>
          <a:prstGeom prst="rect">
            <a:avLst/>
          </a:prstGeom>
        </p:spPr>
      </p:pic>
      <p:sp>
        <p:nvSpPr>
          <p:cNvPr id="289" name="TextBox 288"/>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90" name="TextBox 289"/>
          <p:cNvSpPr txBox="1"/>
          <p:nvPr/>
        </p:nvSpPr>
        <p:spPr>
          <a:xfrm>
            <a:off x="1241169"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91" name="Picture 290" descr="lock.png"/>
          <p:cNvPicPr>
            <a:picLocks noChangeAspect="1"/>
          </p:cNvPicPr>
          <p:nvPr/>
        </p:nvPicPr>
        <p:blipFill>
          <a:blip r:embed="rId4"/>
          <a:stretch>
            <a:fillRect/>
          </a:stretch>
        </p:blipFill>
        <p:spPr>
          <a:xfrm>
            <a:off x="1682883" y="5792851"/>
            <a:ext cx="128699" cy="187198"/>
          </a:xfrm>
          <a:prstGeom prst="rect">
            <a:avLst/>
          </a:prstGeom>
        </p:spPr>
      </p:pic>
      <p:sp>
        <p:nvSpPr>
          <p:cNvPr id="292" name="TextBox 291"/>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93" name="Picture 292" descr="lock.png"/>
          <p:cNvPicPr>
            <a:picLocks noChangeAspect="1"/>
          </p:cNvPicPr>
          <p:nvPr/>
        </p:nvPicPr>
        <p:blipFill>
          <a:blip r:embed="rId4"/>
          <a:stretch>
            <a:fillRect/>
          </a:stretch>
        </p:blipFill>
        <p:spPr>
          <a:xfrm>
            <a:off x="1225147" y="6097651"/>
            <a:ext cx="128699" cy="187198"/>
          </a:xfrm>
          <a:prstGeom prst="rect">
            <a:avLst/>
          </a:prstGeom>
        </p:spPr>
      </p:pic>
      <p:sp>
        <p:nvSpPr>
          <p:cNvPr id="294" name="TextBox 293"/>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5" name="Picture 294" descr="lock.png"/>
          <p:cNvPicPr>
            <a:picLocks noChangeAspect="1"/>
          </p:cNvPicPr>
          <p:nvPr/>
        </p:nvPicPr>
        <p:blipFill>
          <a:blip r:embed="rId4"/>
          <a:stretch>
            <a:fillRect/>
          </a:stretch>
        </p:blipFill>
        <p:spPr>
          <a:xfrm>
            <a:off x="2408983" y="6097651"/>
            <a:ext cx="128699" cy="187198"/>
          </a:xfrm>
          <a:prstGeom prst="rect">
            <a:avLst/>
          </a:prstGeom>
        </p:spPr>
      </p:pic>
      <p:sp>
        <p:nvSpPr>
          <p:cNvPr id="296" name="TextBox 295"/>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7" name="Picture 296" descr="lock.png"/>
          <p:cNvPicPr>
            <a:picLocks noChangeAspect="1"/>
          </p:cNvPicPr>
          <p:nvPr/>
        </p:nvPicPr>
        <p:blipFill>
          <a:blip r:embed="rId4"/>
          <a:stretch>
            <a:fillRect/>
          </a:stretch>
        </p:blipFill>
        <p:spPr>
          <a:xfrm>
            <a:off x="3922150" y="6097651"/>
            <a:ext cx="128699" cy="187198"/>
          </a:xfrm>
          <a:prstGeom prst="rect">
            <a:avLst/>
          </a:prstGeom>
        </p:spPr>
      </p:pic>
      <p:sp>
        <p:nvSpPr>
          <p:cNvPr id="298" name="TextBox 297"/>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299" name="TextBox 298"/>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300" name="Picture 299" descr="lock.png"/>
          <p:cNvPicPr>
            <a:picLocks noChangeAspect="1"/>
          </p:cNvPicPr>
          <p:nvPr/>
        </p:nvPicPr>
        <p:blipFill>
          <a:blip r:embed="rId4"/>
          <a:stretch>
            <a:fillRect/>
          </a:stretch>
        </p:blipFill>
        <p:spPr>
          <a:xfrm>
            <a:off x="6791838" y="5467095"/>
            <a:ext cx="128699" cy="187198"/>
          </a:xfrm>
          <a:prstGeom prst="rect">
            <a:avLst/>
          </a:prstGeom>
        </p:spPr>
      </p:pic>
      <p:sp>
        <p:nvSpPr>
          <p:cNvPr id="301" name="TextBox 300"/>
          <p:cNvSpPr txBox="1"/>
          <p:nvPr/>
        </p:nvSpPr>
        <p:spPr>
          <a:xfrm>
            <a:off x="6959334" y="5476875"/>
            <a:ext cx="2550145"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a:t>
            </a:r>
          </a:p>
        </p:txBody>
      </p:sp>
      <p:pic>
        <p:nvPicPr>
          <p:cNvPr id="302" name="Picture 301" descr="lock.png"/>
          <p:cNvPicPr>
            <a:picLocks noChangeAspect="1"/>
          </p:cNvPicPr>
          <p:nvPr/>
        </p:nvPicPr>
        <p:blipFill>
          <a:blip r:embed="rId4"/>
          <a:stretch>
            <a:fillRect/>
          </a:stretch>
        </p:blipFill>
        <p:spPr>
          <a:xfrm>
            <a:off x="9457531" y="5467095"/>
            <a:ext cx="128699" cy="187198"/>
          </a:xfrm>
          <a:prstGeom prst="rect">
            <a:avLst/>
          </a:prstGeom>
        </p:spPr>
      </p:pic>
      <p:sp>
        <p:nvSpPr>
          <p:cNvPr id="303" name="TextBox 302"/>
          <p:cNvSpPr txBox="1"/>
          <p:nvPr/>
        </p:nvSpPr>
        <p:spPr>
          <a:xfrm>
            <a:off x="9625026" y="5476875"/>
            <a:ext cx="1259830" cy="186689"/>
          </a:xfrm>
          <a:prstGeom prst="rect">
            <a:avLst/>
          </a:prstGeom>
          <a:noFill/>
        </p:spPr>
        <p:txBody>
          <a:bodyPr wrap="none" lIns="0" rIns="0" tIns="0" bIns="0">
            <a:spAutoFit/>
          </a:bodyPr>
          <a:lstStyle/>
          <a:p>
            <a:r>
              <a:rPr sz="1100" b="0">
                <a:solidFill>
                  <a:srgbClr val="14213D"/>
                </a:solidFill>
                <a:latin typeface="Calibri"/>
              </a:rPr>
              <a:t>US$ Mn base; CR4 of</a:t>
            </a:r>
          </a:p>
        </p:txBody>
      </p:sp>
      <p:pic>
        <p:nvPicPr>
          <p:cNvPr id="304" name="Picture 303" descr="lock.png"/>
          <p:cNvPicPr>
            <a:picLocks noChangeAspect="1"/>
          </p:cNvPicPr>
          <p:nvPr/>
        </p:nvPicPr>
        <p:blipFill>
          <a:blip r:embed="rId4"/>
          <a:stretch>
            <a:fillRect/>
          </a:stretch>
        </p:blipFill>
        <p:spPr>
          <a:xfrm>
            <a:off x="10832908" y="5467095"/>
            <a:ext cx="128699" cy="187198"/>
          </a:xfrm>
          <a:prstGeom prst="rect">
            <a:avLst/>
          </a:prstGeom>
        </p:spPr>
      </p:pic>
      <p:sp>
        <p:nvSpPr>
          <p:cNvPr id="305" name="TextBox 304"/>
          <p:cNvSpPr txBox="1"/>
          <p:nvPr/>
        </p:nvSpPr>
        <p:spPr>
          <a:xfrm>
            <a:off x="11000404" y="5476875"/>
            <a:ext cx="678656" cy="186689"/>
          </a:xfrm>
          <a:prstGeom prst="rect">
            <a:avLst/>
          </a:prstGeom>
          <a:noFill/>
        </p:spPr>
        <p:txBody>
          <a:bodyPr wrap="none" lIns="0" rIns="0" tIns="0" bIns="0">
            <a:spAutoFit/>
          </a:bodyPr>
          <a:lstStyle/>
          <a:p>
            <a:r>
              <a:rPr sz="1100" b="0">
                <a:solidFill>
                  <a:srgbClr val="14213D"/>
                </a:solidFill>
                <a:latin typeface="Calibri"/>
              </a:rPr>
              <a:t>and HHI of</a:t>
            </a:r>
          </a:p>
        </p:txBody>
      </p:sp>
      <p:pic>
        <p:nvPicPr>
          <p:cNvPr id="306" name="Picture 305" descr="lock.png"/>
          <p:cNvPicPr>
            <a:picLocks noChangeAspect="1"/>
          </p:cNvPicPr>
          <p:nvPr/>
        </p:nvPicPr>
        <p:blipFill>
          <a:blip r:embed="rId4"/>
          <a:stretch>
            <a:fillRect/>
          </a:stretch>
        </p:blipFill>
        <p:spPr>
          <a:xfrm>
            <a:off x="6358757" y="5634735"/>
            <a:ext cx="128699" cy="187198"/>
          </a:xfrm>
          <a:prstGeom prst="rect">
            <a:avLst/>
          </a:prstGeom>
        </p:spPr>
      </p:pic>
      <p:sp>
        <p:nvSpPr>
          <p:cNvPr id="307" name="TextBox 306"/>
          <p:cNvSpPr txBox="1"/>
          <p:nvPr/>
        </p:nvSpPr>
        <p:spPr>
          <a:xfrm>
            <a:off x="6526253"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8" name="TextBox 307"/>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09" name="Picture 308" descr="lock.png"/>
          <p:cNvPicPr>
            <a:picLocks noChangeAspect="1"/>
          </p:cNvPicPr>
          <p:nvPr/>
        </p:nvPicPr>
        <p:blipFill>
          <a:blip r:embed="rId4"/>
          <a:stretch>
            <a:fillRect/>
          </a:stretch>
        </p:blipFill>
        <p:spPr>
          <a:xfrm>
            <a:off x="7651320" y="5848095"/>
            <a:ext cx="128699" cy="187198"/>
          </a:xfrm>
          <a:prstGeom prst="rect">
            <a:avLst/>
          </a:prstGeom>
        </p:spPr>
      </p:pic>
      <p:sp>
        <p:nvSpPr>
          <p:cNvPr id="310" name="TextBox 309"/>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11" name="Picture 310" descr="lock.png"/>
          <p:cNvPicPr>
            <a:picLocks noChangeAspect="1"/>
          </p:cNvPicPr>
          <p:nvPr/>
        </p:nvPicPr>
        <p:blipFill>
          <a:blip r:embed="rId4"/>
          <a:stretch>
            <a:fillRect/>
          </a:stretch>
        </p:blipFill>
        <p:spPr>
          <a:xfrm>
            <a:off x="8749737" y="5848095"/>
            <a:ext cx="128699" cy="187198"/>
          </a:xfrm>
          <a:prstGeom prst="rect">
            <a:avLst/>
          </a:prstGeom>
        </p:spPr>
      </p:pic>
      <p:sp>
        <p:nvSpPr>
          <p:cNvPr id="312" name="TextBox 311"/>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13" name="TextBox 312"/>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14" name="Picture 313" descr="lock.png"/>
          <p:cNvPicPr>
            <a:picLocks noChangeAspect="1"/>
          </p:cNvPicPr>
          <p:nvPr/>
        </p:nvPicPr>
        <p:blipFill>
          <a:blip r:embed="rId4"/>
          <a:stretch>
            <a:fillRect/>
          </a:stretch>
        </p:blipFill>
        <p:spPr>
          <a:xfrm>
            <a:off x="8481881" y="6067170"/>
            <a:ext cx="128699" cy="187198"/>
          </a:xfrm>
          <a:prstGeom prst="rect">
            <a:avLst/>
          </a:prstGeom>
        </p:spPr>
      </p:pic>
      <p:sp>
        <p:nvSpPr>
          <p:cNvPr id="315" name="TextBox 314"/>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6" name="Picture 315" descr="lock.png"/>
          <p:cNvPicPr>
            <a:picLocks noChangeAspect="1"/>
          </p:cNvPicPr>
          <p:nvPr/>
        </p:nvPicPr>
        <p:blipFill>
          <a:blip r:embed="rId4"/>
          <a:stretch>
            <a:fillRect/>
          </a:stretch>
        </p:blipFill>
        <p:spPr>
          <a:xfrm>
            <a:off x="10724926" y="6067170"/>
            <a:ext cx="128699" cy="187198"/>
          </a:xfrm>
          <a:prstGeom prst="rect">
            <a:avLst/>
          </a:prstGeom>
        </p:spPr>
      </p:pic>
      <p:sp>
        <p:nvSpPr>
          <p:cNvPr id="317" name="TextBox 316"/>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8" name="TextBox 317"/>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Allergy Immunotherapy Market, Global 2026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11906250" cy="2381250"/>
          </a:xfrm>
          <a:prstGeom prst="roundRect">
            <a:avLst>
              <a:gd name="adj" fmla="val 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12" name="Rounded Rectangle 11"/>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4" name="TextBox 13"/>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5" name="TextBox 14"/>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6" name="TextBox 15"/>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7" name="Connector 16"/>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2" name="Rounded Rectangle 21"/>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4" name="TextBox 23"/>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5" name="TextBox 24"/>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6" name="TextBox 25"/>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7" name="Connector 26"/>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32" name="Rounded Rectangle 31"/>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4" name="TextBox 33"/>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5" name="TextBox 34"/>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6" name="TextBox 35"/>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7" name="Connector 36"/>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42" name="Rounded Rectangle 41"/>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4" name="TextBox 43"/>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5" name="TextBox 44"/>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6" name="Rounded Rectangle 45"/>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MI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8" name="TextBox 47"/>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9" name="TextBox 48"/>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50" name="Rounded Rectangle 49"/>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MI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2" name="TextBox 51"/>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3" name="TextBox 52"/>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4" name="Rounded Rectangle 53"/>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MI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6" name="TextBox 55"/>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7" name="TextBox 56"/>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8" name="Rounded Rectangle 57"/>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60" name="TextBox 59"/>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61" name="TextBox 60"/>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62" name="Rounded Rectangle 61"/>
          <p:cNvSpPr/>
          <p:nvPr/>
        </p:nvSpPr>
        <p:spPr>
          <a:xfrm>
            <a:off x="142875" y="3543300"/>
            <a:ext cx="7096125" cy="3086100"/>
          </a:xfrm>
          <a:prstGeom prst="roundRect">
            <a:avLst>
              <a:gd name="adj" fmla="val 10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4" name="Rectangle 63"/>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6" name="Rectangle 65"/>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8" name="Rectangle 67"/>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70" name="Rectangle 69"/>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72" name="Rectangle 71"/>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4" name="Rectangle 73"/>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6" name="Rectangle 75"/>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2 / 5</a:t>
            </a:r>
          </a:p>
        </p:txBody>
      </p:sp>
      <p:sp>
        <p:nvSpPr>
          <p:cNvPr id="78" name="Rectangle 77"/>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80" name="Rectangle 79"/>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82" name="Rectangle 81"/>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4" name="Rectangle 83"/>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4 / 5</a:t>
            </a:r>
          </a:p>
        </p:txBody>
      </p:sp>
      <p:sp>
        <p:nvSpPr>
          <p:cNvPr id="86" name="Rectangle 85"/>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8" name="Rectangle 87"/>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90" name="Rectangle 89"/>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92" name="Rectangle 91"/>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3 / 5</a:t>
            </a:r>
          </a:p>
        </p:txBody>
      </p:sp>
      <p:sp>
        <p:nvSpPr>
          <p:cNvPr id="94" name="Rectangle 93"/>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6" name="Rectangle 95"/>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8" name="Rectangle 97"/>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100" name="Rectangle 99"/>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3 / 5</a:t>
            </a:r>
          </a:p>
        </p:txBody>
      </p:sp>
      <p:sp>
        <p:nvSpPr>
          <p:cNvPr id="102" name="Rectangle 101"/>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4" name="Rectangle 103"/>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6" name="Rectangle 105"/>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8" name="Rectangle 107"/>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3 / 5</a:t>
            </a:r>
          </a:p>
        </p:txBody>
      </p:sp>
      <p:sp>
        <p:nvSpPr>
          <p:cNvPr id="110" name="Rectangle 109"/>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12" name="Rectangle 111"/>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4" name="Rectangle 113"/>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6" name="Rectangle 115"/>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3.0 / 5</a:t>
            </a:r>
          </a:p>
        </p:txBody>
      </p:sp>
      <p:sp>
        <p:nvSpPr>
          <p:cNvPr id="118" name="Rectangle 117"/>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Consolidation towards Tier 1–2</a:t>
            </a:r>
          </a:p>
        </p:txBody>
      </p:sp>
      <p:sp>
        <p:nvSpPr>
          <p:cNvPr id="120" name="Rounded Rectangle 119"/>
          <p:cNvSpPr/>
          <p:nvPr/>
        </p:nvSpPr>
        <p:spPr>
          <a:xfrm>
            <a:off x="7381875" y="3543300"/>
            <a:ext cx="4667250" cy="3086100"/>
          </a:xfrm>
          <a:prstGeom prst="roundRect">
            <a:avLst>
              <a:gd name="adj" fmla="val 16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22" name="TextBox 121"/>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3" name="TextBox 122"/>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4" name="TextBox 123"/>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5" name="TextBox 124"/>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6" name="TextBox 125"/>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7" name="TextBox 126"/>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8" name="TextBox 127"/>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9" name="TextBox 128"/>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Buyer power (4 / 5) and switching costs (3 / 5) are the dominant forces shaping the tier structure.</a:t>
            </a:r>
          </a:p>
        </p:txBody>
      </p:sp>
      <p:sp>
        <p:nvSpPr>
          <p:cNvPr id="130" name="TextBox 1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31" name="Picture 130" descr="lock.png"/>
          <p:cNvPicPr>
            <a:picLocks noChangeAspect="1"/>
          </p:cNvPicPr>
          <p:nvPr/>
        </p:nvPicPr>
        <p:blipFill>
          <a:blip r:embed="rId4"/>
          <a:stretch>
            <a:fillRect/>
          </a:stretch>
        </p:blipFill>
        <p:spPr>
          <a:xfrm>
            <a:off x="6047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35574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6510226" y="2545080"/>
            <a:ext cx="257397" cy="374396"/>
          </a:xfrm>
          <a:prstGeom prst="rect">
            <a:avLst/>
          </a:prstGeom>
        </p:spPr>
      </p:pic>
      <p:pic>
        <p:nvPicPr>
          <p:cNvPr id="134" name="Picture 133" descr="lock.png"/>
          <p:cNvPicPr>
            <a:picLocks noChangeAspect="1"/>
          </p:cNvPicPr>
          <p:nvPr/>
        </p:nvPicPr>
        <p:blipFill>
          <a:blip r:embed="rId4"/>
          <a:stretch>
            <a:fillRect/>
          </a:stretch>
        </p:blipFill>
        <p:spPr>
          <a:xfrm>
            <a:off x="9462976" y="2545080"/>
            <a:ext cx="257397" cy="374396"/>
          </a:xfrm>
          <a:prstGeom prst="rect">
            <a:avLst/>
          </a:prstGeom>
        </p:spPr>
      </p:pic>
      <p:sp>
        <p:nvSpPr>
          <p:cNvPr id="135" name="TextBox 134"/>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36" name="Picture 135" descr="lock.png"/>
          <p:cNvPicPr>
            <a:picLocks noChangeAspect="1"/>
          </p:cNvPicPr>
          <p:nvPr/>
        </p:nvPicPr>
        <p:blipFill>
          <a:blip r:embed="rId4"/>
          <a:stretch>
            <a:fillRect/>
          </a:stretch>
        </p:blipFill>
        <p:spPr>
          <a:xfrm>
            <a:off x="1424204" y="1860931"/>
            <a:ext cx="128699" cy="187198"/>
          </a:xfrm>
          <a:prstGeom prst="rect">
            <a:avLst/>
          </a:prstGeom>
        </p:spPr>
      </p:pic>
      <p:sp>
        <p:nvSpPr>
          <p:cNvPr id="137" name="TextBox 136"/>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38" name="Picture 137" descr="lock.png"/>
          <p:cNvPicPr>
            <a:picLocks noChangeAspect="1"/>
          </p:cNvPicPr>
          <p:nvPr/>
        </p:nvPicPr>
        <p:blipFill>
          <a:blip r:embed="rId4"/>
          <a:stretch>
            <a:fillRect/>
          </a:stretch>
        </p:blipFill>
        <p:spPr>
          <a:xfrm>
            <a:off x="1742554" y="1860931"/>
            <a:ext cx="128699" cy="187198"/>
          </a:xfrm>
          <a:prstGeom prst="rect">
            <a:avLst/>
          </a:prstGeom>
        </p:spPr>
      </p:pic>
      <p:sp>
        <p:nvSpPr>
          <p:cNvPr id="139" name="TextBox 138"/>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0" name="TextBox 139"/>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41" name="Picture 140" descr="lock.png"/>
          <p:cNvPicPr>
            <a:picLocks noChangeAspect="1"/>
          </p:cNvPicPr>
          <p:nvPr/>
        </p:nvPicPr>
        <p:blipFill>
          <a:blip r:embed="rId4"/>
          <a:stretch>
            <a:fillRect/>
          </a:stretch>
        </p:blipFill>
        <p:spPr>
          <a:xfrm>
            <a:off x="4681754" y="1860931"/>
            <a:ext cx="128699" cy="187198"/>
          </a:xfrm>
          <a:prstGeom prst="rect">
            <a:avLst/>
          </a:prstGeom>
        </p:spPr>
      </p:pic>
      <p:sp>
        <p:nvSpPr>
          <p:cNvPr id="142" name="TextBox 141"/>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3" name="Picture 142" descr="lock.png"/>
          <p:cNvPicPr>
            <a:picLocks noChangeAspect="1"/>
          </p:cNvPicPr>
          <p:nvPr/>
        </p:nvPicPr>
        <p:blipFill>
          <a:blip r:embed="rId4"/>
          <a:stretch>
            <a:fillRect/>
          </a:stretch>
        </p:blipFill>
        <p:spPr>
          <a:xfrm>
            <a:off x="5000104" y="1860931"/>
            <a:ext cx="128699" cy="187198"/>
          </a:xfrm>
          <a:prstGeom prst="rect">
            <a:avLst/>
          </a:prstGeom>
        </p:spPr>
      </p:pic>
      <p:sp>
        <p:nvSpPr>
          <p:cNvPr id="144" name="TextBox 143"/>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5" name="TextBox 144"/>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4 → 4 players ·</a:t>
            </a:r>
          </a:p>
        </p:txBody>
      </p:sp>
      <p:pic>
        <p:nvPicPr>
          <p:cNvPr id="146" name="Picture 145" descr="lock.png"/>
          <p:cNvPicPr>
            <a:picLocks noChangeAspect="1"/>
          </p:cNvPicPr>
          <p:nvPr/>
        </p:nvPicPr>
        <p:blipFill>
          <a:blip r:embed="rId4"/>
          <a:stretch>
            <a:fillRect/>
          </a:stretch>
        </p:blipFill>
        <p:spPr>
          <a:xfrm>
            <a:off x="7939304" y="1860931"/>
            <a:ext cx="128699" cy="187198"/>
          </a:xfrm>
          <a:prstGeom prst="rect">
            <a:avLst/>
          </a:prstGeom>
        </p:spPr>
      </p:pic>
      <p:sp>
        <p:nvSpPr>
          <p:cNvPr id="147" name="TextBox 146"/>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8" name="Picture 147" descr="lock.png"/>
          <p:cNvPicPr>
            <a:picLocks noChangeAspect="1"/>
          </p:cNvPicPr>
          <p:nvPr/>
        </p:nvPicPr>
        <p:blipFill>
          <a:blip r:embed="rId4"/>
          <a:stretch>
            <a:fillRect/>
          </a:stretch>
        </p:blipFill>
        <p:spPr>
          <a:xfrm>
            <a:off x="8257654" y="1860931"/>
            <a:ext cx="128699" cy="187198"/>
          </a:xfrm>
          <a:prstGeom prst="rect">
            <a:avLst/>
          </a:prstGeom>
        </p:spPr>
      </p:pic>
      <p:sp>
        <p:nvSpPr>
          <p:cNvPr id="149" name="TextBox 148"/>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0" name="TextBox 149"/>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51" name="Picture 150" descr="lock.png"/>
          <p:cNvPicPr>
            <a:picLocks noChangeAspect="1"/>
          </p:cNvPicPr>
          <p:nvPr/>
        </p:nvPicPr>
        <p:blipFill>
          <a:blip r:embed="rId4"/>
          <a:stretch>
            <a:fillRect/>
          </a:stretch>
        </p:blipFill>
        <p:spPr>
          <a:xfrm>
            <a:off x="10872946" y="1944751"/>
            <a:ext cx="128699" cy="187198"/>
          </a:xfrm>
          <a:prstGeom prst="rect">
            <a:avLst/>
          </a:prstGeom>
        </p:spPr>
      </p:pic>
      <p:sp>
        <p:nvSpPr>
          <p:cNvPr id="152" name="TextBox 151"/>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3" name="Picture 152" descr="lock.png"/>
          <p:cNvPicPr>
            <a:picLocks noChangeAspect="1"/>
          </p:cNvPicPr>
          <p:nvPr/>
        </p:nvPicPr>
        <p:blipFill>
          <a:blip r:embed="rId4"/>
          <a:stretch>
            <a:fillRect/>
          </a:stretch>
        </p:blipFill>
        <p:spPr>
          <a:xfrm>
            <a:off x="11191297" y="1944751"/>
            <a:ext cx="128699" cy="187198"/>
          </a:xfrm>
          <a:prstGeom prst="rect">
            <a:avLst/>
          </a:prstGeom>
        </p:spPr>
      </p:pic>
      <p:sp>
        <p:nvSpPr>
          <p:cNvPr id="154" name="TextBox 153"/>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55" name="TextBox 154"/>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56" name="Picture 155" descr="lock.png"/>
          <p:cNvPicPr>
            <a:picLocks noChangeAspect="1"/>
          </p:cNvPicPr>
          <p:nvPr/>
        </p:nvPicPr>
        <p:blipFill>
          <a:blip r:embed="rId4"/>
          <a:stretch>
            <a:fillRect/>
          </a:stretch>
        </p:blipFill>
        <p:spPr>
          <a:xfrm>
            <a:off x="9434331" y="3847846"/>
            <a:ext cx="128699" cy="187198"/>
          </a:xfrm>
          <a:prstGeom prst="rect">
            <a:avLst/>
          </a:prstGeom>
        </p:spPr>
      </p:pic>
      <p:sp>
        <p:nvSpPr>
          <p:cNvPr id="157" name="TextBox 156"/>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58" name="TextBox 157"/>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59" name="Picture 158" descr="lock.png"/>
          <p:cNvPicPr>
            <a:picLocks noChangeAspect="1"/>
          </p:cNvPicPr>
          <p:nvPr/>
        </p:nvPicPr>
        <p:blipFill>
          <a:blip r:embed="rId4"/>
          <a:stretch>
            <a:fillRect/>
          </a:stretch>
        </p:blipFill>
        <p:spPr>
          <a:xfrm>
            <a:off x="9730921" y="4015486"/>
            <a:ext cx="128699" cy="187198"/>
          </a:xfrm>
          <a:prstGeom prst="rect">
            <a:avLst/>
          </a:prstGeom>
        </p:spPr>
      </p:pic>
      <p:sp>
        <p:nvSpPr>
          <p:cNvPr id="160" name="TextBox 159"/>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61" name="TextBox 160"/>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2" name="Picture 161" descr="lock.png"/>
          <p:cNvPicPr>
            <a:picLocks noChangeAspect="1"/>
          </p:cNvPicPr>
          <p:nvPr/>
        </p:nvPicPr>
        <p:blipFill>
          <a:blip r:embed="rId4"/>
          <a:stretch>
            <a:fillRect/>
          </a:stretch>
        </p:blipFill>
        <p:spPr>
          <a:xfrm>
            <a:off x="11077170" y="5009895"/>
            <a:ext cx="128699" cy="187198"/>
          </a:xfrm>
          <a:prstGeom prst="rect">
            <a:avLst/>
          </a:prstGeom>
        </p:spPr>
      </p:pic>
      <p:sp>
        <p:nvSpPr>
          <p:cNvPr id="163" name="TextBox 162"/>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64" name="TextBox 163"/>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Competitive Dashboard View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10" name="TextBox 9"/>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11" name="Rounded Rectangle 10"/>
          <p:cNvSpPr/>
          <p:nvPr/>
        </p:nvSpPr>
        <p:spPr>
          <a:xfrm>
            <a:off x="133350" y="1153291"/>
            <a:ext cx="11925300" cy="4563424"/>
          </a:xfrm>
          <a:prstGeom prst="roundRect">
            <a:avLst>
              <a:gd name="adj" fmla="val 16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717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480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5243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007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5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296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9060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9823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Company / Brand</a:t>
            </a:r>
          </a:p>
        </p:txBody>
      </p:sp>
      <p:sp>
        <p:nvSpPr>
          <p:cNvPr id="36" name="TextBox 35"/>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Product Portfolio</a:t>
            </a:r>
          </a:p>
        </p:txBody>
      </p:sp>
      <p:sp>
        <p:nvSpPr>
          <p:cNvPr id="37" name="TextBox 36"/>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Overall Rev (US$ Mn)</a:t>
            </a:r>
          </a:p>
        </p:txBody>
      </p:sp>
      <p:sp>
        <p:nvSpPr>
          <p:cNvPr id="38" name="TextBox 37"/>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Target Rev (US$ Mn)</a:t>
            </a:r>
          </a:p>
        </p:txBody>
      </p:sp>
      <p:sp>
        <p:nvSpPr>
          <p:cNvPr id="39" name="TextBox 38"/>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Market Share (%)</a:t>
            </a:r>
          </a:p>
        </p:txBody>
      </p:sp>
      <p:sp>
        <p:nvSpPr>
          <p:cNvPr id="40" name="TextBox 39"/>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Regional Presence</a:t>
            </a:r>
          </a:p>
        </p:txBody>
      </p:sp>
      <p:sp>
        <p:nvSpPr>
          <p:cNvPr id="41" name="TextBox 40"/>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Strategies</a:t>
            </a:r>
          </a:p>
        </p:txBody>
      </p:sp>
      <p:sp>
        <p:nvSpPr>
          <p:cNvPr id="42" name="TextBox 41"/>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ALK-Abelló A/S</a:t>
            </a:r>
          </a:p>
        </p:txBody>
      </p:sp>
      <p:cxnSp>
        <p:nvCxnSpPr>
          <p:cNvPr id="43" name="Connector 42"/>
          <p:cNvCxnSpPr/>
          <p:nvPr/>
        </p:nvCxnSpPr>
        <p:spPr>
          <a:xfrm>
            <a:off x="16049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5" name="TextBox 44"/>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6" name="TextBox 45"/>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7" name="Rectangle 46"/>
          <p:cNvSpPr/>
          <p:nvPr/>
        </p:nvSpPr>
        <p:spPr>
          <a:xfrm>
            <a:off x="16049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7764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9478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1" name="TextBox 50"/>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2" name="Oval 51"/>
          <p:cNvSpPr/>
          <p:nvPr/>
        </p:nvSpPr>
        <p:spPr>
          <a:xfrm>
            <a:off x="15859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56" name="TextBox 55"/>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57" name="Oval 56"/>
          <p:cNvSpPr/>
          <p:nvPr/>
        </p:nvSpPr>
        <p:spPr>
          <a:xfrm>
            <a:off x="14287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9" name="Oval 58"/>
          <p:cNvSpPr/>
          <p:nvPr/>
        </p:nvSpPr>
        <p:spPr>
          <a:xfrm>
            <a:off x="16383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61" name="Oval 60"/>
          <p:cNvSpPr/>
          <p:nvPr/>
        </p:nvSpPr>
        <p:spPr>
          <a:xfrm>
            <a:off x="18478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3" name="Oval 62"/>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5" name="Oval 64"/>
          <p:cNvSpPr/>
          <p:nvPr/>
        </p:nvSpPr>
        <p:spPr>
          <a:xfrm>
            <a:off x="15335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7" name="Oval 66"/>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9" name="Oval 68"/>
          <p:cNvSpPr/>
          <p:nvPr/>
        </p:nvSpPr>
        <p:spPr>
          <a:xfrm>
            <a:off x="19526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71" name="TextBox 70"/>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Stallergenes Greer International AG</a:t>
            </a:r>
          </a:p>
        </p:txBody>
      </p:sp>
      <p:cxnSp>
        <p:nvCxnSpPr>
          <p:cNvPr id="72" name="Connector 71"/>
          <p:cNvCxnSpPr/>
          <p:nvPr/>
        </p:nvCxnSpPr>
        <p:spPr>
          <a:xfrm>
            <a:off x="26812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4" name="TextBox 73"/>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5" name="TextBox 74"/>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6" name="Rectangle 75"/>
          <p:cNvSpPr/>
          <p:nvPr/>
        </p:nvSpPr>
        <p:spPr>
          <a:xfrm>
            <a:off x="26812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8527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0241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0" name="TextBox 79"/>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1" name="Oval 80"/>
          <p:cNvSpPr/>
          <p:nvPr/>
        </p:nvSpPr>
        <p:spPr>
          <a:xfrm>
            <a:off x="26622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85" name="TextBox 84"/>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86" name="Oval 85"/>
          <p:cNvSpPr/>
          <p:nvPr/>
        </p:nvSpPr>
        <p:spPr>
          <a:xfrm>
            <a:off x="25050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8" name="Oval 87"/>
          <p:cNvSpPr/>
          <p:nvPr/>
        </p:nvSpPr>
        <p:spPr>
          <a:xfrm>
            <a:off x="27146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90" name="Oval 89"/>
          <p:cNvSpPr/>
          <p:nvPr/>
        </p:nvSpPr>
        <p:spPr>
          <a:xfrm>
            <a:off x="29241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92" name="Oval 91"/>
          <p:cNvSpPr/>
          <p:nvPr/>
        </p:nvSpPr>
        <p:spPr>
          <a:xfrm>
            <a:off x="3133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4" name="Oval 93"/>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6" name="Oval 95"/>
          <p:cNvSpPr/>
          <p:nvPr/>
        </p:nvSpPr>
        <p:spPr>
          <a:xfrm>
            <a:off x="28194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8" name="Oval 97"/>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00" name="TextBox 99"/>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Allergy Therapeutics plc</a:t>
            </a:r>
          </a:p>
        </p:txBody>
      </p:sp>
      <p:cxnSp>
        <p:nvCxnSpPr>
          <p:cNvPr id="101" name="Connector 100"/>
          <p:cNvCxnSpPr/>
          <p:nvPr/>
        </p:nvCxnSpPr>
        <p:spPr>
          <a:xfrm>
            <a:off x="37576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3" name="TextBox 102"/>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4" name="TextBox 103"/>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5" name="Rectangle 104"/>
          <p:cNvSpPr/>
          <p:nvPr/>
        </p:nvSpPr>
        <p:spPr>
          <a:xfrm>
            <a:off x="37576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39290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41005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9" name="TextBox 108"/>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10" name="Oval 109"/>
          <p:cNvSpPr/>
          <p:nvPr/>
        </p:nvSpPr>
        <p:spPr>
          <a:xfrm>
            <a:off x="37385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14" name="TextBox 113"/>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115" name="Oval 114"/>
          <p:cNvSpPr/>
          <p:nvPr/>
        </p:nvSpPr>
        <p:spPr>
          <a:xfrm>
            <a:off x="35814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7" name="Oval 116"/>
          <p:cNvSpPr/>
          <p:nvPr/>
        </p:nvSpPr>
        <p:spPr>
          <a:xfrm>
            <a:off x="37909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9" name="Oval 118"/>
          <p:cNvSpPr/>
          <p:nvPr/>
        </p:nvSpPr>
        <p:spPr>
          <a:xfrm>
            <a:off x="40005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21" name="Oval 120"/>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3" name="Oval 122"/>
          <p:cNvSpPr/>
          <p:nvPr/>
        </p:nvSpPr>
        <p:spPr>
          <a:xfrm>
            <a:off x="36861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5" name="Oval 124"/>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7" name="Oval 126"/>
          <p:cNvSpPr/>
          <p:nvPr/>
        </p:nvSpPr>
        <p:spPr>
          <a:xfrm>
            <a:off x="41052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9" name="TextBox 128"/>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HAL Allergy Group</a:t>
            </a:r>
          </a:p>
        </p:txBody>
      </p:sp>
      <p:cxnSp>
        <p:nvCxnSpPr>
          <p:cNvPr id="130" name="Connector 129"/>
          <p:cNvCxnSpPr/>
          <p:nvPr/>
        </p:nvCxnSpPr>
        <p:spPr>
          <a:xfrm>
            <a:off x="48339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32" name="TextBox 131"/>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3" name="TextBox 132"/>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4" name="Rectangle 133"/>
          <p:cNvSpPr/>
          <p:nvPr/>
        </p:nvSpPr>
        <p:spPr>
          <a:xfrm>
            <a:off x="48339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0053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1768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8" name="TextBox 137"/>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9" name="Oval 138"/>
          <p:cNvSpPr/>
          <p:nvPr/>
        </p:nvSpPr>
        <p:spPr>
          <a:xfrm>
            <a:off x="48148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43" name="TextBox 142"/>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144" name="Oval 143"/>
          <p:cNvSpPr/>
          <p:nvPr/>
        </p:nvSpPr>
        <p:spPr>
          <a:xfrm>
            <a:off x="4657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6" name="Oval 145"/>
          <p:cNvSpPr/>
          <p:nvPr/>
        </p:nvSpPr>
        <p:spPr>
          <a:xfrm>
            <a:off x="48672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8" name="Oval 147"/>
          <p:cNvSpPr/>
          <p:nvPr/>
        </p:nvSpPr>
        <p:spPr>
          <a:xfrm>
            <a:off x="50768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50" name="Oval 149"/>
          <p:cNvSpPr/>
          <p:nvPr/>
        </p:nvSpPr>
        <p:spPr>
          <a:xfrm>
            <a:off x="5286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52" name="Oval 151"/>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4" name="Oval 153"/>
          <p:cNvSpPr/>
          <p:nvPr/>
        </p:nvSpPr>
        <p:spPr>
          <a:xfrm>
            <a:off x="49720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6" name="Oval 155"/>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8" name="TextBox 157"/>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LETI Pharma / Laboratorios LETI, S.L.U.</a:t>
            </a:r>
          </a:p>
        </p:txBody>
      </p:sp>
      <p:cxnSp>
        <p:nvCxnSpPr>
          <p:cNvPr id="159" name="Connector 158"/>
          <p:cNvCxnSpPr/>
          <p:nvPr/>
        </p:nvCxnSpPr>
        <p:spPr>
          <a:xfrm>
            <a:off x="59102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61" name="TextBox 160"/>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62" name="TextBox 161"/>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3" name="Rectangle 162"/>
          <p:cNvSpPr/>
          <p:nvPr/>
        </p:nvSpPr>
        <p:spPr>
          <a:xfrm>
            <a:off x="59102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60817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62531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7" name="TextBox 166"/>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8" name="Oval 167"/>
          <p:cNvSpPr/>
          <p:nvPr/>
        </p:nvSpPr>
        <p:spPr>
          <a:xfrm>
            <a:off x="58912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Freeform 168"/>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72" name="TextBox 171"/>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173" name="Oval 172"/>
          <p:cNvSpPr/>
          <p:nvPr/>
        </p:nvSpPr>
        <p:spPr>
          <a:xfrm>
            <a:off x="57340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5" name="Oval 174"/>
          <p:cNvSpPr/>
          <p:nvPr/>
        </p:nvSpPr>
        <p:spPr>
          <a:xfrm>
            <a:off x="59436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7" name="Oval 176"/>
          <p:cNvSpPr/>
          <p:nvPr/>
        </p:nvSpPr>
        <p:spPr>
          <a:xfrm>
            <a:off x="61531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9" name="Oval 178"/>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81" name="Oval 180"/>
          <p:cNvSpPr/>
          <p:nvPr/>
        </p:nvSpPr>
        <p:spPr>
          <a:xfrm>
            <a:off x="58388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3" name="Oval 182"/>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5" name="Oval 184"/>
          <p:cNvSpPr/>
          <p:nvPr/>
        </p:nvSpPr>
        <p:spPr>
          <a:xfrm>
            <a:off x="62579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7" name="TextBox 186"/>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Jubilant HollisterStier LLC</a:t>
            </a:r>
          </a:p>
        </p:txBody>
      </p:sp>
      <p:cxnSp>
        <p:nvCxnSpPr>
          <p:cNvPr id="188" name="Connector 187"/>
          <p:cNvCxnSpPr/>
          <p:nvPr/>
        </p:nvCxnSpPr>
        <p:spPr>
          <a:xfrm>
            <a:off x="69865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90" name="TextBox 189"/>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91" name="TextBox 190"/>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92" name="Rectangle 191"/>
          <p:cNvSpPr/>
          <p:nvPr/>
        </p:nvSpPr>
        <p:spPr>
          <a:xfrm>
            <a:off x="69865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71580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73294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6" name="TextBox 195"/>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7" name="Oval 196"/>
          <p:cNvSpPr/>
          <p:nvPr/>
        </p:nvSpPr>
        <p:spPr>
          <a:xfrm>
            <a:off x="69675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Freeform 197"/>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01" name="TextBox 200"/>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&amp;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9AA3A8"/>
                </a:solidFill>
                <a:latin typeface="Calibri"/>
              </a:rPr>
              <a:t>▲</a:t>
            </a:r>
          </a:p>
        </p:txBody>
      </p:sp>
      <p:sp>
        <p:nvSpPr>
          <p:cNvPr id="202" name="Oval 201"/>
          <p:cNvSpPr/>
          <p:nvPr/>
        </p:nvSpPr>
        <p:spPr>
          <a:xfrm>
            <a:off x="6810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4" name="Oval 203"/>
          <p:cNvSpPr/>
          <p:nvPr/>
        </p:nvSpPr>
        <p:spPr>
          <a:xfrm>
            <a:off x="70199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6" name="Oval 205"/>
          <p:cNvSpPr/>
          <p:nvPr/>
        </p:nvSpPr>
        <p:spPr>
          <a:xfrm>
            <a:off x="72294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8" name="Oval 207"/>
          <p:cNvSpPr/>
          <p:nvPr/>
        </p:nvSpPr>
        <p:spPr>
          <a:xfrm>
            <a:off x="7439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10" name="Oval 209"/>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12" name="Oval 211"/>
          <p:cNvSpPr/>
          <p:nvPr/>
        </p:nvSpPr>
        <p:spPr>
          <a:xfrm>
            <a:off x="71247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4" name="Oval 213"/>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6" name="TextBox 215"/>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Inmunotek S.L.</a:t>
            </a:r>
          </a:p>
        </p:txBody>
      </p:sp>
      <p:cxnSp>
        <p:nvCxnSpPr>
          <p:cNvPr id="217" name="Connector 216"/>
          <p:cNvCxnSpPr/>
          <p:nvPr/>
        </p:nvCxnSpPr>
        <p:spPr>
          <a:xfrm>
            <a:off x="80629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8" name="TextBox 217"/>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9" name="TextBox 218"/>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20" name="TextBox 219"/>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21" name="Rectangle 220"/>
          <p:cNvSpPr/>
          <p:nvPr/>
        </p:nvSpPr>
        <p:spPr>
          <a:xfrm>
            <a:off x="80629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2343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84058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5" name="TextBox 224"/>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6" name="Oval 225"/>
          <p:cNvSpPr/>
          <p:nvPr/>
        </p:nvSpPr>
        <p:spPr>
          <a:xfrm>
            <a:off x="80438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Freeform 226"/>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30" name="TextBox 229"/>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31" name="Oval 230"/>
          <p:cNvSpPr/>
          <p:nvPr/>
        </p:nvSpPr>
        <p:spPr>
          <a:xfrm>
            <a:off x="78867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3" name="Oval 232"/>
          <p:cNvSpPr/>
          <p:nvPr/>
        </p:nvSpPr>
        <p:spPr>
          <a:xfrm>
            <a:off x="80962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5" name="Oval 234"/>
          <p:cNvSpPr/>
          <p:nvPr/>
        </p:nvSpPr>
        <p:spPr>
          <a:xfrm>
            <a:off x="83058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7" name="Oval 236"/>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9" name="Oval 238"/>
          <p:cNvSpPr/>
          <p:nvPr/>
        </p:nvSpPr>
        <p:spPr>
          <a:xfrm>
            <a:off x="79914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41" name="Oval 240"/>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3" name="Oval 242"/>
          <p:cNvSpPr/>
          <p:nvPr/>
        </p:nvSpPr>
        <p:spPr>
          <a:xfrm>
            <a:off x="84105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5" name="TextBox 244"/>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DIATER Laboratories</a:t>
            </a:r>
          </a:p>
        </p:txBody>
      </p:sp>
      <p:cxnSp>
        <p:nvCxnSpPr>
          <p:cNvPr id="246" name="Connector 245"/>
          <p:cNvCxnSpPr/>
          <p:nvPr/>
        </p:nvCxnSpPr>
        <p:spPr>
          <a:xfrm>
            <a:off x="91392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47" name="TextBox 246"/>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8" name="TextBox 247"/>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9" name="TextBox 248"/>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50" name="Rectangle 249"/>
          <p:cNvSpPr/>
          <p:nvPr/>
        </p:nvSpPr>
        <p:spPr>
          <a:xfrm>
            <a:off x="91392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93106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4821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4" name="TextBox 253"/>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5" name="Oval 254"/>
          <p:cNvSpPr/>
          <p:nvPr/>
        </p:nvSpPr>
        <p:spPr>
          <a:xfrm>
            <a:off x="91201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Freeform 255"/>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59" name="TextBox 258"/>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60" name="Oval 259"/>
          <p:cNvSpPr/>
          <p:nvPr/>
        </p:nvSpPr>
        <p:spPr>
          <a:xfrm>
            <a:off x="8963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62" name="Oval 261"/>
          <p:cNvSpPr/>
          <p:nvPr/>
        </p:nvSpPr>
        <p:spPr>
          <a:xfrm>
            <a:off x="91725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4" name="Oval 263"/>
          <p:cNvSpPr/>
          <p:nvPr/>
        </p:nvSpPr>
        <p:spPr>
          <a:xfrm>
            <a:off x="93821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6" name="Oval 265"/>
          <p:cNvSpPr/>
          <p:nvPr/>
        </p:nvSpPr>
        <p:spPr>
          <a:xfrm>
            <a:off x="9591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8" name="Oval 267"/>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70" name="Oval 269"/>
          <p:cNvSpPr/>
          <p:nvPr/>
        </p:nvSpPr>
        <p:spPr>
          <a:xfrm>
            <a:off x="92773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72" name="Oval 271"/>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4" name="TextBox 273"/>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Torii Pharmaceutical Co., Ltd.</a:t>
            </a:r>
          </a:p>
        </p:txBody>
      </p:sp>
      <p:cxnSp>
        <p:nvCxnSpPr>
          <p:cNvPr id="275" name="Connector 274"/>
          <p:cNvCxnSpPr/>
          <p:nvPr/>
        </p:nvCxnSpPr>
        <p:spPr>
          <a:xfrm>
            <a:off x="102155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76" name="TextBox 275"/>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I</a:t>
            </a:r>
          </a:p>
        </p:txBody>
      </p:sp>
      <p:sp>
        <p:nvSpPr>
          <p:cNvPr id="277" name="TextBox 276"/>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278" name="TextBox 277"/>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279" name="Rectangle 278"/>
          <p:cNvSpPr/>
          <p:nvPr/>
        </p:nvSpPr>
        <p:spPr>
          <a:xfrm>
            <a:off x="102155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03870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5584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3" name="TextBox 282"/>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4" name="Oval 283"/>
          <p:cNvSpPr/>
          <p:nvPr/>
        </p:nvSpPr>
        <p:spPr>
          <a:xfrm>
            <a:off x="101965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Freeform 284"/>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88" name="TextBox 287"/>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289" name="Oval 288"/>
          <p:cNvSpPr/>
          <p:nvPr/>
        </p:nvSpPr>
        <p:spPr>
          <a:xfrm>
            <a:off x="100393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91" name="Oval 290"/>
          <p:cNvSpPr/>
          <p:nvPr/>
        </p:nvSpPr>
        <p:spPr>
          <a:xfrm>
            <a:off x="102489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3" name="Oval 292"/>
          <p:cNvSpPr/>
          <p:nvPr/>
        </p:nvSpPr>
        <p:spPr>
          <a:xfrm>
            <a:off x="104584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95" name="Oval 294"/>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97" name="Oval 296"/>
          <p:cNvSpPr/>
          <p:nvPr/>
        </p:nvSpPr>
        <p:spPr>
          <a:xfrm>
            <a:off x="101441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99" name="Oval 298"/>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01" name="Oval 300"/>
          <p:cNvSpPr/>
          <p:nvPr/>
        </p:nvSpPr>
        <p:spPr>
          <a:xfrm>
            <a:off x="105632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03" name="TextBox 302"/>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Allergopharma GmbH &amp; Co. KG</a:t>
            </a:r>
          </a:p>
        </p:txBody>
      </p:sp>
      <p:cxnSp>
        <p:nvCxnSpPr>
          <p:cNvPr id="304" name="Connector 303"/>
          <p:cNvCxnSpPr/>
          <p:nvPr/>
        </p:nvCxnSpPr>
        <p:spPr>
          <a:xfrm>
            <a:off x="112918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05" name="TextBox 304"/>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J</a:t>
            </a:r>
          </a:p>
        </p:txBody>
      </p:sp>
      <p:sp>
        <p:nvSpPr>
          <p:cNvPr id="306" name="TextBox 305"/>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307" name="TextBox 306"/>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308" name="Rectangle 307"/>
          <p:cNvSpPr/>
          <p:nvPr/>
        </p:nvSpPr>
        <p:spPr>
          <a:xfrm>
            <a:off x="112918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14633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16347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2" name="TextBox 311"/>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3" name="Oval 312"/>
          <p:cNvSpPr/>
          <p:nvPr/>
        </p:nvSpPr>
        <p:spPr>
          <a:xfrm>
            <a:off x="112728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Freeform 313"/>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317" name="TextBox 316"/>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318" name="Oval 317"/>
          <p:cNvSpPr/>
          <p:nvPr/>
        </p:nvSpPr>
        <p:spPr>
          <a:xfrm>
            <a:off x="11115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20" name="Oval 319"/>
          <p:cNvSpPr/>
          <p:nvPr/>
        </p:nvSpPr>
        <p:spPr>
          <a:xfrm>
            <a:off x="113252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22" name="Oval 321"/>
          <p:cNvSpPr/>
          <p:nvPr/>
        </p:nvSpPr>
        <p:spPr>
          <a:xfrm>
            <a:off x="115347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TextBox 322"/>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24" name="Oval 323"/>
          <p:cNvSpPr/>
          <p:nvPr/>
        </p:nvSpPr>
        <p:spPr>
          <a:xfrm>
            <a:off x="117443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26" name="Oval 325"/>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28" name="Oval 327"/>
          <p:cNvSpPr/>
          <p:nvPr/>
        </p:nvSpPr>
        <p:spPr>
          <a:xfrm>
            <a:off x="114300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TextBox 328"/>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30" name="Oval 329"/>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32" name="TextBox 331"/>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333" name="Rectangle 332"/>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1535906" y="5716715"/>
            <a:ext cx="1971675" cy="164283"/>
          </a:xfrm>
          <a:prstGeom prst="rect">
            <a:avLst/>
          </a:prstGeom>
          <a:noFill/>
        </p:spPr>
        <p:txBody>
          <a:bodyPr wrap="square" lIns="0" rIns="0" tIns="0" bIns="0" anchor="ctr">
            <a:spAutoFit/>
          </a:bodyPr>
          <a:lstStyle/>
          <a:p>
            <a:pPr algn="l"/>
            <a:r>
              <a:rPr sz="1100" b="0">
                <a:solidFill>
                  <a:srgbClr val="2E2E2E"/>
                </a:solidFill>
                <a:latin typeface="Calibri"/>
              </a:rPr>
              <a:t>Sublingual Immunotherapy (SLIT)</a:t>
            </a:r>
          </a:p>
        </p:txBody>
      </p:sp>
      <p:sp>
        <p:nvSpPr>
          <p:cNvPr id="335" name="Rectangle 334"/>
          <p:cNvSpPr/>
          <p:nvPr/>
        </p:nvSpPr>
        <p:spPr>
          <a:xfrm>
            <a:off x="3564731"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3717131" y="5716715"/>
            <a:ext cx="2197894" cy="164283"/>
          </a:xfrm>
          <a:prstGeom prst="rect">
            <a:avLst/>
          </a:prstGeom>
          <a:noFill/>
        </p:spPr>
        <p:txBody>
          <a:bodyPr wrap="square" lIns="0" rIns="0" tIns="0" bIns="0" anchor="ctr">
            <a:spAutoFit/>
          </a:bodyPr>
          <a:lstStyle/>
          <a:p>
            <a:pPr algn="l"/>
            <a:r>
              <a:rPr sz="1100" b="0">
                <a:solidFill>
                  <a:srgbClr val="2E2E2E"/>
                </a:solidFill>
                <a:latin typeface="Calibri"/>
              </a:rPr>
              <a:t>Subcutaneous Immunotherapy (SCIT)</a:t>
            </a:r>
          </a:p>
        </p:txBody>
      </p:sp>
      <p:sp>
        <p:nvSpPr>
          <p:cNvPr id="337" name="Rectangle 336"/>
          <p:cNvSpPr/>
          <p:nvPr/>
        </p:nvSpPr>
        <p:spPr>
          <a:xfrm>
            <a:off x="5972175"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6124575" y="5716715"/>
            <a:ext cx="1590675" cy="164283"/>
          </a:xfrm>
          <a:prstGeom prst="rect">
            <a:avLst/>
          </a:prstGeom>
          <a:noFill/>
        </p:spPr>
        <p:txBody>
          <a:bodyPr wrap="square" lIns="0" rIns="0" tIns="0" bIns="0" anchor="ctr">
            <a:spAutoFit/>
          </a:bodyPr>
          <a:lstStyle/>
          <a:p>
            <a:pPr algn="l"/>
            <a:r>
              <a:rPr sz="1100" b="0">
                <a:solidFill>
                  <a:srgbClr val="2E2E2E"/>
                </a:solidFill>
                <a:latin typeface="Calibri"/>
              </a:rPr>
              <a:t>Oral Immunotherapy (OIT)</a:t>
            </a:r>
          </a:p>
        </p:txBody>
      </p:sp>
      <p:sp>
        <p:nvSpPr>
          <p:cNvPr id="339" name="Rectangle 338"/>
          <p:cNvSpPr/>
          <p:nvPr/>
        </p:nvSpPr>
        <p:spPr>
          <a:xfrm>
            <a:off x="7772400"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7924800"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341" name="TextBox 340"/>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342" name="TextBox 341"/>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343" name="TextBox 342"/>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344" name="TextBox 343"/>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345" name="TextBox 344"/>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346" name="TextBox 345"/>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347" name="TextBox 346"/>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348" name="TextBox 347"/>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349" name="TextBox 348"/>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350" name="TextBox 349"/>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351" name="TextBox 350"/>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352" name="Oval 351"/>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54" name="TextBox 353"/>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355" name="Oval 354"/>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57" name="TextBox 356"/>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358" name="Oval 357"/>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TextBox 358"/>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60" name="TextBox 359"/>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61" name="Oval 360"/>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63" name="TextBox 362"/>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64" name="Oval 363"/>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66" name="TextBox 365"/>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67" name="Oval 366"/>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69" name="TextBox 368"/>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70" name="Oval 369"/>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TextBox 370"/>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72" name="TextBox 371"/>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73" name="TextBox 372"/>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74" name="TextBox 373"/>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75" name="TextBox 3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76" name="Picture 375" descr="lock.png"/>
          <p:cNvPicPr>
            <a:picLocks noChangeAspect="1"/>
          </p:cNvPicPr>
          <p:nvPr/>
        </p:nvPicPr>
        <p:blipFill>
          <a:blip r:embed="rId4"/>
          <a:stretch>
            <a:fillRect/>
          </a:stretch>
        </p:blipFill>
        <p:spPr>
          <a:xfrm>
            <a:off x="1769213" y="2702524"/>
            <a:ext cx="128699" cy="187198"/>
          </a:xfrm>
          <a:prstGeom prst="rect">
            <a:avLst/>
          </a:prstGeom>
        </p:spPr>
      </p:pic>
      <p:pic>
        <p:nvPicPr>
          <p:cNvPr id="377" name="Picture 376" descr="lock.png"/>
          <p:cNvPicPr>
            <a:picLocks noChangeAspect="1"/>
          </p:cNvPicPr>
          <p:nvPr/>
        </p:nvPicPr>
        <p:blipFill>
          <a:blip r:embed="rId4"/>
          <a:stretch>
            <a:fillRect/>
          </a:stretch>
        </p:blipFill>
        <p:spPr>
          <a:xfrm>
            <a:off x="1769213" y="3031091"/>
            <a:ext cx="128699" cy="187198"/>
          </a:xfrm>
          <a:prstGeom prst="rect">
            <a:avLst/>
          </a:prstGeom>
        </p:spPr>
      </p:pic>
      <p:pic>
        <p:nvPicPr>
          <p:cNvPr id="378" name="Picture 377" descr="lock.png"/>
          <p:cNvPicPr>
            <a:picLocks noChangeAspect="1"/>
          </p:cNvPicPr>
          <p:nvPr/>
        </p:nvPicPr>
        <p:blipFill>
          <a:blip r:embed="rId4"/>
          <a:stretch>
            <a:fillRect/>
          </a:stretch>
        </p:blipFill>
        <p:spPr>
          <a:xfrm>
            <a:off x="1769212" y="3560448"/>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2702524"/>
            <a:ext cx="128699" cy="187198"/>
          </a:xfrm>
          <a:prstGeom prst="rect">
            <a:avLst/>
          </a:prstGeom>
        </p:spPr>
      </p:pic>
      <p:pic>
        <p:nvPicPr>
          <p:cNvPr id="380" name="Picture 379" descr="lock.png"/>
          <p:cNvPicPr>
            <a:picLocks noChangeAspect="1"/>
          </p:cNvPicPr>
          <p:nvPr/>
        </p:nvPicPr>
        <p:blipFill>
          <a:blip r:embed="rId4"/>
          <a:stretch>
            <a:fillRect/>
          </a:stretch>
        </p:blipFill>
        <p:spPr>
          <a:xfrm>
            <a:off x="2845538" y="3031091"/>
            <a:ext cx="128699" cy="187198"/>
          </a:xfrm>
          <a:prstGeom prst="rect">
            <a:avLst/>
          </a:prstGeom>
        </p:spPr>
      </p:pic>
      <p:pic>
        <p:nvPicPr>
          <p:cNvPr id="381" name="Picture 380" descr="lock.png"/>
          <p:cNvPicPr>
            <a:picLocks noChangeAspect="1"/>
          </p:cNvPicPr>
          <p:nvPr/>
        </p:nvPicPr>
        <p:blipFill>
          <a:blip r:embed="rId4"/>
          <a:stretch>
            <a:fillRect/>
          </a:stretch>
        </p:blipFill>
        <p:spPr>
          <a:xfrm>
            <a:off x="2845538" y="3560448"/>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3" y="2702524"/>
            <a:ext cx="128699" cy="187198"/>
          </a:xfrm>
          <a:prstGeom prst="rect">
            <a:avLst/>
          </a:prstGeom>
        </p:spPr>
      </p:pic>
      <p:pic>
        <p:nvPicPr>
          <p:cNvPr id="383" name="Picture 382" descr="lock.png"/>
          <p:cNvPicPr>
            <a:picLocks noChangeAspect="1"/>
          </p:cNvPicPr>
          <p:nvPr/>
        </p:nvPicPr>
        <p:blipFill>
          <a:blip r:embed="rId4"/>
          <a:stretch>
            <a:fillRect/>
          </a:stretch>
        </p:blipFill>
        <p:spPr>
          <a:xfrm>
            <a:off x="3921863" y="3031091"/>
            <a:ext cx="128699" cy="187198"/>
          </a:xfrm>
          <a:prstGeom prst="rect">
            <a:avLst/>
          </a:prstGeom>
        </p:spPr>
      </p:pic>
      <p:pic>
        <p:nvPicPr>
          <p:cNvPr id="384" name="Picture 383" descr="lock.png"/>
          <p:cNvPicPr>
            <a:picLocks noChangeAspect="1"/>
          </p:cNvPicPr>
          <p:nvPr/>
        </p:nvPicPr>
        <p:blipFill>
          <a:blip r:embed="rId4"/>
          <a:stretch>
            <a:fillRect/>
          </a:stretch>
        </p:blipFill>
        <p:spPr>
          <a:xfrm>
            <a:off x="3921862" y="3560448"/>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2702524"/>
            <a:ext cx="128699" cy="187198"/>
          </a:xfrm>
          <a:prstGeom prst="rect">
            <a:avLst/>
          </a:prstGeom>
        </p:spPr>
      </p:pic>
      <p:pic>
        <p:nvPicPr>
          <p:cNvPr id="386" name="Picture 385" descr="lock.png"/>
          <p:cNvPicPr>
            <a:picLocks noChangeAspect="1"/>
          </p:cNvPicPr>
          <p:nvPr/>
        </p:nvPicPr>
        <p:blipFill>
          <a:blip r:embed="rId4"/>
          <a:stretch>
            <a:fillRect/>
          </a:stretch>
        </p:blipFill>
        <p:spPr>
          <a:xfrm>
            <a:off x="4998188" y="3031091"/>
            <a:ext cx="128699" cy="187198"/>
          </a:xfrm>
          <a:prstGeom prst="rect">
            <a:avLst/>
          </a:prstGeom>
        </p:spPr>
      </p:pic>
      <p:pic>
        <p:nvPicPr>
          <p:cNvPr id="387" name="Picture 386" descr="lock.png"/>
          <p:cNvPicPr>
            <a:picLocks noChangeAspect="1"/>
          </p:cNvPicPr>
          <p:nvPr/>
        </p:nvPicPr>
        <p:blipFill>
          <a:blip r:embed="rId4"/>
          <a:stretch>
            <a:fillRect/>
          </a:stretch>
        </p:blipFill>
        <p:spPr>
          <a:xfrm>
            <a:off x="4998188" y="3560448"/>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3" y="2702524"/>
            <a:ext cx="128699" cy="187198"/>
          </a:xfrm>
          <a:prstGeom prst="rect">
            <a:avLst/>
          </a:prstGeom>
        </p:spPr>
      </p:pic>
      <p:pic>
        <p:nvPicPr>
          <p:cNvPr id="389" name="Picture 388" descr="lock.png"/>
          <p:cNvPicPr>
            <a:picLocks noChangeAspect="1"/>
          </p:cNvPicPr>
          <p:nvPr/>
        </p:nvPicPr>
        <p:blipFill>
          <a:blip r:embed="rId4"/>
          <a:stretch>
            <a:fillRect/>
          </a:stretch>
        </p:blipFill>
        <p:spPr>
          <a:xfrm>
            <a:off x="6074513" y="3031091"/>
            <a:ext cx="128699" cy="187198"/>
          </a:xfrm>
          <a:prstGeom prst="rect">
            <a:avLst/>
          </a:prstGeom>
        </p:spPr>
      </p:pic>
      <p:pic>
        <p:nvPicPr>
          <p:cNvPr id="390" name="Picture 389" descr="lock.png"/>
          <p:cNvPicPr>
            <a:picLocks noChangeAspect="1"/>
          </p:cNvPicPr>
          <p:nvPr/>
        </p:nvPicPr>
        <p:blipFill>
          <a:blip r:embed="rId4"/>
          <a:stretch>
            <a:fillRect/>
          </a:stretch>
        </p:blipFill>
        <p:spPr>
          <a:xfrm>
            <a:off x="6074512" y="3560448"/>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2702524"/>
            <a:ext cx="128699" cy="187198"/>
          </a:xfrm>
          <a:prstGeom prst="rect">
            <a:avLst/>
          </a:prstGeom>
        </p:spPr>
      </p:pic>
      <p:pic>
        <p:nvPicPr>
          <p:cNvPr id="392" name="Picture 391" descr="lock.png"/>
          <p:cNvPicPr>
            <a:picLocks noChangeAspect="1"/>
          </p:cNvPicPr>
          <p:nvPr/>
        </p:nvPicPr>
        <p:blipFill>
          <a:blip r:embed="rId4"/>
          <a:stretch>
            <a:fillRect/>
          </a:stretch>
        </p:blipFill>
        <p:spPr>
          <a:xfrm>
            <a:off x="7150838" y="3031091"/>
            <a:ext cx="128699" cy="187198"/>
          </a:xfrm>
          <a:prstGeom prst="rect">
            <a:avLst/>
          </a:prstGeom>
        </p:spPr>
      </p:pic>
      <p:pic>
        <p:nvPicPr>
          <p:cNvPr id="393" name="Picture 392" descr="lock.png"/>
          <p:cNvPicPr>
            <a:picLocks noChangeAspect="1"/>
          </p:cNvPicPr>
          <p:nvPr/>
        </p:nvPicPr>
        <p:blipFill>
          <a:blip r:embed="rId4"/>
          <a:stretch>
            <a:fillRect/>
          </a:stretch>
        </p:blipFill>
        <p:spPr>
          <a:xfrm>
            <a:off x="7150838" y="3560448"/>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3" y="2702524"/>
            <a:ext cx="128699" cy="187198"/>
          </a:xfrm>
          <a:prstGeom prst="rect">
            <a:avLst/>
          </a:prstGeom>
        </p:spPr>
      </p:pic>
      <p:pic>
        <p:nvPicPr>
          <p:cNvPr id="395" name="Picture 394" descr="lock.png"/>
          <p:cNvPicPr>
            <a:picLocks noChangeAspect="1"/>
          </p:cNvPicPr>
          <p:nvPr/>
        </p:nvPicPr>
        <p:blipFill>
          <a:blip r:embed="rId4"/>
          <a:stretch>
            <a:fillRect/>
          </a:stretch>
        </p:blipFill>
        <p:spPr>
          <a:xfrm>
            <a:off x="8227163" y="3031091"/>
            <a:ext cx="128699" cy="187198"/>
          </a:xfrm>
          <a:prstGeom prst="rect">
            <a:avLst/>
          </a:prstGeom>
        </p:spPr>
      </p:pic>
      <p:pic>
        <p:nvPicPr>
          <p:cNvPr id="396" name="Picture 395" descr="lock.png"/>
          <p:cNvPicPr>
            <a:picLocks noChangeAspect="1"/>
          </p:cNvPicPr>
          <p:nvPr/>
        </p:nvPicPr>
        <p:blipFill>
          <a:blip r:embed="rId4"/>
          <a:stretch>
            <a:fillRect/>
          </a:stretch>
        </p:blipFill>
        <p:spPr>
          <a:xfrm>
            <a:off x="8227162" y="3560448"/>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2702524"/>
            <a:ext cx="128699" cy="187198"/>
          </a:xfrm>
          <a:prstGeom prst="rect">
            <a:avLst/>
          </a:prstGeom>
        </p:spPr>
      </p:pic>
      <p:pic>
        <p:nvPicPr>
          <p:cNvPr id="398" name="Picture 397" descr="lock.png"/>
          <p:cNvPicPr>
            <a:picLocks noChangeAspect="1"/>
          </p:cNvPicPr>
          <p:nvPr/>
        </p:nvPicPr>
        <p:blipFill>
          <a:blip r:embed="rId4"/>
          <a:stretch>
            <a:fillRect/>
          </a:stretch>
        </p:blipFill>
        <p:spPr>
          <a:xfrm>
            <a:off x="9303488" y="3031091"/>
            <a:ext cx="128699" cy="187198"/>
          </a:xfrm>
          <a:prstGeom prst="rect">
            <a:avLst/>
          </a:prstGeom>
        </p:spPr>
      </p:pic>
      <p:pic>
        <p:nvPicPr>
          <p:cNvPr id="399" name="Picture 398" descr="lock.png"/>
          <p:cNvPicPr>
            <a:picLocks noChangeAspect="1"/>
          </p:cNvPicPr>
          <p:nvPr/>
        </p:nvPicPr>
        <p:blipFill>
          <a:blip r:embed="rId4"/>
          <a:stretch>
            <a:fillRect/>
          </a:stretch>
        </p:blipFill>
        <p:spPr>
          <a:xfrm>
            <a:off x="9303488" y="3560448"/>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3" y="2702524"/>
            <a:ext cx="128699" cy="187198"/>
          </a:xfrm>
          <a:prstGeom prst="rect">
            <a:avLst/>
          </a:prstGeom>
        </p:spPr>
      </p:pic>
      <p:pic>
        <p:nvPicPr>
          <p:cNvPr id="401" name="Picture 400" descr="lock.png"/>
          <p:cNvPicPr>
            <a:picLocks noChangeAspect="1"/>
          </p:cNvPicPr>
          <p:nvPr/>
        </p:nvPicPr>
        <p:blipFill>
          <a:blip r:embed="rId4"/>
          <a:stretch>
            <a:fillRect/>
          </a:stretch>
        </p:blipFill>
        <p:spPr>
          <a:xfrm>
            <a:off x="10379813" y="3031091"/>
            <a:ext cx="128699" cy="187198"/>
          </a:xfrm>
          <a:prstGeom prst="rect">
            <a:avLst/>
          </a:prstGeom>
        </p:spPr>
      </p:pic>
      <p:pic>
        <p:nvPicPr>
          <p:cNvPr id="402" name="Picture 401" descr="lock.png"/>
          <p:cNvPicPr>
            <a:picLocks noChangeAspect="1"/>
          </p:cNvPicPr>
          <p:nvPr/>
        </p:nvPicPr>
        <p:blipFill>
          <a:blip r:embed="rId4"/>
          <a:stretch>
            <a:fillRect/>
          </a:stretch>
        </p:blipFill>
        <p:spPr>
          <a:xfrm>
            <a:off x="10379812" y="3560448"/>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2702524"/>
            <a:ext cx="128699" cy="187198"/>
          </a:xfrm>
          <a:prstGeom prst="rect">
            <a:avLst/>
          </a:prstGeom>
        </p:spPr>
      </p:pic>
      <p:pic>
        <p:nvPicPr>
          <p:cNvPr id="404" name="Picture 403" descr="lock.png"/>
          <p:cNvPicPr>
            <a:picLocks noChangeAspect="1"/>
          </p:cNvPicPr>
          <p:nvPr/>
        </p:nvPicPr>
        <p:blipFill>
          <a:blip r:embed="rId4"/>
          <a:stretch>
            <a:fillRect/>
          </a:stretch>
        </p:blipFill>
        <p:spPr>
          <a:xfrm>
            <a:off x="11456138" y="3031091"/>
            <a:ext cx="128699" cy="187198"/>
          </a:xfrm>
          <a:prstGeom prst="rect">
            <a:avLst/>
          </a:prstGeom>
        </p:spPr>
      </p:pic>
      <p:pic>
        <p:nvPicPr>
          <p:cNvPr id="405" name="Picture 404"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Advice for Market Vendors / Suppliers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Allergy Immunotherapy Market.</a:t>
            </a:r>
          </a:p>
        </p:txBody>
      </p:sp>
      <p:sp>
        <p:nvSpPr>
          <p:cNvPr id="11" name="Rounded Rectangle 10"/>
          <p:cNvSpPr/>
          <p:nvPr/>
        </p:nvSpPr>
        <p:spPr>
          <a:xfrm>
            <a:off x="142875"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Pricing &amp; Margin Strategy</a:t>
            </a:r>
          </a:p>
        </p:txBody>
      </p:sp>
      <p:sp>
        <p:nvSpPr>
          <p:cNvPr id="13" name="Rectangle 12"/>
          <p:cNvSpPr/>
          <p:nvPr/>
        </p:nvSpPr>
        <p:spPr>
          <a:xfrm>
            <a:off x="276225"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5" name="Rounded Rectangle 14"/>
          <p:cNvSpPr/>
          <p:nvPr/>
        </p:nvSpPr>
        <p:spPr>
          <a:xfrm>
            <a:off x="6191250"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Product &amp; Innovation</a:t>
            </a:r>
          </a:p>
        </p:txBody>
      </p:sp>
      <p:sp>
        <p:nvSpPr>
          <p:cNvPr id="17" name="Rectangle 16"/>
          <p:cNvSpPr/>
          <p:nvPr/>
        </p:nvSpPr>
        <p:spPr>
          <a:xfrm>
            <a:off x="6324600"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Rounded Rectangle 18"/>
          <p:cNvSpPr/>
          <p:nvPr/>
        </p:nvSpPr>
        <p:spPr>
          <a:xfrm>
            <a:off x="142875"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Geographic &amp; Channel Expansion</a:t>
            </a:r>
          </a:p>
        </p:txBody>
      </p:sp>
      <p:sp>
        <p:nvSpPr>
          <p:cNvPr id="21" name="Rectangle 20"/>
          <p:cNvSpPr/>
          <p:nvPr/>
        </p:nvSpPr>
        <p:spPr>
          <a:xfrm>
            <a:off x="276225"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reliable distribution and logistics partnerships to convert demand into fulfilled volume.</a:t>
            </a:r>
          </a:p>
        </p:txBody>
      </p:sp>
      <p:sp>
        <p:nvSpPr>
          <p:cNvPr id="23" name="Rounded Rectangle 22"/>
          <p:cNvSpPr/>
          <p:nvPr/>
        </p:nvSpPr>
        <p:spPr>
          <a:xfrm>
            <a:off x="6191250"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Competitive &amp; Risk Positioning</a:t>
            </a:r>
          </a:p>
        </p:txBody>
      </p:sp>
      <p:sp>
        <p:nvSpPr>
          <p:cNvPr id="25" name="Rectangle 24"/>
          <p:cNvSpPr/>
          <p:nvPr/>
        </p:nvSpPr>
        <p:spPr>
          <a:xfrm>
            <a:off x="6324600"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8" name="TextBox 27"/>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9" name="Picture 28" descr="lock.png"/>
          <p:cNvPicPr>
            <a:picLocks noChangeAspect="1"/>
          </p:cNvPicPr>
          <p:nvPr/>
        </p:nvPicPr>
        <p:blipFill>
          <a:blip r:embed="rId4"/>
          <a:stretch>
            <a:fillRect/>
          </a:stretch>
        </p:blipFill>
        <p:spPr>
          <a:xfrm>
            <a:off x="3460765" y="1762957"/>
            <a:ext cx="134549" cy="195707"/>
          </a:xfrm>
          <a:prstGeom prst="rect">
            <a:avLst/>
          </a:prstGeom>
        </p:spPr>
      </p:pic>
      <p:sp>
        <p:nvSpPr>
          <p:cNvPr id="30" name="TextBox 29"/>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31" name="TextBox 30"/>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2" name="TextBox 31"/>
          <p:cNvSpPr txBox="1"/>
          <p:nvPr/>
        </p:nvSpPr>
        <p:spPr>
          <a:xfrm>
            <a:off x="276225" y="2176279"/>
            <a:ext cx="5462364"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'Sublingual Immunotherapy (SLIT)') to</a:t>
            </a:r>
          </a:p>
        </p:txBody>
      </p:sp>
      <p:sp>
        <p:nvSpPr>
          <p:cNvPr id="33" name="TextBox 32"/>
          <p:cNvSpPr txBox="1"/>
          <p:nvPr/>
        </p:nvSpPr>
        <p:spPr>
          <a:xfrm>
            <a:off x="276225" y="2351539"/>
            <a:ext cx="3419375" cy="194310"/>
          </a:xfrm>
          <a:prstGeom prst="rect">
            <a:avLst/>
          </a:prstGeom>
          <a:noFill/>
        </p:spPr>
        <p:txBody>
          <a:bodyPr wrap="none" lIns="0" rIns="0" tIns="0" bIns="0">
            <a:spAutoFit/>
          </a:bodyPr>
          <a:lstStyle/>
          <a:p>
            <a:r>
              <a:rPr sz="1150" b="0">
                <a:solidFill>
                  <a:srgbClr val="2E2E2E"/>
                </a:solidFill>
                <a:latin typeface="Calibri"/>
              </a:rPr>
              <a:t>lift blended ASP and defend margin as input costs move.</a:t>
            </a:r>
          </a:p>
        </p:txBody>
      </p:sp>
      <p:sp>
        <p:nvSpPr>
          <p:cNvPr id="34" name="TextBox 33"/>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5" name="TextBox 34"/>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6" name="TextBox 35"/>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7" name="Picture 36" descr="lock.png"/>
          <p:cNvPicPr>
            <a:picLocks noChangeAspect="1"/>
          </p:cNvPicPr>
          <p:nvPr/>
        </p:nvPicPr>
        <p:blipFill>
          <a:blip r:embed="rId4"/>
          <a:stretch>
            <a:fillRect/>
          </a:stretch>
        </p:blipFill>
        <p:spPr>
          <a:xfrm>
            <a:off x="7934254" y="1938217"/>
            <a:ext cx="134549" cy="195707"/>
          </a:xfrm>
          <a:prstGeom prst="rect">
            <a:avLst/>
          </a:prstGeom>
        </p:spPr>
      </p:pic>
      <p:sp>
        <p:nvSpPr>
          <p:cNvPr id="38" name="TextBox 37"/>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9" name="TextBox 38"/>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40" name="TextBox 39"/>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41" name="TextBox 40"/>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2" name="TextBox 41"/>
          <p:cNvSpPr txBox="1"/>
          <p:nvPr/>
        </p:nvSpPr>
        <p:spPr>
          <a:xfrm>
            <a:off x="6324600" y="4465602"/>
            <a:ext cx="3133515" cy="194310"/>
          </a:xfrm>
          <a:prstGeom prst="rect">
            <a:avLst/>
          </a:prstGeom>
          <a:noFill/>
        </p:spPr>
        <p:txBody>
          <a:bodyPr wrap="none" lIns="0" rIns="0" tIns="0" bIns="0">
            <a:spAutoFit/>
          </a:bodyPr>
          <a:lstStyle/>
          <a:p>
            <a:r>
              <a:rPr sz="1150" b="0">
                <a:solidFill>
                  <a:srgbClr val="2E2E2E"/>
                </a:solidFill>
                <a:latin typeface="Calibri"/>
              </a:rPr>
              <a:t>▪ Benchmark relentlessly against 'ALK-Abelló A/S' (~</a:t>
            </a:r>
          </a:p>
        </p:txBody>
      </p:sp>
      <p:pic>
        <p:nvPicPr>
          <p:cNvPr id="43" name="Picture 42" descr="lock.png"/>
          <p:cNvPicPr>
            <a:picLocks noChangeAspect="1"/>
          </p:cNvPicPr>
          <p:nvPr/>
        </p:nvPicPr>
        <p:blipFill>
          <a:blip r:embed="rId4"/>
          <a:stretch>
            <a:fillRect/>
          </a:stretch>
        </p:blipFill>
        <p:spPr>
          <a:xfrm>
            <a:off x="9407269" y="4455378"/>
            <a:ext cx="134549" cy="195707"/>
          </a:xfrm>
          <a:prstGeom prst="rect">
            <a:avLst/>
          </a:prstGeom>
        </p:spPr>
      </p:pic>
      <p:sp>
        <p:nvSpPr>
          <p:cNvPr id="44" name="TextBox 43"/>
          <p:cNvSpPr txBox="1"/>
          <p:nvPr/>
        </p:nvSpPr>
        <p:spPr>
          <a:xfrm>
            <a:off x="9582378" y="4465602"/>
            <a:ext cx="2219597" cy="194310"/>
          </a:xfrm>
          <a:prstGeom prst="rect">
            <a:avLst/>
          </a:prstGeom>
          <a:noFill/>
        </p:spPr>
        <p:txBody>
          <a:bodyPr wrap="none" lIns="0" rIns="0" tIns="0" bIns="0">
            <a:spAutoFit/>
          </a:bodyPr>
          <a:lstStyle/>
          <a:p>
            <a:r>
              <a:rPr sz="1150" b="0">
                <a:solidFill>
                  <a:srgbClr val="2E2E2E"/>
                </a:solidFill>
                <a:latin typeface="Calibri"/>
              </a:rPr>
              <a:t>share) match on service and lead on</a:t>
            </a:r>
          </a:p>
        </p:txBody>
      </p:sp>
      <p:sp>
        <p:nvSpPr>
          <p:cNvPr id="45" name="TextBox 44"/>
          <p:cNvSpPr txBox="1"/>
          <p:nvPr/>
        </p:nvSpPr>
        <p:spPr>
          <a:xfrm>
            <a:off x="6324600" y="4640861"/>
            <a:ext cx="1560376" cy="194310"/>
          </a:xfrm>
          <a:prstGeom prst="rect">
            <a:avLst/>
          </a:prstGeom>
          <a:noFill/>
        </p:spPr>
        <p:txBody>
          <a:bodyPr wrap="none" lIns="0" rIns="0" tIns="0" bIns="0">
            <a:spAutoFit/>
          </a:bodyPr>
          <a:lstStyle/>
          <a:p>
            <a:r>
              <a:rPr sz="1150" b="0">
                <a:solidFill>
                  <a:srgbClr val="2E2E2E"/>
                </a:solidFill>
                <a:latin typeface="Calibri"/>
              </a:rPr>
              <a:t>innovation to take share.</a:t>
            </a:r>
          </a:p>
        </p:txBody>
      </p:sp>
      <p:sp>
        <p:nvSpPr>
          <p:cNvPr id="46" name="TextBox 45"/>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7" name="TextBox 46"/>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8" name="TextBox 47"/>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9" name="TextBox 48"/>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Company Value Share (Global)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12" name="Rounded Rectangle 11"/>
          <p:cNvSpPr/>
          <p:nvPr/>
        </p:nvSpPr>
        <p:spPr>
          <a:xfrm>
            <a:off x="142875" y="1354081"/>
            <a:ext cx="75438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4" name="Chart 13"/>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5" name="TextBox 14"/>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
            </a:r>
          </a:p>
          <a:p>
            <a:pPr algn="ctr"/>
            <a:r>
              <a:rPr sz="1300" b="1">
                <a:solidFill>
                  <a:srgbClr val="2E2E2E"/>
                </a:solidFill>
                <a:latin typeface="Calibri"/>
              </a:rPr>
              <a:t/>
            </a:r>
          </a:p>
        </p:txBody>
      </p:sp>
      <p:sp>
        <p:nvSpPr>
          <p:cNvPr id="16" name="Rounded Rectangle 15"/>
          <p:cNvSpPr/>
          <p:nvPr/>
        </p:nvSpPr>
        <p:spPr>
          <a:xfrm>
            <a:off x="7800975" y="1354081"/>
            <a:ext cx="4248150" cy="5220558"/>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8" name="Rectangle 17"/>
          <p:cNvSpPr/>
          <p:nvPr/>
        </p:nvSpPr>
        <p:spPr>
          <a:xfrm>
            <a:off x="7934325" y="1677931"/>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5"/>
          <a:stretch>
            <a:fillRect/>
          </a:stretch>
        </p:blipFill>
        <p:spPr>
          <a:xfrm>
            <a:off x="2533173" y="3678610"/>
            <a:ext cx="523875" cy="762000"/>
          </a:xfrm>
          <a:prstGeom prst="rect">
            <a:avLst/>
          </a:prstGeom>
        </p:spPr>
      </p:pic>
      <p:sp>
        <p:nvSpPr>
          <p:cNvPr id="22" name="TextBox 21"/>
          <p:cNvSpPr txBox="1"/>
          <p:nvPr/>
        </p:nvSpPr>
        <p:spPr>
          <a:xfrm>
            <a:off x="2634865" y="3914616"/>
            <a:ext cx="430029" cy="161696"/>
          </a:xfrm>
          <a:prstGeom prst="rect">
            <a:avLst/>
          </a:prstGeom>
          <a:noFill/>
        </p:spPr>
        <p:txBody>
          <a:bodyPr wrap="none" lIns="0" rIns="0" tIns="0" bIns="0">
            <a:spAutoFit/>
          </a:bodyPr>
          <a:lstStyle/>
          <a:p>
            <a:r>
              <a:rPr sz="935" b="1">
                <a:solidFill>
                  <a:srgbClr val="2E2E2E"/>
                </a:solidFill>
                <a:latin typeface="Calibri"/>
              </a:rPr>
              <a:t>100% =</a:t>
            </a:r>
          </a:p>
        </p:txBody>
      </p:sp>
      <p:pic>
        <p:nvPicPr>
          <p:cNvPr id="23" name="Picture 22" descr="lock.png"/>
          <p:cNvPicPr>
            <a:picLocks noChangeAspect="1"/>
          </p:cNvPicPr>
          <p:nvPr/>
        </p:nvPicPr>
        <p:blipFill>
          <a:blip r:embed="rId5"/>
          <a:stretch>
            <a:fillRect/>
          </a:stretch>
        </p:blipFill>
        <p:spPr>
          <a:xfrm>
            <a:off x="2540344" y="4091735"/>
            <a:ext cx="109510" cy="159288"/>
          </a:xfrm>
          <a:prstGeom prst="rect">
            <a:avLst/>
          </a:prstGeom>
        </p:spPr>
      </p:pic>
      <p:sp>
        <p:nvSpPr>
          <p:cNvPr id="24" name="TextBox 23"/>
          <p:cNvSpPr txBox="1"/>
          <p:nvPr/>
        </p:nvSpPr>
        <p:spPr>
          <a:xfrm>
            <a:off x="2682868" y="4100056"/>
            <a:ext cx="465087" cy="161696"/>
          </a:xfrm>
          <a:prstGeom prst="rect">
            <a:avLst/>
          </a:prstGeom>
          <a:noFill/>
        </p:spPr>
        <p:txBody>
          <a:bodyPr wrap="none" lIns="0" rIns="0" tIns="0" bIns="0">
            <a:spAutoFit/>
          </a:bodyPr>
          <a:lstStyle/>
          <a:p>
            <a:r>
              <a:rPr sz="935" b="1">
                <a:solidFill>
                  <a:srgbClr val="2E2E2E"/>
                </a:solidFill>
                <a:latin typeface="Calibri"/>
              </a:rPr>
              <a:t>US$ Mn</a:t>
            </a:r>
          </a:p>
        </p:txBody>
      </p:sp>
      <p:sp>
        <p:nvSpPr>
          <p:cNvPr id="25" name="TextBox 24"/>
          <p:cNvSpPr txBox="1"/>
          <p:nvPr/>
        </p:nvSpPr>
        <p:spPr>
          <a:xfrm>
            <a:off x="7934325" y="1773181"/>
            <a:ext cx="3629857" cy="194310"/>
          </a:xfrm>
          <a:prstGeom prst="rect">
            <a:avLst/>
          </a:prstGeom>
          <a:noFill/>
        </p:spPr>
        <p:txBody>
          <a:bodyPr wrap="none" lIns="0" rIns="0" tIns="0" bIns="0">
            <a:spAutoFit/>
          </a:bodyPr>
          <a:lstStyle/>
          <a:p>
            <a:r>
              <a:rPr sz="1150" b="0">
                <a:solidFill>
                  <a:srgbClr val="2E2E2E"/>
                </a:solidFill>
                <a:latin typeface="Calibri"/>
              </a:rPr>
              <a:t>ALK-Abelló A/S accounted for the largest share of the global</a:t>
            </a:r>
          </a:p>
        </p:txBody>
      </p:sp>
      <p:sp>
        <p:nvSpPr>
          <p:cNvPr id="26" name="TextBox 25"/>
          <p:cNvSpPr txBox="1"/>
          <p:nvPr/>
        </p:nvSpPr>
        <p:spPr>
          <a:xfrm>
            <a:off x="7934325" y="1948441"/>
            <a:ext cx="3509801" cy="194310"/>
          </a:xfrm>
          <a:prstGeom prst="rect">
            <a:avLst/>
          </a:prstGeom>
          <a:noFill/>
        </p:spPr>
        <p:txBody>
          <a:bodyPr wrap="none" lIns="0" rIns="0" tIns="0" bIns="0">
            <a:spAutoFit/>
          </a:bodyPr>
          <a:lstStyle/>
          <a:p>
            <a:r>
              <a:rPr sz="1150" b="0">
                <a:solidFill>
                  <a:srgbClr val="2E2E2E"/>
                </a:solidFill>
                <a:latin typeface="Calibri"/>
              </a:rPr>
              <a:t>allergy immunotherapy market in 2026. The global allergy</a:t>
            </a:r>
          </a:p>
        </p:txBody>
      </p:sp>
      <p:sp>
        <p:nvSpPr>
          <p:cNvPr id="27" name="TextBox 26"/>
          <p:cNvSpPr txBox="1"/>
          <p:nvPr/>
        </p:nvSpPr>
        <p:spPr>
          <a:xfrm>
            <a:off x="7934325" y="2123701"/>
            <a:ext cx="3962400" cy="194310"/>
          </a:xfrm>
          <a:prstGeom prst="rect">
            <a:avLst/>
          </a:prstGeom>
          <a:noFill/>
        </p:spPr>
        <p:txBody>
          <a:bodyPr wrap="none" lIns="0" rIns="0" tIns="0" bIns="0">
            <a:spAutoFit/>
          </a:bodyPr>
          <a:lstStyle/>
          <a:p>
            <a:r>
              <a:rPr sz="1150" b="0">
                <a:solidFill>
                  <a:srgbClr val="2E2E2E"/>
                </a:solidFill>
                <a:latin typeface="Calibri"/>
              </a:rPr>
              <a:t>immunotherapy market is fragmented, with the top three players</a:t>
            </a:r>
          </a:p>
        </p:txBody>
      </p:sp>
      <p:sp>
        <p:nvSpPr>
          <p:cNvPr id="28" name="TextBox 27"/>
          <p:cNvSpPr txBox="1"/>
          <p:nvPr/>
        </p:nvSpPr>
        <p:spPr>
          <a:xfrm>
            <a:off x="7934325" y="2298961"/>
            <a:ext cx="1744650" cy="194310"/>
          </a:xfrm>
          <a:prstGeom prst="rect">
            <a:avLst/>
          </a:prstGeom>
          <a:noFill/>
        </p:spPr>
        <p:txBody>
          <a:bodyPr wrap="none" lIns="0" rIns="0" tIns="0" bIns="0">
            <a:spAutoFit/>
          </a:bodyPr>
          <a:lstStyle/>
          <a:p>
            <a:r>
              <a:rPr sz="1150" b="0">
                <a:solidFill>
                  <a:srgbClr val="2E2E2E"/>
                </a:solidFill>
                <a:latin typeface="Calibri"/>
              </a:rPr>
              <a:t>accounting for an estimated</a:t>
            </a:r>
          </a:p>
        </p:txBody>
      </p:sp>
      <p:pic>
        <p:nvPicPr>
          <p:cNvPr id="29" name="Picture 28" descr="lock.png"/>
          <p:cNvPicPr>
            <a:picLocks noChangeAspect="1"/>
          </p:cNvPicPr>
          <p:nvPr/>
        </p:nvPicPr>
        <p:blipFill>
          <a:blip r:embed="rId5"/>
          <a:stretch>
            <a:fillRect/>
          </a:stretch>
        </p:blipFill>
        <p:spPr>
          <a:xfrm>
            <a:off x="9628129" y="2288737"/>
            <a:ext cx="134549" cy="195707"/>
          </a:xfrm>
          <a:prstGeom prst="rect">
            <a:avLst/>
          </a:prstGeom>
        </p:spPr>
      </p:pic>
      <p:sp>
        <p:nvSpPr>
          <p:cNvPr id="30" name="TextBox 29"/>
          <p:cNvSpPr txBox="1"/>
          <p:nvPr/>
        </p:nvSpPr>
        <p:spPr>
          <a:xfrm>
            <a:off x="9803238" y="2298961"/>
            <a:ext cx="1758912" cy="194310"/>
          </a:xfrm>
          <a:prstGeom prst="rect">
            <a:avLst/>
          </a:prstGeom>
          <a:noFill/>
        </p:spPr>
        <p:txBody>
          <a:bodyPr wrap="none" lIns="0" rIns="0" tIns="0" bIns="0">
            <a:spAutoFit/>
          </a:bodyPr>
          <a:lstStyle/>
          <a:p>
            <a:r>
              <a:rPr sz="1150" b="0">
                <a:solidFill>
                  <a:srgbClr val="2E2E2E"/>
                </a:solidFill>
                <a:latin typeface="Calibri"/>
              </a:rPr>
              <a:t>share of the market in 2026.</a:t>
            </a:r>
          </a:p>
        </p:txBody>
      </p:sp>
      <p:sp>
        <p:nvSpPr>
          <p:cNvPr id="31" name="TextBox 30"/>
          <p:cNvSpPr txBox="1"/>
          <p:nvPr/>
        </p:nvSpPr>
        <p:spPr>
          <a:xfrm>
            <a:off x="7934325" y="2526799"/>
            <a:ext cx="2633750" cy="194310"/>
          </a:xfrm>
          <a:prstGeom prst="rect">
            <a:avLst/>
          </a:prstGeom>
          <a:noFill/>
        </p:spPr>
        <p:txBody>
          <a:bodyPr wrap="none" lIns="0" rIns="0" tIns="0" bIns="0">
            <a:spAutoFit/>
          </a:bodyPr>
          <a:lstStyle/>
          <a:p>
            <a:r>
              <a:rPr sz="1150" b="0">
                <a:solidFill>
                  <a:srgbClr val="2E2E2E"/>
                </a:solidFill>
                <a:latin typeface="Calibri"/>
              </a:rPr>
              <a:t>ALK-Abelló A/S accounted for an estimated</a:t>
            </a:r>
          </a:p>
        </p:txBody>
      </p:sp>
      <p:pic>
        <p:nvPicPr>
          <p:cNvPr id="32" name="Picture 31" descr="lock.png"/>
          <p:cNvPicPr>
            <a:picLocks noChangeAspect="1"/>
          </p:cNvPicPr>
          <p:nvPr/>
        </p:nvPicPr>
        <p:blipFill>
          <a:blip r:embed="rId5"/>
          <a:stretch>
            <a:fillRect/>
          </a:stretch>
        </p:blipFill>
        <p:spPr>
          <a:xfrm>
            <a:off x="10517229" y="2516575"/>
            <a:ext cx="134549" cy="195707"/>
          </a:xfrm>
          <a:prstGeom prst="rect">
            <a:avLst/>
          </a:prstGeom>
        </p:spPr>
      </p:pic>
      <p:sp>
        <p:nvSpPr>
          <p:cNvPr id="33" name="TextBox 32"/>
          <p:cNvSpPr txBox="1"/>
          <p:nvPr/>
        </p:nvSpPr>
        <p:spPr>
          <a:xfrm>
            <a:off x="10692339" y="2526799"/>
            <a:ext cx="789905" cy="194310"/>
          </a:xfrm>
          <a:prstGeom prst="rect">
            <a:avLst/>
          </a:prstGeom>
          <a:noFill/>
        </p:spPr>
        <p:txBody>
          <a:bodyPr wrap="none" lIns="0" rIns="0" tIns="0" bIns="0">
            <a:spAutoFit/>
          </a:bodyPr>
          <a:lstStyle/>
          <a:p>
            <a:r>
              <a:rPr sz="1150" b="0">
                <a:solidFill>
                  <a:srgbClr val="2E2E2E"/>
                </a:solidFill>
                <a:latin typeface="Calibri"/>
              </a:rPr>
              <a:t>share of the</a:t>
            </a:r>
          </a:p>
        </p:txBody>
      </p:sp>
      <p:sp>
        <p:nvSpPr>
          <p:cNvPr id="34" name="TextBox 33"/>
          <p:cNvSpPr txBox="1"/>
          <p:nvPr/>
        </p:nvSpPr>
        <p:spPr>
          <a:xfrm>
            <a:off x="7934325" y="2702058"/>
            <a:ext cx="3711172" cy="194310"/>
          </a:xfrm>
          <a:prstGeom prst="rect">
            <a:avLst/>
          </a:prstGeom>
          <a:noFill/>
        </p:spPr>
        <p:txBody>
          <a:bodyPr wrap="none" lIns="0" rIns="0" tIns="0" bIns="0">
            <a:spAutoFit/>
          </a:bodyPr>
          <a:lstStyle/>
          <a:p>
            <a:r>
              <a:rPr sz="1150" b="0">
                <a:solidFill>
                  <a:srgbClr val="2E2E2E"/>
                </a:solidFill>
                <a:latin typeface="Calibri"/>
              </a:rPr>
              <a:t>market, followed by Stallergenes Greer International AG with</a:t>
            </a:r>
          </a:p>
        </p:txBody>
      </p:sp>
      <p:pic>
        <p:nvPicPr>
          <p:cNvPr id="35" name="Picture 34" descr="lock.png"/>
          <p:cNvPicPr>
            <a:picLocks noChangeAspect="1"/>
          </p:cNvPicPr>
          <p:nvPr/>
        </p:nvPicPr>
        <p:blipFill>
          <a:blip r:embed="rId5"/>
          <a:stretch>
            <a:fillRect/>
          </a:stretch>
        </p:blipFill>
        <p:spPr>
          <a:xfrm>
            <a:off x="11594651" y="2691835"/>
            <a:ext cx="134549" cy="195707"/>
          </a:xfrm>
          <a:prstGeom prst="rect">
            <a:avLst/>
          </a:prstGeom>
        </p:spPr>
      </p:pic>
      <p:sp>
        <p:nvSpPr>
          <p:cNvPr id="36" name="TextBox 35"/>
          <p:cNvSpPr txBox="1"/>
          <p:nvPr/>
        </p:nvSpPr>
        <p:spPr>
          <a:xfrm>
            <a:off x="11769760" y="2702058"/>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7934325" y="2877318"/>
            <a:ext cx="3593055" cy="194310"/>
          </a:xfrm>
          <a:prstGeom prst="rect">
            <a:avLst/>
          </a:prstGeom>
          <a:noFill/>
        </p:spPr>
        <p:txBody>
          <a:bodyPr wrap="none" lIns="0" rIns="0" tIns="0" bIns="0">
            <a:spAutoFit/>
          </a:bodyPr>
          <a:lstStyle/>
          <a:p>
            <a:r>
              <a:rPr sz="1150" b="0">
                <a:solidFill>
                  <a:srgbClr val="2E2E2E"/>
                </a:solidFill>
                <a:latin typeface="Calibri"/>
              </a:rPr>
              <a:t>Key players are focusing on product innovation, geographic</a:t>
            </a:r>
          </a:p>
        </p:txBody>
      </p:sp>
      <p:sp>
        <p:nvSpPr>
          <p:cNvPr id="38" name="TextBox 37"/>
          <p:cNvSpPr txBox="1"/>
          <p:nvPr/>
        </p:nvSpPr>
        <p:spPr>
          <a:xfrm>
            <a:off x="7934325" y="3052578"/>
            <a:ext cx="3882628" cy="194310"/>
          </a:xfrm>
          <a:prstGeom prst="rect">
            <a:avLst/>
          </a:prstGeom>
          <a:noFill/>
        </p:spPr>
        <p:txBody>
          <a:bodyPr wrap="none" lIns="0" rIns="0" tIns="0" bIns="0">
            <a:spAutoFit/>
          </a:bodyPr>
          <a:lstStyle/>
          <a:p>
            <a:r>
              <a:rPr sz="1150" b="0">
                <a:solidFill>
                  <a:srgbClr val="2E2E2E"/>
                </a:solidFill>
                <a:latin typeface="Calibri"/>
              </a:rPr>
              <a:t>expansion and strategic partnerships to strengthen their market</a:t>
            </a:r>
          </a:p>
        </p:txBody>
      </p:sp>
      <p:sp>
        <p:nvSpPr>
          <p:cNvPr id="39" name="TextBox 38"/>
          <p:cNvSpPr txBox="1"/>
          <p:nvPr/>
        </p:nvSpPr>
        <p:spPr>
          <a:xfrm>
            <a:off x="7934325" y="3227838"/>
            <a:ext cx="593935" cy="194310"/>
          </a:xfrm>
          <a:prstGeom prst="rect">
            <a:avLst/>
          </a:prstGeom>
          <a:noFill/>
        </p:spPr>
        <p:txBody>
          <a:bodyPr wrap="none" lIns="0" rIns="0" tIns="0" bIns="0">
            <a:spAutoFit/>
          </a:bodyPr>
          <a:lstStyle/>
          <a:p>
            <a:r>
              <a:rPr sz="1150" b="0">
                <a:solidFill>
                  <a:srgbClr val="2E2E2E"/>
                </a:solidFill>
                <a:latin typeface="Calibri"/>
              </a:rPr>
              <a:t>position.</a:t>
            </a:r>
          </a:p>
        </p:txBody>
      </p:sp>
      <p:sp>
        <p:nvSpPr>
          <p:cNvPr id="40" name="TextBox 39"/>
          <p:cNvSpPr txBox="1"/>
          <p:nvPr/>
        </p:nvSpPr>
        <p:spPr>
          <a:xfrm>
            <a:off x="7934325" y="345567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41" name="TextBox 40"/>
          <p:cNvSpPr txBox="1"/>
          <p:nvPr/>
        </p:nvSpPr>
        <p:spPr>
          <a:xfrm>
            <a:off x="7934325" y="363093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42" name="lockshield_14"/>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Company Share by Product Type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therapy format, highlighting where leadership differs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Sublingual Immunotherapy (SLIT)</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Subcutaneous Immunotherapy (SCIT)</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Oral Immunotherapy (OIT)</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3592131" cy="186689"/>
          </a:xfrm>
          <a:prstGeom prst="rect">
            <a:avLst/>
          </a:prstGeom>
          <a:noFill/>
        </p:spPr>
        <p:txBody>
          <a:bodyPr wrap="none" lIns="0" rIns="0" tIns="0" bIns="0">
            <a:spAutoFit/>
          </a:bodyPr>
          <a:lstStyle/>
          <a:p>
            <a:r>
              <a:rPr sz="1100" b="0">
                <a:solidFill>
                  <a:srgbClr val="2E2E2E"/>
                </a:solidFill>
                <a:latin typeface="Calibri"/>
              </a:rPr>
              <a:t>▪ Sublingual Immunotherapy (SLIT): 'ALK-Abelló A/S' leads at ~</a:t>
            </a:r>
          </a:p>
        </p:txBody>
      </p:sp>
      <p:pic>
        <p:nvPicPr>
          <p:cNvPr id="29" name="Picture 28" descr="lock.png"/>
          <p:cNvPicPr>
            <a:picLocks noChangeAspect="1"/>
          </p:cNvPicPr>
          <p:nvPr/>
        </p:nvPicPr>
        <p:blipFill>
          <a:blip r:embed="rId7"/>
          <a:stretch>
            <a:fillRect/>
          </a:stretch>
        </p:blipFill>
        <p:spPr>
          <a:xfrm>
            <a:off x="3816407" y="5012560"/>
            <a:ext cx="128699" cy="187198"/>
          </a:xfrm>
          <a:prstGeom prst="rect">
            <a:avLst/>
          </a:prstGeom>
        </p:spPr>
      </p:pic>
      <p:sp>
        <p:nvSpPr>
          <p:cNvPr id="30" name="TextBox 29"/>
          <p:cNvSpPr txBox="1"/>
          <p:nvPr/>
        </p:nvSpPr>
        <p:spPr>
          <a:xfrm>
            <a:off x="3983903" y="5022340"/>
            <a:ext cx="1917402" cy="186689"/>
          </a:xfrm>
          <a:prstGeom prst="rect">
            <a:avLst/>
          </a:prstGeom>
          <a:noFill/>
        </p:spPr>
        <p:txBody>
          <a:bodyPr wrap="none" lIns="0" rIns="0" tIns="0" bIns="0">
            <a:spAutoFit/>
          </a:bodyPr>
          <a:lstStyle/>
          <a:p>
            <a:r>
              <a:rPr sz="1100" b="0">
                <a:solidFill>
                  <a:srgbClr val="2E2E2E"/>
                </a:solidFill>
                <a:latin typeface="Calibri"/>
              </a:rPr>
              <a:t>, ahead of 'HAL Allergy Group' (~</a:t>
            </a:r>
          </a:p>
        </p:txBody>
      </p:sp>
      <p:pic>
        <p:nvPicPr>
          <p:cNvPr id="31" name="Picture 30" descr="lock.png"/>
          <p:cNvPicPr>
            <a:picLocks noChangeAspect="1"/>
          </p:cNvPicPr>
          <p:nvPr/>
        </p:nvPicPr>
        <p:blipFill>
          <a:blip r:embed="rId7"/>
          <a:stretch>
            <a:fillRect/>
          </a:stretch>
        </p:blipFill>
        <p:spPr>
          <a:xfrm>
            <a:off x="5849357" y="5012560"/>
            <a:ext cx="128699" cy="187198"/>
          </a:xfrm>
          <a:prstGeom prst="rect">
            <a:avLst/>
          </a:prstGeom>
        </p:spPr>
      </p:pic>
      <p:sp>
        <p:nvSpPr>
          <p:cNvPr id="32" name="TextBox 31"/>
          <p:cNvSpPr txBox="1"/>
          <p:nvPr/>
        </p:nvSpPr>
        <p:spPr>
          <a:xfrm>
            <a:off x="6016853" y="5022340"/>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7293493" y="5012560"/>
            <a:ext cx="128699" cy="187198"/>
          </a:xfrm>
          <a:prstGeom prst="rect">
            <a:avLst/>
          </a:prstGeom>
        </p:spPr>
      </p:pic>
      <p:sp>
        <p:nvSpPr>
          <p:cNvPr id="34" name="TextBox 33"/>
          <p:cNvSpPr txBox="1"/>
          <p:nvPr/>
        </p:nvSpPr>
        <p:spPr>
          <a:xfrm>
            <a:off x="7460989" y="5022340"/>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8948816" y="5012560"/>
            <a:ext cx="128699" cy="187198"/>
          </a:xfrm>
          <a:prstGeom prst="rect">
            <a:avLst/>
          </a:prstGeom>
        </p:spPr>
      </p:pic>
      <p:sp>
        <p:nvSpPr>
          <p:cNvPr id="36" name="TextBox 35"/>
          <p:cNvSpPr txBox="1"/>
          <p:nvPr/>
        </p:nvSpPr>
        <p:spPr>
          <a:xfrm>
            <a:off x="9116312" y="502234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7" name="TextBox 36"/>
          <p:cNvSpPr txBox="1"/>
          <p:nvPr/>
        </p:nvSpPr>
        <p:spPr>
          <a:xfrm>
            <a:off x="276225" y="5240272"/>
            <a:ext cx="4332684" cy="186689"/>
          </a:xfrm>
          <a:prstGeom prst="rect">
            <a:avLst/>
          </a:prstGeom>
          <a:noFill/>
        </p:spPr>
        <p:txBody>
          <a:bodyPr wrap="none" lIns="0" rIns="0" tIns="0" bIns="0">
            <a:spAutoFit/>
          </a:bodyPr>
          <a:lstStyle/>
          <a:p>
            <a:r>
              <a:rPr sz="1100" b="0">
                <a:solidFill>
                  <a:srgbClr val="2E2E2E"/>
                </a:solidFill>
                <a:latin typeface="Calibri"/>
              </a:rPr>
              <a:t>▪ Subcutaneous Immunotherapy (SCIT): 'Allergy Therapeutics plc' leads at ~</a:t>
            </a:r>
          </a:p>
        </p:txBody>
      </p:sp>
      <p:pic>
        <p:nvPicPr>
          <p:cNvPr id="38" name="Picture 37" descr="lock.png"/>
          <p:cNvPicPr>
            <a:picLocks noChangeAspect="1"/>
          </p:cNvPicPr>
          <p:nvPr/>
        </p:nvPicPr>
        <p:blipFill>
          <a:blip r:embed="rId7"/>
          <a:stretch>
            <a:fillRect/>
          </a:stretch>
        </p:blipFill>
        <p:spPr>
          <a:xfrm>
            <a:off x="4556960" y="5230492"/>
            <a:ext cx="128699" cy="187198"/>
          </a:xfrm>
          <a:prstGeom prst="rect">
            <a:avLst/>
          </a:prstGeom>
        </p:spPr>
      </p:pic>
      <p:sp>
        <p:nvSpPr>
          <p:cNvPr id="39" name="TextBox 38"/>
          <p:cNvSpPr txBox="1"/>
          <p:nvPr/>
        </p:nvSpPr>
        <p:spPr>
          <a:xfrm>
            <a:off x="4724456" y="5240272"/>
            <a:ext cx="2899378" cy="186689"/>
          </a:xfrm>
          <a:prstGeom prst="rect">
            <a:avLst/>
          </a:prstGeom>
          <a:noFill/>
        </p:spPr>
        <p:txBody>
          <a:bodyPr wrap="none" lIns="0" rIns="0" tIns="0" bIns="0">
            <a:spAutoFit/>
          </a:bodyPr>
          <a:lstStyle/>
          <a:p>
            <a:r>
              <a:rPr sz="1100" b="0">
                <a:solidFill>
                  <a:srgbClr val="2E2E2E"/>
                </a:solidFill>
                <a:latin typeface="Calibri"/>
              </a:rPr>
              <a:t>, ahead of 'Stallergenes Greer International AG' (~</a:t>
            </a:r>
          </a:p>
        </p:txBody>
      </p:sp>
      <p:pic>
        <p:nvPicPr>
          <p:cNvPr id="40" name="Picture 39" descr="lock.png"/>
          <p:cNvPicPr>
            <a:picLocks noChangeAspect="1"/>
          </p:cNvPicPr>
          <p:nvPr/>
        </p:nvPicPr>
        <p:blipFill>
          <a:blip r:embed="rId7"/>
          <a:stretch>
            <a:fillRect/>
          </a:stretch>
        </p:blipFill>
        <p:spPr>
          <a:xfrm>
            <a:off x="7571886" y="5230492"/>
            <a:ext cx="128699" cy="187198"/>
          </a:xfrm>
          <a:prstGeom prst="rect">
            <a:avLst/>
          </a:prstGeom>
        </p:spPr>
      </p:pic>
      <p:sp>
        <p:nvSpPr>
          <p:cNvPr id="41" name="TextBox 40"/>
          <p:cNvSpPr txBox="1"/>
          <p:nvPr/>
        </p:nvSpPr>
        <p:spPr>
          <a:xfrm>
            <a:off x="7739382" y="5240272"/>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9016022" y="5230492"/>
            <a:ext cx="128699" cy="187198"/>
          </a:xfrm>
          <a:prstGeom prst="rect">
            <a:avLst/>
          </a:prstGeom>
        </p:spPr>
      </p:pic>
      <p:sp>
        <p:nvSpPr>
          <p:cNvPr id="43" name="TextBox 42"/>
          <p:cNvSpPr txBox="1"/>
          <p:nvPr/>
        </p:nvSpPr>
        <p:spPr>
          <a:xfrm>
            <a:off x="9183518" y="5240272"/>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10671345" y="5230492"/>
            <a:ext cx="128699" cy="187198"/>
          </a:xfrm>
          <a:prstGeom prst="rect">
            <a:avLst/>
          </a:prstGeom>
        </p:spPr>
      </p:pic>
      <p:sp>
        <p:nvSpPr>
          <p:cNvPr id="45" name="TextBox 44"/>
          <p:cNvSpPr txBox="1"/>
          <p:nvPr/>
        </p:nvSpPr>
        <p:spPr>
          <a:xfrm>
            <a:off x="10838841" y="524027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276225" y="5458204"/>
            <a:ext cx="3215323" cy="186689"/>
          </a:xfrm>
          <a:prstGeom prst="rect">
            <a:avLst/>
          </a:prstGeom>
          <a:noFill/>
        </p:spPr>
        <p:txBody>
          <a:bodyPr wrap="none" lIns="0" rIns="0" tIns="0" bIns="0">
            <a:spAutoFit/>
          </a:bodyPr>
          <a:lstStyle/>
          <a:p>
            <a:r>
              <a:rPr sz="1100" b="0">
                <a:solidFill>
                  <a:srgbClr val="2E2E2E"/>
                </a:solidFill>
                <a:latin typeface="Calibri"/>
              </a:rPr>
              <a:t>▪ Oral Immunotherapy (OIT): 'ALK-Abelló A/S' leads at ~</a:t>
            </a:r>
          </a:p>
        </p:txBody>
      </p:sp>
      <p:pic>
        <p:nvPicPr>
          <p:cNvPr id="47" name="Picture 46" descr="lock.png"/>
          <p:cNvPicPr>
            <a:picLocks noChangeAspect="1"/>
          </p:cNvPicPr>
          <p:nvPr/>
        </p:nvPicPr>
        <p:blipFill>
          <a:blip r:embed="rId7"/>
          <a:stretch>
            <a:fillRect/>
          </a:stretch>
        </p:blipFill>
        <p:spPr>
          <a:xfrm>
            <a:off x="3439599" y="5448424"/>
            <a:ext cx="128699" cy="187198"/>
          </a:xfrm>
          <a:prstGeom prst="rect">
            <a:avLst/>
          </a:prstGeom>
        </p:spPr>
      </p:pic>
      <p:sp>
        <p:nvSpPr>
          <p:cNvPr id="48" name="TextBox 47"/>
          <p:cNvSpPr txBox="1"/>
          <p:nvPr/>
        </p:nvSpPr>
        <p:spPr>
          <a:xfrm>
            <a:off x="3607095" y="5458204"/>
            <a:ext cx="2899378" cy="186689"/>
          </a:xfrm>
          <a:prstGeom prst="rect">
            <a:avLst/>
          </a:prstGeom>
          <a:noFill/>
        </p:spPr>
        <p:txBody>
          <a:bodyPr wrap="none" lIns="0" rIns="0" tIns="0" bIns="0">
            <a:spAutoFit/>
          </a:bodyPr>
          <a:lstStyle/>
          <a:p>
            <a:r>
              <a:rPr sz="1100" b="0">
                <a:solidFill>
                  <a:srgbClr val="2E2E2E"/>
                </a:solidFill>
                <a:latin typeface="Calibri"/>
              </a:rPr>
              <a:t>, ahead of 'Stallergenes Greer International AG' (~</a:t>
            </a:r>
          </a:p>
        </p:txBody>
      </p:sp>
      <p:pic>
        <p:nvPicPr>
          <p:cNvPr id="49" name="Picture 48" descr="lock.png"/>
          <p:cNvPicPr>
            <a:picLocks noChangeAspect="1"/>
          </p:cNvPicPr>
          <p:nvPr/>
        </p:nvPicPr>
        <p:blipFill>
          <a:blip r:embed="rId7"/>
          <a:stretch>
            <a:fillRect/>
          </a:stretch>
        </p:blipFill>
        <p:spPr>
          <a:xfrm>
            <a:off x="6454525" y="5448424"/>
            <a:ext cx="128699" cy="187198"/>
          </a:xfrm>
          <a:prstGeom prst="rect">
            <a:avLst/>
          </a:prstGeom>
        </p:spPr>
      </p:pic>
      <p:sp>
        <p:nvSpPr>
          <p:cNvPr id="50" name="TextBox 49"/>
          <p:cNvSpPr txBox="1"/>
          <p:nvPr/>
        </p:nvSpPr>
        <p:spPr>
          <a:xfrm>
            <a:off x="6622021" y="5458204"/>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7898661" y="5448424"/>
            <a:ext cx="128699" cy="187198"/>
          </a:xfrm>
          <a:prstGeom prst="rect">
            <a:avLst/>
          </a:prstGeom>
        </p:spPr>
      </p:pic>
      <p:sp>
        <p:nvSpPr>
          <p:cNvPr id="52" name="TextBox 51"/>
          <p:cNvSpPr txBox="1"/>
          <p:nvPr/>
        </p:nvSpPr>
        <p:spPr>
          <a:xfrm>
            <a:off x="8066157" y="5458204"/>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9553984" y="5448424"/>
            <a:ext cx="128699" cy="187198"/>
          </a:xfrm>
          <a:prstGeom prst="rect">
            <a:avLst/>
          </a:prstGeom>
        </p:spPr>
      </p:pic>
      <p:sp>
        <p:nvSpPr>
          <p:cNvPr id="54" name="TextBox 53"/>
          <p:cNvSpPr txBox="1"/>
          <p:nvPr/>
        </p:nvSpPr>
        <p:spPr>
          <a:xfrm>
            <a:off x="9721480" y="5458204"/>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55" name="TextBox 54"/>
          <p:cNvSpPr txBox="1"/>
          <p:nvPr/>
        </p:nvSpPr>
        <p:spPr>
          <a:xfrm>
            <a:off x="276225" y="5676136"/>
            <a:ext cx="8524502" cy="186689"/>
          </a:xfrm>
          <a:prstGeom prst="rect">
            <a:avLst/>
          </a:prstGeom>
          <a:noFill/>
        </p:spPr>
        <p:txBody>
          <a:bodyPr wrap="none" lIns="0" rIns="0" tIns="0" bIns="0">
            <a:spAutoFit/>
          </a:bodyPr>
          <a:lstStyle/>
          <a:p>
            <a:r>
              <a:rPr sz="1100" b="0">
                <a:solidFill>
                  <a:srgbClr val="2E2E2E"/>
                </a:solidFill>
                <a:latin typeface="Calibri"/>
              </a:rPr>
              <a:t>▪ Leadership shifts across formulations a strong position in one product type does not carry over to the others, so product-level targeting is essential.</a:t>
            </a:r>
          </a:p>
        </p:txBody>
      </p:sp>
      <p:sp>
        <p:nvSpPr>
          <p:cNvPr id="56" name="TextBox 55"/>
          <p:cNvSpPr txBox="1"/>
          <p:nvPr/>
        </p:nvSpPr>
        <p:spPr>
          <a:xfrm>
            <a:off x="276225" y="5894068"/>
            <a:ext cx="6908403" cy="186689"/>
          </a:xfrm>
          <a:prstGeom prst="rect">
            <a:avLst/>
          </a:prstGeom>
          <a:noFill/>
        </p:spPr>
        <p:txBody>
          <a:bodyPr wrap="none" lIns="0" rIns="0" tIns="0" bIns="0">
            <a:spAutoFit/>
          </a:bodyPr>
          <a:lstStyle/>
          <a:p>
            <a:r>
              <a:rPr sz="110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Company Share by Region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South Asia &amp; Pacific</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543835" cy="186689"/>
          </a:xfrm>
          <a:prstGeom prst="rect">
            <a:avLst/>
          </a:prstGeom>
          <a:noFill/>
        </p:spPr>
        <p:txBody>
          <a:bodyPr wrap="none" lIns="0" rIns="0" tIns="0" bIns="0">
            <a:spAutoFit/>
          </a:bodyPr>
          <a:lstStyle/>
          <a:p>
            <a:r>
              <a:rPr sz="1100" b="0">
                <a:solidFill>
                  <a:srgbClr val="2E2E2E"/>
                </a:solidFill>
                <a:latin typeface="Calibri"/>
              </a:rPr>
              <a:t>▪ North America: 'ALK-Abelló A/S' leads at ~</a:t>
            </a:r>
          </a:p>
        </p:txBody>
      </p:sp>
      <p:pic>
        <p:nvPicPr>
          <p:cNvPr id="29" name="Picture 28" descr="lock.png"/>
          <p:cNvPicPr>
            <a:picLocks noChangeAspect="1"/>
          </p:cNvPicPr>
          <p:nvPr/>
        </p:nvPicPr>
        <p:blipFill>
          <a:blip r:embed="rId7"/>
          <a:stretch>
            <a:fillRect/>
          </a:stretch>
        </p:blipFill>
        <p:spPr>
          <a:xfrm>
            <a:off x="2768112" y="5012560"/>
            <a:ext cx="128699" cy="187198"/>
          </a:xfrm>
          <a:prstGeom prst="rect">
            <a:avLst/>
          </a:prstGeom>
        </p:spPr>
      </p:pic>
      <p:sp>
        <p:nvSpPr>
          <p:cNvPr id="30" name="TextBox 29"/>
          <p:cNvSpPr txBox="1"/>
          <p:nvPr/>
        </p:nvSpPr>
        <p:spPr>
          <a:xfrm>
            <a:off x="2935607" y="5022340"/>
            <a:ext cx="2899378" cy="186689"/>
          </a:xfrm>
          <a:prstGeom prst="rect">
            <a:avLst/>
          </a:prstGeom>
          <a:noFill/>
        </p:spPr>
        <p:txBody>
          <a:bodyPr wrap="none" lIns="0" rIns="0" tIns="0" bIns="0">
            <a:spAutoFit/>
          </a:bodyPr>
          <a:lstStyle/>
          <a:p>
            <a:r>
              <a:rPr sz="1100" b="0">
                <a:solidFill>
                  <a:srgbClr val="2E2E2E"/>
                </a:solidFill>
                <a:latin typeface="Calibri"/>
              </a:rPr>
              <a:t>, ahead of 'Stallergenes Greer International AG' (~</a:t>
            </a:r>
          </a:p>
        </p:txBody>
      </p:sp>
      <p:pic>
        <p:nvPicPr>
          <p:cNvPr id="31" name="Picture 30" descr="lock.png"/>
          <p:cNvPicPr>
            <a:picLocks noChangeAspect="1"/>
          </p:cNvPicPr>
          <p:nvPr/>
        </p:nvPicPr>
        <p:blipFill>
          <a:blip r:embed="rId7"/>
          <a:stretch>
            <a:fillRect/>
          </a:stretch>
        </p:blipFill>
        <p:spPr>
          <a:xfrm>
            <a:off x="5783037" y="5012560"/>
            <a:ext cx="128699" cy="187198"/>
          </a:xfrm>
          <a:prstGeom prst="rect">
            <a:avLst/>
          </a:prstGeom>
        </p:spPr>
      </p:pic>
      <p:sp>
        <p:nvSpPr>
          <p:cNvPr id="32" name="TextBox 31"/>
          <p:cNvSpPr txBox="1"/>
          <p:nvPr/>
        </p:nvSpPr>
        <p:spPr>
          <a:xfrm>
            <a:off x="5950533" y="5022340"/>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7227173" y="5012560"/>
            <a:ext cx="128699" cy="187198"/>
          </a:xfrm>
          <a:prstGeom prst="rect">
            <a:avLst/>
          </a:prstGeom>
        </p:spPr>
      </p:pic>
      <p:sp>
        <p:nvSpPr>
          <p:cNvPr id="34" name="TextBox 33"/>
          <p:cNvSpPr txBox="1"/>
          <p:nvPr/>
        </p:nvSpPr>
        <p:spPr>
          <a:xfrm>
            <a:off x="7394669" y="5022340"/>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8882496" y="5012560"/>
            <a:ext cx="128699" cy="187198"/>
          </a:xfrm>
          <a:prstGeom prst="rect">
            <a:avLst/>
          </a:prstGeom>
        </p:spPr>
      </p:pic>
      <p:sp>
        <p:nvSpPr>
          <p:cNvPr id="36" name="TextBox 35"/>
          <p:cNvSpPr txBox="1"/>
          <p:nvPr/>
        </p:nvSpPr>
        <p:spPr>
          <a:xfrm>
            <a:off x="9049992" y="502234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7" name="TextBox 36"/>
          <p:cNvSpPr txBox="1"/>
          <p:nvPr/>
        </p:nvSpPr>
        <p:spPr>
          <a:xfrm>
            <a:off x="276225" y="5240272"/>
            <a:ext cx="2117095" cy="186689"/>
          </a:xfrm>
          <a:prstGeom prst="rect">
            <a:avLst/>
          </a:prstGeom>
          <a:noFill/>
        </p:spPr>
        <p:txBody>
          <a:bodyPr wrap="none" lIns="0" rIns="0" tIns="0" bIns="0">
            <a:spAutoFit/>
          </a:bodyPr>
          <a:lstStyle/>
          <a:p>
            <a:r>
              <a:rPr sz="1100" b="0">
                <a:solidFill>
                  <a:srgbClr val="2E2E2E"/>
                </a:solidFill>
                <a:latin typeface="Calibri"/>
              </a:rPr>
              <a:t>▪ Europe: 'ALK-Abelló A/S' leads at ~</a:t>
            </a:r>
          </a:p>
        </p:txBody>
      </p:sp>
      <p:pic>
        <p:nvPicPr>
          <p:cNvPr id="38" name="Picture 37" descr="lock.png"/>
          <p:cNvPicPr>
            <a:picLocks noChangeAspect="1"/>
          </p:cNvPicPr>
          <p:nvPr/>
        </p:nvPicPr>
        <p:blipFill>
          <a:blip r:embed="rId7"/>
          <a:stretch>
            <a:fillRect/>
          </a:stretch>
        </p:blipFill>
        <p:spPr>
          <a:xfrm>
            <a:off x="2341372" y="5230492"/>
            <a:ext cx="128699" cy="187198"/>
          </a:xfrm>
          <a:prstGeom prst="rect">
            <a:avLst/>
          </a:prstGeom>
        </p:spPr>
      </p:pic>
      <p:sp>
        <p:nvSpPr>
          <p:cNvPr id="39" name="TextBox 38"/>
          <p:cNvSpPr txBox="1"/>
          <p:nvPr/>
        </p:nvSpPr>
        <p:spPr>
          <a:xfrm>
            <a:off x="2508867" y="5240272"/>
            <a:ext cx="1917402" cy="186689"/>
          </a:xfrm>
          <a:prstGeom prst="rect">
            <a:avLst/>
          </a:prstGeom>
          <a:noFill/>
        </p:spPr>
        <p:txBody>
          <a:bodyPr wrap="none" lIns="0" rIns="0" tIns="0" bIns="0">
            <a:spAutoFit/>
          </a:bodyPr>
          <a:lstStyle/>
          <a:p>
            <a:r>
              <a:rPr sz="1100" b="0">
                <a:solidFill>
                  <a:srgbClr val="2E2E2E"/>
                </a:solidFill>
                <a:latin typeface="Calibri"/>
              </a:rPr>
              <a:t>, ahead of 'HAL Allergy Group' (~</a:t>
            </a:r>
          </a:p>
        </p:txBody>
      </p:sp>
      <p:pic>
        <p:nvPicPr>
          <p:cNvPr id="40" name="Picture 39" descr="lock.png"/>
          <p:cNvPicPr>
            <a:picLocks noChangeAspect="1"/>
          </p:cNvPicPr>
          <p:nvPr/>
        </p:nvPicPr>
        <p:blipFill>
          <a:blip r:embed="rId7"/>
          <a:stretch>
            <a:fillRect/>
          </a:stretch>
        </p:blipFill>
        <p:spPr>
          <a:xfrm>
            <a:off x="4374321" y="5230492"/>
            <a:ext cx="128699" cy="187198"/>
          </a:xfrm>
          <a:prstGeom prst="rect">
            <a:avLst/>
          </a:prstGeom>
        </p:spPr>
      </p:pic>
      <p:sp>
        <p:nvSpPr>
          <p:cNvPr id="41" name="TextBox 40"/>
          <p:cNvSpPr txBox="1"/>
          <p:nvPr/>
        </p:nvSpPr>
        <p:spPr>
          <a:xfrm>
            <a:off x="4541817" y="5240272"/>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5818458" y="5230492"/>
            <a:ext cx="128699" cy="187198"/>
          </a:xfrm>
          <a:prstGeom prst="rect">
            <a:avLst/>
          </a:prstGeom>
        </p:spPr>
      </p:pic>
      <p:sp>
        <p:nvSpPr>
          <p:cNvPr id="43" name="TextBox 42"/>
          <p:cNvSpPr txBox="1"/>
          <p:nvPr/>
        </p:nvSpPr>
        <p:spPr>
          <a:xfrm>
            <a:off x="5985953" y="5240272"/>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7473781" y="5230492"/>
            <a:ext cx="128699" cy="187198"/>
          </a:xfrm>
          <a:prstGeom prst="rect">
            <a:avLst/>
          </a:prstGeom>
        </p:spPr>
      </p:pic>
      <p:sp>
        <p:nvSpPr>
          <p:cNvPr id="45" name="TextBox 44"/>
          <p:cNvSpPr txBox="1"/>
          <p:nvPr/>
        </p:nvSpPr>
        <p:spPr>
          <a:xfrm>
            <a:off x="7641277" y="524027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276225" y="5458204"/>
            <a:ext cx="3340323" cy="186689"/>
          </a:xfrm>
          <a:prstGeom prst="rect">
            <a:avLst/>
          </a:prstGeom>
          <a:noFill/>
        </p:spPr>
        <p:txBody>
          <a:bodyPr wrap="none" lIns="0" rIns="0" tIns="0" bIns="0">
            <a:spAutoFit/>
          </a:bodyPr>
          <a:lstStyle/>
          <a:p>
            <a:r>
              <a:rPr sz="1100" b="0">
                <a:solidFill>
                  <a:srgbClr val="2E2E2E"/>
                </a:solidFill>
                <a:latin typeface="Calibri"/>
              </a:rPr>
              <a:t>▪ South Asia &amp; Pacific: 'Allergy Therapeutics plc' leads at ~</a:t>
            </a:r>
          </a:p>
        </p:txBody>
      </p:sp>
      <p:pic>
        <p:nvPicPr>
          <p:cNvPr id="47" name="Picture 46" descr="lock.png"/>
          <p:cNvPicPr>
            <a:picLocks noChangeAspect="1"/>
          </p:cNvPicPr>
          <p:nvPr/>
        </p:nvPicPr>
        <p:blipFill>
          <a:blip r:embed="rId7"/>
          <a:stretch>
            <a:fillRect/>
          </a:stretch>
        </p:blipFill>
        <p:spPr>
          <a:xfrm>
            <a:off x="3564599" y="5448424"/>
            <a:ext cx="128699" cy="187198"/>
          </a:xfrm>
          <a:prstGeom prst="rect">
            <a:avLst/>
          </a:prstGeom>
        </p:spPr>
      </p:pic>
      <p:sp>
        <p:nvSpPr>
          <p:cNvPr id="48" name="TextBox 47"/>
          <p:cNvSpPr txBox="1"/>
          <p:nvPr/>
        </p:nvSpPr>
        <p:spPr>
          <a:xfrm>
            <a:off x="3732095" y="5458204"/>
            <a:ext cx="2899378" cy="186689"/>
          </a:xfrm>
          <a:prstGeom prst="rect">
            <a:avLst/>
          </a:prstGeom>
          <a:noFill/>
        </p:spPr>
        <p:txBody>
          <a:bodyPr wrap="none" lIns="0" rIns="0" tIns="0" bIns="0">
            <a:spAutoFit/>
          </a:bodyPr>
          <a:lstStyle/>
          <a:p>
            <a:r>
              <a:rPr sz="1100" b="0">
                <a:solidFill>
                  <a:srgbClr val="2E2E2E"/>
                </a:solidFill>
                <a:latin typeface="Calibri"/>
              </a:rPr>
              <a:t>, ahead of 'Stallergenes Greer International AG' (~</a:t>
            </a:r>
          </a:p>
        </p:txBody>
      </p:sp>
      <p:pic>
        <p:nvPicPr>
          <p:cNvPr id="49" name="Picture 48" descr="lock.png"/>
          <p:cNvPicPr>
            <a:picLocks noChangeAspect="1"/>
          </p:cNvPicPr>
          <p:nvPr/>
        </p:nvPicPr>
        <p:blipFill>
          <a:blip r:embed="rId7"/>
          <a:stretch>
            <a:fillRect/>
          </a:stretch>
        </p:blipFill>
        <p:spPr>
          <a:xfrm>
            <a:off x="6579525" y="5448424"/>
            <a:ext cx="128699" cy="187198"/>
          </a:xfrm>
          <a:prstGeom prst="rect">
            <a:avLst/>
          </a:prstGeom>
        </p:spPr>
      </p:pic>
      <p:sp>
        <p:nvSpPr>
          <p:cNvPr id="50" name="TextBox 49"/>
          <p:cNvSpPr txBox="1"/>
          <p:nvPr/>
        </p:nvSpPr>
        <p:spPr>
          <a:xfrm>
            <a:off x="6747021" y="5458204"/>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8023661" y="5448424"/>
            <a:ext cx="128699" cy="187198"/>
          </a:xfrm>
          <a:prstGeom prst="rect">
            <a:avLst/>
          </a:prstGeom>
        </p:spPr>
      </p:pic>
      <p:sp>
        <p:nvSpPr>
          <p:cNvPr id="52" name="TextBox 51"/>
          <p:cNvSpPr txBox="1"/>
          <p:nvPr/>
        </p:nvSpPr>
        <p:spPr>
          <a:xfrm>
            <a:off x="8191157" y="5458204"/>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9678984" y="5448424"/>
            <a:ext cx="128699" cy="187198"/>
          </a:xfrm>
          <a:prstGeom prst="rect">
            <a:avLst/>
          </a:prstGeom>
        </p:spPr>
      </p:pic>
      <p:sp>
        <p:nvSpPr>
          <p:cNvPr id="54" name="TextBox 53"/>
          <p:cNvSpPr txBox="1"/>
          <p:nvPr/>
        </p:nvSpPr>
        <p:spPr>
          <a:xfrm>
            <a:off x="9846480" y="5458204"/>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55" name="TextBox 54"/>
          <p:cNvSpPr txBox="1"/>
          <p:nvPr/>
        </p:nvSpPr>
        <p:spPr>
          <a:xfrm>
            <a:off x="276225" y="5676136"/>
            <a:ext cx="9287123" cy="186689"/>
          </a:xfrm>
          <a:prstGeom prst="rect">
            <a:avLst/>
          </a:prstGeom>
          <a:noFill/>
        </p:spPr>
        <p:txBody>
          <a:bodyPr wrap="none" lIns="0" rIns="0" tIns="0" bIns="0">
            <a:spAutoFit/>
          </a:bodyPr>
          <a:lstStyle/>
          <a:p>
            <a:r>
              <a:rPr sz="1100" b="0">
                <a:solidFill>
                  <a:srgbClr val="2E2E2E"/>
                </a:solidFill>
                <a:latin typeface="Calibri"/>
              </a:rPr>
              <a:t>▪ Leadership is not uniform across geographies a strong position in one region does not carry over to the others, so region-level go-to-market planning is essential.</a:t>
            </a:r>
          </a:p>
        </p:txBody>
      </p:sp>
      <p:sp>
        <p:nvSpPr>
          <p:cNvPr id="56" name="TextBox 55"/>
          <p:cNvSpPr txBox="1"/>
          <p:nvPr/>
        </p:nvSpPr>
        <p:spPr>
          <a:xfrm>
            <a:off x="276225" y="5894068"/>
            <a:ext cx="6908403" cy="186689"/>
          </a:xfrm>
          <a:prstGeom prst="rect">
            <a:avLst/>
          </a:prstGeom>
          <a:noFill/>
        </p:spPr>
        <p:txBody>
          <a:bodyPr wrap="none" lIns="0" rIns="0" tIns="0" bIns="0">
            <a:spAutoFit/>
          </a:bodyPr>
          <a:lstStyle/>
          <a:p>
            <a:r>
              <a:rPr sz="110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Allergy Immunotherapy Market Who Shaped Growth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10" name="TextBox 9"/>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Allergy Immunotherapy Market growth, ranked by growth-shaping impact.</a:t>
            </a:r>
          </a:p>
        </p:txBody>
      </p:sp>
      <p:sp>
        <p:nvSpPr>
          <p:cNvPr id="11" name="Rounded Rectangle 10"/>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3" name="TextBox 12"/>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4" name="Connector 13"/>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0" name="Rounded Rectangle 19"/>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4" name="TextBox 23"/>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ALK-Abelló A/S</a:t>
            </a:r>
          </a:p>
        </p:txBody>
      </p:sp>
      <p:sp>
        <p:nvSpPr>
          <p:cNvPr id="25" name="TextBox 24"/>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7" name="Connector 26"/>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30" name="TextBox 29"/>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31" name="Connector 30"/>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3" name="TextBox 32"/>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4" name="TextBox 33"/>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5" name="Connector 34"/>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8" name="TextBox 37"/>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9" name="Oval 38"/>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Rounded Rectangle 40"/>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5" name="TextBox 44"/>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Stallergenes Greer International AG</a:t>
            </a:r>
          </a:p>
        </p:txBody>
      </p:sp>
      <p:sp>
        <p:nvSpPr>
          <p:cNvPr id="46" name="TextBox 45"/>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8" name="Connector 47"/>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51" name="TextBox 50"/>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52" name="Connector 51"/>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5" name="TextBox 54"/>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6" name="Connector 55"/>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9" name="TextBox 58"/>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60" name="Oval 59"/>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62" name="Rounded Rectangle 61"/>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6" name="TextBox 65"/>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Allergy Therapeutics plc</a:t>
            </a:r>
          </a:p>
        </p:txBody>
      </p:sp>
      <p:sp>
        <p:nvSpPr>
          <p:cNvPr id="67" name="TextBox 66"/>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9" name="Connector 68"/>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72" name="TextBox 71"/>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3" name="Connector 72"/>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6" name="TextBox 75"/>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7" name="Connector 76"/>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9" name="TextBox 78"/>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80" name="TextBox 79"/>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81" name="Oval 80"/>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3" name="Rounded Rectangle 82"/>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7" name="TextBox 86"/>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HAL Allergy Group</a:t>
            </a:r>
          </a:p>
        </p:txBody>
      </p:sp>
      <p:sp>
        <p:nvSpPr>
          <p:cNvPr id="88" name="TextBox 87"/>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90" name="Connector 89"/>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3" name="TextBox 92"/>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4" name="Connector 93"/>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6" name="TextBox 95"/>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7" name="TextBox 96"/>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8" name="Connector 97"/>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01" name="TextBox 100"/>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102" name="Oval 101"/>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4" name="Rounded Rectangle 103"/>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8" name="TextBox 107"/>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LETI Pharma / Laboratorios LETI, S.L.U.</a:t>
            </a:r>
          </a:p>
        </p:txBody>
      </p:sp>
      <p:sp>
        <p:nvSpPr>
          <p:cNvPr id="109" name="TextBox 108"/>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11" name="Connector 110"/>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3" name="TextBox 112"/>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4" name="TextBox 113"/>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5" name="Connector 114"/>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8" name="TextBox 117"/>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9" name="Connector 118"/>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22" name="TextBox 121"/>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3" name="Rounded Rectangle 122"/>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5" name="Oval 124"/>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7" name="TextBox 126"/>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8" name="TextBox 127"/>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9" name="Rounded Rectangle 128"/>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31" name="TextBox 130"/>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2" name="Oval 131"/>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4" name="TextBox 133"/>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5" name="TextBox 134"/>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6" name="Rounded Rectangle 135"/>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8" name="TextBox 137"/>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9" name="Oval 138"/>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1" name="TextBox 140"/>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42" name="TextBox 141"/>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3" name="Rounded Rectangle 142"/>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5" name="TextBox 144"/>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6" name="Oval 145"/>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8" name="TextBox 147"/>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9" name="TextBox 148"/>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50" name="Rounded Rectangle 149"/>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52" name="TextBox 151"/>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3" name="Oval 152"/>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5" name="TextBox 154"/>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6" name="TextBox 155"/>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7" name="Rounded Rectangle 156"/>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9" name="Rounded Rectangle 158"/>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61" name="Connector 160"/>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5" name="Oval 164"/>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8" name="Oval 167"/>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70" name="TextBox 169"/>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71" name="TextBox 17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2" name="Picture 171" descr="lock.png"/>
          <p:cNvPicPr>
            <a:picLocks noChangeAspect="1"/>
          </p:cNvPicPr>
          <p:nvPr/>
        </p:nvPicPr>
        <p:blipFill>
          <a:blip r:embed="rId4"/>
          <a:stretch>
            <a:fillRect/>
          </a:stretch>
        </p:blipFill>
        <p:spPr>
          <a:xfrm>
            <a:off x="95101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248644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4021875" y="6052078"/>
            <a:ext cx="128699" cy="187198"/>
          </a:xfrm>
          <a:prstGeom prst="rect">
            <a:avLst/>
          </a:prstGeom>
        </p:spPr>
      </p:pic>
      <p:pic>
        <p:nvPicPr>
          <p:cNvPr id="175" name="Picture 174" descr="lock.png"/>
          <p:cNvPicPr>
            <a:picLocks noChangeAspect="1"/>
          </p:cNvPicPr>
          <p:nvPr/>
        </p:nvPicPr>
        <p:blipFill>
          <a:blip r:embed="rId4"/>
          <a:stretch>
            <a:fillRect/>
          </a:stretch>
        </p:blipFill>
        <p:spPr>
          <a:xfrm>
            <a:off x="5557305" y="6052078"/>
            <a:ext cx="128699" cy="187198"/>
          </a:xfrm>
          <a:prstGeom prst="rect">
            <a:avLst/>
          </a:prstGeom>
        </p:spPr>
      </p:pic>
      <p:pic>
        <p:nvPicPr>
          <p:cNvPr id="176" name="Picture 175" descr="lock.png"/>
          <p:cNvPicPr>
            <a:picLocks noChangeAspect="1"/>
          </p:cNvPicPr>
          <p:nvPr/>
        </p:nvPicPr>
        <p:blipFill>
          <a:blip r:embed="rId4"/>
          <a:stretch>
            <a:fillRect/>
          </a:stretch>
        </p:blipFill>
        <p:spPr>
          <a:xfrm>
            <a:off x="7092735" y="6052078"/>
            <a:ext cx="128699" cy="187198"/>
          </a:xfrm>
          <a:prstGeom prst="rect">
            <a:avLst/>
          </a:prstGeom>
        </p:spPr>
      </p:pic>
      <p:sp>
        <p:nvSpPr>
          <p:cNvPr id="177" name="TextBox 176"/>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994083" y="2391038"/>
            <a:ext cx="92663" cy="134782"/>
          </a:xfrm>
          <a:prstGeom prst="rect">
            <a:avLst/>
          </a:prstGeom>
        </p:spPr>
      </p:pic>
      <p:sp>
        <p:nvSpPr>
          <p:cNvPr id="179" name="TextBox 178"/>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3394383" y="2391038"/>
            <a:ext cx="92663" cy="134782"/>
          </a:xfrm>
          <a:prstGeom prst="rect">
            <a:avLst/>
          </a:prstGeom>
        </p:spPr>
      </p:pic>
      <p:sp>
        <p:nvSpPr>
          <p:cNvPr id="181" name="TextBox 180"/>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5794683" y="2391038"/>
            <a:ext cx="92663" cy="134782"/>
          </a:xfrm>
          <a:prstGeom prst="rect">
            <a:avLst/>
          </a:prstGeom>
        </p:spPr>
      </p:pic>
      <p:sp>
        <p:nvSpPr>
          <p:cNvPr id="183" name="TextBox 182"/>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8194983" y="2391038"/>
            <a:ext cx="92663" cy="134782"/>
          </a:xfrm>
          <a:prstGeom prst="rect">
            <a:avLst/>
          </a:prstGeom>
        </p:spPr>
      </p:pic>
      <p:sp>
        <p:nvSpPr>
          <p:cNvPr id="185" name="TextBox 184"/>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6" name="Picture 185"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Allergy Immunotherapy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ALK-Abelló A/S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ALK-Abelló A/S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ALK-Abelló A/S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ALK-Abelló A/S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ALK-Abelló A/S Strategy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ALK-Abelló A/S Executive Market Snapshot (1/5)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ALK-Abelló A/S: market, addressable opportunity and SOM splits by end-market, region and product.</a:t>
            </a:r>
          </a:p>
        </p:txBody>
      </p:sp>
      <p:sp>
        <p:nvSpPr>
          <p:cNvPr id="11" name="Rounded Rectangle 10"/>
          <p:cNvSpPr/>
          <p:nvPr/>
        </p:nvSpPr>
        <p:spPr>
          <a:xfrm>
            <a:off x="1428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0E72AE"/>
                </a:solidFill>
                <a:latin typeface="Calibri"/>
              </a:rPr>
              <a:t>5,439</a:t>
            </a:r>
          </a:p>
          <a:p>
            <a:pPr algn="ctr">
              <a:lnSpc>
                <a:spcPct val="95000"/>
              </a:lnSpc>
            </a:pPr>
            <a:r>
              <a:rPr sz="1100" b="0">
                <a:solidFill>
                  <a:srgbClr val="6C7A89"/>
                </a:solidFill>
                <a:latin typeface="Calibri"/>
              </a:rPr>
              <a:t>Total market</a:t>
            </a:r>
          </a:p>
        </p:txBody>
      </p:sp>
      <p:sp>
        <p:nvSpPr>
          <p:cNvPr id="12" name="Rounded Rectangle 11"/>
          <p:cNvSpPr/>
          <p:nvPr/>
        </p:nvSpPr>
        <p:spPr>
          <a:xfrm>
            <a:off x="25431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Addressable</a:t>
            </a:r>
          </a:p>
        </p:txBody>
      </p:sp>
      <p:sp>
        <p:nvSpPr>
          <p:cNvPr id="13" name="Rounded Rectangle 12"/>
          <p:cNvSpPr/>
          <p:nvPr/>
        </p:nvSpPr>
        <p:spPr>
          <a:xfrm>
            <a:off x="49530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4" name="Rounded Rectangle 13"/>
          <p:cNvSpPr/>
          <p:nvPr/>
        </p:nvSpPr>
        <p:spPr>
          <a:xfrm>
            <a:off x="73533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9" name="Rounded Rectangle 18"/>
          <p:cNvSpPr/>
          <p:nvPr/>
        </p:nvSpPr>
        <p:spPr>
          <a:xfrm>
            <a:off x="412432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22" name="Rounded Rectangle 21"/>
          <p:cNvSpPr/>
          <p:nvPr/>
        </p:nvSpPr>
        <p:spPr>
          <a:xfrm>
            <a:off x="8105775" y="2065976"/>
            <a:ext cx="39433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5" name="Rounded Rectangle 24"/>
          <p:cNvSpPr/>
          <p:nvPr/>
        </p:nvSpPr>
        <p:spPr>
          <a:xfrm>
            <a:off x="142875" y="4785777"/>
            <a:ext cx="11906250" cy="1807116"/>
          </a:xfrm>
          <a:prstGeom prst="roundRect">
            <a:avLst>
              <a:gd name="adj" fmla="val 42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7" name="Rectangle 26"/>
          <p:cNvSpPr/>
          <p:nvPr/>
        </p:nvSpPr>
        <p:spPr>
          <a:xfrm>
            <a:off x="276225" y="5109627"/>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7"/>
          <a:stretch>
            <a:fillRect/>
          </a:stretch>
        </p:blipFill>
        <p:spPr>
          <a:xfrm>
            <a:off x="3602831"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8412956"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10822781" y="1522714"/>
            <a:ext cx="157162" cy="228600"/>
          </a:xfrm>
          <a:prstGeom prst="rect">
            <a:avLst/>
          </a:prstGeom>
        </p:spPr>
      </p:pic>
      <p:pic>
        <p:nvPicPr>
          <p:cNvPr id="33" name="Picture 32" descr="lock.png"/>
          <p:cNvPicPr>
            <a:picLocks noChangeAspect="1"/>
          </p:cNvPicPr>
          <p:nvPr/>
        </p:nvPicPr>
        <p:blipFill>
          <a:blip r:embed="rId7"/>
          <a:stretch>
            <a:fillRect/>
          </a:stretch>
        </p:blipFill>
        <p:spPr>
          <a:xfrm>
            <a:off x="2104623" y="3299104"/>
            <a:ext cx="197242" cy="286897"/>
          </a:xfrm>
          <a:prstGeom prst="rect">
            <a:avLst/>
          </a:prstGeom>
        </p:spPr>
      </p:pic>
      <p:pic>
        <p:nvPicPr>
          <p:cNvPr id="34" name="Picture 33" descr="lock.png"/>
          <p:cNvPicPr>
            <a:picLocks noChangeAspect="1"/>
          </p:cNvPicPr>
          <p:nvPr/>
        </p:nvPicPr>
        <p:blipFill>
          <a:blip r:embed="rId7"/>
          <a:stretch>
            <a:fillRect/>
          </a:stretch>
        </p:blipFill>
        <p:spPr>
          <a:xfrm>
            <a:off x="6086073" y="3299104"/>
            <a:ext cx="197242" cy="286897"/>
          </a:xfrm>
          <a:prstGeom prst="rect">
            <a:avLst/>
          </a:prstGeom>
        </p:spPr>
      </p:pic>
      <p:pic>
        <p:nvPicPr>
          <p:cNvPr id="35" name="Picture 34" descr="lock.png"/>
          <p:cNvPicPr>
            <a:picLocks noChangeAspect="1"/>
          </p:cNvPicPr>
          <p:nvPr/>
        </p:nvPicPr>
        <p:blipFill>
          <a:blip r:embed="rId7"/>
          <a:stretch>
            <a:fillRect/>
          </a:stretch>
        </p:blipFill>
        <p:spPr>
          <a:xfrm>
            <a:off x="9278088" y="3145920"/>
            <a:ext cx="444576" cy="646656"/>
          </a:xfrm>
          <a:prstGeom prst="rect">
            <a:avLst/>
          </a:prstGeom>
        </p:spPr>
      </p:pic>
      <p:sp>
        <p:nvSpPr>
          <p:cNvPr id="36" name="TextBox 35"/>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7" name="Picture 36" descr="lock.png"/>
          <p:cNvPicPr>
            <a:picLocks noChangeAspect="1"/>
          </p:cNvPicPr>
          <p:nvPr/>
        </p:nvPicPr>
        <p:blipFill>
          <a:blip r:embed="rId7"/>
          <a:stretch>
            <a:fillRect/>
          </a:stretch>
        </p:blipFill>
        <p:spPr>
          <a:xfrm>
            <a:off x="6017010" y="1533061"/>
            <a:ext cx="133378" cy="194005"/>
          </a:xfrm>
          <a:prstGeom prst="rect">
            <a:avLst/>
          </a:prstGeom>
        </p:spPr>
      </p:pic>
      <p:pic>
        <p:nvPicPr>
          <p:cNvPr id="38" name="Picture 37" descr="lock.png"/>
          <p:cNvPicPr>
            <a:picLocks noChangeAspect="1"/>
          </p:cNvPicPr>
          <p:nvPr/>
        </p:nvPicPr>
        <p:blipFill>
          <a:blip r:embed="rId7"/>
          <a:stretch>
            <a:fillRect/>
          </a:stretch>
        </p:blipFill>
        <p:spPr>
          <a:xfrm>
            <a:off x="5865805" y="1761621"/>
            <a:ext cx="97811" cy="142270"/>
          </a:xfrm>
          <a:prstGeom prst="rect">
            <a:avLst/>
          </a:prstGeom>
        </p:spPr>
      </p:pic>
      <p:sp>
        <p:nvSpPr>
          <p:cNvPr id="39" name="TextBox 38"/>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40" name="TextBox 39"/>
          <p:cNvSpPr txBox="1"/>
          <p:nvPr/>
        </p:nvSpPr>
        <p:spPr>
          <a:xfrm>
            <a:off x="276225" y="5204877"/>
            <a:ext cx="2719897" cy="194310"/>
          </a:xfrm>
          <a:prstGeom prst="rect">
            <a:avLst/>
          </a:prstGeom>
          <a:noFill/>
        </p:spPr>
        <p:txBody>
          <a:bodyPr wrap="none" lIns="0" rIns="0" tIns="0" bIns="0">
            <a:spAutoFit/>
          </a:bodyPr>
          <a:lstStyle/>
          <a:p>
            <a:r>
              <a:rPr sz="1150" b="0">
                <a:solidFill>
                  <a:srgbClr val="2E2E2E"/>
                </a:solidFill>
                <a:latin typeface="Calibri"/>
              </a:rPr>
              <a:t>▪ Market Position: ALK-Abelló A/S captures ~</a:t>
            </a:r>
          </a:p>
        </p:txBody>
      </p:sp>
      <p:pic>
        <p:nvPicPr>
          <p:cNvPr id="41" name="Picture 40" descr="lock.png"/>
          <p:cNvPicPr>
            <a:picLocks noChangeAspect="1"/>
          </p:cNvPicPr>
          <p:nvPr/>
        </p:nvPicPr>
        <p:blipFill>
          <a:blip r:embed="rId7"/>
          <a:stretch>
            <a:fillRect/>
          </a:stretch>
        </p:blipFill>
        <p:spPr>
          <a:xfrm>
            <a:off x="2945276" y="5194653"/>
            <a:ext cx="134549" cy="195707"/>
          </a:xfrm>
          <a:prstGeom prst="rect">
            <a:avLst/>
          </a:prstGeom>
        </p:spPr>
      </p:pic>
      <p:sp>
        <p:nvSpPr>
          <p:cNvPr id="42" name="TextBox 41"/>
          <p:cNvSpPr txBox="1"/>
          <p:nvPr/>
        </p:nvSpPr>
        <p:spPr>
          <a:xfrm>
            <a:off x="3120385" y="5204877"/>
            <a:ext cx="4816264"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'Pharmaceutical Distributor'.</a:t>
            </a:r>
          </a:p>
        </p:txBody>
      </p:sp>
      <p:sp>
        <p:nvSpPr>
          <p:cNvPr id="43" name="TextBox 42"/>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4" name="Picture 43" descr="lock.png"/>
          <p:cNvPicPr>
            <a:picLocks noChangeAspect="1"/>
          </p:cNvPicPr>
          <p:nvPr/>
        </p:nvPicPr>
        <p:blipFill>
          <a:blip r:embed="rId7"/>
          <a:stretch>
            <a:fillRect/>
          </a:stretch>
        </p:blipFill>
        <p:spPr>
          <a:xfrm>
            <a:off x="7583825" y="5422491"/>
            <a:ext cx="134549" cy="195707"/>
          </a:xfrm>
          <a:prstGeom prst="rect">
            <a:avLst/>
          </a:prstGeom>
        </p:spPr>
      </p:pic>
      <p:sp>
        <p:nvSpPr>
          <p:cNvPr id="45" name="TextBox 44"/>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7" name="Picture 46" descr="lock.png"/>
          <p:cNvPicPr>
            <a:picLocks noChangeAspect="1"/>
          </p:cNvPicPr>
          <p:nvPr/>
        </p:nvPicPr>
        <p:blipFill>
          <a:blip r:embed="rId7"/>
          <a:stretch>
            <a:fillRect/>
          </a:stretch>
        </p:blipFill>
        <p:spPr>
          <a:xfrm>
            <a:off x="1617169" y="5650329"/>
            <a:ext cx="134549" cy="195707"/>
          </a:xfrm>
          <a:prstGeom prst="rect">
            <a:avLst/>
          </a:prstGeom>
        </p:spPr>
      </p:pic>
      <p:sp>
        <p:nvSpPr>
          <p:cNvPr id="48" name="TextBox 47"/>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49" name="Picture 48" descr="lock.png"/>
          <p:cNvPicPr>
            <a:picLocks noChangeAspect="1"/>
          </p:cNvPicPr>
          <p:nvPr/>
        </p:nvPicPr>
        <p:blipFill>
          <a:blip r:embed="rId7"/>
          <a:stretch>
            <a:fillRect/>
          </a:stretch>
        </p:blipFill>
        <p:spPr>
          <a:xfrm>
            <a:off x="2870505" y="5650329"/>
            <a:ext cx="134549" cy="195707"/>
          </a:xfrm>
          <a:prstGeom prst="rect">
            <a:avLst/>
          </a:prstGeom>
        </p:spPr>
      </p:pic>
      <p:sp>
        <p:nvSpPr>
          <p:cNvPr id="50" name="TextBox 49"/>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51" name="TextBox 50"/>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2" name="Picture 51" descr="lock.png"/>
          <p:cNvPicPr>
            <a:picLocks noChangeAspect="1"/>
          </p:cNvPicPr>
          <p:nvPr/>
        </p:nvPicPr>
        <p:blipFill>
          <a:blip r:embed="rId7"/>
          <a:stretch>
            <a:fillRect/>
          </a:stretch>
        </p:blipFill>
        <p:spPr>
          <a:xfrm>
            <a:off x="1578914" y="5878167"/>
            <a:ext cx="134549" cy="195707"/>
          </a:xfrm>
          <a:prstGeom prst="rect">
            <a:avLst/>
          </a:prstGeom>
        </p:spPr>
      </p:pic>
      <p:sp>
        <p:nvSpPr>
          <p:cNvPr id="53" name="TextBox 52"/>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4" name="Picture 53" descr="lock.png"/>
          <p:cNvPicPr>
            <a:picLocks noChangeAspect="1"/>
          </p:cNvPicPr>
          <p:nvPr/>
        </p:nvPicPr>
        <p:blipFill>
          <a:blip r:embed="rId7"/>
          <a:stretch>
            <a:fillRect/>
          </a:stretch>
        </p:blipFill>
        <p:spPr>
          <a:xfrm>
            <a:off x="2775769" y="5878167"/>
            <a:ext cx="134549" cy="195707"/>
          </a:xfrm>
          <a:prstGeom prst="rect">
            <a:avLst/>
          </a:prstGeom>
        </p:spPr>
      </p:pic>
      <p:sp>
        <p:nvSpPr>
          <p:cNvPr id="55" name="TextBox 54"/>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6" name="Picture 55" descr="lock.png"/>
          <p:cNvPicPr>
            <a:picLocks noChangeAspect="1"/>
          </p:cNvPicPr>
          <p:nvPr/>
        </p:nvPicPr>
        <p:blipFill>
          <a:blip r:embed="rId7"/>
          <a:stretch>
            <a:fillRect/>
          </a:stretch>
        </p:blipFill>
        <p:spPr>
          <a:xfrm>
            <a:off x="4037092" y="5878167"/>
            <a:ext cx="134549" cy="195707"/>
          </a:xfrm>
          <a:prstGeom prst="rect">
            <a:avLst/>
          </a:prstGeom>
        </p:spPr>
      </p:pic>
      <p:sp>
        <p:nvSpPr>
          <p:cNvPr id="57" name="TextBox 56"/>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8" name="lockshield_18"/>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21"/>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ockshield_24"/>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ALK-Abelló A/S Regional Penetration &amp; Win Position (2/5)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ALK-Abelló A/S: SOM vs SAM by region, win position, TAM/SAM/SOM and go-to-market benchmarks.</a:t>
            </a:r>
          </a:p>
        </p:txBody>
      </p:sp>
      <p:sp>
        <p:nvSpPr>
          <p:cNvPr id="11" name="Rounded Rectangle 10"/>
          <p:cNvSpPr/>
          <p:nvPr/>
        </p:nvSpPr>
        <p:spPr>
          <a:xfrm>
            <a:off x="142875" y="1299320"/>
            <a:ext cx="590550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4" name="Rounded Rectangle 13"/>
          <p:cNvSpPr/>
          <p:nvPr/>
        </p:nvSpPr>
        <p:spPr>
          <a:xfrm>
            <a:off x="6162675" y="1299320"/>
            <a:ext cx="588645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9" name="TextBox 18"/>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20" name="TextBox 19"/>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21" name="TextBox 20"/>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22" name="TextBox 21"/>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3" name="TextBox 22"/>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4" name="Oval 23"/>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ALK-Abelló A/S</a:t>
            </a:r>
          </a:p>
        </p:txBody>
      </p:sp>
      <p:sp>
        <p:nvSpPr>
          <p:cNvPr id="26" name="Oval 25"/>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8" name="Oval 27"/>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30" name="Rounded Rectangle 29"/>
          <p:cNvSpPr/>
          <p:nvPr/>
        </p:nvSpPr>
        <p:spPr>
          <a:xfrm>
            <a:off x="142875" y="3635794"/>
            <a:ext cx="590550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3" name="Rectangle 32"/>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4" name="Rectangle 33"/>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5" name="Rounded Rectangle 34"/>
          <p:cNvSpPr/>
          <p:nvPr/>
        </p:nvSpPr>
        <p:spPr>
          <a:xfrm>
            <a:off x="6162675" y="3635794"/>
            <a:ext cx="588645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9" name="Rectangle 38"/>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41" name="TextBox 40"/>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42" name="Rectangle 41"/>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5" name="Rectangle 44"/>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8" name="Rectangle 47"/>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42875" y="5369895"/>
            <a:ext cx="11906250" cy="1259505"/>
          </a:xfrm>
          <a:prstGeom prst="roundRect">
            <a:avLst>
              <a:gd name="adj" fmla="val 60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2" name="Rectangle 51"/>
          <p:cNvSpPr/>
          <p:nvPr/>
        </p:nvSpPr>
        <p:spPr>
          <a:xfrm>
            <a:off x="276225" y="569374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5" name="Picture 54" descr="lock.png"/>
          <p:cNvPicPr>
            <a:picLocks noChangeAspect="1"/>
          </p:cNvPicPr>
          <p:nvPr/>
        </p:nvPicPr>
        <p:blipFill>
          <a:blip r:embed="rId5"/>
          <a:stretch>
            <a:fillRect/>
          </a:stretch>
        </p:blipFill>
        <p:spPr>
          <a:xfrm>
            <a:off x="3327425" y="2314517"/>
            <a:ext cx="199521" cy="290213"/>
          </a:xfrm>
          <a:prstGeom prst="rect">
            <a:avLst/>
          </a:prstGeom>
        </p:spPr>
      </p:pic>
      <p:sp>
        <p:nvSpPr>
          <p:cNvPr id="56" name="TextBox 55"/>
          <p:cNvSpPr txBox="1"/>
          <p:nvPr/>
        </p:nvSpPr>
        <p:spPr>
          <a:xfrm>
            <a:off x="352425" y="4015511"/>
            <a:ext cx="871202" cy="194310"/>
          </a:xfrm>
          <a:prstGeom prst="rect">
            <a:avLst/>
          </a:prstGeom>
          <a:noFill/>
        </p:spPr>
        <p:txBody>
          <a:bodyPr wrap="none" lIns="0" rIns="0" tIns="0" bIns="0">
            <a:spAutoFit/>
          </a:bodyPr>
          <a:lstStyle/>
          <a:p>
            <a:r>
              <a:rPr sz="1150" b="1">
                <a:solidFill>
                  <a:srgbClr val="FFFFFF"/>
                </a:solidFill>
                <a:latin typeface="Calibri"/>
              </a:rPr>
              <a:t>TAM · 100% ·</a:t>
            </a:r>
          </a:p>
        </p:txBody>
      </p:sp>
      <p:pic>
        <p:nvPicPr>
          <p:cNvPr id="57" name="Picture 56" descr="lock.png"/>
          <p:cNvPicPr>
            <a:picLocks noChangeAspect="1"/>
          </p:cNvPicPr>
          <p:nvPr/>
        </p:nvPicPr>
        <p:blipFill>
          <a:blip r:embed="rId5"/>
          <a:stretch>
            <a:fillRect/>
          </a:stretch>
        </p:blipFill>
        <p:spPr>
          <a:xfrm>
            <a:off x="1172781" y="4005288"/>
            <a:ext cx="134549" cy="195707"/>
          </a:xfrm>
          <a:prstGeom prst="rect">
            <a:avLst/>
          </a:prstGeom>
        </p:spPr>
      </p:pic>
      <p:sp>
        <p:nvSpPr>
          <p:cNvPr id="58" name="TextBox 57"/>
          <p:cNvSpPr txBox="1"/>
          <p:nvPr/>
        </p:nvSpPr>
        <p:spPr>
          <a:xfrm>
            <a:off x="1347890" y="4015511"/>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59" name="TextBox 58"/>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60" name="Picture 59" descr="lock.png"/>
          <p:cNvPicPr>
            <a:picLocks noChangeAspect="1"/>
          </p:cNvPicPr>
          <p:nvPr/>
        </p:nvPicPr>
        <p:blipFill>
          <a:blip r:embed="rId5"/>
          <a:stretch>
            <a:fillRect/>
          </a:stretch>
        </p:blipFill>
        <p:spPr>
          <a:xfrm>
            <a:off x="735202" y="4482783"/>
            <a:ext cx="134549" cy="195707"/>
          </a:xfrm>
          <a:prstGeom prst="rect">
            <a:avLst/>
          </a:prstGeom>
        </p:spPr>
      </p:pic>
      <p:sp>
        <p:nvSpPr>
          <p:cNvPr id="61" name="TextBox 60"/>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62" name="Picture 61" descr="lock.png"/>
          <p:cNvPicPr>
            <a:picLocks noChangeAspect="1"/>
          </p:cNvPicPr>
          <p:nvPr/>
        </p:nvPicPr>
        <p:blipFill>
          <a:blip r:embed="rId5"/>
          <a:stretch>
            <a:fillRect/>
          </a:stretch>
        </p:blipFill>
        <p:spPr>
          <a:xfrm>
            <a:off x="1454256" y="4482783"/>
            <a:ext cx="134549" cy="195707"/>
          </a:xfrm>
          <a:prstGeom prst="rect">
            <a:avLst/>
          </a:prstGeom>
        </p:spPr>
      </p:pic>
      <p:sp>
        <p:nvSpPr>
          <p:cNvPr id="63" name="TextBox 62"/>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4" name="TextBox 63"/>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5" name="Picture 64" descr="lock.png"/>
          <p:cNvPicPr>
            <a:picLocks noChangeAspect="1"/>
          </p:cNvPicPr>
          <p:nvPr/>
        </p:nvPicPr>
        <p:blipFill>
          <a:blip r:embed="rId5"/>
          <a:stretch>
            <a:fillRect/>
          </a:stretch>
        </p:blipFill>
        <p:spPr>
          <a:xfrm>
            <a:off x="745471" y="4960279"/>
            <a:ext cx="134549" cy="195707"/>
          </a:xfrm>
          <a:prstGeom prst="rect">
            <a:avLst/>
          </a:prstGeom>
        </p:spPr>
      </p:pic>
      <p:sp>
        <p:nvSpPr>
          <p:cNvPr id="66" name="TextBox 65"/>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7" name="Picture 66" descr="lock.png"/>
          <p:cNvPicPr>
            <a:picLocks noChangeAspect="1"/>
          </p:cNvPicPr>
          <p:nvPr/>
        </p:nvPicPr>
        <p:blipFill>
          <a:blip r:embed="rId5"/>
          <a:stretch>
            <a:fillRect/>
          </a:stretch>
        </p:blipFill>
        <p:spPr>
          <a:xfrm>
            <a:off x="1461102" y="4960279"/>
            <a:ext cx="134549" cy="195707"/>
          </a:xfrm>
          <a:prstGeom prst="rect">
            <a:avLst/>
          </a:prstGeom>
        </p:spPr>
      </p:pic>
      <p:sp>
        <p:nvSpPr>
          <p:cNvPr id="68" name="TextBox 67"/>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9" name="TextBox 68"/>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70" name="TextBox 69"/>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71" name="Picture 70" descr="lock.png"/>
          <p:cNvPicPr>
            <a:picLocks noChangeAspect="1"/>
          </p:cNvPicPr>
          <p:nvPr/>
        </p:nvPicPr>
        <p:blipFill>
          <a:blip r:embed="rId5"/>
          <a:stretch>
            <a:fillRect/>
          </a:stretch>
        </p:blipFill>
        <p:spPr>
          <a:xfrm>
            <a:off x="1522276" y="5997147"/>
            <a:ext cx="128699" cy="187198"/>
          </a:xfrm>
          <a:prstGeom prst="rect">
            <a:avLst/>
          </a:prstGeom>
        </p:spPr>
      </p:pic>
      <p:sp>
        <p:nvSpPr>
          <p:cNvPr id="72" name="TextBox 71"/>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73" name="Picture 72" descr="lock.png"/>
          <p:cNvPicPr>
            <a:picLocks noChangeAspect="1"/>
          </p:cNvPicPr>
          <p:nvPr/>
        </p:nvPicPr>
        <p:blipFill>
          <a:blip r:embed="rId5"/>
          <a:stretch>
            <a:fillRect/>
          </a:stretch>
        </p:blipFill>
        <p:spPr>
          <a:xfrm>
            <a:off x="2667093" y="5997147"/>
            <a:ext cx="128699" cy="187198"/>
          </a:xfrm>
          <a:prstGeom prst="rect">
            <a:avLst/>
          </a:prstGeom>
        </p:spPr>
      </p:pic>
      <p:sp>
        <p:nvSpPr>
          <p:cNvPr id="74" name="TextBox 73"/>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5" name="Picture 74" descr="lock.png"/>
          <p:cNvPicPr>
            <a:picLocks noChangeAspect="1"/>
          </p:cNvPicPr>
          <p:nvPr/>
        </p:nvPicPr>
        <p:blipFill>
          <a:blip r:embed="rId5"/>
          <a:stretch>
            <a:fillRect/>
          </a:stretch>
        </p:blipFill>
        <p:spPr>
          <a:xfrm>
            <a:off x="5094041" y="5997147"/>
            <a:ext cx="128699" cy="187198"/>
          </a:xfrm>
          <a:prstGeom prst="rect">
            <a:avLst/>
          </a:prstGeom>
        </p:spPr>
      </p:pic>
      <p:sp>
        <p:nvSpPr>
          <p:cNvPr id="76" name="TextBox 75"/>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7" name="TextBox 76"/>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8" name="Picture 77" descr="lock.png"/>
          <p:cNvPicPr>
            <a:picLocks noChangeAspect="1"/>
          </p:cNvPicPr>
          <p:nvPr/>
        </p:nvPicPr>
        <p:blipFill>
          <a:blip r:embed="rId5"/>
          <a:stretch>
            <a:fillRect/>
          </a:stretch>
        </p:blipFill>
        <p:spPr>
          <a:xfrm>
            <a:off x="2839292" y="6215079"/>
            <a:ext cx="128699" cy="187198"/>
          </a:xfrm>
          <a:prstGeom prst="rect">
            <a:avLst/>
          </a:prstGeom>
        </p:spPr>
      </p:pic>
      <p:sp>
        <p:nvSpPr>
          <p:cNvPr id="79" name="TextBox 78"/>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80" name="lockshield_13"/>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ALK-Abelló A/S SWOT Analysis (3/5)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ALK-Abelló A/S: strengths, weaknesses, opportunities and threats shaping its competitive position</a:t>
            </a:r>
          </a:p>
        </p:txBody>
      </p:sp>
      <p:sp>
        <p:nvSpPr>
          <p:cNvPr id="10" name="TextBox 9"/>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ALK-Abelló A/S: strengths, weaknesses, opportunities and threats (indicative).</a:t>
            </a:r>
          </a:p>
        </p:txBody>
      </p:sp>
      <p:cxnSp>
        <p:nvCxnSpPr>
          <p:cNvPr id="11" name="Connector 10"/>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6" name="TextBox 25"/>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7" name="TextBox 26"/>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8" name="TextBox 27"/>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9" name="TextBox 28"/>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0" name="Rectangle 29"/>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Oval 32"/>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5" name="Oval 34"/>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8" name="Rectangle 37"/>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Oval 40"/>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3" name="Oval 42"/>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5" name="TextBox 44"/>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6" name="Rectangle 45"/>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Oval 48"/>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51" name="Oval 50"/>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3" name="TextBox 52"/>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'Sublingual Immunotherapy (SLIT)' and adjacent high-value lines.</a:t>
            </a:r>
          </a:p>
        </p:txBody>
      </p:sp>
      <p:sp>
        <p:nvSpPr>
          <p:cNvPr id="57" name="Oval 56"/>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9" name="Oval 58"/>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61" name="TextBox 60"/>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4" name="Picture 63" descr="lock.png"/>
          <p:cNvPicPr>
            <a:picLocks noChangeAspect="1"/>
          </p:cNvPicPr>
          <p:nvPr/>
        </p:nvPicPr>
        <p:blipFill>
          <a:blip r:embed="rId4"/>
          <a:stretch>
            <a:fillRect/>
          </a:stretch>
        </p:blipFill>
        <p:spPr>
          <a:xfrm>
            <a:off x="455778" y="1633005"/>
            <a:ext cx="128699" cy="187198"/>
          </a:xfrm>
          <a:prstGeom prst="rect">
            <a:avLst/>
          </a:prstGeom>
        </p:spPr>
      </p:pic>
      <p:sp>
        <p:nvSpPr>
          <p:cNvPr id="65" name="TextBox 64"/>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6" name="Picture 65" descr="lock.png"/>
          <p:cNvPicPr>
            <a:picLocks noChangeAspect="1"/>
          </p:cNvPicPr>
          <p:nvPr/>
        </p:nvPicPr>
        <p:blipFill>
          <a:blip r:embed="rId4"/>
          <a:stretch>
            <a:fillRect/>
          </a:stretch>
        </p:blipFill>
        <p:spPr>
          <a:xfrm>
            <a:off x="1600596" y="1633005"/>
            <a:ext cx="128699" cy="187198"/>
          </a:xfrm>
          <a:prstGeom prst="rect">
            <a:avLst/>
          </a:prstGeom>
        </p:spPr>
      </p:pic>
      <p:sp>
        <p:nvSpPr>
          <p:cNvPr id="67" name="TextBox 66"/>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8" name="TextBox 67"/>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9" name="Picture 68" descr="lock.png"/>
          <p:cNvPicPr>
            <a:picLocks noChangeAspect="1"/>
          </p:cNvPicPr>
          <p:nvPr/>
        </p:nvPicPr>
        <p:blipFill>
          <a:blip r:embed="rId4"/>
          <a:stretch>
            <a:fillRect/>
          </a:stretch>
        </p:blipFill>
        <p:spPr>
          <a:xfrm>
            <a:off x="348482" y="2655212"/>
            <a:ext cx="128699" cy="187198"/>
          </a:xfrm>
          <a:prstGeom prst="rect">
            <a:avLst/>
          </a:prstGeom>
        </p:spPr>
      </p:pic>
      <p:sp>
        <p:nvSpPr>
          <p:cNvPr id="70" name="TextBox 69"/>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71" name="Picture 70" descr="lock.png"/>
          <p:cNvPicPr>
            <a:picLocks noChangeAspect="1"/>
          </p:cNvPicPr>
          <p:nvPr/>
        </p:nvPicPr>
        <p:blipFill>
          <a:blip r:embed="rId4"/>
          <a:stretch>
            <a:fillRect/>
          </a:stretch>
        </p:blipFill>
        <p:spPr>
          <a:xfrm>
            <a:off x="1547325" y="2655212"/>
            <a:ext cx="128699" cy="187198"/>
          </a:xfrm>
          <a:prstGeom prst="rect">
            <a:avLst/>
          </a:prstGeom>
        </p:spPr>
      </p:pic>
      <p:sp>
        <p:nvSpPr>
          <p:cNvPr id="72" name="TextBox 71"/>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3" name="TextBox 72"/>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4" name="TextBox 73"/>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5" name="Picture 74" descr="lock.png"/>
          <p:cNvPicPr>
            <a:picLocks noChangeAspect="1"/>
          </p:cNvPicPr>
          <p:nvPr/>
        </p:nvPicPr>
        <p:blipFill>
          <a:blip r:embed="rId4"/>
          <a:stretch>
            <a:fillRect/>
          </a:stretch>
        </p:blipFill>
        <p:spPr>
          <a:xfrm>
            <a:off x="8599653" y="1716825"/>
            <a:ext cx="128699" cy="187198"/>
          </a:xfrm>
          <a:prstGeom prst="rect">
            <a:avLst/>
          </a:prstGeom>
        </p:spPr>
      </p:pic>
      <p:sp>
        <p:nvSpPr>
          <p:cNvPr id="76" name="TextBox 75"/>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7" name="TextBox 76"/>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8" name="Picture 77" descr="lock.png"/>
          <p:cNvPicPr>
            <a:picLocks noChangeAspect="1"/>
          </p:cNvPicPr>
          <p:nvPr/>
        </p:nvPicPr>
        <p:blipFill>
          <a:blip r:embed="rId4"/>
          <a:stretch>
            <a:fillRect/>
          </a:stretch>
        </p:blipFill>
        <p:spPr>
          <a:xfrm>
            <a:off x="1634497" y="4473133"/>
            <a:ext cx="128699" cy="187198"/>
          </a:xfrm>
          <a:prstGeom prst="rect">
            <a:avLst/>
          </a:prstGeom>
        </p:spPr>
      </p:pic>
      <p:sp>
        <p:nvSpPr>
          <p:cNvPr id="79" name="TextBox 78"/>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ALK-Abelló A/S Key Financials (4/5)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ALK-Abelló A/S's financial performance, key ratios and pricing, highlighting margin and momentum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ALK-Abelló A/S (all figures indicative, USD Mn unless noted).</a:t>
            </a:r>
          </a:p>
        </p:txBody>
      </p:sp>
      <p:sp>
        <p:nvSpPr>
          <p:cNvPr id="11" name="Rounded Rectangle 10"/>
          <p:cNvSpPr/>
          <p:nvPr/>
        </p:nvSpPr>
        <p:spPr>
          <a:xfrm>
            <a:off x="142875" y="1354081"/>
            <a:ext cx="5905500" cy="1916638"/>
          </a:xfrm>
          <a:prstGeom prst="roundRect">
            <a:avLst>
              <a:gd name="adj" fmla="val 397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ALK-Abelló A/S Financial Performance</a:t>
            </a:r>
          </a:p>
        </p:txBody>
      </p:sp>
      <p:graphicFrame>
        <p:nvGraphicFramePr>
          <p:cNvPr id="13" name="Table 12"/>
          <p:cNvGraphicFramePr>
            <a:graphicFrameLocks noGrp="1"/>
          </p:cNvGraphicFramePr>
          <p:nvPr/>
        </p:nvGraphicFramePr>
        <p:xfrm>
          <a:off x="152400" y="1611256"/>
          <a:ext cx="5886449" cy="1449914"/>
        </p:xfrm>
        <a:graphic>
          <a:graphicData uri="http://schemas.openxmlformats.org/drawingml/2006/table">
            <a:tbl>
              <a:tblPr>
                <a:tableStyleId>{5C22544A-7EE6-4342-B048-85BDC9FD1C3A}</a:tableStyleId>
              </a:tblPr>
              <a:tblGrid>
                <a:gridCol w="2446649"/>
                <a:gridCol w="687960"/>
                <a:gridCol w="687960"/>
                <a:gridCol w="687960"/>
                <a:gridCol w="687960"/>
                <a:gridCol w="687960"/>
              </a:tblGrid>
              <a:tr h="246126">
                <a:tc>
                  <a:txBody>
                    <a:bodyPr wrap="none"/>
                    <a:lstStyle/>
                    <a:p>
                      <a:pPr algn="l"/>
                      <a:r>
                        <a:rPr sz="1100" b="1">
                          <a:solidFill>
                            <a:srgbClr val="0B2E4A"/>
                          </a:solidFill>
                          <a:latin typeface="Calibri"/>
                        </a:rPr>
                        <a:t>USD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94397"/>
          </a:xfrm>
          <a:prstGeom prst="roundRect">
            <a:avLst>
              <a:gd name="adj" fmla="val 23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ALK-Abelló A/S Key Ratios</a:t>
            </a:r>
          </a:p>
        </p:txBody>
      </p:sp>
      <p:graphicFrame>
        <p:nvGraphicFramePr>
          <p:cNvPr id="17" name="Table 16"/>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B2E4A"/>
                          </a:solidFill>
                          <a:latin typeface="Calibri"/>
                        </a:rPr>
                        <a:t>Key Ratios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8" name="TextBox 17"/>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1354081"/>
            <a:ext cx="584835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ALK-Abelló A/S Pricing Analysis (US$/Patient Treatment Courses)</a:t>
            </a:r>
          </a:p>
        </p:txBody>
      </p:sp>
      <p:graphicFrame>
        <p:nvGraphicFramePr>
          <p:cNvPr id="21" name="Table 20"/>
          <p:cNvGraphicFramePr>
            <a:graphicFrameLocks noGrp="1"/>
          </p:cNvGraphicFramePr>
          <p:nvPr/>
        </p:nvGraphicFramePr>
        <p:xfrm>
          <a:off x="6210300" y="1611256"/>
          <a:ext cx="5829300" cy="4772085"/>
        </p:xfrm>
        <a:graphic>
          <a:graphicData uri="http://schemas.openxmlformats.org/drawingml/2006/table">
            <a:tbl>
              <a:tblPr>
                <a:tableStyleId>{5C22544A-7EE6-4342-B048-85BDC9FD1C3A}</a:tableStyleId>
              </a:tblPr>
              <a:tblGrid>
                <a:gridCol w="3900508"/>
                <a:gridCol w="964396"/>
                <a:gridCol w="964396"/>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1508653">
                <a:tc>
                  <a:txBody>
                    <a:bodyPr wrap="none"/>
                    <a:lstStyle/>
                    <a:p>
                      <a:pPr algn="l"/>
                      <a:r>
                        <a:rPr sz="1100" b="1">
                          <a:solidFill>
                            <a:srgbClr val="2E2E2E"/>
                          </a:solidFill>
                          <a:latin typeface="Calibri"/>
                        </a:rPr>
                        <a:t>Sublingual Immunotherapy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508653">
                <a:tc>
                  <a:txBody>
                    <a:bodyPr wrap="none"/>
                    <a:lstStyle/>
                    <a:p>
                      <a:pPr algn="l"/>
                      <a:r>
                        <a:rPr sz="1100" b="1">
                          <a:solidFill>
                            <a:srgbClr val="2E2E2E"/>
                          </a:solidFill>
                          <a:latin typeface="Calibri"/>
                        </a:rPr>
                        <a:t>Subcutaneous Immunotherapy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1508653">
                <a:tc>
                  <a:txBody>
                    <a:bodyPr wrap="none"/>
                    <a:lstStyle/>
                    <a:p>
                      <a:pPr algn="l"/>
                      <a:r>
                        <a:rPr sz="1100" b="1">
                          <a:solidFill>
                            <a:srgbClr val="2E2E2E"/>
                          </a:solidFill>
                          <a:latin typeface="Calibri"/>
                        </a:rPr>
                        <a:t>Oral Immunotherapy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22" name="TextBox 21"/>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4150927" y="2219246"/>
            <a:ext cx="330041" cy="480060"/>
          </a:xfrm>
          <a:prstGeom prst="rect">
            <a:avLst/>
          </a:prstGeom>
        </p:spPr>
      </p:pic>
      <p:pic>
        <p:nvPicPr>
          <p:cNvPr id="25" name="Picture 24" descr="lock.png"/>
          <p:cNvPicPr>
            <a:picLocks noChangeAspect="1"/>
          </p:cNvPicPr>
          <p:nvPr/>
        </p:nvPicPr>
        <p:blipFill>
          <a:blip r:embed="rId4"/>
          <a:stretch>
            <a:fillRect/>
          </a:stretch>
        </p:blipFill>
        <p:spPr>
          <a:xfrm>
            <a:off x="3838564" y="4875868"/>
            <a:ext cx="366712" cy="533400"/>
          </a:xfrm>
          <a:prstGeom prst="rect">
            <a:avLst/>
          </a:prstGeom>
        </p:spPr>
      </p:pic>
      <p:pic>
        <p:nvPicPr>
          <p:cNvPr id="26" name="Picture 25" descr="lock.png"/>
          <p:cNvPicPr>
            <a:picLocks noChangeAspect="1"/>
          </p:cNvPicPr>
          <p:nvPr/>
        </p:nvPicPr>
        <p:blipFill>
          <a:blip r:embed="rId4"/>
          <a:stretch>
            <a:fillRect/>
          </a:stretch>
        </p:blipFill>
        <p:spPr>
          <a:xfrm>
            <a:off x="10888514" y="3853661"/>
            <a:ext cx="366712" cy="533400"/>
          </a:xfrm>
          <a:prstGeom prst="rect">
            <a:avLst/>
          </a:prstGeom>
        </p:spPr>
      </p:pic>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ALK-Abelló A/S Strategy Analysis (5/5)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ALK-Abelló A/S's strategic priorities and the competitive moves that support them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ALK-Abelló A/S: strategic priorities and the competitive moves that support them (indicative).</a:t>
            </a:r>
          </a:p>
        </p:txBody>
      </p:sp>
      <p:sp>
        <p:nvSpPr>
          <p:cNvPr id="11" name="Rounded Rectangle 10"/>
          <p:cNvSpPr/>
          <p:nvPr/>
        </p:nvSpPr>
        <p:spPr>
          <a:xfrm>
            <a:off x="1428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of global value</a:t>
            </a:r>
          </a:p>
        </p:txBody>
      </p:sp>
      <p:sp>
        <p:nvSpPr>
          <p:cNvPr id="12" name="Rounded Rectangle 11"/>
          <p:cNvSpPr/>
          <p:nvPr/>
        </p:nvSpPr>
        <p:spPr>
          <a:xfrm>
            <a:off x="25431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deals won</a:t>
            </a:r>
          </a:p>
        </p:txBody>
      </p:sp>
      <p:sp>
        <p:nvSpPr>
          <p:cNvPr id="13" name="Rounded Rectangle 12"/>
          <p:cNvSpPr/>
          <p:nvPr/>
        </p:nvSpPr>
        <p:spPr>
          <a:xfrm>
            <a:off x="49530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vs peers</a:t>
            </a:r>
          </a:p>
        </p:txBody>
      </p:sp>
      <p:sp>
        <p:nvSpPr>
          <p:cNvPr id="14" name="Rounded Rectangle 13"/>
          <p:cNvSpPr/>
          <p:nvPr/>
        </p:nvSpPr>
        <p:spPr>
          <a:xfrm>
            <a:off x="73533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84229"/>
            <a:ext cx="590550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8" name="Rectangle 17"/>
          <p:cNvSpPr/>
          <p:nvPr/>
        </p:nvSpPr>
        <p:spPr>
          <a:xfrm>
            <a:off x="276225" y="2408079"/>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0" name="Rounded Rectangle 19"/>
          <p:cNvSpPr/>
          <p:nvPr/>
        </p:nvSpPr>
        <p:spPr>
          <a:xfrm>
            <a:off x="6200775" y="2084229"/>
            <a:ext cx="584835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2" name="Rectangle 21"/>
          <p:cNvSpPr/>
          <p:nvPr/>
        </p:nvSpPr>
        <p:spPr>
          <a:xfrm>
            <a:off x="6334125" y="2408079"/>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4"/>
          <a:stretch>
            <a:fillRect/>
          </a:stretch>
        </p:blipFill>
        <p:spPr>
          <a:xfrm>
            <a:off x="1202531"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3602831"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6012656" y="1540967"/>
            <a:ext cx="157162" cy="228600"/>
          </a:xfrm>
          <a:prstGeom prst="rect">
            <a:avLst/>
          </a:prstGeom>
        </p:spPr>
      </p:pic>
      <p:pic>
        <p:nvPicPr>
          <p:cNvPr id="28" name="Picture 27" descr="lock.png"/>
          <p:cNvPicPr>
            <a:picLocks noChangeAspect="1"/>
          </p:cNvPicPr>
          <p:nvPr/>
        </p:nvPicPr>
        <p:blipFill>
          <a:blip r:embed="rId4"/>
          <a:stretch>
            <a:fillRect/>
          </a:stretch>
        </p:blipFill>
        <p:spPr>
          <a:xfrm>
            <a:off x="8412956" y="1540967"/>
            <a:ext cx="157162" cy="228600"/>
          </a:xfrm>
          <a:prstGeom prst="rect">
            <a:avLst/>
          </a:prstGeom>
        </p:spPr>
      </p:pic>
      <p:pic>
        <p:nvPicPr>
          <p:cNvPr id="29" name="Picture 28" descr="lock.png"/>
          <p:cNvPicPr>
            <a:picLocks noChangeAspect="1"/>
          </p:cNvPicPr>
          <p:nvPr/>
        </p:nvPicPr>
        <p:blipFill>
          <a:blip r:embed="rId4"/>
          <a:stretch>
            <a:fillRect/>
          </a:stretch>
        </p:blipFill>
        <p:spPr>
          <a:xfrm>
            <a:off x="10822781" y="1540967"/>
            <a:ext cx="157162" cy="228600"/>
          </a:xfrm>
          <a:prstGeom prst="rect">
            <a:avLst/>
          </a:prstGeom>
        </p:spPr>
      </p:pic>
      <p:sp>
        <p:nvSpPr>
          <p:cNvPr id="30" name="TextBox 29"/>
          <p:cNvSpPr txBox="1"/>
          <p:nvPr/>
        </p:nvSpPr>
        <p:spPr>
          <a:xfrm>
            <a:off x="276225" y="2503329"/>
            <a:ext cx="5387306" cy="194310"/>
          </a:xfrm>
          <a:prstGeom prst="rect">
            <a:avLst/>
          </a:prstGeom>
          <a:noFill/>
        </p:spPr>
        <p:txBody>
          <a:bodyPr wrap="none" lIns="0" rIns="0" tIns="0" bIns="0">
            <a:spAutoFit/>
          </a:bodyPr>
          <a:lstStyle/>
          <a:p>
            <a:r>
              <a:rPr sz="1150" b="0">
                <a:solidFill>
                  <a:srgbClr val="2E2E2E"/>
                </a:solidFill>
                <a:latin typeface="Calibri"/>
              </a:rPr>
              <a:t>▪ Defend and extend leadership in 'Pharmaceutical Distributor' ALK-Abelló A/S's strongest</a:t>
            </a:r>
          </a:p>
        </p:txBody>
      </p:sp>
      <p:sp>
        <p:nvSpPr>
          <p:cNvPr id="31" name="TextBox 30"/>
          <p:cNvSpPr txBox="1"/>
          <p:nvPr/>
        </p:nvSpPr>
        <p:spPr>
          <a:xfrm>
            <a:off x="276225" y="2678589"/>
            <a:ext cx="3174913" cy="194310"/>
          </a:xfrm>
          <a:prstGeom prst="rect">
            <a:avLst/>
          </a:prstGeom>
          <a:noFill/>
        </p:spPr>
        <p:txBody>
          <a:bodyPr wrap="none" lIns="0" rIns="0" tIns="0" bIns="0">
            <a:spAutoFit/>
          </a:bodyPr>
          <a:lstStyle/>
          <a:p>
            <a:r>
              <a:rPr sz="1150" b="0">
                <a:solidFill>
                  <a:srgbClr val="2E2E2E"/>
                </a:solidFill>
                <a:latin typeface="Calibri"/>
              </a:rPr>
              <a:t>end-market while scaling the next-best applications.</a:t>
            </a:r>
          </a:p>
        </p:txBody>
      </p:sp>
      <p:sp>
        <p:nvSpPr>
          <p:cNvPr id="32" name="TextBox 31"/>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3" name="Picture 32" descr="lock.png"/>
          <p:cNvPicPr>
            <a:picLocks noChangeAspect="1"/>
          </p:cNvPicPr>
          <p:nvPr/>
        </p:nvPicPr>
        <p:blipFill>
          <a:blip r:embed="rId4"/>
          <a:stretch>
            <a:fillRect/>
          </a:stretch>
        </p:blipFill>
        <p:spPr>
          <a:xfrm>
            <a:off x="1135376" y="2896203"/>
            <a:ext cx="134549" cy="195707"/>
          </a:xfrm>
          <a:prstGeom prst="rect">
            <a:avLst/>
          </a:prstGeom>
        </p:spPr>
      </p:pic>
      <p:sp>
        <p:nvSpPr>
          <p:cNvPr id="34" name="TextBox 33"/>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5" name="Picture 34" descr="lock.png"/>
          <p:cNvPicPr>
            <a:picLocks noChangeAspect="1"/>
          </p:cNvPicPr>
          <p:nvPr/>
        </p:nvPicPr>
        <p:blipFill>
          <a:blip r:embed="rId4"/>
          <a:stretch>
            <a:fillRect/>
          </a:stretch>
        </p:blipFill>
        <p:spPr>
          <a:xfrm>
            <a:off x="2188748" y="2896203"/>
            <a:ext cx="134549" cy="195707"/>
          </a:xfrm>
          <a:prstGeom prst="rect">
            <a:avLst/>
          </a:prstGeom>
        </p:spPr>
      </p:pic>
      <p:sp>
        <p:nvSpPr>
          <p:cNvPr id="36" name="TextBox 35"/>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7" name="TextBox 36"/>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8" name="TextBox 37"/>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9" name="Picture 38" descr="lock.png"/>
          <p:cNvPicPr>
            <a:picLocks noChangeAspect="1"/>
          </p:cNvPicPr>
          <p:nvPr/>
        </p:nvPicPr>
        <p:blipFill>
          <a:blip r:embed="rId4"/>
          <a:stretch>
            <a:fillRect/>
          </a:stretch>
        </p:blipFill>
        <p:spPr>
          <a:xfrm>
            <a:off x="3519813" y="3299301"/>
            <a:ext cx="134549" cy="195707"/>
          </a:xfrm>
          <a:prstGeom prst="rect">
            <a:avLst/>
          </a:prstGeom>
        </p:spPr>
      </p:pic>
      <p:sp>
        <p:nvSpPr>
          <p:cNvPr id="40" name="TextBox 39"/>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41" name="TextBox 40"/>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2" name="Picture 41" descr="lock.png"/>
          <p:cNvPicPr>
            <a:picLocks noChangeAspect="1"/>
          </p:cNvPicPr>
          <p:nvPr/>
        </p:nvPicPr>
        <p:blipFill>
          <a:blip r:embed="rId4"/>
          <a:stretch>
            <a:fillRect/>
          </a:stretch>
        </p:blipFill>
        <p:spPr>
          <a:xfrm>
            <a:off x="919438" y="3527139"/>
            <a:ext cx="134549" cy="195707"/>
          </a:xfrm>
          <a:prstGeom prst="rect">
            <a:avLst/>
          </a:prstGeom>
        </p:spPr>
      </p:pic>
      <p:sp>
        <p:nvSpPr>
          <p:cNvPr id="43" name="TextBox 42"/>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4" name="TextBox 43"/>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5" name="TextBox 44"/>
          <p:cNvSpPr txBox="1"/>
          <p:nvPr/>
        </p:nvSpPr>
        <p:spPr>
          <a:xfrm>
            <a:off x="6334125" y="2503329"/>
            <a:ext cx="5562600" cy="194310"/>
          </a:xfrm>
          <a:prstGeom prst="rect">
            <a:avLst/>
          </a:prstGeom>
          <a:noFill/>
        </p:spPr>
        <p:txBody>
          <a:bodyPr wrap="none" lIns="0" rIns="0" tIns="0" bIns="0">
            <a:spAutoFit/>
          </a:bodyPr>
          <a:lstStyle/>
          <a:p>
            <a:r>
              <a:rPr sz="1150" b="0">
                <a:solidFill>
                  <a:srgbClr val="2E2E2E"/>
                </a:solidFill>
                <a:latin typeface="Calibri"/>
              </a:rPr>
              <a:t>▪ Premiumise the portfolio around 'Sublingual Immunotherapy (SLIT)' and adjacent high-value</a:t>
            </a:r>
          </a:p>
        </p:txBody>
      </p:sp>
      <p:sp>
        <p:nvSpPr>
          <p:cNvPr id="46" name="TextBox 45"/>
          <p:cNvSpPr txBox="1"/>
          <p:nvPr/>
        </p:nvSpPr>
        <p:spPr>
          <a:xfrm>
            <a:off x="6334125" y="2678589"/>
            <a:ext cx="1694730" cy="194310"/>
          </a:xfrm>
          <a:prstGeom prst="rect">
            <a:avLst/>
          </a:prstGeom>
          <a:noFill/>
        </p:spPr>
        <p:txBody>
          <a:bodyPr wrap="none" lIns="0" rIns="0" tIns="0" bIns="0">
            <a:spAutoFit/>
          </a:bodyPr>
          <a:lstStyle/>
          <a:p>
            <a:r>
              <a:rPr sz="1150" b="0">
                <a:solidFill>
                  <a:srgbClr val="2E2E2E"/>
                </a:solidFill>
                <a:latin typeface="Calibri"/>
              </a:rPr>
              <a:t>lines to lift blended pricing.</a:t>
            </a:r>
          </a:p>
        </p:txBody>
      </p:sp>
      <p:sp>
        <p:nvSpPr>
          <p:cNvPr id="47" name="TextBox 46"/>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8" name="TextBox 47"/>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9" name="TextBox 48"/>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50" name="TextBox 49"/>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51" name="TextBox 50"/>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2" name="TextBox 51"/>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3" name="TextBox 52"/>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4" name="Picture 53" descr="lock.png"/>
          <p:cNvPicPr>
            <a:picLocks noChangeAspect="1"/>
          </p:cNvPicPr>
          <p:nvPr/>
        </p:nvPicPr>
        <p:blipFill>
          <a:blip r:embed="rId4"/>
          <a:stretch>
            <a:fillRect/>
          </a:stretch>
        </p:blipFill>
        <p:spPr>
          <a:xfrm>
            <a:off x="9385452" y="4105497"/>
            <a:ext cx="134549" cy="195707"/>
          </a:xfrm>
          <a:prstGeom prst="rect">
            <a:avLst/>
          </a:prstGeom>
        </p:spPr>
      </p:pic>
      <p:sp>
        <p:nvSpPr>
          <p:cNvPr id="55" name="TextBox 54"/>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